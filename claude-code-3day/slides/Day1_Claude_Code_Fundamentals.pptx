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these three sessions - today, Wednesday the nineteenth, and Wednesday the twenty-sixth -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a:p/>
          <a:p>
            <a:r>
              <a:t>RUN SHEET GOVERNS THE CLOCK: DAY1_RUN_SHEET.md is the wall-clock authority for today; the per-slide times in these notes are the older plan and run early. Run sheet: install stop 9:15-9:35, first run 9:35, Block 1 content to 10:30, BREAK 10:30-10:40, demo 10:40-11:00, Lab 1A 11:00-11:40, Block 2 starts 11:40, LUNCH 12:10-12:55, Block 2 finish + /init demo + Lab 1B 12:55-1:35, Block 3 + Lab 1C 1:35-2:35, BREAK 2:35-2:45, Block 4 + Lab 1D 2:45-3:35, closing 3:35-4:00. Slide ORDER is identical in both plans - only the clock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verify the feature end to end,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 </a:t>
            </a:r>
          </a:p>
          <a:p/>
          <a:p>
            <a:r>
              <a:t>POINT AT THE STRIP AND SAY IT OUT LOUD, once, now: 'Every lab guide and every handout for all three days is at aiacopilot.com/claudecode. Bookmark it before we go further - you will be sent there half a dozen times today.' Do it here rather than later; people who bookmark it at 9am stop asking where things are by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STEP 0 - THE FOLDER, do this before anything else</a:t>
            </a:r>
          </a:p>
          <a:p>
            <a:r>
              <a:t>Nobody has a workspace yet, and Claude writes files into whatever folder is open. If they start with no folder, hello.md lands in their home directory - the exact mistake we warn about later today. So make the folder first, and say why in one line: "Claude works inside the folder you open. Let's give it one."</a:t>
            </a:r>
          </a:p>
          <a:p>
            <a:r>
              <a:t>SAY THIS TOO, it saves confusion at 11 o'clock: "This one folder is your workspace for all three days. Everything you build in the labs goes here. You will not need to create another one." One folder, opened once, never switched - that is deliberate. Switching workspaces mid-morning changes the Claude session and half the room gets lost.</a:t>
            </a:r>
          </a:p>
          <a:p/>
          <a:p>
            <a:r>
              <a:t>Two ways, tell them to pick either:</a:t>
            </a:r>
          </a:p>
          <a:p>
            <a:r>
              <a:t>- VS Code: File, Open Folder, then create a new folder called claude-code-training and open it.</a:t>
            </a:r>
          </a:p>
          <a:p>
            <a:r>
              <a:t>- Terminal: mkdir claude-code-training then cd claude-code-training then open that folder in VS Code.</a:t>
            </a:r>
          </a:p>
          <a:p/>
          <a:p>
            <a:r>
              <a:t>POINT AT LAB 0 HERE</a:t>
            </a:r>
          </a:p>
          <a:p>
            <a:r>
              <a:t>Say it out loud: "Everything is at aiacopilot.com/claudecode - labs, handouts, all three days. Lab 0 there is the written version of everything we are doing right now - installing, this folder, these three lines. If you fall behind at any point today, that document catches you up. You do not need to read it now; you need to know it exists."</a:t>
            </a:r>
          </a:p>
          <a:p/>
          <a:p>
            <a:r>
              <a:t>THEN THE THREE LINES</a:t>
            </a:r>
          </a:p>
          <a:p>
            <a:r>
              <a:t>Line 1 - claude. Starts it and triggers sign-in with the organization identity. Do NOT say "claude auth login" - that is not the flow and it is not what Lab 0 says.</a:t>
            </a:r>
          </a:p>
          <a:p>
            <a:r>
              <a:t>Line 2 - /model. Confirm Sonnet 5. Say why: if their model differs from mine, their output differs from mine all day and we chase a difference that is not real.</a:t>
            </a:r>
          </a:p>
          <a:p>
            <a:r>
              <a:t>Line 3 - the actual test: "Create hello.md with one line explaining what Claude Code is, then tell me what you did."</a:t>
            </a:r>
          </a:p>
          <a:p>
            <a:r>
              <a:t>Notice what that is NOT: it is not a question. I asked it to DO something and report back. First interaction should be an action, not a conversation. That distinction is the whole course in one line.</a:t>
            </a:r>
          </a:p>
          <a:p/>
          <a:p>
            <a:r>
              <a:t>WARN THEM BEFORE THEY PASTE LINE 3</a:t>
            </a:r>
          </a:p>
          <a:p>
            <a:r>
              <a:t>It will ask permission before writing the file. Say so in advance: "You are about to get an approval prompt. Click accept. You will get a lot of these today - that is deliberate, and this afternoon you learn how to stop answering the same one fifty times." That sentence pre-frames Block 4.</a:t>
            </a:r>
          </a:p>
          <a:p/>
          <a:p>
            <a:r>
              <a:t>THE GATE</a:t>
            </a:r>
          </a:p>
          <a:p>
            <a:r>
              <a:t>hello.md appears in their file tree and Claude says what it did. That proves four things at once - install works, authenticated, model responding, and it can write to their workspace. Nothing else needs checking.</a:t>
            </a:r>
          </a:p>
          <a:p/>
          <a:p>
            <a:r>
              <a:t>IF SOMEONE FAILS</a:t>
            </a:r>
          </a:p>
          <a:p>
            <a:r>
              <a:t>Do not debug in front of the room. Pair them with a neighbour, note the name, fix it at the break.</a:t>
            </a:r>
          </a:p>
          <a:p/>
          <a:p>
            <a:r>
              <a:t>ASK: [CRESCENDO L1] Thumbs up in chat when hello.md shows up in your file tree. expect: a wave of thumbs - your green light.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WHICH REPO - MINE: the status-service demo repo shipped in Demo/status-service, copied to C:\aia-demo\status-service. Nobody in the room has built anything yet; every prompt below runs on your copy.</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Make it a git repo - the shipped folder has NO .git: git init &amp;&amp; git add -A &amp;&amp; git commit -m "baseline". Two later demos depend on this (the 1:38 rewind fallback runs git checkout ., and the 3:09 deny-rule beat needs a real branch to push).</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start-up or syntax error it read and fixed itself, a missing dependency installed autonomously. Nothing in this build creates a test suite - do not fish for "a failing test it fixed".</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RUN-SHEET POSITION: on the run sheet this break falls at 10:30 BEFORE the demo and Lab 1A, i.e. earlier in the deck than this slide sits. Take the break when the clock says 10:30, then come back to the demo slide.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5 min) PRINCIPLE 3 - route, don't pile</a:t>
            </a:r>
          </a:p>
          <a:p/>
          <a:p>
            <a:r>
              <a:t>THE ANTI-PATTERN</a:t>
            </a:r>
          </a:p>
          <a:p>
            <a:r>
              <a:t>One five-hundred-line CLAUDE.md where half the instructions get quietly ignored, because past a certain size the file dilutes itself. This is the most common failure with these files, and it happens gradually - nobody writes a bloated file on purpose.</a:t>
            </a:r>
          </a:p>
          <a:p/>
          <a:p>
            <a:r>
              <a:t>ROUTE BY TOPIC - .claude/rules/</a:t>
            </a:r>
          </a:p>
          <a:p>
            <a:r>
              <a:t>A lean core CLAUDE.md, plus topic files under .claude/rules/. Give them concrete examples so it is not abstract:</a:t>
            </a:r>
          </a:p>
          <a:p>
            <a:r>
              <a:t>- testing.md - which framework, where tests live, what coverage you expect, "never mock the database"</a:t>
            </a:r>
          </a:p>
          <a:p>
            <a:r>
              <a:t>- api.md - error response shape, status code conventions, versioning rules</a:t>
            </a:r>
          </a:p>
          <a:p>
            <a:r>
              <a:t>- security.md - never log PII, never read from .env, where secrets actually live</a:t>
            </a:r>
          </a:p>
          <a:p>
            <a:r>
              <a:t>- style.md - the conventions your linter cannot express</a:t>
            </a:r>
          </a:p>
          <a:p>
            <a:r>
              <a:t>The core file stays short and says what is always true; the rules files carry the detail that only matters sometimes.</a:t>
            </a:r>
          </a:p>
          <a:p/>
          <a:p>
            <a:r>
              <a:t>ROUTE BY FOLDER - and this is the one most people do not know</a:t>
            </a:r>
          </a:p>
          <a:p>
            <a:r>
              <a:t>You can put a CLAUDE.md inside a subfolder, and Claude only loads it when it reads a file in that subtree. It costs you nothing until the agent goes there. So in a monorepo: one at the root for what is true everywhere, one in services/payments for the payment rules, one in apps/web for frontend conventions. Each team owns their own file, nobody pays for anyone else's.</a:t>
            </a:r>
          </a:p>
          <a:p>
            <a:r>
              <a:t>Say the mechanic plainly because it is the interesting part: files above your working directory load at launch, files below it load on demand. That is free scoping - you are not choosing what to include, the agent's own reading decides.</a:t>
            </a:r>
          </a:p>
          <a:p>
            <a:r>
              <a:t>For this room, the honest version: your repos are probably not monorepos yet, so you may not need this today. Know it exists, because the moment one repo serves two teams, this is the answer.</a:t>
            </a:r>
          </a:p>
          <a:p/>
          <a:p>
            <a:r>
              <a:t>ALSO WORTH ONE LINE</a:t>
            </a:r>
          </a:p>
          <a:p>
            <a:r>
              <a:t>CLAUDE.local.md - personal overrides, gitignored, your preferences without polluting the team file.</a:t>
            </a:r>
          </a:p>
          <a:p/>
          <a:p>
            <a:r>
              <a:t>THE GOVERNANCE WARNING - read the strip on the previous slide's theme</a:t>
            </a:r>
          </a:p>
          <a:p>
            <a:r>
              <a:t>Review CLAUDE.md diffs in pull requests like any shared config, and give the file one named audit owner. The failure mode is real: somebody adds a hotfix line after a frustrating session, nobody reviews it, and six months later the file is the pile again.</a:t>
            </a:r>
          </a:p>
          <a:p/>
          <a:p>
            <a:r>
              <a:t>ASK: [CRESCENDO L3] Three words or less - what is the first rules file your team would write? expect: testing, security, API conventions. IF NOBODY ANSWERS: count to five, say "testing, every time", and move.</a:t>
            </a:r>
          </a:p>
          <a:p/>
          <a:p>
            <a:r>
              <a:t>SAY-NEXT: That is how you keep it lean. Now - the file you never write yourself. (verify at delivery - nested loading behavior is documented but worth a sanity check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Before you write your own file, there are four behavioral lines that belong in every CLAUDE.md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 </a:t>
            </a:r>
          </a:p>
          <a:p/>
          <a:p>
            <a:r>
              <a:t>LAYOUT NOTE: these are on the slide to be READ, not copied off the projector. The exact four lines are in their CLAUDE.md Templates handout and in Lab 1B - point at the handout when you say 'paste these' - it is the CLAUDE.md Templates PDF at aiacopilot.com/claudecode, under Reference Guides. The bracketed failure mode after each rule is the pairing: read the rule, then name the failure it kills.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9 min) DEMO - /init and auto memory</a:t>
            </a:r>
          </a:p>
          <a:p/>
          <a:p>
            <a:r>
              <a:t>WHICH REPO - MINE: status-service at C:\aia-demo\status-service, the same copy from the 9:55 demo. NOT their dashboard - they build memory into that themselves in Lab 1B.</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status-service open in a FRESH Claude Code session in the VS Code Claude Code panel (there is no "Lab 1A status-service" - Lab 1A is their dashboard, this is your demo repo)</a:t>
            </a:r>
          </a:p>
          <a:p>
            <a:r>
              <a:t>- status-service ships a real CLAUDE.md and the 9:55 demo depends on it. Do NOT delete it: rename it to CLAUDE.md.bak before class so /init has something to do, then restore the name afterwards (or let the file /init writes stand).</a:t>
            </a:r>
          </a:p>
          <a:p>
            <a:r>
              <a:t>- This run card on the second screen</a:t>
            </a:r>
          </a:p>
          <a:p>
            <a:r>
              <a:t>- On your clipboard: Remember: in this service every error response must include a "code" field alongside "error". Save that so you never omit it.</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in this service every error response must include a 'code' field alongside 'error'. Save that so you never omit it."</a:t>
            </a:r>
          </a:p>
          <a:p>
            <a:r>
              <a:t>Why this rule and not a zod rule: status-service has zero dependencies by design and its own CLAUDE.md forbids adding packages, so "validate with zod" gets refused or breaks the repo. This rule needs nothing installed, and server.js already has one error shape to extend - the 404 in the fallthrough.</a:t>
            </a:r>
          </a:p>
          <a:p/>
          <a:p>
            <a:r>
              <a:t>STEP 4 - RESTART, THEN PROVE IT STUCK</a:t>
            </a:r>
          </a:p>
          <a:p>
            <a:r>
              <a:t>Restart the session completely - new session, blank short-term memory. Say that out loud so nobody thinks it is still sitting in the chat history. Then ask: "Add a GET /api/orders/:id endpoint that returns one order, or 404 if the id is unknown." Watch the 404 come back carrying a code field nobody asked for. Then run /memory and show them where the note actually lives.</a:t>
            </a:r>
          </a:p>
          <a:p/>
          <a:p>
            <a:r>
              <a:t>EXPECTED</a:t>
            </a:r>
          </a:p>
          <a:p>
            <a:r>
              <a:t>A lean CLAUDE.md under one screenful, and the taught rule surviving a restart - a code field showing up in an error response nobody asked to shape.</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The CLAUDE.md.bak rename is in BEFORE CLASS above; letting /init regenerate the file live is the better demo.</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(11:26,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(11:32,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"every error response returns { error } with a matching status code."</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RUN-SHEET POSITION: lunch is 12:10-12:55 wherever you actually are - on the run sheet you are still inside Block 2 when it arrives, and the /init demo plus Lab 1B land AFTER lunch (12:55-1:35). This slide is a marker, not a promise about which slide you are on.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 (3 tests)</a:t>
            </a:r>
          </a:p>
          <a:p>
            <a:r>
              <a:t>- The git baseline from the 9:55 before-class step must exist - `git status` should run clean. The shipped folder has no .git; if you skipped it: git init &amp;&amp; git add -A &amp;&amp; git commit -m "baseline".</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which works ONLY because you committed the baseline before class. If you skipped that step, delete the folder and re-copy Demo/status-service from the course pack instead: five files, no install, ten seconds.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RUN-SHEET POSITION: the run sheet puts this break at 2:35-2:45. Say the time that is actually on your watch.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FOLLOW ALONG - in THEIR business-dashboard from Lab 1A. The skill folder and the target file both live in their repo; server.js is the target because it is the one file every build in the room has (frontend filenames vary).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server.js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READ-ALONG, NOT RUN-NOW - these three prompts are the Lab 1D ritual and they run in THEIR business-dashboard, once there is a staged diff. Nothing is staged at 3:03; say so, or someone pastes prompt one and Claude correctly answers "nothing is staged".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both CSV export endpoints returning real rows, plus a reviewable PR - a machine check and a human check, together. Their dashboard has no test suite, so the endpoint check IS the machine check; do not promise green tests.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WHICH REPO - MINE: status-service at C:\aia-demo\status-service. Not their dashboard, and not a repo you care about.</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status-service with a hand-written .claude/settings.json in the repo root: allow "Bash(npm test:*)" and "Bash(git:*)", deny "Bash(git push --force:*)". Prefix-match syntax, identical to what Lab 1D teaches - write it in that form so the room can copy it.</a:t>
            </a:r>
          </a:p>
          <a:p>
            <a:r>
              <a:t>- Beat three pushes, so the folder needs the git baseline from the 9:55 step AND a remote, or git fails before the deny rule is ever reached. Safest remote in a classroom: git init --bare C:\aia-demo\origin.git, then git remote add origin C:\aia-demo\origin.git and push once.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"Add a Usage section to README.md documenting the two existing endpoints, then run the tests." (That README has no badge - asking for one gets you a live correction. The two endpoints are GET /api/orders and GET /api/orders/summary, and npm test is three passing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 the deny rule is deterministic and does not depend on release-dependent guard behavior - and point back at the two-layer architecture on the Auto mode slide.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both CSV export endpoints verified by hand,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export endpoints verified,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and the guide holds about thirty-five minutes of material - say that out loud rather than letting them discover it. The core is Phase 1, Phase 2, and Phase 4 through Step 5; Step 6 (push and PR) finishes tonight if the clock beats them.</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Wednesday the nineteenth.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 Day Two on Wednesday the nineteenth - it opens by upgrading them into team standards, so tonight's rough drafts become next week's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Next session's column - and correct the slide title as you say it, because Day Two is NOT tomorrow: Day Two is Wednesday August nineteenth,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9.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9.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9.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0.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9.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3.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9.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9.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verify the feature,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All labs and handouts: aiacopilot.com/claudecode - bookmark it now, you will use it all three days.</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 these in order</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1. Make a folder, open it in VS Code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2. Start Claude and sign in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 Confirm your model</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4. Give it a first instruction</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THEN PASTE THESE</a:t>
            </a:r>
          </a:p>
        </p:txBody>
      </p:sp>
      <p:sp>
        <p:nvSpPr>
          <p:cNvPr id="15" name="Rounded Rectangle 14"/>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a:t>
            </a:r>
          </a:p>
        </p:txBody>
      </p:sp>
      <p:sp>
        <p:nvSpPr>
          <p:cNvPr id="19" name="Rounded Rectangle 18"/>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3" name="Rounded Rectangle 22"/>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ways to route: by topic, and by folder.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Route by topic</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.claude/rules/*.md - testing rules, API conventions, security.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Route by folder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CLAUDE.md inside a subfolder - loads only when Claude reads there.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Subfolder files cost nothing until Claude goes there. Free scoping for a monorepo.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assume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Don't hide confusion. Surface tradeoffs.  (fixes: assumes and runs)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Minimum code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Solve the problem. Nothing speculative.  (fixes: overbuilds)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Touch only what you must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Clean up only your own mess.  (fixes: 40-line diff for a 3-line 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Define success criteria</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Loop until verified.  (fixes: says 'done' without proof)</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All four are in the CLAUDE.md Templates handout: aiacopilot.com/claudecode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my status-service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server.js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endpoints verified,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