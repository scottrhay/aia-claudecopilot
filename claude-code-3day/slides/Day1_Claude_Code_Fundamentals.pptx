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INSTALL STOP - the longest pause of the morning, budget 15-20 minutes ***</a:t>
            </a:r>
          </a:p>
          <a:p>
            <a:r>
              <a:t>Everyone installs here, together, before anything else happens. Do not move on with people broken - the whole day compounds from this slide.</a:t>
            </a:r>
          </a:p>
          <a:p>
            <a:r>
              <a:t>Put Lab 0 on screen or tell them to open the PDF and follow along; you drive on the projector and they mirror you.</a:t>
            </a:r>
          </a:p>
          <a:p>
            <a:r>
              <a:t>ORDER: extension first (Extensions panel, search Claude Code, publisher Anthropic - one click, cannot be blocked by shell policy), then the standalone CLI from the table.</a:t>
            </a:r>
          </a:p>
          <a:p>
            <a:r>
              <a:t>While they work: walk the room. This is your best chance all day to learn names and see who is fast and who is stuck - you will use that later when you need someone to answer a question.</a:t>
            </a:r>
          </a:p>
          <a:p>
            <a:r>
              <a:t>Call a hard time. When you say five minutes left, mean it. Anyone still broken pairs with a neighbour and you fix it at the break.</a:t>
            </a:r>
          </a:p>
          <a:p/>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 IF NOBODY ANSWERS: count to five in your head, then answer it yourself and move - 'nobody? fine, the answer is...' Do not repeat the question, do not wait them out. This room went quiet last time and that is just how they are. THE QUESTION YOU WILL GET, and the answer is not obvious: does installing one give you the other? No. The extension ships with its own private copy of Claude Code inside it, so installing the extension alone is enough for everything we do in the panel today. But that bundled copy is NOT on your PATH - so typing claude in a terminal still needs the standalone install from one of the other rows. And going the other way, installing the CLI does not install the extension. They are two separate things that happen to share the same settings folder. Practical advice for this room: install both, extension first because it is one click and cannot be blocked by shell policy. And the useful fallback - if anyone's CLI install gets blocked by corporate policy today, they can still do all of Day 1 in the panel. We only strictly need the CLI on Day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(9:35, 6 min) FOLLOW ALONG - first run, everyone together</a:t>
            </a:r>
          </a:p>
          <a:p/>
          <a:p>
            <a:r>
              <a:t>WHERE WE ARE</a:t>
            </a:r>
          </a:p>
          <a:p>
            <a:r>
              <a:t>They have just installed. Nobody has run anything yet. This slide gets every person in the room to a working Claude before we talk about anything else - and the next three slides need it running, because they are going to be clicking around their own panel.</a:t>
            </a:r>
          </a:p>
          <a:p/>
          <a:p>
            <a:r>
              <a:t>LINE 1 - claude auth login</a:t>
            </a:r>
          </a:p>
          <a:p>
            <a:r>
              <a:t>Browser opens, they sign in with the organization identity from two slides ago, the seat binds to this machine. If they installed the extension, signing in through the panel does the same job.</a:t>
            </a:r>
          </a:p>
          <a:p/>
          <a:p>
            <a:r>
              <a:t>LINE 2 - /model</a:t>
            </a:r>
          </a:p>
          <a:p>
            <a:r>
              <a:t>Confirm Sonnet 5. Say why: if their model differs from mine, their output differs from mine all day and we waste time chasing a difference that is not real.</a:t>
            </a:r>
          </a:p>
          <a:p/>
          <a:p>
            <a:r>
              <a:t>LINE 3 - the one that matters</a:t>
            </a:r>
          </a:p>
          <a:p>
            <a:r>
              <a:t>"Create hello.md with one line explaining what Claude Code is, then tell me what you did."</a:t>
            </a:r>
          </a:p>
          <a:p>
            <a:r>
              <a:t>Notice what that is NOT. It is not a question. I deliberately asked it to DO something - write a file - and report back. First interaction should be an action, not a conversation. That distinction is the entire course in one line.</a:t>
            </a:r>
          </a:p>
          <a:p/>
          <a:p>
            <a:r>
              <a:t>WARN THEM BEFORE THEY PASTE</a:t>
            </a:r>
          </a:p>
          <a:p>
            <a:r>
              <a:t>It will ask permission before writing the file. Say so in advance: "You are about to get an approval prompt. Click accept. You will get a lot of these today - that is deliberate, and this afternoon you will learn how to stop answering the same one fifty times." That one sentence pre-frames Block 4.</a:t>
            </a:r>
          </a:p>
          <a:p/>
          <a:p>
            <a:r>
              <a:t>THE GATE - this is what you are actually checking</a:t>
            </a:r>
          </a:p>
          <a:p>
            <a:r>
              <a:t>hello.md appears in their file tree and Claude tells them what it did. That single exchange proves four things: install works, authenticated, model responding, and it can write to their workspace. Nothing else needs checking. No diagnostic sweep.</a:t>
            </a:r>
          </a:p>
          <a:p/>
          <a:p>
            <a:r>
              <a:t>IF SOMEONE FAILS</a:t>
            </a:r>
          </a:p>
          <a:p>
            <a:r>
              <a:t>Do not debug in front of the room. Pair them with a neighbour, note their name, fix it at the break. One broken laptop must not cost nineteen people their attention.</a:t>
            </a:r>
          </a:p>
          <a:p/>
          <a:p>
            <a:r>
              <a:t>ASK: [CRESCENDO L1] Thumbs up in chat when hello.md shows up in your file tree. expect: a wave of thumbs - your green light to move on. IF NOBODY ANSWERS: flip it - "anyone NOT see the file?" - the negative question gets an answer when the positive one does not.</a:t>
            </a:r>
          </a:p>
          <a:p/>
          <a:p>
            <a:r>
              <a:t>SAY-NEXT: Everyone has a file they did not write. Now let's look at where you are actually going to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ORIENTATION - the slash-actions menu</a:t>
            </a:r>
          </a:p>
          <a:p/>
          <a:p>
            <a:r>
              <a:t>WHY THIS SLIDE EXISTS</a:t>
            </a:r>
          </a:p>
          <a:p>
            <a:r>
              <a:t>Give them a map before you give them detail. WHERE IT IS - be precise, or half the room hunts for it: in the Claude Code panel, at the bottom-left of the message box, there is a small slash button sitting next to the plus sign. Click it. A menu opens with the groups listed on this slide. IMPORTANT: the menu SCROLLS - Context and Model are visible immediately, but they have to scroll down to reach Customize and Settings. Say that out loud, because people will report the Customize group is missing when it is just below the fold. Let them look at it while you talk. Almost everything in this course is behind that one menu, and once they see that, the next three days have a shape.</a:t>
            </a:r>
          </a:p>
          <a:p/>
          <a:p>
            <a:r>
              <a:t>WALK THE GROUPS - point at each as you say it</a:t>
            </a:r>
          </a:p>
          <a:p>
            <a:r>
              <a:t>Context: attach a file, mention a file from this project, clear the conversation, rewind. That whole group is Block Three this afternoon - how you control what Claude is looking at, and how you undo when it goes wrong.</a:t>
            </a:r>
          </a:p>
          <a:p>
            <a:r>
              <a:t>Model: switch model, Effort, Thinking, and Account and usage. The next three slides are that group, and Account and usage comes back in Block Four when we talk about what this costs.</a:t>
            </a:r>
          </a:p>
          <a:p>
            <a:r>
              <a:t>Then Customize, and this is the part worth pausing on. Memory. Permissions. Hooks. Plugins. Agents. MCP servers. Read that list out loud slowly, because it is this course: Memory and Permissions are today, Hooks and Plugins are tomorrow, Agents and MCP servers are Day Three. The menu is the syllabus.</a:t>
            </a:r>
          </a:p>
          <a:p/>
          <a:p>
            <a:r>
              <a:t>THE TERMINAL ICONS - explain them, they cause confusion otherwise</a:t>
            </a:r>
          </a:p>
          <a:p>
            <a:r>
              <a:t>Several of those items have a small terminal icon beside them. That does not mean the feature is missing from the panel. It means the feature WORKS here but is CONFIGURED from the command line. Anthropic says exactly that on the extension's marketplace page. So when we get to hooks tomorrow and you find yourself in a terminal editing a JSON file, this is why - and it is normal, not a workaround.</a:t>
            </a:r>
          </a:p>
          <a:p/>
          <a:p>
            <a:r>
              <a:t>That is also the honest answer to a question a few of you are already asking: panel or terminal? Both. You will live in the panel and dip into the terminal to configure things. Nobody picks a side.</a:t>
            </a:r>
          </a:p>
          <a:p/>
          <a:p>
            <a:r>
              <a:t>ONE MORE THING WORTH KNOWING</a:t>
            </a:r>
          </a:p>
          <a:p>
            <a:r>
              <a:t>If you ever want the old terminal-style experience inside VS Code, there is a setting called Claude Code: Use Terminal that switches you back. You will not need it today - I mention it so you know the door exists.</a:t>
            </a:r>
          </a:p>
          <a:p/>
          <a:p>
            <a:r>
              <a:t>ASK: [CRESCENDO L1] Everyone open that slash menu and scroll down - thumbs up in chat when you can see the Customize group. expect: quick thumbs, and it gets them into the panel early. IF NOBODY ANSWERS: count to five, then ask "anyone NOT seeing a Customize section?" - the negative question gets an answer when the positive one does not.</a:t>
            </a:r>
          </a:p>
          <a:p/>
          <a:p>
            <a:r>
              <a:t>SAY-NEXT: Let's start at the top of that Model group - because the first real choice you make is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4 min) OUTPUT STYLES - the setting nobody finds</a:t>
            </a:r>
          </a:p>
          <a:p/>
          <a:p>
            <a:r>
              <a:t>WHAT THIS IS</a:t>
            </a:r>
          </a:p>
          <a:p>
            <a:r>
              <a:t>Four ways Claude Code can talk to you. It does not change what Claude can do - it changes how much it shows its work. Most people never open this menu, and one of these four is genuinely useful to you this week.</a:t>
            </a:r>
          </a:p>
          <a:p/>
          <a:p>
            <a:r>
              <a:t>DEMO IT - 90 seconds, do it live</a:t>
            </a:r>
          </a:p>
          <a:p>
            <a:r>
              <a:t>Slash button, scroll to Customize, choose Output styles. Note what happens: it opens in a terminal-style picker rather than a dialog. Point that out - it is the terminal icon we just discussed, doing exactly what I said it would. Arrow down through the four and read them as you go.</a:t>
            </a:r>
          </a:p>
          <a:p/>
          <a:p>
            <a:r>
              <a:t>THE FOUR</a:t>
            </a:r>
          </a:p>
          <a:p>
            <a:r>
              <a:t>Default: efficient and concise. Where you are now, and where you will end up for real work.</a:t>
            </a:r>
          </a:p>
          <a:p>
            <a:r>
              <a:t>Proactive: acts immediately, interrupts less, prefers doing over planning. Good when you trust the task and want speed.</a:t>
            </a:r>
          </a:p>
          <a:p>
            <a:r>
              <a:t>Explanatory: it explains its implementation choices and the patterns it found in your codebase. This is the one for today.</a:t>
            </a:r>
          </a:p>
          <a:p>
            <a:r>
              <a:t>Learning: it pauses and asks YOU to write small pieces of code.</a:t>
            </a:r>
          </a:p>
          <a:p/>
          <a:p>
            <a:r>
              <a:t>WHY EXPLANATORY, AND WHY NOT LEARNING - say this clearly, it reinforces the whole course</a:t>
            </a:r>
          </a:p>
          <a:p>
            <a:r>
              <a:t>Turn on Explanatory. You are here to understand what the agent is doing and why it made the calls it made. Explanatory turns every task into a short explanation of its reasoning, which is exactly what you want while the tool is still unfamiliar.</a:t>
            </a:r>
          </a:p>
          <a:p/>
          <a:p>
            <a:r>
              <a:t>Do NOT turn on Learning today, and here is the reason, because someone will read that line in the menu and wonder. Learning mode is designed to teach you to CODE - it stops and hands you the keyboard for practice. You already know how to code. That is not the skill you are here for. This course is about directing an agent and reviewing outcomes, not writing the lines yourself. Learning mode is a good feature aimed at a different person.</a:t>
            </a:r>
          </a:p>
          <a:p/>
          <a:p>
            <a:r>
              <a:t>If they push - a junior on the team learning the codebase might genuinely benefit from it. Fine. Just not you, not today, and not in a timed lab.</a:t>
            </a:r>
          </a:p>
          <a:p/>
          <a:p>
            <a:r>
              <a:t>SWITCH BACK LATER</a:t>
            </a:r>
          </a:p>
          <a:p>
            <a:r>
              <a:t>Explanatory costs you tokens and reading time. Once you know what you are looking at, Default is faster and cheaper. Treat it as training wheels you take off in a week or two.</a:t>
            </a:r>
          </a:p>
          <a:p/>
          <a:p>
            <a:r>
              <a:t>ASK: [CRESCENDO L2] Chat check - who is switching to Explanatory for today? expect: a good number, and it gives you a callback after Lab 1A: 'those of you on Explanatory - did it help, or did it just talk more?' IF NOBODY ANSWERS: count to five, say you are switching to Explanatory yourself and why, and move.</a:t>
            </a:r>
          </a:p>
          <a:p/>
          <a:p>
            <a:r>
              <a:t>SAY-NEXT: That is the cockpit. Now the first real choice you make in it -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 THE QUESTION SOMEONE WILL ASK - can I add to this list? Yes, and the answer is worth previewing because it is where this gets powerful for a company like yours. The built-in set is fixed - Anthropic ships those and you cannot edit them. But you extend the list by connecting MCP servers: your ticketing system, your database, your internal APIs. Once a server is connected, its tools sit in the same list Claude picks from, and it uses them the same way it uses Read or Bash. That is Day Three, and it is the day this stops being a coding tool and starts being connected to your actual systems. If they push for a Microsoft comparison, this is the connector story with a vendor-neutral protocol instead of a proprietary one - same idea, different plumbing. You can also go the other way and RESTRICT the list: skills can declare which tools they are allowed to use, and on Day Three you will give a subagent a deliberately narrow toolset so it physically cannot do things outside its job. Adding tools is the exciting half; taking them away is the half that makes it safe to run unattended.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Open THAT folder in VS Code (code . from your configured terminal), trust it when prompted, Claude panel visible</a:t>
            </a:r>
          </a:p>
          <a:p>
            <a:r>
              <a:t>- Put the prompt below on your clipboard</a:t>
            </a:r>
          </a:p>
          <a:p/>
          <a:p>
            <a:r>
              <a:t>STEP 1 - ONE HONEST SENTENCE (10 sec)</a:t>
            </a:r>
          </a:p>
          <a:p>
            <a:r>
              <a:t>You are demoing on your own machine with your own setup, which is fine. Do not stage a clean profile - that is one more thing to break at 9am. Just say this once:</a:t>
            </a:r>
          </a:p>
          <a:p>
            <a:r>
              <a:t>"My setup has more loaded into it than yours does - I use this daily for my own business. If you ever see something on my screen that you do not have, stop me and say so. That is useful information, not a distraction."</a:t>
            </a:r>
          </a:p>
          <a:p>
            <a:r>
              <a:t>That is the whole disclosure. It sets the expectation, invites the correction, and costs you ten seconds instead of ninety.</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failing test fixed without help, a missing dependency installed autonomously.</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USEFUL ASIDE, keep it short: everything in the user layer lives in one directory, and there is an environment variable - CLAUDE_CONFIG_DIR - that points Claude Code at a different one. That is how you get a clean profile for testing, or a separate setup per client. Mention it, do not dwell: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it per project in a config file we get to in Block Four -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9 min) DEMO - /init and auto memory</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The Lab 1A status-service repo open in a fresh Claude Code session in the VS Code Claude Code panel</a:t>
            </a:r>
          </a:p>
          <a:p>
            <a:r>
              <a:t>- No existing CLAUDE.md in that repo - delete it if an earlier run left one behind</a:t>
            </a:r>
          </a:p>
          <a:p>
            <a:r>
              <a:t>- This run card on the second screen</a:t>
            </a:r>
          </a:p>
          <a:p>
            <a:r>
              <a:t>- On your clipboard: Remember: all API handlers must validate input with zod.</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all API handlers must validate input with zod."</a:t>
            </a:r>
          </a:p>
          <a:p/>
          <a:p>
            <a:r>
              <a:t>STEP 4 - RESTART, THEN PROVE IT STUCK</a:t>
            </a:r>
          </a:p>
          <a:p>
            <a:r>
              <a:t>Restart the session completely - new session, blank short-term memory. Say that out loud so nobody thinks it is still sitting in the chat history. Then ask: "add a /metrics endpoint." Watch the zod validation appear, unprompted. Then run /memory and show them where the note actually lives.</a:t>
            </a:r>
          </a:p>
          <a:p/>
          <a:p>
            <a:r>
              <a:t>EXPECTED</a:t>
            </a:r>
          </a:p>
          <a:p>
            <a:r>
              <a:t>A lean CLAUDE.md under one screenful, and the taught rule surviving a restart - zod validation showing up in a route where nobody asked for validation.</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 </a:t>
            </a:r>
          </a:p>
          <a:p/>
          <a:p>
            <a:r>
              <a:t>REPO NOTE: use YOUR status-service, not their dashboard - you will not have built one. status-service already ships a CLAUDE.md, so before class RENAME it to CLAUDE.md.bak so /init has something to actually do. Restore it afterwards, or just let /init regenerate it live - that is a better demo anyway.</a:t>
            </a:r>
          </a:p>
          <a:p/>
          <a:p>
            <a:r>
              <a:t>WHAT THIS DEMO DELIBERATELY LEAVES FOR THEM</a:t>
            </a:r>
          </a:p>
          <a:p>
            <a:r>
              <a:t>You show /init and the correction loop on your repo. You do NOT show HANDOFF.md - that is the next slide, where they do it on their own dashboard. Say so as you finish: 'that is two of the three memory moves. The third one you are going to do yourselves in about a minute.'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(11:19, 6 min) YOUR TURN - the two memory moves, on their own repo</a:t>
            </a:r>
          </a:p>
          <a:p/>
          <a:p>
            <a:r>
              <a:t>WHERE THEY ARE</a:t>
            </a:r>
          </a:p>
          <a:p>
            <a:r>
              <a:t>Their business-dashboard from Lab 1A. Not status-service - that is yours. Say it plainly: "switch to the dashboard you built this morning."</a:t>
            </a:r>
          </a:p>
          <a:p/>
          <a:p>
            <a:r>
              <a:t>WHY THIS IS NOT A REPEAT OF THE DEMO</a:t>
            </a:r>
          </a:p>
          <a:p>
            <a:r>
              <a:t>You just ran /init on my repo. They do NOT need to run /init again here - they will do that in Lab 1B in ten minutes, on their own project, with time to curate it properly. This slide is the two moves I showed you but did not have them practise: correcting Claude so the correction sticks, and writing a handoff.</a:t>
            </a:r>
          </a:p>
          <a:p/>
          <a:p>
            <a:r>
              <a:t>WHAT TO DO - 6 minutes</a:t>
            </a:r>
          </a:p>
          <a:p>
            <a:r>
              <a:t>1. Line one, the correction loop. Have them paste it and watch what happens: Claude acknowledges and writes the preference to disk. Then say the important bit: "that did not go into this conversation. It went into a file. Close the session, come back tomorrow, it still knows."</a:t>
            </a:r>
          </a:p>
          <a:p>
            <a:r>
              <a:t>2. Have them prove it - and this is the beat that lands: tell them to run /clear, then ask "what are our formatting conventions in this project?" It still knows. That is the difference between a session and a file, demonstrated in fifteen seconds.</a:t>
            </a:r>
          </a:p>
          <a:p>
            <a:r>
              <a:t>3. Line two, the handoff. Paste it, let it write HANDOFF.md, and have them open the file and read it. Say: "that is what you leave behind on a Friday afternoon so Monday morning is not archaeology."</a:t>
            </a:r>
          </a:p>
          <a:p/>
          <a:p>
            <a:r>
              <a:t>THE POINT</a:t>
            </a:r>
          </a:p>
          <a:p>
            <a:r>
              <a:t>Three memory moves total. Bootstrap with /init - you saw me do it. Correct once and it sticks. Hand off before you stop. Every one of them ends with something written to a file, because sessions evaporate and files do not.</a:t>
            </a:r>
          </a:p>
          <a:p/>
          <a:p>
            <a:r>
              <a:t>IF SOMEONE'S CORRECTION DOES NOT PERSIST</a:t>
            </a:r>
          </a:p>
          <a:p>
            <a:r>
              <a:t>Have them check the file was actually written - open the project's CLAUDE.md or the memory directory. If it went into the conversation only, they phrased it as a comment rather than an instruction: "Remember:" and "Save that" are the words that matter.</a:t>
            </a:r>
          </a:p>
          <a:p/>
          <a:p>
            <a:r>
              <a:t>ASK: [CRESCENDO L2] After the /clear test - thumbs up in chat if it still knew your convention. expect: a wave of thumbs, and a couple of genuinely surprised faces. That surprise is the lesson landing. IF NOBODY ANSWERS: ask the negative - "did anyone's forget?"</a:t>
            </a:r>
          </a:p>
          <a:p/>
          <a:p>
            <a:r>
              <a:t>SAY-NEXT: That is memory in three moves. Now you build a real one - Lab 1B, and this time you curate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"handlers validate input with zod."</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5 min) YOUR TURN - they drive, on their own repo</a:t>
            </a:r>
          </a:p>
          <a:p/>
          <a:p>
            <a:r>
              <a:t>WHOSE REPO - answer this before anyone asks</a:t>
            </a:r>
          </a:p>
          <a:p>
            <a:r>
              <a:t>THEIRS. The business-dashboard they built in Lab 1A this morning. Not my status-service - that is only for my demos. Say it out loud as you put the slide up: "open the dashboard you built before lunch. These two prompts will run on it for real."</a:t>
            </a:r>
          </a:p>
          <a:p/>
          <a:p>
            <a:r>
              <a:t>WHY THESE TWO PROMPTS WORK ON EVERY REPO IN THE ROOM</a:t>
            </a:r>
          </a:p>
          <a:p>
            <a:r>
              <a:t>Both target @server.js, which every Lab 1A build produces - it is in the lab's own success checklist. And prompt one points at validation on POST /api/tasks, which THEY wrote themselves in the last step of Lab 1A. That is deliberate: they are telling Claude to follow a pattern they authored two hours ago. Say that - it lands.</a:t>
            </a:r>
          </a:p>
          <a:p/>
          <a:p>
            <a:r>
              <a:t>WHAT TO DO - 5 minutes</a:t>
            </a:r>
          </a:p>
          <a:p>
            <a:r>
              <a:t>1. Read the three habits on the left. Ten seconds, do not labour it.</a:t>
            </a:r>
          </a:p>
          <a:p>
            <a:r>
              <a:t>2. Dissect prompt one, pointing as you go: it names the file with an at-sign, so no hunting. It points at a pattern already in that file - "like the validation on POST /api/tasks" beats three paragraphs describing your style, and it is a pattern they wrote. And it ends by saying how success gets proven - run it, reject a bad request.</a:t>
            </a:r>
          </a:p>
          <a:p>
            <a:r>
              <a:t>3. Dissect prompt two: same at-mention, then a scope fence - "change only that one query" is what stops the helpful refactor sprawl - and a verification artifact, show me the diff.</a:t>
            </a:r>
          </a:p>
          <a:p>
            <a:r>
              <a:t>4. "Pick either one, paste it into your dashboard, run it. Two minutes. Watch how little it has to guess."</a:t>
            </a:r>
          </a:p>
          <a:p>
            <a:r>
              <a:t>5. While they run: circulate. Good moment to see who is comfortable and who is still hesitant.</a:t>
            </a:r>
          </a:p>
          <a:p/>
          <a:p>
            <a:r>
              <a:t>THE POINT - say it after they run, not before</a:t>
            </a:r>
          </a:p>
          <a:p>
            <a:r>
              <a:t>The last clause in both prompts is the whole difference. Wishing hopes it worked. Delegation demands evidence. If your prompt does not say how success gets proven, you have not delegated - you have hoped.</a:t>
            </a:r>
          </a:p>
          <a:p/>
          <a:p>
            <a:r>
              <a:t>IF SOMEONE'S REPO DIFFERS</a:t>
            </a:r>
          </a:p>
          <a:p>
            <a:r>
              <a:t>Lab 1A output varies a little between builds - some have db.js, some a db/ folder, frontend files get different names. server.js is the constant. If a filename does not match, tell them to substitute the nearest real one; the shape is the lesson, not the filename.</a:t>
            </a:r>
          </a:p>
          <a:p/>
          <a:p>
            <a:r>
              <a:t>ASK: One word in chat - sharper, or the same as what you typed last week? expect: 'sharper' almost universally. Steal the best rewrite you see and read it aloud - naming someone's prompt is the cheapest engagement win of the day. IF NOBODY ANSWERS: count to five, read your own favourite aloud, and move.</a:t>
            </a:r>
          </a:p>
          <a:p/>
          <a:p>
            <a:r>
              <a:t>SAY-NEXT: That is delegation done well. Now watch me do the opposite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commit every sin from this block on purpose, watch quality visibly fall apart, then recover in thirty seconds. They have just been told context is a budget and checkpoints exist. This proves both in one run. The payoff is the rewind menu: code reverts, conversation survives, and choosing that scope is the skill.</a:t>
            </a:r>
          </a:p>
          <a:p/>
          <a:p>
            <a:r>
              <a:t>WHICH REPO - your status-service, the same one from this morning</a:t>
            </a:r>
          </a:p>
          <a:p>
            <a:r>
              <a:t>Not their dashboard. Yours. You know it, it is small, and the tests run in two seconds. Open C:\aia-demo\status-service in VS Code with the Claude Code panel visible. If your session from this morning is still open, even better - it already has history in it, which helps the bloat beat land.</a:t>
            </a:r>
          </a:p>
          <a:p/>
          <a:p>
            <a:r>
              <a:t>BEFORE CLASS</a:t>
            </a:r>
          </a:p>
          <a:p>
            <a:r>
              <a:t>- status-service open, `npm test` verified passing</a:t>
            </a:r>
          </a:p>
          <a:p>
            <a:r>
              <a:t>- Nothing else needed. Do not pre-break anything - the breaking is the demo.</a:t>
            </a:r>
          </a:p>
          <a:p/>
          <a:p>
            <a:r>
              <a:t>STEP 1 - SHOW THE BUDGET (1 min)</a:t>
            </a:r>
          </a:p>
          <a:p>
            <a:r>
              <a:t>Run: /context</a:t>
            </a:r>
          </a:p>
          <a:p>
            <a:r>
              <a:t>Point at the number. Say: "this is what I am spending before I have asked for anything."</a:t>
            </a:r>
          </a:p>
          <a:p/>
          <a:p>
            <a:r>
              <a:t>STEP 2 - BLOAT IT ON PURPOSE (2 min)</a:t>
            </a:r>
          </a:p>
          <a:p>
            <a:r>
              <a:t>Paste: "Read every file in this project, then summarise each one in detail, then list every function with its parameters."</a:t>
            </a:r>
          </a:p>
          <a:p>
            <a:r>
              <a:t>Let it run. Then /context again. Point at the jump. Say: "I just spent a third of my window on information I did not need for the task I actually care about."</a:t>
            </a:r>
          </a:p>
          <a:p/>
          <a:p>
            <a:r>
              <a:t>STEP 3 - BREAK IT (2 min)</a:t>
            </a:r>
          </a:p>
          <a:p>
            <a:r>
              <a:t>Now, in the same bloated session, paste something destructive and obviously wrong:</a:t>
            </a:r>
          </a:p>
          <a:p>
            <a:r>
              <a:t>"Rewrite server.js to use Express instead of the built-in http module."</a:t>
            </a:r>
          </a:p>
          <a:p>
            <a:r>
              <a:t>That violates the CLAUDE.md in the repo, which says no external dependencies, Node standard library only. Two things can happen and BOTH are good demos:</a:t>
            </a:r>
          </a:p>
          <a:p>
            <a:r>
              <a:t>- It pushes back and cites the CLAUDE.md - say "that is memory doing its job, we cover that after the break"</a:t>
            </a:r>
          </a:p>
          <a:p>
            <a:r>
              <a:t>- It does it anyway - say "and now my working code is broken, and my tests will fail"</a:t>
            </a:r>
          </a:p>
          <a:p>
            <a:r>
              <a:t>Run `npm test` either way. If it broke, the failures on screen are your evidence.</a:t>
            </a:r>
          </a:p>
          <a:p/>
          <a:p>
            <a:r>
              <a:t>STEP 4 - THE RECOVERY, this is the beat that matters (2 min)</a:t>
            </a:r>
          </a:p>
          <a:p>
            <a:r>
              <a:t>Hover the message just before the rewrite and click the rewind arrow. Read the three options out loud - Fork conversation from here, Rewind code to here, Fork conversation and rewind code. Choose "Rewind code to here" deliberately, and say why: "I want my files back, but I want to KEEP the conversation, because everything Claude learned about this repo in the last five minutes is still useful."</a:t>
            </a:r>
          </a:p>
          <a:p>
            <a:r>
              <a:t>Run `npm test` again - green. Say: "thirty seconds. Not twenty minutes of arguing with it."</a:t>
            </a:r>
          </a:p>
          <a:p/>
          <a:p>
            <a:r>
              <a:t>STEP 5 - THE LESSON (1 min)</a:t>
            </a:r>
          </a:p>
          <a:p>
            <a:r>
              <a:t>"Rewind is always better than arguing with a contaminated session. When the output starts drifting, do not try to talk it back to sanity. Go back to the point before it went wrong."</a:t>
            </a:r>
          </a:p>
          <a:p/>
          <a:p>
            <a:r>
              <a:t>EXPECTED</a:t>
            </a:r>
          </a:p>
          <a:p>
            <a:r>
              <a:t>Context number visibly climbs, something breaks or gets refused, tests fail then pass again after rewind.</a:t>
            </a:r>
          </a:p>
          <a:p/>
          <a:p>
            <a:r>
              <a:t>IF IT BREAKS</a:t>
            </a:r>
          </a:p>
          <a:p>
            <a:r>
              <a:t>If the rewind arrow is not where you expect, use the terminal fallback: double-tap Esc. If nothing recovers cleanly, say "this is exactly why we have a recovery path", close the session, reopen, and run `git checkout .` - the repo is committed, so nothing is lost. Never debug live past sixty seconds.</a:t>
            </a:r>
          </a:p>
          <a:p/>
          <a:p>
            <a:r>
              <a:t>DEBRIEF</a:t>
            </a:r>
          </a:p>
          <a:p>
            <a:r>
              <a:t>ASK: Why did I choose to keep the conversation instead of a full undo? expect: because the useful context - what it learned about the repo - is worth keeping; only the files were wrong.</a:t>
            </a:r>
          </a:p>
          <a:p/>
          <a:p>
            <a:r>
              <a:t>SAY-NEXT: Now you do it - Lab 1C is three of these drills, on your own repo.</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 IF NOBODY ANSWERS: count to five in your head, then answer it yourself and move - 'nobody? fine, the answer is...' Do not repeat the question, do not wait them out. This room went quiet last time and that is just how they are. USE ANTHROPIC'S OWN WORDS - they are on the startup banner in the product, and they are blunter than any slide: 'Claude checks each tool call for risky actions and prompt injection before executing. Actions Claude identifies as safe are executed, while actions Claude identifies as risky are blocked and Claude may try a different approach. Ideal for long-running tasks. Sessions are slightly more expensive. Claude can make mistakes that allow harmful commands to run - it is recommended to only use in isolated environments.' Read that last sentence out loud verbatim. Anthropic themselves say only use it in isolated environments. That is the caveat that keeps a security-minded room with you, and it is far more credible coming from the vendor than from me. Also note 'slightly more expensive' - the safety checks are not free, which ties into Block Four.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4 min) SETTINGS.JSON - the file behind everything you have seen today</a:t>
            </a:r>
          </a:p>
          <a:p/>
          <a:p>
            <a:r>
              <a:t>WHY THIS SLIDE EXISTS</a:t>
            </a:r>
          </a:p>
          <a:p>
            <a:r>
              <a:t>You have heard me say "settings.json" twice already this morning and I owe you a definition before you write one in the next lab. It is a plain JSON file that configures how Claude Code behaves. Not memory - memory is CLAUDE.md, written in English, telling Claude about your project. This is configuration, written in JSON, telling the tool what it is allowed to do.</a:t>
            </a:r>
          </a:p>
          <a:p/>
          <a:p>
            <a:r>
              <a:t>THE FOUR PLACES IT LIVES - and it is the same shape as the memory hierarchy from this morning, which is the point</a:t>
            </a:r>
          </a:p>
          <a:p>
            <a:r>
              <a:t>Enterprise managed settings: your administrators set these. They are locked. You cannot override them and you may not even be able to see them. If something in this room behaves differently from my screen, this is the usual reason.</a:t>
            </a:r>
          </a:p>
          <a:p>
            <a:r>
              <a:t>User, at tilde slash dot claude slash settings dot json: your personal defaults, applied to every project you open.</a:t>
            </a:r>
          </a:p>
          <a:p>
            <a:r>
              <a:t>Project, at dot claude slash settings dot json inside the repo: committed to git and shared with the whole team. Say this clearly - changing that file changes your teammates' behavior, so review it like you review code.</a:t>
            </a:r>
          </a:p>
          <a:p>
            <a:r>
              <a:t>Local, settings dot local dot json: your overrides for this one repo, gitignored, never shared. That is where you put the thing that is true for you and nobody else.</a:t>
            </a:r>
          </a:p>
          <a:p/>
          <a:p>
            <a:r>
              <a:t>WHAT ACTUALLY GOES IN IT</a:t>
            </a:r>
          </a:p>
          <a:p>
            <a:r>
              <a:t>Permissions - the allow, ask and deny rules we are about to write. Which model to use. Environment variables. Hooks, which is tomorrow. Which plugins are enabled, also tomorrow. For today, permissions is the only section that matters.</a:t>
            </a:r>
          </a:p>
          <a:p/>
          <a:p>
            <a:r>
              <a:t>THE PRECEDENCE RULE</a:t>
            </a:r>
          </a:p>
          <a:p>
            <a:r>
              <a:t>More specific wins - local beats project, project beats user - with one exception: enterprise settings are locked and win regardless. (verify at delivery - confirm the exact order on your build if anyone pushes on it.)</a:t>
            </a:r>
          </a:p>
          <a:p/>
          <a:p>
            <a:r>
              <a:t>THE WARNING WORTH GIVING</a:t>
            </a:r>
          </a:p>
          <a:p>
            <a:r>
              <a:t>A bare entry in your allow list is broader than people expect. "Bash" on its own does not mean "safe shell commands" - it means every shell command, including the destructive ones. I found exactly that in my own configuration while preparing this course, so I am not being hypothetical.</a:t>
            </a:r>
          </a:p>
          <a:p/>
          <a:p>
            <a:r>
              <a:t>ASK: [CRESCENDO L3] Three words or less - which layer should a team's shared standards live in? expect: project, and that is right, because it is the only one that travels with the repo.</a:t>
            </a:r>
          </a:p>
          <a:p/>
          <a:p>
            <a:r>
              <a:t>SAY-NEXT: Now you know where the rules live. Let's write some.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The status-service repo with a prepared settings.json: allow Bash(npm test) and Bash(git *), deny Bash(git push --force)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"update the README badge and run the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and pull the fallback screenshot deck from the instructor kit.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 </a:t>
            </a:r>
          </a:p>
          <a:p/>
          <a:p>
            <a:r>
              <a:t>REPO NOTE: your status-service repo, not their dashboard.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tests green,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tests green,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 the tightest lab of the day. Reassure them: the ritual is three prompts, so it fits.</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2.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4.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8.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6.png"/><Relationship Id="rId6" Type="http://schemas.openxmlformats.org/officeDocument/2006/relationships/image" Target="../media/image23.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16.png"/><Relationship Id="rId5" Type="http://schemas.openxmlformats.org/officeDocument/2006/relationships/image" Target="../media/image3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18.png"/><Relationship Id="rId4" Type="http://schemas.openxmlformats.org/officeDocument/2006/relationships/image" Target="../media/image39.png"/><Relationship Id="rId5" Type="http://schemas.openxmlformats.org/officeDocument/2006/relationships/image" Target="../media/image21.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40.png"/><Relationship Id="rId5" Type="http://schemas.openxmlformats.org/officeDocument/2006/relationships/image" Target="../media/image25.png"/><Relationship Id="rId6" Type="http://schemas.openxmlformats.org/officeDocument/2006/relationships/image" Target="../media/image19.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37.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3.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7.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3.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7.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7.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31.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8.png"/><Relationship Id="rId5" Type="http://schemas.openxmlformats.org/officeDocument/2006/relationships/image" Target="../media/image37.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0.png"/><Relationship Id="rId6" Type="http://schemas.openxmlformats.org/officeDocument/2006/relationships/image" Target="../media/image37.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6.png"/><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VS Code extension</a:t>
            </a:r>
          </a:p>
        </p:txBody>
      </p:sp>
      <p:sp>
        <p:nvSpPr>
          <p:cNvPr id="10" name="TextBox 9"/>
          <p:cNvSpPr txBox="1"/>
          <p:nvPr/>
        </p:nvSpPr>
        <p:spPr>
          <a:xfrm>
            <a:off x="3840480" y="2423160"/>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Extensions panel -&gt; "Claude Code" (Anthropic). Bundles its own CLI.</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4" name="TextBox 13"/>
          <p:cNvSpPr txBox="1"/>
          <p:nvPr/>
        </p:nvSpPr>
        <p:spPr>
          <a:xfrm>
            <a:off x="3840480" y="3191256"/>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8" name="TextBox 17"/>
          <p:cNvSpPr txBox="1"/>
          <p:nvPr/>
        </p:nvSpPr>
        <p:spPr>
          <a:xfrm>
            <a:off x="3840480" y="3959352"/>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22" name="TextBox 21"/>
          <p:cNvSpPr txBox="1"/>
          <p:nvPr/>
        </p:nvSpPr>
        <p:spPr>
          <a:xfrm>
            <a:off x="3840480" y="4727448"/>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6" name="TextBox 25"/>
          <p:cNvSpPr txBox="1"/>
          <p:nvPr/>
        </p:nvSpPr>
        <p:spPr>
          <a:xfrm>
            <a:off x="3840480" y="5495544"/>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First run: prove it works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doing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Sign in with your org identity</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 the model you are on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Make it DO something, not just chat</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1" name="Rounded Rectangle 20"/>
          <p:cNvSpPr/>
          <p:nvPr/>
        </p:nvSpPr>
        <p:spPr>
          <a:xfrm>
            <a:off x="7040880" y="4203192"/>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hello.md with one line explaining what Claude Code is, then tell me what you did.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menu, the whole course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Attach file, mention a file, clear the conversation, rewind - Block 3 this afternoon.</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al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 Effort, Thinking, Account &amp; usage - the next few slides, and cost in Block 4.</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oo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Memory, Permissions</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and the rules you write - Blocks 2 and 4 today.</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park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Hooks, Plugins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Tomorrow, Day 2.</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Agents, MCP servers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Day 3.</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Items with a terminal icon still work in the panel - they are configured from the CLI.</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Output styles: make it explain</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Default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Completes tasks efficiently, concise responses. Where you are now.</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Proactive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Executes immediately, minimizes interruptions, prefers action over planning.</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Explanatory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Explains its implementation choices and your codebase patterns. Use this today.</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Learning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Pauses and asks YOU to write code. Aimed at learning to code - not our goal here.</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Explanatory while you are learning the agent. Default when you are shipping.</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your own</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MCP servers add tools to this list - your APIs, databases, internal systems (Day 3).</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can be disabled per project (config file comes in Block 4).</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YOUR TURN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turn: teach it something</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two moves I just showed you</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it once - it remembers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work with a handoff file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Both write to disk, not to a session</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RUN THESE IN YOUR DASHBOARD</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in this project we use double quotes and 2-space indents. Save that so you never suggest otherwise.</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built today, what works, what is unfinished, and what the next session should do first.</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YOUR TURN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turn: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Three habits that make a prompt sharp</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with @ - no hunting</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Fence the scope - 'only that route'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Demand evidence - run it, show the diff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RUN ONE OF THESE</a:t>
            </a:r>
          </a:p>
        </p:txBody>
      </p:sp>
      <p:sp>
        <p:nvSpPr>
          <p:cNvPr id="13" name="Rounded Rectangle 12"/>
          <p:cNvSpPr/>
          <p:nvPr/>
        </p:nvSpPr>
        <p:spPr>
          <a:xfrm>
            <a:off x="7040880" y="2286000"/>
            <a:ext cx="4507992" cy="1793748"/>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354836"/>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@server.js, add input validation to the POST /api/metrics route, following the validation already on POST /api/tasks. Then run the server and prove it rejects a bad request.</a:t>
            </a:r>
          </a:p>
        </p:txBody>
      </p:sp>
      <p:sp>
        <p:nvSpPr>
          <p:cNvPr id="17" name="Rounded Rectangle 16"/>
          <p:cNvSpPr/>
          <p:nvPr/>
        </p:nvSpPr>
        <p:spPr>
          <a:xfrm>
            <a:off x="7040880" y="4226051"/>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390643"/>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37235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610099"/>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@server.js, make GET /api/tasks return newest first. Change only that one query,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CONFIGURATION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settings.json: where config lives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by your admins. Locked - you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your defaults, in every project.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committed to the repo, shared by the team.</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.claude/settings.local.json - this repo only, gitignored.</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precedence as the memory hierarchy: more specific wins - except enterprise, which locks.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