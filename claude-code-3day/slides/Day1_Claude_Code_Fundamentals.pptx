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(9:40, 5 min) FOLLOW ALONG - first contact</a:t>
            </a:r>
          </a:p>
          <a:p/>
          <a:p>
            <a:r>
              <a:t>WHAT THIS IS FOR</a:t>
            </a:r>
          </a:p>
          <a:p>
            <a:r>
              <a:t>This is the gate. Everybody runs these three lines before we go any further, because nobody should reach Lab 1A broken. It also gets them their first real interaction, which matters more than it sounds.</a:t>
            </a:r>
          </a:p>
          <a:p/>
          <a:p>
            <a:r>
              <a:t>CONTEXT - where they are right now</a:t>
            </a:r>
          </a:p>
          <a:p>
            <a:r>
              <a:t>They just finished Lab 0 with you, so they have an empty course workspace open in VS Code and the Claude Code panel visible. Empty is fine. Line three is written for an empty folder on purpose.</a:t>
            </a:r>
          </a:p>
          <a:p/>
          <a:p>
            <a:r>
              <a:t>LINE 1 - claude auth login</a:t>
            </a:r>
          </a:p>
          <a:p>
            <a:r>
              <a:t>Browser opens, they sign in with the organization identity, the seat binds to the machine. If they already signed in during Lab 0, this just confirms it.</a:t>
            </a:r>
          </a:p>
          <a:p/>
          <a:p>
            <a:r>
              <a:t>LINE 2 - /model</a:t>
            </a:r>
          </a:p>
          <a:p>
            <a:r>
              <a:t>Confirm they are on Sonnet 5, same as you. Say why it matters: if their model differs from mine, their output differs from mine all day and we waste time chasing a difference that is not real.</a:t>
            </a:r>
          </a:p>
          <a:p/>
          <a:p>
            <a:r>
              <a:t>LINE 3 - the actual test, and this is the one to talk about</a:t>
            </a:r>
          </a:p>
          <a:p>
            <a:r>
              <a:t>"Create hello.md with one line explaining what Claude Code is, then tell me what you did."</a:t>
            </a:r>
          </a:p>
          <a:p>
            <a:r>
              <a:t>Notice what this is NOT. It is not "answer a question." I deliberately asked it to DO something - write a file - and then report back. That is the whole distinction we opened the day with: a chatbot answers, an agent acts. Their very first interaction should be an action, not a conversation.</a:t>
            </a:r>
          </a:p>
          <a:p/>
          <a:p>
            <a:r>
              <a:t>WHAT THEY WILL SEE - warn them BEFORE they paste</a:t>
            </a:r>
          </a:p>
          <a:p>
            <a:r>
              <a:t>It will ask permission before writing the file. Say this in advance so nobody panics: "You are about to get an approval prompt. Click accept. You will get a lot of these today - that is deliberate, and this afternoon you will learn how to stop answering the same one fifty times." That single sentence pre-frames the whole Block 4 payoff.</a:t>
            </a:r>
          </a:p>
          <a:p/>
          <a:p>
            <a:r>
              <a:t>Then: hello.md appears in their file tree, and Claude tells them what it did.</a:t>
            </a:r>
          </a:p>
          <a:p/>
          <a:p>
            <a:r>
              <a:t>WHY THIS IS THE GATE</a:t>
            </a:r>
          </a:p>
          <a:p>
            <a:r>
              <a:t>That one exchange proves four things at once - the install works, they are authenticated, a model is responding, and it has write access to their workspace. Nothing else needs checking. If it fails, it fails here, at 9:40, with 20 minutes of slack - not at 11:00 in the middle of a lab.</a:t>
            </a:r>
          </a:p>
          <a:p/>
          <a:p>
            <a:r>
              <a:t>IF SOMEONE'S FAILS</a:t>
            </a:r>
          </a:p>
          <a:p>
            <a:r>
              <a:t>Do not debug it in front of the room. Get them a neighbor to pair with, note the error, and come back to it at the break. One broken laptop must not cost you twenty people's attention.</a:t>
            </a:r>
          </a:p>
          <a:p/>
          <a:p>
            <a:r>
              <a:t>ASK: [CRESCENDO L1] Thumbs up in chat when hello.md shows up in your file tree. expect: a wave of thumbs - that is your green light to move on. IF NOBODY ANSWERS: count to five, then just look at the room and ask "anyone NOT see the file?" - the negative question gets an answer when the positive one does not.</a:t>
            </a:r>
          </a:p>
          <a:p/>
          <a:p>
            <a:r>
              <a:t>SAY-NEXT: Everyone has a file they did not write. That is the whole idea - so let's look at what actually happened when you pressed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EFFORT - the most misunderstood control in the product</a:t>
            </a:r>
          </a:p>
          <a:p/>
          <a:p>
            <a:r>
              <a:t>WHAT TO SAY</a:t>
            </a:r>
          </a:p>
          <a:p>
            <a:r>
              <a:t>Effort is not "how long it thinks." That is the common misreading and Anthropic corrected it directly in July. Effort controls how much WORK Claude does on your request overall: how many files it reads, how much it verifies, and how far it pushes through a multi-step task before it stops and checks in with you.</a:t>
            </a:r>
          </a:p>
          <a:p/>
          <a:p>
            <a:r>
              <a:t>At high effort it will read more, run the tests, and double-check before coming back. At low effort it would rather stop and ask you for context than spend tokens working it out alone. That is the practical difference you will feel.</a:t>
            </a:r>
          </a:p>
          <a:p/>
          <a:p>
            <a:r>
              <a:t>The levels run low, medium, high, and max, with an extra step between high and max on some builds. Point at your own slider while you say it.</a:t>
            </a:r>
          </a:p>
          <a:p/>
          <a:p>
            <a:r>
              <a:t>THE GUIDANCE THAT MATTERS</a:t>
            </a:r>
          </a:p>
          <a:p>
            <a:r>
              <a:t>Anthropic's own advice is: use the model's default effort for most tasks. The default is tuned to what most people would want to spend. Treat effort as a standing preference for the kind of work you do - not a decision you make task by task. Say that plainly, because half the room will otherwise fiddle with it all day.</a:t>
            </a:r>
          </a:p>
          <a:p/>
          <a:p>
            <a:r>
              <a:t>THE DIAGNOSTIC - this is the keeper</a:t>
            </a:r>
          </a:p>
          <a:p>
            <a:r>
              <a:t>When Claude gets something wrong, ask one question: did it not TRY hard enough, or did it not KNOW enough?</a:t>
            </a:r>
          </a:p>
          <a:p>
            <a:r>
              <a:t>- Skipped a file, never ran the tests, bailed on a refactor halfway -&gt; it did not try. Raise EFFORT.</a:t>
            </a:r>
          </a:p>
          <a:p>
            <a:r>
              <a:t>- Had all the context, clearly worked at it, and was still confidently wrong -&gt; it did not know. Move to a BIGGER MODEL.</a:t>
            </a:r>
          </a:p>
          <a:p>
            <a:r>
              <a:t>And before either: check whether your prompt was vague or your CLAUDE.md was thin. Most "raise the effort" instincts are really a context problem.</a:t>
            </a:r>
          </a:p>
          <a:p/>
          <a:p>
            <a:r>
              <a:t>THE ANALOGY WORTH STEALING</a:t>
            </a:r>
          </a:p>
          <a:p>
            <a:r>
              <a:t>Opus at low effort is five minutes with an expert - real pattern recognition, but a quick read of your code. Sonnet at high effort is a strong generalist with the whole afternoon - reads everything, runs things, checks its work, and ends up genuinely understanding YOUR code. Neither is universally better. Model is roughly how capable; effort is roughly how thorough.</a:t>
            </a:r>
          </a:p>
          <a:p/>
          <a:p>
            <a:r>
              <a:t>ONE CAVEAT</a:t>
            </a:r>
          </a:p>
          <a:p>
            <a:r>
              <a:t>Effort shapes how many tokens get spent but does not cap them. There is no budget slider here. If you need a hard limit that is max-tokens on the API side, which is Day 3 territory.</a:t>
            </a:r>
          </a:p>
          <a:p/>
          <a:p>
            <a:r>
              <a:t>ASK: [CRESCENDO L2] Chat check - what does your Effort slider say right now? expect: a spread, which makes the point that defaults vary by model and build.</a:t>
            </a:r>
          </a:p>
          <a:p/>
          <a:p>
            <a:r>
              <a:t>SAY-NEXT: Effort is how thorough it is. The next question is which brain is doing the work.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 THE QUESTION SOMEONE WILL ASK - can I add to this list? Yes, and the answer is worth previewing because it is where this gets powerful for a company like yours. The built-in set is fixed - Anthropic ships those and you cannot edit them. But you extend the list by connecting MCP servers: your ticketing system, your database, your internal APIs. Once a server is connected, its tools sit in the same list Claude picks from, and it uses them the same way it uses Read or Bash. That is Day Three, and it is the day this stops being a coding tool and starts being connected to your actual systems. If they push for a Microsoft comparison, this is the connector story with a vendor-neutral protocol instead of a proprietary one - same idea, different plumbing. You can also go the other way and RESTRICT the list: skills can declare which tools they are allowed to use, and on Day Three you will give a subagent a deliberately narrow toolset so it physically cannot do things outside its job. Adding tools is the exciting half; taking them away is the half that makes it safe to run unattended.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a:t>
            </a:r>
          </a:p>
          <a:p/>
          <a:p>
            <a:r>
              <a:t>WHAT THIS DEMO SHOWS</a:t>
            </a:r>
          </a:p>
          <a:p>
            <a:r>
              <a:t>Everything from the last hour, running for real. You give it one instruction and the room watches Claude read the codebase, plan, edit files, run the tests, and fix what fails - the five loop stages, in order, without being told. The hidden payoff comes at the end: it also obeys a rule from CLAUDE.md that nobody put in the prompt. That is your bridge to tomorrow.</a:t>
            </a:r>
          </a:p>
          <a:p/>
          <a:p>
            <a:r>
              <a:t>BEFORE CLASS</a:t>
            </a:r>
          </a:p>
          <a:p>
            <a:r>
              <a:t>- Copy Demo/status-service to a local folder, e.g. C:\aia-demo\status-service</a:t>
            </a:r>
          </a:p>
          <a:p>
            <a:r>
              <a:t>- cd there and run: npm test  -&gt;  expect "pass 3". No npm install needed, it has no dependencies.</a:t>
            </a:r>
          </a:p>
          <a:p>
            <a:r>
              <a:t>- Open THAT folder in VS Code (code . from your configured terminal), trust it when prompted, Claude panel visible</a:t>
            </a:r>
          </a:p>
          <a:p>
            <a:r>
              <a:t>- Put the prompt below on your clipboard</a:t>
            </a:r>
          </a:p>
          <a:p/>
          <a:p>
            <a:r>
              <a:t>STEP 1 - SAY THE DISCLOSURE (30 sec)</a:t>
            </a:r>
          </a:p>
          <a:p>
            <a:r>
              <a:t>"Before I run anything: I use Claude Code hard for my own business, and my normal setup has a dozen plugins, custom hooks, and its own memory system. I switched all of it off for this class - clean profile, same as yours. So everything you see on my screen should be reproducible on yours. And by the end of tomorrow, you will have built the pieces I just turned off."</a:t>
            </a:r>
          </a:p>
          <a:p/>
          <a:p>
            <a:r>
              <a:t>STEP 2 - SAY THE RULE (15 sec)</a:t>
            </a:r>
          </a:p>
          <a:p>
            <a:r>
              <a:t>"Open the repo first, always. If you start Claude with no folder open, it has no project context and it writes files wherever it happens to be pointed - usually your home directory. I found my own config that way once."</a:t>
            </a:r>
          </a:p>
          <a:p>
            <a:r>
              <a:t>Then point at the file tree and note there is a CLAUDE.md in this repo that Claude reads before it does anything.</a:t>
            </a:r>
          </a:p>
          <a:p/>
          <a:p>
            <a:r>
              <a:t>STEP 3 - PASTE THE PROMPT, THEN STOP TOUCHING THE KEYBOARD</a:t>
            </a:r>
          </a:p>
          <a:p>
            <a:r>
              <a:t>"Add a /health endpoint that returns the service version from package.json, and run the tests."</a:t>
            </a:r>
          </a:p>
          <a:p>
            <a:r>
              <a:t>Take your hands off the keyboard visibly. That image sells the idea better than anything you say.</a:t>
            </a:r>
          </a:p>
          <a:p/>
          <a:p>
            <a:r>
              <a:t>STEP 4 - NARRATE THE STAGES AS THEY SCROLL</a:t>
            </a:r>
          </a:p>
          <a:p>
            <a:r>
              <a:t>Point at each one: reading files, stating a plan, editing server.js, running npm test. Say the stage names out loud so they map onto the pipeline slide they just saw.</a:t>
            </a:r>
          </a:p>
          <a:p/>
          <a:p>
            <a:r>
              <a:t>STEP 5 - CALL OUT THE PAYOFF</a:t>
            </a:r>
          </a:p>
          <a:p>
            <a:r>
              <a:t>It also wrote a test. Nobody asked for a test. Say: "Look - it added a test I never mentioned. That is because this repo's CLAUDE.md says every new route gets a test. It read the house rules and followed them. Tomorrow you write those rules for your own repos."</a:t>
            </a:r>
          </a:p>
          <a:p/>
          <a:p>
            <a:r>
              <a:t>EXPECTED</a:t>
            </a:r>
          </a:p>
          <a:p>
            <a:r>
              <a:t>4 passing tests instead of 3, and /health returning version 1.4.2 pulled from package.json.</a:t>
            </a:r>
          </a:p>
          <a:p/>
          <a:p>
            <a:r>
              <a:t>IF IT BREAKS</a:t>
            </a:r>
          </a:p>
          <a:p>
            <a:r>
              <a:t>Say: "this is exactly why we have a recovery path." Then Esc, and either rewind or restate the prompt more tightly. Never debug live past sixty seconds - if the repo itself is wrong, switch to your backup copy and keep going.</a:t>
            </a:r>
          </a:p>
          <a:p/>
          <a:p>
            <a:r>
              <a:t>DEBRIEF</a:t>
            </a:r>
          </a:p>
          <a:p>
            <a:r>
              <a:t>ASK: Which loop stage surprised you? expect: verify - most people expect it to stop after writing code.</a:t>
            </a:r>
          </a:p>
          <a:p/>
          <a:p>
            <a:r>
              <a:t>SAY-NEXT</a:t>
            </a:r>
          </a:p>
          <a:p>
            <a:r>
              <a:t>Now you do exactly this yourselves, on a bigger build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1A - The Agentic Build Loop</a:t>
            </a:r>
          </a:p>
          <a:p/>
          <a:p>
            <a:r>
              <a:t>WHAT THEY BUILD</a:t>
            </a:r>
          </a:p>
          <a:p>
            <a:r>
              <a:t>A running business-dashboard scaffold, built from one well-formed prompt. This is not a throwaway exercise - it is toolkit chain 1 of 12. This repo is the artifact the other three labs today build on, and it carries into Day 2 (skills, hooks, a plugin) and Day 3 (MCP, subagents, CI). Say that out loud before they start; people work harder on something they will still own in two weeks.</a:t>
            </a:r>
          </a:p>
          <a:p/>
          <a:p>
            <a:r>
              <a:t>BEFORE YOU RELEASE THEM</a:t>
            </a:r>
          </a:p>
          <a:p>
            <a:r>
              <a:t>- Say the deliverable in one line: "a running business-dashboard scaffold built from one well-formed prompt."</a:t>
            </a:r>
          </a:p>
          <a:p>
            <a:r>
              <a:t>- Point them at the lab guide - Day1_Lab_A_The_Agentic_Build_Loop.pdf in the Labs folder of the student pack. Open it now. The starting prompt is written for them; their job is to watch what the agent does with it, not to invent a prompt.</a:t>
            </a:r>
          </a:p>
          <a:p>
            <a:r>
              <a:t>- Confirm the surface: VS Code with the Claude Code panel, opened on the project folder. Repo first, then Claude - always.</a:t>
            </a:r>
          </a:p>
          <a:p>
            <a:r>
              <a:t>- Confirm model is Sonnet 5 and Lab 0 is complete.</a:t>
            </a:r>
          </a:p>
          <a:p>
            <a:r>
              <a:t>- The timebox: the slide says thirty minutes; today's clock gives us until the 10:30 break. Say: "treat 10:30 as the hard stop."</a:t>
            </a:r>
          </a:p>
          <a:p>
            <a:r>
              <a:t>- Read the three success items off the slide: the app runs; they observed all five loop stages and can name them; they noted one checkpoint moment - a point they would want to rewind to - because this afternoon's recovery lab uses that muscle.</a:t>
            </a:r>
          </a:p>
          <a:p/>
          <a:p>
            <a:r>
              <a:t>WHILE THEY WORK</a:t>
            </a:r>
          </a:p>
          <a:p>
            <a:r>
              <a:t>Circulate; do not sit down. The three places people get stuck:</a:t>
            </a:r>
          </a:p>
          <a:p>
            <a:r>
              <a:t>1. The first prompt is too vague and the loop wanders. This is the most common sticking point every cycle. One-line fix: sharpen the goal, do not argue with it - restate the outcome in one sentence with a verifiable end state.</a:t>
            </a:r>
          </a:p>
          <a:p>
            <a:r>
              <a:t>2. Claude was started with no folder open, so files land outside the project. One-line fix: close the session, open the project folder in VS Code, start Claude again.</a:t>
            </a:r>
          </a:p>
          <a:p>
            <a:r>
              <a:t>3. Node is missing or too old. One-line fix: node -v must be 18+; that is required for this lab's project only, not for Claude Code itself.</a:t>
            </a:r>
          </a:p>
          <a:p/>
          <a:p>
            <a:r>
              <a:t>IF THE ROOM IS BEHIND</a:t>
            </a:r>
          </a:p>
          <a:p>
            <a:r>
              <a:t>The minimum viable finish line is a passing first build - the app runs. The rest of the checklist can be finished at home. Do not let anyone chase a perfect scaffold past 10:30.</a:t>
            </a:r>
          </a:p>
          <a:p/>
          <a:p>
            <a:r>
              <a:t>DEBRIEF</a:t>
            </a:r>
          </a:p>
          <a:p>
            <a:r>
              <a:t>ASK: Share one loop failure you watched Claude self-correct. expect: a failing test fixed without help, a missing dependency installed autonomously.</a:t>
            </a:r>
          </a:p>
          <a:p>
            <a:r>
              <a:t>Then the transfer probe - ASK: What would change in a different scenario - a compiled language with a five-minute build? expect: fewer, bigger loop iterations - verification gets expensive, so you batch more per cycle.</a:t>
            </a:r>
          </a:p>
          <a:p/>
          <a:p>
            <a:r>
              <a:t>SAY-NEXT</a:t>
            </a:r>
          </a:p>
          <a:p>
            <a:r>
              <a:t>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4 min) HOW CLAUDE REMEMBERS - and the misconception to kill early</a:t>
            </a:r>
          </a:p>
          <a:p/>
          <a:p>
            <a:r>
              <a:t>THE ONE RULE, say it first and say it plainly</a:t>
            </a:r>
          </a:p>
          <a:p>
            <a:r>
              <a:t>If something is not in the context window right now, Claude cannot know it or reason about it. There is no hidden memory the model is drawing on. That single sentence prevents about half the confusion people carry into week two.</a:t>
            </a:r>
          </a:p>
          <a:p/>
          <a:p>
            <a:r>
              <a:t>THE THREE THINGS - and only one of them is memory</a:t>
            </a:r>
          </a:p>
          <a:p>
            <a:r>
              <a:t>Working memory is the context window: your conversation, the files it read, the tool output it saw. It is finite, it is a budget, and Block Three is entirely about managing it. This is the only thing Claude can actually see.</a:t>
            </a:r>
          </a:p>
          <a:p/>
          <a:p>
            <a:r>
              <a:t>Session storage is NOT the model remembering. It is Claude Code - the application on your machine - keeping a record of your session on disk, under your .claude folder. That is what makes continue and resume work. Here is the important part: when you resume, the application replays that record back INTO the context window. It becomes working memory again. Nothing was ever being remembered on the model's side.</a:t>
            </a:r>
          </a:p>
          <a:p/>
          <a:p>
            <a:r>
              <a:t>Persistent instructions are CLAUDE.md: a file on disk that gets read at the start of every session and placed into context. Again - a file being loaded, not a memory being recalled.</a:t>
            </a:r>
          </a:p>
          <a:p/>
          <a:p>
            <a:r>
              <a:t>WHY THIS FRAMING BEATS THE HUMAN ANALOGY</a:t>
            </a:r>
          </a:p>
          <a:p>
            <a:r>
              <a:t>People say Claude has short-term memory. It does not. What they are describing is your local session history, which is a filing cabinet, not a mind. Compaction is the same story: when a long session is summarized, that summary is written into context - so it is working memory too, not some separate deeper layer. Everything is either in the window, or it is a file waiting to be loaded into the window.</a:t>
            </a:r>
          </a:p>
          <a:p/>
          <a:p>
            <a:r>
              <a:t>If someone asks whether Claude remembers them between sessions, the honest answer is no - the client re-feeds it what it needs, every single time.</a:t>
            </a:r>
          </a:p>
          <a:p/>
          <a:p>
            <a:r>
              <a:t>SO WHAT DO THEY DO WITH THAT</a:t>
            </a:r>
          </a:p>
          <a:p>
            <a:r>
              <a:t>The whole block in one sentence: promote anything worth keeping out of the things that evaporate and into a file that reloads. Sessions end. Context compacts. Files persist.</a:t>
            </a:r>
          </a:p>
          <a:p/>
          <a:p>
            <a:r>
              <a:t>ASK: Where does your team's tribal knowledge live right now? expect: someone's head, a Slack thread, a stale wiki - all three are the wrong answer and they know it.</a:t>
            </a:r>
          </a:p>
          <a:p/>
          <a:p>
            <a:r>
              <a:t>SAY-NEXT: So let's look at the file that does the persisting.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it per project in a config file we get to in Block Four -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a:t>
            </a:r>
          </a:p>
          <a:p/>
          <a:p>
            <a:r>
              <a:t>WHAT THIS DEMO SHOWS</a:t>
            </a:r>
          </a:p>
          <a:p>
            <a:r>
              <a:t>Claude writing its own onboarding document for a repo, and then a rule you teach it surviving a complete restart. Three beats: bootstrap, trim, teach. The room needs to leave with two facts - /init gives you a draft, not a finished file, and memory is a file on disk, not magic. This is the setup for every CLAUDE.md they will ever write.</a:t>
            </a:r>
          </a:p>
          <a:p/>
          <a:p>
            <a:r>
              <a:t>BEFORE CLASS</a:t>
            </a:r>
          </a:p>
          <a:p>
            <a:r>
              <a:t>- WORKSPACE CHECK: repo already open and trusted before you start.</a:t>
            </a:r>
          </a:p>
          <a:p>
            <a:r>
              <a:t>- The Lab 1A dashboard repo open in a fresh Claude Code session in the VS Code Claude Code panel</a:t>
            </a:r>
          </a:p>
          <a:p>
            <a:r>
              <a:t>- No existing CLAUDE.md in that repo - delete it if an earlier run left one behind</a:t>
            </a:r>
          </a:p>
          <a:p>
            <a:r>
              <a:t>- This run card on the second screen</a:t>
            </a:r>
          </a:p>
          <a:p>
            <a:r>
              <a:t>- On your clipboard: Remember: all API handlers must validate input with zod.</a:t>
            </a:r>
          </a:p>
          <a:p/>
          <a:p>
            <a:r>
              <a:t>STEP 1 - BEAT ONE, BOOTSTRAP</a:t>
            </a:r>
          </a:p>
          <a:p>
            <a:r>
              <a:t>Say: "Three beats - bootstrap, trim, teach." Run /init. Watch it read the repo and generate the file. When it lands, scroll it together and judge it out loud - name which lines carry weight and which are filler.</a:t>
            </a:r>
          </a:p>
          <a:p/>
          <a:p>
            <a:r>
              <a:t>STEP 2 - BEAT TWO, TRIM IT LIVE</a:t>
            </a:r>
          </a:p>
          <a:p>
            <a:r>
              <a:t>Delete two generic lines that add nothing. Then rewrite one vague convention into a behavioral rule you could test compliance with. Say: "lean beats complete - every line in this file gets spent on every single prompt."</a:t>
            </a:r>
          </a:p>
          <a:p/>
          <a:p>
            <a:r>
              <a:t>STEP 3 - BEAT THREE, TEACH ONE RULE</a:t>
            </a:r>
          </a:p>
          <a:p>
            <a:r>
              <a:t>Paste this, verbatim: "Remember: all API handlers must validate input with zod."</a:t>
            </a:r>
          </a:p>
          <a:p/>
          <a:p>
            <a:r>
              <a:t>STEP 4 - RESTART, THEN PROVE IT STUCK</a:t>
            </a:r>
          </a:p>
          <a:p>
            <a:r>
              <a:t>Restart the session completely - new session, blank short-term memory. Say that out loud so nobody thinks it is still sitting in the chat history. Then ask: "add a /metrics endpoint." Watch the zod validation appear, unprompted. Then run /memory and show them where the note actually lives.</a:t>
            </a:r>
          </a:p>
          <a:p/>
          <a:p>
            <a:r>
              <a:t>EXPECTED</a:t>
            </a:r>
          </a:p>
          <a:p>
            <a:r>
              <a:t>A lean CLAUDE.md under one screenful, and the taught rule surviving a restart - zod validation showing up in a route where nobody asked for validation.</a:t>
            </a:r>
          </a:p>
          <a:p/>
          <a:p>
            <a:r>
              <a:t>IF IT BREAKS</a:t>
            </a:r>
          </a:p>
          <a:p>
            <a:r>
              <a:t>If /init's output is bloated, say: "this is exactly why we have a recovery path - the bloat IS the lesson" - then trim harder, live. If the rule does not stick after the restart, open /memory, show where it should have landed, add it by hand, and continue. Never debug live past sixty seconds.</a:t>
            </a:r>
          </a:p>
          <a:p/>
          <a:p>
            <a:r>
              <a:t>DEBRIEF</a:t>
            </a:r>
          </a:p>
          <a:p>
            <a:r>
              <a:t>ASK: What would change in a different scenario - a ten-year legacy monolith? expect: /init output needs much heavier curation and routing into rules files - generated files start generic, and big repos make them worse.</a:t>
            </a:r>
          </a:p>
          <a:p/>
          <a:p>
            <a:r>
              <a:t>SAY-NEXT</a:t>
            </a:r>
          </a:p>
          <a:p>
            <a:r>
              <a:t>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1B - Teach Claude your repo</a:t>
            </a:r>
          </a:p>
          <a:p/>
          <a:p>
            <a:r>
              <a:t>WHAT THEY BUILD</a:t>
            </a:r>
          </a:p>
          <a:p>
            <a:r>
              <a:t>A committed CLAUDE.md good enough that a brand-new teammate could onboard from it. That is the bar - not "a file exists." They are working on the dashboard from Lab 1A, so everything they learned about that repo this morning is raw material, and the file they write now is what makes every later lab in the toolkit chain behave. Tomorrow's skills and hooks sit on top of this file.</a:t>
            </a:r>
          </a:p>
          <a:p/>
          <a:p>
            <a:r>
              <a:t>BEFORE YOU RELEASE THEM</a:t>
            </a:r>
          </a:p>
          <a:p>
            <a:r>
              <a:t>- State the bar in their words: a new teammate could onboard from this file. Say it twice; it is the whole lab.</a:t>
            </a:r>
          </a:p>
          <a:p>
            <a:r>
              <a:t>- Point them at the lab guide - Day1_Lab_B_Teaching_Claude_Your_Codebase.pdf in the Labs folder of the student pack.</a:t>
            </a:r>
          </a:p>
          <a:p>
            <a:r>
              <a:t>- Surface: VS Code Claude Code panel, on the Lab 1A dashboard repo, model Sonnet 5.</a:t>
            </a:r>
          </a:p>
          <a:p>
            <a:r>
              <a:t>- Timebox: thirty minutes, and we hold a few minutes of buffer before the recap.</a:t>
            </a:r>
          </a:p>
          <a:p>
            <a:r>
              <a:t>- Read the two success items: the file is under two hundred lines - lean beats complete; and one taught rule proven to stick, meaning they teach it with a Remember prompt, restart the session, and watch it apply unprompted, exactly like the demo they just saw.</a:t>
            </a:r>
          </a:p>
          <a:p/>
          <a:p>
            <a:r>
              <a:t>WHILE THEY WORK</a:t>
            </a:r>
          </a:p>
          <a:p>
            <a:r>
              <a:t>Circulate and challenge vague rules out loud. The three places people get stuck:</a:t>
            </a:r>
          </a:p>
          <a:p>
            <a:r>
              <a:t>1. Rules that are adjectives, not behaviors. If you see "write clean code" in a file, rewrite it together on the spot into something Claude can actually execute - "every new route gets a test," "handlers validate input with zod."</a:t>
            </a:r>
          </a:p>
          <a:p>
            <a:r>
              <a:t>2. The file balloons past two hundred lines because they pasted the whole /init output. One-line fix: delete anything Claude could work out by reading the repo; keep only what it would get wrong.</a:t>
            </a:r>
          </a:p>
          <a:p>
            <a:r>
              <a:t>3. The taught rule appears to fail. One-line fix: they did not actually restart - a new tab is not a new session; close it, reopen, then retest.</a:t>
            </a:r>
          </a:p>
          <a:p/>
          <a:p>
            <a:r>
              <a:t>IF THE ROOM IS BEHIND</a:t>
            </a:r>
          </a:p>
          <a:p>
            <a:r>
              <a:t>The minimum bar is /init plus three trimmed behavioral rules, committed. The restart proof can be done over lunch.</a:t>
            </a:r>
          </a:p>
          <a:p/>
          <a:p>
            <a:r>
              <a:t>DEBRIEF</a:t>
            </a:r>
          </a:p>
          <a:p>
            <a:r>
              <a:t>ASK: Which rule surprised you by actually changing Claude's behavior? expect: testing and validation rules usually win - they alter what the agent does on every single task.</a:t>
            </a:r>
          </a:p>
          <a:p/>
          <a:p>
            <a:r>
              <a:t>SAY-NEXT</a:t>
            </a:r>
          </a:p>
          <a:p>
            <a:r>
              <a:t>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a:t>
            </a:r>
          </a:p>
          <a:p/>
          <a:p>
            <a:r>
              <a:t>WHAT THIS DEMO SHOWS</a:t>
            </a:r>
          </a:p>
          <a:p>
            <a:r>
              <a:t>You are going to commit every sin from this block on purpose, watch the output quality visibly fall apart, and then recover in thirty seconds. The room has just been told that context is a budget and that checkpoints exist; this is the proof of both in one run. The payoff is the rewind menu - the code reverts and the conversation survives, and choosing that scope is the actual skill.</a:t>
            </a:r>
          </a:p>
          <a:p/>
          <a:p>
            <a:r>
              <a:t>BEFORE CLASS</a:t>
            </a:r>
          </a:p>
          <a:p>
            <a:r>
              <a:t>- WORKSPACE CHECK: repo already open and trusted before you start.</a:t>
            </a:r>
          </a:p>
          <a:p>
            <a:r>
              <a:t>- The dashboard repo open in a fresh session in the VS Code Claude Code panel</a:t>
            </a:r>
          </a:p>
          <a:p>
            <a:r>
              <a:t>- /context ready to run before and after - you will show the number twice</a:t>
            </a:r>
          </a:p>
          <a:p>
            <a:r>
              <a:t>- This run card visible on the second screen</a:t>
            </a:r>
          </a:p>
          <a:p>
            <a:r>
              <a:t>- Have the two-task prompt ready to type: restyle the header AND rework the data layer</a:t>
            </a:r>
          </a:p>
          <a:p/>
          <a:p>
            <a:r>
              <a:t>STEP 1 - THE OVERLOAD (say it out loud first)</a:t>
            </a:r>
          </a:p>
          <a:p>
            <a:r>
              <a:t>Say: "I'm going to commit every sin from this block, on purpose, and then recover in thirty seconds." @-mention the entire src folder - there goes the budget - and then give it two unrelated tasks in one prompt: "restyle the header AND rework the data layer." Both sins at once.</a:t>
            </a:r>
          </a:p>
          <a:p/>
          <a:p>
            <a:r>
              <a:t>STEP 2 - THE EVIDENCE</a:t>
            </a:r>
          </a:p>
          <a:p>
            <a:r>
              <a:t>Run /context and show the spend. As output arrives, watch it with them - entangled changes, degraded quality. Narrate what is going wrong while it happens rather than after; the live commentary is what makes it land.</a:t>
            </a:r>
          </a:p>
          <a:p/>
          <a:p>
            <a:r>
              <a:t>STEP 3 - THE RECOVERY</a:t>
            </a:r>
          </a:p>
          <a:p>
            <a:r>
              <a:t>Double-tap Escape. Choose restore code only. Show that the diff is gone. Then re-run the header task alone: clean, sharp, fast. Point out that the conversation history is still there.</a:t>
            </a:r>
          </a:p>
          <a:p/>
          <a:p>
            <a:r>
              <a:t>EXPECTED</a:t>
            </a:r>
          </a:p>
          <a:p>
            <a:r>
              <a:t>Visible degradation under bloat, then a thirty-second recovery with the conversation history intact, and a clean second run on the single task.</a:t>
            </a:r>
          </a:p>
          <a:p/>
          <a:p>
            <a:r>
              <a:t>IF IT BREAKS</a:t>
            </a:r>
          </a:p>
          <a:p>
            <a:r>
              <a:t>If the rewind menu misbehaves, say: "this is exactly why we have a recovery path - the ladder has a git rung under it" - then run git checkout . plus /clear and continue. If the degradation is not visually obvious, narrate the /context numbers instead - the spend tells the story on its own. Never debug live past sixty seconds.</a:t>
            </a:r>
          </a:p>
          <a:p/>
          <a:p>
            <a:r>
              <a:t>DEBRIEF</a:t>
            </a:r>
          </a:p>
          <a:p>
            <a:r>
              <a:t>ASK: What would change in a different scenario - the conversation was poisoned but the code was good? expect: restore conversation only - scope choice is the skill.</a:t>
            </a:r>
          </a:p>
          <a:p/>
          <a:p>
            <a:r>
              <a:t>SAY-NEXT</a:t>
            </a:r>
          </a:p>
          <a:p>
            <a:r>
              <a:t>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1C - Precision Recovery</a:t>
            </a:r>
          </a:p>
          <a:p/>
          <a:p>
            <a:r>
              <a:t>WHAT THEY BUILD</a:t>
            </a:r>
          </a:p>
          <a:p>
            <a:r>
              <a:t>A dashboard feature shipped after a deliberate bad detour - proof they can recover, not just avoid. The lab guide has them inject a deliberately bad instruction, watch the damage land, rewind with double-Esc, and then ship the feature cleanly. It runs on the same business-dashboard repo from Labs 1A and 1B, so the damage and the recovery both happen on code they wrote this morning. This lab was rebuilt this cycle around checkpoints.</a:t>
            </a:r>
          </a:p>
          <a:p/>
          <a:p>
            <a:r>
              <a:t>BEFORE YOU RELEASE THEM</a:t>
            </a:r>
          </a:p>
          <a:p>
            <a:r>
              <a:t>- Say the deliverable in one line: a dashboard feature shipped after a deliberate bad detour.</a:t>
            </a:r>
          </a:p>
          <a:p>
            <a:r>
              <a:t>- Point them at the lab guide - Day1_Lab_C_Precision_Recovery.pdf in the Labs folder of the student pack.</a:t>
            </a:r>
          </a:p>
          <a:p>
            <a:r>
              <a:t>- Surface: VS Code Claude Code panel on the dashboard repo, model Sonnet 5.</a:t>
            </a:r>
          </a:p>
          <a:p>
            <a:r>
              <a:t>- Timebox: thirty minutes.</a:t>
            </a:r>
          </a:p>
          <a:p>
            <a:r>
              <a:t>- Read the three success items: one bad change fully rewound; the rewind-versus-revert call made - a short written decision on when rewind applies versus git revert, because articulating the boundary is how it sticks; and /context checked twice - once fresh, once loaded, so they see their own budget move.</a:t>
            </a:r>
          </a:p>
          <a:p>
            <a:r>
              <a:t>- Pre-load the aha: the code reverts but the conversation survives. That scope choice is the skill this lab exists to build.</a:t>
            </a:r>
          </a:p>
          <a:p/>
          <a:p>
            <a:r>
              <a:t>WHILE THEY WORK</a:t>
            </a:r>
          </a:p>
          <a:p>
            <a:r>
              <a:t>Circulate. The three places people get stuck:</a:t>
            </a:r>
          </a:p>
          <a:p>
            <a:r>
              <a:t>1. The two-failed-corrections spiral - they keep arguing with the agent instead of rewinding. That is not a failure, that IS the curriculum. One-line fix: "rewind, don't argue."</a:t>
            </a:r>
          </a:p>
          <a:p>
            <a:r>
              <a:t>2. They restore both scopes by reflex and lose useful conversation. One-line fix: read the menu before choosing; ask them out loud which one they actually needed.</a:t>
            </a:r>
          </a:p>
          <a:p>
            <a:r>
              <a:t>3. Nothing visibly breaks because the bad instruction was too polite. One-line fix: make it worse - the lab needs real damage to recover from.</a:t>
            </a:r>
          </a:p>
          <a:p/>
          <a:p>
            <a:r>
              <a:t>IF THE ROOM IS BEHIND</a:t>
            </a:r>
          </a:p>
          <a:p>
            <a:r>
              <a:t>The minimum is one complete rewind cycle - break it, rewind it, confirm the code is back. The written rewind-versus-revert decision can be finished at the break.</a:t>
            </a:r>
          </a:p>
          <a:p/>
          <a:p>
            <a:r>
              <a:t>DEBRIEF</a:t>
            </a:r>
          </a:p>
          <a:p>
            <a:r>
              <a:t>ASK: Which scope did you restore - conversation, code, or both - and why? expect: code-only for most, both for the over-steerers - a great answer names the reason, not just the choice.</a:t>
            </a:r>
          </a:p>
          <a:p/>
          <a:p>
            <a:r>
              <a:t>SAY-NEXT</a:t>
            </a:r>
          </a:p>
          <a:p>
            <a:r>
              <a:t>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4 min) SETTINGS.JSON - the file behind everything you have seen today</a:t>
            </a:r>
          </a:p>
          <a:p/>
          <a:p>
            <a:r>
              <a:t>WHY THIS SLIDE EXISTS</a:t>
            </a:r>
          </a:p>
          <a:p>
            <a:r>
              <a:t>You have heard me say "settings.json" twice already this morning and I owe you a definition before you write one in the next lab. It is a plain JSON file that configures how Claude Code behaves. Not memory - memory is CLAUDE.md, written in English, telling Claude about your project. This is configuration, written in JSON, telling the tool what it is allowed to do.</a:t>
            </a:r>
          </a:p>
          <a:p/>
          <a:p>
            <a:r>
              <a:t>THE FOUR PLACES IT LIVES - and it is the same shape as the memory hierarchy from this morning, which is the point</a:t>
            </a:r>
          </a:p>
          <a:p>
            <a:r>
              <a:t>Enterprise managed settings: your administrators set these. They are locked. You cannot override them and you may not even be able to see them. If something in this room behaves differently from my screen, this is the usual reason.</a:t>
            </a:r>
          </a:p>
          <a:p>
            <a:r>
              <a:t>User, at tilde slash dot claude slash settings dot json: your personal defaults, applied to every project you open.</a:t>
            </a:r>
          </a:p>
          <a:p>
            <a:r>
              <a:t>Project, at dot claude slash settings dot json inside the repo: committed to git and shared with the whole team. Say this clearly - changing that file changes your teammates' behavior, so review it like you review code.</a:t>
            </a:r>
          </a:p>
          <a:p>
            <a:r>
              <a:t>Local, settings dot local dot json: your overrides for this one repo, gitignored, never shared. That is where you put the thing that is true for you and nobody else.</a:t>
            </a:r>
          </a:p>
          <a:p/>
          <a:p>
            <a:r>
              <a:t>WHAT ACTUALLY GOES IN IT</a:t>
            </a:r>
          </a:p>
          <a:p>
            <a:r>
              <a:t>Permissions - the allow, ask and deny rules we are about to write. Which model to use. Environment variables. Hooks, which is tomorrow. Which plugins are enabled, also tomorrow. For today, permissions is the only section that matters.</a:t>
            </a:r>
          </a:p>
          <a:p/>
          <a:p>
            <a:r>
              <a:t>THE PRECEDENCE RULE</a:t>
            </a:r>
          </a:p>
          <a:p>
            <a:r>
              <a:t>More specific wins - local beats project, project beats user - with one exception: enterprise settings are locked and win regardless. (verify at delivery - confirm the exact order on your build if anyone pushes on it.)</a:t>
            </a:r>
          </a:p>
          <a:p/>
          <a:p>
            <a:r>
              <a:t>THE WARNING WORTH GIVING</a:t>
            </a:r>
          </a:p>
          <a:p>
            <a:r>
              <a:t>A bare entry in your allow list is broader than people expect. "Bash" on its own does not mean "safe shell commands" - it means every shell command, including the destructive ones. I found exactly that in my own configuration while preparing this course, so I am not being hypothetical.</a:t>
            </a:r>
          </a:p>
          <a:p/>
          <a:p>
            <a:r>
              <a:t>ASK: [CRESCENDO L3] Three words or less - which layer should a team's shared standards live in? expect: project, and that is right, because it is the only one that travels with the repo.</a:t>
            </a:r>
          </a:p>
          <a:p/>
          <a:p>
            <a:r>
              <a:t>SAY-NEXT: Now you know where the rules live. Let's write some.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a:t>
            </a:r>
          </a:p>
          <a:p/>
          <a:p>
            <a:r>
              <a:t>WHAT THIS DEMO SHOWS</a:t>
            </a:r>
          </a:p>
          <a:p>
            <a:r>
              <a:t>Autonomy that is earned rather than assumed. The room watches Claude work with zero permission prompts on a contained task, then watches it stop and ask before a genuinely dangerous command, then watches a deny rule beat an allow rule on screen. Three beats, six minutes. This is the architecture slide they just saw, running live - and it is the moment people stop fearing Auto mode and start configuring it.</a:t>
            </a:r>
          </a:p>
          <a:p/>
          <a:p>
            <a:r>
              <a:t>BEFORE CLASS</a:t>
            </a:r>
          </a:p>
          <a:p>
            <a:r>
              <a:t>- WORKSPACE CHECK: repo already open and trusted - project settings.json only loads after trust.</a:t>
            </a:r>
          </a:p>
          <a:p>
            <a:r>
              <a:t>- The dashboard repo with a prepared settings.json: allow Bash(npm test) and Bash(git *), deny Bash(git push --force)</a:t>
            </a:r>
          </a:p>
          <a:p>
            <a:r>
              <a:t>- Open that settings.json in a second pane so the room can read the rules while the demo runs</a:t>
            </a:r>
          </a:p>
          <a:p>
            <a:r>
              <a:t>- VS Code Claude Code panel on the same repo, model Sonnet 5</a:t>
            </a:r>
          </a:p>
          <a:p/>
          <a:p>
            <a:r>
              <a:t>STEP 1 - BEAT ONE, EARNED AUTONOMY</a:t>
            </a:r>
          </a:p>
          <a:p>
            <a:r>
              <a:t>Say: "Three beats." Press Shift+Tab to switch to Auto. Give it a safe task: "update the README badge and run the tests." Narrate the zero prompts as they do not happen. Say: "this is earned autonomy on a contained task."</a:t>
            </a:r>
          </a:p>
          <a:p/>
          <a:p>
            <a:r>
              <a:t>STEP 2 - BEAT TWO, TRIP A GUARD</a:t>
            </a:r>
          </a:p>
          <a:p>
            <a:r>
              <a:t>Ask for a cleanup script that removes a directory held in an unresolved variable. Point at Auto mode stopping to ask before the rm -rf. Say: "that pause is the hard guard from the architecture slide, live."</a:t>
            </a:r>
          </a:p>
          <a:p/>
          <a:p>
            <a:r>
              <a:t>STEP 3 - BEAT THREE, DENY BEATS ALLOW</a:t>
            </a:r>
          </a:p>
          <a:p>
            <a:r>
              <a:t>Ask Claude to force-push. The deny rule beats the git allow, on screen. Point at both lines in the settings.json pane while it refuses.</a:t>
            </a:r>
          </a:p>
          <a:p/>
          <a:p>
            <a:r>
              <a:t>EXPECTED</a:t>
            </a:r>
          </a:p>
          <a:p>
            <a:r>
              <a:t>Autonomous safe work in beat one, then two visible refusals - the guard asks, the deny blocks.</a:t>
            </a:r>
          </a:p>
          <a:p/>
          <a:p>
            <a:r>
              <a:t>IF IT BREAKS</a:t>
            </a:r>
          </a:p>
          <a:p>
            <a:r>
              <a:t>If the guard prompt does not trigger, say: "this is exactly why we have a recovery path - guard behavior is release-dependent" - then run the deny demonstration first and pull the fallback screenshot deck from the instructor kit. Never debug live past sixty seconds.</a:t>
            </a:r>
          </a:p>
          <a:p/>
          <a:p>
            <a:r>
              <a:t>DEBRIEF</a:t>
            </a:r>
          </a:p>
          <a:p>
            <a:r>
              <a:t>ASK: Why did the force-push lose to the allow rule? expect: deny is evaluated first - deny, ask, allow.</a:t>
            </a:r>
          </a:p>
          <a:p>
            <a:r>
              <a:t>Transfer probe - ASK: What would change in a different scenario - a headless CI runner with nobody watching? expect: no ask layer possible - the deny list and the verifier carry all the weight.</a:t>
            </a:r>
          </a:p>
          <a:p/>
          <a:p>
            <a:r>
              <a:t>SAY-NEXT</a:t>
            </a:r>
          </a:p>
          <a:p>
            <a:r>
              <a:t>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1D - Ship It</a:t>
            </a:r>
          </a:p>
          <a:p/>
          <a:p>
            <a:r>
              <a:t>WHAT THEY BUILD</a:t>
            </a:r>
          </a:p>
          <a:p>
            <a:r>
              <a:t>The dashboard leaves their machine tonight: tests green, a clean commit, and an open pull request. It ships through the ritual they just watched - Claude reviews the staged diff first, then writes the commit message from the diff, then builds the PR description from the commits. Along the way they also write one permission rule in settings.json and cycle every Shift+Tab mode once, so the whole block gets exercised on the same toolkit repo they have been building since 10 a.m.</a:t>
            </a:r>
          </a:p>
          <a:p/>
          <a:p>
            <a:r>
              <a:t>BEFORE YOU RELEASE THEM</a:t>
            </a:r>
          </a:p>
          <a:p>
            <a:r>
              <a:t>- Say the deliverable in one line: tests green, a clean agent-written commit, and an open pull request.</a:t>
            </a:r>
          </a:p>
          <a:p>
            <a:r>
              <a:t>- Point them at the lab guide - Day1_Lab_D_Ship_It.pdf in the Labs folder of the student pack.</a:t>
            </a:r>
          </a:p>
          <a:p>
            <a:r>
              <a:t>- Surface: VS Code Claude Code panel on the dashboard repo, model Sonnet 5. They need a GitHub remote they can push to; check that before you release them, not at minute twenty.</a:t>
            </a:r>
          </a:p>
          <a:p>
            <a:r>
              <a:t>- Timebox: twenty-five minutes - the tightest lab of the day. Reassure them: the ritual is three prompts, so it fits.</a:t>
            </a:r>
          </a:p>
          <a:p>
            <a:r>
              <a:t>- Read the success checklist: permission rule set; diff reviewed; agent-written commit and PR open.</a:t>
            </a:r>
          </a:p>
          <a:p/>
          <a:p>
            <a:r>
              <a:t>WHILE THEY WORK</a:t>
            </a:r>
          </a:p>
          <a:p>
            <a:r>
              <a:t>Circulate and read settings.json files over shoulders. The three places people get stuck:</a:t>
            </a:r>
          </a:p>
          <a:p>
            <a:r>
              <a:t>1. An allow written where they meant a deny. This is the most common error every cycle. One-line fix: read your arrays twice - deny is evaluated first, so a deny is how you actually stop something.</a:t>
            </a:r>
          </a:p>
          <a:p>
            <a:r>
              <a:t>2. No remote configured, so the PR step dies. One-line fix: git remote -v now; if it is empty, commit locally and open the PR tonight.</a:t>
            </a:r>
          </a:p>
          <a:p>
            <a:r>
              <a:t>3. They let Claude commit without reviewing the staged diff. One-line fix: back up one step - review the diff first, or the commit message is fiction.</a:t>
            </a:r>
          </a:p>
          <a:p/>
          <a:p>
            <a:r>
              <a:t>IF THE ROOM IS BEHIND</a:t>
            </a:r>
          </a:p>
          <a:p>
            <a:r>
              <a:t>The minimum bar is a reviewed diff and a clean agent-written commit. The PR can happen tonight.</a:t>
            </a:r>
          </a:p>
          <a:p/>
          <a:p>
            <a:r>
              <a:t>DEBRIEF</a:t>
            </a:r>
          </a:p>
          <a:p>
            <a:r>
              <a:t>ASK: What did the diff review catch that you would have missed? expect: an unrelated file, a leftover debug line, a risky edge case - and someone will say "nothing," which is also a pass.</a:t>
            </a:r>
          </a:p>
          <a:p/>
          <a:p>
            <a:r>
              <a:t>SAY-NEXT</a:t>
            </a:r>
          </a:p>
          <a:p>
            <a:r>
              <a:t>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 IF NOBODY ANSWERS: count to five in your head, then answer it yourself and move - 'nobody? fine, the answer is...' Do not repeat the question, do not wait them out. This room went quiet last time and that is just how they are.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8.png"/><Relationship Id="rId4" Type="http://schemas.openxmlformats.org/officeDocument/2006/relationships/image" Target="../media/image36.png"/><Relationship Id="rId5" Type="http://schemas.openxmlformats.org/officeDocument/2006/relationships/image" Target="../media/image40.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0.png"/><Relationship Id="rId4" Type="http://schemas.openxmlformats.org/officeDocument/2006/relationships/image" Target="../media/image5.png"/><Relationship Id="rId5" Type="http://schemas.openxmlformats.org/officeDocument/2006/relationships/image" Target="../media/image32.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7.png"/><Relationship Id="rId5" Type="http://schemas.openxmlformats.org/officeDocument/2006/relationships/image" Target="../media/image42.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37.png"/><Relationship Id="rId6" Type="http://schemas.openxmlformats.org/officeDocument/2006/relationships/image" Target="../media/image34.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9.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4.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4.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4.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4.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3.png"/><Relationship Id="rId5" Type="http://schemas.openxmlformats.org/officeDocument/2006/relationships/image" Target="../media/image19.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2.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17.png"/><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2.png"/><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Make it DO something, not just chat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hello.md with one line explaining what Claude Code is, then tell me what you did.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Effort: how much work, not thinking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 guidance: use the default. Reach for the dial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controls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Files read, verification done, steps taken before it checks back in.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Start at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Set it as a standing preference for your work - not task by task.</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rg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diagnostic</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Didn't try hard enough? Effort. Didn't know enough? Bigger model.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Levels run low through max. Effort shapes token use; it does not cap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your own</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MCP servers add tools to this list - your APIs, databases, internal systems (Day 3).</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the repo first - always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Claude can actually see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rule: if it is not in the context window, Claude does not know it.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the only thing it can see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Session storage</a:t>
            </a:r>
            <a:r>
              <a:rPr sz="1400" b="0">
                <a:solidFill>
                  <a:srgbClr val="ACACB4"/>
                </a:solidFill>
                <a:latin typeface="Instrument Sans"/>
              </a:rPr>
              <a:t>  -  files on your disk - replayed into context on resume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Persistent instructions</a:t>
            </a:r>
            <a:r>
              <a:rPr sz="1400" b="0">
                <a:solidFill>
                  <a:srgbClr val="ACACB4"/>
                </a:solidFill>
                <a:latin typeface="Instrument Sans"/>
              </a:rPr>
              <a:t>  -  CLAUDE.md - re-read at the start of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can be disabled per project (config file comes in Block 4).</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CONFIGURATION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settings.json: where config lives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by your admins. Locked - you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your defaults, in every project.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committed to the repo, shared by the team.</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.claude/settings.local.json - this repo only, gitignored.</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precedence as the memory hierarchy: more specific wins - except enterprise, which locks.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