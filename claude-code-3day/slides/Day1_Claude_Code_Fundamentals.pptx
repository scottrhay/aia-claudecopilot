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Welcome the room and make the day's promise: by four o'clock you will drive a coding agent through a full build-test-ship cycle on a real project, and everything you build today becomes the base for Days 2 and 3. Say the arc plainly: today you learn to drive one agent well. Ask: 'quick show of hands - who has shipped real code with an AI agent, not just autocomplete, in the last month?' Expected answer: a few hands, most are autocomplete users. Transition: here is how the day breaks down.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Walk the five blocks with the clock on the wall: 9:00 start, ten-minute breaks at 10:30 and 2:20, lunch 12:10 to 12:55, hard stop at 4:00 - today is Tuesday, August 11. Say the rhythm out loud: every block is concept, live demo, then a 25-to-30-minute hands-on lab - four labs that chain into one artifact. [CRESCENDO L1] Open with a reaction poll in chat: 'who has used an AI coding tool this week - thumbs up for daily, hands for weekly?' Expected answer: broad daily usage, a few holdouts. Transition: before any content, here is the thing you will actually build.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Land the mission: the deliverable is a working business dashboard plus the habits to build the next one alone - every lab adds a layer to the same artifact, so nobody should skip a lab. Say that Days 2 and 3 keep building on this same repo. Ask: 'what would you normally estimate for scaffolding, docs, recovery discipline and a PR in one day?' Expected answer: two or three days. Transition: here is exactly what you will be able to do by four.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Read the six outcomes as promises, not topics - each one is verified in a lab checklist before the day ends, and that is the quality bar for this course. Point out that outcome one happens in the next twenty minutes. Ask: 'which of these six would change your week the most?' Expected answer: scope context or ship a PR. Transition: block one - getting the engine installed and understanding what it actually does.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 Open the block by naming its three beats: who can even get Claude Code (licensing first - it bites), how installation changed this year, and the agentic loop that makes it an agent rather than autocomplete. Ask: 'one word in chat - what is your current AI coding setup?' Expected answer: Copilot, Cursor, ChatGPT, nothing. Transition: first, the difference between an assistant and an agent.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Force the real distinction: an assistant suggests code you then integrate; an agent takes a goal, works the codebase with tools, runs the tests, and comes back with a verified result. Say the mindset shift out loud - you are moving from typist to reviewer and delegator. Ask: 'what changes about YOUR job if the verify step is automatic?' Expected answer: I review outcomes and write better instructions. Transition: before anyone installs anything - who is actually licensed for this?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Teach the operational rule: access is an identity-and-policy check, not a pricing-memory quiz. Team and Enterprise seats can differ by tier, admin policy, provider, and available models. Have learners prove access by signing in with the correct work identity and opening /model and /usage. Ask: 'which identity will you use for today's labs?' Expected answer: the organization-approved account. Transition: access proven, installing takes two minutes.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Say what changed since most online guides were written: the npm path is deprecated as of January - native installers via Homebrew, WinGet and apt are the default, they self-update, and Windows runs fully native with no WSL and no Node.js requirement. That kills the two worst setup failure modes from earlier courses. Ask: 'who fought WSL or a Node version to install a dev tool this year?' Expected answer: several war stories. Transition: once installed, you have three ways to run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Position the surfaces: the terminal is the canonical experience and what this course teaches, the VS Code extension bundles the CLI so there is nothing extra to install, and the desktop app covers teammates who never open a terminal. Ask: 'where do you live - terminal, VS Code, or JetBrains?' Expected answer: mostly VS Code and JetBrains. Transition: however you run it, you are starting sessions - and sessions have an anatomy worth knowing.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Name the two ways into Claude Code: interactive sessions are the REPL you steer turn by turn and today's home; one-shot print mode - claude -p - takes one prompt and returns one result, the building block for the scripts and CI that Day 3 automates. Teach the resume rule: --continue picks up the most recent session and --resume lets you choose one, but resuming imports everything that session already believed - so resume to finish the SAME task, and start clean for a NEW one. That is the first appearance of the day's session-hygiene law, and the flags themselves get re-verified at delivery. Ask: 'you fixed a bug yesterday and a new one appeared today - resume or fresh?' Expected answer: fresh - different task, different session. Transition: let us get everyone authenticated and healthy right now -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 This is the environment gate - everyone runs these three lines before the block ends, and nobody enters Lab 1A broken. Say the order: claude auth login opens the browser and binds your seat, /doctor checks and repairs the install, then one tiny real task proves the loop end to end. Ask for a green checkmark in chat when /doctor comes back clean - expected answer: nearly all green, one or two auth stragglers you catch now. Transition: with everyone alive, which model is actually answering you?</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 Correct the brittle assumption that one model is globally default. The `default` alias varies by account type, billing mode, cloud provider, and admin configuration. Teach operating roles instead: Sonnet 5 for normal implementation and debugging, Opus 5 for complex reasoning, and /model to inspect the live account. Ask: 'what should you verify before promising a model in a classroom?' Expected answer: the learner's actual identity, provider, and /model result. Transition: aliases cover different jobs.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Teach aliases, not brittle model IDs or a static price table. Start with sonnet for daily coding, escalate to opus for complex architecture, use fable for the hardest long-running work when the organization has access, and use haiku for quick mechanical tasks. /model changes the session; an admin can restrict available models. Ask: 'which task from last week deserved an escalation?' Expected answer: one complex design or root-cause investigation. Transition: one more dial before the loop - how hard the model thinks.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Introduce extended thinking as the third lever next to model choice and context: for most edits the default reasoning is plenty, but architecture decisions, gnarly debugging and risky migrations earn a deeper pass - ask for more thinking on that one step, or escalate the model for the step and drop back after. Stress the cost side: thinking is tokens and latency, so spending it on every prompt is the same mistake as @-mentioning the whole repo. Read the strip honestly - the exact controls move between releases, so we verify live behavior at delivery rather than promise a keystroke. Ask: 'which task from your last sprint deserved a deeper think?' Expected answer: a design decision or a root-cause hunt, not a rename. Transition: model chosen, thinking budgeted - now the loop that runs every time you press Enter.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 Trace the five nodes slowly - this diagram is the whole course: gather context, formulate a plan, take action, observe results, iterate until verified. Stress that the loop is automatic; your leverage is the quality of the goal and the context you feed it, which is why Blocks 2 and 3 exist. Ask: 'which stage do human developers most often skip?' Expected answer: observe - we ship without verifying. Transition: here is that same loop from the moment you press Enter.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Make the abstract loop concrete with a real request like 'add rate limiting to the login route': Claude reads CLAUDE.md and the auth files, states a plan, edits, runs the test suite, reads the failure, and fixes it - all before coming back to you. Say that the self-healing Fix step is where agents earn their keep. Ask: 'what fraction of your day is steps four and five by hand?' Expected answer: a third or more. Transition: and when that loop misfires - because it will - here is what it looks like.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Normalize failure early so nobody panics in the labs: repeated mistakes, degrading quality and forgotten instructions are context problems, not model tantrums. Preview the fixes - smaller tasks, the rewind checkpoint system, and permanent rules in CLAUDE.md - each gets its own block today. Ask: 'who has watched an AI tool confidently repeat the same wrong fix?' Expected answer: everyone, with stories. Transition: the discipline that prevents most of it fits on one slide.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Tell them to write this down - Principle 1: small, frequent, actionable. Small means one task per session, not 'refactor the whole app'; frequent means commit after each change and /clear between tasks; actionable means every prompt ends in something testable, not an essay. Ask: 'what is wrong with the prompt: make the app production-ready?' Expected answer: unbounded, untestable, guaranteed disappointment. Transition: to execute your small task, Claude reaches for a toolbox - here it is.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Reassure them: you never pick tools - Claude does - but knowing the toolbox makes you a sharper delegator, because 'grep for every caller first' is now a sentence you can say. Walk the five rows and flag Agent as the Day 3 multiplier. Ask: 'which tool would you deny in a locked-down environment?' Expected answer: Bash or the web tools - and permissions for exactly that land in Block 4. Transition: one more built-in worth meeting today, because it fixes your setup for you.</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Position /doctor as the July upgrade that removes the number-one support burden: it now runs a full diagnostic and offers to fix findings itself - press f - and it flags waste like unused skills, dormant MCP servers and slow hooks that silently tax every session. Note the caution strip: the auto-fix specifics come from secondary sources, so we verify live rather than promise. Ask: 'what is your current equivalent of /doctor - how do you debug your dev setup?' Expected answer: Google and vibes. Transition: enough theory - watch the whole thing run end to end.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 Setup: open a clean terminal on the instructor machine with the sample dashboard repo cloned and a licensed seat ready; stage the brew/winget install command in your notes. Steps: step 1, run the native install, then 'claude auth login' and authenticate in the browser; step 2, run '/doctor' and press f to auto-fix anything amber; step 3, paste the prompt 'Read package.json and tell me what this project does in three sentences', then 'Add a /health endpoint returning the build version, and run the tests'. Expected result: a green doctor screen, then Claude visibly reads, plans, edits, runs tests and reports a passing result - all five loop stages in order. If it fails: an auth hang is almost always the popup blocker, re-run claude auth login; if install is blocked by policy, switch to the pre-installed backup VM and continue - never debug live longer than sixty seconds. Debrief: ask 'which loop stage surprised you?' Expected answer: verify - most people expect it to stop at writing code. Transition: now you do exactly this in Lab 1A.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30 min. Launch the lab: the deliverable is a running dashboard scaffold built from a single well-formed prompt, the timebox is thirty minutes, and the success checklist is on the slide - app runs, loop stages observed, one checkpoint noted for tomorrow's rewind work. Tell the room the minimum if they fall behind is a passing first build. Walk the room during the lab; the common sticking point is the very first prompt being too vague. Debrief question: 'share one loop failure you watched Claude self-correct.' Expected answer: failing test fixed without help, missing dependency installed autonomously. Then push the transfer probe: 'what would change in a different scenario - a compiled language with a five-minute build?' Expected answer: fewer, bigger loop iterations; verification gets expensive. Transition: break - then we teach Claude to remember.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10 min. Call the ten-minute break and put the restart time on screen - 10:40 sharp. Tell anyone whose /doctor was not green in Block 1 to bring their laptop up front now - the fix happens during the break, not during Block 2.</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 Open the block with the pain it kills: re-explaining your project to an AI every single morning. This block installs permanent memory - CLAUDE.md as the file you write, auto memory as the notes Claude writes itself, and the hierarchy that ties them together. Ask: 'what do you find yourself re-typing into AI tools every week?' Expected answer: stack, conventions, do-not-touch lists. Transition: first, how memory is actually layered.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Teach the mapping top to bottom: the context window is working memory and it is finite; session history is short-term and dies on /clear; CLAUDE.md plus auto memory is long-term and loads at the start of every session automatically. Land the punchline: this block is about promoting knowledge from the layers that evaporate into the layer that persists. Ask: 'where does your team's tribal knowledge live today?' Expected answer: heads and old Slack threads. Transition: the long-term layer starts with one file.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Define it plainly: CLAUDE.md is onboarding documentation for an engineer who reads it perfectly, every time, and never gets bored of it. Walk the four cards and stress the last one - committed to git, it standardizes Claude's behavior across the whole team. [CRESCENDO L1] Quick poll in chat: 'does your team have ANY written onboarding doc for humans today - yes or no?' Expected answer: an awkward mix, which is the point. Transition: so what actually belongs inside it?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Walk the five rows with one example each, and hammer specificity: not 'use good naming' but 'camelCase variables, PascalCase classes' - behavioral rules Claude can actually execute. Teach the strip as the official guidance: keep it under roughly two hundred lines, because a lean file gets followed and a bloated one gets sampled. Ask: 'which row would have saved you a bad AI suggestion this month?' Expected answer: conventions or architecture. Transition: and when the file grows anyway, there is a principle for that.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Tell them to write down Principle 3 - routing over organizing. The anti-pattern is one giant file that dilutes its own instructions; the pattern is a lean core CLAUDE.md plus topic files under .claude/rules that load when relevant, so every token entering context earns its place. Mention the strip: CLAUDE.local.md gives individuals private overrides without polluting the team file. Ask: 'what happens to a wiki page that grows past a screen?' Expected answer: nobody reads it - same physics here. Transition: the full stack of memory files, in priority order.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Walk the six layers top-down and make the precedence explicit for the first time: when rules collide, enterprise managed policy wins over the project file, project wins over your user memory, and user wins over the local override - auto memory sits alongside as Claude's own notes. One sentence each: enterprise policy is IT's non-negotiables, the project file is the team contract, rules are routed detail, user memory is your taste everywhere, local override is your taste here, auto memory is what Claude learned alone. Flag the strip: teach the order as stated, and verify the exact collision behavior at delivery. Ask: 'where should the rule - never commit directly to main - live?' Expected answer: project CLAUDE.md, or enterprise policy in a regulated shop. Transition: that last layer is new since April and deserves its own slide.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Explain the division of labor: CLAUDE.md is what YOU teach Claude, auto memory is what Claude teaches itself - build commands that worked, debugging insights, preferences - stored as plain markdown with a MEMORY.md index and loaded alongside CLAUDE.md at session start. Stress the strip: it is just markdown, so audit it, edit it, or disable it per project. Ask: 'what should Claude never be allowed to self-note?' Expected answer: secrets, credentials, customer data - a good instinct for Block 4. Transition: two more patterns protect all this memory when sessions get long.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Set up the problem: when a long session compacts, Claude summarizes history, and without guidance it deletes exactly what you needed most - early architecture decisions. Two defenses: Compact Instructions in CLAUDE.md declare what must survive in priority order, and HANDOFF.md sidesteps compression entirely with a deliberate handoff document a fresh session starts from. Ask: 'which would you trust for a three-day refactor?' Expected answer: HANDOFF.md - deliberate beats automatic. Transition: both defenses are one idea in disguise - say it as a law.</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Pause on this line because it is the architecture underneath everything in this block: sessions evaporate - compaction squeezes them, /clear erases them, tomorrow forgets them - so any state you care about must live in a file the next session can read. CLAUDE.md, rules files, HANDOFF.md, spec.md, even a running TODO list are all the same move: promote knowledge out of the conversation and into the repo. Say it as the habit: if you would be upset to lose it, write it to a file before the session ends. Ask: 'what did you learn in Lab 1A that exists only in that dead session right now?' Expected answer: a build quirk or a fix rationale - exactly what belongs in a file. Transition: here is what the best practitioners put in their own files.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Share the provenance: these three rules come from the personal CLAUDE.md of Claude Code's creator at Anthropic, and notice they are all behavioral - plan before touching code, prove completion with a passing check, and after any human correction write the lesson down so it never repeats. That last rule turns every mistake into a permanent upgrade. Ask: 'which of the three would change your Claude's output the most?' Expected answer: prove it works. Transition: time to type - the memory workflow you will use daily.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 Give them three minutes to run the first two lines against any repo: /init bootstraps a starter CLAUDE.md from the actual project, and the Remember prompt shows the correction loop - say it once, it lands in memory forever. Read the handoff prompt aloud as the end-of-day ritual for long work. Ask for a one-word chat verdict on what /init generated: keep or trim? Expected answer: mostly trim - exactly the right instinct. Transition: watch the full workflow in the demo before you own it in Lab 1B.</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 Setup: open the Lab 1A dashboard repo in a fresh Claude Code session with no existing CLAUDE.md; keep this run card on the second screen. Steps: step 1, run '/init' and scroll the generated file with the room; step 2, trim it live - delete two generic lines, rewrite one vague convention to be behavioral; step 3, paste 'Remember: all API handlers must validate input with zod', restart the session, then ask 'add a /metrics endpoint' and point at the zod validation appearing unprompted; show the note via /memory. Expected result: a lean CLAUDE.md under a screenful, and the taught rule applied in a brand-new session. If it fails: bloated /init output IS the teaching moment - trim harder; if the rule does not stick after restart, open /memory, show where it should have landed, add it by hand, and continue. Debrief: ask 'what would change in a different scenario - a ten-year legacy monolith?' Expected answer: /init output needs heavier curation and routing into rules files. Transition: your repo, your rules - Lab 1B.</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30 min. Launch Lab 1B: the deliverable is a committed CLAUDE.md good enough that a new teammate could onboard from it, the timebox is thirty minutes, and the success checklist requires the file under two hundred lines plus one taught rule proven to survive a session restart. The if-behind minimum is /init plus three trimmed behavioral rules. Circulate and challenge vague rules - 'write clean code' gets rewritten on the spot. Debrief question: 'which rule surprised you by changing Claude's behavior?' Expected answer: testing and validation rules usually win. Transition: recap, then lunch.</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Read both lines aloud slowly - this is the recap beat, not new content. Say the first line is how they should pitch CLAUDE.md to their team lead, and the second is the maintenance discipline that keeps it working six months from now. Ask: 'which line goes on your team wiki tonight?' Expected answer: a split vote - both work. Transition: lunch, then the deepest skill of the day - context mastery.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45 min. Call lunch with the exact restart time on screen - 12:55, forty-five minutes. Tease the afternoon: the single most valuable skill of the day - context mastery and the rewind button - starts the moment we return.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 Open the afternoon with the claim to prove: the difference between an average and an expert Claude Code user is not prompting - it is what they let into the context window and how fast they recover from a wrong turn. Ask: 'in one word, what happens to a meeting that runs three hours?' Expected answer: chaos, drift, fatigue - same for sessions. Transition: first, the aiming tool.</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Teach the @ key as the aiming mechanism: a single file is the default move, folders are a deliberate splurge, URLs pull live docs, and tab completion lets you stack several precise targets in one prompt. Read the caution strip aloud - one @folder on a big directory can wipe out your window in a keystroke. Ask: 'why is @-mentioning a file better than letting Claude search for it?' Expected answer: speed, precision, and you control what enters context. Transition: but should you aim at all, or just let Claude go find it?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Make the trade-off explicit, because it is a cost-and-accuracy decision rather than a style choice: an @-mention is the cheapest, most precise move but assumes you already know where the code lives; agent search spends turns and tokens on Glob and Grep and shines exactly when you do not know the territory. The hybrid is the daily default - hand it the entry point, let it search outward from there. Tie it forward: every search result lands in the window and stays there, which is the budget story of this whole block. Ask: 'new codebase, day one - aim or search?' Expected answer: search first to learn the map, then aim for every task after. Transition: which raises the real question - focused or broad?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Force the choice with the counterintuitive rule: less context produces BETTER output, not worse - a focused session with two named files beats a session drowning in a whole directory. Broad context is legitimate for architecture and discovery, but it is a deliberate spend with a /compact bill arriving sooner. Ask: 'your last AI coding session - focused or broad, honestly?' Expected answer: broad by accident, not by choice. Transition: to choose well you need to know what is already spending your window.</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Walk the ledger: fixed overhead includes the system prompt, skill metadata, server instructions, and tools that must load up front. Current Claude Code defers MCP tool schemas through ToolSearch by default, so do not teach the old 'every MCP tool always loads' rule. CLAUDE.md and memory remain the semi-fixed layer; conversation and files are the controllable layer. Run /context to inspect the actual session. Ask: 'who has checked what their tooling costs in context?' Expected answer: almost nobody. Transition: when the budget gets tight, the session tells you.</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Give them the smoke-detector list: answers getting shorter, earlier instructions quietly ignored, and edits that conflict with each other are all the same disease - a saturated window - and the response is /compact if you must continue or commit-and-/clear if the task allows. Ask: 'which of these have you already seen in another tool without knowing why?' Expected answer: forgetting, universally. Transition: the discipline that prevents the disease has one sentence in it.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Deliver the rule like a law: one task per session, period - context degrades, and after two failed corrections the window is poisoned with conflicting instructions, so more steering makes it worse, not better. The rhythm to install: commit, /clear, next task. Read the strip: rewind or restart beats arguing, always. Ask: 'why does the third correction usually go WORSE than the second?' Expected answer: the failed attempts are still in context, contaminating every new answer. Transition: here is the true story we tell in every delivery.</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Tell the story with pacing: a developer starts a clean payment-processing task, tosses in 'also fix the auth bug' mid-session, and Claude entangles the two - payment code referencing auth variables, neither working, three hours of debugging. The fix took thirty minutes per task in two clean sessions. Land the line: one task per session is load-bearing architecture, not a style preference. Ask: 'what was the actual mistake - the second task, or not starting a second session?' Expected answer: not starting a second session. Transition: and since April there is a much cheaper way out of that hole -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 This is the biggest quality-of-life change since the April course: Claude Code checkpoints your session as it works, and double-tapping Esc opens a rewind menu where you choose the scope - restore the conversation, the code, or both. The payment-module disaster on the last slide is now a thirty-second recovery instead of a three-hour dig. [CRESCENDO L2] Neutral chat prompt: 'share one moment from this morning you would have rewound.' Expected answer: Lab 1A missteps, an over-eager refactor. Transition: before you trust it with real work, the fine print - what rewind actually restores.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Sharpen the fine print before anyone trusts rewind with production-shaped work: it restores the conversation and the file edits Claude made - which covers most disasters - but it does not un-run commands. Installed packages, database migrations, deleted data, pushed commits and external API calls stay exactly as the session left them, which is why side-effect-heavy work still deserves git and backups underneath. Read the strip: restore scope is release-dependent, so we verify it at delivery. Ask: 'Claude ran a migration and then wrote bad code - what does rewind fix?' Expected answer: the code only - the migration needs its own rollback. Transition: rewind is one rung on a four-rung ladder.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Teach the ladder lightest to heaviest: Esc is a tap on the shoulder - stop and redirect; double-Esc rewinds past a wrong turn while keeping everything before it; /compact squeezes a long but healthy session; /clear is the hard reset for task switches. The skill is matching the rung to the damage instead of nuking everything. Ask: 'what would change in a different scenario - Claude wrote bad code but the conversation is fine?' Expected answer: rewind code only, keep the discussion. Transition: the same ladder as a lookup table you can photograph.</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Say this is the photograph slide - the same table ships in the printed quick reference, so nobody needs to transcribe it. Walk one row deeply: 'last turns poisoned it' is the correction-spiral case from earlier, and double-Esc with the right scope is the escape hatch. Ask: 'which row is your correction-spiral escape?' Expected answer: row two, double-Esc. Transition: one rung is missing from that table - git. When do you drop down to it?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Give them the dividing line: rewind is the in-session undo for Claude's own recent missteps - nothing committed, nothing shared, session and code restored together in seconds; git revert and reset own everything that crossed a commit boundary - team-visible, auditable, and the only tool once pushes are involved or the damage predates your checkpoints. Then read the strip as the interrupt discipline: hit Esc early the moment direction is wrong, but once it is mid-edit, letting it finish and then rewinding beats yanking the wheel - half-applied changes are the most expensive state in the room. Ask: 'bad change committed an hour ago and pushed - which tool?' Expected answer: git revert - rewind's window has passed. Transition: recovery handles mistakes after they happen - the next principle prevents half of them up front.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Tell them to write down Principle 2 - think in next actions: not 'fix everything wrong with this codebase' but 'fix the N+1 query in getUserPosts' - specific, testable, completable in one session. Then read the strip slowly: almost-right code is the dangerous kind because it passes review and breaks at 2 AM, which is why verification is non-negotiable. Ask: 'what is the next-action version of - make the app faster?' Expected answer: profile one endpoint, fix one named query. Transition: put the principle to work - these are the delegation prompts.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 Dissect both prompts with the room: each names its files with @, states exactly one ask, and ends by telling Claude how to prove success - run the tests, show the diff. That final clause is what separates delegation from wishing. Give two minutes to adapt one prompt to their own current bug and paste it into chat. Ask for a one-word verdict: sharper or same as what you typed last week? Expected answer: sharper. Transition: now watch context go wrong on purpose - and come back.</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 Setup: open the dashboard repo in a fresh session; have /context ready to run before and after; keep this run card visible. Steps: step 1, deliberately overload - @-mention the whole src folder, then ask two unrelated tasks in one prompt ('restyle the header AND rework the data layer'); step 2, run /context to show the spend, and point at the degraded, entangled output as it appears; step 3, double-tap Esc, choose to restore code only, show the diff is gone, then re-run the header task alone as a clean, sharp result. Expected result: the room sees quality degrade with bloat, then sees a thirty-second full recovery with the conversation history intact. If it fails: if the rewind menu misbehaves, fall back to git - 'git checkout .' plus /clear - and say out loud that the ladder has a git rung under it; if degradation is not obvious, narrate the /context numbers instead. Debrief: ask 'what would change in a different scenario - the conversation was poisoned but the code was good?' Expected answer: restore conversation only. Transition: your turn to break and recover in Lab 1C.</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30 min. Launch Lab 1C, rebuilt this cycle around checkpoints: learners inject a deliberately bad instruction, watch the damage, rewind with double-Esc, ship the feature cleanly, and finish with a which-tool call - a short written decision on when rewind applies versus git revert. The deliverable is the recovered feature, the timebox is thirty minutes, and the checklist demands one full rewind, the rewind-vs-revert decision recorded, and two /context checks. If behind, the minimum is one complete rewind cycle. Expect the aha moment when the code reverts but the conversation survives. Debrief question: 'which scope did you restore and why?' Expected answer: code-only for most, both for the over-steerers. Transition: break - then money, modes, and shipping.</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Read both lines aloud as the recap beat - the first is the aiming discipline, the second is the recovery discipline, and together they are what 'context mastery' means on the certificate. Say that tomorrow's skills work builds directly on this hygiene. Ask: 'which line would have saved you the most time this year?' Expected answer: mostly the rewind line. Transition: fifteen-minute break, then the final teaching block - commands, cost, permissions and git.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10 min. Call the ten-minute break with the restart time on screen - 2:30 sharp. Tell the room the last teaching block covers the questions every manager asks - what does it cost and is it safe - so bring those questions back with them.</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 Frame the final teaching block as the manager-question block: what does it cost, is it safe, and can it really ship - invocation controls and explicit skills first, then the July permission model including Auto mode, then git to PR. Ask: 'what is the first question YOUR manager will ask about Claude Code?' Expected answer: cost or security, every time. Transition: start with the commands you will type every day.</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Run the six rows fast - every one of them has already appeared today, so this is consolidation, not news: /init bootstraps, /clear resets, /compact squeezes, /context audits, /model escalates, /doctor heals. Say that these six commands cover ninety percent of daily driving. Ask: 'which one have you already used without being told to?' Expected answer: /clear or /context from the labs. Transition: and July added three small comforts worth knowing.</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Walk the three comforts: /btw answers a tangent - 'what does this regex do' - without contaminating the task context; the ! prefix runs a shell command AND hands Claude the output in one move, no copy-paste round trip; /keybindings writes a remappable keymap file. Read the strip honestly - weekly releases move fast, so we verify these live at delivery. Ask: 'which tangent question did you swallow this morning to protect your session?' Expected answer: several - /btw is for exactly that. Transition: the real power move is writing commands of your own.</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 Explain that custom commands have merged into skills. Existing .claude/commands files remain compatible, but new explicit workflows belong in .claude/skills with disable-model-invocation true. Demonstrate /review with $ARGUMENTS. Transition: good automation still depends on a good specification.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Contrast the two columns with the honest arithmetic: the vague spec feels faster for ten seconds and then costs three revision rounds and four hours; the clear spec - stack, endpoints, auth model named up front - lands near your mental model in one round. The skill that separates power users is not prompting, it is specification. Ask: 'whose fault is the vague-spec failure - the model's or the spec's?' Expected answer: the spec's, and that is good news because specs are learnable. Transition: and when you cannot write the spec yourself, make Claude interview you.</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Teach the reversal: instead of writing a spec cold, tell Claude 'interview me' - it asks the questions you had not considered, like what happens when a token expires mid-request, then writes spec.md from your answers, and only then do you execute. This pattern eliminates most 'Claude did not understand me' failures because the misunderstanding surfaces as a question, not a bug. Ask: 'what question would Claude ask about YOUR current project that you cannot answer yet?' Expected answer: edge cases, error handling, auth boundaries. Transition: from what to build to what it may touch - the permission model.</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Walk the cycle as one keystroke - Shift+Tab rotates Default, AcceptEdits, Plan, and the July addition, Auto: Default asks before anything, AcceptEdits pre-approves file edits while still gating commands, Plan explores and proposes before touching code, and Auto acts autonomously inside guardrails we cover on the next slide. Match mode to trust and task, not to mood. Ask: 'which mode for a refactor in an unfamiliar codebase?' Expected answer: Plan - explore first, execute after review. Transition: Auto mode only earns its keep because of what sits underneath it.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 Explain the two-layer design like airport security: layer one is an injection probe screening inputs - poisoned web content or malicious instructions get flagged on the way in; layer two is a transcript classifier reviewing what Claude actually did on the way out; and hard guards sit under both - it asks before running rm -rf on unresolved variables and blocks transcript tampering. [CRESCENDO L2] Chat prompt: 'which mode will be your Monday default, and why?' Expected answer: mostly Default and Plan, a few brave Autos. Transition: the guards protect the session - your job is to shrink what a bad action could even touch.</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Turn Auto mode from scary to sized: before granting autonomy, decide what the worst allowed action could destroy - that is the blast radius - and shrink it on purpose. Contain the workspace in a sandbox, container or throwaway clone; starve the session of production credentials; and write the deny list before the run, because with nobody watching the prompts, deny rules and the built-in guards are the only 'no' in the room. Note the strip - isolation options vary by platform and policy, so we verify what your environment offers at delivery. Ask: 'what is the blast radius of Bash(git *) with a push credential loaded?' Expected answer: your remote history - which is why force-push sits in the deny list. Transition: modes are the posture - rules are the law, and the law has an evaluation order.</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Teach the evaluation order as the exam question of the block: deny is checked first and a matching deny beats an explicit allow, unmatched actions fall to ask, and allow pre-approves the trusted set like npm test and git so real decisions are the only prompts you see. Rules live in settings.json; managed settings let the org lock them. Ask: 'you allow Bash(git *) and deny Bash(git push --force) - what happens on a force push?' Expected answer: denied - deny wins, and that is the design. Transition: smart rules mean two or three meaningful prompts per task, which is the safety principle in one line.</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Tell them to write down Principle 4 - default to safe: when uncertain Claude asks first, the permission prompt is a review point rather than friction, and trust gets earned rule by rule - start restrictive and loosen deliberately. Warn about the failure mode: over-restrictive setups train developers to disable permissions entirely, which is security theater. Ask: 'what is the right number of prompts per task?' Expected answer: two or three meaningful ones - not ten reflexive ones. Transition: safety settled - now the money question.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Replace remembered price arithmetic with the durable operating question: which meter is this run using? Subscription seats use account allowances and /usage; API and cloud-provider runs are token billed; headless jobs need explicit turn and tool limits; teams multiply context per teammate. Ask: 'who owns the budget for your automated runs?' Expected answer: the platform or engineering owner, not an individual learner. Transition: last stop before the lab, shipping the work.</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Walk the lifecycle in plain language: Claude runs the real git and gh commands underneath while you speak English - what changed, commit it with a proper message, branch it, open a PR whose description is generated from the commit history, and read the failing CI check when it comes back. Each action still passes the permission gate from two slides ago. Ask: 'which git chore do you most want to never type again?' Expected answer: commit messages and PR descriptions, unanimously. Transition: three prompts turn that lifecycle into a ritual -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 Walk the three prompts as the shipping ritual for Lab 1D: first the agent-assisted diff review - Claude reads its own staged diff like a skeptical senior engineer and flags risk before you commit, which catches the unrelated-file-drifted-in class of error; then the commit message written from the actual diff instead of 'fixes stuff'; then the PR description assembled from the commit history - summary, key changes, test evidence. Stress the order: review before commit, always - a good message on a bad diff is lipstick. Ask: 'what do you do when the review prompt flags something you disagree with?' Expected answer: read the diff yourself - the agent's review is a second pair of eyes, not the approver. Transition: which raises the bar question - how does Claude know any of it worked?</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Raise the engineering bar before the final lab: 'Claude says it is done' has zero engineering value - what matters is a verifier, and they come in three levels: exit codes and unit tests at the bottom, integration and contract checks in the middle, production signals at the top. The test for any automation: if you cannot state how Claude knows it succeeded, it is not ready to run unattended. Ask: 'what is the verifier for Lab 1D?' Expected answer: the test suite passing plus a reviewable PR. Transition: demo first, then you ship.</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6 min. Setup: open the dashboard repo with a prepared settings.json containing allow Bash(npm test) and Bash(git *) plus deny Bash(git push --force); keep the file open in a second pane so the room can read the rules. Steps: step 1, Shift+Tab to Auto and run a safe task - 'update the README badge and run the tests' - narrating zero prompts; step 2, trip a guard by asking for a cleanup script that removes a directory held in an unresolved variable, and point at Auto mode stopping to ask before the rm -rf; step 3, ask Claude to force-push, and show the deny rule beating the git allow. Expected result: autonomous safe work, then two visible refusals - the guard asks, the deny blocks. If it fails: if the guard prompt does not trigger, show the deny rule demonstration first and state that guard behavior is release-dependent - this is exactly why the caution strip says verify at delivery; the fallback screenshot deck for this demo is in the instructor kit. Debrief: ask 'why did the force push lose to the allow rule?' Expected answer: deny is evaluated first - deny, ask, allow. Follow with the transfer probe: 'what would change in a different scenario - a headless CI runner with nobody watching?' Expected answer: no ask layer possible - the deny list and verifier carry all the weight. Transition: your turn - ship it.</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25 min. Launch the final lab: the deliverable is the dashboard with tests green, a clean commit, and an open PR - shipped through the new ritual: Claude reviews the staged diff first, then writes the commit message from the diff, then builds the PR description from the commits. Learners also write one permission rule and cycle every Shift+Tab mode. Timebox twenty-five minutes; the if-behind minimum is a reviewed diff and a clean commit with an agent-written message. Circulate and check settings.json files - the most common error is writing an allow where they meant a deny. Debrief question: 'what did the diff review catch that you would have missed?' Expected answer: an unrelated file, a leftover debug line, a risky edge case. Transition: bring your PR link to the wrap-up.</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 Shift the energy - teaching is done, consolidation begins: a recap against the morning's promises, the five mistakes that will bite in week one, the three-day arc, and tonight's homework. Ask: 'in one word in chat - how do you feel about driving this thing tomorrow morning?' Expected answer: confident, curious, a few cautious. Transition: here is the scoreboard.</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Read the six rows against the morning's outcome slide and let the room notice they all happened - installed, looped, taught, scoped, guarded, shipped - with four lab artifacts in one repo to prove it. Say that the four principles thread through all six rows. Ask: 'which outcome felt furthest away at nine this morning?' Expected answer: shipping a PR or Auto mode. Transition: now the five ways week one goes wrong anyway.</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Walk the five rows and tell the room they will recognize themselves in at least two - context overflow is the most common, correction spirals the most frustrating, and vibe coding the most dangerous because it feels productive while producing fragile code. Every fix on the right side was practiced today, so this table is a memory aid, not new work. [CRESCENDO L2] Chat: 'which mistake did you already make TODAY - no judgment?' Expected answer: scope creep and overflow, with laughter. Transition: where the next two days take you.</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Place today in the arc: Day 1 was driving one agent well, Day 2 teaches it your standards - skills, hooks, explicit invocation controls, and reviewed plugins - and Day 3 multiplies it with MCP, subagents, agent teams, and headless CI/CD. Everything builds on the same dashboard repo, so tonight's homework keeps the thread warm. Ask: 'which day were you actually here for?' Expected answer: Day 3 for most - and Day 1 is what makes Day 3 safe. Transition: speaking of tonight.</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Pitch the homework as twenty minutes of practice that converts today from a demo into a habit: /init on their real project with a hard trim, one human-invoked skill they will genuinely reuse, and one deliberate rewind so the recovery reflex exists before they need it in anger. Bring all three artifacts tomorrow - Day 2 starts by upgrading them. Ask: 'which of the three will you actually do tonight?' Expected answer: the CLAUDE.md, mostly. Transition: two lines to leave on.</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Read both lines slowly and let them sit - the first is Principle 1 and the operating rhythm, the second compresses the other three principles into six words apiece. Suggest they pin one of the two above their desk for week one. Ask: 'which line is your desk line?' Expected answer: split, with the second slightly ahead. Transition: final logistics and goodnight.</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Close the loop on the morning promise: they came in with an installer and left with a shipped PR, four principles, and a recovery reflex - the next step is twenty minutes of homework tonight and Day 2 at nine sharp, same repo, where their Monday-morning practice becomes team standards. Ask one final question: 'what is the first real task you hand Claude Code this week?' Expected answer: reports, refactors, test backfills. Push the transfer probe: 'what would change in a different scenario - applying today's habits to a codebase you have never seen?' Expected answer: plan mode first, /init, smaller tasks, tighter verification. Transition: thank the room, post the homework and start time in chat, and end Day 1.</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4.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15.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7.png"/><Relationship Id="rId4" Type="http://schemas.openxmlformats.org/officeDocument/2006/relationships/image" Target="../media/image22.png"/><Relationship Id="rId5" Type="http://schemas.openxmlformats.org/officeDocument/2006/relationships/image" Target="../media/image17.png"/><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2.png"/><Relationship Id="rId4" Type="http://schemas.openxmlformats.org/officeDocument/2006/relationships/image" Target="../media/image24.png"/><Relationship Id="rId5" Type="http://schemas.openxmlformats.org/officeDocument/2006/relationships/image" Target="../media/image13.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image" Target="../media/image15.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1.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7.png"/><Relationship Id="rId4" Type="http://schemas.openxmlformats.org/officeDocument/2006/relationships/image" Target="../media/image14.png"/><Relationship Id="rId5" Type="http://schemas.openxmlformats.org/officeDocument/2006/relationships/image" Target="../media/image32.png"/><Relationship Id="rId6" Type="http://schemas.openxmlformats.org/officeDocument/2006/relationships/image" Target="../media/image33.png"/><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22.png"/><Relationship Id="rId4" Type="http://schemas.openxmlformats.org/officeDocument/2006/relationships/image" Target="../media/image34.png"/><Relationship Id="rId5" Type="http://schemas.openxmlformats.org/officeDocument/2006/relationships/image" Target="../media/image13.png"/><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16.png"/><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image" Target="../media/image17.png"/><Relationship Id="rId4" Type="http://schemas.openxmlformats.org/officeDocument/2006/relationships/image" Target="../media/image36.png"/><Relationship Id="rId5" Type="http://schemas.openxmlformats.org/officeDocument/2006/relationships/image" Target="../media/image40.png"/><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40.png"/><Relationship Id="rId4" Type="http://schemas.openxmlformats.org/officeDocument/2006/relationships/image" Target="../media/image5.png"/><Relationship Id="rId5" Type="http://schemas.openxmlformats.org/officeDocument/2006/relationships/image" Target="../media/image32.png"/><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8.png"/><Relationship Id="rId4" Type="http://schemas.openxmlformats.org/officeDocument/2006/relationships/image" Target="../media/image6.png"/><Relationship Id="rId5" Type="http://schemas.openxmlformats.org/officeDocument/2006/relationships/image" Target="../media/image32.png"/><Relationship Id="rId6" Type="http://schemas.openxmlformats.org/officeDocument/2006/relationships/image" Target="../media/image7.png"/><Relationship Id="rId7" Type="http://schemas.openxmlformats.org/officeDocument/2006/relationships/image" Target="../media/image31.png"/><Relationship Id="rId8"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15.png"/><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37.png"/><Relationship Id="rId5" Type="http://schemas.openxmlformats.org/officeDocument/2006/relationships/image" Target="../media/image42.png"/><Relationship Id="rId6" Type="http://schemas.openxmlformats.org/officeDocument/2006/relationships/image" Target="../media/image18.png"/><Relationship Id="rId7" Type="http://schemas.openxmlformats.org/officeDocument/2006/relationships/image" Target="../media/image22.png"/><Relationship Id="rId8" Type="http://schemas.openxmlformats.org/officeDocument/2006/relationships/image" Target="../media/image15.png"/><Relationship Id="rId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5.png"/><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image" Target="../media/image44.png"/><Relationship Id="rId4" Type="http://schemas.openxmlformats.org/officeDocument/2006/relationships/image" Target="../media/image13.png"/><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6.png"/><Relationship Id="rId4" Type="http://schemas.openxmlformats.org/officeDocument/2006/relationships/image" Target="../media/image5.png"/><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16.png"/><Relationship Id="rId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4.png"/><Relationship Id="rId4" Type="http://schemas.openxmlformats.org/officeDocument/2006/relationships/image" Target="../media/image32.png"/><Relationship Id="rId5" Type="http://schemas.openxmlformats.org/officeDocument/2006/relationships/image" Target="../media/image37.png"/><Relationship Id="rId6" Type="http://schemas.openxmlformats.org/officeDocument/2006/relationships/image" Target="../media/image13.png"/><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image" Target="../media/image48.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4.png"/><Relationship Id="rId4" Type="http://schemas.openxmlformats.org/officeDocument/2006/relationships/image" Target="../media/image16.png"/><Relationship Id="rId5" Type="http://schemas.openxmlformats.org/officeDocument/2006/relationships/image" Target="../media/image15.png"/><Relationship Id="rId6"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34.png"/><Relationship Id="rId4" Type="http://schemas.openxmlformats.org/officeDocument/2006/relationships/image" Target="../media/image6.png"/><Relationship Id="rId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41.png"/><Relationship Id="rId4" Type="http://schemas.openxmlformats.org/officeDocument/2006/relationships/image" Target="../media/image6.png"/><Relationship Id="rId5" Type="http://schemas.openxmlformats.org/officeDocument/2006/relationships/image" Target="../media/image13.png"/><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image" Target="../media/image5.png"/><Relationship Id="rId4" Type="http://schemas.openxmlformats.org/officeDocument/2006/relationships/image" Target="../media/image24.png"/><Relationship Id="rId5" Type="http://schemas.openxmlformats.org/officeDocument/2006/relationships/image" Target="../media/image6.png"/><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29.png"/><Relationship Id="rId4" Type="http://schemas.openxmlformats.org/officeDocument/2006/relationships/image" Target="../media/image51.png"/><Relationship Id="rId5" Type="http://schemas.openxmlformats.org/officeDocument/2006/relationships/image" Target="../media/image52.png"/><Relationship Id="rId6"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image" Target="../media/image48.png"/><Relationship Id="rId4" Type="http://schemas.openxmlformats.org/officeDocument/2006/relationships/image" Target="../media/image15.png"/><Relationship Id="rId5"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image" Target="../media/image6.png"/><Relationship Id="rId4" Type="http://schemas.openxmlformats.org/officeDocument/2006/relationships/image" Target="../media/image17.png"/><Relationship Id="rId5" Type="http://schemas.openxmlformats.org/officeDocument/2006/relationships/image" Target="../media/image13.png"/><Relationship Id="rId6"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16.png"/><Relationship Id="rId6"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24.png"/><Relationship Id="rId5" Type="http://schemas.openxmlformats.org/officeDocument/2006/relationships/image" Target="../media/image17.png"/><Relationship Id="rId6" Type="http://schemas.openxmlformats.org/officeDocument/2006/relationships/image" Target="../media/image22.png"/><Relationship Id="rId7" Type="http://schemas.openxmlformats.org/officeDocument/2006/relationships/image" Target="../media/image6.png"/><Relationship Id="rId8"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4.png"/><Relationship Id="rId4" Type="http://schemas.openxmlformats.org/officeDocument/2006/relationships/image" Target="../media/image18.png"/><Relationship Id="rId5" Type="http://schemas.openxmlformats.org/officeDocument/2006/relationships/image" Target="../media/image13.png"/><Relationship Id="rId6"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image" Target="../media/image31.png"/><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27.png"/><Relationship Id="rId4" Type="http://schemas.openxmlformats.org/officeDocument/2006/relationships/image" Target="../media/image57.png"/><Relationship Id="rId5" Type="http://schemas.openxmlformats.org/officeDocument/2006/relationships/image" Target="../media/image58.png"/><Relationship Id="rId6"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24.png"/><Relationship Id="rId4" Type="http://schemas.openxmlformats.org/officeDocument/2006/relationships/image" Target="../media/image8.png"/><Relationship Id="rId5" Type="http://schemas.openxmlformats.org/officeDocument/2006/relationships/image" Target="../media/image13.png"/><Relationship Id="rId6"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34.png"/><Relationship Id="rId4" Type="http://schemas.openxmlformats.org/officeDocument/2006/relationships/image" Target="../media/image59.png"/><Relationship Id="rId5" Type="http://schemas.openxmlformats.org/officeDocument/2006/relationships/image" Target="../media/image24.png"/><Relationship Id="rId6" Type="http://schemas.openxmlformats.org/officeDocument/2006/relationships/image" Target="../media/image13.png"/><Relationship Id="rId7"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image" Target="../media/image34.png"/><Relationship Id="rId4" Type="http://schemas.openxmlformats.org/officeDocument/2006/relationships/image" Target="../media/image6.png"/><Relationship Id="rId5" Type="http://schemas.openxmlformats.org/officeDocument/2006/relationships/image" Target="../media/image8.png"/><Relationship Id="rId6" Type="http://schemas.openxmlformats.org/officeDocument/2006/relationships/image" Target="../media/image15.png"/><Relationship Id="rId7"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6.png"/><Relationship Id="rId4" Type="http://schemas.openxmlformats.org/officeDocument/2006/relationships/image" Target="../media/image24.png"/><Relationship Id="rId5"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32.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7.png"/><Relationship Id="rId4" Type="http://schemas.openxmlformats.org/officeDocument/2006/relationships/image" Target="../media/image18.png"/><Relationship Id="rId5"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16.png"/><Relationship Id="rId6"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2.png"/><Relationship Id="rId8"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8.png"/><Relationship Id="rId4" Type="http://schemas.openxmlformats.org/officeDocument/2006/relationships/image" Target="../media/image5.png"/><Relationship Id="rId5"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8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png"/>
          <p:cNvPicPr>
            <a:picLocks noChangeAspect="1"/>
          </p:cNvPicPr>
          <p:nvPr/>
        </p:nvPicPr>
        <p:blipFill>
          <a:blip r:embed="rId2"/>
          <a:stretch>
            <a:fillRect/>
          </a:stretch>
        </p:blipFill>
        <p:spPr>
          <a:xfrm>
            <a:off x="6263640" y="0"/>
            <a:ext cx="5925312" cy="6858000"/>
          </a:xfrm>
          <a:prstGeom prst="rect">
            <a:avLst/>
          </a:prstGeom>
        </p:spPr>
      </p:pic>
      <p:sp>
        <p:nvSpPr>
          <p:cNvPr id="3" name="Rectangle 2"/>
          <p:cNvSpPr/>
          <p:nvPr/>
        </p:nvSpPr>
        <p:spPr>
          <a:xfrm>
            <a:off x="626364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286000"/>
            <a:ext cx="50292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432304"/>
            <a:ext cx="5486400" cy="274320"/>
          </a:xfrm>
          <a:prstGeom prst="rect">
            <a:avLst/>
          </a:prstGeom>
          <a:noFill/>
        </p:spPr>
        <p:txBody>
          <a:bodyPr wrap="square" anchor="t">
            <a:spAutoFit/>
          </a:bodyPr>
          <a:lstStyle/>
          <a:p>
            <a:pPr algn="l">
              <a:lnSpc>
                <a:spcPct val="100000"/>
              </a:lnSpc>
              <a:spcBef>
                <a:spcPts val="0"/>
              </a:spcBef>
              <a:spcAft>
                <a:spcPts val="200"/>
              </a:spcAft>
            </a:pPr>
            <a:r>
              <a:rPr sz="1200" b="1" spc="180">
                <a:solidFill>
                  <a:srgbClr val="8B8B93"/>
                </a:solidFill>
                <a:latin typeface="Instrument Sans"/>
              </a:rPr>
              <a:t>AIA COPILOT TRAINING</a:t>
            </a:r>
          </a:p>
        </p:txBody>
      </p:sp>
      <p:sp>
        <p:nvSpPr>
          <p:cNvPr id="6" name="TextBox 5"/>
          <p:cNvSpPr txBox="1"/>
          <p:nvPr/>
        </p:nvSpPr>
        <p:spPr>
          <a:xfrm>
            <a:off x="621792" y="2761488"/>
            <a:ext cx="5669280" cy="1371600"/>
          </a:xfrm>
          <a:prstGeom prst="rect">
            <a:avLst/>
          </a:prstGeom>
          <a:noFill/>
        </p:spPr>
        <p:txBody>
          <a:bodyPr wrap="square" anchor="t">
            <a:spAutoFit/>
          </a:bodyPr>
          <a:lstStyle/>
          <a:p>
            <a:pPr algn="l">
              <a:lnSpc>
                <a:spcPct val="100000"/>
              </a:lnSpc>
              <a:spcBef>
                <a:spcPts val="0"/>
              </a:spcBef>
              <a:spcAft>
                <a:spcPts val="200"/>
              </a:spcAft>
            </a:pPr>
            <a:r>
              <a:rPr sz="4600" b="1">
                <a:solidFill>
                  <a:srgbClr val="F5F5F6"/>
                </a:solidFill>
                <a:latin typeface="Instrument Sans"/>
              </a:rPr>
              <a:t>Claude Code: Fundamentals</a:t>
            </a:r>
          </a:p>
        </p:txBody>
      </p:sp>
      <p:sp>
        <p:nvSpPr>
          <p:cNvPr id="7" name="TextBox 6"/>
          <p:cNvSpPr txBox="1"/>
          <p:nvPr/>
        </p:nvSpPr>
        <p:spPr>
          <a:xfrm>
            <a:off x="640080" y="5074920"/>
            <a:ext cx="5486400" cy="274320"/>
          </a:xfrm>
          <a:prstGeom prst="rect">
            <a:avLst/>
          </a:prstGeom>
          <a:noFill/>
        </p:spPr>
        <p:txBody>
          <a:bodyPr wrap="square" anchor="t">
            <a:spAutoFit/>
          </a:bodyPr>
          <a:lstStyle/>
          <a:p>
            <a:pPr algn="l">
              <a:lnSpc>
                <a:spcPct val="100000"/>
              </a:lnSpc>
              <a:spcBef>
                <a:spcPts val="0"/>
              </a:spcBef>
              <a:spcAft>
                <a:spcPts val="200"/>
              </a:spcAft>
            </a:pPr>
            <a:r>
              <a:rPr sz="1500" b="0">
                <a:solidFill>
                  <a:srgbClr val="7E7E86"/>
                </a:solidFill>
                <a:latin typeface="Instrument Sans"/>
              </a:rPr>
              <a:t>Scott Hay</a:t>
            </a:r>
          </a:p>
        </p:txBody>
      </p:sp>
      <p:sp>
        <p:nvSpPr>
          <p:cNvPr id="8" name="TextBox 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AGENDA - TUE, AUG 11</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Day 1 - five blocks, 9:00 to 4:00</a:t>
            </a:r>
          </a:p>
        </p:txBody>
      </p:sp>
      <p:sp>
        <p:nvSpPr>
          <p:cNvPr id="4" name="TextBox 3"/>
          <p:cNvSpPr txBox="1"/>
          <p:nvPr/>
        </p:nvSpPr>
        <p:spPr>
          <a:xfrm>
            <a:off x="640080"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01</a:t>
            </a:r>
          </a:p>
        </p:txBody>
      </p:sp>
      <p:sp>
        <p:nvSpPr>
          <p:cNvPr id="5" name="TextBox 4"/>
          <p:cNvSpPr txBox="1"/>
          <p:nvPr/>
        </p:nvSpPr>
        <p:spPr>
          <a:xfrm>
            <a:off x="1463040"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The agentic loop &amp; setup</a:t>
            </a:r>
          </a:p>
          <a:p>
            <a:pPr algn="l">
              <a:lnSpc>
                <a:spcPct val="105000"/>
              </a:lnSpc>
              <a:spcBef>
                <a:spcPts val="0"/>
              </a:spcBef>
              <a:spcAft>
                <a:spcPts val="300"/>
              </a:spcAft>
            </a:pPr>
            <a:r>
              <a:rPr sz="1550" b="0">
                <a:solidFill>
                  <a:srgbClr val="ACACB4"/>
                </a:solidFill>
                <a:latin typeface="Instrument Sans"/>
              </a:rPr>
              <a:t>9:00-10:30 - Install, models, extended thinking, sessions, first loop</a:t>
            </a:r>
          </a:p>
        </p:txBody>
      </p:sp>
      <p:sp>
        <p:nvSpPr>
          <p:cNvPr id="6" name="Rectangle 5"/>
          <p:cNvSpPr/>
          <p:nvPr/>
        </p:nvSpPr>
        <p:spPr>
          <a:xfrm>
            <a:off x="640080"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81344"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02</a:t>
            </a:r>
          </a:p>
        </p:txBody>
      </p:sp>
      <p:sp>
        <p:nvSpPr>
          <p:cNvPr id="8" name="TextBox 7"/>
          <p:cNvSpPr txBox="1"/>
          <p:nvPr/>
        </p:nvSpPr>
        <p:spPr>
          <a:xfrm>
            <a:off x="7004304"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Memory &amp; CLAUDE.md</a:t>
            </a:r>
          </a:p>
          <a:p>
            <a:pPr algn="l">
              <a:lnSpc>
                <a:spcPct val="105000"/>
              </a:lnSpc>
              <a:spcBef>
                <a:spcPts val="0"/>
              </a:spcBef>
              <a:spcAft>
                <a:spcPts val="300"/>
              </a:spcAft>
            </a:pPr>
            <a:r>
              <a:rPr sz="1550" b="0">
                <a:solidFill>
                  <a:srgbClr val="ACACB4"/>
                </a:solidFill>
                <a:latin typeface="Instrument Sans"/>
              </a:rPr>
              <a:t>10:40-12:10 - Teach it once; state lives in files. Lunch 12:10-12:55</a:t>
            </a:r>
          </a:p>
        </p:txBody>
      </p:sp>
      <p:sp>
        <p:nvSpPr>
          <p:cNvPr id="9" name="Rectangle 8"/>
          <p:cNvSpPr/>
          <p:nvPr/>
        </p:nvSpPr>
        <p:spPr>
          <a:xfrm>
            <a:off x="6181344"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03</a:t>
            </a:r>
          </a:p>
        </p:txBody>
      </p:sp>
      <p:sp>
        <p:nvSpPr>
          <p:cNvPr id="11" name="TextBox 10"/>
          <p:cNvSpPr txBox="1"/>
          <p:nvPr/>
        </p:nvSpPr>
        <p:spPr>
          <a:xfrm>
            <a:off x="1463040"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Context mastery</a:t>
            </a:r>
          </a:p>
          <a:p>
            <a:pPr algn="l">
              <a:lnSpc>
                <a:spcPct val="105000"/>
              </a:lnSpc>
              <a:spcBef>
                <a:spcPts val="0"/>
              </a:spcBef>
              <a:spcAft>
                <a:spcPts val="300"/>
              </a:spcAft>
            </a:pPr>
            <a:r>
              <a:rPr sz="1550" b="0">
                <a:solidFill>
                  <a:srgbClr val="ACACB4"/>
                </a:solidFill>
                <a:latin typeface="Instrument Sans"/>
              </a:rPr>
              <a:t>12:55-2:20 - Aim context, rewind vs revert, recover fast</a:t>
            </a:r>
          </a:p>
        </p:txBody>
      </p:sp>
      <p:sp>
        <p:nvSpPr>
          <p:cNvPr id="12" name="Rectangle 11"/>
          <p:cNvSpPr/>
          <p:nvPr/>
        </p:nvSpPr>
        <p:spPr>
          <a:xfrm>
            <a:off x="640080"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81344"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04</a:t>
            </a:r>
          </a:p>
        </p:txBody>
      </p:sp>
      <p:sp>
        <p:nvSpPr>
          <p:cNvPr id="14" name="TextBox 13"/>
          <p:cNvSpPr txBox="1"/>
          <p:nvPr/>
        </p:nvSpPr>
        <p:spPr>
          <a:xfrm>
            <a:off x="7004304"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Commands, cost, permissions, git</a:t>
            </a:r>
          </a:p>
          <a:p>
            <a:pPr algn="l">
              <a:lnSpc>
                <a:spcPct val="105000"/>
              </a:lnSpc>
              <a:spcBef>
                <a:spcPts val="0"/>
              </a:spcBef>
              <a:spcAft>
                <a:spcPts val="300"/>
              </a:spcAft>
            </a:pPr>
            <a:r>
              <a:rPr sz="1550" b="0">
                <a:solidFill>
                  <a:srgbClr val="ACACB4"/>
                </a:solidFill>
                <a:latin typeface="Instrument Sans"/>
              </a:rPr>
              <a:t>2:30-3:40 - Auto mode blast radius, ship a reviewed PR</a:t>
            </a:r>
          </a:p>
        </p:txBody>
      </p:sp>
      <p:sp>
        <p:nvSpPr>
          <p:cNvPr id="15" name="Rectangle 14"/>
          <p:cNvSpPr/>
          <p:nvPr/>
        </p:nvSpPr>
        <p:spPr>
          <a:xfrm>
            <a:off x="6181344"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8615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05</a:t>
            </a:r>
          </a:p>
        </p:txBody>
      </p:sp>
      <p:sp>
        <p:nvSpPr>
          <p:cNvPr id="17" name="TextBox 16"/>
          <p:cNvSpPr txBox="1"/>
          <p:nvPr/>
        </p:nvSpPr>
        <p:spPr>
          <a:xfrm>
            <a:off x="1463040" y="4879847"/>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Wrap-up</a:t>
            </a:r>
          </a:p>
          <a:p>
            <a:pPr algn="l">
              <a:lnSpc>
                <a:spcPct val="105000"/>
              </a:lnSpc>
              <a:spcBef>
                <a:spcPts val="0"/>
              </a:spcBef>
              <a:spcAft>
                <a:spcPts val="300"/>
              </a:spcAft>
            </a:pPr>
            <a:r>
              <a:rPr sz="1550" b="0">
                <a:solidFill>
                  <a:srgbClr val="ACACB4"/>
                </a:solidFill>
                <a:latin typeface="Instrument Sans"/>
              </a:rPr>
              <a:t>3:40-4:00 - Recap, five mistakes, homework</a:t>
            </a:r>
          </a:p>
        </p:txBody>
      </p:sp>
      <p:sp>
        <p:nvSpPr>
          <p:cNvPr id="18" name="Rectangle 17"/>
          <p:cNvSpPr/>
          <p:nvPr/>
        </p:nvSpPr>
        <p:spPr>
          <a:xfrm>
            <a:off x="640080" y="6199631"/>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THE MISSION</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you will build today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One continuous artifact - a business dashboard that Claude Code builds with you across four chained labs.</a:t>
            </a:r>
          </a:p>
        </p:txBody>
      </p:sp>
      <p:sp>
        <p:nvSpPr>
          <p:cNvPr id="7" name="Rounded Rectangle 6"/>
          <p:cNvSpPr/>
          <p:nvPr/>
        </p:nvSpPr>
        <p:spPr>
          <a:xfrm>
            <a:off x="5349240" y="3474720"/>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1879"/>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ocket_2A2A30.png"/>
          <p:cNvPicPr>
            <a:picLocks noChangeAspect="1"/>
          </p:cNvPicPr>
          <p:nvPr/>
        </p:nvPicPr>
        <p:blipFill>
          <a:blip r:embed="rId3"/>
          <a:stretch>
            <a:fillRect/>
          </a:stretch>
        </p:blipFill>
        <p:spPr>
          <a:xfrm>
            <a:off x="5712439" y="3700759"/>
            <a:ext cx="151424" cy="151424"/>
          </a:xfrm>
          <a:prstGeom prst="rect">
            <a:avLst/>
          </a:prstGeom>
        </p:spPr>
      </p:pic>
      <p:sp>
        <p:nvSpPr>
          <p:cNvPr id="10" name="TextBox 9"/>
          <p:cNvSpPr txBox="1"/>
          <p:nvPr/>
        </p:nvSpPr>
        <p:spPr>
          <a:xfrm>
            <a:off x="6227064" y="3474720"/>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1A</a:t>
            </a:r>
            <a:r>
              <a:rPr sz="1400" b="0">
                <a:solidFill>
                  <a:srgbClr val="ACACB4"/>
                </a:solidFill>
                <a:latin typeface="Instrument Sans"/>
              </a:rPr>
              <a:t>  -  scaffold the dashboard from one prompt</a:t>
            </a:r>
          </a:p>
        </p:txBody>
      </p:sp>
      <p:sp>
        <p:nvSpPr>
          <p:cNvPr id="11" name="Rounded Rectangle 10"/>
          <p:cNvSpPr/>
          <p:nvPr/>
        </p:nvSpPr>
        <p:spPr>
          <a:xfrm>
            <a:off x="5349240" y="4224528"/>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361688"/>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oc_2A2A30.png"/>
          <p:cNvPicPr>
            <a:picLocks noChangeAspect="1"/>
          </p:cNvPicPr>
          <p:nvPr/>
        </p:nvPicPr>
        <p:blipFill>
          <a:blip r:embed="rId4"/>
          <a:stretch>
            <a:fillRect/>
          </a:stretch>
        </p:blipFill>
        <p:spPr>
          <a:xfrm>
            <a:off x="5712439" y="4450567"/>
            <a:ext cx="151424" cy="151424"/>
          </a:xfrm>
          <a:prstGeom prst="rect">
            <a:avLst/>
          </a:prstGeom>
        </p:spPr>
      </p:pic>
      <p:sp>
        <p:nvSpPr>
          <p:cNvPr id="14" name="TextBox 13"/>
          <p:cNvSpPr txBox="1"/>
          <p:nvPr/>
        </p:nvSpPr>
        <p:spPr>
          <a:xfrm>
            <a:off x="6227064" y="4224528"/>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1B</a:t>
            </a:r>
            <a:r>
              <a:rPr sz="1400" b="0">
                <a:solidFill>
                  <a:srgbClr val="ACACB4"/>
                </a:solidFill>
                <a:latin typeface="Instrument Sans"/>
              </a:rPr>
              <a:t>  -  teach Claude the codebase with CLAUDE.md</a:t>
            </a:r>
          </a:p>
        </p:txBody>
      </p:sp>
      <p:sp>
        <p:nvSpPr>
          <p:cNvPr id="15" name="Rounded Rectangle 14"/>
          <p:cNvSpPr/>
          <p:nvPr/>
        </p:nvSpPr>
        <p:spPr>
          <a:xfrm>
            <a:off x="5349240" y="4974336"/>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111496"/>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5"/>
          <a:stretch>
            <a:fillRect/>
          </a:stretch>
        </p:blipFill>
        <p:spPr>
          <a:xfrm>
            <a:off x="5712439" y="5200375"/>
            <a:ext cx="151424" cy="151424"/>
          </a:xfrm>
          <a:prstGeom prst="rect">
            <a:avLst/>
          </a:prstGeom>
        </p:spPr>
      </p:pic>
      <p:sp>
        <p:nvSpPr>
          <p:cNvPr id="18" name="TextBox 17"/>
          <p:cNvSpPr txBox="1"/>
          <p:nvPr/>
        </p:nvSpPr>
        <p:spPr>
          <a:xfrm>
            <a:off x="6227064" y="4974336"/>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1C</a:t>
            </a:r>
            <a:r>
              <a:rPr sz="1400" b="0">
                <a:solidFill>
                  <a:srgbClr val="ACACB4"/>
                </a:solidFill>
                <a:latin typeface="Instrument Sans"/>
              </a:rPr>
              <a:t>  -  break it on purpose, recover with rewind</a:t>
            </a:r>
          </a:p>
        </p:txBody>
      </p:sp>
      <p:sp>
        <p:nvSpPr>
          <p:cNvPr id="19" name="Rounded Rectangle 18"/>
          <p:cNvSpPr/>
          <p:nvPr/>
        </p:nvSpPr>
        <p:spPr>
          <a:xfrm>
            <a:off x="5349240" y="5724144"/>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623559" y="5861304"/>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6"/>
          <a:stretch>
            <a:fillRect/>
          </a:stretch>
        </p:blipFill>
        <p:spPr>
          <a:xfrm>
            <a:off x="5712439" y="5950183"/>
            <a:ext cx="151424" cy="151424"/>
          </a:xfrm>
          <a:prstGeom prst="rect">
            <a:avLst/>
          </a:prstGeom>
        </p:spPr>
      </p:pic>
      <p:sp>
        <p:nvSpPr>
          <p:cNvPr id="22" name="TextBox 21"/>
          <p:cNvSpPr txBox="1"/>
          <p:nvPr/>
        </p:nvSpPr>
        <p:spPr>
          <a:xfrm>
            <a:off x="6227064" y="5724144"/>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1D</a:t>
            </a:r>
            <a:r>
              <a:rPr sz="1400" b="0">
                <a:solidFill>
                  <a:srgbClr val="ACACB4"/>
                </a:solidFill>
                <a:latin typeface="Instrument Sans"/>
              </a:rPr>
              <a:t>  -  tests green, commit, pull request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OUTCOMES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By four o'clock you can</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Install &amp; authenticate</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installer on your OS, licensed seat, /doctor green.</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Run 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Explain the five stages and watch Claude run them on real code.</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a CLAUDE.md</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lean project brief Claude loads every single session.</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Scope 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exactly what matters; one task per session.</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 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Cycle the four permission modes and write a deny/ask/allow rule.</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rocket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 a PR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and open a pull request without leaving the chat.</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3.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1 - 90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The Agentic Loop &amp; Setup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Install it, license it, and understand the engine underneath.</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CONCEPT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Assistant or agent?</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Coding assistant</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Autocompletes as you type</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You drive every single step</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Suggestions - you integrate</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Coding agent</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Takes a goal, runs a loop</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Reads, edits, runs, verifies</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You review outcomes, not keystrokes</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ACCESS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Access: prove it before the lab</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Individual subscription</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Pro or Max: sign in with the same identity you will use in Claude Code.</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heck_2A2A30.png"/>
          <p:cNvPicPr>
            <a:picLocks noChangeAspect="1"/>
          </p:cNvPicPr>
          <p:nvPr/>
        </p:nvPicPr>
        <p:blipFill>
          <a:blip r:embed="rId2"/>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Team or Enterprise seat</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Standard and Premium seats can have Claude Code; organization policy and allowance still apply.</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2"/>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Anthropic Console / API</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API-key access is usage billed and governed separately from subscription allowances.</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2"/>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Cloud provider</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Bedrock, Google Cloud, Microsoft Foundry, and Claude Platform on AWS have provider-specific model support.</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warn_E26B6B.png"/>
          <p:cNvPicPr>
            <a:picLocks noChangeAspect="1"/>
          </p:cNvPicPr>
          <p:nvPr/>
        </p:nvPicPr>
        <p:blipFill>
          <a:blip r:embed="rId3"/>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Classroom gate</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Launch Claude Code and confirm /model plus /usage. Do not infer access from the pricing page alone.</a:t>
            </a:r>
          </a:p>
        </p:txBody>
      </p:sp>
      <p:sp>
        <p:nvSpPr>
          <p:cNvPr id="29" name="Rounded Rectangle 28"/>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warn_E0A93A.png"/>
          <p:cNvPicPr>
            <a:picLocks noChangeAspect="1"/>
          </p:cNvPicPr>
          <p:nvPr/>
        </p:nvPicPr>
        <p:blipFill>
          <a:blip r:embed="rId4"/>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Plans, seat allowances, and model availability change. Verify the learner identity and live account, not a remembered price table.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Install: native, no Node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npm era is over - one native binary per platform.</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pps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macOS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brew install claude - or the curl one-liner.</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pps_2A2A30.png"/>
          <p:cNvPicPr>
            <a:picLocks noChangeAspect="1"/>
          </p:cNvPicPr>
          <p:nvPr/>
        </p:nvPicPr>
        <p:blipFill>
          <a:blip r:embed="rId2"/>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Windows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winget install - fully native. No WSL, no Node.</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apps_2A2A30.png"/>
          <p:cNvPicPr>
            <a:picLocks noChangeAspect="1"/>
          </p:cNvPicPr>
          <p:nvPr/>
        </p:nvPicPr>
        <p:blipFill>
          <a:blip r:embed="rId2"/>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Linux</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apt / dnf packages, or the curl installer.</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3"/>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npm install is deprecated (Jan 2026, backcompat only) - migrate old npm installs to native.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SURFACES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Three ways to run it</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at_2A2A30.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Terminal CLI</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core experience - everything we do today works here.</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apps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VS Code extension</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Bundles the CLI - no separate install step.</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eye_2A2A30.png"/>
          <p:cNvPicPr>
            <a:picLocks noChangeAspect="1"/>
          </p:cNvPicPr>
          <p:nvPr/>
        </p:nvPicPr>
        <p:blipFill>
          <a:blip r:embed="rId4"/>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Desktop app</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Visual interface for the terminal-averse; Linux beta since late June.</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pen_2A2A30.png"/>
          <p:cNvPicPr>
            <a:picLocks noChangeAspect="1"/>
          </p:cNvPicPr>
          <p:nvPr/>
        </p:nvPicPr>
        <p:blipFill>
          <a:blip r:embed="rId5"/>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JetBrains plugin</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Works, but needs the CLI already on your PATH.</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Session anatomy: two ways in</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Interactive</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REPL - steer it turn by turn</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Today's default for real work</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Resume later: --continue / --resume</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One-shot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-p - print mode</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prompt in, result out</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Scripts and CI - Day 3 territory</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Start clean when the task changes - resuming imports old context. Verify resume flags at delivery.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first contact</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Authenticate once, in the browser</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Let /doctor auto-fix your setup</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Give it one small real task</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claude auth login</a:t>
            </a:r>
          </a:p>
        </p:txBody>
      </p:sp>
      <p:sp>
        <p:nvSpPr>
          <p:cNvPr id="17" name="Rounded Rectangle 16"/>
          <p:cNvSpPr/>
          <p:nvPr/>
        </p:nvSpPr>
        <p:spPr>
          <a:xfrm>
            <a:off x="7040880" y="324459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62864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/doctor</a:t>
            </a:r>
          </a:p>
        </p:txBody>
      </p:sp>
      <p:sp>
        <p:nvSpPr>
          <p:cNvPr id="21" name="Rounded Rectangle 20"/>
          <p:cNvSpPr/>
          <p:nvPr/>
        </p:nvSpPr>
        <p:spPr>
          <a:xfrm>
            <a:off x="7040880" y="4203192"/>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367784"/>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34949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4587240"/>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Read package.json and tell me what this project does in three sentences.</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4.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1 - MODELS</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Verify the default, then choose deliberately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`default` alias depends on account type, billing mode, provider, and administrator policy.</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arget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Sonnet 5</a:t>
            </a:r>
            <a:r>
              <a:rPr sz="1400" b="0">
                <a:solidFill>
                  <a:srgbClr val="ACACB4"/>
                </a:solidFill>
                <a:latin typeface="Instrument Sans"/>
              </a:rPr>
              <a:t>  -  daily implementation and debugging; common subscription default</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par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Opus 5</a:t>
            </a:r>
            <a:r>
              <a:rPr sz="1400" b="0">
                <a:solidFill>
                  <a:srgbClr val="ACACB4"/>
                </a:solidFill>
                <a:latin typeface="Instrument Sans"/>
              </a:rPr>
              <a:t>  -  complex reasoning; default for several premium, API, and cloud paths</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Your control</a:t>
            </a:r>
            <a:r>
              <a:rPr sz="1400" b="0">
                <a:solidFill>
                  <a:srgbClr val="ACACB4"/>
                </a:solidFill>
                <a:latin typeface="Instrument Sans"/>
              </a:rPr>
              <a:t>  -  use /model to inspect and switch for the task</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model menu, August 2026</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ALIAS</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USE IT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sonnet / Sonnet 5</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Daily implementation and debugging; common subscription default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opus / Opus 5</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Complex reasoning and architecture; requires Claude Code v2.1.219+</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fable / Fable 5</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Hardest and longest autonomous tasks; availability and safety fallback vary</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haiku / latest Haiku</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Fast, low-cost mechanical work and lightweight scanning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Extended thinking: pay for depth</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A reasoning budget you spend on the hard steps - not every step.</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ulb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When</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Architecture calls, gnarly debugging, risky migrations.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par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How</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Ask for deeper reasoning on that step - or escalate the model.</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cale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Cost</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More tokens and more latency - spend it deliberately.</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Thinking controls are release-dependent - verify the live toggle and defaults at delivery.</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agentic loop</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ye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Context</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read and search</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ulb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choose an approach</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n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Act</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edit and run</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Observe</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tests and errors</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efresh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Iterate</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loop until done</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 press Enter - then what?</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Read</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CLAUDE.md, relevant files, git history load first.</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Plan</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An approach is chosen; plan mode can show it first.</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Edit</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Files written, imports updated.</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Run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Tests and commands execute; output is read.</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Fix</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Failures diagnosed and retried - self-healing.</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FAILURE MODES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When the loop breaks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arn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Symptoms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Same mistake repeatedly</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Quality drops mid-session</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Earlier instructions forgotten</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Fixes</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Smaller task, fresh session</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Rewind past the wrong turn</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Make the rule permanent in CLAUDE.md</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 full recovery ladder - Esc, rewind, /compact, /clear - is Block 3's centerpiece.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1: Small and testable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habit every other habit builds on.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Small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task per session - not 'refactor the whole app'.</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fresh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Frequent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after each change; /clear between tasks.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Actionable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Every prompt produces a result you can test.</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Write this down - Principles 2, 3 and 4 later today all build on this one.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TOOLS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tool system</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Read / Write / Edit</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File tools - surgical changes, not wholesale rewrites.</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eye_2A2A30.png"/>
          <p:cNvPicPr>
            <a:picLocks noChangeAspect="1"/>
          </p:cNvPicPr>
          <p:nvPr/>
        </p:nvPicPr>
        <p:blipFill>
          <a:blip r:embed="rId3"/>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Glob &amp; Grep</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Find files by pattern; search content across the repo.</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apps_2A2A30.png"/>
          <p:cNvPicPr>
            <a:picLocks noChangeAspect="1"/>
          </p:cNvPicPr>
          <p:nvPr/>
        </p:nvPicPr>
        <p:blipFill>
          <a:blip r:embed="rId4"/>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Bash</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 shell command - tests, builds, git, scripts.</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WebFetch &amp; WebSearch</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Live documentation and answers from the web.</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ople_2A2A30.png"/>
          <p:cNvPicPr>
            <a:picLocks noChangeAspect="1"/>
          </p:cNvPicPr>
          <p:nvPr/>
        </p:nvPicPr>
        <p:blipFill>
          <a:blip r:embed="rId6"/>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Agent</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Spawns subagents for parallel work - Day 3 territory.</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DIAGNOSTICS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/doctor: diagnose and auto-fix</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Your first move whenever anything feels wrong.</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Full diagnostic</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Install, auth, config, MCP - one health screen.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par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Auto-fix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Press f and it repairs what it just found.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Flags waste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Unused skills, unused MCP servers, slow hooks.</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Auto-fix details are secondary-source - re-verify /doctor behavior on delivery morning.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install to first task</a:t>
            </a:r>
          </a:p>
        </p:txBody>
      </p:sp>
      <p:pic>
        <p:nvPicPr>
          <p:cNvPr id="4" name="Picture 3" descr="bg_5.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Native install, then claude auth login</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/doctor - watch the auto-fix pass</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One prompt runs the full loop on real code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1A: The Agentic Build Loop</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Build the dashboard scaffold and watch the loop work.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running business-dashboard scaffold built from one prompt.</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hands-on. If behind: reach a passing first build.</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App runs; five loop stages observed; one checkpoint noted.</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Share one loop failure you watched Claude self-correct.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6.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Memory &amp; CLAUDE.md</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Teach it once. It remembers every session.</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7.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2 -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How Claude remembers</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Three layers, mapped straight onto human memory.</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eye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Working memory</a:t>
            </a:r>
            <a:r>
              <a:rPr sz="1400" b="0">
                <a:solidFill>
                  <a:srgbClr val="ACACB4"/>
                </a:solidFill>
                <a:latin typeface="Instrument Sans"/>
              </a:rPr>
              <a:t>  -  the context window - finite, managed</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loc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Short-term</a:t>
            </a:r>
            <a:r>
              <a:rPr sz="1400" b="0">
                <a:solidFill>
                  <a:srgbClr val="ACACB4"/>
                </a:solidFill>
                <a:latin typeface="Instrument Sans"/>
              </a:rPr>
              <a:t>  -  session history - gone on /clear</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boo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Long-term</a:t>
            </a:r>
            <a:r>
              <a:rPr sz="1400" b="0">
                <a:solidFill>
                  <a:srgbClr val="ACACB4"/>
                </a:solidFill>
                <a:latin typeface="Instrument Sans"/>
              </a:rPr>
              <a:t>  -  CLAUDE.md + auto memory - loads every session</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is CLAUDE.md?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One file, read first, every single session.</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 config file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Lives in the project root; read first, every session.</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oo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An onboarding doc</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Your project's instruction manual for the AI.</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Persistent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 more re-explaining the project every chat.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hare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Shareable</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it - the whole team gets the same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goes in the file</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&amp; stack</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this is and what it runs on - two lines.</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Conventions</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Exact rules: 'camelCase variables, PascalCase classes'.</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Testing</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Framework, coverage bar, where tests live.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Git habits</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format, branch naming, PR expectations.</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target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Architecture</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Where new code goes; what never gets touched.</a:t>
            </a:r>
          </a:p>
        </p:txBody>
      </p:sp>
      <p:sp>
        <p:nvSpPr>
          <p:cNvPr id="29" name="Rounded Rectangle 2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_46B17A.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Keep it under ~200 lines - Claude follows a lean file far better than a bloated one.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3: Route, don't pile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How big teams keep CLAUDE.md lean.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pile</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500-line CLAUDE.md - half of it gets ignored.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target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route</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Lean core file + .claude/rules/*.md loaded when relevant.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payoff</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Better compliance, less context burned, easier upkeep.</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CLAUDE.local.md = personal, gitignored overrides - the same routing idea, per person.</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HIERARCHY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memory hierarchy</a:t>
            </a:r>
          </a:p>
        </p:txBody>
      </p:sp>
      <p:sp>
        <p:nvSpPr>
          <p:cNvPr id="4" name="Rounded Rectangle 3"/>
          <p:cNvSpPr/>
          <p:nvPr/>
        </p:nvSpPr>
        <p:spPr>
          <a:xfrm>
            <a:off x="640080" y="182880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79679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1933955"/>
            <a:ext cx="292608" cy="292608"/>
          </a:xfrm>
          <a:prstGeom prst="rect">
            <a:avLst/>
          </a:prstGeom>
        </p:spPr>
      </p:pic>
      <p:sp>
        <p:nvSpPr>
          <p:cNvPr id="7" name="TextBox 6"/>
          <p:cNvSpPr txBox="1"/>
          <p:nvPr/>
        </p:nvSpPr>
        <p:spPr>
          <a:xfrm>
            <a:off x="1591056" y="182880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Enterprise policy</a:t>
            </a:r>
          </a:p>
        </p:txBody>
      </p:sp>
      <p:sp>
        <p:nvSpPr>
          <p:cNvPr id="8" name="TextBox 7"/>
          <p:cNvSpPr txBox="1"/>
          <p:nvPr/>
        </p:nvSpPr>
        <p:spPr>
          <a:xfrm>
            <a:off x="4434840" y="182880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Managed, IT-deployed, org-wide - always wins; cannot be overridden.</a:t>
            </a:r>
          </a:p>
        </p:txBody>
      </p:sp>
      <p:sp>
        <p:nvSpPr>
          <p:cNvPr id="9" name="Rounded Rectangle 8"/>
          <p:cNvSpPr/>
          <p:nvPr/>
        </p:nvSpPr>
        <p:spPr>
          <a:xfrm>
            <a:off x="640080" y="2478024"/>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44602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oc_2A2A30.png"/>
          <p:cNvPicPr>
            <a:picLocks noChangeAspect="1"/>
          </p:cNvPicPr>
          <p:nvPr/>
        </p:nvPicPr>
        <p:blipFill>
          <a:blip r:embed="rId3"/>
          <a:stretch>
            <a:fillRect/>
          </a:stretch>
        </p:blipFill>
        <p:spPr>
          <a:xfrm>
            <a:off x="1014984" y="2583179"/>
            <a:ext cx="292608" cy="292608"/>
          </a:xfrm>
          <a:prstGeom prst="rect">
            <a:avLst/>
          </a:prstGeom>
        </p:spPr>
      </p:pic>
      <p:sp>
        <p:nvSpPr>
          <p:cNvPr id="12" name="TextBox 11"/>
          <p:cNvSpPr txBox="1"/>
          <p:nvPr/>
        </p:nvSpPr>
        <p:spPr>
          <a:xfrm>
            <a:off x="1591056" y="2478024"/>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CLAUDE.md</a:t>
            </a:r>
          </a:p>
        </p:txBody>
      </p:sp>
      <p:sp>
        <p:nvSpPr>
          <p:cNvPr id="13" name="TextBox 12"/>
          <p:cNvSpPr txBox="1"/>
          <p:nvPr/>
        </p:nvSpPr>
        <p:spPr>
          <a:xfrm>
            <a:off x="4434840" y="2478024"/>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Committed to the repo - every collaborator gets it.</a:t>
            </a:r>
          </a:p>
        </p:txBody>
      </p:sp>
      <p:sp>
        <p:nvSpPr>
          <p:cNvPr id="14" name="Rounded Rectangle 13"/>
          <p:cNvSpPr/>
          <p:nvPr/>
        </p:nvSpPr>
        <p:spPr>
          <a:xfrm>
            <a:off x="640080" y="3127248"/>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0952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ist_2A2A30.png"/>
          <p:cNvPicPr>
            <a:picLocks noChangeAspect="1"/>
          </p:cNvPicPr>
          <p:nvPr/>
        </p:nvPicPr>
        <p:blipFill>
          <a:blip r:embed="rId4"/>
          <a:stretch>
            <a:fillRect/>
          </a:stretch>
        </p:blipFill>
        <p:spPr>
          <a:xfrm>
            <a:off x="1014984" y="3232403"/>
            <a:ext cx="292608" cy="292608"/>
          </a:xfrm>
          <a:prstGeom prst="rect">
            <a:avLst/>
          </a:prstGeom>
        </p:spPr>
      </p:pic>
      <p:sp>
        <p:nvSpPr>
          <p:cNvPr id="17" name="TextBox 16"/>
          <p:cNvSpPr txBox="1"/>
          <p:nvPr/>
        </p:nvSpPr>
        <p:spPr>
          <a:xfrm>
            <a:off x="1591056" y="3127248"/>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rules</a:t>
            </a:r>
          </a:p>
        </p:txBody>
      </p:sp>
      <p:sp>
        <p:nvSpPr>
          <p:cNvPr id="18" name="TextBox 17"/>
          <p:cNvSpPr txBox="1"/>
          <p:nvPr/>
        </p:nvSpPr>
        <p:spPr>
          <a:xfrm>
            <a:off x="4434840" y="3127248"/>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.claude/rules/*.md - modular, routed.</a:t>
            </a:r>
          </a:p>
        </p:txBody>
      </p:sp>
      <p:sp>
        <p:nvSpPr>
          <p:cNvPr id="19" name="Rounded Rectangle 18"/>
          <p:cNvSpPr/>
          <p:nvPr/>
        </p:nvSpPr>
        <p:spPr>
          <a:xfrm>
            <a:off x="640080" y="3776472"/>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374446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user_2A2A30.png"/>
          <p:cNvPicPr>
            <a:picLocks noChangeAspect="1"/>
          </p:cNvPicPr>
          <p:nvPr/>
        </p:nvPicPr>
        <p:blipFill>
          <a:blip r:embed="rId5"/>
          <a:stretch>
            <a:fillRect/>
          </a:stretch>
        </p:blipFill>
        <p:spPr>
          <a:xfrm>
            <a:off x="1014984" y="3881628"/>
            <a:ext cx="292608" cy="292608"/>
          </a:xfrm>
          <a:prstGeom prst="rect">
            <a:avLst/>
          </a:prstGeom>
        </p:spPr>
      </p:pic>
      <p:sp>
        <p:nvSpPr>
          <p:cNvPr id="22" name="TextBox 21"/>
          <p:cNvSpPr txBox="1"/>
          <p:nvPr/>
        </p:nvSpPr>
        <p:spPr>
          <a:xfrm>
            <a:off x="1591056" y="3776472"/>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User memory</a:t>
            </a:r>
          </a:p>
        </p:txBody>
      </p:sp>
      <p:sp>
        <p:nvSpPr>
          <p:cNvPr id="23" name="TextBox 22"/>
          <p:cNvSpPr txBox="1"/>
          <p:nvPr/>
        </p:nvSpPr>
        <p:spPr>
          <a:xfrm>
            <a:off x="4434840" y="3776472"/>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~/.claude/CLAUDE.md - you, on every project.</a:t>
            </a:r>
          </a:p>
        </p:txBody>
      </p:sp>
      <p:sp>
        <p:nvSpPr>
          <p:cNvPr id="24" name="Rounded Rectangle 23"/>
          <p:cNvSpPr/>
          <p:nvPr/>
        </p:nvSpPr>
        <p:spPr>
          <a:xfrm>
            <a:off x="640080" y="4425696"/>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39369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n_2A2A30.png"/>
          <p:cNvPicPr>
            <a:picLocks noChangeAspect="1"/>
          </p:cNvPicPr>
          <p:nvPr/>
        </p:nvPicPr>
        <p:blipFill>
          <a:blip r:embed="rId6"/>
          <a:stretch>
            <a:fillRect/>
          </a:stretch>
        </p:blipFill>
        <p:spPr>
          <a:xfrm>
            <a:off x="1014984" y="4530852"/>
            <a:ext cx="292608" cy="292608"/>
          </a:xfrm>
          <a:prstGeom prst="rect">
            <a:avLst/>
          </a:prstGeom>
        </p:spPr>
      </p:pic>
      <p:sp>
        <p:nvSpPr>
          <p:cNvPr id="27" name="TextBox 26"/>
          <p:cNvSpPr txBox="1"/>
          <p:nvPr/>
        </p:nvSpPr>
        <p:spPr>
          <a:xfrm>
            <a:off x="1591056" y="4425696"/>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Local override</a:t>
            </a:r>
          </a:p>
        </p:txBody>
      </p:sp>
      <p:sp>
        <p:nvSpPr>
          <p:cNvPr id="28" name="TextBox 27"/>
          <p:cNvSpPr txBox="1"/>
          <p:nvPr/>
        </p:nvSpPr>
        <p:spPr>
          <a:xfrm>
            <a:off x="4434840" y="4425696"/>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CLAUDE.local.md - you, this project, gitignored.</a:t>
            </a:r>
          </a:p>
        </p:txBody>
      </p:sp>
      <p:sp>
        <p:nvSpPr>
          <p:cNvPr id="29" name="Rounded Rectangle 28"/>
          <p:cNvSpPr/>
          <p:nvPr/>
        </p:nvSpPr>
        <p:spPr>
          <a:xfrm>
            <a:off x="640080" y="507492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04291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park_2A2A30.png"/>
          <p:cNvPicPr>
            <a:picLocks noChangeAspect="1"/>
          </p:cNvPicPr>
          <p:nvPr/>
        </p:nvPicPr>
        <p:blipFill>
          <a:blip r:embed="rId7"/>
          <a:stretch>
            <a:fillRect/>
          </a:stretch>
        </p:blipFill>
        <p:spPr>
          <a:xfrm>
            <a:off x="1014984" y="5180076"/>
            <a:ext cx="292608" cy="292608"/>
          </a:xfrm>
          <a:prstGeom prst="rect">
            <a:avLst/>
          </a:prstGeom>
        </p:spPr>
      </p:pic>
      <p:sp>
        <p:nvSpPr>
          <p:cNvPr id="32" name="TextBox 31"/>
          <p:cNvSpPr txBox="1"/>
          <p:nvPr/>
        </p:nvSpPr>
        <p:spPr>
          <a:xfrm>
            <a:off x="1591056" y="507492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Auto memory</a:t>
            </a:r>
          </a:p>
        </p:txBody>
      </p:sp>
      <p:sp>
        <p:nvSpPr>
          <p:cNvPr id="33" name="TextBox 32"/>
          <p:cNvSpPr txBox="1"/>
          <p:nvPr/>
        </p:nvSpPr>
        <p:spPr>
          <a:xfrm>
            <a:off x="4434840" y="507492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 writes this one itself.</a:t>
            </a:r>
          </a:p>
        </p:txBody>
      </p:sp>
      <p:sp>
        <p:nvSpPr>
          <p:cNvPr id="34" name="Rounded Rectangle 3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nfo_4C8DF0.png"/>
          <p:cNvPicPr>
            <a:picLocks noChangeAspect="1"/>
          </p:cNvPicPr>
          <p:nvPr/>
        </p:nvPicPr>
        <p:blipFill>
          <a:blip r:embed="rId8"/>
          <a:stretch>
            <a:fillRect/>
          </a:stretch>
        </p:blipFill>
        <p:spPr>
          <a:xfrm>
            <a:off x="877824" y="5907024"/>
            <a:ext cx="365760" cy="365760"/>
          </a:xfrm>
          <a:prstGeom prst="rect">
            <a:avLst/>
          </a:prstGeom>
        </p:spPr>
      </p:pic>
      <p:sp>
        <p:nvSpPr>
          <p:cNvPr id="36" name="TextBox 3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Precedence when rules collide: enterprise &gt; project &gt; user &gt; local - verify exact order at delivery.</a:t>
            </a:r>
          </a:p>
        </p:txBody>
      </p:sp>
      <p:sp>
        <p:nvSpPr>
          <p:cNvPr id="37" name="Rectangle 3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9" name="TextBox 3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memory: Claude's notebook</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Claude takes its own notes while it works.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ulb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it saves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Build commands, debugging insights, your preferences.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Where it lives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~/.claude/projects/&lt;project&gt;/memory - MEMORY.md index.</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How it loads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First ~200 lines read alongside CLAUDE.md at start.</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Plain markdown - read, edit, or delete anytime; disable per project in settings.json.</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LONG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Surviving compaction</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is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Compact Instructions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priority list inside CLAUDE.md</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Tells /compact what must survive</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decisions first</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oc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HANDOFF.md</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writes the handoff file</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Tried, worked, failed, next</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Fresh session starts from it</a:t>
            </a:r>
          </a:p>
        </p:txBody>
      </p:sp>
      <p:sp>
        <p:nvSpPr>
          <p:cNvPr id="22" name="Rounded Rectangle 21"/>
          <p:cNvSpPr/>
          <p:nvPr/>
        </p:nvSpPr>
        <p:spPr>
          <a:xfrm>
            <a:off x="640080" y="5138928"/>
            <a:ext cx="10908792" cy="713232"/>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warn_E0A93A.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Without guidance, /compact optimizes for brevity - early architecture decisions die first.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8.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THE RULE UNDER IT ALL</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State lives in files, not sessions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FIELD NOTES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the pros actually use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From the CLAUDE.md of Claude Code's own creator.</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ist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Plan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'Enter plan mode for ANY non-trivial task.'</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Prove it works</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'Never mark done without a passing verification.'</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Self-improve</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'After any correction, write the lesson to lessons.md.'</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memory workflow</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Bootstrap - never hand-write from zero</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Correct once, save it forever</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End long sessions with a handoff</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/init</a:t>
            </a:r>
          </a:p>
        </p:txBody>
      </p:sp>
      <p:sp>
        <p:nvSpPr>
          <p:cNvPr id="17" name="Rounded Rectangle 16"/>
          <p:cNvSpPr/>
          <p:nvPr/>
        </p:nvSpPr>
        <p:spPr>
          <a:xfrm>
            <a:off x="7040880" y="3244596"/>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628644"/>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Remember: we use pnpm, not npm. Save that so you never suggest npm again.</a:t>
            </a:r>
          </a:p>
        </p:txBody>
      </p:sp>
      <p:sp>
        <p:nvSpPr>
          <p:cNvPr id="21" name="Rounded Rectangle 20"/>
          <p:cNvSpPr/>
          <p:nvPr/>
        </p:nvSpPr>
        <p:spPr>
          <a:xfrm>
            <a:off x="7040880" y="4448556"/>
            <a:ext cx="4507992" cy="15483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61314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59486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4832604"/>
            <a:ext cx="3593591" cy="1109472"/>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Write HANDOFF.md: what you tried, what worked, what failed, what is next - so a fresh session can continue from that file alone.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/init and auto memory</a:t>
            </a:r>
          </a:p>
        </p:txBody>
      </p:sp>
      <p:pic>
        <p:nvPicPr>
          <p:cNvPr id="4" name="Picture 3" descr="bg_5.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/init on the dashboard repo</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Trim the generated file live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Teach one rule, restart, watch it stick</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1B: Teach Claude your repo</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Turn Lab 1A's scaffold into a taught codebase.</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committed CLAUDE.md the whole team could onboard from.</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/init plus three trimmed rules.</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Under 200 lines; one taught rule proven to stick after restart.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rule surprised you by changing Claude's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Two lines to remember</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If Block 2 compresses to two sentences, these are them.</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CLAUDE.md is onboarding documentation that actually gets read - every session.</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Route, don't pile: two hundred lean lines beat five hundred ignored ones.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45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Lunch</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0.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3 - 85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Context Mastery</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Feed exactly what matters - and rewind when it goes wrong.</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@-mentions: aim, don't spray</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@file.ts</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 exactly one file - the default move.</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@src/folder/</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Loads everything inside - use sparingly.</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@https://docs...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Pulls live documentation into context.</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ist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Tab completion</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Stack multiple mentions in one precise prompt.</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One @folder on a big directory can eat your context in a single keystroke.</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Aim it, or let it search?</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APPROACH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THE TRADE</a:t>
            </a:r>
          </a:p>
        </p:txBody>
      </p:sp>
      <p:sp>
        <p:nvSpPr>
          <p:cNvPr id="7" name="Rectangle 6"/>
          <p:cNvSpPr/>
          <p:nvPr/>
        </p:nvSpPr>
        <p:spPr>
          <a:xfrm>
            <a:off x="640080" y="2423160"/>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@-mention the file</a:t>
            </a:r>
          </a:p>
        </p:txBody>
      </p:sp>
      <p:sp>
        <p:nvSpPr>
          <p:cNvPr id="10" name="TextBox 9"/>
          <p:cNvSpPr txBox="1"/>
          <p:nvPr/>
        </p:nvSpPr>
        <p:spPr>
          <a:xfrm>
            <a:off x="3383280" y="242316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Cheapest and most precise - but you must know where the code lives</a:t>
            </a:r>
          </a:p>
        </p:txBody>
      </p:sp>
      <p:sp>
        <p:nvSpPr>
          <p:cNvPr id="11" name="Rectangle 10"/>
          <p:cNvSpPr/>
          <p:nvPr/>
        </p:nvSpPr>
        <p:spPr>
          <a:xfrm>
            <a:off x="640080" y="3703320"/>
            <a:ext cx="10908792" cy="128015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70332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70332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Let Claude search</a:t>
            </a:r>
          </a:p>
        </p:txBody>
      </p:sp>
      <p:sp>
        <p:nvSpPr>
          <p:cNvPr id="14" name="TextBox 13"/>
          <p:cNvSpPr txBox="1"/>
          <p:nvPr/>
        </p:nvSpPr>
        <p:spPr>
          <a:xfrm>
            <a:off x="3383280" y="370332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Glob and Grep burn turns and tokens - and find what you did not know</a:t>
            </a:r>
          </a:p>
        </p:txBody>
      </p:sp>
      <p:sp>
        <p:nvSpPr>
          <p:cNvPr id="15" name="Rectangle 14"/>
          <p:cNvSpPr/>
          <p:nvPr/>
        </p:nvSpPr>
        <p:spPr>
          <a:xfrm>
            <a:off x="640080" y="4983479"/>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9834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983479"/>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Hybrid (the default)</a:t>
            </a:r>
          </a:p>
        </p:txBody>
      </p:sp>
      <p:sp>
        <p:nvSpPr>
          <p:cNvPr id="18" name="TextBox 17"/>
          <p:cNvSpPr txBox="1"/>
          <p:nvPr/>
        </p:nvSpPr>
        <p:spPr>
          <a:xfrm>
            <a:off x="3383280" y="4983479"/>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the entry point, let it search outward from there</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Focused or broad?</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arge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Focused (default)</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Specific files, one task</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Less context, better output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Faster and cheaper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Broad (deliberate)</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and discovery work</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Whole-module refactors</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Expect to /compact sooner</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BUDGET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your window goes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context window is a budget - here is the ledger.</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pps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Fixed overhead</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System prompt, skill metadata, server instructions, and any tools loaded up front.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Semi-fixed</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CLAUDE.md and memory - a few thousand tokens.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a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rest</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Conversation and files - the part you actually control.</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MCP tool search defers tool schemas by default; /context shows what actually loaded.</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WARNING SIGNS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Signs the context is full</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E26B6B.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Shorter answers</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Detail drops; reasoning visibly degrades.</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Forgetting</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Earlier instructions silently fall away.</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3"/>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Conflicting edits</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Changes start fighting each other.</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4"/>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response</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to squeeze - or commit and /clear.</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HYGIENE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One task per session. Period.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session-hygiene rule that outranks every other tip.</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lo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Context degrades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Long sessions are meetings that never end.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x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Correction spiral</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Two failed fixes = poisoned context. Stop steering.</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rhythm</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/clear, next task. Every time.</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After two failed corrections, rewind or restart - arguing with the session never wins.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CASE STUDY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Case study: payment module</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Start</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clear task: add payment processing.</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Pivot</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Mid-session: 'also fix the auth bug'.</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Tangle</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Payment logic mixes with auth - neither works.</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Burn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Three hours debugging entangled changes.</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Lesson</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Revert. Two clean sessions. Thirty minutes each.</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1.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3 - NEW IN 2026</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Checkpoints: the rewind button</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recovery centerpiece of July 2026 - mistakes are now cheap.</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Double-tap Esc</a:t>
            </a:r>
            <a:r>
              <a:rPr sz="1400" b="0">
                <a:solidFill>
                  <a:srgbClr val="ACACB4"/>
                </a:solidFill>
                <a:latin typeface="Instrument Sans"/>
              </a:rPr>
              <a:t>  -  opens the rewind menu</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Choose scope</a:t>
            </a:r>
            <a:r>
              <a:rPr sz="1400" b="0">
                <a:solidFill>
                  <a:srgbClr val="ACACB4"/>
                </a:solidFill>
                <a:latin typeface="Instrument Sans"/>
              </a:rPr>
              <a:t>  -  restore conversation, code, or both</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Auto checkpoints</a:t>
            </a:r>
            <a:r>
              <a:rPr sz="1400" b="0">
                <a:solidFill>
                  <a:srgbClr val="ACACB4"/>
                </a:solidFill>
                <a:latin typeface="Instrument Sans"/>
              </a:rPr>
              <a:t>  -  created as Claude works - no setup</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FINE PRINT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Rewind: what comes back - what not</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Conversation</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Wind the chat back to any earlier turn.</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heck_2A2A30.png"/>
          <p:cNvPicPr>
            <a:picLocks noChangeAspect="1"/>
          </p:cNvPicPr>
          <p:nvPr/>
        </p:nvPicPr>
        <p:blipFill>
          <a:blip r:embed="rId2"/>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Claude's file edits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Code changes restore to the checkpoint.</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3"/>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Shell side effects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Installed packages, migrations, deleted data stay done.</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26B6B.png"/>
          <p:cNvPicPr>
            <a:picLocks noChangeAspect="1"/>
          </p:cNvPicPr>
          <p:nvPr/>
        </p:nvPicPr>
        <p:blipFill>
          <a:blip r:embed="rId3"/>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Remote state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Pushed commits and external API calls do not un-happen.</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4"/>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Checkpoints cover the session and Claude's edits - verify exact restore scope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recovery ladder</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Esc</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interrupt and redirect</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Rewind</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double-Esc, pick scope</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Compact</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squeeze, keep going</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Clear</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hard reset</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QUICK REFERENCE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Which lever, when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SITUATION</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REACH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Heading the wrong way</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Esc - stop and redirect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Last turns poisoned it</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Double-Esc - rewind convo, code, or both</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Long session, on track</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 summarize and continue</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Switching tasks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then /clear - fresh start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Rewind, or git revert?</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fresh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Rewind</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Claude's own recent missteps</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Nothing committed or shared yet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Restores session and code together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git revert / reset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Committed or pushed history</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Team-visible, auditable undo</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Damage older than your checkpoints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Interrupting: Esc early when direction is wrong; mid-edit, let it finish - half-applied changes cost more.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2: Next actions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Vague goals in, disappointment out.</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Don't</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everything wrong with this codebase.'</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the N+1 query in getUserPosts.'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Verify</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 is confident even when wrong - check it.</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'Almost right' is worse than clearly wrong - it passes review and breaks at 2 AM.</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sharp delegation</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Name the file and the pattern</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One ask per prompt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Tell it how to prove success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Add JWT auth to @auth.js following the middleware pattern in @payments.js. Run the auth tests to prove it.</a:t>
            </a:r>
          </a:p>
        </p:txBody>
      </p:sp>
      <p:sp>
        <p:nvSpPr>
          <p:cNvPr id="17" name="Rounded Rectangle 16"/>
          <p:cNvSpPr/>
          <p:nvPr/>
        </p:nvSpPr>
        <p:spPr>
          <a:xfrm>
            <a:off x="7040880" y="3735324"/>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8999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8816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119372"/>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POST /api/tasks returns 500. Read @src/routes/tasks.js, find the cause, fix only that, and show me the diff.</a:t>
            </a:r>
          </a:p>
        </p:txBody>
      </p:sp>
      <p:sp>
        <p:nvSpPr>
          <p:cNvPr id="21" name="Rectangle 2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3" name="TextBox 2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bloat, break, rewind</a:t>
            </a:r>
          </a:p>
        </p:txBody>
      </p:sp>
      <p:pic>
        <p:nvPicPr>
          <p:cNvPr id="4" name="Picture 3" descr="bg_5.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Overload a session on purpose</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Watch quality visibly degrade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Double-Esc - restore code and continue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1C: Precision Recovery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Break the dashboard on purpose - then get it back.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dashboard feature shipped after a deliberate bad detour.</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complete one full rewind cycle.</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Bad change rewound; rewind-vs-revert call made; /context checked twice.</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scope did you restore - conversation, code, or both? Why?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Context in two lines</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The whole block, compressed.</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Less context, better output - feed files, not folders.</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double-Esc costs less than three corrections.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3.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4 - 70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Commands, Cost &amp; Permissions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Power tools, price tags, and the safety model - then ship it.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COMMANDS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Daily-driver commands</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/init</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Generate the starter CLAUDE.md.</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/clear</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 reset between tasks.</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cale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/compact</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Compress a long session, keep the thread.</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See exactly where your tokens went.</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par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/model</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Switch models mid-session - escalate deliberately.</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check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/doctor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Diagnose and auto-fix the setup.</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Quality of life, July 2026</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Small features, daily payoff.</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a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/btw</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Side question answered without polluting the main context.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pps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 prefix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a shell command - Claude reads the output, no second prompt.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e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/keybindings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Remap everything - ~/.claude/keybindings.json.</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These ship in fast-moving weekly releases - re-verify exact behavior on delivery morning.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Build a human-invoked skill</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Skills are the current custom-workflow form</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disable-model-invocation: true keeps it explicit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$ARGUMENTS carries your input</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it for the team</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203911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160020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Create .claude/skills/review/SKILL.md with name, trigger description, disable-model-invocation: true, and Read/Grep/Glob only. Body: review $ARGUMENTS and return prioritized findings with file references.</a:t>
            </a:r>
          </a:p>
        </p:txBody>
      </p:sp>
      <p:sp>
        <p:nvSpPr>
          <p:cNvPr id="19" name="Rounded Rectangle 18"/>
          <p:cNvSpPr/>
          <p:nvPr/>
        </p:nvSpPr>
        <p:spPr>
          <a:xfrm>
            <a:off x="7040880" y="447141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463600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461772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485546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/review src/auth/login.ts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Spec quality = output quality</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Vague</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'Build me an API'</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guesses everything</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Three rounds, still wrong</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Clear</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Stack, endpoints, auth named</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Matches your mental model</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round of refinement</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Interview Me pattern</a:t>
            </a:r>
          </a:p>
        </p:txBody>
      </p:sp>
      <p:sp>
        <p:nvSpPr>
          <p:cNvPr id="4" name="Rounded Rectangle 3"/>
          <p:cNvSpPr/>
          <p:nvPr/>
        </p:nvSpPr>
        <p:spPr>
          <a:xfrm>
            <a:off x="640080"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Invite</a:t>
            </a:r>
          </a:p>
        </p:txBody>
      </p:sp>
      <p:sp>
        <p:nvSpPr>
          <p:cNvPr id="7" name="TextBox 6"/>
          <p:cNvSpPr txBox="1"/>
          <p:nvPr/>
        </p:nvSpPr>
        <p:spPr>
          <a:xfrm>
            <a:off x="914400"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 want to build X. Interview me first.'</a:t>
            </a:r>
          </a:p>
        </p:txBody>
      </p:sp>
      <p:sp>
        <p:nvSpPr>
          <p:cNvPr id="8" name="TextBox 7"/>
          <p:cNvSpPr txBox="1"/>
          <p:nvPr/>
        </p:nvSpPr>
        <p:spPr>
          <a:xfrm>
            <a:off x="3111246"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3458718"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33037"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733037"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Answer</a:t>
            </a:r>
          </a:p>
        </p:txBody>
      </p:sp>
      <p:sp>
        <p:nvSpPr>
          <p:cNvPr id="12" name="TextBox 11"/>
          <p:cNvSpPr txBox="1"/>
          <p:nvPr/>
        </p:nvSpPr>
        <p:spPr>
          <a:xfrm>
            <a:off x="3733037"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Claude asks what you had not thought through.</a:t>
            </a:r>
          </a:p>
        </p:txBody>
      </p:sp>
      <p:sp>
        <p:nvSpPr>
          <p:cNvPr id="13" name="TextBox 12"/>
          <p:cNvSpPr txBox="1"/>
          <p:nvPr/>
        </p:nvSpPr>
        <p:spPr>
          <a:xfrm>
            <a:off x="5929883"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6277356"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1676"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6551676"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Spec</a:t>
            </a:r>
          </a:p>
        </p:txBody>
      </p:sp>
      <p:sp>
        <p:nvSpPr>
          <p:cNvPr id="17" name="TextBox 16"/>
          <p:cNvSpPr txBox="1"/>
          <p:nvPr/>
        </p:nvSpPr>
        <p:spPr>
          <a:xfrm>
            <a:off x="6551676"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It writes spec.md from your answers.</a:t>
            </a:r>
          </a:p>
        </p:txBody>
      </p:sp>
      <p:sp>
        <p:nvSpPr>
          <p:cNvPr id="18" name="TextBox 17"/>
          <p:cNvSpPr txBox="1"/>
          <p:nvPr/>
        </p:nvSpPr>
        <p:spPr>
          <a:xfrm>
            <a:off x="8748522"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9095994"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70314"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9370314"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Execute</a:t>
            </a:r>
          </a:p>
        </p:txBody>
      </p:sp>
      <p:sp>
        <p:nvSpPr>
          <p:cNvPr id="22" name="TextBox 21"/>
          <p:cNvSpPr txBox="1"/>
          <p:nvPr/>
        </p:nvSpPr>
        <p:spPr>
          <a:xfrm>
            <a:off x="9370314"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Build from the spec - problems caught before code.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PERMISSIONS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Shift+Tab: the four modes</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ck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Default</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ask before acting</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en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AcceptEdits</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file edits auto-approved</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ist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explore before acting</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cket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Auto</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acts alone, guarded</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mode: guarded autonomy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Two protection layers plus hard guards.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y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1: inputs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An injection probe screens what enters the session.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cale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2: outputs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transcript classifier reviews what Claude did.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Hard guards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Asks before rm -rf on unresolved variables; blocks transcript tampering.</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Auto mode is powerful, not unattended - supervise it, and verify guard details at delivery.</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BLAST RADIUS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Auto mode: shrink the blast radius</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Contain the workspace</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Sandbox, container, or throwaway clone - not your only checkout.</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Starve it of secrets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No production credentials inside an Auto session.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x_E26B6B.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the deny list first</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With nobody watching, deny rules and guards are the only 'no'.</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cale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Size the damage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Assume every allowed action runs - grant accordingly.</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Sandboxing options vary by platform and policy - verify available isolation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RULES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deny, ask, allow</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x_E26B6B.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Deny - checked first</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matching deny always wins. Bash(rm -rf *), Read(.env).</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Ask - the default</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Anything unmatched prompts you for a decision.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Allow - pre-approved</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Bash(npm test), Bash(git *) - trusted and frictionless.</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ock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Where they live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settings.json arrays; managed settings lock org policy.</a:t>
            </a:r>
          </a:p>
        </p:txBody>
      </p:sp>
      <p:sp>
        <p:nvSpPr>
          <p:cNvPr id="24" name="Rounded Rectangle 2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nfo_4C8DF0.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Evaluation order is deny, then ask, then allow - a matching deny beats an explicit allow.</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4: Default to safe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posture that keeps permissions enabled.</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ck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Asks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When uncertain, Claude Code prompts. Safety over speed.</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Prompts are a feature</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Not friction - your review point.</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cale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Trust is earned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Start restrictive; loosen rule by rule.</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Know which meter you're on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USAGE PATH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CONTROL</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Subscription seat</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Rolling and weekly allowance shared across Claude surfaces; inspect /usage</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API or cloud provider</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Pay-per-token billing; use provider budgets and telemetry</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Headless / CI</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 --max-turns and --allowedTools; monitor each automation path</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Agent teams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Each teammate has its own context, so usage scales with active teammates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GIT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Git to PR, all from chat</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ye_2A2A30.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See changes</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have I modified?' - status and diff in plain English.</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Commit</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Staged with a generated, descriptive message.</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Branch</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switch, merge - conflicts included.</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ocket_2A2A30.png"/>
          <p:cNvPicPr>
            <a:picLocks noChangeAspect="1"/>
          </p:cNvPicPr>
          <p:nvPr/>
        </p:nvPicPr>
        <p:blipFill>
          <a:blip r:embed="rId5"/>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Pull request</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a PR' - description written from your commits.</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heck_2A2A30.png"/>
          <p:cNvPicPr>
            <a:picLocks noChangeAspect="1"/>
          </p:cNvPicPr>
          <p:nvPr/>
        </p:nvPicPr>
        <p:blipFill>
          <a:blip r:embed="rId6"/>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CI</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Reads failing checks and proposes the fix.</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ship with receipts</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Agent-assisted review before commit</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message written from the diff</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PR description written from the commits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1750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736092"/>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Review the staged diff like a skeptical senior engineer: flag risky changes, missed edge cases, and anything unrelated to this task.</a:t>
            </a:r>
          </a:p>
        </p:txBody>
      </p:sp>
      <p:sp>
        <p:nvSpPr>
          <p:cNvPr id="17" name="Rounded Rectangle 16"/>
          <p:cNvSpPr/>
          <p:nvPr/>
        </p:nvSpPr>
        <p:spPr>
          <a:xfrm>
            <a:off x="7040880" y="3607308"/>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77190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753611"/>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991356"/>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Commit with a message that says what changed and why, following our commit format.</a:t>
            </a:r>
          </a:p>
        </p:txBody>
      </p:sp>
      <p:sp>
        <p:nvSpPr>
          <p:cNvPr id="21" name="Rounded Rectangle 20"/>
          <p:cNvSpPr/>
          <p:nvPr/>
        </p:nvSpPr>
        <p:spPr>
          <a:xfrm>
            <a:off x="7040880" y="4725924"/>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8905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8722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5109972"/>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Open a PR. Build the description from the commits: summary, key changes, and how it was tested.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ENGINEERING BAR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No verifier, no agent</a:t>
            </a:r>
          </a:p>
        </p:txBody>
      </p:sp>
      <p:sp>
        <p:nvSpPr>
          <p:cNvPr id="4" name="Rounded Rectangle 3"/>
          <p:cNvSpPr/>
          <p:nvPr/>
        </p:nvSpPr>
        <p:spPr>
          <a:xfrm>
            <a:off x="640080" y="1828800"/>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24332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st_2A2A30.png"/>
          <p:cNvPicPr>
            <a:picLocks noChangeAspect="1"/>
          </p:cNvPicPr>
          <p:nvPr/>
        </p:nvPicPr>
        <p:blipFill>
          <a:blip r:embed="rId2"/>
          <a:stretch>
            <a:fillRect/>
          </a:stretch>
        </p:blipFill>
        <p:spPr>
          <a:xfrm>
            <a:off x="1014984" y="2380488"/>
            <a:ext cx="292608" cy="292608"/>
          </a:xfrm>
          <a:prstGeom prst="rect">
            <a:avLst/>
          </a:prstGeom>
        </p:spPr>
      </p:pic>
      <p:sp>
        <p:nvSpPr>
          <p:cNvPr id="7" name="TextBox 6"/>
          <p:cNvSpPr txBox="1"/>
          <p:nvPr/>
        </p:nvSpPr>
        <p:spPr>
          <a:xfrm>
            <a:off x="1591056" y="1828800"/>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Three levels</a:t>
            </a:r>
          </a:p>
        </p:txBody>
      </p:sp>
      <p:sp>
        <p:nvSpPr>
          <p:cNvPr id="8" name="TextBox 7"/>
          <p:cNvSpPr txBox="1"/>
          <p:nvPr/>
        </p:nvSpPr>
        <p:spPr>
          <a:xfrm>
            <a:off x="4434840" y="1828800"/>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Exit codes and tests; integration checks; production signals.</a:t>
            </a:r>
          </a:p>
        </p:txBody>
      </p:sp>
      <p:sp>
        <p:nvSpPr>
          <p:cNvPr id="9" name="Rounded Rectangle 8"/>
          <p:cNvSpPr/>
          <p:nvPr/>
        </p:nvSpPr>
        <p:spPr>
          <a:xfrm>
            <a:off x="640080" y="3371088"/>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target_2A2A30.png"/>
          <p:cNvPicPr>
            <a:picLocks noChangeAspect="1"/>
          </p:cNvPicPr>
          <p:nvPr/>
        </p:nvPicPr>
        <p:blipFill>
          <a:blip r:embed="rId3"/>
          <a:stretch>
            <a:fillRect/>
          </a:stretch>
        </p:blipFill>
        <p:spPr>
          <a:xfrm>
            <a:off x="1014984" y="3922776"/>
            <a:ext cx="292608" cy="292608"/>
          </a:xfrm>
          <a:prstGeom prst="rect">
            <a:avLst/>
          </a:prstGeom>
        </p:spPr>
      </p:pic>
      <p:sp>
        <p:nvSpPr>
          <p:cNvPr id="12" name="TextBox 11"/>
          <p:cNvSpPr txBox="1"/>
          <p:nvPr/>
        </p:nvSpPr>
        <p:spPr>
          <a:xfrm>
            <a:off x="1591056" y="3371088"/>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test</a:t>
            </a:r>
          </a:p>
        </p:txBody>
      </p:sp>
      <p:sp>
        <p:nvSpPr>
          <p:cNvPr id="13" name="TextBox 12"/>
          <p:cNvSpPr txBox="1"/>
          <p:nvPr/>
        </p:nvSpPr>
        <p:spPr>
          <a:xfrm>
            <a:off x="4434840" y="3371088"/>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Can you say how Claude knows it is done? If not, do not automate it.</a:t>
            </a:r>
          </a:p>
        </p:txBody>
      </p:sp>
      <p:sp>
        <p:nvSpPr>
          <p:cNvPr id="14" name="Rounded Rectangle 13"/>
          <p:cNvSpPr/>
          <p:nvPr/>
        </p:nvSpPr>
        <p:spPr>
          <a:xfrm>
            <a:off x="640080" y="4913376"/>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53279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n_2A2A30.png"/>
          <p:cNvPicPr>
            <a:picLocks noChangeAspect="1"/>
          </p:cNvPicPr>
          <p:nvPr/>
        </p:nvPicPr>
        <p:blipFill>
          <a:blip r:embed="rId4"/>
          <a:stretch>
            <a:fillRect/>
          </a:stretch>
        </p:blipFill>
        <p:spPr>
          <a:xfrm>
            <a:off x="1014984" y="5465064"/>
            <a:ext cx="292608" cy="292608"/>
          </a:xfrm>
          <a:prstGeom prst="rect">
            <a:avLst/>
          </a:prstGeom>
        </p:spPr>
      </p:pic>
      <p:sp>
        <p:nvSpPr>
          <p:cNvPr id="17" name="TextBox 16"/>
          <p:cNvSpPr txBox="1"/>
          <p:nvPr/>
        </p:nvSpPr>
        <p:spPr>
          <a:xfrm>
            <a:off x="1591056" y="4913376"/>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 this</a:t>
            </a:r>
          </a:p>
        </p:txBody>
      </p:sp>
      <p:sp>
        <p:nvSpPr>
          <p:cNvPr id="18" name="TextBox 17"/>
          <p:cNvSpPr txBox="1"/>
          <p:nvPr/>
        </p:nvSpPr>
        <p:spPr>
          <a:xfrm>
            <a:off x="4434840" y="4913376"/>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Define acceptance criteria before the task, not after.</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Auto mode, guarded</a:t>
            </a:r>
          </a:p>
        </p:txBody>
      </p:sp>
      <p:pic>
        <p:nvPicPr>
          <p:cNvPr id="4" name="Picture 3" descr="bg_5.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Shift+Tab to Auto on a safe task</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Trip a guardrail - watch it stop and ask</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A deny rule blocks even an allowed command</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1D: Ship It</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dashboard leaves your machine tonight.</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Dashboard tests green, committed, PR open for review.</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25 minutes. If behind: a reviewed diff and a clean agent-written commit.</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Permission rule set; diff reviewed; agent-written commit and PR.</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What did the diff review catch that you would have missed?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5.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5 - 20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Wrap-Up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What you learned, what breaks, and what happens tonight.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you learned today</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Setup</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 approved identity, live default verified with /model.</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Five stages Claude runs on its own.</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Memory</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CLAUDE.md plus auto memory - taught once, kept forever.</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@-mentions, one task per session, rewind recovery.</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Four modes, deny-ask-allow, priced sessions.</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hare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Shipping</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Git to PR without leaving the conversation.</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PITFALLS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mistakes, five fixes</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MISTAKE</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FIX</a:t>
            </a:r>
          </a:p>
        </p:txBody>
      </p:sp>
      <p:sp>
        <p:nvSpPr>
          <p:cNvPr id="7" name="Rectangle 6"/>
          <p:cNvSpPr/>
          <p:nvPr/>
        </p:nvSpPr>
        <p:spPr>
          <a:xfrm>
            <a:off x="640080" y="2423160"/>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Context overflow</a:t>
            </a:r>
          </a:p>
        </p:txBody>
      </p:sp>
      <p:sp>
        <p:nvSpPr>
          <p:cNvPr id="10" name="TextBox 9"/>
          <p:cNvSpPr txBox="1"/>
          <p:nvPr/>
        </p:nvSpPr>
        <p:spPr>
          <a:xfrm>
            <a:off x="3383280" y="2423160"/>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/clear between tasks; feed files, not folders</a:t>
            </a:r>
          </a:p>
        </p:txBody>
      </p:sp>
      <p:sp>
        <p:nvSpPr>
          <p:cNvPr id="11" name="Rectangle 10"/>
          <p:cNvSpPr/>
          <p:nvPr/>
        </p:nvSpPr>
        <p:spPr>
          <a:xfrm>
            <a:off x="640080" y="3191256"/>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191256"/>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91256"/>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Correction spirals</a:t>
            </a:r>
          </a:p>
        </p:txBody>
      </p:sp>
      <p:sp>
        <p:nvSpPr>
          <p:cNvPr id="14" name="TextBox 13"/>
          <p:cNvSpPr txBox="1"/>
          <p:nvPr/>
        </p:nvSpPr>
        <p:spPr>
          <a:xfrm>
            <a:off x="3383280" y="3191256"/>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Two fails - rewind or restart, never argue</a:t>
            </a:r>
          </a:p>
        </p:txBody>
      </p:sp>
      <p:sp>
        <p:nvSpPr>
          <p:cNvPr id="15" name="Rectangle 14"/>
          <p:cNvSpPr/>
          <p:nvPr/>
        </p:nvSpPr>
        <p:spPr>
          <a:xfrm>
            <a:off x="640080" y="3959352"/>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3959352"/>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959352"/>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Forgotten rules</a:t>
            </a:r>
          </a:p>
        </p:txBody>
      </p:sp>
      <p:sp>
        <p:nvSpPr>
          <p:cNvPr id="18" name="TextBox 17"/>
          <p:cNvSpPr txBox="1"/>
          <p:nvPr/>
        </p:nvSpPr>
        <p:spPr>
          <a:xfrm>
            <a:off x="3383280" y="3959352"/>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Said it twice? Put it in CLAUDE.md</a:t>
            </a:r>
          </a:p>
        </p:txBody>
      </p:sp>
      <p:sp>
        <p:nvSpPr>
          <p:cNvPr id="19" name="Rectangle 18"/>
          <p:cNvSpPr/>
          <p:nvPr/>
        </p:nvSpPr>
        <p:spPr>
          <a:xfrm>
            <a:off x="640080" y="4727448"/>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4727448"/>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727448"/>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Scope creep</a:t>
            </a:r>
          </a:p>
        </p:txBody>
      </p:sp>
      <p:sp>
        <p:nvSpPr>
          <p:cNvPr id="22" name="TextBox 21"/>
          <p:cNvSpPr txBox="1"/>
          <p:nvPr/>
        </p:nvSpPr>
        <p:spPr>
          <a:xfrm>
            <a:off x="3383280" y="4727448"/>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task per session - commit, /clear, next</a:t>
            </a:r>
          </a:p>
        </p:txBody>
      </p:sp>
      <p:sp>
        <p:nvSpPr>
          <p:cNvPr id="23" name="Rectangle 22"/>
          <p:cNvSpPr/>
          <p:nvPr/>
        </p:nvSpPr>
        <p:spPr>
          <a:xfrm>
            <a:off x="640080" y="5495544"/>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5495544"/>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495544"/>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Vibe coding</a:t>
            </a:r>
          </a:p>
        </p:txBody>
      </p:sp>
      <p:sp>
        <p:nvSpPr>
          <p:cNvPr id="26" name="TextBox 25"/>
          <p:cNvSpPr txBox="1"/>
          <p:nvPr/>
        </p:nvSpPr>
        <p:spPr>
          <a:xfrm>
            <a:off x="3383280" y="5495544"/>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Spec first; plan mode for anything complex</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THE ARC</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three-day journey</a:t>
            </a:r>
          </a:p>
        </p:txBody>
      </p:sp>
      <p:sp>
        <p:nvSpPr>
          <p:cNvPr id="4" name="Rounded Rectangle 3"/>
          <p:cNvSpPr/>
          <p:nvPr/>
        </p:nvSpPr>
        <p:spPr>
          <a:xfrm>
            <a:off x="640080"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1: Drive</a:t>
            </a:r>
          </a:p>
        </p:txBody>
      </p:sp>
      <p:sp>
        <p:nvSpPr>
          <p:cNvPr id="7" name="TextBox 6"/>
          <p:cNvSpPr txBox="1"/>
          <p:nvPr/>
        </p:nvSpPr>
        <p:spPr>
          <a:xfrm>
            <a:off x="914400"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agent, driven well - loop, memory, context, guardrails.</a:t>
            </a:r>
          </a:p>
        </p:txBody>
      </p:sp>
      <p:sp>
        <p:nvSpPr>
          <p:cNvPr id="8" name="TextBox 7"/>
          <p:cNvSpPr txBox="1"/>
          <p:nvPr/>
        </p:nvSpPr>
        <p:spPr>
          <a:xfrm>
            <a:off x="4050791"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4398264"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72583"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4672583"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2: Teach</a:t>
            </a:r>
          </a:p>
        </p:txBody>
      </p:sp>
      <p:sp>
        <p:nvSpPr>
          <p:cNvPr id="12" name="TextBox 11"/>
          <p:cNvSpPr txBox="1"/>
          <p:nvPr/>
        </p:nvSpPr>
        <p:spPr>
          <a:xfrm>
            <a:off x="4672583"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Skills, hooks, invocation controls, plugins - your standards.</a:t>
            </a:r>
          </a:p>
        </p:txBody>
      </p:sp>
      <p:sp>
        <p:nvSpPr>
          <p:cNvPr id="13" name="TextBox 12"/>
          <p:cNvSpPr txBox="1"/>
          <p:nvPr/>
        </p:nvSpPr>
        <p:spPr>
          <a:xfrm>
            <a:off x="7808975"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8156447"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30767"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8430767"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3: Multiply</a:t>
            </a:r>
          </a:p>
        </p:txBody>
      </p:sp>
      <p:sp>
        <p:nvSpPr>
          <p:cNvPr id="17" name="TextBox 16"/>
          <p:cNvSpPr txBox="1"/>
          <p:nvPr/>
        </p:nvSpPr>
        <p:spPr>
          <a:xfrm>
            <a:off x="8430767"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MCP, subagents, agent teams, headless CI/CD.</a:t>
            </a:r>
          </a:p>
        </p:txBody>
      </p:sp>
      <p:sp>
        <p:nvSpPr>
          <p:cNvPr id="18" name="Rectangle 1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0" name="TextBox 1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TONIGHT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Homework (optional)</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Twenty minutes tonight locks in the day.</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Real CLAUDE.md</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/init on your actual project; trim to the essentials.</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en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explicit skill</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Create a human-invoked /workflow you will really use.</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rewind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Practice a deliberate double-Esc recovery on real work.</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CLOSING THOUGHT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Leave with these</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Day 1 in two sentences.</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Small, frequent, actionable - the loop rewards discipline.</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Specs beat vibes. Verify beats trust.</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6.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WRAP-UP</a:t>
            </a:r>
          </a:p>
        </p:txBody>
      </p:sp>
      <p:sp>
        <p:nvSpPr>
          <p:cNvPr id="5" name="TextBox 4"/>
          <p:cNvSpPr txBox="1"/>
          <p:nvPr/>
        </p:nvSpPr>
        <p:spPr>
          <a:xfrm>
            <a:off x="621792" y="914400"/>
            <a:ext cx="6949440" cy="1280160"/>
          </a:xfrm>
          <a:prstGeom prst="rect">
            <a:avLst/>
          </a:prstGeom>
          <a:noFill/>
        </p:spPr>
        <p:txBody>
          <a:bodyPr wrap="square" anchor="t">
            <a:spAutoFit/>
          </a:bodyPr>
          <a:lstStyle/>
          <a:p>
            <a:pPr algn="l">
              <a:lnSpc>
                <a:spcPct val="100000"/>
              </a:lnSpc>
              <a:spcBef>
                <a:spcPts val="0"/>
              </a:spcBef>
              <a:spcAft>
                <a:spcPts val="200"/>
              </a:spcAft>
            </a:pPr>
            <a:r>
              <a:rPr sz="3800" b="1">
                <a:solidFill>
                  <a:srgbClr val="F5F5F6"/>
                </a:solidFill>
                <a:latin typeface="Instrument Sans"/>
              </a:rPr>
              <a:t>See you tomorrow</a:t>
            </a:r>
          </a:p>
        </p:txBody>
      </p:sp>
      <p:sp>
        <p:nvSpPr>
          <p:cNvPr id="6" name="Rectangle 5"/>
          <p:cNvSpPr/>
          <p:nvPr/>
        </p:nvSpPr>
        <p:spPr>
          <a:xfrm>
            <a:off x="64008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Tonight</a:t>
            </a:r>
          </a:p>
        </p:txBody>
      </p:sp>
      <p:sp>
        <p:nvSpPr>
          <p:cNvPr id="8" name="TextBox 7"/>
          <p:cNvSpPr txBox="1"/>
          <p:nvPr/>
        </p:nvSpPr>
        <p:spPr>
          <a:xfrm>
            <a:off x="64008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Homework: /init your real project, build one human-invoked skill, practice one rewind. Apply one habit to real work and bring questions.</a:t>
            </a:r>
          </a:p>
        </p:txBody>
      </p:sp>
      <p:sp>
        <p:nvSpPr>
          <p:cNvPr id="9" name="Rectangle 8"/>
          <p:cNvSpPr/>
          <p:nvPr/>
        </p:nvSpPr>
        <p:spPr>
          <a:xfrm>
            <a:off x="420624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4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Tomorrow</a:t>
            </a:r>
          </a:p>
        </p:txBody>
      </p:sp>
      <p:sp>
        <p:nvSpPr>
          <p:cNvPr id="11" name="TextBox 10"/>
          <p:cNvSpPr txBox="1"/>
          <p:nvPr/>
        </p:nvSpPr>
        <p:spPr>
          <a:xfrm>
            <a:off x="420624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Day 2 - teach Claude your standards: skills, hooks, invocation control, and governed plugins.</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AIA Training Factory 2026.06</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