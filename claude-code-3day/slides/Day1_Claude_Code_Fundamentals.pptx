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these three sessions - today, Wednesday the nineteenth, and Wednesday the twenty-sixth -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a:p/>
          <a:p>
            <a:r>
              <a:t>RUN SHEET GOVERNS THE CLOCK: DAY1_RUN_SHEET.md is the wall-clock authority for today; the per-slide times in these notes are the older plan and run early. Run sheet: install stop 9:15-9:35, first run 9:35, Block 1 content to 10:30, BREAK 10:30-10:40, demo 10:40-11:00, Lab 1A 11:00-11:40, Block 2 starts 11:40, LUNCH 12:10-12:55, Block 2 finish + /init demo + Lab 1B 12:55-1:35, Block 3 + Lab 1C 1:35-2:35, BREAK 2:35-2:45, Block 4 + Lab 1D 2:45-3:35, closing 3:35-4:00. Slide ORDER is identical in both plans - only the clock moves.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verify the feature end to end,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INSTALL STOP - the longest pause of the morning, budget 15-20 minutes ***</a:t>
            </a:r>
          </a:p>
          <a:p>
            <a:r>
              <a:t>Everyone installs here, together, before anything else happens. Do not move on with people broken - the whole day compounds from this slide.</a:t>
            </a:r>
          </a:p>
          <a:p>
            <a:r>
              <a:t>Put Lab 0 on screen or tell them to open the PDF and follow along; you drive on the projector and they mirror you.</a:t>
            </a:r>
          </a:p>
          <a:p>
            <a:r>
              <a:t>ORDER: extension first (Extensions panel, search Claude Code, publisher Anthropic - one click, cannot be blocked by shell policy), then the standalone CLI from the table.</a:t>
            </a:r>
          </a:p>
          <a:p>
            <a:r>
              <a:t>While they work: walk the room. This is your best chance all day to learn names and see who is fast and who is stuck - you will use that later when you need someone to answer a question.</a:t>
            </a:r>
          </a:p>
          <a:p>
            <a:r>
              <a:t>Call a hard time. When you say five minutes left, mean it. Anyone still broken pairs with a neighbour and you fix it at the break.</a:t>
            </a:r>
          </a:p>
          <a:p/>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(9:35, 6 min) FOLLOW ALONG - first run, everyone together</a:t>
            </a:r>
          </a:p>
          <a:p/>
          <a:p>
            <a:r>
              <a:t>STEP 0 - THE FOLDER, do this before anything else</a:t>
            </a:r>
          </a:p>
          <a:p>
            <a:r>
              <a:t>Nobody has a workspace yet, and Claude writes files into whatever folder is open. If they start with no folder, hello.md lands in their home directory - the exact mistake we warn about later today. So make the folder first, and say why in one line: "Claude works inside the folder you open. Let's give it one."</a:t>
            </a:r>
          </a:p>
          <a:p>
            <a:r>
              <a:t>SAY THIS TOO, it saves confusion at 11 o'clock: "This one folder is your workspace for all three days. Everything you build in the labs goes here. You will not need to create another one." One folder, opened once, never switched - that is deliberate. Switching workspaces mid-morning changes the Claude session and half the room gets lost.</a:t>
            </a:r>
          </a:p>
          <a:p/>
          <a:p>
            <a:r>
              <a:t>Two ways, tell them to pick either:</a:t>
            </a:r>
          </a:p>
          <a:p>
            <a:r>
              <a:t>- VS Code: File, Open Folder, then create a new folder called claude-code-training and open it.</a:t>
            </a:r>
          </a:p>
          <a:p>
            <a:r>
              <a:t>- Terminal: mkdir claude-code-training then cd claude-code-training then open that folder in VS Code.</a:t>
            </a:r>
          </a:p>
          <a:p/>
          <a:p>
            <a:r>
              <a:t>POINT AT LAB 0 HERE</a:t>
            </a:r>
          </a:p>
          <a:p>
            <a:r>
              <a:t>Say it out loud: "Lab 0 in your materials is the written version of everything we are doing right now - installing, this folder, these three lines. If you fall behind at any point today, that document catches you up. You do not need to read it now; you need to know it exists."</a:t>
            </a:r>
          </a:p>
          <a:p/>
          <a:p>
            <a:r>
              <a:t>THEN THE THREE LINES</a:t>
            </a:r>
          </a:p>
          <a:p>
            <a:r>
              <a:t>Line 1 - claude. Starts it and triggers sign-in with the organization identity. Do NOT say "claude auth login" - that is not the flow and it is not what Lab 0 says.</a:t>
            </a:r>
          </a:p>
          <a:p>
            <a:r>
              <a:t>Line 2 - /model. Confirm Sonnet 5. Say why: if their model differs from mine, their output differs from mine all day and we chase a difference that is not real.</a:t>
            </a:r>
          </a:p>
          <a:p>
            <a:r>
              <a:t>Line 3 - the actual test: "Create hello.md with one line explaining what Claude Code is, then tell me what you did."</a:t>
            </a:r>
          </a:p>
          <a:p>
            <a:r>
              <a:t>Notice what that is NOT: it is not a question. I asked it to DO something and report back. First interaction should be an action, not a conversation. That distinction is the whole course in one line.</a:t>
            </a:r>
          </a:p>
          <a:p/>
          <a:p>
            <a:r>
              <a:t>WARN THEM BEFORE THEY PASTE LINE 3</a:t>
            </a:r>
          </a:p>
          <a:p>
            <a:r>
              <a:t>It will ask permission before writing the file. Say so in advance: "You are about to get an approval prompt. Click accept. You will get a lot of these today - that is deliberate, and this afternoon you learn how to stop answering the same one fifty times." That sentence pre-frames Block 4.</a:t>
            </a:r>
          </a:p>
          <a:p/>
          <a:p>
            <a:r>
              <a:t>THE GATE</a:t>
            </a:r>
          </a:p>
          <a:p>
            <a:r>
              <a:t>hello.md appears in their file tree and Claude says what it did. That proves four things at once - install works, authenticated, model responding, and it can write to their workspace. Nothing else needs checking.</a:t>
            </a:r>
          </a:p>
          <a:p/>
          <a:p>
            <a:r>
              <a:t>IF SOMEONE FAILS</a:t>
            </a:r>
          </a:p>
          <a:p>
            <a:r>
              <a:t>Do not debug in front of the room. Pair them with a neighbour, note the name, fix it at the break.</a:t>
            </a:r>
          </a:p>
          <a:p/>
          <a:p>
            <a:r>
              <a:t>ASK: [CRESCENDO L1] Thumbs up in chat when hello.md shows up in your file tree. expect: a wave of thumbs - your green light. IF NOBODY ANSWERS: flip it - "anyone NOT see the file?" - the negative question gets an answer when the positive one does not.</a:t>
            </a:r>
          </a:p>
          <a:p/>
          <a:p>
            <a:r>
              <a:t>SAY-NEXT: Everyone has a file they did not write. Now let's look at where you are actually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WHICH REPO - MINE: the status-service demo repo shipped in Demo/status-service, copied to C:\aia-demo\status-service. Nobody in the room has built anything yet; every prompt below runs on your copy.</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Make it a git repo - the shipped folder has NO .git: git init &amp;&amp; git add -A &amp;&amp; git commit -m "baseline". Two later demos depend on this (the 1:38 rewind fallback runs git checkout ., and the 3:09 deny-rule beat needs a real branch to push).</a:t>
            </a:r>
          </a:p>
          <a:p>
            <a:r>
              <a:t>- Open THAT folder in VS Code (code . from your configured terminal), trust it when prompted, Claude panel visible</a:t>
            </a:r>
          </a:p>
          <a:p>
            <a:r>
              <a:t>- Put the prompt below on your clipboard</a:t>
            </a:r>
          </a:p>
          <a:p/>
          <a:p>
            <a:r>
              <a:t>STEP 1 - ONE HONEST SENTENCE (10 sec)</a:t>
            </a:r>
          </a:p>
          <a:p>
            <a:r>
              <a:t>You are demoing on your own machine with your own setup, which is fine. Do not stage a clean profile - that is one more thing to break at 9am. Just say this once:</a:t>
            </a:r>
          </a:p>
          <a:p>
            <a:r>
              <a:t>"My setup has more loaded into it than yours does - I use this daily for my own business. If you ever see something on my screen that you do not have, stop me and say so. That is useful information, not a distraction."</a:t>
            </a:r>
          </a:p>
          <a:p>
            <a:r>
              <a:t>That is the whole disclosure. It sets the expectation, invites the correction, and costs you ten seconds instead of ninety.</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start-up or syntax error it read and fixed itself, a missing dependency installed autonomously. Nothing in this build creates a test suite - do not fish for "a failing test it fixed".</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RUN-SHEET POSITION: on the run sheet this break falls at 10:30 BEFORE the demo and Lab 1A, i.e. earlier in the deck than this slide sits. Take the break when the clock says 10:30, then come back to the demo slide.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5 min) PRINCIPLE 3 - route, don't pile</a:t>
            </a:r>
          </a:p>
          <a:p/>
          <a:p>
            <a:r>
              <a:t>THE ANTI-PATTERN</a:t>
            </a:r>
          </a:p>
          <a:p>
            <a:r>
              <a:t>One five-hundred-line CLAUDE.md where half the instructions get quietly ignored, because past a certain size the file dilutes itself. This is the most common failure with these files, and it happens gradually - nobody writes a bloated file on purpose.</a:t>
            </a:r>
          </a:p>
          <a:p/>
          <a:p>
            <a:r>
              <a:t>ROUTE BY TOPIC - .claude/rules/</a:t>
            </a:r>
          </a:p>
          <a:p>
            <a:r>
              <a:t>A lean core CLAUDE.md, plus topic files under .claude/rules/. Give them concrete examples so it is not abstract:</a:t>
            </a:r>
          </a:p>
          <a:p>
            <a:r>
              <a:t>- testing.md - which framework, where tests live, what coverage you expect, "never mock the database"</a:t>
            </a:r>
          </a:p>
          <a:p>
            <a:r>
              <a:t>- api.md - error response shape, status code conventions, versioning rules</a:t>
            </a:r>
          </a:p>
          <a:p>
            <a:r>
              <a:t>- security.md - never log PII, never read from .env, where secrets actually live</a:t>
            </a:r>
          </a:p>
          <a:p>
            <a:r>
              <a:t>- style.md - the conventions your linter cannot express</a:t>
            </a:r>
          </a:p>
          <a:p>
            <a:r>
              <a:t>The core file stays short and says what is always true; the rules files carry the detail that only matters sometimes.</a:t>
            </a:r>
          </a:p>
          <a:p/>
          <a:p>
            <a:r>
              <a:t>ROUTE BY FOLDER - and this is the one most people do not know</a:t>
            </a:r>
          </a:p>
          <a:p>
            <a:r>
              <a:t>You can put a CLAUDE.md inside a subfolder, and Claude only loads it when it reads a file in that subtree. It costs you nothing until the agent goes there. So in a monorepo: one at the root for what is true everywhere, one in services/payments for the payment rules, one in apps/web for frontend conventions. Each team owns their own file, nobody pays for anyone else's.</a:t>
            </a:r>
          </a:p>
          <a:p>
            <a:r>
              <a:t>Say the mechanic plainly because it is the interesting part: files above your working directory load at launch, files below it load on demand. That is free scoping - you are not choosing what to include, the agent's own reading decides.</a:t>
            </a:r>
          </a:p>
          <a:p>
            <a:r>
              <a:t>For this room, the honest version: your repos are probably not monorepos yet, so you may not need this today. Know it exists, because the moment one repo serves two teams, this is the answer.</a:t>
            </a:r>
          </a:p>
          <a:p/>
          <a:p>
            <a:r>
              <a:t>ALSO WORTH ONE LINE</a:t>
            </a:r>
          </a:p>
          <a:p>
            <a:r>
              <a:t>CLAUDE.local.md - personal overrides, gitignored, your preferences without polluting the team file.</a:t>
            </a:r>
          </a:p>
          <a:p/>
          <a:p>
            <a:r>
              <a:t>THE GOVERNANCE WARNING - read the strip on the previous slide's theme</a:t>
            </a:r>
          </a:p>
          <a:p>
            <a:r>
              <a:t>Review CLAUDE.md diffs in pull requests like any shared config, and give the file one named audit owner. The failure mode is real: somebody adds a hotfix line after a frustrating session, nobody reviews it, and six months later the file is the pile again.</a:t>
            </a:r>
          </a:p>
          <a:p/>
          <a:p>
            <a:r>
              <a:t>ASK: [CRESCENDO L3] Three words or less - what is the first rules file your team would write? expect: testing, security, API conventions. IF NOBODY ANSWERS: count to five, say "testing, every time", and move.</a:t>
            </a:r>
          </a:p>
          <a:p/>
          <a:p>
            <a:r>
              <a:t>SAY-NEXT: That is how you keep it lean. Now - the file you never write yourself. (verify at delivery - nested loading behavior is documented but worth a sanity check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USEFUL ASIDE, keep it short: everything in the user layer lives in one directory, and there is an environment variable - CLAUDE_CONFIG_DIR - that points Claude Code at a different one. That is how you get a clean profile for testing, or a separate setup per client. Mention it, do not dwell: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Before you write your own file, there are four behavioral lines that belong in every CLAUDE.md - here they are.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 </a:t>
            </a:r>
          </a:p>
          <a:p/>
          <a:p>
            <a:r>
              <a:t>LAYOUT NOTE: these are on the slide to be READ, not copied off the projector. The exact four lines are in their CLAUDE.md Templates handout and in Lab 1B - point at the handout when you say 'paste these'. The bracketed failure mode after each rule is the pairing: read the rule, then name the failure it kills.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(11:17, 9 min) DEMO - /init and auto memory</a:t>
            </a:r>
          </a:p>
          <a:p/>
          <a:p>
            <a:r>
              <a:t>WHICH REPO - MINE: status-service at C:\aia-demo\status-service, the same copy from the 9:55 demo. NOT their dashboard - they build memory into that themselves in Lab 1B.</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status-service open in a FRESH Claude Code session in the VS Code Claude Code panel (there is no "Lab 1A status-service" - Lab 1A is their dashboard, this is your demo repo)</a:t>
            </a:r>
          </a:p>
          <a:p>
            <a:r>
              <a:t>- status-service ships a real CLAUDE.md and the 9:55 demo depends on it. Do NOT delete it: rename it to CLAUDE.md.bak before class so /init has something to do, then restore the name afterwards (or let the file /init writes stand).</a:t>
            </a:r>
          </a:p>
          <a:p>
            <a:r>
              <a:t>- This run card on the second screen</a:t>
            </a:r>
          </a:p>
          <a:p>
            <a:r>
              <a:t>- On your clipboard: Remember: in this service every error response must include a "code" field alongside "error". Save that so you never omit it.</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in this service every error response must include a 'code' field alongside 'error'. Save that so you never omit it."</a:t>
            </a:r>
          </a:p>
          <a:p>
            <a:r>
              <a:t>Why this rule and not a zod rule: status-service has zero dependencies by design and its own CLAUDE.md forbids adding packages, so "validate with zod" gets refused or breaks the repo. This rule needs nothing installed, and server.js already has one error shape to extend - the 404 in the fallthrough.</a:t>
            </a:r>
          </a:p>
          <a:p/>
          <a:p>
            <a:r>
              <a:t>STEP 4 - RESTART, THEN PROVE IT STUCK</a:t>
            </a:r>
          </a:p>
          <a:p>
            <a:r>
              <a:t>Restart the session completely - new session, blank short-term memory. Say that out loud so nobody thinks it is still sitting in the chat history. Then ask: "Add a GET /api/orders/:id endpoint that returns one order, or 404 if the id is unknown." Watch the 404 come back carrying a code field nobody asked for. Then run /memory and show them where the note actually lives.</a:t>
            </a:r>
          </a:p>
          <a:p/>
          <a:p>
            <a:r>
              <a:t>EXPECTED</a:t>
            </a:r>
          </a:p>
          <a:p>
            <a:r>
              <a:t>A lean CLAUDE.md under one screenful, and the taught rule surviving a restart - a code field showing up in an error response nobody asked to shape.</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 </a:t>
            </a:r>
          </a:p>
          <a:p/>
          <a:p>
            <a:r>
              <a:t>REPO NOTE: use YOUR status-service, not their dashboard - you will not have built one. The CLAUDE.md.bak rename is in BEFORE CLASS above; letting /init regenerate the file live is the better demo.</a:t>
            </a:r>
          </a:p>
          <a:p/>
          <a:p>
            <a:r>
              <a:t>WHAT THIS DEMO DELIBERATELY LEAVES FOR THEM</a:t>
            </a:r>
          </a:p>
          <a:p>
            <a:r>
              <a:t>You show /init and the correction loop on your repo. You do NOT show HANDOFF.md - that is the next slide, where they do it on their own dashboard. Say so as you finish: 'that is two of the three memory moves. The third one you are going to do yourselves in about a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(11:26, 6 min) YOUR TURN - the two memory moves, on their own repo</a:t>
            </a:r>
          </a:p>
          <a:p/>
          <a:p>
            <a:r>
              <a:t>WHERE THEY ARE</a:t>
            </a:r>
          </a:p>
          <a:p>
            <a:r>
              <a:t>Their business-dashboard from Lab 1A. Not status-service - that is yours. Say it plainly: "switch to the dashboard you built this morning."</a:t>
            </a:r>
          </a:p>
          <a:p/>
          <a:p>
            <a:r>
              <a:t>WHY THIS IS NOT A REPEAT OF THE DEMO</a:t>
            </a:r>
          </a:p>
          <a:p>
            <a:r>
              <a:t>You just ran /init on my repo. They do NOT need to run /init again here - they will do that in Lab 1B in ten minutes, on their own project, with time to curate it properly. This slide is the two moves I showed you but did not have them practise: correcting Claude so the correction sticks, and writing a handoff.</a:t>
            </a:r>
          </a:p>
          <a:p/>
          <a:p>
            <a:r>
              <a:t>WHAT TO DO - 6 minutes</a:t>
            </a:r>
          </a:p>
          <a:p>
            <a:r>
              <a:t>1. Line one, the correction loop. Have them paste it and watch what happens: Claude acknowledges and writes the preference to disk. Then say the important bit: "that did not go into this conversation. It went into a file. Close the session, come back tomorrow, it still knows."</a:t>
            </a:r>
          </a:p>
          <a:p>
            <a:r>
              <a:t>2. Have them prove it - and this is the beat that lands: tell them to run /clear, then ask "what are our formatting conventions in this project?" It still knows. That is the difference between a session and a file, demonstrated in fifteen seconds.</a:t>
            </a:r>
          </a:p>
          <a:p>
            <a:r>
              <a:t>3. Line two, the handoff. Paste it, let it write HANDOFF.md, and have them open the file and read it. Say: "that is what you leave behind on a Friday afternoon so Monday morning is not archaeology."</a:t>
            </a:r>
          </a:p>
          <a:p/>
          <a:p>
            <a:r>
              <a:t>THE POINT</a:t>
            </a:r>
          </a:p>
          <a:p>
            <a:r>
              <a:t>Three memory moves total. Bootstrap with /init - you saw me do it. Correct once and it sticks. Hand off before you stop. Every one of them ends with something written to a file, because sessions evaporate and files do not.</a:t>
            </a:r>
          </a:p>
          <a:p/>
          <a:p>
            <a:r>
              <a:t>IF SOMEONE'S CORRECTION DOES NOT PERSIST</a:t>
            </a:r>
          </a:p>
          <a:p>
            <a:r>
              <a:t>Have them check the file was actually written - open the project's CLAUDE.md or the memory directory. If it went into the conversation only, they phrased it as a comment rather than an instruction: "Remember:" and "Save that" are the words that matter.</a:t>
            </a:r>
          </a:p>
          <a:p/>
          <a:p>
            <a:r>
              <a:t>ASK: [CRESCENDO L2] After the /clear test - thumbs up in chat if it still knew your convention. expect: a wave of thumbs, and a couple of genuinely surprised faces. That surprise is the lesson landing. IF NOBODY ANSWERS: ask the negative - "did anyone's forget?"</a:t>
            </a:r>
          </a:p>
          <a:p/>
          <a:p>
            <a:r>
              <a:t>SAY-NEXT: That is memory in three moves. Now you build a real one - Lab 1B, and this time you curate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(11:32,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"every error response returns { error } with a matching status code."</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RUN-SHEET POSITION: lunch is 12:10-12:55 wherever you actually are - on the run sheet you are still inside Block 2 when it arrives, and the /init demo plus Lab 1B land AFTER lunch (12:55-1:35). This slide is a marker, not a promise about which slide you are on.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5 min) YOUR TURN - they drive, on their own repo</a:t>
            </a:r>
          </a:p>
          <a:p/>
          <a:p>
            <a:r>
              <a:t>WHOSE REPO - answer this before anyone asks</a:t>
            </a:r>
          </a:p>
          <a:p>
            <a:r>
              <a:t>THEIRS. The business-dashboard they built in Lab 1A this morning. Not my status-service - that is only for my demos. Say it out loud as you put the slide up: "open the dashboard you built before lunch. These two prompts will run on it for real."</a:t>
            </a:r>
          </a:p>
          <a:p/>
          <a:p>
            <a:r>
              <a:t>WHY THESE TWO PROMPTS WORK ON EVERY REPO IN THE ROOM</a:t>
            </a:r>
          </a:p>
          <a:p>
            <a:r>
              <a:t>Both target @server.js, which every Lab 1A build produces - it is in the lab's own success checklist. And prompt one points at validation on POST /api/tasks, which THEY wrote themselves in the last step of Lab 1A. That is deliberate: they are telling Claude to follow a pattern they authored two hours ago. Say that - it lands.</a:t>
            </a:r>
          </a:p>
          <a:p/>
          <a:p>
            <a:r>
              <a:t>WHAT TO DO - 5 minutes</a:t>
            </a:r>
          </a:p>
          <a:p>
            <a:r>
              <a:t>1. Read the three habits on the left. Ten seconds, do not labour it.</a:t>
            </a:r>
          </a:p>
          <a:p>
            <a:r>
              <a:t>2. Dissect prompt one, pointing as you go: it names the file with an at-sign, so no hunting. It points at a pattern already in that file - "like the validation on POST /api/tasks" beats three paragraphs describing your style, and it is a pattern they wrote. And it ends by saying how success gets proven - run it, reject a bad request.</a:t>
            </a:r>
          </a:p>
          <a:p>
            <a:r>
              <a:t>3. Dissect prompt two: same at-mention, then a scope fence - "change only that one query" is what stops the helpful refactor sprawl - and a verification artifact, show me the diff.</a:t>
            </a:r>
          </a:p>
          <a:p>
            <a:r>
              <a:t>4. "Pick either one, paste it into your dashboard, run it. Two minutes. Watch how little it has to guess."</a:t>
            </a:r>
          </a:p>
          <a:p>
            <a:r>
              <a:t>5. While they run: circulate. Good moment to see who is comfortable and who is still hesitant.</a:t>
            </a:r>
          </a:p>
          <a:p/>
          <a:p>
            <a:r>
              <a:t>THE POINT - say it after they run, not before</a:t>
            </a:r>
          </a:p>
          <a:p>
            <a:r>
              <a:t>The last clause in both prompts is the whole difference. Wishing hopes it worked. Delegation demands evidence. If your prompt does not say how success gets proven, you have not delegated - you have hoped.</a:t>
            </a:r>
          </a:p>
          <a:p/>
          <a:p>
            <a:r>
              <a:t>IF SOMEONE'S REPO DIFFERS</a:t>
            </a:r>
          </a:p>
          <a:p>
            <a:r>
              <a:t>Lab 1A output varies a little between builds - some have db.js, some a db/ folder, frontend files get different names. server.js is the constant. If a filename does not match, tell them to substitute the nearest real one; the shape is the lesson, not the filename.</a:t>
            </a:r>
          </a:p>
          <a:p/>
          <a:p>
            <a:r>
              <a:t>ASK: One word in chat - sharper, or the same as what you typed last week? expect: 'sharper' almost universally. Steal the best rewrite you see and read it aloud - naming someone's prompt is the cheapest engagement win of the day. IF NOBODY ANSWERS: count to five, read your own favourite aloud, and move.</a:t>
            </a:r>
          </a:p>
          <a:p/>
          <a:p>
            <a:r>
              <a:t>SAY-NEXT: That is delegation done well. Now watch me do the opposite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commit every sin from this block on purpose, watch quality visibly fall apart, then recover in thirty seconds. They have just been told context is a budget and checkpoints exist. This proves both in one run. The payoff is the rewind menu: code reverts, conversation survives, and choosing that scope is the skill.</a:t>
            </a:r>
          </a:p>
          <a:p/>
          <a:p>
            <a:r>
              <a:t>WHICH REPO - your status-service, the same one from this morning</a:t>
            </a:r>
          </a:p>
          <a:p>
            <a:r>
              <a:t>Not their dashboard. Yours. You know it, it is small, and the tests run in two seconds. Open C:\aia-demo\status-service in VS Code with the Claude Code panel visible. If your session from this morning is still open, even better - it already has history in it, which helps the bloat beat land.</a:t>
            </a:r>
          </a:p>
          <a:p/>
          <a:p>
            <a:r>
              <a:t>BEFORE CLASS</a:t>
            </a:r>
          </a:p>
          <a:p>
            <a:r>
              <a:t>- status-service open, `npm test` verified passing (3 tests)</a:t>
            </a:r>
          </a:p>
          <a:p>
            <a:r>
              <a:t>- The git baseline from the 9:55 before-class step must exist - `git status` should run clean. The shipped folder has no .git; if you skipped it: git init &amp;&amp; git add -A &amp;&amp; git commit -m "baseline".</a:t>
            </a:r>
          </a:p>
          <a:p>
            <a:r>
              <a:t>- Nothing else needed. Do not pre-break anything - the breaking is the demo.</a:t>
            </a:r>
          </a:p>
          <a:p/>
          <a:p>
            <a:r>
              <a:t>STEP 1 - SHOW THE BUDGET (1 min)</a:t>
            </a:r>
          </a:p>
          <a:p>
            <a:r>
              <a:t>Run: /context</a:t>
            </a:r>
          </a:p>
          <a:p>
            <a:r>
              <a:t>Point at the number. Say: "this is what I am spending before I have asked for anything."</a:t>
            </a:r>
          </a:p>
          <a:p/>
          <a:p>
            <a:r>
              <a:t>STEP 2 - BLOAT IT ON PURPOSE (2 min)</a:t>
            </a:r>
          </a:p>
          <a:p>
            <a:r>
              <a:t>Paste: "Read every file in this project, then summarise each one in detail, then list every function with its parameters."</a:t>
            </a:r>
          </a:p>
          <a:p>
            <a:r>
              <a:t>Let it run. Then /context again. Point at the jump. Say: "I just spent a third of my window on information I did not need for the task I actually care about."</a:t>
            </a:r>
          </a:p>
          <a:p/>
          <a:p>
            <a:r>
              <a:t>STEP 3 - BREAK IT (2 min)</a:t>
            </a:r>
          </a:p>
          <a:p>
            <a:r>
              <a:t>Now, in the same bloated session, paste something destructive and obviously wrong:</a:t>
            </a:r>
          </a:p>
          <a:p>
            <a:r>
              <a:t>"Rewrite server.js to use Express instead of the built-in http module."</a:t>
            </a:r>
          </a:p>
          <a:p>
            <a:r>
              <a:t>That violates the CLAUDE.md in the repo, which says no external dependencies, Node standard library only. Two things can happen and BOTH are good demos:</a:t>
            </a:r>
          </a:p>
          <a:p>
            <a:r>
              <a:t>- It pushes back and cites the CLAUDE.md - say "that is memory doing its job, we cover that after the break"</a:t>
            </a:r>
          </a:p>
          <a:p>
            <a:r>
              <a:t>- It does it anyway - say "and now my working code is broken, and my tests will fail"</a:t>
            </a:r>
          </a:p>
          <a:p>
            <a:r>
              <a:t>Run `npm test` either way. If it broke, the failures on screen are your evidence.</a:t>
            </a:r>
          </a:p>
          <a:p/>
          <a:p>
            <a:r>
              <a:t>STEP 4 - THE RECOVERY, this is the beat that matters (2 min)</a:t>
            </a:r>
          </a:p>
          <a:p>
            <a:r>
              <a:t>Hover the message just before the rewrite and click the rewind arrow. Read the three options out loud - Fork conversation from here, Rewind code to here, Fork conversation and rewind code. Choose "Rewind code to here" deliberately, and say why: "I want my files back, but I want to KEEP the conversation, because everything Claude learned about this repo in the last five minutes is still useful."</a:t>
            </a:r>
          </a:p>
          <a:p>
            <a:r>
              <a:t>Run `npm test` again - green. Say: "thirty seconds. Not twenty minutes of arguing with it."</a:t>
            </a:r>
          </a:p>
          <a:p/>
          <a:p>
            <a:r>
              <a:t>STEP 5 - THE LESSON (1 min)</a:t>
            </a:r>
          </a:p>
          <a:p>
            <a:r>
              <a:t>"Rewind is always better than arguing with a contaminated session. When the output starts drifting, do not try to talk it back to sanity. Go back to the point before it went wrong."</a:t>
            </a:r>
          </a:p>
          <a:p/>
          <a:p>
            <a:r>
              <a:t>EXPECTED</a:t>
            </a:r>
          </a:p>
          <a:p>
            <a:r>
              <a:t>Context number visibly climbs, something breaks or gets refused, tests fail then pass again after rewind.</a:t>
            </a:r>
          </a:p>
          <a:p/>
          <a:p>
            <a:r>
              <a:t>IF IT BREAKS</a:t>
            </a:r>
          </a:p>
          <a:p>
            <a:r>
              <a:t>If the rewind arrow is not where you expect, use the terminal fallback: double-tap Esc. If nothing recovers cleanly, say "this is exactly why we have a recovery path", close the session, reopen, and run `git checkout .` - which works ONLY because you committed the baseline before class. If you skipped that step, delete the folder and re-copy Demo/status-service from the course pack instead: five files, no install, ten seconds. Never debug live past sixty seconds.</a:t>
            </a:r>
          </a:p>
          <a:p/>
          <a:p>
            <a:r>
              <a:t>DEBRIEF</a:t>
            </a:r>
          </a:p>
          <a:p>
            <a:r>
              <a:t>ASK: Why did I choose to keep the conversation instead of a full undo? expect: because the useful context - what it learned about the repo - is worth keeping; only the files were wrong.</a:t>
            </a:r>
          </a:p>
          <a:p/>
          <a:p>
            <a:r>
              <a:t>SAY-NEXT: Now you do it - Lab 1C is three of these drills, on your own repo.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RUN-SHEET POSITION: the run sheet puts this break at 2:35-2:45. Say the time that is actually on your watch.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FOLLOW ALONG - in THEIR business-dashboard from Lab 1A. The skill folder and the target file both live in their repo; server.js is the target because it is the one file every build in the room has (frontend filenames vary).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server.js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READ-ALONG, NOT RUN-NOW - these three prompts are the Lab 1D ritual and they run in THEIR business-dashboard, once there is a staged diff. Nothing is staged at 3:03; say so, or someone pastes prompt one and Claude correctly answers "nothing is staged".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both CSV export endpoints returning real rows, plus a reviewable PR - a machine check and a human check, together. Their dashboard has no test suite, so the endpoint check IS the machine check; do not promise green tests.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WHICH REPO - MINE: status-service at C:\aia-demo\status-service. Not their dashboard, and not a repo you care about.</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status-service with a hand-written .claude/settings.json in the repo root: allow "Bash(npm test:*)" and "Bash(git:*)", deny "Bash(git push --force:*)". Prefix-match syntax, identical to what Lab 1D teaches - write it in that form so the room can copy it.</a:t>
            </a:r>
          </a:p>
          <a:p>
            <a:r>
              <a:t>- Beat three pushes, so the folder needs the git baseline from the 9:55 step AND a remote, or git fails before the deny rule is ever reached. Safest remote in a classroom: git init --bare C:\aia-demo\origin.git, then git remote add origin C:\aia-demo\origin.git and push once.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"Add a Usage section to README.md documenting the two existing endpoints, then run the tests." (That README has no badge - asking for one gets you a live correction. The two endpoints are GET /api/orders and GET /api/orders/summary, and npm test is three passing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 the deny rule is deterministic and does not depend on release-dependent guard behavior - and point back at the two-layer architecture on the Auto mode slide.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 </a:t>
            </a:r>
          </a:p>
          <a:p/>
          <a:p>
            <a:r>
              <a:t>REPO NOTE: your status-service repo, not their dashboard.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both CSV export endpoints verified by hand,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export endpoints verified,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and the guide holds about thirty-five minutes of material - say that out loud rather than letting them discover it. The core is Phase 1, Phase 2, and Phase 4 through Step 5; Step 6 (push and PR) finishes tonight if the clock beats them.</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Wednesday the nineteenth.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 Day Two on Wednesday the nineteenth - it opens by upgrading them into team standards, so tonight's rough drafts become next week's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Next session's column - and correct the slide title as you say it, because Day Two is NOT tomorrow: Day Two is Wednesday August nineteenth,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0.png"/><Relationship Id="rId4"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3.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4.pn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verify the feature,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First run: prove it works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 these in order</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1. Make a folder, open it in VS Code</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2. Start Claude and sign in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 Confirm your model</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4. Give it a first instruction</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THEN PASTE THESE</a:t>
            </a:r>
          </a:p>
        </p:txBody>
      </p:sp>
      <p:sp>
        <p:nvSpPr>
          <p:cNvPr id="15" name="Rounded Rectangle 14"/>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a:t>
            </a:r>
          </a:p>
        </p:txBody>
      </p:sp>
      <p:sp>
        <p:nvSpPr>
          <p:cNvPr id="19" name="Rounded Rectangle 18"/>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3" name="Rounded Rectangle 22"/>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ways to route: by topic, and by folder.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is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Route by topic</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.claude/rules/*.md - testing rules, API conventions, security.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Route by folder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CLAUDE.md inside a subfolder - loads only when Claude reads there.</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Subfolder files cost nothing until Claude goes there. Free scoping for a monorepo.</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assume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Don't hide confusion. Surface tradeoffs.  (fixes: assumes and runs)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x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Minimum code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Solve the problem. Nothing speculative.  (fixes: overbuilds)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Touch only what you must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Clean up only your own mess.  (fixes: 40-line diff for a 3-line fix)</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Define success criteria</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Loop until verified.  (fixes: says 'done' without proof)</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All four are in your CLAUDE.md Templates handout - copy from there, not from this screen.</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my status-service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teach it something</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two moves I just showed you</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it once - it remembers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work with a handoff file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Both write to disk, not to a session</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THESE IN YOUR DASHBOARD</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in this project we use double quotes and 2-space indents. Save that so you never suggest otherwise.</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built today, what works, what is unfinished, and what the next session should do first.</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habits that make a prompt sharp</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with @ - no hunting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Fence the scope - 'only that route'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Demand evidence - run it, show the diff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ONE OF THESE</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add input validation to the POST /api/metrics route, following the validation already on POST /api/tasks. Then run the server and prove it rejects a bad request.</a:t>
            </a:r>
          </a:p>
        </p:txBody>
      </p:sp>
      <p:sp>
        <p:nvSpPr>
          <p:cNvPr id="17" name="Rounded Rectangle 16"/>
          <p:cNvSpPr/>
          <p:nvPr/>
        </p:nvSpPr>
        <p:spPr>
          <a:xfrm>
            <a:off x="7040880" y="4226051"/>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make GET /api/tasks return newest first. Change only that one query,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server.js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endpoints verified,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