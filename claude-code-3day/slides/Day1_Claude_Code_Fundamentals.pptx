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(9:00, 2 min) SAY: Good morning, everyone - welcome to Day One of Claude Code Fundamentals. Some of you may have colleagues who took this course earlier in the year - this is the current version, rebuilt for where the product is now, and a fair amount of what they learned has already changed. I'm your instructor for the next three Tuesdays, and here is my promise for today: by four o'clock this afternoon, you will drive an AI coding agent through a full build-test-ship cycle on a real project. Not a toy example - a real dashboard application that you'll scaffold, teach, break, recover, and ship as a pull request. And everything you build today becomes the foundation for Days Two and Three, so nothing gets thrown away. Quick vocabulary before we start: when I say 'coding agent,' I mean a tool that takes a goal and works your codebase on its own - reading files, editing, running tests - as opposed to autocomplete, which just suggests the next line while you type. Today is about learning to drive one agent well. ASK: Quick show of hands - who here has shipped real code with an AI agent, not just autocomplete, in the last month? expect: a few hands; most of the room are autocomplete users, which is exactly the audience this day is designed for. SAY-NEXT: Let me show you exactly how the day breaks down, hour by hour.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(9:02, 2 min) SAY: Here's the shape of the day - five blocks, nine to four, and today is Tuesday, August eleventh. Block one, nine to ten-thirty: the agentic loop and setup - install, models, extended thinking, sessions, and your first loop. Ten-minute break, then block two, ten-forty to twelve-ten: memory and CLAUDE.md - teach it once, and state lives in files. Lunch is twelve-ten to twelve fifty-five. Block three, twelve fifty-five to two-twenty: context mastery - aiming context, rewind versus revert, recovering fast. Short break, then block four, two-thirty to three-forty: commands, cost, permissions, and shipping a reviewed pull request. We close three-forty to four with a recap, the five classic mistakes, and homework. The rhythm inside every block is the same: concept, live demo, then a hands-on lab of twenty-five to thirty minutes - four labs that chain into one artifact. Hard stop at four. [CRESCENDO L1] ASK: Let's warm up the chat - who has used an AI coding tool this week? Thumbs up for daily, raise a hand for weekly. expect: broad daily usage, a few holdouts - both are fine. SAY-NEXT: Before any content, let me show you the thing you will actually build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(9:04, 2 min) SAY: This is the mission. One continuous artifact - a business dashboard that Claude Code builds with you across four chained labs. Lab 1A, you scaffold the entire dashboard from one prompt and watch the agent do the work. Lab 1B, you teach Claude your codebase by writing a CLAUDE.md - that's the project memory file we'll cover in block two. Lab 1C, you break the project on purpose and recover it with the rewind feature - because recovery is a skill you want to practice before you need it. Lab 1D, you get the tests green, commit, and open a pull request. Four labs, one repo, each one adding a layer to the same artifact - which is why I ask nobody to skip a lab; if you skip 1B, lab 1C is working against you. And Days Two and Three keep building on this exact repository, so what you make today has a three-day life. ASK: What would you normally estimate for scaffolding an app, documenting it, practicing recovery discipline, and opening a reviewed PR - how many days? expect: most people say two or three days; we're doing it in one, with an agent doing the heavy lifting. SAY-NEXT: Here's exactly what you'll be able to do by four o'clock, stated as testable outcomes.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(9:06, 2 min) SAY: These six lines are promises, not topics - every one of them is verified in a lab checklist before you leave. One: install and authenticate - native installer on your OS, a licensed seat, and a green /doctor health check. That happens in the next twenty minutes. Two: run the loop - you'll be able to explain the five stages of the agentic loop and watch Claude run them on real code. Three: write a CLAUDE.md - a lean project brief that Claude loads at the start of every single session. Four: scope context - @-mention exactly the files that matter and keep one task per session; that discipline is half of what separates experts from beginners. Five: set guardrails - cycle the four permission modes and write a real deny, ask, or allow rule. Six: ship a PR - commit and open a pull request without ever leaving the chat. ASK: Look down that list - which of these six would change your working week the most? expect: most answers cluster on scoping context and shipping the PR. SAY-NEXT: Let's start block one - getting the engine installed and understanding what it actually does under the hood.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(9:08, 1 min) SAY: Block one, ninety minutes: the agentic loop and setup. Three beats in this block. First, who can even get Claude Code - licensing and access come first because they bite hardest in a classroom. Second, how installation changed this year - it got dramatically simpler. Third, the agentic loop itself - the engine that makes this an agent rather than autocomplete. By the end of the block you'll have installed the native binary, authenticated, run a first loop, and you'll be choosing a model deliberately - Sonnet 5 for daily work, Opus 5 when the complexity earns it. ASK: One word in chat - what's your current AI coding setup? expect: Copilot, Cursor, ChatGPT, and a few 'nothing yet.' SAY-NEXT: First, the distinction the whole course rests on - the difference between an assistant and an agent.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(9:09, 3 min) SAY: Let's be honest about the market before anyone in this room has to correct me. Every major coding tool is agentic now. GitHub Copilot has an agent mode that edits files, runs commands, and fixes failing tests right in your IDE - and a background coding agent you can assign an issue to that comes back with a pull request. Cursor, same story. So the old 'assistant versus agent' pitch is over - agentic won. Two things still matter. First, the mindset shift is real even though the tools moved: most developers still use these tools like fancy autocomplete - driving every keystroke instead of directing a loop and reviewing outcomes. That habit is what we break today. Second, the tools differ in how much of the loop you can see, script, and govern. Claude Code is the reason this course exists: the whole loop is exposed - terminal, IDE, CI, SDK - it's built from primitives you'll learn to program - CLAUDE.md memory, skills, hooks, plugins - and it scales into subagents and agent teams on Day 3. ASK: [CRESCENDO L1] Quick show of hands - who has used Copilot's agent mode, or assigned an issue to its coding agent? expect: several hands - validate them, they already know the loop. If someone asks 'so why not just use Copilot?' the answer is: same loop, different control surface - here you learn to direct and govern the loop itself, and that skill transfers to whatever tool your shop runs. (verify at delivery - competitor capabilities move monthly.) SAY-NEXT: Before anyone runs that loop, you need a working seat - let's prove access before the first lab.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(9:12, 2 min) SAY: Good news - access is the easy part today. Everyone in this room is on your organization's enterprise plan, so there is no licensing decision to make and no pricing table to memorize. Three things, then we move on. One: use your organization identity when you sign in - the same account everywhere Claude runs, so your work and your usage stay attached to you. Two: because this is an enterprise deployment, your admins can preset some things through managed settings - which models are available, which permission rules are locked. If a menu looks different from my screen today, that is policy, not a broken install - flag it and we note it. Three, the classroom gate: before Lab 1A starts, you will launch Claude Code and run /model and /usage and see them answer. That is the whole check. If someone asks what /usage shows on an enterprise seat, the answer is: your own consumption against the organization's allowance - we go deeper on cost mechanics in Block 4. (verify at delivery - confirm with the client admin that seats are provisioned and any managed-settings pins are known before 9 AM.) SAY-NEXT: Signed in and verified means ready to install - and installation got dramatically simpler this year.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(9:14, 3 min) SAY: These are the actual commands - they're in your Lab 0 guide too, so nobody needs to photograph the screen. Top row is the workhorse: the curl one-liner installs the native binary on macOS, Linux, and - important for this room - inside WSL. If your development life is in WSL, run it in your WSL distro; that path is fully supported. If you're PowerShell-native on Windows, row two is your one-liner, or use WinGet from row three. Homebrew works on macOS if that's how you manage tools. Two things to know about updates: the curl and PowerShell installers self-update in the background - install once, forget it. WinGet and Homebrew installs update manually - winget upgrade or brew upgrade - so if you choose those, updating becomes your job. And the historical note: if you find npm install instructions in a blog post, that era ended January 2026 - deprecated, backcompat only; migrate old npm installs to native. If someone asks whether native Windows needs anything else, the answer historically is Git for Windows for shell operations (verify at delivery - and verify the brew cask name on the docs page that morning). ASK: [CRESCENDO L2] Quick chat check - who lives in WSL day to day, and who is PowerShell-native? expect: a split room - pair them up for Lab 1A. SAY-NEXT: Installed is not the same as running - there are three ways to actually drive this 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(9:18, 3 min) SAY: One engine, several surfaces - and I know most of you live in VS Code, so let's be precise about where things are, because it matters for two labs today. Our classroom setup is VS Code with `claude` running in the integrated terminal. You get the full text interface - every slash command, every keyboard control - and your files are right there in the editor beside it. Best of both. The extension panel is a genuinely nice surface on top of the same engine: side-by-side visual diffs, you can edit Claude's plan before you accept it, one-click rewind, multiple conversation tabs, and Alt+K drops an at-mention of whatever you have selected. Use it for reviewing changes - it beats reading a diff in a terminal. Here is the part to write down, and it is on the strip: the two keyboard moves we lean on today - Shift+Tab to cycle permission modes, and double-Esc to open rewind - are terminal behaviors. In the extension panel you use its own mode switcher and its own rewind button instead. Same capability, different control. That is why the labs say integrated terminal: so one set of instructions works for all of us. If someone asks which is better, the answer is neither - the terminal is canonical and it is what Day 3's headless and CI work uses, the panel is more comfortable for reviewing diffs. Most people end up in both. ASK: [CRESCENDO L2] Quick chat - who is planning to work in the extension panel today versus the terminal? expect: mostly panel, which is exactly why we just drew the line. SAY-NEXT: Whichever surface, the loop underneath is identical - so let's look at that loop. (verify at delivery - extension feature list moves; confirm the panel's rewind control on your build.)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(9:20, 3 min) SAY: There are two ways into Claude Code. Interactive sessions are the default - think of it as a REPL, a live conversation where you steer turn by turn; that's home for everything we do today. One-shot mode is claude -p - p for print: one prompt goes in, one result comes out, and the process ends. That's the building block for scripts and CI pipelines, which is Day Three territory - park it for now. The part people get wrong is resuming. --continue picks up your most recent session; --resume lets you choose an older one from a list. Here's the rule: resuming imports everything that old session already believed - every file it read, every decision it made. So resume to finish the SAME task, and start clean for a NEW task. That's the first appearance of today's session-hygiene law, and you'll hear it again after lunch. The exact resume flags get re-verified on delivery morning, like everything release-dependent today. (verify at delivery) ASK: You fixed a bug yesterday in a session, and a different bug appeared today - resume or fresh? expect: fresh - different task, different session; anyone who says resume, ask them what yesterday's context adds besides noise. SAY-NEXT: Enough anatomy - let's get every one of you authenticated and healthy, right now, follow along.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(9:23, 4 min) SAY: This is the environment gate for the whole day - everyone runs these three lines before block one ends, because nobody enters Lab 1A broken. Line one: claude auth login. That opens your browser, you sign in with the identity we just agreed on, and your seat is bound to this machine. Line two: /doctor - that's Claude Code's built-in health check; it inspects your install, your auth, your configuration, and offers to repair what it finds. We'll give /doctor its own slide shortly - for now, just run it. Line three is your first real task: 'Read package.json and tell me what this project does in three sentences.' Small, harmless, and it proves the entire loop end to end - the agent reads a real file and reasons about it. Type along with me now; I'll walk the room in a moment. Drop a green checkmark in chat when /doctor comes back clean. ASK: Green checks in chat - is /doctor clean for everyone? expect: nearly all green; one or two auth stragglers - usually a popup blocker on the browser sign-in - and we catch those right now, not at lab time. SAY-NEXT: Now that everyone's alive, a question most people never ask: which model is actually answering you?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(9:27, 3 min) SAY: Here's a brittle assumption I need to break before it costs you: there is no single global default model. The 'default' alias depends on your account type, your billing mode, your cloud provider, and your administrator's policy - two people in this room can type the same prompt and get different models. So don't memorize a default; verify it. The command is /model - it shows you what's live in your session and lets you switch. What you should memorize is roles: Sonnet 5 is the daily driver - implementation and debugging, and the common subscription default. Opus 5 is for complex reasoning and architecture - and it's the default on several premium, API, and cloud paths, which is exactly why you check instead of assume. The control is yours: inspect with /model, switch for the task, switch back. If someone asks 'which model should I just always use,' the answer is: start on Sonnet for normal work and escalate deliberately when complexity earns it - the next slide gives you the full menu. ASK: Before promising a model to your team or a classroom, what should you verify? expect: the actual identity, the provider, and the live /model result - never a remembered default. SAY-NEXT: Here's that full menu - four aliases and the jobs they're for.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(9:30, 3 min) SAY: Read this table as jobs, not products - and notice it teaches aliases, not version-numbered model IDs, because aliases stay stable while models update underneath. Sonnet, currently Sonnet 5: daily implementation and debugging, the common subscription default - start here. Opus, currently Opus 5: complex reasoning and architecture - note the requirement on the slide: it needs Claude Code v2.1.219 or newer, one more reason to keep the native installer current. Fable, Fable 5: the hardest and longest autonomous work - availability and safety-fallback behavior vary by organization, so check whether you even have it before planning around it. And haiku, the latest Haiku: fast, low-cost mechanical work - renames, scans, formatting sweeps where you want speed, not deep thought. The operating pattern: start on sonnet, escalate to opus when a task earns it, drop to haiku for the mechanical stuff. /model changes it mid-session, and your admin can restrict which of these you see at all. Don't memorize a price table - prices and entitlements move; verify on the live account. ASK: Think about last week - which single task actually deserved an escalation to a stronger model? expect: one complex design decision or a root-cause investigation; not the routine edits. SAY-NEXT: There's one more dial next to model choice - how hard the model thinks on a given step.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(9:33, 3 min) SAY: Extended thinking is the third lever, next to model choice and context. Think of it as a reasoning budget - extra deliberation the model spends before answering, which you pay for in tokens and latency. For most edits, the default reasoning is plenty. But three kinds of work earn a deeper pass: architecture calls, gnarly debugging where the cause isn't obvious, and risky migrations where a wrong step is expensive. How you spend it: ask for deeper reasoning on that one step - literally say 'think hard about this before answering' - or escalate the model for the step and drop back afterward. What you should not do is turn maximum thinking on for everything; that's the same mistake as @-mentioning your whole repo - paying premium prices for routine work. And read the caution with me: the exact thinking controls are release-dependent - the toggles and defaults move between versions - so we verify the live behavior on delivery morning rather than promising a keystroke today. (verify at delivery) ASK: Which task from your last sprint genuinely deserved a deeper think? expect: a design decision or a root-cause hunt - nobody should say a rename. SAY-NEXT: Model chosen, thinking budgeted - now the engine itself: the loop that runs every single time you press Enter.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(9:36, 3 min) SAY: This five-node diagram is the whole course - everything else today is about making this loop run better. Walk it with me slowly. Context: Claude reads and searches - your files, your project brief, your git history. Plan: it chooses an approach before touching anything. Act: it edits files and runs commands. Observe: it reads the results - test output, error messages, build logs. Iterate: if the result isn't right, it loops - new plan, new action, new observation - until the work is verified or it needs your input. Here's the key point: the loop is automatic. You don't orchestrate these stages; Claude runs them. Your leverage lives at the edges - the quality of the goal you set and the context you feed in. That's why block two is about memory and block three is about context: they are the two inputs that decide whether this loop converges fast or wanders. ASK: Be honest about human developers for a second - which of these five stages do we most often skip ourselves? expect: observe - we ship without verifying; let that land, because the agent doesn't skip it. SAY-NEXT: Let me make that abstract loop concrete - here's what actually happens from the moment you press Enter.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(9:39, 3 min) SAY: Take a real request: 'add rate limiting to the login route.' Press Enter, and here's the sequence. Read: Claude loads CLAUDE.md - your project brief - plus the relevant auth files and recent git history, so it starts informed, not guessing. Plan: it states an approach; and if you're in plan mode, which we cover in block four, it shows you that plan before touching anything. Edit: files get written, imports get updated - surgical changes, not wholesale rewrites. Run: it executes your tests and commands and actually reads the output. Fix: when a test fails, it diagnoses the failure and retries - this self-healing step is where agents earn their keep, because that's the part of your day that disappears. You see all of this happening live in the terminal; it narrates as it goes, and nothing here is hidden. ASK: Honest estimate - what fraction of your working day is steps four and five done by hand: running tests, reading failures, patching, re-running? expect: a third or more, and for some people half. SAY-NEXT: And when that loop misfires - because it will misfire - here's what it looks like, so nobody panics in the labs.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(9:42, 3 min) SAY: Let's normalize failure right now, before your first lab. Three symptoms tell you the loop is in trouble. One: the same mistake repeatedly - you correct it, it apologizes, it does it again. Two: quality drops mid-session - answers get shorter, edits get sloppier. Three: earlier instructions get forgotten - a rule you set an hour ago silently stops applying. Here's the reframe that matters: these are context problems, not model tantrums. The session's memory - its context window - has filled with noise, and the signal is drowning. The fixes on the right each get a full treatment today: give it a smaller task in a fresh session; rewind past the wrong turn with the checkpoint system; and if it's a rule Claude keeps forgetting, make it permanent in CLAUDE.md so it loads every session. The strip is your promise: the full recovery ladder - Esc, rewind, /compact, /clear - is the centerpiece of block three this afternoon. ASK: Who has watched an AI tool confidently repeat the same wrong fix three times? expect: nearly everyone, usually with a story - take one, briefly. SAY-NEXT: The discipline that prevents most of this fits on one slide, and it's the first thing I'll ask you to write down today.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(9:45, 3 min) SAY: Write this down - Principle One: small and testable. Every other habit today builds on this one. Small means one task per session - 'add rate limiting to the login route,' not 'refactor the whole app.' A bounded task gives the loop a finish line. Frequent means commit after each change and /clear between tasks - /clear is the command that wipes the session and starts fresh; you'll use it constantly. Small commits also mean cheap recovery: when something goes wrong, you roll back minutes of work, not hours. Actionable means every prompt produces a result you can test - code that runs, a diff you can read, a check that passes - not an essay about what could be done. Notice the strip: principles two, three, and four later today all stand on this one; there are only four all day, and they're numbered so you can cite them to your team. ASK: What's wrong with the prompt 'make the app production-ready'? expect: unbounded, untestable, guaranteed disappointment - you can't verify 'production-ready,' so the loop can never know it's done. SAY-NEXT: Before we tour the toolbox, one line from the man who built this tool - it reframes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(9:48, 2 min) SAY: Stop writing prompts. Start writing loops. That's not my line - it's Boris Cherny, the creator of Claude Code, who has said publicly: 'I don't prompt Claude anymore... my job is to write loops.' Here's the distinction. A prompt is one instruction, answered once - you ask, it answers, you evaluate, you ask again. You are the loop. A loop is a system: it prompts, checks its own result against something verifiable, and decides what happens next - without you in the middle of every turn. This whole course is that shift, staged over three days: today you learn to drive the loop; Day Two you encode your standards into it so it checks work your way; Day Three the loops run without you, in scripts and CI. [CRESCENDO L1] ASK: Thumbs up in chat if you have ever re-pasted the same prompt three times hoping for a better answer. expect: most of the room - then say it: that was YOU being the loop, manually; today we hand that job to the machine. SAY-NEXT: To run a loop, Claude reaches into a toolbox - here's what's in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(9:50, 3 min) SAY: First, relax - you never pick tools; Claude does. But knowing the toolbox makes you a sharper delegator, because 'grep for every caller first' becomes a sentence you can say. Five families. Read, Write, and Edit - the file tools; note that Edit makes surgical changes rather than rewriting whole files, which keeps diffs reviewable. Glob and Grep - Glob finds files by name pattern, Grep searches contents across the repo; together they're how Claude explores code it hasn't seen. Bash - any shell command: tests, builds, git, scripts; also the tool your security team will ask about first, and block four answers them. WebFetch and WebSearch - live documentation and answers from the web. And Agent - spawns subagents for parallel work; that's the Day Three multiplier, parked for now. Now the strip, because it's a great engineering story: Anthropic's own team tried vector search and embeddings for code retrieval - and dropped them for plain grep. Code is exact syntax, so literal matching beat fuzzy semantic retrieval. The lesson generalizes: test the simple tool first, and make complexity earn its place. ASK: In a locked-down environment, which tool would you deny first? expect: Bash or the web tools - and permissions for exactly that land in block four. SAY-NEXT: One more built-in worth meeting today, because it fixes your setup for you.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(9:53, 2 min) SAY: You already ran /doctor at the gate - here's what you actually have. As of the July update, /doctor is a full diagnostic: install, authentication, configuration, and MCP connections - one health screen for everything between you and a working agent. Better: it offers to fix what it finds - press f and it repairs the findings itself, instead of handing you a to-do list. And it flags waste: unused skills, dormant MCP servers, and slow hooks - things that silently tax every session you run whether you use them or not; we'll define skills, MCP, and hooks properly across Days One and Two, so don't worry if those words are new. Make it your reflex: whenever anything feels wrong with Claude Code, /doctor is the first move - before Google, before reinstalling. One honesty note from the strip: the auto-fix specifics come from secondary sources, so we re-verify /doctor's exact behavior on delivery morning. (verify at delivery) ASK: What's your current equivalent of /doctor - how do you debug your dev setup today? expect: laughter, then 'Google and vibes' - which is the point. SAY-NEXT: Enough theory. Watch the whole thing run end to end - install to first working task.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(9:55, 8 min) DEMO - install to first task. BEFORE YOU START, say this out loud (30 sec): 'One thing before I run anything. I use Claude Code hard for my own business, and my normal setup has a dozen plugins, custom hooks, and its own memory system wired in. I have switched all of it off for this class - I am running a clean profile, same as yours. Two reasons. First, everything you see on my screen should be reproducible on yours; if it is not, that is a bug and I want to know. Second - by the end of tomorrow you will have built the pieces I just turned off. That is the course.' That disclosure buys you trust and kills the 'why does mine look different' interruption for the rest of the day. If anyone asks how you did it, point at Lab 0 Step 0 - CLAUDE_CONFIG_DIR - and tell them we come back to it in the next block. Setup: clean terminal on the instructor machine, the sample dashboard repo cloned, a licensed seat ready, and the brew/winget install command staged in your notes. SAY: Everything you've heard for the last hour, live, in one take. Step one - the native install, then: claude auth login - watch the browser open; that's the seat binding to this machine. Step two - /doctor - and when it finds something amber, I press f and it fixes it in front of you. Step three - first prompt: 'Read package.json and tell me what this project does in three sentences.' Then the real one: 'Add a /health endpoint returning the build version, and run the tests.' Now watch the bottom of the screen - reading files, stating a plan, editing, running tests: all five loop stages, in order, unprompted. Expected: a green doctor screen, then a passing test run and a working endpoint. Recovery: if auth hangs, say: 'this is exactly why we have a recovery path' - it's almost always the popup blocker; then Esc and rerun claude auth login. If install is blocked by policy, say the same line, switch to the pre-installed backup VM, and continue - never debug live past sixty seconds. Debrief - ASK: Which loop stage surprised you? expect: verify - most people expect it to stop at writing code. SAY-NEXT: Now you do exactly this yourselves - Lab 1A.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(10:03, 27 min) LAB. SAY: Lab 1A - the agentic build loop. Your deliverable: a running business-dashboard scaffold built from one well-formed prompt - this repo is the artifact the other three labs build on. The slide says thirty minutes; today's clock gives us until the 10:30 break, so treat 10:30 as the hard stop. Success checklist, three items: the app runs; you observed all five loop stages and can name them; and you noted one checkpoint moment - a point you'd want to rewind to - because this afternoon's recovery lab uses that muscle. If you fall behind, the minimum bar is a passing first build; the checklist can finish at home. Open the lab guide now - the starting prompt is written for you; your job is to watch what the agent does with it. I'll be circulating - the most common sticking point is a first prompt that's too vague, so if the loop wanders, sharpen the goal, don't argue with it. Debrief - ASK: Share one loop failure you watched Claude self-correct. expect: a failing test fixed without help, a missing dependency installed autonomously. Then the transfer probe - ASK: What would change in a different scenario - a compiled language with a five-minute build? expect: fewer, bigger loop iterations - verification gets expensive, so you batch more per cycle. SAY-NEXT: Break time - then we teach Claude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(10:30, 10 min) SAY: Ten-minute break - we restart at 10:40 sharp; the time is on screen. If your /doctor wasn't green in block one, bring your laptop up front now - we fix it during the break, not during block two.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(10:40, 2 min) SAY: Welcome back - block two, ninety minutes: memory and CLAUDE.md. Here's the pain this block kills: re-explaining your project to an AI every single morning - the stack, the conventions, the do-not-touch list, over and over. By twelve-ten, that's gone. We're installing permanent memory in three parts: CLAUDE.md, the file you write - think of it as your project's briefing document that Claude reads at the start of every session; auto memory, the notes Claude writes for itself as it works; and the memory hierarchy that ties them together, from IT-managed policy at the top to per-project overrides at the bottom. The block objective on the slide is concrete: write a CLAUDE.md that survives compaction, and use /init, /memory, and auto memory hands-on - all of which you'll do in Lab 1B against the dashboard you just built. ASK: What do you find yourself re-typing into AI tools every single week? expect: stack details, naming conventions, do-not-touch lists - collect two or three from chat. SAY-NEXT: First, let's see how Claude's memory is actually layered - it maps neatly onto your own.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(10:42, 3 min) SAY: Three layers, mapped straight onto human memory. Working memory is the context window - the finite space holding everything Claude is thinking about right now: your conversation, the files it read, the outputs it saw. Finite is the operative word; it's a budget, and block three is entirely about managing it. Short-term memory is session history - everything this conversation has learned. It dies on /clear, and it fades when a long session gets compacted. Long-term memory is CLAUDE.md plus auto memory - files on disk that load automatically at the start of every session. Files persist; sessions don't. So here's the whole block in one sentence: this hour is about promoting knowledge out of the layers that evaporate and into the layer that persists. Every time you teach Claude something worth keeping, it should end up in a file. ASK: Where does your team's tribal knowledge live today - honestly? expect: in people's heads and old Slack threads; that's the same fragility, and the same fix applies to humans. SAY-NEXT: The long-term layer starts with one file - let's define it properly.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(10:45, 4 min) SAY: Anthropic's official mental model for this tool is worth quoting: treat Claude as a brilliant new employee with amnesia. Brilliant - you never have to explain competence; it knows the language, the framework, the idioms. New - it knows nothing about YOUR project: your conventions, your architecture, your history. Amnesia - every session starts blank. CLAUDE.md is the piece that survives. Concretely, the four cards: it's a config file that lives in your project root and gets read first, every session, automatically - you never paste it. It's an onboarding doc - your project's instruction manual, written for an engineer who reads it perfectly every time and never gets bored of it; no human onboarding doc has ever had that property. It's persistent - no more re-explaining the project every chat. And it's shareable - commit it to git, and every teammate's Claude behaves the same way; that's how you standardize AI behavior across a team, which is a governance tool, not just a convenience. [CRESCENDO L1] ASK: Quick poll in chat - does your team have ANY written onboarding doc for humans today, yes or no? expect: an awkward mix of yes and no - which is exactly the point; you're about to write a better one for the machine. SAY-NEXT: So what actually belongs inside this file?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(10:49, 3 min) SAY: Five sections, and one rule governing all of them: specificity. Project and stack - what this is and what it runs on, in two lines; Claude doesn't need marketing copy. Conventions - and here's where most files fail: not 'use good naming,' but 'camelCase variables, PascalCase classes.' The difference is that the second one is executable - Claude can actually comply with it, and you can check compliance. Testing - which framework, what coverage bar, where the tests live, how to run them. Git habits - commit message format, branch naming, what a PR is expected to contain. Architecture - where new code goes, and just as important, what never gets touched: the legacy module, the generated files, the vendored code. Now the strip, which is the official guidance: keep the file under roughly two hundred lines. A lean file gets followed; a bloated one gets sampled - Claude effectively skims it, and your most important rule might be sitting in the part that gets skimmed. ASK: Which of these five rows would have saved you a bad AI suggestion this month? expect: conventions or architecture, almost always. SAY-NEXT: And when the file grows anyway - because they all do - there's a principle for that.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(10:52, 4 min) SAY: Write down Principle Three: route, don't pile. The anti-pattern is the pile - one five-hundred-line CLAUDE.md where half the instructions get ignored, because past a certain size the file dilutes itself. The pattern is the route: a lean core CLAUDE.md, plus topic files under .claude/rules - testing rules in one file, API conventions in another - loaded when they're relevant instead of taxing every session. Every token entering context has to earn its place. There's also CLAUDE.local.md for personal overrides - your private, gitignored preferences that don't pollute the team file. The payoff is on the third card: better compliance, less context burned, easier upkeep. Now the governance strip, and read it as a warning from the field: review CLAUDE.md diffs in pull requests like any shared config, and give the file one named audit owner. The failure mode is real - somebody hotfixes a rule in at eleven p.m., nobody reviews it, and six months later the file is bloat nobody follows. An unowned CLAUDE.md rots. ASK: What happens to a wiki page once it grows past one screen? expect: nobody reads it - same physics, same fix: split and route. SAY-NEXT: Here's the full stack of memory files - and who wins when they disagree.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(10:56, 4 min) SAY: Six layers, top-down, and for the first time today, precedence - who wins when rules collide. Enterprise policy: managed, IT-deployed, organization-wide - it always wins and cannot be overridden; that's the point, it's IT's non-negotiables. Project CLAUDE.md: committed to the repo, so every collaborator gets it - the team contract. Project rules: .claude/rules/*.md - the routed detail from the last slide. User memory: ~/.claude/CLAUDE.md - your personal taste, applied on every project you touch. Local override: CLAUDE.local.md - your taste, this project only, gitignored. And auto memory sits alongside: the notes Claude writes itself - next slide. The collision order: enterprise beats project, project beats user, user beats local. Concrete example: if your personal file says 'use npm' and the project file says 'use pnpm,' the project wins - and if IT says 'no external network calls,' nothing below can undo it. Per the strip: teach the order as stated, and we verify the exact collision behavior at delivery, because precedence rules are release-dependent. (verify at delivery) ASK: Where should the rule 'never commit directly to main' live? expect: project CLAUDE.md - or enterprise policy in a regulated shop; both are right, and the difference is who's allowed to change it. SAY-NEXT: That last layer - the notebook Claude keeps for itself - is new since April and deserves its own slide. CALLBACK - tie this to the clean profile you announced at the demo: everything in the user layer of this hierarchy lives in one directory, and CLAUDE_CONFIG_DIR points Claude Code at a different one. That is what I did this morning - I swapped the entire user layer out, which is why my machine behaves like yours today. Say it plainly: precedence is not abstract, it is directories. Enterprise settings your admins control, then the user layer you just watched me replace, then the project layer you will write in Lab 1B, then local. Two practical uses for them: test a risky hook or an unfamiliar plugin in a throwaway profile instead of your working one, and - the one engineers care about - bisect problems. When something behaves strangely, the question 'does it still happen in a clean profile?' answers 'is this my config or is this the tool?' in about thirty seconds. If someone asks whether a new profile means signing in again, the answer is yes - credentials live in that directory too.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(11:00, 3 min) SAY: Auto memory is the division-of-labor slide: CLAUDE.md is what YOU teach Claude; auto memory is what Claude teaches itself. As it works, it takes notes - build commands that actually worked, debugging insights, preferences it inferred from your corrections. Where it lives: ~/.claude/projects/&lt;project&gt;/memory, with a MEMORY.md file as the index - real files, on your disk, per project. How it loads: the first two hundred lines or so are read alongside CLAUDE.md at session start, so yesterday's lessons are present today without you doing anything. The strip is the operational comfort: it's plain markdown. You can open it, read it, edit it, delete a wrong note, or disable the feature per project in settings.json. Nothing is hidden, and you stay editor-in-chief of what Claude believes. That auditability matters: a wrong self-note - 'this project uses npm' when it's actually pnpm - would repeat forever until you delete it, so skim MEMORY.md occasionally the way you'd review a junior engineer's notes. ASK: What should Claude never be allowed to self-note? expect: secrets, credentials, customer data - hold that instinct, it's the heart of block four. SAY-NEXT: Two more patterns protect all this memory when sessions run long - starting with what compaction quietly destroys.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(11:03, 4 min) SAY: First, the problem. When a long session approaches its context limit, Claude compacts - it summarizes the history to free space. Compression means loss, and here's the trap in the caution strip: without guidance, /compact optimizes for brevity, and the first things to die are your early architecture decisions - made three hours ago, referenced rarely, so the summarizer thinks they're unimportant. They were the foundation. Two defenses. Left: Compact Instructions - a priority list inside CLAUDE.md that tells /compact what must survive, architecture decisions first. Automatic protection, good default hygiene. Right, marked green: HANDOFF.md - sidestep compression entirely; before ending a long session, Claude writes a deliberate handoff document: what was tried, what worked, what failed, what's next. The fresh session starts by reading that file - no summarizer deciding what mattered, because you decided. If someone asks when compaction triggers: as the window fills - you can also run /compact yourself, and warnings appear as you approach the limit; exact thresholds vary by release. ASK: Which defense would you trust for a three-day refactor? expect: HANDOFF.md - deliberate beats automatic when the stakes are high; use both, but write the handoff. SAY-NEXT: Both defenses are the same idea in disguise - let me say it as a law.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(11:07, 3 min) SAY: State lives in files, not sessions. Pause on this one, because it's the architecture underneath everything in this block. Sessions evaporate - compaction squeezes them, /clear erases them, tomorrow forgets them. So any state you care about must live in a file the next session can read. Look at how many of today's tools are really this one move: CLAUDE.md - knowledge promoted to a file. Rules files - conventions promoted to files. HANDOFF.md - progress promoted to a file. A spec.md, a running TODO list - same move every time: out of the conversation, into the repo. Here's the habit version, and it's worth writing down: if you would be upset to lose it, write it to a file before the session ends. One sentence to Claude does it: 'write what we decided to decisions.md.' This is also why the file-based approach beats every clever prompt trick - files are durable, reviewable, versionable, and shareable; conversations are none of those. ASK: What did you learn in Lab 1A that exists only in that dead session right now? expect: a build quirk, a fix rationale, a gotcha - exactly the things that belong in a file, and Lab 1B is where you'll put them. SAY-NEXT: Before you write your own, here's what the best practitioners put in theirs.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(11:10, 3 min) SAY: These three rules come from the personal CLAUDE.md of Claude Code's own creator at Anthropic - this is what the person who built the tool tells the tool. Notice all three are behavioral - they change what Claude does, not what it knows. Rule one: 'Enter plan mode for ANY non-trivial task' - plan before touching code; plan mode is the permission mode that proposes an approach before editing, and we cover it properly in block four. Rule two: 'Never mark done without a passing verification' - done means a check passed, not 'the code looks right.' That single line kills the most dangerous agent behavior: confident, unverified completion. Rule three: 'After any correction, write the lesson to lessons.md' - and this one is the sleeper. Every time a human corrects the agent, the lesson gets written to a file - which means, per the law we just learned, it persists. Every mistake becomes a permanent upgrade; correct it once, never see it again. ASK: Which of the three would change your Claude's output the most? expect: most say 'prove it works' - verification discipline is what the room is missing today. SAY-NEXT: Time to type. Here's the memory workflow you'll use daily - three prompts, follow along.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(11:38, 4 min) SAY: If your CLAUDE.md contains nothing else, it should contain these four lines. In January, Andrej Karpathy - one of the most respected engineers in AI - posted a diagnosis of how coding agents actually fail. Not at writing code. At judgment: they assume instead of asking, they overbuild, they touch code they weren't asked to touch, and they declare victory without checking. Someone turned that thread into a four-line CLAUDE.md, and it became one of the most-starred developer resources of the year - roughly a hundred thousand stars, no code, just behavior. Walk the pairs: line one is the fix for assume-and-run - and notice it's our Interview-Me pattern as a standing rule. Line two kills the strategy-pattern-for-arithmetic problem. Line three keeps diffs surgical, which is what makes agent work reviewable. Line four is Principle Four from this morning: no verifier, no agent - success criteria let the loop run without hand-holding. Two honest caveats: a hundred thousand stars is resonance, not a controlled benchmark - and these lines are a floor, not a replacement for your build commands, conventions, and watch-outs. The litmus test for everything else in your file stays: would removing this line cause a mistake? If someone asks whether behavioral lines conflict with team style rules, the answer is no - behavior shapes how it thinks, style rules say what it does; keep both, keep both short. ASK: [CRESCENDO L3] Three words or less in chat - which of the four failure modes bit you most recently? expect: 'assumes and runs' and 'huge diffs' dominate. SAY-NEXT: You'll paste these into your own file in Lab 1B - now let's see /init build the rest of the file live. (verify at delivery - repo star count and plugin install path move; the four lines themselves are stable.)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(11:13, 5 min) SAY: Three lines, and they're the daily memory workflow. Line one: /init - it reads your actual project and bootstraps a starter CLAUDE.md from what it finds. Never hand-write the file from zero; generate, then curate. Line two, the correction loop - read it with me: 'Remember: we use pnpm, not npm. Save that so you never suggest npm again.' Say it once, and it lands in memory permanently - that's the amnesia cure in a single sentence, and 'Remember:' is the magic word that routes it to a file. Line three is the end-of-session ritual for long work: 'Write HANDOFF.md: what you tried, what worked, what failed, what is next - so a fresh session can continue from that file alone.' That last clause is the quality bar - the file has to stand on its own. Now take three minutes: run /init on any repo you have handy - the Lab 1A dashboard works - then try the Remember line with a real preference of yours. ASK: One-word verdict in chat on what /init generated - keep, or trim? expect: mostly 'trim' - and that's the right instinct; generated files start generic, and curation is your job. SAY-NEXT: Watch me run the full workflow end to end in the demo - then you own it in Lab 1B.</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(11:18, 10 min) DEMO - /init and auto memory. Setup: the Lab 1A dashboard repo open in a fresh Claude Code session, no existing CLAUDE.md, this run card on the second screen. SAY: Three beats - bootstrap, trim, teach. Beat one: /init - watch it read the repo and generate the file; we scroll it together and judge it. Beat two: trim, live - I delete two generic lines that add nothing, and I rewrite one vague convention into a behavioral rule you could test compliance with. Beat three: teach - I paste: 'Remember: all API handlers must validate input with zod.' Then I restart the session completely - new session, blank short-term memory - and ask: 'add a /metrics endpoint.' Watch the zod validation appear, unprompted. Then /memory shows you where the note actually lives. Expected: a lean CLAUDE.md under one screenful, and the taught rule surviving a restart. Recovery: if /init's output is bloated, say: 'this is exactly why we have a recovery path - the bloat IS the lesson' - then trim harder, live. If the rule doesn't stick after restart, open /memory, show where it should have landed, add it by hand, and continue. Debrief - ASK: What would change in a different scenario - a ten-year legacy monolith? expect: /init output needs much heavier curation and routing into rules files - generated files start generic, and big repos make them worse. SAY-NEXT: Your repo, your rules - Lab 1B.</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(11:28, 30 min) LAB. SAY: Lab 1B - teach Claude your repo. Deliverable: a committed CLAUDE.md good enough that a brand-new teammate could onboard from it - that's the bar, not 'a file exists.' You're working on the dashboard from Lab 1A, so everything you learned about it this morning is raw material. Timebox: thirty minutes, and we hold a few minutes of buffer before the recap. Success checklist, two items: the file is under two hundred lines - lean beats complete; and one taught rule proven to stick, meaning you teach it with a Remember prompt, restart the session, and watch it apply unprompted, exactly like the demo. If you're behind, the minimum bar is /init plus three trimmed behavioral rules. I'll be circulating and challenging vague rules - if I see 'write clean code' in your file, we rewrite it together on the spot into something Claude can actually execute. Debrief - ASK: Which rule surprised you by actually changing Claude's behavior? expect: testing and validation rules usually win - they alter what the agent does on every single task. SAY-NEXT: Quick recap, and then lunch.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(12:05, 5 min) SAY: Block two compresses into two sentences - let me read them slowly. First: 'CLAUDE.md is onboarding documentation that actually gets read - every session.' That's the line to pitch this to your team lead, because it names the miracle: every team has onboarding docs nobody reads; this one is read perfectly, at the start of every single session, forever. Second: 'Route, don't pile: two hundred lean lines beat five hundred ignored ones.' That's the maintenance discipline - the thing that keeps the file working six months from now instead of rotting like a wiki. Between those two lines you have the whole block: write it once, keep it lean, promote what matters into files, and let the hierarchy resolve the conflicts. Take a photo of this slide if you take nothing else from the morning. ASK: Which of the two lines goes on your team wiki tonight? expect: a split vote - both work, and the split is a nice debate to leave simmering over lunch. SAY-NEXT: Lunch - and when you come back, the single most valuable skill of the day: context mastery, including the rewind button.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(12:10, 45 min) SAY: Lunch - forty-five minutes; we restart at 12:55 sharp, and the time is on screen. When you're back: the deepest skill of the day - context mastery and the rewind button. Worth being on time for.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(12:55, 1 min) SAY: Welcome back - block three, eighty-five minutes: context mastery. Here's the claim I intend to prove before the break: the difference between an average Claude Code user and an expert is not prompting - it's what they let into the context window, and how fast they recover from a wrong turn. Two skills, one block: aiming - feeding exactly the files that matter and nothing else; and recovering - checkpoints, rewind, and knowing when to reach for git instead. Both land in Lab 1C, where you'll break the dashboard on purpose and get it back. ASK: One word in chat - what happens to a meeting that runs three hours? expect: chaos, drift, fatigue - and sessions age exactly the same way. SAY-NEXT: First, the aiming tool - the @ key.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(12:56, 3 min) SAY: The @ key is your aiming mechanism - it puts a file directly into context instead of hoping Claude finds it. Four moves. @file.ts - load exactly one file; this is the default move, cheap and precise. @src/folder/ - loads everything inside, and that's why it carries a warning icon: use it sparingly. Read the caution strip with me: one @folder on a big directory can eat your entire context window in a single keystroke - the budget we'll price in two slides, gone before you've even asked a question. @https://docs... - pulls live documentation into context; brilliant for 'implement against this API spec.' And tab completion - start typing after @ and complete the path, stacking multiple precise mentions in one prompt: '@auth.js @middleware.js - make auth use the middleware pattern.' If someone asks whether @-mentioning is required - no; Claude can search for files itself, and the next slide is exactly that trade. ASK: Why is @-mentioning a file better than letting Claude search for it? expect: speed, precision, and control over what enters context - you skip the search turns entirely. SAY-NEXT: But that raises a real question - should you aim at all, or just let Claude go find things?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(12:59, 3 min) SAY: This is a cost-and-accuracy decision, not a style choice - three strategies on the table. @-mention the file: cheapest and most precise - no search turns, no wasted tokens - but it assumes you already know where the code lives. Let Claude search: it uses Glob and Grep - the file-finding and text-search tools from this morning - and that burns turns and tokens; but it finds what you did not know existed: the second caller, the duplicate helper, the config that overrides yours. Sometimes what you don't know is exactly what matters. The hybrid, and the table calls it the default because it is: @-mention the entry point, let Claude search outward from there - you anchor the start, it discovers the edges. One budget note that ties this whole block together: every search result lands in the context window and stays there - searching isn't free even after it finishes, because the results keep occupying budget for the rest of the session. ASK: New codebase, day one - aim or search? expect: search first to learn the map, then aim for every task after - the strategy flips as your knowledge grows. SAY-NEXT: Which raises the bigger posture question - should a session be focused or broad?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(1:02, 3 min) SAY: Here's the counterintuitive rule of the afternoon: less context produces BETTER output, not worse. It feels wrong - surely more information helps? No: a focused session with two named files beats a session drowning in a whole directory, because relevance concentrates attention and noise dilutes it. So: focused is the default - specific files, one task, less context, better output, faster and cheaper. Broad is legitimate but deliberate - architecture reviews, discovery work, whole-module refactors, where breadth IS the task. When you go broad, go broad knowingly, and expect the bill: you'll be compacting sooner, because you spent most of the window on intake. If someone asks 'how do I know which mode I'm in' - name the task: if you can say which files will change, you're focused; if the honest answer is 'I don't know yet, that's what I'm finding out,' you're broad - and that's fine, once. ASK: Your last AI coding session - focused or broad? Honestly. expect: broad by accident, not by choice - which is precisely the disease this block treats. SAY-NEXT: To choose deliberately, you need to know what's already spending your window before you type a word.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3 min) SAY: The context window is a budget, and this is the ledger - three lines. Fixed overhead: the system prompt, skill metadata, server instructions, and any tools loaded up front - that's spent before you type your first word. One modernization note from the strip: current Claude Code defers MCP tool schemas through tool search by default - MCP is the connector standard for external tools, a Day Three topic - so don't carry the old rule that every connected tool always loads its full definition; some load on demand. Semi-fixed: CLAUDE.md and memory - a few thousand tokens; this is why block two kept insisting on lean files, because bloat here taxes every session forever. The rest: conversation and files - the only part you fully control, which is why aiming matters. The command to see your actual ledger is /context - it shows what loaded and what it costs, in this session, on your account. Run it once today and the abstraction becomes a number. (verify at delivery) ASK: Who here has ever checked what their tooling actually costs in context? expect: almost nobody - and after /context in Lab 1C, everybody. SAY-NEXT: When the budget runs low, the session tells you - if you know the warning signs.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(1:08, 2 min) SAY: Here's the smoke-detector list - three symptoms, one disease. Shorter answers: detail drops, reasoning visibly degrades - the window is crowding out thinking room. Forgetting: earlier instructions silently fall away - the rule you set at the start stops applying, with no announcement. Conflicting edits: changes start fighting each other - a fix here undoes a fix there, because the session can no longer hold the whole picture. All three mean the same thing: a saturated window. And the fourth row is the response, not a symptom: /compact to squeeze the session down if you must continue the same task - or, better when the task allows, commit your work and /clear for a fresh start. You'll notice these are exactly the loop-failure symptoms from this morning - now you know the mechanism underneath them. ASK: Which of these have you already seen in another AI tool without knowing why? expect: forgetting, universally - and now the room knows it was context saturation, not the model being moody. SAY-NEXT: The discipline that prevents the disease altogether has exactly one sentence in 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3 min) SAY: One task per session. Period. This rule outranks every other tip today. Why: context degrades - a long session is a meeting that never ends, and everything in it ages. And there's a nastier failure: the correction spiral. You correct Claude, the fix fails; you correct again, that fails too. Here's the mechanism - after two failed corrections, the window is poisoned: both wrong attempts and both corrections are still sitting in context, contaminating every new answer. More steering makes it worse, not better, because you're adding to the very noise you're trying to steer around. The strip is the law: after two failed corrections, rewind or restart - arguing with the session never wins. Ever. The rhythm to install, and the last card says it: commit, /clear, next task - every time. Small wins, banked often, each in a clean room. ASK: Why does the third correction usually go WORSE than the second? expect: the failed attempts are still in context, contaminating every new answer - when someone says that back in their own words, this block has landed. SAY-NEXT: Here's a true story we tell in every delivery about what happens when this rule gets broken.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(1:13, 3 min) SAY: True story. A developer starts a clean, well-scoped task: add payment processing. Good spec, focused session, going fine. Mid-session, a thought: 'also fix the auth bug while you're in there.' One sentence - feels efficient, feels free. It isn't. The session now holds two goals, and Claude entangles them - payment logic referencing auth variables, auth changes leaking into payment handlers. Neither feature works. Then the burn: three hours of debugging changes that were entangled from birth, in a context window fogged by both failures. The lesson row: revert everything, run two clean sessions - thirty minutes each. Three hours lost versus one hour done right. Land this line: one task per session is load-bearing architecture, not a style preference - the 'while you're in there' instinct comes from human pair programming, where it's cheap; in an agent session, the marginal task poisons the shared context both tasks live in. ASK: What was the actual mistake - asking for the second task, or not opening a second session for it? expect: not opening the second session - the auth bug was a perfectly good task; it just needed its own room. SAY-NEXT: And since April, there's a much cheaper way out of that hole - the rewind button.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(1:16, 4 min) SAY: This is the biggest quality-of-life change since the April course: checkpoints. As Claude works, Claude Code automatically checkpoints your session - snapshots of the conversation and the code state, created as it goes. No setup, no configuration, no remembering to save - the third card says it: auto checkpoints, created as Claude works. The magic key: double-tap Escape. That opens the rewind menu. And you choose the scope - restore the conversation, the code, or both. That scope choice is the sophisticated part: sometimes the code is fine but the discussion went sideways - restore conversation only; sometimes the chat is fine but the edits are a mess - restore code only. Think about what this does to the payment-module disaster from the last slide: a thirty-second recovery instead of a three-hour dig. Mistakes are now cheap - and when mistakes are cheap, you can be braver: let the agent attempt the gnarly refactor, because a wrong turn costs one double-Esc. [CRESCENDO L2] ASK: Drop one moment from this morning into chat that you would have rewound if you'd known this existed. expect: Lab 1A missteps, an over-eager refactor, a wrong dependency - collect two or three. SAY-NEXT: Before you trust it with real work, the fine print - what rewind actually restores, and what it can't.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3 min) SAY: Fine print, before anyone trusts rewind with production-shaped work. What comes back: the conversation - wind the chat to any earlier turn; and Claude's file edits - code restores to the checkpoint. That covers most disasters. What does NOT come back - the red rows: shell side effects. Rewind does not un-run commands. Installed packages stay installed, database migrations stay migrated, deleted data stays deleted. And remote state: pushed commits and external API calls do not un-happen - no local feature can reach across the network and unwind what other systems already saw. The mental model: rewind restores what Claude wrote, not what Claude did. Concrete example: Claude runs a migration, then writes bad code on top - rewind fixes the code; the migration needs its own rollback path. Which is why side-effect-heavy work still deserves git and real backups underneath - rewind is a convenience layer, not a safety guarantee. Per the strip: restore scope is release-dependent, so we verify exact behavior at delivery. (verify at delivery) ASK: Claude ran a migration and then wrote bad code - what does rewind fix? expect: the code only; the migration needs its own rollback. SAY-NEXT: Rewind is one rung on a four-rung ladder - here's the whole ladder, lightest to heaviest.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(1:23, 3 min) SAY: Four rungs, lightest to heaviest - and the skill is matching the rung to the damage instead of nuking everything. Rung one: Esc - a single tap interrupts Claude mid-action; it's a tap on the shoulder: 'stop, let me redirect.' Nothing is lost; you course-correct and continue. Rung two: rewind - double-Esc, pick your scope; you erase the wrong turn while keeping everything before it. Rung three: /compact - for a session that's long but healthy: it summarizes history to free budget and keeps going; nothing went wrong, you were just running out of room. Rung four: /clear - the hard reset: everything session-local is gone, and you start clean; the right move between tasks, and the last resort within one. Here's the pattern I see in beginners: they live at rung four - every problem gets a restart, and they lose all their good context along with the bad. Experts reach for the lightest rung that fixes the actual damage. ASK: What changes in this scenario - Claude wrote bad code, but the conversation and its understanding are excellent? expect: rewind code only, keep the discussion - scope selection is exactly why the menu asks. SAY-NEXT: Same ladder, as a lookup table you can photograph.</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(1:26, 2 min) SAY: This is the photograph slide - the same table ships in your printed quick reference, so read it, don't transcribe it. Four situations, four levers. Heading the wrong way: Esc - stop and redirect before more damage lands. Last turns poisoned it: double-Esc - rewind the conversation, the code, or both; this row is the correction-spiral escape from before lunch - two failed fixes means you stop steering and rewind past the wrong turn entirely. Long session, on track: /compact - summarize and continue; nothing is broken, you're just conserving budget. Switching tasks: commit, then /clear - bank the work, then a fresh start; that's the rhythm from Principle One closing the loop. Notice what the table really teaches: diagnose first, then pick the lever - the four situations are four different diseases, and the cure is matched to each one. ASK: Which row is your personal correction-spiral escape? expect: row two, double-Esc - and if anyone says /clear, remind them it throws away the good context along with the bad. SAY-NEXT: One rung is missing from this table - git. When do you drop down to it?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(1:28, 3 min) SAY: Here's the dividing line, and it's clean: the commit boundary. Rewind owns everything inside the session - Claude's own recent missteps, nothing committed, nothing shared; it restores session and code together in seconds, and it's the green default for in-session mistakes. Git owns everything that crossed a commit: committed or pushed history needs git revert or reset - team-visible, auditable undo that your colleagues and CI can see. And git is the only tool once the damage is older than your checkpoints, or has been pushed where others depend on it. If someone asks which to try first: if it happened in this session and never got committed, rewind; the moment a commit or a push is involved, git - no exceptions, because your team cannot see your checkpoints. Now the strip, which is the interrupt discipline: hit Esc early, the moment direction is wrong - cheap and decisive. But once Claude is mid-edit, let it finish, then rewind - yanking the wheel mid-write leaves half-applied changes, and a half-applied change is the most expensive state in the room: not working, not clean, not diagnosable. ASK: Bad change, committed an hour ago, already pushed - which tool? expect: git revert - rewind's window has passed. SAY-NEXT: Recovery handles mistakes after they happen - the next principle prevents half of them up front.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(1:31, 3 min) SAY: Write down Principle Two: think in next actions. The don't card: 'Fix everything wrong with this codebase.' The do card: 'Fix the N+1 query in getUserPosts.' Feel the difference - the second names the problem, names the location, is testable, and completes in one session. A next action is the smallest step that visibly moves the work forward - vague goals in, disappointment out, every time. Third card, and it's non-negotiable: verify. Claude is confident even when wrong - fluent, plausible, and occasionally incorrect, and the fluency is exactly what makes it dangerous. So you check: run the tests, read the diff, exercise the endpoint. Now the strip, slowly, because it's the sharpest line of the day: 'almost right' is worse than clearly wrong - it passes review and breaks at 2 AM. Clearly wrong gets caught at your desk in daylight; almost-right sails through review and detonates in production. Verification is how you convert almost-right into either right or visibly wrong - and both of those are safe. ASK: What's the next-action version of 'make the app faster'? expect: profile one endpoint, fix one named query - specific, testable, one session. SAY-NEXT: Let's put the principle to work - two delegation prompts, follow along.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(1:34, 4 min) SAY: Two prompts on the right - let's dissect what makes them sharp, because each one demonstrates all three habits on the left. First: 'Add JWT auth to @auth.js following the middleware pattern in @payments.js. Run the auth tests to prove it.' Notice: it names its files with @ - no searching, no guessing; it points at an existing pattern to follow - 'like that one' beats three paragraphs of style description; and it ends by telling Claude how to prove success - run the tests. Second: 'POST /api/tasks returns 500. Read @src/routes/tasks.js, find the cause, fix only that, and show me the diff.' The symptom, the starting file, a scope fence - 'fix only that' prevents the helpful-refactor sprawl - and a verification artifact: show me the diff. That final clause in both prompts is what separates delegation from wishing: wishing hopes it worked; delegation demands evidence. Now you: take two minutes, adapt one of these shapes to a real bug from your actual backlog, and paste your version into chat. ASK: One-word verdict - sharper, or same as what you typed last week? expect: 'sharper' almost universally; steal the best rewrite you see in chat and read it aloud. SAY-NEXT: Now watch context go wrong on purpose - and come all the way back.</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(1:38, 8 min) DEMO - bloat, break, rewind. Setup: dashboard repo in a fresh session; /context ready to run before and after; this run card visible. SAY: I'm going to commit every sin from this block, on purpose, and then recover in thirty seconds. Step one - the overload: I @-mention the entire src folder - there goes the budget - and then two unrelated tasks in one prompt: 'restyle the header AND rework the data layer.' Both sins at once. Step two - the evidence: /context shows the spend, and as output arrives, watch it - entangled changes, degraded quality; I'll narrate what's going wrong as it happens. Step three - the recovery: double-tap Escape, choose restore code only, show the diff is gone - and then re-run the header task alone: clean, sharp, fast. Expected: visible degradation under bloat, then a thirty-second recovery with the conversation history intact. Recovery: if the rewind menu misbehaves, say: 'this is exactly why we have a recovery path - the ladder has a git rung under it' - then run git checkout . plus /clear and continue. If the degradation isn't visually obvious, narrate the /context numbers instead - the spend tells the story. Debrief - ASK: What would change in a different scenario - the conversation was poisoned but the code was good? expect: restore conversation only - scope choice is the skill. SAY-NEXT: Your turn to break and recover - Lab 1C.</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(1:46, 30 min) LAB. SAY: Lab 1C - precision recovery, rebuilt this cycle around checkpoints. You will break the dashboard on purpose: the lab guide has you inject a deliberately bad instruction, watch the damage land, then rewind with double-Esc and ship the feature cleanly. Deliverable: a dashboard feature shipped after a deliberate bad detour - proof you can recover, not just avoid. Timebox: thirty minutes. Success checklist, three items: one bad change fully rewound; the rewind-versus-revert call made - a short written decision on when rewind applies versus git revert, because articulating the boundary is how it sticks; and /context checked twice - once fresh, once loaded, so you see your own budget move. If you're behind, the minimum is one complete rewind cycle. Expect the aha moment when the code reverts but the conversation survives - that scope choice is the skill this lab exists to build. I'm circulating; if you hit the two-failed-corrections spiral, that's not a failure - that IS the curriculum: rewind, don't argue. Debrief - ASK: Which scope did you restore - conversation, code, or both - and why? expect: code-only for most, both for the over-steerers - a great answer names the reason, not just the choice. SAY-NEXT: Quick recap, then break - and after it, money, modes, and shipping.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(2:16, 4 min) SAY: The whole block, compressed to two lines - let me read them slowly. First: 'Less context, better output - feed files, not folders.' That's the aiming discipline: @-mention precisely, one task per session, and remember that relevance concentrates attention while noise dilutes it. Second: 'Rewind beats arguing: double-Esc costs less than three corrections.' That's the recovery discipline: after two failed fixes the context is poisoned, and the cheap exit is the checkpoint menu - with git standing underneath for anything that crossed a commit. Together, those two sentences are what 'context mastery' means on the certificate - and I'd argue they're the highest-value thirty seconds of the day to memorize. Tomorrow's skills work - teaching Claude your standards - builds directly on this hygiene, because a well-aimed session is what makes an encoded standard actually fire. ASK: Which line would have saved you the most time this year? expect: mostly the rewind line - the correction spiral is where the room's hours actually went. SAY-NEXT: Ten-minute break - then the final teaching block: commands, cost, permissions, and shipping a real PR.</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 10 min) SAY: Ten minutes - we restart at 2:30 sharp; the time is on screen. The last teaching block answers the two questions every manager asks - what does it cost, and is it safe - so bring those questions back with you.</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 1 min) SAY: Final teaching block - seventy minutes: commands, cost, and permissions - and then you ship. This is the manager-question block: what does it cost, is it safe, and can it really ship? The route: first the daily-driver commands and building an explicit skill of your own; then the July permission model - including Auto mode and how to size its blast radius; then the money slide; and finally git to PR without leaving the chat, which is Lab 1D, where tonight's dashboard leaves your machine. The objectives on the slide are concrete: cycle the permission modes including Auto, state the deny-ask-allow evaluation order, price a session, and ship a PR from chat. ASK: What's the first question YOUR manager will ask about Claude Code? expect: cost or security, every single time - good; both get answered in the next hour. SAY-NEXT: Start with the six commands you'll type every day.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(2:31, 2 min) SAY: Six commands, and here's the good news: every single one has already appeared today - this is consolidation, not news. /init generates the starter CLAUDE.md - you ran it in Lab 1B. /clear is the hard reset between tasks - the second half of commit-clear-next. /compact compresses a long session while keeping the thread - rung three of the recovery ladder. /context shows exactly where your tokens went - you'll check it twice more before four o'clock. /model switches models mid-session - escalate deliberately, drop back after. /doctor diagnoses and auto-fixes the setup - your first move when anything feels wrong. These six cover ninety percent of daily driving; everything else is seasoning. If they're not muscle memory yet, they will be by the end of Lab 1D. ASK: Which of these have you already used today without being told to? expect: /clear or /context from the labs - that's the habit forming, which is exactly what you want to hear. SAY-NEXT: And July added three small comforts that are worth thirty seconds each.</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(2:33, 2 min) SAY: Three quality-of-life features from the July releases. /btw answers a side question without polluting the main context - 'what does this regex do?' - the answer arrives, and your task context stays clean; remember, everything in the window occupies budget, and /btw is the pressure valve for tangents. The ! prefix runs a shell command AND hands Claude the output in one move - type !npm test, and Claude reads the results directly; no run-copy-paste-explain round trip. /keybindings remaps everything, writing to ~/.claude/keybindings.json - small, but if a default key fights your muscle memory, that's the fix. The caution strip is honest and applies to all three: these ship in fast-moving weekly releases, so we re-verify exact behavior on delivery morning rather than promising specifics today. (verify at delivery) ASK: Which tangent question did you swallow this morning to protect your session? expect: several - 'what does that flag do,' 'why that syntax' - /btw exists for exactly those. SAY-NEXT: The real power move, though, is writing commands of your own - let's build one right now.</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 5 min) SAY: Here's a change worth knowing if you've read older tutorials: custom commands have merged into skills. Your old .claude/commands files still work - backward compatible - but new explicit workflows belong in .claude/skills, one folder per skill with a SKILL.md file inside. A skill is a reusable, packaged instruction set - your team's checklist turned into a slash command. Two settings matter today. disable-model-invocation: true keeps the skill human-invoked - it fires only when YOU type the slash command; Claude can't decide to run it on its own. That's the right default for anything with side effects or judgment in it. And $ARGUMENTS carries whatever you type after the command into the skill body. Now follow along with the first paste: we ask Claude to create .claude/skills/review/SKILL.md with a name, a trigger description, disable-model-invocation: true, and Read, Grep, and Glob tools only - a reviewer that can look but not touch. Then the payoff, line two: /review src/auth/login.ts - your path rides in as $ARGUMENTS, and you get prioritized findings with file references. Commit the folder, and your whole team has the same reviewer tomorrow. ASK: What's the first skill you'd build for your team? expect: code review, release checklist, test-writing conventions. SAY-NEXT: Good automation still depends on a good specification - which brings us to specs.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 2 min) SAY: The honest arithmetic of specification. The vague column: 'Build me an API.' Feels fast - ten seconds to type. Then Claude guesses everything: framework, endpoints, auth model, error handling. Some guesses miss, and you're into round after round of 'no, not like that' - three rounds later it's still wrong, because corrections can't reconstruct intentions you never stated. The clear column: stack, endpoints, and auth model named up front. Costs five minutes of thinking, lands near your mental model, one round of refinement. Five minutes versus four hours - that's the trade, and it runs in your favor every single time. Here's the reframe: the skill that separates power users isn't prompting tricks - it's specification, which is the same skill that makes you good at delegating to humans; nothing here is new, it's management. ASK: Whose fault is the vague-spec failure - the model's, or the spec's? expect: the spec's - and that's good news, because specs are learnable. SAY-NEXT: And when you can't write the spec yourself, there's a pattern for that - make Claude interview you.</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(2:42, 2 min) SAY: The Interview Me pattern - my favorite five words in the course, because it reverses the hard part. Instead of writing a spec cold, you say: 'I want to build X. Interview me first.' Step two: Claude asks the questions you hadn't thought through - what happens when a token expires mid-request? Should deletes be soft or hard? What's the concurrency story? Step three: it writes spec.md from your answers - and notice the law from this morning: the spec lands in a file, so it persists and it's reviewable. Step four: execute - build from the spec, with problems caught before code instead of after. This pattern eliminates most 'Claude didn't understand me' failures, because the misunderstanding surfaces as a question in the interview, not as a bug in the diff. It also works when YOU don't fully understand your own requirements yet - which, honestly, is most projects on day one. ASK: What question would Claude ask about YOUR current project that you can't answer yet? expect: edge cases, error handling, auth boundaries - the squirming is the value. SAY-NEXT: From what to build, to what it's allowed to touch - the permission model.</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(2:44, 3 min) SAY: One keystroke - Shift+Tab - rotates through four permission modes; watch the mode indicator in the terminal as you cycle. Default: ask before acting - every file edit, every command needs your yes; maximum oversight, and the right home for day one and for unfamiliar repos. AcceptEdits: file edits are auto-approved, but commands still gate - for when you trust the editing but want a hand on anything that executes. Plan: explore before acting - Claude reads, searches, and proposes an approach, but touches nothing until you approve the plan; remember the creator's own rule from this morning: plan mode for ANY non-trivial task. Auto: acts alone inside guardrails - the July addition, and the next two slides are entirely about what makes it safe. The principle: match mode to trust and task, not to mood - the mode question is really 'how much do I trust this session, in this repo, on this task?' ASK: Which mode for a refactor in an unfamiliar codebase? expect: Plan - explore first, execute after review; anyone who says Auto gets asked what they'd want denied first, which is a perfect segue. SAY-NEXT: Auto mode only earns its keep because of what sits underneath it - here's the machinery.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(2:47, 4 min) SAY: Auto mode is not 'permissions off' - it's guarded autonomy, and the architecture is worth two minutes because your security team will ask. Think airport security: two layers plus hard guards. Layer one, inputs: an injection probe screens what enters the session - web content, file contents, anything that could carry a prompt injection, which is the attack where malicious text hidden in data tries to hand your agent new instructions; poisoned inputs get flagged on the way in. Layer two, outputs: a transcript classifier reviews what Claude actually did - a second check reading the transcript for actions that look wrong. And hard guards sit under both: it asks before running rm -rf on unresolved variables - the classic catastrophe where an empty variable turns 'delete the temp folder' into 'delete everything' - and it blocks transcript tampering, so the agent can't quietly edit its own record. The strip is the posture: Auto mode is powerful, not unattended - supervise it, and the guard details get verified at delivery because they're release-dependent. (verify at delivery) [CRESCENDO L2] ASK: Which mode will be your Monday default, and why - drop it in chat. expect: mostly Default and Plan, a few brave Autos - all defensible if chosen deliberately. SAY-NEXT: The guards protect the session - your job is to shrink what a bad action could even touch.</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(2:51, 3 min) SAY: Blast radius - the question that turns Auto mode from scary into sized: before granting autonomy, ask what the worst allowed action could destroy, then shrink that on purpose. Four moves. Contain the workspace: run Auto in a sandbox, a container, or a throwaway clone - never your only checkout of anything; if the workspace is disposable, the worst case is disposable too. Starve it of secrets: no production credentials inside an Auto session - an agent cannot leak or misuse a credential it never had. Write the deny list first - the red row, and here's why it's red: with nobody watching the prompts, deny rules and the built-in guards are the only 'no' in the room; in Default mode you are the safety net, in Auto mode the rules are. Size the damage: assume every allowed action will eventually run, and grant accordingly - allow is not 'probably fine,' it's 'fine even on the worst day.' Per the strip: sandboxing options vary by platform and policy, so we verify what your environment offers at delivery. (verify at delivery) ASK: What's the blast radius of Bash(git *) with a push credential loaded? expect: your remote history - which is exactly why force-push lives in the deny list on the next slide. SAY-NEXT: Modes are the posture - rules are the law, and the law has an evaluation order.</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(2:54, 3 min) SAY: Three rule types, and the evaluation order is the exam question of the block. Deny - checked first, and a matching deny always wins, even against an explicit allow. The examples on the slide: Bash(rm -rf *), Read(.env) - and that second one matters: deny rules can stop Claude from even reading your secrets file. Ask - the default for anything unmatched: it prompts you for a decision, case by case. Allow - pre-approved and frictionless: Bash(npm test), Bash(git *) - the trusted set you never want to click through again. Here's why deny-first matters, with the concrete case: you allow Bash(git *) because git is daily life, and you deny Bash(git push --force) because force-push rewrites shared history. A force-push matches both rules - and it's denied, because deny is evaluated first. That's the design: broad convenience, surgical prohibition. Where they live: arrays in settings.json - project-level, committed with the repo - and managed settings let the organization lock policy that no local file can override; same precedence spirit as the memory hierarchy. ASK: You allow Bash(git *) and deny Bash(git push --force) - what happens on a force push? expect: denied - deny wins; when the room says it in chorus, it stuck. SAY-NEXT: Smart rules mean two or three meaningful prompts per task - which is the safety principle in one line.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(2:57, 2 min) SAY: Write down the last one - Principle Four: default to safe. Three parts. When uncertain, Claude Code asks first - safety over speed, by design. The permission prompt is a feature, not friction - it's your review point, the moment you see what's about to happen before it happens; resent it and you'll eventually disable it, read it and it's doing its job. And trust is earned - start restrictive, then loosen rule by rule as you watch how the tool behaves in YOUR repo: every prompt you approve repeatedly is a candidate for the allow list; every 'absolutely not' goes to deny. Now the warning, because it's the real-world failure mode: over-restrictive setups train developers to disable permissions entirely - ten reflexive prompts per task and humans stop reading them, which is security theater. The goal is calibration, not maximum friction. ASK: What's the right number of prompts per task? expect: two or three meaningful ones - not ten reflexive ones; 'meaningful' is the word that matters. SAY-NEXT: Safety settled - now the money question your manager is guaranteed to ask.</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(2:59, 2 min) SAY: I'm deliberately not giving you a price table - prices change, and remembered arithmetic goes stale; the durable question is: which meter is this run on? Four paths. Subscription seat: a rolling and weekly allowance shared across Claude surfaces - the same pool your chat usage draws from - and /usage inspects it live. API or cloud provider: pay-per-token billing - use provider budgets and telemetry, because nobody is standing between you and the meter. Headless and CI - automated runs, Day Three territory: set --max-turns and --allowedTools so a runaway job has a ceiling, and monitor each automation path separately. Agent teams: each teammate carries its own context, so usage scales with the number of active teammates - parallelism multiplies the meter. The habit to leave with: before any significant run, know which path you're on and who owns its budget. (verify at delivery) ASK: Who owns the budget for your automated runs? expect: the platform or engineering owner, not an individual learner - and if nobody owns it, that answer is itself the finding. SAY-NEXT: Last stop before the final lab - shipping the work.</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(3:01, 3 min) SAY: Here's where cost stops being abstract - five habits that quietly burn budget, and notice every single one is fixed by something we covered today. One: spraying context. Pasting whole files or letting a broad search pull in half the repo when two @-mentions would do - every token you send is metered, so aim. Two: the immortal session - one conversation running all day. You pay for repeated compaction, then you pay again for the degraded answers it causes, then you pay for the retries. End sessions on purpose; state lives in files. Three: premium model on routine work. Sonnet handles your daily implementation; save the top tier for the problems that deserve it - that's the model menu from this morning. Four: re-explaining your project every session instead of writing it once into CLAUDE.md - memory is literally a cost feature. Five, the expensive one: skipping verification. A wrong answer you shipped costs the original loop plus the whole cleanup loop. ASK: [CRESCENDO L3] Drop it in chat, three words or less - which of these five is you? expect: honest laughter and mostly 'immortal session' and 'spraying context'. If someone asks how to see the damage, the answer is /usage - watch it for a week and the habits show up in the numbers. SAY-NEXT: The last stretch of the day puts everything into one workflow - real git, a real branch, and a PR with receipts.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(3:01, 2 min) SAY: The whole git lifecycle, driven in plain English - Claude runs the real git and gh commands underneath while you speak. See changes: 'what have I modified?' - status and diff, narrated. Commit: staged with a generated, descriptive message written from the actual diff - not 'fixes stuff.' Branch: create, switch, merge - conflicts included; Claude reads both sides of a conflict and proposes the resolution, which you review like any other diff. Pull request: 'create a PR' - the description is written from your commit history: summary, changes, test notes. CI: when a check fails, Claude reads the failure log and proposes the fix - which closes the loop from this morning: act, observe, iterate, now at pipeline scale. And the safety thread holds: every one of these actions still passes the permission gate we configured two slides ago - git convenience never bypasses the rules. ASK: Which git chore do you most want to never type again? expect: commit messages and PR descriptions, nearly unanimously. SAY-NEXT: Three prompts turn that lifecycle into a ritual - follow along, because these are the exact prompts you'll use in Lab 1D.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(3:03, 4 min) SAY: Three prompts, in order, and the order is the point - this is the shipping ritual for Lab 1D. Prompt one, the review: 'Review the staged diff like a skeptical senior engineer: flag risky changes, missed edge cases, and anything unrelated to this task.' Claude reads its own staged work with fresh, critical eyes before anything is committed - and this reliably catches the unrelated-file-that-drifted-in class of error, plus leftover debug lines. Prompt two, the commit: 'Commit with a message that says what changed and why, following our commit format' - written from the actual diff, and notice 'our commit format' works because your CLAUDE.md from Lab 1B defines it; the morning's file is already paying rent. Prompt three, the PR: 'Open a PR. Build the description from the commits: summary, key changes, and how it was tested.' Stress the order: review BEFORE commit, always - a good message on a bad diff is lipstick. Review, then commit, then PR: receipts at every step. ASK: What do you do when the review prompt flags something you disagree with? expect: read the diff yourself - the agent's review is a second pair of eyes, not the approver; you are still the engineer of record. SAY-NEXT: Which raises the bar question underneath all of this - how does Claude know any of it worked?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(3:07, 2 min) SAY: Let me raise the engineering bar before the final lab. 'Claude says it's done' has zero engineering value - fluent confidence is not evidence. What matters is a verifier: an independent check that proves the work, and verifiers come in three levels. Bottom: exit codes and unit tests - cheap, fast, binary. Middle: integration and contract checks - does it work with the rest of the system? Top: production signals - does it work in reality, under real traffic? The test on the middle row is the one to memorize: if you cannot state how Claude knows it succeeded, it is not ready to run unattended - no verifier, no agent. That sentence is also your Auto-mode gate today and your CI gate on Day Three. And the do-this row: define acceptance criteria before the task, not after - before, they're a specification; after, they're a rationalization of whatever got built. ASK: What's the verifier for Lab 1D? expect: the test suite passing plus a reviewable PR - a machine check and a human check, together. SAY-NEXT: Demo first - Auto mode with the guardrails visibly working - then you ship.</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(3:09, 6 min) DEMO - Auto mode, guarded. Setup: dashboard repo with a prepared settings.json - allow Bash(npm test) and Bash(git *), deny Bash(git push --force) - open in a second pane so the room can read the rules. SAY: Three beats. Beat one: Shift+Tab to Auto, then a safe task: 'update the README badge and run the tests' - narrate the zero prompts; this is earned autonomy on a contained task. Beat two: trip a guard - ask for a cleanup script that removes a directory held in an unresolved variable, and point at Auto mode stopping to ask before the rm -rf; that pause is the hard guard from the architecture slide, live. Beat three: ask Claude to force-push - the deny rule beats the git allow, on screen. Expected: autonomous safe work, then two visible refusals - the guard asks, the deny blocks. Recovery: if the guard prompt doesn't trigger, say: 'this is exactly why we have a recovery path - guard behavior is release-dependent' - then run the deny demonstration first and pull the fallback screenshot deck from the instructor kit. Debrief - ASK: Why did the force-push lose to the allow rule? expect: deny is evaluated first - deny, ask, allow. Transfer probe - ASK: What would change in a different scenario - a headless CI runner with nobody watching? expect: no ask layer possible - the deny list and the verifier carry all the weight. SAY-NEXT: Your turn - ship it.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(3:15, 25 min) LAB. SAY: Lab 1D - ship it. The dashboard leaves your machine tonight. Deliverable: tests green, a clean commit, and an open pull request - shipped through the ritual you just watched: Claude reviews the staged diff first, then writes the commit message from the diff, then builds the PR description from the commits. Along the way you also write one permission rule in settings.json and cycle every Shift+Tab mode once, so the whole block gets exercised. Timebox: twenty-five minutes - the tightest lab of the day, but the ritual is three prompts, so it fits. If you're behind, the minimum bar is a reviewed diff and a clean agent-written commit; the PR can happen tonight. Success checklist: permission rule set; diff reviewed; agent-written commit and PR open. I'm circulating and checking settings.json files - the most common error every cycle is writing an allow where you meant a deny, so read your arrays twice. Debrief - ASK: What did the diff review catch that you would have missed? expect: an unrelated file, a leftover debug line, a risky edge case - and someone will say 'nothing,' which is also a pass. SAY-NEXT: Bring your PR link to the wrap-up - the scoreboard is next.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(3:40, 1 min) SAY: Teaching is done - the last twenty minutes are pure consolidation, and the energy shifts here from learning to locking in. Four beats before four o'clock: the scoreboard - today's six outcomes checked against the promises I made at nine this morning; the five mistakes that actually bite people in week one, with the fix for each; the three-day arc, so you can see where tomorrow and Day Three take this; and tonight's homework - optional, twenty minutes, and designed to convert today from a demo you watched into a habit you own. Keep your PR link from Lab 1D handy - it's the receipt for the whole day, and I will ask about it. ASK: One word in chat - how do you feel about driving this thing solo tomorrow morning? expect: confident, curious, a few cautious - and all three are the right answer at this point. SAY-NEXT: Here's the scoreboard.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(3:41, 3 min) SAY: Read these six rows against the outcome slide from nine o'clock this morning - and notice that they all happened. Setup: native install, an approved identity, and the live default verified with /model - not assumed, verified. The loop: five stages Claude runs on its own - context, plan, act, observe, iterate - and you watched it self-correct in Lab 1A. Memory: CLAUDE.md plus auto memory - taught once, kept forever; your Lab 1B file is committed and under two hundred lines. Context: @-mentions, one task per session, and rewind recovery - practiced deliberately in Lab 1C, including the scope choice. Guardrails: four modes, deny-ask-allow, and knowing which meter you're on. Shipping: git to PR without leaving the conversation - and the PRs exist; that's the receipt. Four lab artifacts, one repo, and the four principles threading through all six rows: small and testable, next actions, route don't pile, default to safe. ASK: Which outcome felt furthest away at nine this morning? expect: shipping a PR, or trusting Auto mode - both felt like Day Three material and happened on Day One. SAY-NEXT: Now the honest slide - the five ways week one goes wrong anyway.</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(3:44, 3 min) SAY: You will recognize yourself in at least two of these rows - everyone does. Context overflow: the most common - sessions bloat, quality degrades; the fix is /clear between tasks and feeding files, not folders. Correction spirals: the most frustrating - two failed fixes means the context is poisoned; rewind or restart, never argue - you know the mechanism now. Forgotten rules: if you've said it twice, stop saying it - put it in CLAUDE.md, where it loads every session forever. Scope creep: the payment-module story - one task per session; commit, /clear, next. And vibe coding: the most dangerous, because it feels productive - prompting without a spec produces fragile code that almost works; spec first, plan mode for anything complex, and remember that 'almost right' passes review and breaks at 2 AM. Every fix in the right-hand column is something you practiced today - this table is a memory aid, not new work, and it ships in your quick reference. [CRESCENDO L2] ASK: Which mistake did you already make TODAY - no judgment, drop it in chat. expect: scope creep and overflow, with laughter - and the laughter is the point; recognition beats shame. SAY-NEXT: Here's where the next two days take you.</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(3:47, 2 min) SAY: The arc in three verbs. Day One - drive: one agent, driven well - the loop, memory, context, guardrails; that's today, and it's done. Day Two - teach: you encode YOUR standards into the tool - skills like the /review you built this afternoon, hooks, invocation controls, and plugins, reviewed and governed; it's the difference between a tool that works and a tool that works your way. Day Three - multiply: MCP to connect external systems, subagents for parallel work, agent teams, and headless CI/CD - loops that run without you, which is exactly why Day One's verification discipline matters so much: automation without verifiers is just faster failure. Everything builds on the same dashboard repo, so tonight's homework keeps the thread warm - same laptop, same repo, next Tuesday. ASK: Which day were you actually here for when you signed up? expect: Day Three, for most - and the honest answer is that Day One is what makes Day Three safe. SAY-NEXT: Speaking of tonight - the homework.</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(3:49, 2 min) SAY: Homework - optional, and twenty minutes total; its job is converting today from a demo you watched into a habit you own, because the forgetting curve is real and tonight is when it's steepest. Three pieces. One: run /init on your ACTUAL project - not the training dashboard - and trim hard; you know the bar now: lean, behavioral, under two hundred lines. Two: build one human-invoked skill you will genuinely reuse - the /review pattern from this afternoon, pointed at your team's real checklist. Three: practice one deliberate rewind on real work - a double-Esc recovery on purpose, so the reflex exists before you need it in anger; the first time you use rewind should not be during an incident. Bring all three artifacts tomorrow - Day Two starts by upgrading them into team standards, so tonight's rough drafts become tomorrow's raw material. ASK: Which of the three will you actually do tonight - honestly? expect: the CLAUDE.md, mostly - fine; it's the highest-value one. SAY-NEXT: Two lines to leave 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(3:51, 2 min) SAY: Day One in two sentences - let me read them slowly and then stop talking. First: 'Small, frequent, actionable - the loop rewards discipline.' That's Principle One and the operating rhythm of everything you did today: bounded tasks, banked commits, testable results, clean sessions. Second: 'Rewind beats arguing. Specs beat vibes. Verify beats trust.' Three principles, a few words apiece: when it goes wrong, double-Esc instead of a correction spiral; before you build, specify - make Claude interview you if you have to; and when it claims done, demand the receipt - a passing test, a readable diff. Pin one of these two lines above your desk for week one - physically, on paper. When you're deep in a session next Thursday and the third correction is tempting you, the paper will be right. ASK: Which line is your desk line? expect: a split, with the second slightly ahead - both are correct answers. SAY-NEXT: Final logistics, and goodnight.</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(3:53, 7 min) SAY: Let's close the loop on this morning's promise. You came in at nine with an installer link - you're leaving with a shipped PR, four numbered principles, a recovery reflex, and a repo that carries forward. Tonight's column: the homework - /init your real project, build one human-invoked skill, practice one rewind - and apply one habit to real work; bring questions from wherever it gets weird, because 'it got weird' stories are Day Two fuel. Tomorrow's column: Day Two, next Tuesday, nine sharp, same repo - teach Claude your standards: skills, hooks, invocation control, and governed plugins; your Monday-morning practice becomes team standards. ASK: Last question of the day - what's the first real task you hand Claude Code this week? expect: reports, refactors, test backfills - get three or four out loud; public commitment makes it happen. Then the transfer probe - ASK: What would change in a different scenario - applying today's habits to a codebase you have never seen? expect: plan mode first, /init before anything, smaller tasks, tighter verification - if the room says that unprompted, Day One did its job. SAY-NEXT: That's Day One - thank you for the energy and the questions; I'm posting the homework and tomorrow's start time in chat now, and I'll stay on for a few minutes if anyone wants to talk through applying this to their own repo. See you Tuesday.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3.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12.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7.png"/><Relationship Id="rId4" Type="http://schemas.openxmlformats.org/officeDocument/2006/relationships/image" Target="../media/image23.png"/><Relationship Id="rId5" Type="http://schemas.openxmlformats.org/officeDocument/2006/relationships/image" Target="../media/image16.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3.png"/><Relationship Id="rId4" Type="http://schemas.openxmlformats.org/officeDocument/2006/relationships/image" Target="../media/image25.png"/><Relationship Id="rId5" Type="http://schemas.openxmlformats.org/officeDocument/2006/relationships/image" Target="../media/image19.pn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4.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12.png"/><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23.png"/><Relationship Id="rId4" Type="http://schemas.openxmlformats.org/officeDocument/2006/relationships/image" Target="../media/image35.png"/><Relationship Id="rId5" Type="http://schemas.openxmlformats.org/officeDocument/2006/relationships/image" Target="../media/image19.pn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17.pn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16.png"/><Relationship Id="rId4" Type="http://schemas.openxmlformats.org/officeDocument/2006/relationships/image" Target="../media/image37.png"/><Relationship Id="rId5" Type="http://schemas.openxmlformats.org/officeDocument/2006/relationships/image" Target="../media/image41.png"/><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5.png"/><Relationship Id="rId5" Type="http://schemas.openxmlformats.org/officeDocument/2006/relationships/image" Target="../media/image33.png"/><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33.png"/><Relationship Id="rId6" Type="http://schemas.openxmlformats.org/officeDocument/2006/relationships/image" Target="../media/image7.png"/><Relationship Id="rId7" Type="http://schemas.openxmlformats.org/officeDocument/2006/relationships/image" Target="../media/image14.png"/><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9.png"/><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38.png"/><Relationship Id="rId5" Type="http://schemas.openxmlformats.org/officeDocument/2006/relationships/image" Target="../media/image43.png"/><Relationship Id="rId6" Type="http://schemas.openxmlformats.org/officeDocument/2006/relationships/image" Target="../media/image18.png"/><Relationship Id="rId7" Type="http://schemas.openxmlformats.org/officeDocument/2006/relationships/image" Target="../media/image23.png"/><Relationship Id="rId8" Type="http://schemas.openxmlformats.org/officeDocument/2006/relationships/image" Target="../media/image12.png"/><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19.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17.png"/><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5.png"/><Relationship Id="rId4" Type="http://schemas.openxmlformats.org/officeDocument/2006/relationships/image" Target="../media/image33.png"/><Relationship Id="rId5" Type="http://schemas.openxmlformats.org/officeDocument/2006/relationships/image" Target="../media/image38.png"/><Relationship Id="rId6" Type="http://schemas.openxmlformats.org/officeDocument/2006/relationships/image" Target="../media/image19.png"/><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12.png"/><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35.png"/><Relationship Id="rId4" Type="http://schemas.openxmlformats.org/officeDocument/2006/relationships/image" Target="../media/image6.png"/><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6.png"/><Relationship Id="rId5" Type="http://schemas.openxmlformats.org/officeDocument/2006/relationships/image" Target="../media/image19.png"/><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png"/><Relationship Id="rId4" Type="http://schemas.openxmlformats.org/officeDocument/2006/relationships/image" Target="../media/image25.png"/><Relationship Id="rId5" Type="http://schemas.openxmlformats.org/officeDocument/2006/relationships/image" Target="../media/image6.png"/><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3.png"/><Relationship Id="rId4" Type="http://schemas.openxmlformats.org/officeDocument/2006/relationships/image" Target="../media/image19.png"/><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30.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49.png"/><Relationship Id="rId4" Type="http://schemas.openxmlformats.org/officeDocument/2006/relationships/image" Target="../media/image12.png"/><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17.png"/><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5.png"/><Relationship Id="rId5" Type="http://schemas.openxmlformats.org/officeDocument/2006/relationships/image" Target="../media/image16.png"/><Relationship Id="rId6" Type="http://schemas.openxmlformats.org/officeDocument/2006/relationships/image" Target="../media/image23.png"/><Relationship Id="rId7" Type="http://schemas.openxmlformats.org/officeDocument/2006/relationships/image" Target="../media/image6.png"/><Relationship Id="rId8"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14.png"/><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28.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5.png"/><Relationship Id="rId4" Type="http://schemas.openxmlformats.org/officeDocument/2006/relationships/image" Target="../media/image8.png"/><Relationship Id="rId5" Type="http://schemas.openxmlformats.org/officeDocument/2006/relationships/image" Target="../media/image19.png"/><Relationship Id="rId6"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35.png"/><Relationship Id="rId4" Type="http://schemas.openxmlformats.org/officeDocument/2006/relationships/image" Target="../media/image60.png"/><Relationship Id="rId5" Type="http://schemas.openxmlformats.org/officeDocument/2006/relationships/image" Target="../media/image25.png"/><Relationship Id="rId6" Type="http://schemas.openxmlformats.org/officeDocument/2006/relationships/image" Target="../media/image19.png"/><Relationship Id="rId7"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35.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12.png"/><Relationship Id="rId7"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25.png"/><Relationship Id="rId5"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8.png"/><Relationship Id="rId4" Type="http://schemas.openxmlformats.org/officeDocument/2006/relationships/image" Target="../media/image33.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17.png"/><Relationship Id="rId6"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33.png"/><Relationship Id="rId8"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8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png"/>
          <p:cNvPicPr>
            <a:picLocks noChangeAspect="1"/>
          </p:cNvPicPr>
          <p:nvPr/>
        </p:nvPicPr>
        <p:blipFill>
          <a:blip r:embed="rId2"/>
          <a:stretch>
            <a:fillRect/>
          </a:stretch>
        </p:blipFill>
        <p:spPr>
          <a:xfrm>
            <a:off x="6263640" y="0"/>
            <a:ext cx="5925312" cy="6858000"/>
          </a:xfrm>
          <a:prstGeom prst="rect">
            <a:avLst/>
          </a:prstGeom>
        </p:spPr>
      </p:pic>
      <p:sp>
        <p:nvSpPr>
          <p:cNvPr id="3" name="Rectangle 2"/>
          <p:cNvSpPr/>
          <p:nvPr/>
        </p:nvSpPr>
        <p:spPr>
          <a:xfrm>
            <a:off x="626364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286000"/>
            <a:ext cx="50292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432304"/>
            <a:ext cx="5486400" cy="274320"/>
          </a:xfrm>
          <a:prstGeom prst="rect">
            <a:avLst/>
          </a:prstGeom>
          <a:noFill/>
        </p:spPr>
        <p:txBody>
          <a:bodyPr wrap="square" anchor="t">
            <a:spAutoFit/>
          </a:bodyPr>
          <a:lstStyle/>
          <a:p>
            <a:pPr algn="l">
              <a:lnSpc>
                <a:spcPct val="100000"/>
              </a:lnSpc>
              <a:spcBef>
                <a:spcPts val="0"/>
              </a:spcBef>
              <a:spcAft>
                <a:spcPts val="200"/>
              </a:spcAft>
            </a:pPr>
            <a:r>
              <a:rPr sz="1200" b="1" spc="180">
                <a:solidFill>
                  <a:srgbClr val="8B8B93"/>
                </a:solidFill>
                <a:latin typeface="Instrument Sans"/>
              </a:rPr>
              <a:t>AIA COPILOT TRAINING</a:t>
            </a:r>
          </a:p>
        </p:txBody>
      </p:sp>
      <p:sp>
        <p:nvSpPr>
          <p:cNvPr id="6" name="TextBox 5"/>
          <p:cNvSpPr txBox="1"/>
          <p:nvPr/>
        </p:nvSpPr>
        <p:spPr>
          <a:xfrm>
            <a:off x="621792" y="2761488"/>
            <a:ext cx="5669280" cy="1371600"/>
          </a:xfrm>
          <a:prstGeom prst="rect">
            <a:avLst/>
          </a:prstGeom>
          <a:noFill/>
        </p:spPr>
        <p:txBody>
          <a:bodyPr wrap="square" anchor="t">
            <a:spAutoFit/>
          </a:bodyPr>
          <a:lstStyle/>
          <a:p>
            <a:pPr algn="l">
              <a:lnSpc>
                <a:spcPct val="100000"/>
              </a:lnSpc>
              <a:spcBef>
                <a:spcPts val="0"/>
              </a:spcBef>
              <a:spcAft>
                <a:spcPts val="200"/>
              </a:spcAft>
            </a:pPr>
            <a:r>
              <a:rPr sz="4600" b="1">
                <a:solidFill>
                  <a:srgbClr val="F5F5F6"/>
                </a:solidFill>
                <a:latin typeface="Instrument Sans"/>
              </a:rPr>
              <a:t>Claude Code: Fundamentals</a:t>
            </a:r>
          </a:p>
        </p:txBody>
      </p:sp>
      <p:sp>
        <p:nvSpPr>
          <p:cNvPr id="7" name="TextBox 6"/>
          <p:cNvSpPr txBox="1"/>
          <p:nvPr/>
        </p:nvSpPr>
        <p:spPr>
          <a:xfrm>
            <a:off x="640080" y="4334256"/>
            <a:ext cx="5394960" cy="548640"/>
          </a:xfrm>
          <a:prstGeom prst="rect">
            <a:avLst/>
          </a:prstGeom>
          <a:noFill/>
        </p:spPr>
        <p:txBody>
          <a:bodyPr wrap="square" anchor="t">
            <a:spAutoFit/>
          </a:bodyPr>
          <a:lstStyle/>
          <a:p>
            <a:pPr algn="l">
              <a:lnSpc>
                <a:spcPct val="100000"/>
              </a:lnSpc>
              <a:spcBef>
                <a:spcPts val="0"/>
              </a:spcBef>
              <a:spcAft>
                <a:spcPts val="200"/>
              </a:spcAft>
            </a:pPr>
            <a:r>
              <a:rPr sz="2100" b="0">
                <a:solidFill>
                  <a:srgbClr val="ACACB4"/>
                </a:solidFill>
                <a:latin typeface="Instrument Sans"/>
              </a:rPr>
              <a:t>Mastronardi Produce  |  Aug 11 / 19 / 26, 2026</a:t>
            </a:r>
          </a:p>
        </p:txBody>
      </p:sp>
      <p:sp>
        <p:nvSpPr>
          <p:cNvPr id="8" name="TextBox 7"/>
          <p:cNvSpPr txBox="1"/>
          <p:nvPr/>
        </p:nvSpPr>
        <p:spPr>
          <a:xfrm>
            <a:off x="640080" y="5074920"/>
            <a:ext cx="5486400" cy="274320"/>
          </a:xfrm>
          <a:prstGeom prst="rect">
            <a:avLst/>
          </a:prstGeom>
          <a:noFill/>
        </p:spPr>
        <p:txBody>
          <a:bodyPr wrap="square" anchor="t">
            <a:spAutoFit/>
          </a:bodyPr>
          <a:lstStyle/>
          <a:p>
            <a:pPr algn="l">
              <a:lnSpc>
                <a:spcPct val="100000"/>
              </a:lnSpc>
              <a:spcBef>
                <a:spcPts val="0"/>
              </a:spcBef>
              <a:spcAft>
                <a:spcPts val="200"/>
              </a:spcAft>
            </a:pPr>
            <a:r>
              <a:rPr sz="1500" b="0">
                <a:solidFill>
                  <a:srgbClr val="7E7E86"/>
                </a:solidFill>
                <a:latin typeface="Instrument Sans"/>
              </a:rPr>
              <a:t>Scott Hay</a:t>
            </a: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AGENDA - TUE, AUG 11</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Day 1 - five blocks, 9:00 to 4:00</a:t>
            </a:r>
          </a:p>
        </p:txBody>
      </p:sp>
      <p:sp>
        <p:nvSpPr>
          <p:cNvPr id="4" name="TextBox 3"/>
          <p:cNvSpPr txBox="1"/>
          <p:nvPr/>
        </p:nvSpPr>
        <p:spPr>
          <a:xfrm>
            <a:off x="640080" y="19659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01</a:t>
            </a:r>
          </a:p>
        </p:txBody>
      </p:sp>
      <p:sp>
        <p:nvSpPr>
          <p:cNvPr id="5" name="TextBox 4"/>
          <p:cNvSpPr txBox="1"/>
          <p:nvPr/>
        </p:nvSpPr>
        <p:spPr>
          <a:xfrm>
            <a:off x="1463040" y="19842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The agentic loop &amp; setup</a:t>
            </a:r>
          </a:p>
          <a:p>
            <a:pPr algn="l">
              <a:lnSpc>
                <a:spcPct val="105000"/>
              </a:lnSpc>
              <a:spcBef>
                <a:spcPts val="0"/>
              </a:spcBef>
              <a:spcAft>
                <a:spcPts val="300"/>
              </a:spcAft>
            </a:pPr>
            <a:r>
              <a:rPr sz="1550" b="0">
                <a:solidFill>
                  <a:srgbClr val="ACACB4"/>
                </a:solidFill>
                <a:latin typeface="Instrument Sans"/>
              </a:rPr>
              <a:t>9:00-10:30 - Install, models, extended thinking, sessions, first loop</a:t>
            </a:r>
          </a:p>
        </p:txBody>
      </p:sp>
      <p:sp>
        <p:nvSpPr>
          <p:cNvPr id="6" name="Rectangle 5"/>
          <p:cNvSpPr/>
          <p:nvPr/>
        </p:nvSpPr>
        <p:spPr>
          <a:xfrm>
            <a:off x="640080" y="33040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81344" y="19659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02</a:t>
            </a:r>
          </a:p>
        </p:txBody>
      </p:sp>
      <p:sp>
        <p:nvSpPr>
          <p:cNvPr id="8" name="TextBox 7"/>
          <p:cNvSpPr txBox="1"/>
          <p:nvPr/>
        </p:nvSpPr>
        <p:spPr>
          <a:xfrm>
            <a:off x="7004304" y="19842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Memory &amp; CLAUDE.md</a:t>
            </a:r>
          </a:p>
          <a:p>
            <a:pPr algn="l">
              <a:lnSpc>
                <a:spcPct val="105000"/>
              </a:lnSpc>
              <a:spcBef>
                <a:spcPts val="0"/>
              </a:spcBef>
              <a:spcAft>
                <a:spcPts val="300"/>
              </a:spcAft>
            </a:pPr>
            <a:r>
              <a:rPr sz="1550" b="0">
                <a:solidFill>
                  <a:srgbClr val="ACACB4"/>
                </a:solidFill>
                <a:latin typeface="Instrument Sans"/>
              </a:rPr>
              <a:t>10:40-12:10 - Teach it once; state lives in files. Lunch 12:10-12:55</a:t>
            </a:r>
          </a:p>
        </p:txBody>
      </p:sp>
      <p:sp>
        <p:nvSpPr>
          <p:cNvPr id="9" name="Rectangle 8"/>
          <p:cNvSpPr/>
          <p:nvPr/>
        </p:nvSpPr>
        <p:spPr>
          <a:xfrm>
            <a:off x="6181344" y="33040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4137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03</a:t>
            </a:r>
          </a:p>
        </p:txBody>
      </p:sp>
      <p:sp>
        <p:nvSpPr>
          <p:cNvPr id="11" name="TextBox 10"/>
          <p:cNvSpPr txBox="1"/>
          <p:nvPr/>
        </p:nvSpPr>
        <p:spPr>
          <a:xfrm>
            <a:off x="1463040" y="34320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Context mastery</a:t>
            </a:r>
          </a:p>
          <a:p>
            <a:pPr algn="l">
              <a:lnSpc>
                <a:spcPct val="105000"/>
              </a:lnSpc>
              <a:spcBef>
                <a:spcPts val="0"/>
              </a:spcBef>
              <a:spcAft>
                <a:spcPts val="300"/>
              </a:spcAft>
            </a:pPr>
            <a:r>
              <a:rPr sz="1550" b="0">
                <a:solidFill>
                  <a:srgbClr val="ACACB4"/>
                </a:solidFill>
                <a:latin typeface="Instrument Sans"/>
              </a:rPr>
              <a:t>12:55-2:20 - Aim context, rewind vs revert, recover fast</a:t>
            </a:r>
          </a:p>
        </p:txBody>
      </p:sp>
      <p:sp>
        <p:nvSpPr>
          <p:cNvPr id="12" name="Rectangle 11"/>
          <p:cNvSpPr/>
          <p:nvPr/>
        </p:nvSpPr>
        <p:spPr>
          <a:xfrm>
            <a:off x="640080" y="47518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1344" y="34137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04</a:t>
            </a:r>
          </a:p>
        </p:txBody>
      </p:sp>
      <p:sp>
        <p:nvSpPr>
          <p:cNvPr id="14" name="TextBox 13"/>
          <p:cNvSpPr txBox="1"/>
          <p:nvPr/>
        </p:nvSpPr>
        <p:spPr>
          <a:xfrm>
            <a:off x="7004304" y="34320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Commands, cost, permissions, git</a:t>
            </a:r>
          </a:p>
          <a:p>
            <a:pPr algn="l">
              <a:lnSpc>
                <a:spcPct val="105000"/>
              </a:lnSpc>
              <a:spcBef>
                <a:spcPts val="0"/>
              </a:spcBef>
              <a:spcAft>
                <a:spcPts val="300"/>
              </a:spcAft>
            </a:pPr>
            <a:r>
              <a:rPr sz="1550" b="0">
                <a:solidFill>
                  <a:srgbClr val="ACACB4"/>
                </a:solidFill>
                <a:latin typeface="Instrument Sans"/>
              </a:rPr>
              <a:t>2:30-3:40 - Auto mode blast radius, ship a reviewed PR</a:t>
            </a:r>
          </a:p>
        </p:txBody>
      </p:sp>
      <p:sp>
        <p:nvSpPr>
          <p:cNvPr id="15" name="Rectangle 14"/>
          <p:cNvSpPr/>
          <p:nvPr/>
        </p:nvSpPr>
        <p:spPr>
          <a:xfrm>
            <a:off x="6181344" y="47518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8615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05</a:t>
            </a:r>
          </a:p>
        </p:txBody>
      </p:sp>
      <p:sp>
        <p:nvSpPr>
          <p:cNvPr id="17" name="TextBox 16"/>
          <p:cNvSpPr txBox="1"/>
          <p:nvPr/>
        </p:nvSpPr>
        <p:spPr>
          <a:xfrm>
            <a:off x="1463040" y="4879847"/>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Wrap-up</a:t>
            </a:r>
          </a:p>
          <a:p>
            <a:pPr algn="l">
              <a:lnSpc>
                <a:spcPct val="105000"/>
              </a:lnSpc>
              <a:spcBef>
                <a:spcPts val="0"/>
              </a:spcBef>
              <a:spcAft>
                <a:spcPts val="300"/>
              </a:spcAft>
            </a:pPr>
            <a:r>
              <a:rPr sz="1550" b="0">
                <a:solidFill>
                  <a:srgbClr val="ACACB4"/>
                </a:solidFill>
                <a:latin typeface="Instrument Sans"/>
              </a:rPr>
              <a:t>3:40-4:00 - Recap, five mistakes, homework</a:t>
            </a:r>
          </a:p>
        </p:txBody>
      </p:sp>
      <p:sp>
        <p:nvSpPr>
          <p:cNvPr id="18" name="Rectangle 17"/>
          <p:cNvSpPr/>
          <p:nvPr/>
        </p:nvSpPr>
        <p:spPr>
          <a:xfrm>
            <a:off x="640080" y="6199631"/>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2.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THE MISSION</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What you will build today</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One continuous artifact - a business dashboard that Claude Code builds with you across four chained labs.</a:t>
            </a:r>
          </a:p>
        </p:txBody>
      </p:sp>
      <p:sp>
        <p:nvSpPr>
          <p:cNvPr id="7" name="Rounded Rectangle 6"/>
          <p:cNvSpPr/>
          <p:nvPr/>
        </p:nvSpPr>
        <p:spPr>
          <a:xfrm>
            <a:off x="5349240" y="3474720"/>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1879"/>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ocket_2A2A30.png"/>
          <p:cNvPicPr>
            <a:picLocks noChangeAspect="1"/>
          </p:cNvPicPr>
          <p:nvPr/>
        </p:nvPicPr>
        <p:blipFill>
          <a:blip r:embed="rId3"/>
          <a:stretch>
            <a:fillRect/>
          </a:stretch>
        </p:blipFill>
        <p:spPr>
          <a:xfrm>
            <a:off x="5712439" y="3700759"/>
            <a:ext cx="151424" cy="151424"/>
          </a:xfrm>
          <a:prstGeom prst="rect">
            <a:avLst/>
          </a:prstGeom>
        </p:spPr>
      </p:pic>
      <p:sp>
        <p:nvSpPr>
          <p:cNvPr id="10" name="TextBox 9"/>
          <p:cNvSpPr txBox="1"/>
          <p:nvPr/>
        </p:nvSpPr>
        <p:spPr>
          <a:xfrm>
            <a:off x="6227064" y="3474720"/>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Lab 1A</a:t>
            </a:r>
            <a:r>
              <a:rPr sz="1400" b="0">
                <a:solidFill>
                  <a:srgbClr val="ACACB4"/>
                </a:solidFill>
                <a:latin typeface="Instrument Sans"/>
              </a:rPr>
              <a:t>  -  scaffold the dashboard from one prompt</a:t>
            </a:r>
          </a:p>
        </p:txBody>
      </p:sp>
      <p:sp>
        <p:nvSpPr>
          <p:cNvPr id="11" name="Rounded Rectangle 10"/>
          <p:cNvSpPr/>
          <p:nvPr/>
        </p:nvSpPr>
        <p:spPr>
          <a:xfrm>
            <a:off x="5349240" y="4224528"/>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361688"/>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oc_2A2A30.png"/>
          <p:cNvPicPr>
            <a:picLocks noChangeAspect="1"/>
          </p:cNvPicPr>
          <p:nvPr/>
        </p:nvPicPr>
        <p:blipFill>
          <a:blip r:embed="rId4"/>
          <a:stretch>
            <a:fillRect/>
          </a:stretch>
        </p:blipFill>
        <p:spPr>
          <a:xfrm>
            <a:off x="5712439" y="4450567"/>
            <a:ext cx="151424" cy="151424"/>
          </a:xfrm>
          <a:prstGeom prst="rect">
            <a:avLst/>
          </a:prstGeom>
        </p:spPr>
      </p:pic>
      <p:sp>
        <p:nvSpPr>
          <p:cNvPr id="14" name="TextBox 13"/>
          <p:cNvSpPr txBox="1"/>
          <p:nvPr/>
        </p:nvSpPr>
        <p:spPr>
          <a:xfrm>
            <a:off x="6227064" y="4224528"/>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Lab 1B</a:t>
            </a:r>
            <a:r>
              <a:rPr sz="1400" b="0">
                <a:solidFill>
                  <a:srgbClr val="ACACB4"/>
                </a:solidFill>
                <a:latin typeface="Instrument Sans"/>
              </a:rPr>
              <a:t>  -  teach Claude the codebase with CLAUDE.md</a:t>
            </a:r>
          </a:p>
        </p:txBody>
      </p:sp>
      <p:sp>
        <p:nvSpPr>
          <p:cNvPr id="15" name="Rounded Rectangle 14"/>
          <p:cNvSpPr/>
          <p:nvPr/>
        </p:nvSpPr>
        <p:spPr>
          <a:xfrm>
            <a:off x="5349240" y="4974336"/>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111496"/>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efresh_2A2A30.png"/>
          <p:cNvPicPr>
            <a:picLocks noChangeAspect="1"/>
          </p:cNvPicPr>
          <p:nvPr/>
        </p:nvPicPr>
        <p:blipFill>
          <a:blip r:embed="rId5"/>
          <a:stretch>
            <a:fillRect/>
          </a:stretch>
        </p:blipFill>
        <p:spPr>
          <a:xfrm>
            <a:off x="5712439" y="5200375"/>
            <a:ext cx="151424" cy="151424"/>
          </a:xfrm>
          <a:prstGeom prst="rect">
            <a:avLst/>
          </a:prstGeom>
        </p:spPr>
      </p:pic>
      <p:sp>
        <p:nvSpPr>
          <p:cNvPr id="18" name="TextBox 17"/>
          <p:cNvSpPr txBox="1"/>
          <p:nvPr/>
        </p:nvSpPr>
        <p:spPr>
          <a:xfrm>
            <a:off x="6227064" y="4974336"/>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Lab 1C</a:t>
            </a:r>
            <a:r>
              <a:rPr sz="1400" b="0">
                <a:solidFill>
                  <a:srgbClr val="ACACB4"/>
                </a:solidFill>
                <a:latin typeface="Instrument Sans"/>
              </a:rPr>
              <a:t>  -  break it on purpose, recover with rewind</a:t>
            </a:r>
          </a:p>
        </p:txBody>
      </p:sp>
      <p:sp>
        <p:nvSpPr>
          <p:cNvPr id="19" name="Rounded Rectangle 18"/>
          <p:cNvSpPr/>
          <p:nvPr/>
        </p:nvSpPr>
        <p:spPr>
          <a:xfrm>
            <a:off x="5349240" y="5724144"/>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623559" y="5861304"/>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2A2A30.png"/>
          <p:cNvPicPr>
            <a:picLocks noChangeAspect="1"/>
          </p:cNvPicPr>
          <p:nvPr/>
        </p:nvPicPr>
        <p:blipFill>
          <a:blip r:embed="rId6"/>
          <a:stretch>
            <a:fillRect/>
          </a:stretch>
        </p:blipFill>
        <p:spPr>
          <a:xfrm>
            <a:off x="5712439" y="5950183"/>
            <a:ext cx="151424" cy="151424"/>
          </a:xfrm>
          <a:prstGeom prst="rect">
            <a:avLst/>
          </a:prstGeom>
        </p:spPr>
      </p:pic>
      <p:sp>
        <p:nvSpPr>
          <p:cNvPr id="22" name="TextBox 21"/>
          <p:cNvSpPr txBox="1"/>
          <p:nvPr/>
        </p:nvSpPr>
        <p:spPr>
          <a:xfrm>
            <a:off x="6227064" y="5724144"/>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Lab 1D</a:t>
            </a:r>
            <a:r>
              <a:rPr sz="1400" b="0">
                <a:solidFill>
                  <a:srgbClr val="ACACB4"/>
                </a:solidFill>
                <a:latin typeface="Instrument Sans"/>
              </a:rPr>
              <a:t>  -  tests green, commit, pull request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OUTCOMES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By four o'clock you can</a:t>
            </a:r>
          </a:p>
        </p:txBody>
      </p:sp>
      <p:sp>
        <p:nvSpPr>
          <p:cNvPr id="4" name="Rounded Rectangle 3"/>
          <p:cNvSpPr/>
          <p:nvPr/>
        </p:nvSpPr>
        <p:spPr>
          <a:xfrm>
            <a:off x="640080" y="1828800"/>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85775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eck_2A2A30.png"/>
          <p:cNvPicPr>
            <a:picLocks noChangeAspect="1"/>
          </p:cNvPicPr>
          <p:nvPr/>
        </p:nvPicPr>
        <p:blipFill>
          <a:blip r:embed="rId2"/>
          <a:stretch>
            <a:fillRect/>
          </a:stretch>
        </p:blipFill>
        <p:spPr>
          <a:xfrm>
            <a:off x="1014984" y="1994916"/>
            <a:ext cx="292608" cy="292608"/>
          </a:xfrm>
          <a:prstGeom prst="rect">
            <a:avLst/>
          </a:prstGeom>
        </p:spPr>
      </p:pic>
      <p:sp>
        <p:nvSpPr>
          <p:cNvPr id="7" name="TextBox 6"/>
          <p:cNvSpPr txBox="1"/>
          <p:nvPr/>
        </p:nvSpPr>
        <p:spPr>
          <a:xfrm>
            <a:off x="1591056" y="1828800"/>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Install &amp; authenticate</a:t>
            </a:r>
          </a:p>
        </p:txBody>
      </p:sp>
      <p:sp>
        <p:nvSpPr>
          <p:cNvPr id="8" name="TextBox 7"/>
          <p:cNvSpPr txBox="1"/>
          <p:nvPr/>
        </p:nvSpPr>
        <p:spPr>
          <a:xfrm>
            <a:off x="4434840" y="1828800"/>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Native installer on your OS, licensed seat, /doctor green.</a:t>
            </a:r>
          </a:p>
        </p:txBody>
      </p:sp>
      <p:sp>
        <p:nvSpPr>
          <p:cNvPr id="9" name="Rounded Rectangle 8"/>
          <p:cNvSpPr/>
          <p:nvPr/>
        </p:nvSpPr>
        <p:spPr>
          <a:xfrm>
            <a:off x="640080" y="2599944"/>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62890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fresh_2A2A30.png"/>
          <p:cNvPicPr>
            <a:picLocks noChangeAspect="1"/>
          </p:cNvPicPr>
          <p:nvPr/>
        </p:nvPicPr>
        <p:blipFill>
          <a:blip r:embed="rId3"/>
          <a:stretch>
            <a:fillRect/>
          </a:stretch>
        </p:blipFill>
        <p:spPr>
          <a:xfrm>
            <a:off x="1014984" y="2766060"/>
            <a:ext cx="292608" cy="292608"/>
          </a:xfrm>
          <a:prstGeom prst="rect">
            <a:avLst/>
          </a:prstGeom>
        </p:spPr>
      </p:pic>
      <p:sp>
        <p:nvSpPr>
          <p:cNvPr id="12" name="TextBox 11"/>
          <p:cNvSpPr txBox="1"/>
          <p:nvPr/>
        </p:nvSpPr>
        <p:spPr>
          <a:xfrm>
            <a:off x="1591056" y="2599944"/>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Run the loop</a:t>
            </a:r>
          </a:p>
        </p:txBody>
      </p:sp>
      <p:sp>
        <p:nvSpPr>
          <p:cNvPr id="13" name="TextBox 12"/>
          <p:cNvSpPr txBox="1"/>
          <p:nvPr/>
        </p:nvSpPr>
        <p:spPr>
          <a:xfrm>
            <a:off x="4434840" y="2599944"/>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Explain the five stages and watch Claude run them on real code.</a:t>
            </a:r>
          </a:p>
        </p:txBody>
      </p:sp>
      <p:sp>
        <p:nvSpPr>
          <p:cNvPr id="14" name="Rounded Rectangle 13"/>
          <p:cNvSpPr/>
          <p:nvPr/>
        </p:nvSpPr>
        <p:spPr>
          <a:xfrm>
            <a:off x="640080" y="3371088"/>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40004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oc_2A2A30.png"/>
          <p:cNvPicPr>
            <a:picLocks noChangeAspect="1"/>
          </p:cNvPicPr>
          <p:nvPr/>
        </p:nvPicPr>
        <p:blipFill>
          <a:blip r:embed="rId4"/>
          <a:stretch>
            <a:fillRect/>
          </a:stretch>
        </p:blipFill>
        <p:spPr>
          <a:xfrm>
            <a:off x="1014984" y="3537204"/>
            <a:ext cx="292608" cy="292608"/>
          </a:xfrm>
          <a:prstGeom prst="rect">
            <a:avLst/>
          </a:prstGeom>
        </p:spPr>
      </p:pic>
      <p:sp>
        <p:nvSpPr>
          <p:cNvPr id="17" name="TextBox 16"/>
          <p:cNvSpPr txBox="1"/>
          <p:nvPr/>
        </p:nvSpPr>
        <p:spPr>
          <a:xfrm>
            <a:off x="1591056" y="3371088"/>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Write a CLAUDE.md</a:t>
            </a:r>
          </a:p>
        </p:txBody>
      </p:sp>
      <p:sp>
        <p:nvSpPr>
          <p:cNvPr id="18" name="TextBox 17"/>
          <p:cNvSpPr txBox="1"/>
          <p:nvPr/>
        </p:nvSpPr>
        <p:spPr>
          <a:xfrm>
            <a:off x="4434840" y="3371088"/>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 lean project brief Claude loads every single session.</a:t>
            </a:r>
          </a:p>
        </p:txBody>
      </p:sp>
      <p:sp>
        <p:nvSpPr>
          <p:cNvPr id="19" name="Rounded Rectangle 18"/>
          <p:cNvSpPr/>
          <p:nvPr/>
        </p:nvSpPr>
        <p:spPr>
          <a:xfrm>
            <a:off x="640080" y="4142232"/>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17118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target_2A2A30.png"/>
          <p:cNvPicPr>
            <a:picLocks noChangeAspect="1"/>
          </p:cNvPicPr>
          <p:nvPr/>
        </p:nvPicPr>
        <p:blipFill>
          <a:blip r:embed="rId5"/>
          <a:stretch>
            <a:fillRect/>
          </a:stretch>
        </p:blipFill>
        <p:spPr>
          <a:xfrm>
            <a:off x="1014984" y="4308348"/>
            <a:ext cx="292608" cy="292608"/>
          </a:xfrm>
          <a:prstGeom prst="rect">
            <a:avLst/>
          </a:prstGeom>
        </p:spPr>
      </p:pic>
      <p:sp>
        <p:nvSpPr>
          <p:cNvPr id="22" name="TextBox 21"/>
          <p:cNvSpPr txBox="1"/>
          <p:nvPr/>
        </p:nvSpPr>
        <p:spPr>
          <a:xfrm>
            <a:off x="1591056" y="4142232"/>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Scope context</a:t>
            </a:r>
          </a:p>
        </p:txBody>
      </p:sp>
      <p:sp>
        <p:nvSpPr>
          <p:cNvPr id="23" name="TextBox 22"/>
          <p:cNvSpPr txBox="1"/>
          <p:nvPr/>
        </p:nvSpPr>
        <p:spPr>
          <a:xfrm>
            <a:off x="4434840" y="4142232"/>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@-mention exactly what matters; one task per session.</a:t>
            </a:r>
          </a:p>
        </p:txBody>
      </p:sp>
      <p:sp>
        <p:nvSpPr>
          <p:cNvPr id="24" name="Rounded Rectangle 23"/>
          <p:cNvSpPr/>
          <p:nvPr/>
        </p:nvSpPr>
        <p:spPr>
          <a:xfrm>
            <a:off x="640080" y="4913376"/>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494233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ock_2A2A30.png"/>
          <p:cNvPicPr>
            <a:picLocks noChangeAspect="1"/>
          </p:cNvPicPr>
          <p:nvPr/>
        </p:nvPicPr>
        <p:blipFill>
          <a:blip r:embed="rId6"/>
          <a:stretch>
            <a:fillRect/>
          </a:stretch>
        </p:blipFill>
        <p:spPr>
          <a:xfrm>
            <a:off x="1014984" y="5079492"/>
            <a:ext cx="292608" cy="292608"/>
          </a:xfrm>
          <a:prstGeom prst="rect">
            <a:avLst/>
          </a:prstGeom>
        </p:spPr>
      </p:pic>
      <p:sp>
        <p:nvSpPr>
          <p:cNvPr id="27" name="TextBox 26"/>
          <p:cNvSpPr txBox="1"/>
          <p:nvPr/>
        </p:nvSpPr>
        <p:spPr>
          <a:xfrm>
            <a:off x="1591056" y="4913376"/>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Set guardrails</a:t>
            </a:r>
          </a:p>
        </p:txBody>
      </p:sp>
      <p:sp>
        <p:nvSpPr>
          <p:cNvPr id="28" name="TextBox 27"/>
          <p:cNvSpPr txBox="1"/>
          <p:nvPr/>
        </p:nvSpPr>
        <p:spPr>
          <a:xfrm>
            <a:off x="4434840" y="4913376"/>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Cycle the four permission modes and write a deny/ask/allow rule.</a:t>
            </a:r>
          </a:p>
        </p:txBody>
      </p:sp>
      <p:sp>
        <p:nvSpPr>
          <p:cNvPr id="29" name="Rounded Rectangle 28"/>
          <p:cNvSpPr/>
          <p:nvPr/>
        </p:nvSpPr>
        <p:spPr>
          <a:xfrm>
            <a:off x="640080" y="5684520"/>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1248" y="571347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rocket_2A2A30.png"/>
          <p:cNvPicPr>
            <a:picLocks noChangeAspect="1"/>
          </p:cNvPicPr>
          <p:nvPr/>
        </p:nvPicPr>
        <p:blipFill>
          <a:blip r:embed="rId7"/>
          <a:stretch>
            <a:fillRect/>
          </a:stretch>
        </p:blipFill>
        <p:spPr>
          <a:xfrm>
            <a:off x="1014984" y="5850636"/>
            <a:ext cx="292608" cy="292608"/>
          </a:xfrm>
          <a:prstGeom prst="rect">
            <a:avLst/>
          </a:prstGeom>
        </p:spPr>
      </p:pic>
      <p:sp>
        <p:nvSpPr>
          <p:cNvPr id="32" name="TextBox 31"/>
          <p:cNvSpPr txBox="1"/>
          <p:nvPr/>
        </p:nvSpPr>
        <p:spPr>
          <a:xfrm>
            <a:off x="1591056" y="5684520"/>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Ship a PR</a:t>
            </a:r>
          </a:p>
        </p:txBody>
      </p:sp>
      <p:sp>
        <p:nvSpPr>
          <p:cNvPr id="33" name="TextBox 32"/>
          <p:cNvSpPr txBox="1"/>
          <p:nvPr/>
        </p:nvSpPr>
        <p:spPr>
          <a:xfrm>
            <a:off x="4434840" y="5684520"/>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Commit and open a pull request without leaving the chat.</a:t>
            </a:r>
          </a:p>
        </p:txBody>
      </p:sp>
      <p:sp>
        <p:nvSpPr>
          <p:cNvPr id="34" name="Rectangle 3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6" name="TextBox 3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3.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BLOCK 1 - 90 MINUTES</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The Agentic Loop &amp; Setup</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Install it, license it, and understand the engine underneath.</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CONCEPT</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Agentic is table stakes</a:t>
            </a:r>
          </a:p>
        </p:txBody>
      </p:sp>
      <p:sp>
        <p:nvSpPr>
          <p:cNvPr id="4" name="Rounded Rectangle 3"/>
          <p:cNvSpPr/>
          <p:nvPr/>
        </p:nvSpPr>
        <p:spPr>
          <a:xfrm>
            <a:off x="640080"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t_ACACB4.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Every modern tool</a:t>
            </a:r>
          </a:p>
        </p:txBody>
      </p:sp>
      <p:sp>
        <p:nvSpPr>
          <p:cNvPr id="7" name="Rectangle 6"/>
          <p:cNvSpPr/>
          <p:nvPr/>
        </p:nvSpPr>
        <p:spPr>
          <a:xfrm>
            <a:off x="932688"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Copilot &amp; Cursor run agent modes too</a:t>
            </a:r>
          </a:p>
        </p:txBody>
      </p:sp>
      <p:sp>
        <p:nvSpPr>
          <p:cNvPr id="9" name="Rectangle 8"/>
          <p:cNvSpPr/>
          <p:nvPr/>
        </p:nvSpPr>
        <p:spPr>
          <a:xfrm>
            <a:off x="932688"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Background agents open PRs from issues</a:t>
            </a:r>
          </a:p>
        </p:txBody>
      </p:sp>
      <p:sp>
        <p:nvSpPr>
          <p:cNvPr id="11" name="Rectangle 10"/>
          <p:cNvSpPr/>
          <p:nvPr/>
        </p:nvSpPr>
        <p:spPr>
          <a:xfrm>
            <a:off x="932688"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The loop is now the industry model</a:t>
            </a:r>
          </a:p>
        </p:txBody>
      </p:sp>
      <p:sp>
        <p:nvSpPr>
          <p:cNvPr id="13" name="Rounded Rectangle 12"/>
          <p:cNvSpPr/>
          <p:nvPr/>
        </p:nvSpPr>
        <p:spPr>
          <a:xfrm>
            <a:off x="6199632"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rocket_46B17A.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Why Claude Code here</a:t>
            </a:r>
          </a:p>
        </p:txBody>
      </p:sp>
      <p:sp>
        <p:nvSpPr>
          <p:cNvPr id="16" name="Rectangle 15"/>
          <p:cNvSpPr/>
          <p:nvPr/>
        </p:nvSpPr>
        <p:spPr>
          <a:xfrm>
            <a:off x="6492240"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Whole loop exposed - CLI, IDE, CI, SDK</a:t>
            </a:r>
          </a:p>
        </p:txBody>
      </p:sp>
      <p:sp>
        <p:nvSpPr>
          <p:cNvPr id="18" name="Rectangle 17"/>
          <p:cNvSpPr/>
          <p:nvPr/>
        </p:nvSpPr>
        <p:spPr>
          <a:xfrm>
            <a:off x="6492240"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Primitives: memory, skills, hooks, plugins</a:t>
            </a:r>
          </a:p>
        </p:txBody>
      </p:sp>
      <p:sp>
        <p:nvSpPr>
          <p:cNvPr id="20" name="Rectangle 19"/>
          <p:cNvSpPr/>
          <p:nvPr/>
        </p:nvSpPr>
        <p:spPr>
          <a:xfrm>
            <a:off x="6492240"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Orchestration: subagents to agent teams</a:t>
            </a:r>
          </a:p>
        </p:txBody>
      </p:sp>
      <p:sp>
        <p:nvSpPr>
          <p:cNvPr id="22" name="Rounded Rectangle 21"/>
          <p:cNvSpPr/>
          <p:nvPr/>
        </p:nvSpPr>
        <p:spPr>
          <a:xfrm>
            <a:off x="640080" y="5138928"/>
            <a:ext cx="10908792" cy="713232"/>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fo_4C8DF0.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These skills transfer: every major tool runs this loop - Claude Code just lets you drive all of it.</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SETUP</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Your seat: enterprise, ready</a:t>
            </a:r>
          </a:p>
        </p:txBody>
      </p:sp>
      <p:sp>
        <p:nvSpPr>
          <p:cNvPr id="4" name="Rounded Rectangle 3"/>
          <p:cNvSpPr/>
          <p:nvPr/>
        </p:nvSpPr>
        <p:spPr>
          <a:xfrm>
            <a:off x="640080" y="1828800"/>
            <a:ext cx="10908792" cy="115214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212140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eck_2A2A30.png"/>
          <p:cNvPicPr>
            <a:picLocks noChangeAspect="1"/>
          </p:cNvPicPr>
          <p:nvPr/>
        </p:nvPicPr>
        <p:blipFill>
          <a:blip r:embed="rId2"/>
          <a:stretch>
            <a:fillRect/>
          </a:stretch>
        </p:blipFill>
        <p:spPr>
          <a:xfrm>
            <a:off x="1014984" y="2258568"/>
            <a:ext cx="292608" cy="292608"/>
          </a:xfrm>
          <a:prstGeom prst="rect">
            <a:avLst/>
          </a:prstGeom>
        </p:spPr>
      </p:pic>
      <p:sp>
        <p:nvSpPr>
          <p:cNvPr id="7" name="TextBox 6"/>
          <p:cNvSpPr txBox="1"/>
          <p:nvPr/>
        </p:nvSpPr>
        <p:spPr>
          <a:xfrm>
            <a:off x="1591056" y="1828800"/>
            <a:ext cx="2743200" cy="115214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One identity</a:t>
            </a:r>
          </a:p>
        </p:txBody>
      </p:sp>
      <p:sp>
        <p:nvSpPr>
          <p:cNvPr id="8" name="TextBox 7"/>
          <p:cNvSpPr txBox="1"/>
          <p:nvPr/>
        </p:nvSpPr>
        <p:spPr>
          <a:xfrm>
            <a:off x="4434840" y="1828800"/>
            <a:ext cx="6903720" cy="115214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Sign in with your organization account - the same identity everywhere Claude runs.</a:t>
            </a:r>
          </a:p>
        </p:txBody>
      </p:sp>
      <p:sp>
        <p:nvSpPr>
          <p:cNvPr id="9" name="Rounded Rectangle 8"/>
          <p:cNvSpPr/>
          <p:nvPr/>
        </p:nvSpPr>
        <p:spPr>
          <a:xfrm>
            <a:off x="640080" y="3127248"/>
            <a:ext cx="10908792" cy="115214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341985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ck_2A2A30.png"/>
          <p:cNvPicPr>
            <a:picLocks noChangeAspect="1"/>
          </p:cNvPicPr>
          <p:nvPr/>
        </p:nvPicPr>
        <p:blipFill>
          <a:blip r:embed="rId3"/>
          <a:stretch>
            <a:fillRect/>
          </a:stretch>
        </p:blipFill>
        <p:spPr>
          <a:xfrm>
            <a:off x="1014984" y="3557015"/>
            <a:ext cx="292608" cy="292608"/>
          </a:xfrm>
          <a:prstGeom prst="rect">
            <a:avLst/>
          </a:prstGeom>
        </p:spPr>
      </p:pic>
      <p:sp>
        <p:nvSpPr>
          <p:cNvPr id="12" name="TextBox 11"/>
          <p:cNvSpPr txBox="1"/>
          <p:nvPr/>
        </p:nvSpPr>
        <p:spPr>
          <a:xfrm>
            <a:off x="1591056" y="3127248"/>
            <a:ext cx="2743200" cy="115214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Org policy applies</a:t>
            </a:r>
          </a:p>
        </p:txBody>
      </p:sp>
      <p:sp>
        <p:nvSpPr>
          <p:cNvPr id="13" name="TextBox 12"/>
          <p:cNvSpPr txBox="1"/>
          <p:nvPr/>
        </p:nvSpPr>
        <p:spPr>
          <a:xfrm>
            <a:off x="4434840" y="3127248"/>
            <a:ext cx="6903720" cy="115214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Admins can pin models and permission rules via managed settings - some options may be preset for you.</a:t>
            </a:r>
          </a:p>
        </p:txBody>
      </p:sp>
      <p:sp>
        <p:nvSpPr>
          <p:cNvPr id="14" name="Rounded Rectangle 13"/>
          <p:cNvSpPr/>
          <p:nvPr/>
        </p:nvSpPr>
        <p:spPr>
          <a:xfrm>
            <a:off x="640080" y="4425696"/>
            <a:ext cx="10908792" cy="115214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471830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warn_E26B6B.png"/>
          <p:cNvPicPr>
            <a:picLocks noChangeAspect="1"/>
          </p:cNvPicPr>
          <p:nvPr/>
        </p:nvPicPr>
        <p:blipFill>
          <a:blip r:embed="rId4"/>
          <a:stretch>
            <a:fillRect/>
          </a:stretch>
        </p:blipFill>
        <p:spPr>
          <a:xfrm>
            <a:off x="1014984" y="4855464"/>
            <a:ext cx="292608" cy="292608"/>
          </a:xfrm>
          <a:prstGeom prst="rect">
            <a:avLst/>
          </a:prstGeom>
        </p:spPr>
      </p:pic>
      <p:sp>
        <p:nvSpPr>
          <p:cNvPr id="17" name="TextBox 16"/>
          <p:cNvSpPr txBox="1"/>
          <p:nvPr/>
        </p:nvSpPr>
        <p:spPr>
          <a:xfrm>
            <a:off x="1591056" y="4425696"/>
            <a:ext cx="2743200" cy="115214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Classroom gate</a:t>
            </a:r>
          </a:p>
        </p:txBody>
      </p:sp>
      <p:sp>
        <p:nvSpPr>
          <p:cNvPr id="18" name="TextBox 17"/>
          <p:cNvSpPr txBox="1"/>
          <p:nvPr/>
        </p:nvSpPr>
        <p:spPr>
          <a:xfrm>
            <a:off x="4434840" y="4425696"/>
            <a:ext cx="6903720" cy="115214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Launch Claude Code, run /model and /usage - green before Lab 1A.</a:t>
            </a:r>
          </a:p>
        </p:txBody>
      </p:sp>
      <p:sp>
        <p:nvSpPr>
          <p:cNvPr id="19" name="Rounded Rectangle 18"/>
          <p:cNvSpPr/>
          <p:nvPr/>
        </p:nvSpPr>
        <p:spPr>
          <a:xfrm>
            <a:off x="640080" y="5760720"/>
            <a:ext cx="10908792" cy="658368"/>
          </a:xfrm>
          <a:prstGeom prst="roundRect">
            <a:avLst>
              <a:gd name="adj" fmla="val 16000"/>
            </a:avLst>
          </a:prstGeom>
          <a:solidFill>
            <a:srgbClr val="173527"/>
          </a:solidFill>
          <a:ln w="9525">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46B17A.png"/>
          <p:cNvPicPr>
            <a:picLocks noChangeAspect="1"/>
          </p:cNvPicPr>
          <p:nvPr/>
        </p:nvPicPr>
        <p:blipFill>
          <a:blip r:embed="rId5"/>
          <a:stretch>
            <a:fillRect/>
          </a:stretch>
        </p:blipFill>
        <p:spPr>
          <a:xfrm>
            <a:off x="877824" y="5907024"/>
            <a:ext cx="365760" cy="365760"/>
          </a:xfrm>
          <a:prstGeom prst="rect">
            <a:avLst/>
          </a:prstGeom>
        </p:spPr>
      </p:pic>
      <p:sp>
        <p:nvSpPr>
          <p:cNvPr id="21" name="TextBox 20"/>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BFE6D2"/>
                </a:solidFill>
                <a:latin typeface="Instrument Sans"/>
              </a:rPr>
              <a:t>Everyone here is on the enterprise plan - no licensing homework, just sign in and verify.</a:t>
            </a:r>
          </a:p>
        </p:txBody>
      </p:sp>
      <p:sp>
        <p:nvSpPr>
          <p:cNvPr id="22" name="Rectangle 2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4" name="TextBox 2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SETUP</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Install: one command, no Node</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9260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PLATFORM</a:t>
            </a:r>
          </a:p>
        </p:txBody>
      </p:sp>
      <p:sp>
        <p:nvSpPr>
          <p:cNvPr id="6" name="TextBox 5"/>
          <p:cNvSpPr txBox="1"/>
          <p:nvPr/>
        </p:nvSpPr>
        <p:spPr>
          <a:xfrm>
            <a:off x="3840480" y="1874519"/>
            <a:ext cx="75255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COMMAND</a:t>
            </a:r>
          </a:p>
        </p:txBody>
      </p:sp>
      <p:sp>
        <p:nvSpPr>
          <p:cNvPr id="7" name="Rectangle 6"/>
          <p:cNvSpPr/>
          <p:nvPr/>
        </p:nvSpPr>
        <p:spPr>
          <a:xfrm>
            <a:off x="640080" y="242316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29260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macOS / Linux / WSL</a:t>
            </a:r>
          </a:p>
        </p:txBody>
      </p:sp>
      <p:sp>
        <p:nvSpPr>
          <p:cNvPr id="10" name="TextBox 9"/>
          <p:cNvSpPr txBox="1"/>
          <p:nvPr/>
        </p:nvSpPr>
        <p:spPr>
          <a:xfrm>
            <a:off x="3840480" y="2423160"/>
            <a:ext cx="75255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curl -fsSL https://claude.ai/install.sh | bash</a:t>
            </a:r>
          </a:p>
        </p:txBody>
      </p:sp>
      <p:sp>
        <p:nvSpPr>
          <p:cNvPr id="11" name="Rectangle 10"/>
          <p:cNvSpPr/>
          <p:nvPr/>
        </p:nvSpPr>
        <p:spPr>
          <a:xfrm>
            <a:off x="640080" y="338327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38327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83279"/>
            <a:ext cx="29260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Windows PowerShell</a:t>
            </a:r>
          </a:p>
        </p:txBody>
      </p:sp>
      <p:sp>
        <p:nvSpPr>
          <p:cNvPr id="14" name="TextBox 13"/>
          <p:cNvSpPr txBox="1"/>
          <p:nvPr/>
        </p:nvSpPr>
        <p:spPr>
          <a:xfrm>
            <a:off x="3840480" y="3383279"/>
            <a:ext cx="75255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irm https://claude.ai/install.ps1 | iex</a:t>
            </a:r>
          </a:p>
        </p:txBody>
      </p:sp>
      <p:sp>
        <p:nvSpPr>
          <p:cNvPr id="15" name="Rectangle 14"/>
          <p:cNvSpPr/>
          <p:nvPr/>
        </p:nvSpPr>
        <p:spPr>
          <a:xfrm>
            <a:off x="640080" y="434340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34340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43400"/>
            <a:ext cx="29260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Windows WinGet</a:t>
            </a:r>
          </a:p>
        </p:txBody>
      </p:sp>
      <p:sp>
        <p:nvSpPr>
          <p:cNvPr id="18" name="TextBox 17"/>
          <p:cNvSpPr txBox="1"/>
          <p:nvPr/>
        </p:nvSpPr>
        <p:spPr>
          <a:xfrm>
            <a:off x="3840480" y="4343400"/>
            <a:ext cx="75255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winget install Anthropic.ClaudeCode</a:t>
            </a:r>
          </a:p>
        </p:txBody>
      </p:sp>
      <p:sp>
        <p:nvSpPr>
          <p:cNvPr id="19" name="Rectangle 18"/>
          <p:cNvSpPr/>
          <p:nvPr/>
        </p:nvSpPr>
        <p:spPr>
          <a:xfrm>
            <a:off x="640080" y="530351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530351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303519"/>
            <a:ext cx="29260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macOS Homebrew</a:t>
            </a:r>
          </a:p>
        </p:txBody>
      </p:sp>
      <p:sp>
        <p:nvSpPr>
          <p:cNvPr id="22" name="TextBox 21"/>
          <p:cNvSpPr txBox="1"/>
          <p:nvPr/>
        </p:nvSpPr>
        <p:spPr>
          <a:xfrm>
            <a:off x="3840480" y="5303519"/>
            <a:ext cx="75255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brew install --cask claude-code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SURFACES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Where you'll run it</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pps_2A2A30.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VS Code + integrated terminal</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How your team works. Run `claude` in the terminal panel - full controls, your files right there. This is our classroom setup.</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ye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VS Code extension panel</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Adds visual diffs, editable plans, one-click rewind, Alt+K to @-mention a selection.</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at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Terminal CLI</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The canonical surface - features land here first, and it is what headless/CI uses on Day 3.</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en_2A2A30.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Desktop app / JetBrains</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Both exist; JetBrains needs the CLI already on your PATH.</a:t>
            </a:r>
          </a:p>
        </p:txBody>
      </p:sp>
      <p:sp>
        <p:nvSpPr>
          <p:cNvPr id="24" name="Rounded Rectangle 23"/>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warn_E0A93A.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Keyboard controls we use today - Shift+Tab and double-Esc - live in the terminal, not the extension panel.</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SESSIONS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Session anatomy: two ways in</a:t>
            </a:r>
          </a:p>
        </p:txBody>
      </p:sp>
      <p:sp>
        <p:nvSpPr>
          <p:cNvPr id="4" name="Rounded Rectangle 3"/>
          <p:cNvSpPr/>
          <p:nvPr/>
        </p:nvSpPr>
        <p:spPr>
          <a:xfrm>
            <a:off x="640080"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t_46B17A.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Interactive</a:t>
            </a:r>
          </a:p>
        </p:txBody>
      </p:sp>
      <p:sp>
        <p:nvSpPr>
          <p:cNvPr id="7" name="Rectangle 6"/>
          <p:cNvSpPr/>
          <p:nvPr/>
        </p:nvSpPr>
        <p:spPr>
          <a:xfrm>
            <a:off x="932688"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A REPL - steer it turn by turn</a:t>
            </a:r>
          </a:p>
        </p:txBody>
      </p:sp>
      <p:sp>
        <p:nvSpPr>
          <p:cNvPr id="9" name="Rectangle 8"/>
          <p:cNvSpPr/>
          <p:nvPr/>
        </p:nvSpPr>
        <p:spPr>
          <a:xfrm>
            <a:off x="932688"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Today's default for real work</a:t>
            </a:r>
          </a:p>
        </p:txBody>
      </p:sp>
      <p:sp>
        <p:nvSpPr>
          <p:cNvPr id="11" name="Rectangle 10"/>
          <p:cNvSpPr/>
          <p:nvPr/>
        </p:nvSpPr>
        <p:spPr>
          <a:xfrm>
            <a:off x="932688"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Resume later: --continue / --resume</a:t>
            </a:r>
          </a:p>
        </p:txBody>
      </p:sp>
      <p:sp>
        <p:nvSpPr>
          <p:cNvPr id="13" name="Rounded Rectangle 12"/>
          <p:cNvSpPr/>
          <p:nvPr/>
        </p:nvSpPr>
        <p:spPr>
          <a:xfrm>
            <a:off x="6199632"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rocket_ACACB4.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One-shot</a:t>
            </a:r>
          </a:p>
        </p:txBody>
      </p:sp>
      <p:sp>
        <p:nvSpPr>
          <p:cNvPr id="16" name="Rectangle 15"/>
          <p:cNvSpPr/>
          <p:nvPr/>
        </p:nvSpPr>
        <p:spPr>
          <a:xfrm>
            <a:off x="6492240"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claude -p - print mode</a:t>
            </a:r>
          </a:p>
        </p:txBody>
      </p:sp>
      <p:sp>
        <p:nvSpPr>
          <p:cNvPr id="18" name="Rectangle 17"/>
          <p:cNvSpPr/>
          <p:nvPr/>
        </p:nvSpPr>
        <p:spPr>
          <a:xfrm>
            <a:off x="6492240"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One prompt in, result out</a:t>
            </a:r>
          </a:p>
        </p:txBody>
      </p:sp>
      <p:sp>
        <p:nvSpPr>
          <p:cNvPr id="20" name="Rectangle 19"/>
          <p:cNvSpPr/>
          <p:nvPr/>
        </p:nvSpPr>
        <p:spPr>
          <a:xfrm>
            <a:off x="6492240"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Scripts and CI - Day 3 territory</a:t>
            </a:r>
          </a:p>
        </p:txBody>
      </p:sp>
      <p:sp>
        <p:nvSpPr>
          <p:cNvPr id="22" name="Rounded Rectangle 21"/>
          <p:cNvSpPr/>
          <p:nvPr/>
        </p:nvSpPr>
        <p:spPr>
          <a:xfrm>
            <a:off x="640080" y="5138928"/>
            <a:ext cx="10908792" cy="713232"/>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fo_4C8DF0.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Start clean when the task changes - resuming imports old context. Verify resume flags at delivery.</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Paste this: first contact</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Authenticate once, in the browser</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Let /doctor auto-fix your setup</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Give it one small real task</a:t>
            </a:r>
          </a:p>
        </p:txBody>
      </p:sp>
      <p:sp>
        <p:nvSpPr>
          <p:cNvPr id="12" name="TextBox 11"/>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3" name="Rounded Rectangle 12"/>
          <p:cNvSpPr/>
          <p:nvPr/>
        </p:nvSpPr>
        <p:spPr>
          <a:xfrm>
            <a:off x="7040880" y="2286000"/>
            <a:ext cx="4507992" cy="81229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6" name="TextBox 15"/>
          <p:cNvSpPr txBox="1"/>
          <p:nvPr/>
        </p:nvSpPr>
        <p:spPr>
          <a:xfrm>
            <a:off x="7699248" y="2670048"/>
            <a:ext cx="3593591" cy="37338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claude auth login</a:t>
            </a:r>
          </a:p>
        </p:txBody>
      </p:sp>
      <p:sp>
        <p:nvSpPr>
          <p:cNvPr id="17" name="Rounded Rectangle 16"/>
          <p:cNvSpPr/>
          <p:nvPr/>
        </p:nvSpPr>
        <p:spPr>
          <a:xfrm>
            <a:off x="7040880" y="3244596"/>
            <a:ext cx="4507992" cy="81229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42048" y="3409188"/>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3390900"/>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0" name="TextBox 19"/>
          <p:cNvSpPr txBox="1"/>
          <p:nvPr/>
        </p:nvSpPr>
        <p:spPr>
          <a:xfrm>
            <a:off x="7699248" y="3628644"/>
            <a:ext cx="3593591" cy="37338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/doctor</a:t>
            </a:r>
          </a:p>
        </p:txBody>
      </p:sp>
      <p:sp>
        <p:nvSpPr>
          <p:cNvPr id="21" name="Rounded Rectangle 20"/>
          <p:cNvSpPr/>
          <p:nvPr/>
        </p:nvSpPr>
        <p:spPr>
          <a:xfrm>
            <a:off x="7040880" y="4203192"/>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42048" y="4367784"/>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42048" y="4349496"/>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3</a:t>
            </a:r>
          </a:p>
        </p:txBody>
      </p:sp>
      <p:sp>
        <p:nvSpPr>
          <p:cNvPr id="24" name="TextBox 23"/>
          <p:cNvSpPr txBox="1"/>
          <p:nvPr/>
        </p:nvSpPr>
        <p:spPr>
          <a:xfrm>
            <a:off x="7699248" y="4587240"/>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Read package.json and tell me what this project does in three sentences.</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4.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BLOCK 1 - MODELS</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Verify the default, then choose deliberately</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The `default` alias depends on account type, billing mode, provider, and administrator policy.</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arget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Sonnet 5</a:t>
            </a:r>
            <a:r>
              <a:rPr sz="1400" b="0">
                <a:solidFill>
                  <a:srgbClr val="ACACB4"/>
                </a:solidFill>
                <a:latin typeface="Instrument Sans"/>
              </a:rPr>
              <a:t>  -  daily implementation and debugging; common subscription default</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park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Opus 5</a:t>
            </a:r>
            <a:r>
              <a:rPr sz="1400" b="0">
                <a:solidFill>
                  <a:srgbClr val="ACACB4"/>
                </a:solidFill>
                <a:latin typeface="Instrument Sans"/>
              </a:rPr>
              <a:t>  -  complex reasoning; default for several premium, API, and cloud paths</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eye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Your control</a:t>
            </a:r>
            <a:r>
              <a:rPr sz="1400" b="0">
                <a:solidFill>
                  <a:srgbClr val="ACACB4"/>
                </a:solidFill>
                <a:latin typeface="Instrument Sans"/>
              </a:rPr>
              <a:t>  -  use /model to inspect and switch for the task</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MODELS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model menu, August 2026</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ALIAS</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USE IT FOR</a:t>
            </a:r>
          </a:p>
        </p:txBody>
      </p:sp>
      <p:sp>
        <p:nvSpPr>
          <p:cNvPr id="7" name="Rectangle 6"/>
          <p:cNvSpPr/>
          <p:nvPr/>
        </p:nvSpPr>
        <p:spPr>
          <a:xfrm>
            <a:off x="640080" y="242316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sonnet / Sonnet 5</a:t>
            </a:r>
          </a:p>
        </p:txBody>
      </p:sp>
      <p:sp>
        <p:nvSpPr>
          <p:cNvPr id="10" name="TextBox 9"/>
          <p:cNvSpPr txBox="1"/>
          <p:nvPr/>
        </p:nvSpPr>
        <p:spPr>
          <a:xfrm>
            <a:off x="3383280" y="242316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Daily implementation and debugging; common subscription default</a:t>
            </a:r>
          </a:p>
        </p:txBody>
      </p:sp>
      <p:sp>
        <p:nvSpPr>
          <p:cNvPr id="11" name="Rectangle 10"/>
          <p:cNvSpPr/>
          <p:nvPr/>
        </p:nvSpPr>
        <p:spPr>
          <a:xfrm>
            <a:off x="640080" y="338327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38327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8327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opus / Opus 5</a:t>
            </a:r>
          </a:p>
        </p:txBody>
      </p:sp>
      <p:sp>
        <p:nvSpPr>
          <p:cNvPr id="14" name="TextBox 13"/>
          <p:cNvSpPr txBox="1"/>
          <p:nvPr/>
        </p:nvSpPr>
        <p:spPr>
          <a:xfrm>
            <a:off x="3383280" y="338327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Complex reasoning and architecture; requires Claude Code v2.1.219+</a:t>
            </a:r>
          </a:p>
        </p:txBody>
      </p:sp>
      <p:sp>
        <p:nvSpPr>
          <p:cNvPr id="15" name="Rectangle 14"/>
          <p:cNvSpPr/>
          <p:nvPr/>
        </p:nvSpPr>
        <p:spPr>
          <a:xfrm>
            <a:off x="640080" y="434340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34340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4340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fable / Fable 5</a:t>
            </a:r>
          </a:p>
        </p:txBody>
      </p:sp>
      <p:sp>
        <p:nvSpPr>
          <p:cNvPr id="18" name="TextBox 17"/>
          <p:cNvSpPr txBox="1"/>
          <p:nvPr/>
        </p:nvSpPr>
        <p:spPr>
          <a:xfrm>
            <a:off x="3383280" y="434340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Hardest and longest autonomous tasks; availability and safety fallback vary</a:t>
            </a:r>
          </a:p>
        </p:txBody>
      </p:sp>
      <p:sp>
        <p:nvSpPr>
          <p:cNvPr id="19" name="Rectangle 18"/>
          <p:cNvSpPr/>
          <p:nvPr/>
        </p:nvSpPr>
        <p:spPr>
          <a:xfrm>
            <a:off x="640080" y="530351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530351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30351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haiku / latest Haiku</a:t>
            </a:r>
          </a:p>
        </p:txBody>
      </p:sp>
      <p:sp>
        <p:nvSpPr>
          <p:cNvPr id="22" name="TextBox 21"/>
          <p:cNvSpPr txBox="1"/>
          <p:nvPr/>
        </p:nvSpPr>
        <p:spPr>
          <a:xfrm>
            <a:off x="3383280" y="530351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Fast, low-cost mechanical work and lightweight scanning</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MODELS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Extended thinking: pay for depth</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A reasoning budget you spend on the hard steps - not every step.</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ulb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When</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Architecture calls, gnarly debugging, risky migrations.</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park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How</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Ask for deeper reasoning on that step - or escalate the model.</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cale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Cost</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More tokens and more latency - spend it deliberately.</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Thinking controls are release-dependent - verify the live toggle and defaults at delivery.</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THE ENGINE</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agentic loop</a:t>
            </a:r>
          </a:p>
        </p:txBody>
      </p:sp>
      <p:sp>
        <p:nvSpPr>
          <p:cNvPr id="4" name="Oval 3"/>
          <p:cNvSpPr/>
          <p:nvPr/>
        </p:nvSpPr>
        <p:spPr>
          <a:xfrm>
            <a:off x="868680"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ye_F5F5F6.png"/>
          <p:cNvPicPr>
            <a:picLocks noChangeAspect="1"/>
          </p:cNvPicPr>
          <p:nvPr/>
        </p:nvPicPr>
        <p:blipFill>
          <a:blip r:embed="rId2"/>
          <a:stretch>
            <a:fillRect/>
          </a:stretch>
        </p:blipFill>
        <p:spPr>
          <a:xfrm>
            <a:off x="1344168" y="2926080"/>
            <a:ext cx="731520" cy="731520"/>
          </a:xfrm>
          <a:prstGeom prst="rect">
            <a:avLst/>
          </a:prstGeom>
        </p:spPr>
      </p:pic>
      <p:sp>
        <p:nvSpPr>
          <p:cNvPr id="6" name="TextBox 5"/>
          <p:cNvSpPr txBox="1"/>
          <p:nvPr/>
        </p:nvSpPr>
        <p:spPr>
          <a:xfrm>
            <a:off x="640080"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Context</a:t>
            </a:r>
          </a:p>
        </p:txBody>
      </p:sp>
      <p:sp>
        <p:nvSpPr>
          <p:cNvPr id="7" name="TextBox 6"/>
          <p:cNvSpPr txBox="1"/>
          <p:nvPr/>
        </p:nvSpPr>
        <p:spPr>
          <a:xfrm>
            <a:off x="640080"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read and search</a:t>
            </a:r>
          </a:p>
        </p:txBody>
      </p:sp>
      <p:sp>
        <p:nvSpPr>
          <p:cNvPr id="8" name="Oval 7"/>
          <p:cNvSpPr/>
          <p:nvPr/>
        </p:nvSpPr>
        <p:spPr>
          <a:xfrm>
            <a:off x="306163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ulb_F5F5F6.png"/>
          <p:cNvPicPr>
            <a:picLocks noChangeAspect="1"/>
          </p:cNvPicPr>
          <p:nvPr/>
        </p:nvPicPr>
        <p:blipFill>
          <a:blip r:embed="rId3"/>
          <a:stretch>
            <a:fillRect/>
          </a:stretch>
        </p:blipFill>
        <p:spPr>
          <a:xfrm>
            <a:off x="3537127" y="2926080"/>
            <a:ext cx="731520" cy="731520"/>
          </a:xfrm>
          <a:prstGeom prst="rect">
            <a:avLst/>
          </a:prstGeom>
        </p:spPr>
      </p:pic>
      <p:sp>
        <p:nvSpPr>
          <p:cNvPr id="10" name="TextBox 9"/>
          <p:cNvSpPr txBox="1"/>
          <p:nvPr/>
        </p:nvSpPr>
        <p:spPr>
          <a:xfrm>
            <a:off x="283303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Plan</a:t>
            </a:r>
          </a:p>
        </p:txBody>
      </p:sp>
      <p:sp>
        <p:nvSpPr>
          <p:cNvPr id="11" name="TextBox 10"/>
          <p:cNvSpPr txBox="1"/>
          <p:nvPr/>
        </p:nvSpPr>
        <p:spPr>
          <a:xfrm>
            <a:off x="283303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choose an approach</a:t>
            </a:r>
          </a:p>
        </p:txBody>
      </p:sp>
      <p:sp>
        <p:nvSpPr>
          <p:cNvPr id="12" name="Oval 11"/>
          <p:cNvSpPr/>
          <p:nvPr/>
        </p:nvSpPr>
        <p:spPr>
          <a:xfrm>
            <a:off x="525459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en_F5F5F6.png"/>
          <p:cNvPicPr>
            <a:picLocks noChangeAspect="1"/>
          </p:cNvPicPr>
          <p:nvPr/>
        </p:nvPicPr>
        <p:blipFill>
          <a:blip r:embed="rId4"/>
          <a:stretch>
            <a:fillRect/>
          </a:stretch>
        </p:blipFill>
        <p:spPr>
          <a:xfrm>
            <a:off x="5730087" y="2926080"/>
            <a:ext cx="731520" cy="731520"/>
          </a:xfrm>
          <a:prstGeom prst="rect">
            <a:avLst/>
          </a:prstGeom>
        </p:spPr>
      </p:pic>
      <p:sp>
        <p:nvSpPr>
          <p:cNvPr id="14" name="TextBox 13"/>
          <p:cNvSpPr txBox="1"/>
          <p:nvPr/>
        </p:nvSpPr>
        <p:spPr>
          <a:xfrm>
            <a:off x="502599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Act</a:t>
            </a:r>
          </a:p>
        </p:txBody>
      </p:sp>
      <p:sp>
        <p:nvSpPr>
          <p:cNvPr id="15" name="TextBox 14"/>
          <p:cNvSpPr txBox="1"/>
          <p:nvPr/>
        </p:nvSpPr>
        <p:spPr>
          <a:xfrm>
            <a:off x="502599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edit and run</a:t>
            </a:r>
          </a:p>
        </p:txBody>
      </p:sp>
      <p:sp>
        <p:nvSpPr>
          <p:cNvPr id="16" name="Oval 15"/>
          <p:cNvSpPr/>
          <p:nvPr/>
        </p:nvSpPr>
        <p:spPr>
          <a:xfrm>
            <a:off x="744755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F5F5F6.png"/>
          <p:cNvPicPr>
            <a:picLocks noChangeAspect="1"/>
          </p:cNvPicPr>
          <p:nvPr/>
        </p:nvPicPr>
        <p:blipFill>
          <a:blip r:embed="rId5"/>
          <a:stretch>
            <a:fillRect/>
          </a:stretch>
        </p:blipFill>
        <p:spPr>
          <a:xfrm>
            <a:off x="7923047" y="2926080"/>
            <a:ext cx="731520" cy="731520"/>
          </a:xfrm>
          <a:prstGeom prst="rect">
            <a:avLst/>
          </a:prstGeom>
        </p:spPr>
      </p:pic>
      <p:sp>
        <p:nvSpPr>
          <p:cNvPr id="18" name="TextBox 17"/>
          <p:cNvSpPr txBox="1"/>
          <p:nvPr/>
        </p:nvSpPr>
        <p:spPr>
          <a:xfrm>
            <a:off x="721895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Observe</a:t>
            </a:r>
          </a:p>
        </p:txBody>
      </p:sp>
      <p:sp>
        <p:nvSpPr>
          <p:cNvPr id="19" name="TextBox 18"/>
          <p:cNvSpPr txBox="1"/>
          <p:nvPr/>
        </p:nvSpPr>
        <p:spPr>
          <a:xfrm>
            <a:off x="721895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tests and errors</a:t>
            </a:r>
          </a:p>
        </p:txBody>
      </p:sp>
      <p:sp>
        <p:nvSpPr>
          <p:cNvPr id="20" name="Oval 19"/>
          <p:cNvSpPr/>
          <p:nvPr/>
        </p:nvSpPr>
        <p:spPr>
          <a:xfrm>
            <a:off x="964051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refresh_F5F5F6.png"/>
          <p:cNvPicPr>
            <a:picLocks noChangeAspect="1"/>
          </p:cNvPicPr>
          <p:nvPr/>
        </p:nvPicPr>
        <p:blipFill>
          <a:blip r:embed="rId6"/>
          <a:stretch>
            <a:fillRect/>
          </a:stretch>
        </p:blipFill>
        <p:spPr>
          <a:xfrm>
            <a:off x="10116007" y="2926080"/>
            <a:ext cx="731520" cy="731520"/>
          </a:xfrm>
          <a:prstGeom prst="rect">
            <a:avLst/>
          </a:prstGeom>
        </p:spPr>
      </p:pic>
      <p:sp>
        <p:nvSpPr>
          <p:cNvPr id="22" name="TextBox 21"/>
          <p:cNvSpPr txBox="1"/>
          <p:nvPr/>
        </p:nvSpPr>
        <p:spPr>
          <a:xfrm>
            <a:off x="941191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Iterate</a:t>
            </a:r>
          </a:p>
        </p:txBody>
      </p:sp>
      <p:sp>
        <p:nvSpPr>
          <p:cNvPr id="23" name="TextBox 22"/>
          <p:cNvSpPr txBox="1"/>
          <p:nvPr/>
        </p:nvSpPr>
        <p:spPr>
          <a:xfrm>
            <a:off x="941191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loop until done</a:t>
            </a:r>
          </a:p>
        </p:txBody>
      </p:sp>
      <p:sp>
        <p:nvSpPr>
          <p:cNvPr id="24" name="TextBox 23"/>
          <p:cNvSpPr txBox="1"/>
          <p:nvPr/>
        </p:nvSpPr>
        <p:spPr>
          <a:xfrm>
            <a:off x="239492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5" name="TextBox 24"/>
          <p:cNvSpPr txBox="1"/>
          <p:nvPr/>
        </p:nvSpPr>
        <p:spPr>
          <a:xfrm>
            <a:off x="458788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6" name="TextBox 25"/>
          <p:cNvSpPr txBox="1"/>
          <p:nvPr/>
        </p:nvSpPr>
        <p:spPr>
          <a:xfrm>
            <a:off x="678084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7" name="TextBox 26"/>
          <p:cNvSpPr txBox="1"/>
          <p:nvPr/>
        </p:nvSpPr>
        <p:spPr>
          <a:xfrm>
            <a:off x="897380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8" name="Rectangle 2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0" name="TextBox 2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THE ENGINE</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You press Enter - then what?</a:t>
            </a:r>
          </a:p>
        </p:txBody>
      </p:sp>
      <p:sp>
        <p:nvSpPr>
          <p:cNvPr id="4" name="Rounded Rectangle 3"/>
          <p:cNvSpPr/>
          <p:nvPr/>
        </p:nvSpPr>
        <p:spPr>
          <a:xfrm>
            <a:off x="64008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01</a:t>
            </a:r>
          </a:p>
        </p:txBody>
      </p:sp>
      <p:sp>
        <p:nvSpPr>
          <p:cNvPr id="6" name="TextBox 5"/>
          <p:cNvSpPr txBox="1"/>
          <p:nvPr/>
        </p:nvSpPr>
        <p:spPr>
          <a:xfrm>
            <a:off x="914400"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Read</a:t>
            </a:r>
          </a:p>
        </p:txBody>
      </p:sp>
      <p:sp>
        <p:nvSpPr>
          <p:cNvPr id="7" name="TextBox 6"/>
          <p:cNvSpPr txBox="1"/>
          <p:nvPr/>
        </p:nvSpPr>
        <p:spPr>
          <a:xfrm>
            <a:off x="914400"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CLAUDE.md, relevant files, git history load first.</a:t>
            </a:r>
          </a:p>
        </p:txBody>
      </p:sp>
      <p:sp>
        <p:nvSpPr>
          <p:cNvPr id="8" name="TextBox 7"/>
          <p:cNvSpPr txBox="1"/>
          <p:nvPr/>
        </p:nvSpPr>
        <p:spPr>
          <a:xfrm>
            <a:off x="2547518"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9" name="Rounded Rectangle 8"/>
          <p:cNvSpPr/>
          <p:nvPr/>
        </p:nvSpPr>
        <p:spPr>
          <a:xfrm>
            <a:off x="289499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6931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02</a:t>
            </a:r>
          </a:p>
        </p:txBody>
      </p:sp>
      <p:sp>
        <p:nvSpPr>
          <p:cNvPr id="11" name="TextBox 10"/>
          <p:cNvSpPr txBox="1"/>
          <p:nvPr/>
        </p:nvSpPr>
        <p:spPr>
          <a:xfrm>
            <a:off x="3169310"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Plan</a:t>
            </a:r>
          </a:p>
        </p:txBody>
      </p:sp>
      <p:sp>
        <p:nvSpPr>
          <p:cNvPr id="12" name="TextBox 11"/>
          <p:cNvSpPr txBox="1"/>
          <p:nvPr/>
        </p:nvSpPr>
        <p:spPr>
          <a:xfrm>
            <a:off x="3169310"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An approach is chosen; plan mode can show it first.</a:t>
            </a:r>
          </a:p>
        </p:txBody>
      </p:sp>
      <p:sp>
        <p:nvSpPr>
          <p:cNvPr id="13" name="TextBox 12"/>
          <p:cNvSpPr txBox="1"/>
          <p:nvPr/>
        </p:nvSpPr>
        <p:spPr>
          <a:xfrm>
            <a:off x="4802428"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4" name="Rounded Rectangle 13"/>
          <p:cNvSpPr/>
          <p:nvPr/>
        </p:nvSpPr>
        <p:spPr>
          <a:xfrm>
            <a:off x="514990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2422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03</a:t>
            </a:r>
          </a:p>
        </p:txBody>
      </p:sp>
      <p:sp>
        <p:nvSpPr>
          <p:cNvPr id="16" name="TextBox 15"/>
          <p:cNvSpPr txBox="1"/>
          <p:nvPr/>
        </p:nvSpPr>
        <p:spPr>
          <a:xfrm>
            <a:off x="5424220"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Edit</a:t>
            </a:r>
          </a:p>
        </p:txBody>
      </p:sp>
      <p:sp>
        <p:nvSpPr>
          <p:cNvPr id="17" name="TextBox 16"/>
          <p:cNvSpPr txBox="1"/>
          <p:nvPr/>
        </p:nvSpPr>
        <p:spPr>
          <a:xfrm>
            <a:off x="5424220"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Files written, imports updated.</a:t>
            </a:r>
          </a:p>
        </p:txBody>
      </p:sp>
      <p:sp>
        <p:nvSpPr>
          <p:cNvPr id="18" name="TextBox 17"/>
          <p:cNvSpPr txBox="1"/>
          <p:nvPr/>
        </p:nvSpPr>
        <p:spPr>
          <a:xfrm>
            <a:off x="7057339"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9" name="Rounded Rectangle 18"/>
          <p:cNvSpPr/>
          <p:nvPr/>
        </p:nvSpPr>
        <p:spPr>
          <a:xfrm>
            <a:off x="7404811"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79131"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04</a:t>
            </a:r>
          </a:p>
        </p:txBody>
      </p:sp>
      <p:sp>
        <p:nvSpPr>
          <p:cNvPr id="21" name="TextBox 20"/>
          <p:cNvSpPr txBox="1"/>
          <p:nvPr/>
        </p:nvSpPr>
        <p:spPr>
          <a:xfrm>
            <a:off x="7679131"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Run</a:t>
            </a:r>
          </a:p>
        </p:txBody>
      </p:sp>
      <p:sp>
        <p:nvSpPr>
          <p:cNvPr id="22" name="TextBox 21"/>
          <p:cNvSpPr txBox="1"/>
          <p:nvPr/>
        </p:nvSpPr>
        <p:spPr>
          <a:xfrm>
            <a:off x="7679131"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Tests and commands execute; output is read.</a:t>
            </a:r>
          </a:p>
        </p:txBody>
      </p:sp>
      <p:sp>
        <p:nvSpPr>
          <p:cNvPr id="23" name="TextBox 22"/>
          <p:cNvSpPr txBox="1"/>
          <p:nvPr/>
        </p:nvSpPr>
        <p:spPr>
          <a:xfrm>
            <a:off x="9312249"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24" name="Rounded Rectangle 23"/>
          <p:cNvSpPr/>
          <p:nvPr/>
        </p:nvSpPr>
        <p:spPr>
          <a:xfrm>
            <a:off x="9659721"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34041"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05</a:t>
            </a:r>
          </a:p>
        </p:txBody>
      </p:sp>
      <p:sp>
        <p:nvSpPr>
          <p:cNvPr id="26" name="TextBox 25"/>
          <p:cNvSpPr txBox="1"/>
          <p:nvPr/>
        </p:nvSpPr>
        <p:spPr>
          <a:xfrm>
            <a:off x="9934041"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Fix</a:t>
            </a:r>
          </a:p>
        </p:txBody>
      </p:sp>
      <p:sp>
        <p:nvSpPr>
          <p:cNvPr id="27" name="TextBox 26"/>
          <p:cNvSpPr txBox="1"/>
          <p:nvPr/>
        </p:nvSpPr>
        <p:spPr>
          <a:xfrm>
            <a:off x="9934041"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Failures diagnosed and retried - self-healing.</a:t>
            </a:r>
          </a:p>
        </p:txBody>
      </p:sp>
      <p:sp>
        <p:nvSpPr>
          <p:cNvPr id="28" name="Rectangle 2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0" name="TextBox 2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FAILURE MODES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When the loop breaks</a:t>
            </a:r>
          </a:p>
        </p:txBody>
      </p:sp>
      <p:sp>
        <p:nvSpPr>
          <p:cNvPr id="4" name="Rounded Rectangle 3"/>
          <p:cNvSpPr/>
          <p:nvPr/>
        </p:nvSpPr>
        <p:spPr>
          <a:xfrm>
            <a:off x="640080"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arn_ACACB4.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Symptoms</a:t>
            </a:r>
          </a:p>
        </p:txBody>
      </p:sp>
      <p:sp>
        <p:nvSpPr>
          <p:cNvPr id="7" name="Rectangle 6"/>
          <p:cNvSpPr/>
          <p:nvPr/>
        </p:nvSpPr>
        <p:spPr>
          <a:xfrm>
            <a:off x="932688"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Same mistake repeatedly</a:t>
            </a:r>
          </a:p>
        </p:txBody>
      </p:sp>
      <p:sp>
        <p:nvSpPr>
          <p:cNvPr id="9" name="Rectangle 8"/>
          <p:cNvSpPr/>
          <p:nvPr/>
        </p:nvSpPr>
        <p:spPr>
          <a:xfrm>
            <a:off x="932688"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Quality drops mid-session</a:t>
            </a:r>
          </a:p>
        </p:txBody>
      </p:sp>
      <p:sp>
        <p:nvSpPr>
          <p:cNvPr id="11" name="Rectangle 10"/>
          <p:cNvSpPr/>
          <p:nvPr/>
        </p:nvSpPr>
        <p:spPr>
          <a:xfrm>
            <a:off x="932688"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Earlier instructions forgotten</a:t>
            </a:r>
          </a:p>
        </p:txBody>
      </p:sp>
      <p:sp>
        <p:nvSpPr>
          <p:cNvPr id="13" name="Rounded Rectangle 12"/>
          <p:cNvSpPr/>
          <p:nvPr/>
        </p:nvSpPr>
        <p:spPr>
          <a:xfrm>
            <a:off x="6199632"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46B17A.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Fixes</a:t>
            </a:r>
          </a:p>
        </p:txBody>
      </p:sp>
      <p:sp>
        <p:nvSpPr>
          <p:cNvPr id="16" name="Rectangle 15"/>
          <p:cNvSpPr/>
          <p:nvPr/>
        </p:nvSpPr>
        <p:spPr>
          <a:xfrm>
            <a:off x="6492240"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Smaller task, fresh session</a:t>
            </a:r>
          </a:p>
        </p:txBody>
      </p:sp>
      <p:sp>
        <p:nvSpPr>
          <p:cNvPr id="18" name="Rectangle 17"/>
          <p:cNvSpPr/>
          <p:nvPr/>
        </p:nvSpPr>
        <p:spPr>
          <a:xfrm>
            <a:off x="6492240"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Rewind past the wrong turn</a:t>
            </a:r>
          </a:p>
        </p:txBody>
      </p:sp>
      <p:sp>
        <p:nvSpPr>
          <p:cNvPr id="20" name="Rectangle 19"/>
          <p:cNvSpPr/>
          <p:nvPr/>
        </p:nvSpPr>
        <p:spPr>
          <a:xfrm>
            <a:off x="6492240"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Make the rule permanent in CLAUDE.md</a:t>
            </a:r>
          </a:p>
        </p:txBody>
      </p:sp>
      <p:sp>
        <p:nvSpPr>
          <p:cNvPr id="22" name="Rounded Rectangle 21"/>
          <p:cNvSpPr/>
          <p:nvPr/>
        </p:nvSpPr>
        <p:spPr>
          <a:xfrm>
            <a:off x="640080" y="5138928"/>
            <a:ext cx="10908792" cy="713232"/>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fo_4C8DF0.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The full recovery ladder - Esc, rewind, /compact, /clear - is Block 3's centerpiece.</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PRINCIPLE</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Principle 1: Small and testable</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The habit every other habit builds on.</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arget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Small</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One task per session - not 'refactor the whole app'.</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fresh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Frequent</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Commit after each change; /clear between tasks.</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Actionable</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Every prompt produces a result you can test.</a:t>
            </a:r>
          </a:p>
        </p:txBody>
      </p:sp>
      <p:sp>
        <p:nvSpPr>
          <p:cNvPr id="20" name="Rounded Rectangle 19"/>
          <p:cNvSpPr/>
          <p:nvPr/>
        </p:nvSpPr>
        <p:spPr>
          <a:xfrm>
            <a:off x="640080" y="5760720"/>
            <a:ext cx="10908792" cy="658368"/>
          </a:xfrm>
          <a:prstGeom prst="roundRect">
            <a:avLst>
              <a:gd name="adj" fmla="val 16000"/>
            </a:avLst>
          </a:prstGeom>
          <a:solidFill>
            <a:srgbClr val="173527"/>
          </a:solidFill>
          <a:ln w="9525">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46B17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BFE6D2"/>
                </a:solidFill>
                <a:latin typeface="Instrument Sans"/>
              </a:rPr>
              <a:t>Write this down - Principles 2, 3 and 4 later today all build on this one.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5.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THE SHIFT</a:t>
            </a:r>
          </a:p>
        </p:txBody>
      </p:sp>
      <p:sp>
        <p:nvSpPr>
          <p:cNvPr id="5" name="TextBox 4"/>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Stop writing prompts. Start writing loops.</a:t>
            </a:r>
          </a:p>
        </p:txBody>
      </p:sp>
      <p:sp>
        <p:nvSpPr>
          <p:cNvPr id="6" name="Rectangle 5"/>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8" name="TextBox 7"/>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TOOLS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tool system</a:t>
            </a:r>
          </a:p>
        </p:txBody>
      </p:sp>
      <p:sp>
        <p:nvSpPr>
          <p:cNvPr id="4" name="Rounded Rectangle 3"/>
          <p:cNvSpPr/>
          <p:nvPr/>
        </p:nvSpPr>
        <p:spPr>
          <a:xfrm>
            <a:off x="640080" y="1828800"/>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86171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oc_2A2A30.png"/>
          <p:cNvPicPr>
            <a:picLocks noChangeAspect="1"/>
          </p:cNvPicPr>
          <p:nvPr/>
        </p:nvPicPr>
        <p:blipFill>
          <a:blip r:embed="rId2"/>
          <a:stretch>
            <a:fillRect/>
          </a:stretch>
        </p:blipFill>
        <p:spPr>
          <a:xfrm>
            <a:off x="1014984" y="1998878"/>
            <a:ext cx="292608" cy="292608"/>
          </a:xfrm>
          <a:prstGeom prst="rect">
            <a:avLst/>
          </a:prstGeom>
        </p:spPr>
      </p:pic>
      <p:sp>
        <p:nvSpPr>
          <p:cNvPr id="7" name="TextBox 6"/>
          <p:cNvSpPr txBox="1"/>
          <p:nvPr/>
        </p:nvSpPr>
        <p:spPr>
          <a:xfrm>
            <a:off x="1591056" y="1828800"/>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Read / Write / Edit</a:t>
            </a:r>
          </a:p>
        </p:txBody>
      </p:sp>
      <p:sp>
        <p:nvSpPr>
          <p:cNvPr id="8" name="TextBox 7"/>
          <p:cNvSpPr txBox="1"/>
          <p:nvPr/>
        </p:nvSpPr>
        <p:spPr>
          <a:xfrm>
            <a:off x="4434840" y="1828800"/>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File tools - surgical changes, not wholesale rewrites.</a:t>
            </a:r>
          </a:p>
        </p:txBody>
      </p:sp>
      <p:sp>
        <p:nvSpPr>
          <p:cNvPr id="9" name="Rounded Rectangle 8"/>
          <p:cNvSpPr/>
          <p:nvPr/>
        </p:nvSpPr>
        <p:spPr>
          <a:xfrm>
            <a:off x="640080" y="2607868"/>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640787"/>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ye_2A2A30.png"/>
          <p:cNvPicPr>
            <a:picLocks noChangeAspect="1"/>
          </p:cNvPicPr>
          <p:nvPr/>
        </p:nvPicPr>
        <p:blipFill>
          <a:blip r:embed="rId3"/>
          <a:stretch>
            <a:fillRect/>
          </a:stretch>
        </p:blipFill>
        <p:spPr>
          <a:xfrm>
            <a:off x="1014984" y="2777947"/>
            <a:ext cx="292608" cy="292608"/>
          </a:xfrm>
          <a:prstGeom prst="rect">
            <a:avLst/>
          </a:prstGeom>
        </p:spPr>
      </p:pic>
      <p:sp>
        <p:nvSpPr>
          <p:cNvPr id="12" name="TextBox 11"/>
          <p:cNvSpPr txBox="1"/>
          <p:nvPr/>
        </p:nvSpPr>
        <p:spPr>
          <a:xfrm>
            <a:off x="1591056" y="2607868"/>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Glob &amp; Grep</a:t>
            </a:r>
          </a:p>
        </p:txBody>
      </p:sp>
      <p:sp>
        <p:nvSpPr>
          <p:cNvPr id="13" name="TextBox 12"/>
          <p:cNvSpPr txBox="1"/>
          <p:nvPr/>
        </p:nvSpPr>
        <p:spPr>
          <a:xfrm>
            <a:off x="4434840" y="2607868"/>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Find files by pattern; search content across the repo.</a:t>
            </a:r>
          </a:p>
        </p:txBody>
      </p:sp>
      <p:sp>
        <p:nvSpPr>
          <p:cNvPr id="14" name="Rounded Rectangle 13"/>
          <p:cNvSpPr/>
          <p:nvPr/>
        </p:nvSpPr>
        <p:spPr>
          <a:xfrm>
            <a:off x="640080" y="3386937"/>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41985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pps_2A2A30.png"/>
          <p:cNvPicPr>
            <a:picLocks noChangeAspect="1"/>
          </p:cNvPicPr>
          <p:nvPr/>
        </p:nvPicPr>
        <p:blipFill>
          <a:blip r:embed="rId4"/>
          <a:stretch>
            <a:fillRect/>
          </a:stretch>
        </p:blipFill>
        <p:spPr>
          <a:xfrm>
            <a:off x="1014984" y="3557015"/>
            <a:ext cx="292608" cy="292608"/>
          </a:xfrm>
          <a:prstGeom prst="rect">
            <a:avLst/>
          </a:prstGeom>
        </p:spPr>
      </p:pic>
      <p:sp>
        <p:nvSpPr>
          <p:cNvPr id="17" name="TextBox 16"/>
          <p:cNvSpPr txBox="1"/>
          <p:nvPr/>
        </p:nvSpPr>
        <p:spPr>
          <a:xfrm>
            <a:off x="1591056" y="3386937"/>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Bash</a:t>
            </a:r>
          </a:p>
        </p:txBody>
      </p:sp>
      <p:sp>
        <p:nvSpPr>
          <p:cNvPr id="18" name="TextBox 17"/>
          <p:cNvSpPr txBox="1"/>
          <p:nvPr/>
        </p:nvSpPr>
        <p:spPr>
          <a:xfrm>
            <a:off x="4434840" y="3386937"/>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Any shell command - tests, builds, git, scripts.</a:t>
            </a:r>
          </a:p>
        </p:txBody>
      </p:sp>
      <p:sp>
        <p:nvSpPr>
          <p:cNvPr id="19" name="Rounded Rectangle 18"/>
          <p:cNvSpPr/>
          <p:nvPr/>
        </p:nvSpPr>
        <p:spPr>
          <a:xfrm>
            <a:off x="640080" y="4166006"/>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19892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hare_2A2A30.png"/>
          <p:cNvPicPr>
            <a:picLocks noChangeAspect="1"/>
          </p:cNvPicPr>
          <p:nvPr/>
        </p:nvPicPr>
        <p:blipFill>
          <a:blip r:embed="rId5"/>
          <a:stretch>
            <a:fillRect/>
          </a:stretch>
        </p:blipFill>
        <p:spPr>
          <a:xfrm>
            <a:off x="1014984" y="4336084"/>
            <a:ext cx="292608" cy="292608"/>
          </a:xfrm>
          <a:prstGeom prst="rect">
            <a:avLst/>
          </a:prstGeom>
        </p:spPr>
      </p:pic>
      <p:sp>
        <p:nvSpPr>
          <p:cNvPr id="22" name="TextBox 21"/>
          <p:cNvSpPr txBox="1"/>
          <p:nvPr/>
        </p:nvSpPr>
        <p:spPr>
          <a:xfrm>
            <a:off x="1591056" y="4166006"/>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WebFetch &amp; WebSearch</a:t>
            </a:r>
          </a:p>
        </p:txBody>
      </p:sp>
      <p:sp>
        <p:nvSpPr>
          <p:cNvPr id="23" name="TextBox 22"/>
          <p:cNvSpPr txBox="1"/>
          <p:nvPr/>
        </p:nvSpPr>
        <p:spPr>
          <a:xfrm>
            <a:off x="4434840" y="4166006"/>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Live documentation and answers from the web.</a:t>
            </a:r>
          </a:p>
        </p:txBody>
      </p:sp>
      <p:sp>
        <p:nvSpPr>
          <p:cNvPr id="24" name="Rounded Rectangle 23"/>
          <p:cNvSpPr/>
          <p:nvPr/>
        </p:nvSpPr>
        <p:spPr>
          <a:xfrm>
            <a:off x="640080" y="4945075"/>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497799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people_2A2A30.png"/>
          <p:cNvPicPr>
            <a:picLocks noChangeAspect="1"/>
          </p:cNvPicPr>
          <p:nvPr/>
        </p:nvPicPr>
        <p:blipFill>
          <a:blip r:embed="rId6"/>
          <a:stretch>
            <a:fillRect/>
          </a:stretch>
        </p:blipFill>
        <p:spPr>
          <a:xfrm>
            <a:off x="1014984" y="5115153"/>
            <a:ext cx="292608" cy="292608"/>
          </a:xfrm>
          <a:prstGeom prst="rect">
            <a:avLst/>
          </a:prstGeom>
        </p:spPr>
      </p:pic>
      <p:sp>
        <p:nvSpPr>
          <p:cNvPr id="27" name="TextBox 26"/>
          <p:cNvSpPr txBox="1"/>
          <p:nvPr/>
        </p:nvSpPr>
        <p:spPr>
          <a:xfrm>
            <a:off x="1591056" y="4945075"/>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Agent</a:t>
            </a:r>
          </a:p>
        </p:txBody>
      </p:sp>
      <p:sp>
        <p:nvSpPr>
          <p:cNvPr id="28" name="TextBox 27"/>
          <p:cNvSpPr txBox="1"/>
          <p:nvPr/>
        </p:nvSpPr>
        <p:spPr>
          <a:xfrm>
            <a:off x="4434840" y="4945075"/>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Spawns subagents for parallel work - Day 3 territory.</a:t>
            </a:r>
          </a:p>
        </p:txBody>
      </p:sp>
      <p:sp>
        <p:nvSpPr>
          <p:cNvPr id="29" name="Rounded Rectangle 28"/>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nfo_4C8DF0.png"/>
          <p:cNvPicPr>
            <a:picLocks noChangeAspect="1"/>
          </p:cNvPicPr>
          <p:nvPr/>
        </p:nvPicPr>
        <p:blipFill>
          <a:blip r:embed="rId7"/>
          <a:stretch>
            <a:fillRect/>
          </a:stretch>
        </p:blipFill>
        <p:spPr>
          <a:xfrm>
            <a:off x="877824" y="5907024"/>
            <a:ext cx="365760" cy="365760"/>
          </a:xfrm>
          <a:prstGeom prst="rect">
            <a:avLst/>
          </a:prstGeom>
        </p:spPr>
      </p:pic>
      <p:sp>
        <p:nvSpPr>
          <p:cNvPr id="31" name="TextBox 30"/>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Anthropic dropped vector search for plain grep here - the simple tool won. Test simple first.</a:t>
            </a:r>
          </a:p>
        </p:txBody>
      </p:sp>
      <p:sp>
        <p:nvSpPr>
          <p:cNvPr id="32" name="Rectangle 3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4" name="TextBox 3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DIAGNOSTICS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/doctor: diagnose and auto-fix</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Your first move whenever anything feels wrong.</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Full diagnostic</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Install, auth, config, MCP - one health screen.</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park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Auto-fix</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Press f and it repairs what it just found.</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warn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Flags waste</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Unused skills, unused MCP servers, slow hooks.</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Auto-fix details are secondary-source - re-verify /doctor behavior on delivery morning.</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LIVE DEMO</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Demo: install to first task</a:t>
            </a:r>
          </a:p>
        </p:txBody>
      </p:sp>
      <p:pic>
        <p:nvPicPr>
          <p:cNvPr id="4" name="Picture 3" descr="bg_6.png"/>
          <p:cNvPicPr>
            <a:picLocks noChangeAspect="1"/>
          </p:cNvPicPr>
          <p:nvPr/>
        </p:nvPicPr>
        <p:blipFill>
          <a:blip r:embed="rId2"/>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WHAT WE'LL RUN TOGETHER</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Native install, then claude auth login</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/doctor - watch the auto-fix pass</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One prompt runs the full loop on real code</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HANDS-ON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Lab 1A: The Agentic Build Loop</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Build the dashboard scaffold and watch the loop work.</a:t>
            </a:r>
          </a:p>
        </p:txBody>
      </p:sp>
      <p:sp>
        <p:nvSpPr>
          <p:cNvPr id="5" name="Rounded Rectangle 4"/>
          <p:cNvSpPr/>
          <p:nvPr/>
        </p:nvSpPr>
        <p:spPr>
          <a:xfrm>
            <a:off x="640080" y="233172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5146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ocket_2A2A30.png"/>
          <p:cNvPicPr>
            <a:picLocks noChangeAspect="1"/>
          </p:cNvPicPr>
          <p:nvPr/>
        </p:nvPicPr>
        <p:blipFill>
          <a:blip r:embed="rId2"/>
          <a:stretch>
            <a:fillRect/>
          </a:stretch>
        </p:blipFill>
        <p:spPr>
          <a:xfrm>
            <a:off x="1005840" y="2642616"/>
            <a:ext cx="219456" cy="219456"/>
          </a:xfrm>
          <a:prstGeom prst="rect">
            <a:avLst/>
          </a:prstGeom>
        </p:spPr>
      </p:pic>
      <p:sp>
        <p:nvSpPr>
          <p:cNvPr id="8" name="TextBox 7"/>
          <p:cNvSpPr txBox="1"/>
          <p:nvPr/>
        </p:nvSpPr>
        <p:spPr>
          <a:xfrm>
            <a:off x="877824" y="3136391"/>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Deliverable</a:t>
            </a:r>
          </a:p>
        </p:txBody>
      </p:sp>
      <p:sp>
        <p:nvSpPr>
          <p:cNvPr id="9" name="TextBox 8"/>
          <p:cNvSpPr txBox="1"/>
          <p:nvPr/>
        </p:nvSpPr>
        <p:spPr>
          <a:xfrm>
            <a:off x="877824" y="3611879"/>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 running business-dashboard scaffold built from one prompt.</a:t>
            </a:r>
          </a:p>
        </p:txBody>
      </p:sp>
      <p:sp>
        <p:nvSpPr>
          <p:cNvPr id="10" name="Rounded Rectangle 9"/>
          <p:cNvSpPr/>
          <p:nvPr/>
        </p:nvSpPr>
        <p:spPr>
          <a:xfrm>
            <a:off x="6231636" y="233172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69379" y="25146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ock_2A2A30.png"/>
          <p:cNvPicPr>
            <a:picLocks noChangeAspect="1"/>
          </p:cNvPicPr>
          <p:nvPr/>
        </p:nvPicPr>
        <p:blipFill>
          <a:blip r:embed="rId3"/>
          <a:stretch>
            <a:fillRect/>
          </a:stretch>
        </p:blipFill>
        <p:spPr>
          <a:xfrm>
            <a:off x="6597395" y="2642616"/>
            <a:ext cx="219456" cy="219456"/>
          </a:xfrm>
          <a:prstGeom prst="rect">
            <a:avLst/>
          </a:prstGeom>
        </p:spPr>
      </p:pic>
      <p:sp>
        <p:nvSpPr>
          <p:cNvPr id="13" name="TextBox 12"/>
          <p:cNvSpPr txBox="1"/>
          <p:nvPr/>
        </p:nvSpPr>
        <p:spPr>
          <a:xfrm>
            <a:off x="6469379" y="3136391"/>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Timebox</a:t>
            </a:r>
          </a:p>
        </p:txBody>
      </p:sp>
      <p:sp>
        <p:nvSpPr>
          <p:cNvPr id="14" name="TextBox 13"/>
          <p:cNvSpPr txBox="1"/>
          <p:nvPr/>
        </p:nvSpPr>
        <p:spPr>
          <a:xfrm>
            <a:off x="6469379" y="3611879"/>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30 minutes, hands-on. If behind: reach a passing first build.</a:t>
            </a:r>
          </a:p>
        </p:txBody>
      </p:sp>
      <p:sp>
        <p:nvSpPr>
          <p:cNvPr id="15" name="Rounded Rectangle 14"/>
          <p:cNvSpPr/>
          <p:nvPr/>
        </p:nvSpPr>
        <p:spPr>
          <a:xfrm>
            <a:off x="640080" y="443484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77824" y="461772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ist_2A2A30.png"/>
          <p:cNvPicPr>
            <a:picLocks noChangeAspect="1"/>
          </p:cNvPicPr>
          <p:nvPr/>
        </p:nvPicPr>
        <p:blipFill>
          <a:blip r:embed="rId4"/>
          <a:stretch>
            <a:fillRect/>
          </a:stretch>
        </p:blipFill>
        <p:spPr>
          <a:xfrm>
            <a:off x="1005840" y="4745736"/>
            <a:ext cx="219456" cy="219456"/>
          </a:xfrm>
          <a:prstGeom prst="rect">
            <a:avLst/>
          </a:prstGeom>
        </p:spPr>
      </p:pic>
      <p:sp>
        <p:nvSpPr>
          <p:cNvPr id="18" name="TextBox 17"/>
          <p:cNvSpPr txBox="1"/>
          <p:nvPr/>
        </p:nvSpPr>
        <p:spPr>
          <a:xfrm>
            <a:off x="877824" y="5239512"/>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Success checklist</a:t>
            </a:r>
          </a:p>
        </p:txBody>
      </p:sp>
      <p:sp>
        <p:nvSpPr>
          <p:cNvPr id="19" name="TextBox 18"/>
          <p:cNvSpPr txBox="1"/>
          <p:nvPr/>
        </p:nvSpPr>
        <p:spPr>
          <a:xfrm>
            <a:off x="877824" y="5715000"/>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App runs; five loop stages observed; one checkpoint noted.</a:t>
            </a:r>
          </a:p>
        </p:txBody>
      </p:sp>
      <p:sp>
        <p:nvSpPr>
          <p:cNvPr id="20" name="Rounded Rectangle 19"/>
          <p:cNvSpPr/>
          <p:nvPr/>
        </p:nvSpPr>
        <p:spPr>
          <a:xfrm>
            <a:off x="6231636" y="443484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9379" y="461772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at_2A2A30.png"/>
          <p:cNvPicPr>
            <a:picLocks noChangeAspect="1"/>
          </p:cNvPicPr>
          <p:nvPr/>
        </p:nvPicPr>
        <p:blipFill>
          <a:blip r:embed="rId5"/>
          <a:stretch>
            <a:fillRect/>
          </a:stretch>
        </p:blipFill>
        <p:spPr>
          <a:xfrm>
            <a:off x="6597395" y="4745736"/>
            <a:ext cx="219456" cy="219456"/>
          </a:xfrm>
          <a:prstGeom prst="rect">
            <a:avLst/>
          </a:prstGeom>
        </p:spPr>
      </p:pic>
      <p:sp>
        <p:nvSpPr>
          <p:cNvPr id="23" name="TextBox 22"/>
          <p:cNvSpPr txBox="1"/>
          <p:nvPr/>
        </p:nvSpPr>
        <p:spPr>
          <a:xfrm>
            <a:off x="6469379" y="5239512"/>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Debrief</a:t>
            </a:r>
          </a:p>
        </p:txBody>
      </p:sp>
      <p:sp>
        <p:nvSpPr>
          <p:cNvPr id="24" name="TextBox 23"/>
          <p:cNvSpPr txBox="1"/>
          <p:nvPr/>
        </p:nvSpPr>
        <p:spPr>
          <a:xfrm>
            <a:off x="6469379" y="5715000"/>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Share one loop failure you watched Claude self-correct.</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10 MINUTES</a:t>
            </a:r>
          </a:p>
        </p:txBody>
      </p:sp>
      <p:sp>
        <p:nvSpPr>
          <p:cNvPr id="3" name="TextBox 2"/>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Break</a:t>
            </a:r>
          </a:p>
        </p:txBody>
      </p:sp>
      <p:sp>
        <p:nvSpPr>
          <p:cNvPr id="4" name="Rectangle 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6" name="TextBox 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7.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BLOCK 2 - 90 MINUTES</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Memory &amp; CLAUDE.md</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Teach it once. It remembers every session.</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8.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BLOCK 2 - CONCEPT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How Claude remembers</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Three layers, mapped straight onto human memory.</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ye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Working memory</a:t>
            </a:r>
            <a:r>
              <a:rPr sz="1400" b="0">
                <a:solidFill>
                  <a:srgbClr val="ACACB4"/>
                </a:solidFill>
                <a:latin typeface="Instrument Sans"/>
              </a:rPr>
              <a:t>  -  the context window - finite, managed</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lock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Short-term</a:t>
            </a:r>
            <a:r>
              <a:rPr sz="1400" b="0">
                <a:solidFill>
                  <a:srgbClr val="ACACB4"/>
                </a:solidFill>
                <a:latin typeface="Instrument Sans"/>
              </a:rPr>
              <a:t>  -  session history - gone on /clear</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book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Long-term</a:t>
            </a:r>
            <a:r>
              <a:rPr sz="1400" b="0">
                <a:solidFill>
                  <a:srgbClr val="ACACB4"/>
                </a:solidFill>
                <a:latin typeface="Instrument Sans"/>
              </a:rPr>
              <a:t>  -  CLAUDE.md + auto memory - loads every session</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CLAUDE.MD</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What is CLAUDE.md?</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One file, read first, every single session.</a:t>
            </a:r>
          </a:p>
        </p:txBody>
      </p:sp>
      <p:sp>
        <p:nvSpPr>
          <p:cNvPr id="5" name="Rounded Rectangle 4"/>
          <p:cNvSpPr/>
          <p:nvPr/>
        </p:nvSpPr>
        <p:spPr>
          <a:xfrm>
            <a:off x="640080" y="233172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5146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_2A2A30.png"/>
          <p:cNvPicPr>
            <a:picLocks noChangeAspect="1"/>
          </p:cNvPicPr>
          <p:nvPr/>
        </p:nvPicPr>
        <p:blipFill>
          <a:blip r:embed="rId2"/>
          <a:stretch>
            <a:fillRect/>
          </a:stretch>
        </p:blipFill>
        <p:spPr>
          <a:xfrm>
            <a:off x="1005840" y="2642616"/>
            <a:ext cx="219456" cy="219456"/>
          </a:xfrm>
          <a:prstGeom prst="rect">
            <a:avLst/>
          </a:prstGeom>
        </p:spPr>
      </p:pic>
      <p:sp>
        <p:nvSpPr>
          <p:cNvPr id="8" name="TextBox 7"/>
          <p:cNvSpPr txBox="1"/>
          <p:nvPr/>
        </p:nvSpPr>
        <p:spPr>
          <a:xfrm>
            <a:off x="877824" y="3136391"/>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A config file</a:t>
            </a:r>
          </a:p>
        </p:txBody>
      </p:sp>
      <p:sp>
        <p:nvSpPr>
          <p:cNvPr id="9" name="TextBox 8"/>
          <p:cNvSpPr txBox="1"/>
          <p:nvPr/>
        </p:nvSpPr>
        <p:spPr>
          <a:xfrm>
            <a:off x="877824" y="3611879"/>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Lives in the project root; read first, every session.</a:t>
            </a:r>
          </a:p>
        </p:txBody>
      </p:sp>
      <p:sp>
        <p:nvSpPr>
          <p:cNvPr id="10" name="Rounded Rectangle 9"/>
          <p:cNvSpPr/>
          <p:nvPr/>
        </p:nvSpPr>
        <p:spPr>
          <a:xfrm>
            <a:off x="6231636" y="233172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69379" y="25146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ook_2A2A30.png"/>
          <p:cNvPicPr>
            <a:picLocks noChangeAspect="1"/>
          </p:cNvPicPr>
          <p:nvPr/>
        </p:nvPicPr>
        <p:blipFill>
          <a:blip r:embed="rId3"/>
          <a:stretch>
            <a:fillRect/>
          </a:stretch>
        </p:blipFill>
        <p:spPr>
          <a:xfrm>
            <a:off x="6597395" y="2642616"/>
            <a:ext cx="219456" cy="219456"/>
          </a:xfrm>
          <a:prstGeom prst="rect">
            <a:avLst/>
          </a:prstGeom>
        </p:spPr>
      </p:pic>
      <p:sp>
        <p:nvSpPr>
          <p:cNvPr id="13" name="TextBox 12"/>
          <p:cNvSpPr txBox="1"/>
          <p:nvPr/>
        </p:nvSpPr>
        <p:spPr>
          <a:xfrm>
            <a:off x="6469379" y="3136391"/>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An onboarding doc</a:t>
            </a:r>
          </a:p>
        </p:txBody>
      </p:sp>
      <p:sp>
        <p:nvSpPr>
          <p:cNvPr id="14" name="TextBox 13"/>
          <p:cNvSpPr txBox="1"/>
          <p:nvPr/>
        </p:nvSpPr>
        <p:spPr>
          <a:xfrm>
            <a:off x="6469379" y="3611879"/>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Your project's instruction manual for the AI.</a:t>
            </a:r>
          </a:p>
        </p:txBody>
      </p:sp>
      <p:sp>
        <p:nvSpPr>
          <p:cNvPr id="15" name="Rounded Rectangle 14"/>
          <p:cNvSpPr/>
          <p:nvPr/>
        </p:nvSpPr>
        <p:spPr>
          <a:xfrm>
            <a:off x="640080" y="443484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77824" y="461772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efresh_2A2A30.png"/>
          <p:cNvPicPr>
            <a:picLocks noChangeAspect="1"/>
          </p:cNvPicPr>
          <p:nvPr/>
        </p:nvPicPr>
        <p:blipFill>
          <a:blip r:embed="rId4"/>
          <a:stretch>
            <a:fillRect/>
          </a:stretch>
        </p:blipFill>
        <p:spPr>
          <a:xfrm>
            <a:off x="1005840" y="4745736"/>
            <a:ext cx="219456" cy="219456"/>
          </a:xfrm>
          <a:prstGeom prst="rect">
            <a:avLst/>
          </a:prstGeom>
        </p:spPr>
      </p:pic>
      <p:sp>
        <p:nvSpPr>
          <p:cNvPr id="18" name="TextBox 17"/>
          <p:cNvSpPr txBox="1"/>
          <p:nvPr/>
        </p:nvSpPr>
        <p:spPr>
          <a:xfrm>
            <a:off x="877824" y="5239512"/>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Persistent</a:t>
            </a:r>
          </a:p>
        </p:txBody>
      </p:sp>
      <p:sp>
        <p:nvSpPr>
          <p:cNvPr id="19" name="TextBox 18"/>
          <p:cNvSpPr txBox="1"/>
          <p:nvPr/>
        </p:nvSpPr>
        <p:spPr>
          <a:xfrm>
            <a:off x="877824" y="5715000"/>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No more re-explaining the project every chat.</a:t>
            </a:r>
          </a:p>
        </p:txBody>
      </p:sp>
      <p:sp>
        <p:nvSpPr>
          <p:cNvPr id="20" name="Rounded Rectangle 19"/>
          <p:cNvSpPr/>
          <p:nvPr/>
        </p:nvSpPr>
        <p:spPr>
          <a:xfrm>
            <a:off x="6231636" y="443484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9379" y="461772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hare_2A2A30.png"/>
          <p:cNvPicPr>
            <a:picLocks noChangeAspect="1"/>
          </p:cNvPicPr>
          <p:nvPr/>
        </p:nvPicPr>
        <p:blipFill>
          <a:blip r:embed="rId5"/>
          <a:stretch>
            <a:fillRect/>
          </a:stretch>
        </p:blipFill>
        <p:spPr>
          <a:xfrm>
            <a:off x="6597395" y="4745736"/>
            <a:ext cx="219456" cy="219456"/>
          </a:xfrm>
          <a:prstGeom prst="rect">
            <a:avLst/>
          </a:prstGeom>
        </p:spPr>
      </p:pic>
      <p:sp>
        <p:nvSpPr>
          <p:cNvPr id="23" name="TextBox 22"/>
          <p:cNvSpPr txBox="1"/>
          <p:nvPr/>
        </p:nvSpPr>
        <p:spPr>
          <a:xfrm>
            <a:off x="6469379" y="5239512"/>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Shareable</a:t>
            </a:r>
          </a:p>
        </p:txBody>
      </p:sp>
      <p:sp>
        <p:nvSpPr>
          <p:cNvPr id="24" name="TextBox 23"/>
          <p:cNvSpPr txBox="1"/>
          <p:nvPr/>
        </p:nvSpPr>
        <p:spPr>
          <a:xfrm>
            <a:off x="6469379" y="5715000"/>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Commit it - the whole team gets the same behavior.</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CLAUDE.MD</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What goes in the file</a:t>
            </a:r>
          </a:p>
        </p:txBody>
      </p:sp>
      <p:sp>
        <p:nvSpPr>
          <p:cNvPr id="4" name="Rounded Rectangle 3"/>
          <p:cNvSpPr/>
          <p:nvPr/>
        </p:nvSpPr>
        <p:spPr>
          <a:xfrm>
            <a:off x="640080" y="1828800"/>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86171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oc_2A2A30.png"/>
          <p:cNvPicPr>
            <a:picLocks noChangeAspect="1"/>
          </p:cNvPicPr>
          <p:nvPr/>
        </p:nvPicPr>
        <p:blipFill>
          <a:blip r:embed="rId2"/>
          <a:stretch>
            <a:fillRect/>
          </a:stretch>
        </p:blipFill>
        <p:spPr>
          <a:xfrm>
            <a:off x="1014984" y="1998878"/>
            <a:ext cx="292608" cy="292608"/>
          </a:xfrm>
          <a:prstGeom prst="rect">
            <a:avLst/>
          </a:prstGeom>
        </p:spPr>
      </p:pic>
      <p:sp>
        <p:nvSpPr>
          <p:cNvPr id="7" name="TextBox 6"/>
          <p:cNvSpPr txBox="1"/>
          <p:nvPr/>
        </p:nvSpPr>
        <p:spPr>
          <a:xfrm>
            <a:off x="1591056" y="1828800"/>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Project &amp; stack</a:t>
            </a:r>
          </a:p>
        </p:txBody>
      </p:sp>
      <p:sp>
        <p:nvSpPr>
          <p:cNvPr id="8" name="TextBox 7"/>
          <p:cNvSpPr txBox="1"/>
          <p:nvPr/>
        </p:nvSpPr>
        <p:spPr>
          <a:xfrm>
            <a:off x="4434840" y="1828800"/>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What this is and what it runs on - two lines.</a:t>
            </a:r>
          </a:p>
        </p:txBody>
      </p:sp>
      <p:sp>
        <p:nvSpPr>
          <p:cNvPr id="9" name="Rounded Rectangle 8"/>
          <p:cNvSpPr/>
          <p:nvPr/>
        </p:nvSpPr>
        <p:spPr>
          <a:xfrm>
            <a:off x="640080" y="2607868"/>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640787"/>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en_2A2A30.png"/>
          <p:cNvPicPr>
            <a:picLocks noChangeAspect="1"/>
          </p:cNvPicPr>
          <p:nvPr/>
        </p:nvPicPr>
        <p:blipFill>
          <a:blip r:embed="rId3"/>
          <a:stretch>
            <a:fillRect/>
          </a:stretch>
        </p:blipFill>
        <p:spPr>
          <a:xfrm>
            <a:off x="1014984" y="2777947"/>
            <a:ext cx="292608" cy="292608"/>
          </a:xfrm>
          <a:prstGeom prst="rect">
            <a:avLst/>
          </a:prstGeom>
        </p:spPr>
      </p:pic>
      <p:sp>
        <p:nvSpPr>
          <p:cNvPr id="12" name="TextBox 11"/>
          <p:cNvSpPr txBox="1"/>
          <p:nvPr/>
        </p:nvSpPr>
        <p:spPr>
          <a:xfrm>
            <a:off x="1591056" y="2607868"/>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Conventions</a:t>
            </a:r>
          </a:p>
        </p:txBody>
      </p:sp>
      <p:sp>
        <p:nvSpPr>
          <p:cNvPr id="13" name="TextBox 12"/>
          <p:cNvSpPr txBox="1"/>
          <p:nvPr/>
        </p:nvSpPr>
        <p:spPr>
          <a:xfrm>
            <a:off x="4434840" y="2607868"/>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Exact rules: 'camelCase variables, PascalCase classes'.</a:t>
            </a:r>
          </a:p>
        </p:txBody>
      </p:sp>
      <p:sp>
        <p:nvSpPr>
          <p:cNvPr id="14" name="Rounded Rectangle 13"/>
          <p:cNvSpPr/>
          <p:nvPr/>
        </p:nvSpPr>
        <p:spPr>
          <a:xfrm>
            <a:off x="640080" y="3386937"/>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41985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2A2A30.png"/>
          <p:cNvPicPr>
            <a:picLocks noChangeAspect="1"/>
          </p:cNvPicPr>
          <p:nvPr/>
        </p:nvPicPr>
        <p:blipFill>
          <a:blip r:embed="rId4"/>
          <a:stretch>
            <a:fillRect/>
          </a:stretch>
        </p:blipFill>
        <p:spPr>
          <a:xfrm>
            <a:off x="1014984" y="3557015"/>
            <a:ext cx="292608" cy="292608"/>
          </a:xfrm>
          <a:prstGeom prst="rect">
            <a:avLst/>
          </a:prstGeom>
        </p:spPr>
      </p:pic>
      <p:sp>
        <p:nvSpPr>
          <p:cNvPr id="17" name="TextBox 16"/>
          <p:cNvSpPr txBox="1"/>
          <p:nvPr/>
        </p:nvSpPr>
        <p:spPr>
          <a:xfrm>
            <a:off x="1591056" y="3386937"/>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Testing</a:t>
            </a:r>
          </a:p>
        </p:txBody>
      </p:sp>
      <p:sp>
        <p:nvSpPr>
          <p:cNvPr id="18" name="TextBox 17"/>
          <p:cNvSpPr txBox="1"/>
          <p:nvPr/>
        </p:nvSpPr>
        <p:spPr>
          <a:xfrm>
            <a:off x="4434840" y="3386937"/>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Framework, coverage bar, where tests live.</a:t>
            </a:r>
          </a:p>
        </p:txBody>
      </p:sp>
      <p:sp>
        <p:nvSpPr>
          <p:cNvPr id="19" name="Rounded Rectangle 18"/>
          <p:cNvSpPr/>
          <p:nvPr/>
        </p:nvSpPr>
        <p:spPr>
          <a:xfrm>
            <a:off x="640080" y="4166006"/>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19892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hare_2A2A30.png"/>
          <p:cNvPicPr>
            <a:picLocks noChangeAspect="1"/>
          </p:cNvPicPr>
          <p:nvPr/>
        </p:nvPicPr>
        <p:blipFill>
          <a:blip r:embed="rId5"/>
          <a:stretch>
            <a:fillRect/>
          </a:stretch>
        </p:blipFill>
        <p:spPr>
          <a:xfrm>
            <a:off x="1014984" y="4336084"/>
            <a:ext cx="292608" cy="292608"/>
          </a:xfrm>
          <a:prstGeom prst="rect">
            <a:avLst/>
          </a:prstGeom>
        </p:spPr>
      </p:pic>
      <p:sp>
        <p:nvSpPr>
          <p:cNvPr id="22" name="TextBox 21"/>
          <p:cNvSpPr txBox="1"/>
          <p:nvPr/>
        </p:nvSpPr>
        <p:spPr>
          <a:xfrm>
            <a:off x="1591056" y="4166006"/>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Git habits</a:t>
            </a:r>
          </a:p>
        </p:txBody>
      </p:sp>
      <p:sp>
        <p:nvSpPr>
          <p:cNvPr id="23" name="TextBox 22"/>
          <p:cNvSpPr txBox="1"/>
          <p:nvPr/>
        </p:nvSpPr>
        <p:spPr>
          <a:xfrm>
            <a:off x="4434840" y="4166006"/>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Commit format, branch naming, PR expectations.</a:t>
            </a:r>
          </a:p>
        </p:txBody>
      </p:sp>
      <p:sp>
        <p:nvSpPr>
          <p:cNvPr id="24" name="Rounded Rectangle 23"/>
          <p:cNvSpPr/>
          <p:nvPr/>
        </p:nvSpPr>
        <p:spPr>
          <a:xfrm>
            <a:off x="640080" y="4945075"/>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497799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target_2A2A30.png"/>
          <p:cNvPicPr>
            <a:picLocks noChangeAspect="1"/>
          </p:cNvPicPr>
          <p:nvPr/>
        </p:nvPicPr>
        <p:blipFill>
          <a:blip r:embed="rId6"/>
          <a:stretch>
            <a:fillRect/>
          </a:stretch>
        </p:blipFill>
        <p:spPr>
          <a:xfrm>
            <a:off x="1014984" y="5115153"/>
            <a:ext cx="292608" cy="292608"/>
          </a:xfrm>
          <a:prstGeom prst="rect">
            <a:avLst/>
          </a:prstGeom>
        </p:spPr>
      </p:pic>
      <p:sp>
        <p:nvSpPr>
          <p:cNvPr id="27" name="TextBox 26"/>
          <p:cNvSpPr txBox="1"/>
          <p:nvPr/>
        </p:nvSpPr>
        <p:spPr>
          <a:xfrm>
            <a:off x="1591056" y="4945075"/>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Architecture</a:t>
            </a:r>
          </a:p>
        </p:txBody>
      </p:sp>
      <p:sp>
        <p:nvSpPr>
          <p:cNvPr id="28" name="TextBox 27"/>
          <p:cNvSpPr txBox="1"/>
          <p:nvPr/>
        </p:nvSpPr>
        <p:spPr>
          <a:xfrm>
            <a:off x="4434840" y="4945075"/>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Where new code goes; what never gets touched.</a:t>
            </a:r>
          </a:p>
        </p:txBody>
      </p:sp>
      <p:sp>
        <p:nvSpPr>
          <p:cNvPr id="29" name="Rounded Rectangle 28"/>
          <p:cNvSpPr/>
          <p:nvPr/>
        </p:nvSpPr>
        <p:spPr>
          <a:xfrm>
            <a:off x="640080" y="5760720"/>
            <a:ext cx="10908792" cy="658368"/>
          </a:xfrm>
          <a:prstGeom prst="roundRect">
            <a:avLst>
              <a:gd name="adj" fmla="val 16000"/>
            </a:avLst>
          </a:prstGeom>
          <a:solidFill>
            <a:srgbClr val="173527"/>
          </a:solidFill>
          <a:ln w="9525">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heck_46B17A.png"/>
          <p:cNvPicPr>
            <a:picLocks noChangeAspect="1"/>
          </p:cNvPicPr>
          <p:nvPr/>
        </p:nvPicPr>
        <p:blipFill>
          <a:blip r:embed="rId7"/>
          <a:stretch>
            <a:fillRect/>
          </a:stretch>
        </p:blipFill>
        <p:spPr>
          <a:xfrm>
            <a:off x="877824" y="5907024"/>
            <a:ext cx="365760" cy="365760"/>
          </a:xfrm>
          <a:prstGeom prst="rect">
            <a:avLst/>
          </a:prstGeom>
        </p:spPr>
      </p:pic>
      <p:sp>
        <p:nvSpPr>
          <p:cNvPr id="31" name="TextBox 30"/>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BFE6D2"/>
                </a:solidFill>
                <a:latin typeface="Instrument Sans"/>
              </a:rPr>
              <a:t>Keep it under ~200 lines - Claude follows a lean file far better than a bloated one.</a:t>
            </a:r>
          </a:p>
        </p:txBody>
      </p:sp>
      <p:sp>
        <p:nvSpPr>
          <p:cNvPr id="32" name="Rectangle 3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4" name="TextBox 3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PRINCIPLE</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Principle 3: Route, don't pile</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How big teams keep CLAUDE.md lean.</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x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The pile</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One 500-line CLAUDE.md - half of it gets ignored.</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arget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The route</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Lean core file + .claude/rules/*.md loaded when relevant.</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The payoff</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Better compliance, less context burned, easier upkeep.</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Review CLAUDE.md diffs like shared config - unreviewed hotfix lines become the bloat nobody follows.</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HIERARCHY</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memory hierarchy</a:t>
            </a:r>
          </a:p>
        </p:txBody>
      </p:sp>
      <p:sp>
        <p:nvSpPr>
          <p:cNvPr id="4" name="Rounded Rectangle 3"/>
          <p:cNvSpPr/>
          <p:nvPr/>
        </p:nvSpPr>
        <p:spPr>
          <a:xfrm>
            <a:off x="640080" y="1828800"/>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796795"/>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_2A2A30.png"/>
          <p:cNvPicPr>
            <a:picLocks noChangeAspect="1"/>
          </p:cNvPicPr>
          <p:nvPr/>
        </p:nvPicPr>
        <p:blipFill>
          <a:blip r:embed="rId2"/>
          <a:stretch>
            <a:fillRect/>
          </a:stretch>
        </p:blipFill>
        <p:spPr>
          <a:xfrm>
            <a:off x="1014984" y="1933955"/>
            <a:ext cx="292608" cy="292608"/>
          </a:xfrm>
          <a:prstGeom prst="rect">
            <a:avLst/>
          </a:prstGeom>
        </p:spPr>
      </p:pic>
      <p:sp>
        <p:nvSpPr>
          <p:cNvPr id="7" name="TextBox 6"/>
          <p:cNvSpPr txBox="1"/>
          <p:nvPr/>
        </p:nvSpPr>
        <p:spPr>
          <a:xfrm>
            <a:off x="1591056" y="1828800"/>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Enterprise policy</a:t>
            </a:r>
          </a:p>
        </p:txBody>
      </p:sp>
      <p:sp>
        <p:nvSpPr>
          <p:cNvPr id="8" name="TextBox 7"/>
          <p:cNvSpPr txBox="1"/>
          <p:nvPr/>
        </p:nvSpPr>
        <p:spPr>
          <a:xfrm>
            <a:off x="4434840" y="1828800"/>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Managed, IT-deployed, org-wide - always wins; cannot be overridden.</a:t>
            </a:r>
          </a:p>
        </p:txBody>
      </p:sp>
      <p:sp>
        <p:nvSpPr>
          <p:cNvPr id="9" name="Rounded Rectangle 8"/>
          <p:cNvSpPr/>
          <p:nvPr/>
        </p:nvSpPr>
        <p:spPr>
          <a:xfrm>
            <a:off x="640080" y="2478024"/>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44602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oc_2A2A30.png"/>
          <p:cNvPicPr>
            <a:picLocks noChangeAspect="1"/>
          </p:cNvPicPr>
          <p:nvPr/>
        </p:nvPicPr>
        <p:blipFill>
          <a:blip r:embed="rId3"/>
          <a:stretch>
            <a:fillRect/>
          </a:stretch>
        </p:blipFill>
        <p:spPr>
          <a:xfrm>
            <a:off x="1014984" y="2583179"/>
            <a:ext cx="292608" cy="292608"/>
          </a:xfrm>
          <a:prstGeom prst="rect">
            <a:avLst/>
          </a:prstGeom>
        </p:spPr>
      </p:pic>
      <p:sp>
        <p:nvSpPr>
          <p:cNvPr id="12" name="TextBox 11"/>
          <p:cNvSpPr txBox="1"/>
          <p:nvPr/>
        </p:nvSpPr>
        <p:spPr>
          <a:xfrm>
            <a:off x="1591056" y="2478024"/>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Project CLAUDE.md</a:t>
            </a:r>
          </a:p>
        </p:txBody>
      </p:sp>
      <p:sp>
        <p:nvSpPr>
          <p:cNvPr id="13" name="TextBox 12"/>
          <p:cNvSpPr txBox="1"/>
          <p:nvPr/>
        </p:nvSpPr>
        <p:spPr>
          <a:xfrm>
            <a:off x="4434840" y="2478024"/>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Committed to the repo - every collaborator gets it.</a:t>
            </a:r>
          </a:p>
        </p:txBody>
      </p:sp>
      <p:sp>
        <p:nvSpPr>
          <p:cNvPr id="14" name="Rounded Rectangle 13"/>
          <p:cNvSpPr/>
          <p:nvPr/>
        </p:nvSpPr>
        <p:spPr>
          <a:xfrm>
            <a:off x="640080" y="3127248"/>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09524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ist_2A2A30.png"/>
          <p:cNvPicPr>
            <a:picLocks noChangeAspect="1"/>
          </p:cNvPicPr>
          <p:nvPr/>
        </p:nvPicPr>
        <p:blipFill>
          <a:blip r:embed="rId4"/>
          <a:stretch>
            <a:fillRect/>
          </a:stretch>
        </p:blipFill>
        <p:spPr>
          <a:xfrm>
            <a:off x="1014984" y="3232403"/>
            <a:ext cx="292608" cy="292608"/>
          </a:xfrm>
          <a:prstGeom prst="rect">
            <a:avLst/>
          </a:prstGeom>
        </p:spPr>
      </p:pic>
      <p:sp>
        <p:nvSpPr>
          <p:cNvPr id="17" name="TextBox 16"/>
          <p:cNvSpPr txBox="1"/>
          <p:nvPr/>
        </p:nvSpPr>
        <p:spPr>
          <a:xfrm>
            <a:off x="1591056" y="3127248"/>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Project rules</a:t>
            </a:r>
          </a:p>
        </p:txBody>
      </p:sp>
      <p:sp>
        <p:nvSpPr>
          <p:cNvPr id="18" name="TextBox 17"/>
          <p:cNvSpPr txBox="1"/>
          <p:nvPr/>
        </p:nvSpPr>
        <p:spPr>
          <a:xfrm>
            <a:off x="4434840" y="3127248"/>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.claude/rules/*.md - modular, routed.</a:t>
            </a:r>
          </a:p>
        </p:txBody>
      </p:sp>
      <p:sp>
        <p:nvSpPr>
          <p:cNvPr id="19" name="Rounded Rectangle 18"/>
          <p:cNvSpPr/>
          <p:nvPr/>
        </p:nvSpPr>
        <p:spPr>
          <a:xfrm>
            <a:off x="640080" y="3776472"/>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374446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user_2A2A30.png"/>
          <p:cNvPicPr>
            <a:picLocks noChangeAspect="1"/>
          </p:cNvPicPr>
          <p:nvPr/>
        </p:nvPicPr>
        <p:blipFill>
          <a:blip r:embed="rId5"/>
          <a:stretch>
            <a:fillRect/>
          </a:stretch>
        </p:blipFill>
        <p:spPr>
          <a:xfrm>
            <a:off x="1014984" y="3881628"/>
            <a:ext cx="292608" cy="292608"/>
          </a:xfrm>
          <a:prstGeom prst="rect">
            <a:avLst/>
          </a:prstGeom>
        </p:spPr>
      </p:pic>
      <p:sp>
        <p:nvSpPr>
          <p:cNvPr id="22" name="TextBox 21"/>
          <p:cNvSpPr txBox="1"/>
          <p:nvPr/>
        </p:nvSpPr>
        <p:spPr>
          <a:xfrm>
            <a:off x="1591056" y="3776472"/>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User memory</a:t>
            </a:r>
          </a:p>
        </p:txBody>
      </p:sp>
      <p:sp>
        <p:nvSpPr>
          <p:cNvPr id="23" name="TextBox 22"/>
          <p:cNvSpPr txBox="1"/>
          <p:nvPr/>
        </p:nvSpPr>
        <p:spPr>
          <a:xfrm>
            <a:off x="4434840" y="3776472"/>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~/.claude/CLAUDE.md - you, on every project.</a:t>
            </a:r>
          </a:p>
        </p:txBody>
      </p:sp>
      <p:sp>
        <p:nvSpPr>
          <p:cNvPr id="24" name="Rounded Rectangle 23"/>
          <p:cNvSpPr/>
          <p:nvPr/>
        </p:nvSpPr>
        <p:spPr>
          <a:xfrm>
            <a:off x="640080" y="4425696"/>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439369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pen_2A2A30.png"/>
          <p:cNvPicPr>
            <a:picLocks noChangeAspect="1"/>
          </p:cNvPicPr>
          <p:nvPr/>
        </p:nvPicPr>
        <p:blipFill>
          <a:blip r:embed="rId6"/>
          <a:stretch>
            <a:fillRect/>
          </a:stretch>
        </p:blipFill>
        <p:spPr>
          <a:xfrm>
            <a:off x="1014984" y="4530852"/>
            <a:ext cx="292608" cy="292608"/>
          </a:xfrm>
          <a:prstGeom prst="rect">
            <a:avLst/>
          </a:prstGeom>
        </p:spPr>
      </p:pic>
      <p:sp>
        <p:nvSpPr>
          <p:cNvPr id="27" name="TextBox 26"/>
          <p:cNvSpPr txBox="1"/>
          <p:nvPr/>
        </p:nvSpPr>
        <p:spPr>
          <a:xfrm>
            <a:off x="1591056" y="4425696"/>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Local override</a:t>
            </a:r>
          </a:p>
        </p:txBody>
      </p:sp>
      <p:sp>
        <p:nvSpPr>
          <p:cNvPr id="28" name="TextBox 27"/>
          <p:cNvSpPr txBox="1"/>
          <p:nvPr/>
        </p:nvSpPr>
        <p:spPr>
          <a:xfrm>
            <a:off x="4434840" y="4425696"/>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CLAUDE.local.md - you, this project, gitignored.</a:t>
            </a:r>
          </a:p>
        </p:txBody>
      </p:sp>
      <p:sp>
        <p:nvSpPr>
          <p:cNvPr id="29" name="Rounded Rectangle 28"/>
          <p:cNvSpPr/>
          <p:nvPr/>
        </p:nvSpPr>
        <p:spPr>
          <a:xfrm>
            <a:off x="640080" y="5074920"/>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1248" y="504291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spark_2A2A30.png"/>
          <p:cNvPicPr>
            <a:picLocks noChangeAspect="1"/>
          </p:cNvPicPr>
          <p:nvPr/>
        </p:nvPicPr>
        <p:blipFill>
          <a:blip r:embed="rId7"/>
          <a:stretch>
            <a:fillRect/>
          </a:stretch>
        </p:blipFill>
        <p:spPr>
          <a:xfrm>
            <a:off x="1014984" y="5180076"/>
            <a:ext cx="292608" cy="292608"/>
          </a:xfrm>
          <a:prstGeom prst="rect">
            <a:avLst/>
          </a:prstGeom>
        </p:spPr>
      </p:pic>
      <p:sp>
        <p:nvSpPr>
          <p:cNvPr id="32" name="TextBox 31"/>
          <p:cNvSpPr txBox="1"/>
          <p:nvPr/>
        </p:nvSpPr>
        <p:spPr>
          <a:xfrm>
            <a:off x="1591056" y="5074920"/>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Auto memory</a:t>
            </a:r>
          </a:p>
        </p:txBody>
      </p:sp>
      <p:sp>
        <p:nvSpPr>
          <p:cNvPr id="33" name="TextBox 32"/>
          <p:cNvSpPr txBox="1"/>
          <p:nvPr/>
        </p:nvSpPr>
        <p:spPr>
          <a:xfrm>
            <a:off x="4434840" y="5074920"/>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Claude writes this one itself.</a:t>
            </a:r>
          </a:p>
        </p:txBody>
      </p:sp>
      <p:sp>
        <p:nvSpPr>
          <p:cNvPr id="34" name="Rounded Rectangle 33"/>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nfo_4C8DF0.png"/>
          <p:cNvPicPr>
            <a:picLocks noChangeAspect="1"/>
          </p:cNvPicPr>
          <p:nvPr/>
        </p:nvPicPr>
        <p:blipFill>
          <a:blip r:embed="rId8"/>
          <a:stretch>
            <a:fillRect/>
          </a:stretch>
        </p:blipFill>
        <p:spPr>
          <a:xfrm>
            <a:off x="877824" y="5907024"/>
            <a:ext cx="365760" cy="365760"/>
          </a:xfrm>
          <a:prstGeom prst="rect">
            <a:avLst/>
          </a:prstGeom>
        </p:spPr>
      </p:pic>
      <p:sp>
        <p:nvSpPr>
          <p:cNvPr id="36" name="TextBox 3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Precedence when rules collide: enterprise &gt; project &gt; user &gt; local - verify exact order at delivery.</a:t>
            </a:r>
          </a:p>
        </p:txBody>
      </p:sp>
      <p:sp>
        <p:nvSpPr>
          <p:cNvPr id="37" name="Rectangle 3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9" name="TextBox 3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NEW IN 2026</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Auto memory: Claude's notebook</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Claude takes its own notes while it works.</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ulb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it saves</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Build commands, debugging insights, your preferences.</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oc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Where it lives</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~/.claude/projects/&lt;project&gt;/memory - MEMORY.md index.</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efresh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How it loads</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First ~200 lines read alongside CLAUDE.md at start.</a:t>
            </a:r>
          </a:p>
        </p:txBody>
      </p:sp>
      <p:sp>
        <p:nvSpPr>
          <p:cNvPr id="20" name="Rounded Rectangle 19"/>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nfo_4C8DF0.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Plain markdown - read, edit, or delete anytime; disable per project in settings.json.</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LONG SESSIONS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Surviving compaction</a:t>
            </a:r>
          </a:p>
        </p:txBody>
      </p:sp>
      <p:sp>
        <p:nvSpPr>
          <p:cNvPr id="4" name="Rounded Rectangle 3"/>
          <p:cNvSpPr/>
          <p:nvPr/>
        </p:nvSpPr>
        <p:spPr>
          <a:xfrm>
            <a:off x="640080"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st_ACACB4.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Compact Instructions</a:t>
            </a:r>
          </a:p>
        </p:txBody>
      </p:sp>
      <p:sp>
        <p:nvSpPr>
          <p:cNvPr id="7" name="Rectangle 6"/>
          <p:cNvSpPr/>
          <p:nvPr/>
        </p:nvSpPr>
        <p:spPr>
          <a:xfrm>
            <a:off x="932688"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A priority list inside CLAUDE.md</a:t>
            </a:r>
          </a:p>
        </p:txBody>
      </p:sp>
      <p:sp>
        <p:nvSpPr>
          <p:cNvPr id="9" name="Rectangle 8"/>
          <p:cNvSpPr/>
          <p:nvPr/>
        </p:nvSpPr>
        <p:spPr>
          <a:xfrm>
            <a:off x="932688"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Tells /compact what must survive</a:t>
            </a:r>
          </a:p>
        </p:txBody>
      </p:sp>
      <p:sp>
        <p:nvSpPr>
          <p:cNvPr id="11" name="Rectangle 10"/>
          <p:cNvSpPr/>
          <p:nvPr/>
        </p:nvSpPr>
        <p:spPr>
          <a:xfrm>
            <a:off x="932688"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Architecture decisions first</a:t>
            </a:r>
          </a:p>
        </p:txBody>
      </p:sp>
      <p:sp>
        <p:nvSpPr>
          <p:cNvPr id="13" name="Rounded Rectangle 12"/>
          <p:cNvSpPr/>
          <p:nvPr/>
        </p:nvSpPr>
        <p:spPr>
          <a:xfrm>
            <a:off x="6199632"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oc_46B17A.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HANDOFF.md</a:t>
            </a:r>
          </a:p>
        </p:txBody>
      </p:sp>
      <p:sp>
        <p:nvSpPr>
          <p:cNvPr id="16" name="Rectangle 15"/>
          <p:cNvSpPr/>
          <p:nvPr/>
        </p:nvSpPr>
        <p:spPr>
          <a:xfrm>
            <a:off x="6492240"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Claude writes the handoff file</a:t>
            </a:r>
          </a:p>
        </p:txBody>
      </p:sp>
      <p:sp>
        <p:nvSpPr>
          <p:cNvPr id="18" name="Rectangle 17"/>
          <p:cNvSpPr/>
          <p:nvPr/>
        </p:nvSpPr>
        <p:spPr>
          <a:xfrm>
            <a:off x="6492240"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Tried, worked, failed, next</a:t>
            </a:r>
          </a:p>
        </p:txBody>
      </p:sp>
      <p:sp>
        <p:nvSpPr>
          <p:cNvPr id="20" name="Rectangle 19"/>
          <p:cNvSpPr/>
          <p:nvPr/>
        </p:nvSpPr>
        <p:spPr>
          <a:xfrm>
            <a:off x="6492240"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Fresh session starts from it</a:t>
            </a:r>
          </a:p>
        </p:txBody>
      </p:sp>
      <p:sp>
        <p:nvSpPr>
          <p:cNvPr id="22" name="Rounded Rectangle 21"/>
          <p:cNvSpPr/>
          <p:nvPr/>
        </p:nvSpPr>
        <p:spPr>
          <a:xfrm>
            <a:off x="640080" y="5138928"/>
            <a:ext cx="10908792" cy="713232"/>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warn_E0A93A.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Without guidance, /compact optimizes for brevity - early architecture decisions die first.</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9.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BLOCK 2 - THE RULE UNDER IT ALL</a:t>
            </a:r>
          </a:p>
        </p:txBody>
      </p:sp>
      <p:sp>
        <p:nvSpPr>
          <p:cNvPr id="5" name="TextBox 4"/>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State lives in files, not sessions</a:t>
            </a:r>
          </a:p>
        </p:txBody>
      </p:sp>
      <p:sp>
        <p:nvSpPr>
          <p:cNvPr id="6" name="Rectangle 5"/>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8" name="TextBox 7"/>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FIELD NOTES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Rules the pros actually use</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From the CLAUDE.md of Claude Code's own creator.</a:t>
            </a:r>
          </a:p>
        </p:txBody>
      </p:sp>
      <p:sp>
        <p:nvSpPr>
          <p:cNvPr id="5" name="Rounded Rectangle 4"/>
          <p:cNvSpPr/>
          <p:nvPr/>
        </p:nvSpPr>
        <p:spPr>
          <a:xfrm>
            <a:off x="640080"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ist_2A2A30.png"/>
          <p:cNvPicPr>
            <a:picLocks noChangeAspect="1"/>
          </p:cNvPicPr>
          <p:nvPr/>
        </p:nvPicPr>
        <p:blipFill>
          <a:blip r:embed="rId2"/>
          <a:stretch>
            <a:fillRect/>
          </a:stretch>
        </p:blipFill>
        <p:spPr>
          <a:xfrm>
            <a:off x="1005840" y="3076956"/>
            <a:ext cx="219456" cy="219456"/>
          </a:xfrm>
          <a:prstGeom prst="rect">
            <a:avLst/>
          </a:prstGeom>
        </p:spPr>
      </p:pic>
      <p:sp>
        <p:nvSpPr>
          <p:cNvPr id="8" name="TextBox 7"/>
          <p:cNvSpPr txBox="1"/>
          <p:nvPr/>
        </p:nvSpPr>
        <p:spPr>
          <a:xfrm>
            <a:off x="877824"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Plan first</a:t>
            </a:r>
          </a:p>
        </p:txBody>
      </p:sp>
      <p:sp>
        <p:nvSpPr>
          <p:cNvPr id="9" name="TextBox 8"/>
          <p:cNvSpPr txBox="1"/>
          <p:nvPr/>
        </p:nvSpPr>
        <p:spPr>
          <a:xfrm>
            <a:off x="877824"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'Enter plan mode for ANY non-trivial task.'</a:t>
            </a:r>
          </a:p>
        </p:txBody>
      </p:sp>
      <p:sp>
        <p:nvSpPr>
          <p:cNvPr id="10" name="Rounded Rectangle 9"/>
          <p:cNvSpPr/>
          <p:nvPr/>
        </p:nvSpPr>
        <p:spPr>
          <a:xfrm>
            <a:off x="4367784"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2A2A30.png"/>
          <p:cNvPicPr>
            <a:picLocks noChangeAspect="1"/>
          </p:cNvPicPr>
          <p:nvPr/>
        </p:nvPicPr>
        <p:blipFill>
          <a:blip r:embed="rId3"/>
          <a:stretch>
            <a:fillRect/>
          </a:stretch>
        </p:blipFill>
        <p:spPr>
          <a:xfrm>
            <a:off x="4733544" y="3076956"/>
            <a:ext cx="219456" cy="219456"/>
          </a:xfrm>
          <a:prstGeom prst="rect">
            <a:avLst/>
          </a:prstGeom>
        </p:spPr>
      </p:pic>
      <p:sp>
        <p:nvSpPr>
          <p:cNvPr id="13" name="TextBox 12"/>
          <p:cNvSpPr txBox="1"/>
          <p:nvPr/>
        </p:nvSpPr>
        <p:spPr>
          <a:xfrm>
            <a:off x="4605528"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Prove it works</a:t>
            </a:r>
          </a:p>
        </p:txBody>
      </p:sp>
      <p:sp>
        <p:nvSpPr>
          <p:cNvPr id="14" name="TextBox 13"/>
          <p:cNvSpPr txBox="1"/>
          <p:nvPr/>
        </p:nvSpPr>
        <p:spPr>
          <a:xfrm>
            <a:off x="4605528"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'Never mark done without a passing verification.'</a:t>
            </a:r>
          </a:p>
        </p:txBody>
      </p:sp>
      <p:sp>
        <p:nvSpPr>
          <p:cNvPr id="15" name="Rounded Rectangle 14"/>
          <p:cNvSpPr/>
          <p:nvPr/>
        </p:nvSpPr>
        <p:spPr>
          <a:xfrm>
            <a:off x="8095488"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efresh_2A2A30.png"/>
          <p:cNvPicPr>
            <a:picLocks noChangeAspect="1"/>
          </p:cNvPicPr>
          <p:nvPr/>
        </p:nvPicPr>
        <p:blipFill>
          <a:blip r:embed="rId4"/>
          <a:stretch>
            <a:fillRect/>
          </a:stretch>
        </p:blipFill>
        <p:spPr>
          <a:xfrm>
            <a:off x="8461248" y="3076956"/>
            <a:ext cx="219456" cy="219456"/>
          </a:xfrm>
          <a:prstGeom prst="rect">
            <a:avLst/>
          </a:prstGeom>
        </p:spPr>
      </p:pic>
      <p:sp>
        <p:nvSpPr>
          <p:cNvPr id="18" name="TextBox 17"/>
          <p:cNvSpPr txBox="1"/>
          <p:nvPr/>
        </p:nvSpPr>
        <p:spPr>
          <a:xfrm>
            <a:off x="8333232"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Self-improve</a:t>
            </a:r>
          </a:p>
        </p:txBody>
      </p:sp>
      <p:sp>
        <p:nvSpPr>
          <p:cNvPr id="19" name="TextBox 18"/>
          <p:cNvSpPr txBox="1"/>
          <p:nvPr/>
        </p:nvSpPr>
        <p:spPr>
          <a:xfrm>
            <a:off x="8333232"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'After any correction, write the lesson to lessons.md.'</a:t>
            </a:r>
          </a:p>
        </p:txBody>
      </p:sp>
      <p:sp>
        <p:nvSpPr>
          <p:cNvPr id="20" name="Rectangle 19"/>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2" name="TextBox 21"/>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THE BEHAVIORAL FLOOR</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Four lines that fix the agent</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The failure they fix</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Assumes and runs - never asks</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Overbuilds for tomorrow's problem</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3-line fix arrives as a 40-line diff</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Says 'done' without proof</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7482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309372"/>
          </a:xfrm>
          <a:prstGeom prst="rect">
            <a:avLst/>
          </a:prstGeom>
          <a:noFill/>
        </p:spPr>
        <p:txBody>
          <a:bodyPr wrap="square" anchor="t">
            <a:normAutofit/>
          </a:bodyPr>
          <a:lstStyle/>
          <a:p>
            <a:pPr algn="l">
              <a:lnSpc>
                <a:spcPct val="112000"/>
              </a:lnSpc>
              <a:spcBef>
                <a:spcPts val="0"/>
              </a:spcBef>
              <a:spcAft>
                <a:spcPts val="200"/>
              </a:spcAft>
            </a:pPr>
            <a:r>
              <a:rPr sz="1050" b="0">
                <a:solidFill>
                  <a:srgbClr val="C9C9D2"/>
                </a:solidFill>
                <a:latin typeface="Instrument Sans"/>
              </a:rPr>
              <a:t>1. Don't assume. Don't hide confusion. Surface tradeoffs.</a:t>
            </a:r>
          </a:p>
        </p:txBody>
      </p:sp>
      <p:sp>
        <p:nvSpPr>
          <p:cNvPr id="19" name="Rounded Rectangle 18"/>
          <p:cNvSpPr/>
          <p:nvPr/>
        </p:nvSpPr>
        <p:spPr>
          <a:xfrm>
            <a:off x="7040880" y="3180588"/>
            <a:ext cx="4507992" cy="9296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42048" y="3345180"/>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3326892"/>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3564636"/>
            <a:ext cx="3593591" cy="490727"/>
          </a:xfrm>
          <a:prstGeom prst="rect">
            <a:avLst/>
          </a:prstGeom>
          <a:noFill/>
        </p:spPr>
        <p:txBody>
          <a:bodyPr wrap="square" anchor="t">
            <a:normAutofit/>
          </a:bodyPr>
          <a:lstStyle/>
          <a:p>
            <a:pPr algn="l">
              <a:lnSpc>
                <a:spcPct val="112000"/>
              </a:lnSpc>
              <a:spcBef>
                <a:spcPts val="0"/>
              </a:spcBef>
              <a:spcAft>
                <a:spcPts val="200"/>
              </a:spcAft>
            </a:pPr>
            <a:r>
              <a:rPr sz="1050" b="0">
                <a:solidFill>
                  <a:srgbClr val="C9C9D2"/>
                </a:solidFill>
                <a:latin typeface="Instrument Sans"/>
              </a:rPr>
              <a:t>2. Minimum code that solves the problem. Nothing speculative.</a:t>
            </a:r>
          </a:p>
        </p:txBody>
      </p:sp>
      <p:sp>
        <p:nvSpPr>
          <p:cNvPr id="23" name="Rounded Rectangle 22"/>
          <p:cNvSpPr/>
          <p:nvPr/>
        </p:nvSpPr>
        <p:spPr>
          <a:xfrm>
            <a:off x="7040880" y="4256532"/>
            <a:ext cx="4507992" cy="7482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242048" y="4421124"/>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42048" y="4402836"/>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3</a:t>
            </a:r>
          </a:p>
        </p:txBody>
      </p:sp>
      <p:sp>
        <p:nvSpPr>
          <p:cNvPr id="26" name="TextBox 25"/>
          <p:cNvSpPr txBox="1"/>
          <p:nvPr/>
        </p:nvSpPr>
        <p:spPr>
          <a:xfrm>
            <a:off x="7699248" y="4640580"/>
            <a:ext cx="3593591" cy="309372"/>
          </a:xfrm>
          <a:prstGeom prst="rect">
            <a:avLst/>
          </a:prstGeom>
          <a:noFill/>
        </p:spPr>
        <p:txBody>
          <a:bodyPr wrap="square" anchor="t">
            <a:normAutofit/>
          </a:bodyPr>
          <a:lstStyle/>
          <a:p>
            <a:pPr algn="l">
              <a:lnSpc>
                <a:spcPct val="112000"/>
              </a:lnSpc>
              <a:spcBef>
                <a:spcPts val="0"/>
              </a:spcBef>
              <a:spcAft>
                <a:spcPts val="200"/>
              </a:spcAft>
            </a:pPr>
            <a:r>
              <a:rPr sz="1050" b="0">
                <a:solidFill>
                  <a:srgbClr val="C9C9D2"/>
                </a:solidFill>
                <a:latin typeface="Instrument Sans"/>
              </a:rPr>
              <a:t>3. Touch only what you must. Clean up only your own mess.</a:t>
            </a:r>
          </a:p>
        </p:txBody>
      </p:sp>
      <p:sp>
        <p:nvSpPr>
          <p:cNvPr id="27" name="Rounded Rectangle 26"/>
          <p:cNvSpPr/>
          <p:nvPr/>
        </p:nvSpPr>
        <p:spPr>
          <a:xfrm>
            <a:off x="7040880" y="5151120"/>
            <a:ext cx="4507992" cy="7482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2048" y="531571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2048" y="529742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4</a:t>
            </a:r>
          </a:p>
        </p:txBody>
      </p:sp>
      <p:sp>
        <p:nvSpPr>
          <p:cNvPr id="30" name="TextBox 29"/>
          <p:cNvSpPr txBox="1"/>
          <p:nvPr/>
        </p:nvSpPr>
        <p:spPr>
          <a:xfrm>
            <a:off x="7699248" y="5535168"/>
            <a:ext cx="3593591" cy="309372"/>
          </a:xfrm>
          <a:prstGeom prst="rect">
            <a:avLst/>
          </a:prstGeom>
          <a:noFill/>
        </p:spPr>
        <p:txBody>
          <a:bodyPr wrap="square" anchor="t">
            <a:normAutofit/>
          </a:bodyPr>
          <a:lstStyle/>
          <a:p>
            <a:pPr algn="l">
              <a:lnSpc>
                <a:spcPct val="112000"/>
              </a:lnSpc>
              <a:spcBef>
                <a:spcPts val="0"/>
              </a:spcBef>
              <a:spcAft>
                <a:spcPts val="200"/>
              </a:spcAft>
            </a:pPr>
            <a:r>
              <a:rPr sz="1050" b="0">
                <a:solidFill>
                  <a:srgbClr val="C9C9D2"/>
                </a:solidFill>
                <a:latin typeface="Instrument Sans"/>
              </a:rPr>
              <a:t>4. Define success criteria. Loop until verified.</a:t>
            </a:r>
          </a:p>
        </p:txBody>
      </p:sp>
      <p:sp>
        <p:nvSpPr>
          <p:cNvPr id="31" name="Rectangle 30"/>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3" name="TextBox 32"/>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Paste this: memory workflow</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Bootstrap - never hand-write from zero</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Correct once, save it forever</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End long sessions with a handoff</a:t>
            </a:r>
          </a:p>
        </p:txBody>
      </p:sp>
      <p:sp>
        <p:nvSpPr>
          <p:cNvPr id="12" name="TextBox 11"/>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3" name="Rounded Rectangle 12"/>
          <p:cNvSpPr/>
          <p:nvPr/>
        </p:nvSpPr>
        <p:spPr>
          <a:xfrm>
            <a:off x="7040880" y="2286000"/>
            <a:ext cx="4507992" cy="81229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6" name="TextBox 15"/>
          <p:cNvSpPr txBox="1"/>
          <p:nvPr/>
        </p:nvSpPr>
        <p:spPr>
          <a:xfrm>
            <a:off x="7699248" y="2670048"/>
            <a:ext cx="3593591" cy="37338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/init</a:t>
            </a:r>
          </a:p>
        </p:txBody>
      </p:sp>
      <p:sp>
        <p:nvSpPr>
          <p:cNvPr id="17" name="Rounded Rectangle 16"/>
          <p:cNvSpPr/>
          <p:nvPr/>
        </p:nvSpPr>
        <p:spPr>
          <a:xfrm>
            <a:off x="7040880" y="3244596"/>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42048" y="3409188"/>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3390900"/>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0" name="TextBox 19"/>
          <p:cNvSpPr txBox="1"/>
          <p:nvPr/>
        </p:nvSpPr>
        <p:spPr>
          <a:xfrm>
            <a:off x="7699248" y="3628644"/>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Remember: we use pnpm, not npm. Save that so you never suggest npm again.</a:t>
            </a:r>
          </a:p>
        </p:txBody>
      </p:sp>
      <p:sp>
        <p:nvSpPr>
          <p:cNvPr id="21" name="Rounded Rectangle 20"/>
          <p:cNvSpPr/>
          <p:nvPr/>
        </p:nvSpPr>
        <p:spPr>
          <a:xfrm>
            <a:off x="7040880" y="4448556"/>
            <a:ext cx="4507992" cy="15483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42048" y="4613148"/>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42048" y="4594860"/>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3</a:t>
            </a:r>
          </a:p>
        </p:txBody>
      </p:sp>
      <p:sp>
        <p:nvSpPr>
          <p:cNvPr id="24" name="TextBox 23"/>
          <p:cNvSpPr txBox="1"/>
          <p:nvPr/>
        </p:nvSpPr>
        <p:spPr>
          <a:xfrm>
            <a:off x="7699248" y="4832604"/>
            <a:ext cx="3593591" cy="1109472"/>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Write HANDOFF.md: what you tried, what worked, what failed, what is next - so a fresh session can continue from that file alone.</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LIVE DEMO</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Demo: /init and auto memory</a:t>
            </a:r>
          </a:p>
        </p:txBody>
      </p:sp>
      <p:pic>
        <p:nvPicPr>
          <p:cNvPr id="4" name="Picture 3" descr="bg_6.png"/>
          <p:cNvPicPr>
            <a:picLocks noChangeAspect="1"/>
          </p:cNvPicPr>
          <p:nvPr/>
        </p:nvPicPr>
        <p:blipFill>
          <a:blip r:embed="rId2"/>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WHAT WE'LL RUN TOGETHER</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/init on the dashboard repo</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Trim the generated file live</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Teach one rule, restart, watch it stick</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HANDS-ON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Lab 1B: Teach Claude your repo</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Turn Lab 1A's scaffold into a taught codebase.</a:t>
            </a:r>
          </a:p>
        </p:txBody>
      </p:sp>
      <p:sp>
        <p:nvSpPr>
          <p:cNvPr id="5" name="Rounded Rectangle 4"/>
          <p:cNvSpPr/>
          <p:nvPr/>
        </p:nvSpPr>
        <p:spPr>
          <a:xfrm>
            <a:off x="640080" y="233172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5146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_2A2A30.png"/>
          <p:cNvPicPr>
            <a:picLocks noChangeAspect="1"/>
          </p:cNvPicPr>
          <p:nvPr/>
        </p:nvPicPr>
        <p:blipFill>
          <a:blip r:embed="rId2"/>
          <a:stretch>
            <a:fillRect/>
          </a:stretch>
        </p:blipFill>
        <p:spPr>
          <a:xfrm>
            <a:off x="1005840" y="2642616"/>
            <a:ext cx="219456" cy="219456"/>
          </a:xfrm>
          <a:prstGeom prst="rect">
            <a:avLst/>
          </a:prstGeom>
        </p:spPr>
      </p:pic>
      <p:sp>
        <p:nvSpPr>
          <p:cNvPr id="8" name="TextBox 7"/>
          <p:cNvSpPr txBox="1"/>
          <p:nvPr/>
        </p:nvSpPr>
        <p:spPr>
          <a:xfrm>
            <a:off x="877824" y="3136391"/>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Deliverable</a:t>
            </a:r>
          </a:p>
        </p:txBody>
      </p:sp>
      <p:sp>
        <p:nvSpPr>
          <p:cNvPr id="9" name="TextBox 8"/>
          <p:cNvSpPr txBox="1"/>
          <p:nvPr/>
        </p:nvSpPr>
        <p:spPr>
          <a:xfrm>
            <a:off x="877824" y="3611879"/>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 committed CLAUDE.md the whole team could onboard from.</a:t>
            </a:r>
          </a:p>
        </p:txBody>
      </p:sp>
      <p:sp>
        <p:nvSpPr>
          <p:cNvPr id="10" name="Rounded Rectangle 9"/>
          <p:cNvSpPr/>
          <p:nvPr/>
        </p:nvSpPr>
        <p:spPr>
          <a:xfrm>
            <a:off x="6231636" y="233172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69379" y="25146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ock_2A2A30.png"/>
          <p:cNvPicPr>
            <a:picLocks noChangeAspect="1"/>
          </p:cNvPicPr>
          <p:nvPr/>
        </p:nvPicPr>
        <p:blipFill>
          <a:blip r:embed="rId3"/>
          <a:stretch>
            <a:fillRect/>
          </a:stretch>
        </p:blipFill>
        <p:spPr>
          <a:xfrm>
            <a:off x="6597395" y="2642616"/>
            <a:ext cx="219456" cy="219456"/>
          </a:xfrm>
          <a:prstGeom prst="rect">
            <a:avLst/>
          </a:prstGeom>
        </p:spPr>
      </p:pic>
      <p:sp>
        <p:nvSpPr>
          <p:cNvPr id="13" name="TextBox 12"/>
          <p:cNvSpPr txBox="1"/>
          <p:nvPr/>
        </p:nvSpPr>
        <p:spPr>
          <a:xfrm>
            <a:off x="6469379" y="3136391"/>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Timebox</a:t>
            </a:r>
          </a:p>
        </p:txBody>
      </p:sp>
      <p:sp>
        <p:nvSpPr>
          <p:cNvPr id="14" name="TextBox 13"/>
          <p:cNvSpPr txBox="1"/>
          <p:nvPr/>
        </p:nvSpPr>
        <p:spPr>
          <a:xfrm>
            <a:off x="6469379" y="3611879"/>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30 minutes. If behind: /init plus three trimmed rules.</a:t>
            </a:r>
          </a:p>
        </p:txBody>
      </p:sp>
      <p:sp>
        <p:nvSpPr>
          <p:cNvPr id="15" name="Rounded Rectangle 14"/>
          <p:cNvSpPr/>
          <p:nvPr/>
        </p:nvSpPr>
        <p:spPr>
          <a:xfrm>
            <a:off x="640080" y="443484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77824" y="461772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ist_2A2A30.png"/>
          <p:cNvPicPr>
            <a:picLocks noChangeAspect="1"/>
          </p:cNvPicPr>
          <p:nvPr/>
        </p:nvPicPr>
        <p:blipFill>
          <a:blip r:embed="rId4"/>
          <a:stretch>
            <a:fillRect/>
          </a:stretch>
        </p:blipFill>
        <p:spPr>
          <a:xfrm>
            <a:off x="1005840" y="4745736"/>
            <a:ext cx="219456" cy="219456"/>
          </a:xfrm>
          <a:prstGeom prst="rect">
            <a:avLst/>
          </a:prstGeom>
        </p:spPr>
      </p:pic>
      <p:sp>
        <p:nvSpPr>
          <p:cNvPr id="18" name="TextBox 17"/>
          <p:cNvSpPr txBox="1"/>
          <p:nvPr/>
        </p:nvSpPr>
        <p:spPr>
          <a:xfrm>
            <a:off x="877824" y="5239512"/>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Success checklist</a:t>
            </a:r>
          </a:p>
        </p:txBody>
      </p:sp>
      <p:sp>
        <p:nvSpPr>
          <p:cNvPr id="19" name="TextBox 18"/>
          <p:cNvSpPr txBox="1"/>
          <p:nvPr/>
        </p:nvSpPr>
        <p:spPr>
          <a:xfrm>
            <a:off x="877824" y="5715000"/>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Under 200 lines; one taught rule proven to stick after restart.</a:t>
            </a:r>
          </a:p>
        </p:txBody>
      </p:sp>
      <p:sp>
        <p:nvSpPr>
          <p:cNvPr id="20" name="Rounded Rectangle 19"/>
          <p:cNvSpPr/>
          <p:nvPr/>
        </p:nvSpPr>
        <p:spPr>
          <a:xfrm>
            <a:off x="6231636" y="443484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9379" y="461772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at_2A2A30.png"/>
          <p:cNvPicPr>
            <a:picLocks noChangeAspect="1"/>
          </p:cNvPicPr>
          <p:nvPr/>
        </p:nvPicPr>
        <p:blipFill>
          <a:blip r:embed="rId5"/>
          <a:stretch>
            <a:fillRect/>
          </a:stretch>
        </p:blipFill>
        <p:spPr>
          <a:xfrm>
            <a:off x="6597395" y="4745736"/>
            <a:ext cx="219456" cy="219456"/>
          </a:xfrm>
          <a:prstGeom prst="rect">
            <a:avLst/>
          </a:prstGeom>
        </p:spPr>
      </p:pic>
      <p:sp>
        <p:nvSpPr>
          <p:cNvPr id="23" name="TextBox 22"/>
          <p:cNvSpPr txBox="1"/>
          <p:nvPr/>
        </p:nvSpPr>
        <p:spPr>
          <a:xfrm>
            <a:off x="6469379" y="5239512"/>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Debrief</a:t>
            </a:r>
          </a:p>
        </p:txBody>
      </p:sp>
      <p:sp>
        <p:nvSpPr>
          <p:cNvPr id="24" name="TextBox 23"/>
          <p:cNvSpPr txBox="1"/>
          <p:nvPr/>
        </p:nvSpPr>
        <p:spPr>
          <a:xfrm>
            <a:off x="6469379" y="5715000"/>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Which rule surprised you by changing Claude's behavior?</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RECAP</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Two lines to remember</a:t>
            </a:r>
          </a:p>
        </p:txBody>
      </p:sp>
      <p:sp>
        <p:nvSpPr>
          <p:cNvPr id="4" name="TextBox 3"/>
          <p:cNvSpPr txBox="1"/>
          <p:nvPr/>
        </p:nvSpPr>
        <p:spPr>
          <a:xfrm>
            <a:off x="640080" y="1645920"/>
            <a:ext cx="10241280" cy="457200"/>
          </a:xfrm>
          <a:prstGeom prst="rect">
            <a:avLst/>
          </a:prstGeom>
          <a:noFill/>
        </p:spPr>
        <p:txBody>
          <a:bodyPr wrap="square" anchor="t">
            <a:spAutoFit/>
          </a:bodyPr>
          <a:lstStyle/>
          <a:p>
            <a:pPr algn="l">
              <a:lnSpc>
                <a:spcPct val="100000"/>
              </a:lnSpc>
              <a:spcBef>
                <a:spcPts val="0"/>
              </a:spcBef>
              <a:spcAft>
                <a:spcPts val="200"/>
              </a:spcAft>
            </a:pPr>
            <a:r>
              <a:rPr sz="1800" b="0">
                <a:solidFill>
                  <a:srgbClr val="ACACB4"/>
                </a:solidFill>
                <a:latin typeface="Instrument Sans"/>
              </a:rPr>
              <a:t>If Block 2 compresses to two sentences, these are them.</a:t>
            </a:r>
          </a:p>
        </p:txBody>
      </p:sp>
      <p:sp>
        <p:nvSpPr>
          <p:cNvPr id="5" name="Rounded Rectangle 4"/>
          <p:cNvSpPr/>
          <p:nvPr/>
        </p:nvSpPr>
        <p:spPr>
          <a:xfrm>
            <a:off x="640080" y="2468880"/>
            <a:ext cx="5317236"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7" name="TextBox 6"/>
          <p:cNvSpPr txBox="1"/>
          <p:nvPr/>
        </p:nvSpPr>
        <p:spPr>
          <a:xfrm>
            <a:off x="914400" y="3383280"/>
            <a:ext cx="4768596"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CLAUDE.md is onboarding documentation that actually gets read - every session.</a:t>
            </a:r>
          </a:p>
        </p:txBody>
      </p:sp>
      <p:sp>
        <p:nvSpPr>
          <p:cNvPr id="8" name="Rounded Rectangle 7"/>
          <p:cNvSpPr/>
          <p:nvPr/>
        </p:nvSpPr>
        <p:spPr>
          <a:xfrm>
            <a:off x="6231636" y="2468880"/>
            <a:ext cx="5317236"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5955"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0" name="TextBox 9"/>
          <p:cNvSpPr txBox="1"/>
          <p:nvPr/>
        </p:nvSpPr>
        <p:spPr>
          <a:xfrm>
            <a:off x="6505955" y="3383280"/>
            <a:ext cx="4768596"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Route, don't pile: two hundred lean lines beat five hundred ignored ones.</a:t>
            </a:r>
          </a:p>
        </p:txBody>
      </p:sp>
      <p:sp>
        <p:nvSpPr>
          <p:cNvPr id="11" name="Rectangle 10"/>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3" name="TextBox 12"/>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45 MINUTES</a:t>
            </a:r>
          </a:p>
        </p:txBody>
      </p:sp>
      <p:sp>
        <p:nvSpPr>
          <p:cNvPr id="3" name="TextBox 2"/>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Lunch</a:t>
            </a:r>
          </a:p>
        </p:txBody>
      </p:sp>
      <p:sp>
        <p:nvSpPr>
          <p:cNvPr id="4" name="Rectangle 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6" name="TextBox 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1.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BLOCK 3 - 85 MINUTES</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Context Mastery</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Feed exactly what matters - and rewind when it goes wrong.</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AIMING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@-mentions: aim, don't spray</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oc_2A2A30.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@file.ts</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Load exactly one file - the default move.</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warn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@src/folder/</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Loads everything inside - use sparingly.</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hare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@https://docs...</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Pulls live documentation into context.</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ist_2A2A30.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Tab completion</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Stack multiple mentions in one precise prompt.</a:t>
            </a:r>
          </a:p>
        </p:txBody>
      </p:sp>
      <p:sp>
        <p:nvSpPr>
          <p:cNvPr id="24" name="Rounded Rectangle 23"/>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warn_E0A93A.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One @folder on a big directory can eat your context in a single keystroke.</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AIMING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Aim it, or let it search?</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APPROACH</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THE TRADE</a:t>
            </a:r>
          </a:p>
        </p:txBody>
      </p:sp>
      <p:sp>
        <p:nvSpPr>
          <p:cNvPr id="7" name="Rectangle 6"/>
          <p:cNvSpPr/>
          <p:nvPr/>
        </p:nvSpPr>
        <p:spPr>
          <a:xfrm>
            <a:off x="640080" y="2423160"/>
            <a:ext cx="10908792" cy="128015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2468880" cy="128015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@-mention the file</a:t>
            </a:r>
          </a:p>
        </p:txBody>
      </p:sp>
      <p:sp>
        <p:nvSpPr>
          <p:cNvPr id="10" name="TextBox 9"/>
          <p:cNvSpPr txBox="1"/>
          <p:nvPr/>
        </p:nvSpPr>
        <p:spPr>
          <a:xfrm>
            <a:off x="3383280" y="2423160"/>
            <a:ext cx="7982712" cy="128015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Cheapest and most precise - but you must know where the code lives</a:t>
            </a:r>
          </a:p>
        </p:txBody>
      </p:sp>
      <p:sp>
        <p:nvSpPr>
          <p:cNvPr id="11" name="Rectangle 10"/>
          <p:cNvSpPr/>
          <p:nvPr/>
        </p:nvSpPr>
        <p:spPr>
          <a:xfrm>
            <a:off x="640080" y="3703320"/>
            <a:ext cx="10908792" cy="128015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70332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703320"/>
            <a:ext cx="2468880" cy="128015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Let Claude search</a:t>
            </a:r>
          </a:p>
        </p:txBody>
      </p:sp>
      <p:sp>
        <p:nvSpPr>
          <p:cNvPr id="14" name="TextBox 13"/>
          <p:cNvSpPr txBox="1"/>
          <p:nvPr/>
        </p:nvSpPr>
        <p:spPr>
          <a:xfrm>
            <a:off x="3383280" y="3703320"/>
            <a:ext cx="7982712" cy="128015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Glob and Grep burn turns and tokens - and find what you did not know</a:t>
            </a:r>
          </a:p>
        </p:txBody>
      </p:sp>
      <p:sp>
        <p:nvSpPr>
          <p:cNvPr id="15" name="Rectangle 14"/>
          <p:cNvSpPr/>
          <p:nvPr/>
        </p:nvSpPr>
        <p:spPr>
          <a:xfrm>
            <a:off x="640080" y="4983479"/>
            <a:ext cx="10908792" cy="128015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7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983479"/>
            <a:ext cx="2468880" cy="128015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Hybrid (the default)</a:t>
            </a:r>
          </a:p>
        </p:txBody>
      </p:sp>
      <p:sp>
        <p:nvSpPr>
          <p:cNvPr id="18" name="TextBox 17"/>
          <p:cNvSpPr txBox="1"/>
          <p:nvPr/>
        </p:nvSpPr>
        <p:spPr>
          <a:xfrm>
            <a:off x="3383280" y="4983479"/>
            <a:ext cx="7982712" cy="128015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@-mention the entry point, let it search outward from there</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DECISION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Focused or broad?</a:t>
            </a:r>
          </a:p>
        </p:txBody>
      </p:sp>
      <p:sp>
        <p:nvSpPr>
          <p:cNvPr id="4" name="Rounded Rectangle 3"/>
          <p:cNvSpPr/>
          <p:nvPr/>
        </p:nvSpPr>
        <p:spPr>
          <a:xfrm>
            <a:off x="640080"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arget_46B17A.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Focused (default)</a:t>
            </a:r>
          </a:p>
        </p:txBody>
      </p:sp>
      <p:sp>
        <p:nvSpPr>
          <p:cNvPr id="7" name="Rectangle 6"/>
          <p:cNvSpPr/>
          <p:nvPr/>
        </p:nvSpPr>
        <p:spPr>
          <a:xfrm>
            <a:off x="932688"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Specific files, one task</a:t>
            </a:r>
          </a:p>
        </p:txBody>
      </p:sp>
      <p:sp>
        <p:nvSpPr>
          <p:cNvPr id="9" name="Rectangle 8"/>
          <p:cNvSpPr/>
          <p:nvPr/>
        </p:nvSpPr>
        <p:spPr>
          <a:xfrm>
            <a:off x="932688"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Less context, better output</a:t>
            </a:r>
          </a:p>
        </p:txBody>
      </p:sp>
      <p:sp>
        <p:nvSpPr>
          <p:cNvPr id="11" name="Rectangle 10"/>
          <p:cNvSpPr/>
          <p:nvPr/>
        </p:nvSpPr>
        <p:spPr>
          <a:xfrm>
            <a:off x="932688"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Faster and cheaper</a:t>
            </a:r>
          </a:p>
        </p:txBody>
      </p:sp>
      <p:sp>
        <p:nvSpPr>
          <p:cNvPr id="13" name="Rounded Rectangle 12"/>
          <p:cNvSpPr/>
          <p:nvPr/>
        </p:nvSpPr>
        <p:spPr>
          <a:xfrm>
            <a:off x="6199632"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hare_ACACB4.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Broad (deliberate)</a:t>
            </a:r>
          </a:p>
        </p:txBody>
      </p:sp>
      <p:sp>
        <p:nvSpPr>
          <p:cNvPr id="16" name="Rectangle 15"/>
          <p:cNvSpPr/>
          <p:nvPr/>
        </p:nvSpPr>
        <p:spPr>
          <a:xfrm>
            <a:off x="6492240"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Architecture and discovery work</a:t>
            </a:r>
          </a:p>
        </p:txBody>
      </p:sp>
      <p:sp>
        <p:nvSpPr>
          <p:cNvPr id="18" name="Rectangle 17"/>
          <p:cNvSpPr/>
          <p:nvPr/>
        </p:nvSpPr>
        <p:spPr>
          <a:xfrm>
            <a:off x="6492240"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Whole-module refactors</a:t>
            </a:r>
          </a:p>
        </p:txBody>
      </p:sp>
      <p:sp>
        <p:nvSpPr>
          <p:cNvPr id="20" name="Rectangle 19"/>
          <p:cNvSpPr/>
          <p:nvPr/>
        </p:nvSpPr>
        <p:spPr>
          <a:xfrm>
            <a:off x="6492240"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Expect to /compact sooner</a:t>
            </a:r>
          </a:p>
        </p:txBody>
      </p:sp>
      <p:sp>
        <p:nvSpPr>
          <p:cNvPr id="22" name="Rectangle 2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4" name="TextBox 2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BUDGET</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Where your window goes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The context window is a budget - here is the ledger.</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pps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Fixed overhead</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System prompt, skill metadata, server instructions, and any tools loaded up front.</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oc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Semi-fixed</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CLAUDE.md and memory - a few thousand tokens.</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at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The rest</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Conversation and files - the part you actually control.</a:t>
            </a:r>
          </a:p>
        </p:txBody>
      </p:sp>
      <p:sp>
        <p:nvSpPr>
          <p:cNvPr id="20" name="Rounded Rectangle 19"/>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nfo_4C8DF0.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MCP tool search defers tool schemas by default; /context shows what actually loaded.</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WARNING SIGNS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Signs the context is full</a:t>
            </a:r>
          </a:p>
        </p:txBody>
      </p:sp>
      <p:sp>
        <p:nvSpPr>
          <p:cNvPr id="4" name="Rounded Rectangle 3"/>
          <p:cNvSpPr/>
          <p:nvPr/>
        </p:nvSpPr>
        <p:spPr>
          <a:xfrm>
            <a:off x="640080" y="1828800"/>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205054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arn_E26B6B.png"/>
          <p:cNvPicPr>
            <a:picLocks noChangeAspect="1"/>
          </p:cNvPicPr>
          <p:nvPr/>
        </p:nvPicPr>
        <p:blipFill>
          <a:blip r:embed="rId2"/>
          <a:stretch>
            <a:fillRect/>
          </a:stretch>
        </p:blipFill>
        <p:spPr>
          <a:xfrm>
            <a:off x="1014984" y="2187702"/>
            <a:ext cx="292608" cy="292608"/>
          </a:xfrm>
          <a:prstGeom prst="rect">
            <a:avLst/>
          </a:prstGeom>
        </p:spPr>
      </p:pic>
      <p:sp>
        <p:nvSpPr>
          <p:cNvPr id="7" name="TextBox 6"/>
          <p:cNvSpPr txBox="1"/>
          <p:nvPr/>
        </p:nvSpPr>
        <p:spPr>
          <a:xfrm>
            <a:off x="1591056" y="1828800"/>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Shorter answers</a:t>
            </a:r>
          </a:p>
        </p:txBody>
      </p:sp>
      <p:sp>
        <p:nvSpPr>
          <p:cNvPr id="8" name="TextBox 7"/>
          <p:cNvSpPr txBox="1"/>
          <p:nvPr/>
        </p:nvSpPr>
        <p:spPr>
          <a:xfrm>
            <a:off x="4434840" y="1828800"/>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Detail drops; reasoning visibly degrades.</a:t>
            </a:r>
          </a:p>
        </p:txBody>
      </p:sp>
      <p:sp>
        <p:nvSpPr>
          <p:cNvPr id="9" name="Rounded Rectangle 8"/>
          <p:cNvSpPr/>
          <p:nvPr/>
        </p:nvSpPr>
        <p:spPr>
          <a:xfrm>
            <a:off x="640080" y="2985515"/>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320725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warn_2A2A30.png"/>
          <p:cNvPicPr>
            <a:picLocks noChangeAspect="1"/>
          </p:cNvPicPr>
          <p:nvPr/>
        </p:nvPicPr>
        <p:blipFill>
          <a:blip r:embed="rId3"/>
          <a:stretch>
            <a:fillRect/>
          </a:stretch>
        </p:blipFill>
        <p:spPr>
          <a:xfrm>
            <a:off x="1014984" y="3344418"/>
            <a:ext cx="292608" cy="292608"/>
          </a:xfrm>
          <a:prstGeom prst="rect">
            <a:avLst/>
          </a:prstGeom>
        </p:spPr>
      </p:pic>
      <p:sp>
        <p:nvSpPr>
          <p:cNvPr id="12" name="TextBox 11"/>
          <p:cNvSpPr txBox="1"/>
          <p:nvPr/>
        </p:nvSpPr>
        <p:spPr>
          <a:xfrm>
            <a:off x="1591056" y="2985515"/>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Forgetting</a:t>
            </a:r>
          </a:p>
        </p:txBody>
      </p:sp>
      <p:sp>
        <p:nvSpPr>
          <p:cNvPr id="13" name="TextBox 12"/>
          <p:cNvSpPr txBox="1"/>
          <p:nvPr/>
        </p:nvSpPr>
        <p:spPr>
          <a:xfrm>
            <a:off x="4434840" y="2985515"/>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Earlier instructions silently fall away.</a:t>
            </a:r>
          </a:p>
        </p:txBody>
      </p:sp>
      <p:sp>
        <p:nvSpPr>
          <p:cNvPr id="14" name="Rounded Rectangle 13"/>
          <p:cNvSpPr/>
          <p:nvPr/>
        </p:nvSpPr>
        <p:spPr>
          <a:xfrm>
            <a:off x="640080" y="4142231"/>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436397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warn_2A2A30.png"/>
          <p:cNvPicPr>
            <a:picLocks noChangeAspect="1"/>
          </p:cNvPicPr>
          <p:nvPr/>
        </p:nvPicPr>
        <p:blipFill>
          <a:blip r:embed="rId3"/>
          <a:stretch>
            <a:fillRect/>
          </a:stretch>
        </p:blipFill>
        <p:spPr>
          <a:xfrm>
            <a:off x="1014984" y="4501133"/>
            <a:ext cx="292608" cy="292608"/>
          </a:xfrm>
          <a:prstGeom prst="rect">
            <a:avLst/>
          </a:prstGeom>
        </p:spPr>
      </p:pic>
      <p:sp>
        <p:nvSpPr>
          <p:cNvPr id="17" name="TextBox 16"/>
          <p:cNvSpPr txBox="1"/>
          <p:nvPr/>
        </p:nvSpPr>
        <p:spPr>
          <a:xfrm>
            <a:off x="1591056" y="4142231"/>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Conflicting edits</a:t>
            </a:r>
          </a:p>
        </p:txBody>
      </p:sp>
      <p:sp>
        <p:nvSpPr>
          <p:cNvPr id="18" name="TextBox 17"/>
          <p:cNvSpPr txBox="1"/>
          <p:nvPr/>
        </p:nvSpPr>
        <p:spPr>
          <a:xfrm>
            <a:off x="4434840" y="4142231"/>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Changes start fighting each other.</a:t>
            </a:r>
          </a:p>
        </p:txBody>
      </p:sp>
      <p:sp>
        <p:nvSpPr>
          <p:cNvPr id="19" name="Rounded Rectangle 18"/>
          <p:cNvSpPr/>
          <p:nvPr/>
        </p:nvSpPr>
        <p:spPr>
          <a:xfrm>
            <a:off x="640080" y="5298948"/>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552069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2A2A30.png"/>
          <p:cNvPicPr>
            <a:picLocks noChangeAspect="1"/>
          </p:cNvPicPr>
          <p:nvPr/>
        </p:nvPicPr>
        <p:blipFill>
          <a:blip r:embed="rId4"/>
          <a:stretch>
            <a:fillRect/>
          </a:stretch>
        </p:blipFill>
        <p:spPr>
          <a:xfrm>
            <a:off x="1014984" y="5657850"/>
            <a:ext cx="292608" cy="292608"/>
          </a:xfrm>
          <a:prstGeom prst="rect">
            <a:avLst/>
          </a:prstGeom>
        </p:spPr>
      </p:pic>
      <p:sp>
        <p:nvSpPr>
          <p:cNvPr id="22" name="TextBox 21"/>
          <p:cNvSpPr txBox="1"/>
          <p:nvPr/>
        </p:nvSpPr>
        <p:spPr>
          <a:xfrm>
            <a:off x="1591056" y="5298948"/>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The response</a:t>
            </a:r>
          </a:p>
        </p:txBody>
      </p:sp>
      <p:sp>
        <p:nvSpPr>
          <p:cNvPr id="23" name="TextBox 22"/>
          <p:cNvSpPr txBox="1"/>
          <p:nvPr/>
        </p:nvSpPr>
        <p:spPr>
          <a:xfrm>
            <a:off x="4434840" y="5298948"/>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/compact to squeeze - or commit and /clear.</a:t>
            </a:r>
          </a:p>
        </p:txBody>
      </p:sp>
      <p:sp>
        <p:nvSpPr>
          <p:cNvPr id="24" name="Rectangle 2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6" name="TextBox 2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HYGIENE</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One task per session. Period.</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The session-hygiene rule that outranks every other tip.</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ock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Context degrades</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Long sessions are meetings that never end.</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x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Correction spiral</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Two failed fixes = poisoned context. Stop steering.</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The rhythm</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Commit, /clear, next task. Every time.</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After two failed corrections, rewind or restart - arguing with the session never wins.</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CASE STUDY</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Case study: payment module</a:t>
            </a:r>
          </a:p>
        </p:txBody>
      </p:sp>
      <p:sp>
        <p:nvSpPr>
          <p:cNvPr id="4" name="Rounded Rectangle 3"/>
          <p:cNvSpPr/>
          <p:nvPr/>
        </p:nvSpPr>
        <p:spPr>
          <a:xfrm>
            <a:off x="64008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01</a:t>
            </a:r>
          </a:p>
        </p:txBody>
      </p:sp>
      <p:sp>
        <p:nvSpPr>
          <p:cNvPr id="6" name="TextBox 5"/>
          <p:cNvSpPr txBox="1"/>
          <p:nvPr/>
        </p:nvSpPr>
        <p:spPr>
          <a:xfrm>
            <a:off x="914400"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Start</a:t>
            </a:r>
          </a:p>
        </p:txBody>
      </p:sp>
      <p:sp>
        <p:nvSpPr>
          <p:cNvPr id="7" name="TextBox 6"/>
          <p:cNvSpPr txBox="1"/>
          <p:nvPr/>
        </p:nvSpPr>
        <p:spPr>
          <a:xfrm>
            <a:off x="914400"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One clear task: add payment processing.</a:t>
            </a:r>
          </a:p>
        </p:txBody>
      </p:sp>
      <p:sp>
        <p:nvSpPr>
          <p:cNvPr id="8" name="TextBox 7"/>
          <p:cNvSpPr txBox="1"/>
          <p:nvPr/>
        </p:nvSpPr>
        <p:spPr>
          <a:xfrm>
            <a:off x="2547518"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9" name="Rounded Rectangle 8"/>
          <p:cNvSpPr/>
          <p:nvPr/>
        </p:nvSpPr>
        <p:spPr>
          <a:xfrm>
            <a:off x="289499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6931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02</a:t>
            </a:r>
          </a:p>
        </p:txBody>
      </p:sp>
      <p:sp>
        <p:nvSpPr>
          <p:cNvPr id="11" name="TextBox 10"/>
          <p:cNvSpPr txBox="1"/>
          <p:nvPr/>
        </p:nvSpPr>
        <p:spPr>
          <a:xfrm>
            <a:off x="3169310"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Pivot</a:t>
            </a:r>
          </a:p>
        </p:txBody>
      </p:sp>
      <p:sp>
        <p:nvSpPr>
          <p:cNvPr id="12" name="TextBox 11"/>
          <p:cNvSpPr txBox="1"/>
          <p:nvPr/>
        </p:nvSpPr>
        <p:spPr>
          <a:xfrm>
            <a:off x="3169310"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Mid-session: 'also fix the auth bug'.</a:t>
            </a:r>
          </a:p>
        </p:txBody>
      </p:sp>
      <p:sp>
        <p:nvSpPr>
          <p:cNvPr id="13" name="TextBox 12"/>
          <p:cNvSpPr txBox="1"/>
          <p:nvPr/>
        </p:nvSpPr>
        <p:spPr>
          <a:xfrm>
            <a:off x="4802428"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4" name="Rounded Rectangle 13"/>
          <p:cNvSpPr/>
          <p:nvPr/>
        </p:nvSpPr>
        <p:spPr>
          <a:xfrm>
            <a:off x="514990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2422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03</a:t>
            </a:r>
          </a:p>
        </p:txBody>
      </p:sp>
      <p:sp>
        <p:nvSpPr>
          <p:cNvPr id="16" name="TextBox 15"/>
          <p:cNvSpPr txBox="1"/>
          <p:nvPr/>
        </p:nvSpPr>
        <p:spPr>
          <a:xfrm>
            <a:off x="5424220"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Tangle</a:t>
            </a:r>
          </a:p>
        </p:txBody>
      </p:sp>
      <p:sp>
        <p:nvSpPr>
          <p:cNvPr id="17" name="TextBox 16"/>
          <p:cNvSpPr txBox="1"/>
          <p:nvPr/>
        </p:nvSpPr>
        <p:spPr>
          <a:xfrm>
            <a:off x="5424220"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Payment logic mixes with auth - neither works.</a:t>
            </a:r>
          </a:p>
        </p:txBody>
      </p:sp>
      <p:sp>
        <p:nvSpPr>
          <p:cNvPr id="18" name="TextBox 17"/>
          <p:cNvSpPr txBox="1"/>
          <p:nvPr/>
        </p:nvSpPr>
        <p:spPr>
          <a:xfrm>
            <a:off x="7057339"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9" name="Rounded Rectangle 18"/>
          <p:cNvSpPr/>
          <p:nvPr/>
        </p:nvSpPr>
        <p:spPr>
          <a:xfrm>
            <a:off x="7404811"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79131"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04</a:t>
            </a:r>
          </a:p>
        </p:txBody>
      </p:sp>
      <p:sp>
        <p:nvSpPr>
          <p:cNvPr id="21" name="TextBox 20"/>
          <p:cNvSpPr txBox="1"/>
          <p:nvPr/>
        </p:nvSpPr>
        <p:spPr>
          <a:xfrm>
            <a:off x="7679131"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Burn</a:t>
            </a:r>
          </a:p>
        </p:txBody>
      </p:sp>
      <p:sp>
        <p:nvSpPr>
          <p:cNvPr id="22" name="TextBox 21"/>
          <p:cNvSpPr txBox="1"/>
          <p:nvPr/>
        </p:nvSpPr>
        <p:spPr>
          <a:xfrm>
            <a:off x="7679131"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Three hours debugging entangled changes.</a:t>
            </a:r>
          </a:p>
        </p:txBody>
      </p:sp>
      <p:sp>
        <p:nvSpPr>
          <p:cNvPr id="23" name="TextBox 22"/>
          <p:cNvSpPr txBox="1"/>
          <p:nvPr/>
        </p:nvSpPr>
        <p:spPr>
          <a:xfrm>
            <a:off x="9312249"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24" name="Rounded Rectangle 23"/>
          <p:cNvSpPr/>
          <p:nvPr/>
        </p:nvSpPr>
        <p:spPr>
          <a:xfrm>
            <a:off x="9659721"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34041"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05</a:t>
            </a:r>
          </a:p>
        </p:txBody>
      </p:sp>
      <p:sp>
        <p:nvSpPr>
          <p:cNvPr id="26" name="TextBox 25"/>
          <p:cNvSpPr txBox="1"/>
          <p:nvPr/>
        </p:nvSpPr>
        <p:spPr>
          <a:xfrm>
            <a:off x="9934041"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Lesson</a:t>
            </a:r>
          </a:p>
        </p:txBody>
      </p:sp>
      <p:sp>
        <p:nvSpPr>
          <p:cNvPr id="27" name="TextBox 26"/>
          <p:cNvSpPr txBox="1"/>
          <p:nvPr/>
        </p:nvSpPr>
        <p:spPr>
          <a:xfrm>
            <a:off x="9934041"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Revert. Two clean sessions. Thirty minutes each.</a:t>
            </a:r>
          </a:p>
        </p:txBody>
      </p:sp>
      <p:sp>
        <p:nvSpPr>
          <p:cNvPr id="28" name="Rectangle 2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0" name="TextBox 2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2.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BLOCK 3 - NEW IN 2026</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Checkpoints: the rewind button</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The recovery centerpiece of July 2026 - mistakes are now cheap.</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fresh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Double-tap Esc</a:t>
            </a:r>
            <a:r>
              <a:rPr sz="1400" b="0">
                <a:solidFill>
                  <a:srgbClr val="ACACB4"/>
                </a:solidFill>
                <a:latin typeface="Instrument Sans"/>
              </a:rPr>
              <a:t>  -  opens the rewind menu</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cale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Choose scope</a:t>
            </a:r>
            <a:r>
              <a:rPr sz="1400" b="0">
                <a:solidFill>
                  <a:srgbClr val="ACACB4"/>
                </a:solidFill>
                <a:latin typeface="Instrument Sans"/>
              </a:rPr>
              <a:t>  -  restore conversation, code, or both</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Auto checkpoints</a:t>
            </a:r>
            <a:r>
              <a:rPr sz="1400" b="0">
                <a:solidFill>
                  <a:srgbClr val="ACACB4"/>
                </a:solidFill>
                <a:latin typeface="Instrument Sans"/>
              </a:rPr>
              <a:t>  -  created as Claude works - no setup</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FINE PRINT</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Rewind: what comes back - what not</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eck_2A2A30.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Conversation</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Wind the chat back to any earlier turn.</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2A2A30.png"/>
          <p:cNvPicPr>
            <a:picLocks noChangeAspect="1"/>
          </p:cNvPicPr>
          <p:nvPr/>
        </p:nvPicPr>
        <p:blipFill>
          <a:blip r:embed="rId2"/>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Claude's file edits</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Code changes restore to the checkpoint.</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warn_E26B6B.png"/>
          <p:cNvPicPr>
            <a:picLocks noChangeAspect="1"/>
          </p:cNvPicPr>
          <p:nvPr/>
        </p:nvPicPr>
        <p:blipFill>
          <a:blip r:embed="rId3"/>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Shell side effects</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Installed packages, migrations, deleted data stay done.</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26B6B.png"/>
          <p:cNvPicPr>
            <a:picLocks noChangeAspect="1"/>
          </p:cNvPicPr>
          <p:nvPr/>
        </p:nvPicPr>
        <p:blipFill>
          <a:blip r:embed="rId3"/>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Remote state</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Pushed commits and external API calls do not un-happen.</a:t>
            </a:r>
          </a:p>
        </p:txBody>
      </p:sp>
      <p:sp>
        <p:nvSpPr>
          <p:cNvPr id="24" name="Rounded Rectangle 23"/>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warn_E0A93A.png"/>
          <p:cNvPicPr>
            <a:picLocks noChangeAspect="1"/>
          </p:cNvPicPr>
          <p:nvPr/>
        </p:nvPicPr>
        <p:blipFill>
          <a:blip r:embed="rId4"/>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Checkpoints cover the session and Claude's edits - verify exact restore scope at delivery.</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RECOVERY</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recovery ladder</a:t>
            </a:r>
          </a:p>
        </p:txBody>
      </p:sp>
      <p:sp>
        <p:nvSpPr>
          <p:cNvPr id="4" name="Oval 3"/>
          <p:cNvSpPr/>
          <p:nvPr/>
        </p:nvSpPr>
        <p:spPr>
          <a:xfrm>
            <a:off x="868680"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x_F5F5F6.png"/>
          <p:cNvPicPr>
            <a:picLocks noChangeAspect="1"/>
          </p:cNvPicPr>
          <p:nvPr/>
        </p:nvPicPr>
        <p:blipFill>
          <a:blip r:embed="rId2"/>
          <a:stretch>
            <a:fillRect/>
          </a:stretch>
        </p:blipFill>
        <p:spPr>
          <a:xfrm>
            <a:off x="1344168" y="2926080"/>
            <a:ext cx="731520" cy="731520"/>
          </a:xfrm>
          <a:prstGeom prst="rect">
            <a:avLst/>
          </a:prstGeom>
        </p:spPr>
      </p:pic>
      <p:sp>
        <p:nvSpPr>
          <p:cNvPr id="6" name="TextBox 5"/>
          <p:cNvSpPr txBox="1"/>
          <p:nvPr/>
        </p:nvSpPr>
        <p:spPr>
          <a:xfrm>
            <a:off x="640080"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Esc</a:t>
            </a:r>
          </a:p>
        </p:txBody>
      </p:sp>
      <p:sp>
        <p:nvSpPr>
          <p:cNvPr id="7" name="TextBox 6"/>
          <p:cNvSpPr txBox="1"/>
          <p:nvPr/>
        </p:nvSpPr>
        <p:spPr>
          <a:xfrm>
            <a:off x="640080"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interrupt and redirect</a:t>
            </a:r>
          </a:p>
        </p:txBody>
      </p:sp>
      <p:sp>
        <p:nvSpPr>
          <p:cNvPr id="8" name="Oval 7"/>
          <p:cNvSpPr/>
          <p:nvPr/>
        </p:nvSpPr>
        <p:spPr>
          <a:xfrm>
            <a:off x="3792626"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fresh_F5F5F6.png"/>
          <p:cNvPicPr>
            <a:picLocks noChangeAspect="1"/>
          </p:cNvPicPr>
          <p:nvPr/>
        </p:nvPicPr>
        <p:blipFill>
          <a:blip r:embed="rId3"/>
          <a:stretch>
            <a:fillRect/>
          </a:stretch>
        </p:blipFill>
        <p:spPr>
          <a:xfrm>
            <a:off x="4268114" y="2926080"/>
            <a:ext cx="731520" cy="731520"/>
          </a:xfrm>
          <a:prstGeom prst="rect">
            <a:avLst/>
          </a:prstGeom>
        </p:spPr>
      </p:pic>
      <p:sp>
        <p:nvSpPr>
          <p:cNvPr id="10" name="TextBox 9"/>
          <p:cNvSpPr txBox="1"/>
          <p:nvPr/>
        </p:nvSpPr>
        <p:spPr>
          <a:xfrm>
            <a:off x="3564026"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Rewind</a:t>
            </a:r>
          </a:p>
        </p:txBody>
      </p:sp>
      <p:sp>
        <p:nvSpPr>
          <p:cNvPr id="11" name="TextBox 10"/>
          <p:cNvSpPr txBox="1"/>
          <p:nvPr/>
        </p:nvSpPr>
        <p:spPr>
          <a:xfrm>
            <a:off x="3564026"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double-Esc, pick scope</a:t>
            </a:r>
          </a:p>
        </p:txBody>
      </p:sp>
      <p:sp>
        <p:nvSpPr>
          <p:cNvPr id="12" name="Oval 11"/>
          <p:cNvSpPr/>
          <p:nvPr/>
        </p:nvSpPr>
        <p:spPr>
          <a:xfrm>
            <a:off x="6716572"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cale_F5F5F6.png"/>
          <p:cNvPicPr>
            <a:picLocks noChangeAspect="1"/>
          </p:cNvPicPr>
          <p:nvPr/>
        </p:nvPicPr>
        <p:blipFill>
          <a:blip r:embed="rId4"/>
          <a:stretch>
            <a:fillRect/>
          </a:stretch>
        </p:blipFill>
        <p:spPr>
          <a:xfrm>
            <a:off x="7192060" y="2926080"/>
            <a:ext cx="731520" cy="731520"/>
          </a:xfrm>
          <a:prstGeom prst="rect">
            <a:avLst/>
          </a:prstGeom>
        </p:spPr>
      </p:pic>
      <p:sp>
        <p:nvSpPr>
          <p:cNvPr id="14" name="TextBox 13"/>
          <p:cNvSpPr txBox="1"/>
          <p:nvPr/>
        </p:nvSpPr>
        <p:spPr>
          <a:xfrm>
            <a:off x="6487972"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Compact</a:t>
            </a:r>
          </a:p>
        </p:txBody>
      </p:sp>
      <p:sp>
        <p:nvSpPr>
          <p:cNvPr id="15" name="TextBox 14"/>
          <p:cNvSpPr txBox="1"/>
          <p:nvPr/>
        </p:nvSpPr>
        <p:spPr>
          <a:xfrm>
            <a:off x="6487972"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squeeze, keep going</a:t>
            </a:r>
          </a:p>
        </p:txBody>
      </p:sp>
      <p:sp>
        <p:nvSpPr>
          <p:cNvPr id="16" name="Oval 15"/>
          <p:cNvSpPr/>
          <p:nvPr/>
        </p:nvSpPr>
        <p:spPr>
          <a:xfrm>
            <a:off x="964051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warn_F5F5F6.png"/>
          <p:cNvPicPr>
            <a:picLocks noChangeAspect="1"/>
          </p:cNvPicPr>
          <p:nvPr/>
        </p:nvPicPr>
        <p:blipFill>
          <a:blip r:embed="rId5"/>
          <a:stretch>
            <a:fillRect/>
          </a:stretch>
        </p:blipFill>
        <p:spPr>
          <a:xfrm>
            <a:off x="10116007" y="2926080"/>
            <a:ext cx="731520" cy="731520"/>
          </a:xfrm>
          <a:prstGeom prst="rect">
            <a:avLst/>
          </a:prstGeom>
        </p:spPr>
      </p:pic>
      <p:sp>
        <p:nvSpPr>
          <p:cNvPr id="18" name="TextBox 17"/>
          <p:cNvSpPr txBox="1"/>
          <p:nvPr/>
        </p:nvSpPr>
        <p:spPr>
          <a:xfrm>
            <a:off x="941191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Clear</a:t>
            </a:r>
          </a:p>
        </p:txBody>
      </p:sp>
      <p:sp>
        <p:nvSpPr>
          <p:cNvPr id="19" name="TextBox 18"/>
          <p:cNvSpPr txBox="1"/>
          <p:nvPr/>
        </p:nvSpPr>
        <p:spPr>
          <a:xfrm>
            <a:off x="941191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hard reset</a:t>
            </a:r>
          </a:p>
        </p:txBody>
      </p:sp>
      <p:sp>
        <p:nvSpPr>
          <p:cNvPr id="20" name="TextBox 19"/>
          <p:cNvSpPr txBox="1"/>
          <p:nvPr/>
        </p:nvSpPr>
        <p:spPr>
          <a:xfrm>
            <a:off x="2760421"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1" name="TextBox 20"/>
          <p:cNvSpPr txBox="1"/>
          <p:nvPr/>
        </p:nvSpPr>
        <p:spPr>
          <a:xfrm>
            <a:off x="568436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2" name="TextBox 21"/>
          <p:cNvSpPr txBox="1"/>
          <p:nvPr/>
        </p:nvSpPr>
        <p:spPr>
          <a:xfrm>
            <a:off x="8608314"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QUICK REFERENCE</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Which lever, when</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SITUATION</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REACH FOR</a:t>
            </a:r>
          </a:p>
        </p:txBody>
      </p:sp>
      <p:sp>
        <p:nvSpPr>
          <p:cNvPr id="7" name="Rectangle 6"/>
          <p:cNvSpPr/>
          <p:nvPr/>
        </p:nvSpPr>
        <p:spPr>
          <a:xfrm>
            <a:off x="640080" y="242316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Heading the wrong way</a:t>
            </a:r>
          </a:p>
        </p:txBody>
      </p:sp>
      <p:sp>
        <p:nvSpPr>
          <p:cNvPr id="10" name="TextBox 9"/>
          <p:cNvSpPr txBox="1"/>
          <p:nvPr/>
        </p:nvSpPr>
        <p:spPr>
          <a:xfrm>
            <a:off x="3383280" y="242316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Esc - stop and redirect</a:t>
            </a:r>
          </a:p>
        </p:txBody>
      </p:sp>
      <p:sp>
        <p:nvSpPr>
          <p:cNvPr id="11" name="Rectangle 10"/>
          <p:cNvSpPr/>
          <p:nvPr/>
        </p:nvSpPr>
        <p:spPr>
          <a:xfrm>
            <a:off x="640080" y="338327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38327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8327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Last turns poisoned it</a:t>
            </a:r>
          </a:p>
        </p:txBody>
      </p:sp>
      <p:sp>
        <p:nvSpPr>
          <p:cNvPr id="14" name="TextBox 13"/>
          <p:cNvSpPr txBox="1"/>
          <p:nvPr/>
        </p:nvSpPr>
        <p:spPr>
          <a:xfrm>
            <a:off x="3383280" y="338327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Double-Esc - rewind convo, code, or both</a:t>
            </a:r>
          </a:p>
        </p:txBody>
      </p:sp>
      <p:sp>
        <p:nvSpPr>
          <p:cNvPr id="15" name="Rectangle 14"/>
          <p:cNvSpPr/>
          <p:nvPr/>
        </p:nvSpPr>
        <p:spPr>
          <a:xfrm>
            <a:off x="640080" y="434340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34340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4340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Long session, on track</a:t>
            </a:r>
          </a:p>
        </p:txBody>
      </p:sp>
      <p:sp>
        <p:nvSpPr>
          <p:cNvPr id="18" name="TextBox 17"/>
          <p:cNvSpPr txBox="1"/>
          <p:nvPr/>
        </p:nvSpPr>
        <p:spPr>
          <a:xfrm>
            <a:off x="3383280" y="434340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/compact - summarize and continue</a:t>
            </a:r>
          </a:p>
        </p:txBody>
      </p:sp>
      <p:sp>
        <p:nvSpPr>
          <p:cNvPr id="19" name="Rectangle 18"/>
          <p:cNvSpPr/>
          <p:nvPr/>
        </p:nvSpPr>
        <p:spPr>
          <a:xfrm>
            <a:off x="640080" y="530351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530351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30351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Switching tasks</a:t>
            </a:r>
          </a:p>
        </p:txBody>
      </p:sp>
      <p:sp>
        <p:nvSpPr>
          <p:cNvPr id="22" name="TextBox 21"/>
          <p:cNvSpPr txBox="1"/>
          <p:nvPr/>
        </p:nvSpPr>
        <p:spPr>
          <a:xfrm>
            <a:off x="3383280" y="530351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Commit, then /clear - fresh start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RECOVERY</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Rewind, or git revert?</a:t>
            </a:r>
          </a:p>
        </p:txBody>
      </p:sp>
      <p:sp>
        <p:nvSpPr>
          <p:cNvPr id="4" name="Rounded Rectangle 3"/>
          <p:cNvSpPr/>
          <p:nvPr/>
        </p:nvSpPr>
        <p:spPr>
          <a:xfrm>
            <a:off x="640080"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fresh_46B17A.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Rewind</a:t>
            </a:r>
          </a:p>
        </p:txBody>
      </p:sp>
      <p:sp>
        <p:nvSpPr>
          <p:cNvPr id="7" name="Rectangle 6"/>
          <p:cNvSpPr/>
          <p:nvPr/>
        </p:nvSpPr>
        <p:spPr>
          <a:xfrm>
            <a:off x="932688"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Claude's own recent missteps</a:t>
            </a:r>
          </a:p>
        </p:txBody>
      </p:sp>
      <p:sp>
        <p:nvSpPr>
          <p:cNvPr id="9" name="Rectangle 8"/>
          <p:cNvSpPr/>
          <p:nvPr/>
        </p:nvSpPr>
        <p:spPr>
          <a:xfrm>
            <a:off x="932688"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Nothing committed or shared yet</a:t>
            </a:r>
          </a:p>
        </p:txBody>
      </p:sp>
      <p:sp>
        <p:nvSpPr>
          <p:cNvPr id="11" name="Rectangle 10"/>
          <p:cNvSpPr/>
          <p:nvPr/>
        </p:nvSpPr>
        <p:spPr>
          <a:xfrm>
            <a:off x="932688"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Restores session and code together</a:t>
            </a:r>
          </a:p>
        </p:txBody>
      </p:sp>
      <p:sp>
        <p:nvSpPr>
          <p:cNvPr id="13" name="Rounded Rectangle 12"/>
          <p:cNvSpPr/>
          <p:nvPr/>
        </p:nvSpPr>
        <p:spPr>
          <a:xfrm>
            <a:off x="6199632"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hare_ACACB4.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git revert / reset</a:t>
            </a:r>
          </a:p>
        </p:txBody>
      </p:sp>
      <p:sp>
        <p:nvSpPr>
          <p:cNvPr id="16" name="Rectangle 15"/>
          <p:cNvSpPr/>
          <p:nvPr/>
        </p:nvSpPr>
        <p:spPr>
          <a:xfrm>
            <a:off x="6492240"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Committed or pushed history</a:t>
            </a:r>
          </a:p>
        </p:txBody>
      </p:sp>
      <p:sp>
        <p:nvSpPr>
          <p:cNvPr id="18" name="Rectangle 17"/>
          <p:cNvSpPr/>
          <p:nvPr/>
        </p:nvSpPr>
        <p:spPr>
          <a:xfrm>
            <a:off x="6492240"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Team-visible, auditable undo</a:t>
            </a:r>
          </a:p>
        </p:txBody>
      </p:sp>
      <p:sp>
        <p:nvSpPr>
          <p:cNvPr id="20" name="Rectangle 19"/>
          <p:cNvSpPr/>
          <p:nvPr/>
        </p:nvSpPr>
        <p:spPr>
          <a:xfrm>
            <a:off x="6492240"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Damage older than your checkpoints</a:t>
            </a:r>
          </a:p>
        </p:txBody>
      </p:sp>
      <p:sp>
        <p:nvSpPr>
          <p:cNvPr id="22" name="Rounded Rectangle 21"/>
          <p:cNvSpPr/>
          <p:nvPr/>
        </p:nvSpPr>
        <p:spPr>
          <a:xfrm>
            <a:off x="640080" y="5138928"/>
            <a:ext cx="10908792" cy="713232"/>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fo_4C8DF0.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Interrupting: Esc early when direction is wrong; mid-edit, let it finish - half-applied changes cost more.</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PRINCIPLE</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Principle 2: Next actions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Vague goals in, disappointment out.</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x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Don't</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'Fix everything wrong with this codebase.'</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Do</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'Fix the N+1 query in getUserPosts.'</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eye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Verify</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Claude is confident even when wrong - check it.</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'Almost right' is worse than clearly wrong - it passes review and breaks at 2 AM.</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Paste this: sharp delegation</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Name the file and the pattern</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One ask per prompt</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Tell it how to prove success</a:t>
            </a:r>
          </a:p>
        </p:txBody>
      </p:sp>
      <p:sp>
        <p:nvSpPr>
          <p:cNvPr id="12" name="TextBox 11"/>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3" name="Rounded Rectangle 12"/>
          <p:cNvSpPr/>
          <p:nvPr/>
        </p:nvSpPr>
        <p:spPr>
          <a:xfrm>
            <a:off x="7040880" y="2286000"/>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6" name="TextBox 15"/>
          <p:cNvSpPr txBox="1"/>
          <p:nvPr/>
        </p:nvSpPr>
        <p:spPr>
          <a:xfrm>
            <a:off x="7699248" y="2670048"/>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Add JWT auth to @auth.js following the middleware pattern in @payments.js. Run the auth tests to prove it.</a:t>
            </a:r>
          </a:p>
        </p:txBody>
      </p:sp>
      <p:sp>
        <p:nvSpPr>
          <p:cNvPr id="17" name="Rounded Rectangle 16"/>
          <p:cNvSpPr/>
          <p:nvPr/>
        </p:nvSpPr>
        <p:spPr>
          <a:xfrm>
            <a:off x="7040880" y="3735324"/>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42048" y="3899915"/>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3881628"/>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0" name="TextBox 19"/>
          <p:cNvSpPr txBox="1"/>
          <p:nvPr/>
        </p:nvSpPr>
        <p:spPr>
          <a:xfrm>
            <a:off x="7699248" y="4119372"/>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POST /api/tasks returns 500. Read @src/routes/tasks.js, find the cause, fix only that, and show me the diff.</a:t>
            </a:r>
          </a:p>
        </p:txBody>
      </p:sp>
      <p:sp>
        <p:nvSpPr>
          <p:cNvPr id="21" name="Rectangle 20"/>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3" name="TextBox 22"/>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LIVE DEMO</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Demo: bloat, break, rewind</a:t>
            </a:r>
          </a:p>
        </p:txBody>
      </p:sp>
      <p:pic>
        <p:nvPicPr>
          <p:cNvPr id="4" name="Picture 3" descr="bg_6.png"/>
          <p:cNvPicPr>
            <a:picLocks noChangeAspect="1"/>
          </p:cNvPicPr>
          <p:nvPr/>
        </p:nvPicPr>
        <p:blipFill>
          <a:blip r:embed="rId2"/>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WHAT WE'LL RUN TOGETHER</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Overload a session on purpose</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Watch quality visibly degrade</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Double-Esc - restore code and continue</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HANDS-ON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Lab 1C: Precision Recovery</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Break the dashboard on purpose - then get it back.</a:t>
            </a:r>
          </a:p>
        </p:txBody>
      </p:sp>
      <p:sp>
        <p:nvSpPr>
          <p:cNvPr id="5" name="Rounded Rectangle 4"/>
          <p:cNvSpPr/>
          <p:nvPr/>
        </p:nvSpPr>
        <p:spPr>
          <a:xfrm>
            <a:off x="640080" y="233172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5146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arget_2A2A30.png"/>
          <p:cNvPicPr>
            <a:picLocks noChangeAspect="1"/>
          </p:cNvPicPr>
          <p:nvPr/>
        </p:nvPicPr>
        <p:blipFill>
          <a:blip r:embed="rId2"/>
          <a:stretch>
            <a:fillRect/>
          </a:stretch>
        </p:blipFill>
        <p:spPr>
          <a:xfrm>
            <a:off x="1005840" y="2642616"/>
            <a:ext cx="219456" cy="219456"/>
          </a:xfrm>
          <a:prstGeom prst="rect">
            <a:avLst/>
          </a:prstGeom>
        </p:spPr>
      </p:pic>
      <p:sp>
        <p:nvSpPr>
          <p:cNvPr id="8" name="TextBox 7"/>
          <p:cNvSpPr txBox="1"/>
          <p:nvPr/>
        </p:nvSpPr>
        <p:spPr>
          <a:xfrm>
            <a:off x="877824" y="3136391"/>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Deliverable</a:t>
            </a:r>
          </a:p>
        </p:txBody>
      </p:sp>
      <p:sp>
        <p:nvSpPr>
          <p:cNvPr id="9" name="TextBox 8"/>
          <p:cNvSpPr txBox="1"/>
          <p:nvPr/>
        </p:nvSpPr>
        <p:spPr>
          <a:xfrm>
            <a:off x="877824" y="3611879"/>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 dashboard feature shipped after a deliberate bad detour.</a:t>
            </a:r>
          </a:p>
        </p:txBody>
      </p:sp>
      <p:sp>
        <p:nvSpPr>
          <p:cNvPr id="10" name="Rounded Rectangle 9"/>
          <p:cNvSpPr/>
          <p:nvPr/>
        </p:nvSpPr>
        <p:spPr>
          <a:xfrm>
            <a:off x="6231636" y="233172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69379" y="25146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ock_2A2A30.png"/>
          <p:cNvPicPr>
            <a:picLocks noChangeAspect="1"/>
          </p:cNvPicPr>
          <p:nvPr/>
        </p:nvPicPr>
        <p:blipFill>
          <a:blip r:embed="rId3"/>
          <a:stretch>
            <a:fillRect/>
          </a:stretch>
        </p:blipFill>
        <p:spPr>
          <a:xfrm>
            <a:off x="6597395" y="2642616"/>
            <a:ext cx="219456" cy="219456"/>
          </a:xfrm>
          <a:prstGeom prst="rect">
            <a:avLst/>
          </a:prstGeom>
        </p:spPr>
      </p:pic>
      <p:sp>
        <p:nvSpPr>
          <p:cNvPr id="13" name="TextBox 12"/>
          <p:cNvSpPr txBox="1"/>
          <p:nvPr/>
        </p:nvSpPr>
        <p:spPr>
          <a:xfrm>
            <a:off x="6469379" y="3136391"/>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Timebox</a:t>
            </a:r>
          </a:p>
        </p:txBody>
      </p:sp>
      <p:sp>
        <p:nvSpPr>
          <p:cNvPr id="14" name="TextBox 13"/>
          <p:cNvSpPr txBox="1"/>
          <p:nvPr/>
        </p:nvSpPr>
        <p:spPr>
          <a:xfrm>
            <a:off x="6469379" y="3611879"/>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30 minutes. If behind: complete one full rewind cycle.</a:t>
            </a:r>
          </a:p>
        </p:txBody>
      </p:sp>
      <p:sp>
        <p:nvSpPr>
          <p:cNvPr id="15" name="Rounded Rectangle 14"/>
          <p:cNvSpPr/>
          <p:nvPr/>
        </p:nvSpPr>
        <p:spPr>
          <a:xfrm>
            <a:off x="640080" y="443484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77824" y="461772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ist_2A2A30.png"/>
          <p:cNvPicPr>
            <a:picLocks noChangeAspect="1"/>
          </p:cNvPicPr>
          <p:nvPr/>
        </p:nvPicPr>
        <p:blipFill>
          <a:blip r:embed="rId4"/>
          <a:stretch>
            <a:fillRect/>
          </a:stretch>
        </p:blipFill>
        <p:spPr>
          <a:xfrm>
            <a:off x="1005840" y="4745736"/>
            <a:ext cx="219456" cy="219456"/>
          </a:xfrm>
          <a:prstGeom prst="rect">
            <a:avLst/>
          </a:prstGeom>
        </p:spPr>
      </p:pic>
      <p:sp>
        <p:nvSpPr>
          <p:cNvPr id="18" name="TextBox 17"/>
          <p:cNvSpPr txBox="1"/>
          <p:nvPr/>
        </p:nvSpPr>
        <p:spPr>
          <a:xfrm>
            <a:off x="877824" y="5239512"/>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Success checklist</a:t>
            </a:r>
          </a:p>
        </p:txBody>
      </p:sp>
      <p:sp>
        <p:nvSpPr>
          <p:cNvPr id="19" name="TextBox 18"/>
          <p:cNvSpPr txBox="1"/>
          <p:nvPr/>
        </p:nvSpPr>
        <p:spPr>
          <a:xfrm>
            <a:off x="877824" y="5715000"/>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Bad change rewound; rewind-vs-revert call made; /context checked twice.</a:t>
            </a:r>
          </a:p>
        </p:txBody>
      </p:sp>
      <p:sp>
        <p:nvSpPr>
          <p:cNvPr id="20" name="Rounded Rectangle 19"/>
          <p:cNvSpPr/>
          <p:nvPr/>
        </p:nvSpPr>
        <p:spPr>
          <a:xfrm>
            <a:off x="6231636" y="443484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9379" y="461772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at_2A2A30.png"/>
          <p:cNvPicPr>
            <a:picLocks noChangeAspect="1"/>
          </p:cNvPicPr>
          <p:nvPr/>
        </p:nvPicPr>
        <p:blipFill>
          <a:blip r:embed="rId5"/>
          <a:stretch>
            <a:fillRect/>
          </a:stretch>
        </p:blipFill>
        <p:spPr>
          <a:xfrm>
            <a:off x="6597395" y="4745736"/>
            <a:ext cx="219456" cy="219456"/>
          </a:xfrm>
          <a:prstGeom prst="rect">
            <a:avLst/>
          </a:prstGeom>
        </p:spPr>
      </p:pic>
      <p:sp>
        <p:nvSpPr>
          <p:cNvPr id="23" name="TextBox 22"/>
          <p:cNvSpPr txBox="1"/>
          <p:nvPr/>
        </p:nvSpPr>
        <p:spPr>
          <a:xfrm>
            <a:off x="6469379" y="5239512"/>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Debrief</a:t>
            </a:r>
          </a:p>
        </p:txBody>
      </p:sp>
      <p:sp>
        <p:nvSpPr>
          <p:cNvPr id="24" name="TextBox 23"/>
          <p:cNvSpPr txBox="1"/>
          <p:nvPr/>
        </p:nvSpPr>
        <p:spPr>
          <a:xfrm>
            <a:off x="6469379" y="5715000"/>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Which scope did you restore - conversation, code, or both? Why?</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RECAP</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Context in two lines</a:t>
            </a:r>
          </a:p>
        </p:txBody>
      </p:sp>
      <p:sp>
        <p:nvSpPr>
          <p:cNvPr id="4" name="TextBox 3"/>
          <p:cNvSpPr txBox="1"/>
          <p:nvPr/>
        </p:nvSpPr>
        <p:spPr>
          <a:xfrm>
            <a:off x="640080" y="1645920"/>
            <a:ext cx="10241280" cy="457200"/>
          </a:xfrm>
          <a:prstGeom prst="rect">
            <a:avLst/>
          </a:prstGeom>
          <a:noFill/>
        </p:spPr>
        <p:txBody>
          <a:bodyPr wrap="square" anchor="t">
            <a:spAutoFit/>
          </a:bodyPr>
          <a:lstStyle/>
          <a:p>
            <a:pPr algn="l">
              <a:lnSpc>
                <a:spcPct val="100000"/>
              </a:lnSpc>
              <a:spcBef>
                <a:spcPts val="0"/>
              </a:spcBef>
              <a:spcAft>
                <a:spcPts val="200"/>
              </a:spcAft>
            </a:pPr>
            <a:r>
              <a:rPr sz="1800" b="0">
                <a:solidFill>
                  <a:srgbClr val="ACACB4"/>
                </a:solidFill>
                <a:latin typeface="Instrument Sans"/>
              </a:rPr>
              <a:t>The whole block, compressed.</a:t>
            </a:r>
          </a:p>
        </p:txBody>
      </p:sp>
      <p:sp>
        <p:nvSpPr>
          <p:cNvPr id="5" name="Rounded Rectangle 4"/>
          <p:cNvSpPr/>
          <p:nvPr/>
        </p:nvSpPr>
        <p:spPr>
          <a:xfrm>
            <a:off x="640080" y="2468880"/>
            <a:ext cx="5317236"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7" name="TextBox 6"/>
          <p:cNvSpPr txBox="1"/>
          <p:nvPr/>
        </p:nvSpPr>
        <p:spPr>
          <a:xfrm>
            <a:off x="914400" y="3383280"/>
            <a:ext cx="4768596"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Less context, better output - feed files, not folders.</a:t>
            </a:r>
          </a:p>
        </p:txBody>
      </p:sp>
      <p:sp>
        <p:nvSpPr>
          <p:cNvPr id="8" name="Rounded Rectangle 7"/>
          <p:cNvSpPr/>
          <p:nvPr/>
        </p:nvSpPr>
        <p:spPr>
          <a:xfrm>
            <a:off x="6231636" y="2468880"/>
            <a:ext cx="5317236"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5955"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0" name="TextBox 9"/>
          <p:cNvSpPr txBox="1"/>
          <p:nvPr/>
        </p:nvSpPr>
        <p:spPr>
          <a:xfrm>
            <a:off x="6505955" y="3383280"/>
            <a:ext cx="4768596"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Rewind beats arguing: double-Esc costs less than three corrections.</a:t>
            </a:r>
          </a:p>
        </p:txBody>
      </p:sp>
      <p:sp>
        <p:nvSpPr>
          <p:cNvPr id="11" name="Rectangle 10"/>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3" name="TextBox 12"/>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10 MINUTES</a:t>
            </a:r>
          </a:p>
        </p:txBody>
      </p:sp>
      <p:sp>
        <p:nvSpPr>
          <p:cNvPr id="3" name="TextBox 2"/>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Break</a:t>
            </a:r>
          </a:p>
        </p:txBody>
      </p:sp>
      <p:sp>
        <p:nvSpPr>
          <p:cNvPr id="4" name="Rectangle 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6" name="TextBox 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4.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BLOCK 4 - 70 MINUTES</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Commands, Cost &amp; Permissions</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Power tools, price tags, and the safety model - then ship it.</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COMMANDS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Daily-driver commands</a:t>
            </a:r>
          </a:p>
        </p:txBody>
      </p:sp>
      <p:sp>
        <p:nvSpPr>
          <p:cNvPr id="4" name="Rounded Rectangle 3"/>
          <p:cNvSpPr/>
          <p:nvPr/>
        </p:nvSpPr>
        <p:spPr>
          <a:xfrm>
            <a:off x="640080" y="1828800"/>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85775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ocket_2A2A30.png"/>
          <p:cNvPicPr>
            <a:picLocks noChangeAspect="1"/>
          </p:cNvPicPr>
          <p:nvPr/>
        </p:nvPicPr>
        <p:blipFill>
          <a:blip r:embed="rId2"/>
          <a:stretch>
            <a:fillRect/>
          </a:stretch>
        </p:blipFill>
        <p:spPr>
          <a:xfrm>
            <a:off x="1014984" y="1994916"/>
            <a:ext cx="292608" cy="292608"/>
          </a:xfrm>
          <a:prstGeom prst="rect">
            <a:avLst/>
          </a:prstGeom>
        </p:spPr>
      </p:pic>
      <p:sp>
        <p:nvSpPr>
          <p:cNvPr id="7" name="TextBox 6"/>
          <p:cNvSpPr txBox="1"/>
          <p:nvPr/>
        </p:nvSpPr>
        <p:spPr>
          <a:xfrm>
            <a:off x="1591056" y="1828800"/>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/init</a:t>
            </a:r>
          </a:p>
        </p:txBody>
      </p:sp>
      <p:sp>
        <p:nvSpPr>
          <p:cNvPr id="8" name="TextBox 7"/>
          <p:cNvSpPr txBox="1"/>
          <p:nvPr/>
        </p:nvSpPr>
        <p:spPr>
          <a:xfrm>
            <a:off x="4434840" y="1828800"/>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Generate the starter CLAUDE.md.</a:t>
            </a:r>
          </a:p>
        </p:txBody>
      </p:sp>
      <p:sp>
        <p:nvSpPr>
          <p:cNvPr id="9" name="Rounded Rectangle 8"/>
          <p:cNvSpPr/>
          <p:nvPr/>
        </p:nvSpPr>
        <p:spPr>
          <a:xfrm>
            <a:off x="640080" y="2599944"/>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62890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fresh_2A2A30.png"/>
          <p:cNvPicPr>
            <a:picLocks noChangeAspect="1"/>
          </p:cNvPicPr>
          <p:nvPr/>
        </p:nvPicPr>
        <p:blipFill>
          <a:blip r:embed="rId3"/>
          <a:stretch>
            <a:fillRect/>
          </a:stretch>
        </p:blipFill>
        <p:spPr>
          <a:xfrm>
            <a:off x="1014984" y="2766060"/>
            <a:ext cx="292608" cy="292608"/>
          </a:xfrm>
          <a:prstGeom prst="rect">
            <a:avLst/>
          </a:prstGeom>
        </p:spPr>
      </p:pic>
      <p:sp>
        <p:nvSpPr>
          <p:cNvPr id="12" name="TextBox 11"/>
          <p:cNvSpPr txBox="1"/>
          <p:nvPr/>
        </p:nvSpPr>
        <p:spPr>
          <a:xfrm>
            <a:off x="1591056" y="2599944"/>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/clear</a:t>
            </a:r>
          </a:p>
        </p:txBody>
      </p:sp>
      <p:sp>
        <p:nvSpPr>
          <p:cNvPr id="13" name="TextBox 12"/>
          <p:cNvSpPr txBox="1"/>
          <p:nvPr/>
        </p:nvSpPr>
        <p:spPr>
          <a:xfrm>
            <a:off x="4434840" y="2599944"/>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Hard reset between tasks.</a:t>
            </a:r>
          </a:p>
        </p:txBody>
      </p:sp>
      <p:sp>
        <p:nvSpPr>
          <p:cNvPr id="14" name="Rounded Rectangle 13"/>
          <p:cNvSpPr/>
          <p:nvPr/>
        </p:nvSpPr>
        <p:spPr>
          <a:xfrm>
            <a:off x="640080" y="3371088"/>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40004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cale_2A2A30.png"/>
          <p:cNvPicPr>
            <a:picLocks noChangeAspect="1"/>
          </p:cNvPicPr>
          <p:nvPr/>
        </p:nvPicPr>
        <p:blipFill>
          <a:blip r:embed="rId4"/>
          <a:stretch>
            <a:fillRect/>
          </a:stretch>
        </p:blipFill>
        <p:spPr>
          <a:xfrm>
            <a:off x="1014984" y="3537204"/>
            <a:ext cx="292608" cy="292608"/>
          </a:xfrm>
          <a:prstGeom prst="rect">
            <a:avLst/>
          </a:prstGeom>
        </p:spPr>
      </p:pic>
      <p:sp>
        <p:nvSpPr>
          <p:cNvPr id="17" name="TextBox 16"/>
          <p:cNvSpPr txBox="1"/>
          <p:nvPr/>
        </p:nvSpPr>
        <p:spPr>
          <a:xfrm>
            <a:off x="1591056" y="3371088"/>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/compact</a:t>
            </a:r>
          </a:p>
        </p:txBody>
      </p:sp>
      <p:sp>
        <p:nvSpPr>
          <p:cNvPr id="18" name="TextBox 17"/>
          <p:cNvSpPr txBox="1"/>
          <p:nvPr/>
        </p:nvSpPr>
        <p:spPr>
          <a:xfrm>
            <a:off x="4434840" y="3371088"/>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Compress a long session, keep the thread.</a:t>
            </a:r>
          </a:p>
        </p:txBody>
      </p:sp>
      <p:sp>
        <p:nvSpPr>
          <p:cNvPr id="19" name="Rounded Rectangle 18"/>
          <p:cNvSpPr/>
          <p:nvPr/>
        </p:nvSpPr>
        <p:spPr>
          <a:xfrm>
            <a:off x="640080" y="4142232"/>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17118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ye_2A2A30.png"/>
          <p:cNvPicPr>
            <a:picLocks noChangeAspect="1"/>
          </p:cNvPicPr>
          <p:nvPr/>
        </p:nvPicPr>
        <p:blipFill>
          <a:blip r:embed="rId5"/>
          <a:stretch>
            <a:fillRect/>
          </a:stretch>
        </p:blipFill>
        <p:spPr>
          <a:xfrm>
            <a:off x="1014984" y="4308348"/>
            <a:ext cx="292608" cy="292608"/>
          </a:xfrm>
          <a:prstGeom prst="rect">
            <a:avLst/>
          </a:prstGeom>
        </p:spPr>
      </p:pic>
      <p:sp>
        <p:nvSpPr>
          <p:cNvPr id="22" name="TextBox 21"/>
          <p:cNvSpPr txBox="1"/>
          <p:nvPr/>
        </p:nvSpPr>
        <p:spPr>
          <a:xfrm>
            <a:off x="1591056" y="4142232"/>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/context</a:t>
            </a:r>
          </a:p>
        </p:txBody>
      </p:sp>
      <p:sp>
        <p:nvSpPr>
          <p:cNvPr id="23" name="TextBox 22"/>
          <p:cNvSpPr txBox="1"/>
          <p:nvPr/>
        </p:nvSpPr>
        <p:spPr>
          <a:xfrm>
            <a:off x="4434840" y="4142232"/>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See exactly where your tokens went.</a:t>
            </a:r>
          </a:p>
        </p:txBody>
      </p:sp>
      <p:sp>
        <p:nvSpPr>
          <p:cNvPr id="24" name="Rounded Rectangle 23"/>
          <p:cNvSpPr/>
          <p:nvPr/>
        </p:nvSpPr>
        <p:spPr>
          <a:xfrm>
            <a:off x="640080" y="4913376"/>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494233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spark_2A2A30.png"/>
          <p:cNvPicPr>
            <a:picLocks noChangeAspect="1"/>
          </p:cNvPicPr>
          <p:nvPr/>
        </p:nvPicPr>
        <p:blipFill>
          <a:blip r:embed="rId6"/>
          <a:stretch>
            <a:fillRect/>
          </a:stretch>
        </p:blipFill>
        <p:spPr>
          <a:xfrm>
            <a:off x="1014984" y="5079492"/>
            <a:ext cx="292608" cy="292608"/>
          </a:xfrm>
          <a:prstGeom prst="rect">
            <a:avLst/>
          </a:prstGeom>
        </p:spPr>
      </p:pic>
      <p:sp>
        <p:nvSpPr>
          <p:cNvPr id="27" name="TextBox 26"/>
          <p:cNvSpPr txBox="1"/>
          <p:nvPr/>
        </p:nvSpPr>
        <p:spPr>
          <a:xfrm>
            <a:off x="1591056" y="4913376"/>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/model</a:t>
            </a:r>
          </a:p>
        </p:txBody>
      </p:sp>
      <p:sp>
        <p:nvSpPr>
          <p:cNvPr id="28" name="TextBox 27"/>
          <p:cNvSpPr txBox="1"/>
          <p:nvPr/>
        </p:nvSpPr>
        <p:spPr>
          <a:xfrm>
            <a:off x="4434840" y="4913376"/>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Switch models mid-session - escalate deliberately.</a:t>
            </a:r>
          </a:p>
        </p:txBody>
      </p:sp>
      <p:sp>
        <p:nvSpPr>
          <p:cNvPr id="29" name="Rounded Rectangle 28"/>
          <p:cNvSpPr/>
          <p:nvPr/>
        </p:nvSpPr>
        <p:spPr>
          <a:xfrm>
            <a:off x="640080" y="5684520"/>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1248" y="571347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check_2A2A30.png"/>
          <p:cNvPicPr>
            <a:picLocks noChangeAspect="1"/>
          </p:cNvPicPr>
          <p:nvPr/>
        </p:nvPicPr>
        <p:blipFill>
          <a:blip r:embed="rId7"/>
          <a:stretch>
            <a:fillRect/>
          </a:stretch>
        </p:blipFill>
        <p:spPr>
          <a:xfrm>
            <a:off x="1014984" y="5850636"/>
            <a:ext cx="292608" cy="292608"/>
          </a:xfrm>
          <a:prstGeom prst="rect">
            <a:avLst/>
          </a:prstGeom>
        </p:spPr>
      </p:pic>
      <p:sp>
        <p:nvSpPr>
          <p:cNvPr id="32" name="TextBox 31"/>
          <p:cNvSpPr txBox="1"/>
          <p:nvPr/>
        </p:nvSpPr>
        <p:spPr>
          <a:xfrm>
            <a:off x="1591056" y="5684520"/>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/doctor</a:t>
            </a:r>
          </a:p>
        </p:txBody>
      </p:sp>
      <p:sp>
        <p:nvSpPr>
          <p:cNvPr id="33" name="TextBox 32"/>
          <p:cNvSpPr txBox="1"/>
          <p:nvPr/>
        </p:nvSpPr>
        <p:spPr>
          <a:xfrm>
            <a:off x="4434840" y="5684520"/>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Diagnose and auto-fix the setup.</a:t>
            </a:r>
          </a:p>
        </p:txBody>
      </p:sp>
      <p:sp>
        <p:nvSpPr>
          <p:cNvPr id="34" name="Rectangle 3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6" name="TextBox 3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NEW IN 2026</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Quality of life, July 2026</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Small features, daily payoff.</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at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/btw</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Side question answered without polluting the main context.</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pps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 prefix</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Run a shell command - Claude reads the output, no second prompt.</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en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/keybindings</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Remap everything - ~/.claude/keybindings.json.</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These ship in fast-moving weekly releases - re-verify exact behavior on delivery morning.</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Build a human-invoked skill</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Skills are the current custom-workflow form</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disable-model-invocation: true keeps it explicit</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$ARGUMENTS carries your input</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Commit it for the team</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203911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60020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Create .claude/skills/review/SKILL.md with name, trigger description, disable-model-invocation: true, and Read/Grep/Glob only. Body: review $ARGUMENTS and return prioritized findings with file references.</a:t>
            </a:r>
          </a:p>
        </p:txBody>
      </p:sp>
      <p:sp>
        <p:nvSpPr>
          <p:cNvPr id="19" name="Rounded Rectangle 18"/>
          <p:cNvSpPr/>
          <p:nvPr/>
        </p:nvSpPr>
        <p:spPr>
          <a:xfrm>
            <a:off x="7040880" y="4471416"/>
            <a:ext cx="4507992" cy="81229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42048" y="4636008"/>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4617720"/>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855464"/>
            <a:ext cx="3593591" cy="37338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/review src/auth/login.ts</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SPECS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Spec quality = output quality</a:t>
            </a:r>
          </a:p>
        </p:txBody>
      </p:sp>
      <p:sp>
        <p:nvSpPr>
          <p:cNvPr id="4" name="Rounded Rectangle 3"/>
          <p:cNvSpPr/>
          <p:nvPr/>
        </p:nvSpPr>
        <p:spPr>
          <a:xfrm>
            <a:off x="640080"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x_ACACB4.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Vague</a:t>
            </a:r>
          </a:p>
        </p:txBody>
      </p:sp>
      <p:sp>
        <p:nvSpPr>
          <p:cNvPr id="7" name="Rectangle 6"/>
          <p:cNvSpPr/>
          <p:nvPr/>
        </p:nvSpPr>
        <p:spPr>
          <a:xfrm>
            <a:off x="932688"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'Build me an API'</a:t>
            </a:r>
          </a:p>
        </p:txBody>
      </p:sp>
      <p:sp>
        <p:nvSpPr>
          <p:cNvPr id="9" name="Rectangle 8"/>
          <p:cNvSpPr/>
          <p:nvPr/>
        </p:nvSpPr>
        <p:spPr>
          <a:xfrm>
            <a:off x="932688"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Claude guesses everything</a:t>
            </a:r>
          </a:p>
        </p:txBody>
      </p:sp>
      <p:sp>
        <p:nvSpPr>
          <p:cNvPr id="11" name="Rectangle 10"/>
          <p:cNvSpPr/>
          <p:nvPr/>
        </p:nvSpPr>
        <p:spPr>
          <a:xfrm>
            <a:off x="932688"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Three rounds, still wrong</a:t>
            </a:r>
          </a:p>
        </p:txBody>
      </p:sp>
      <p:sp>
        <p:nvSpPr>
          <p:cNvPr id="13" name="Rounded Rectangle 12"/>
          <p:cNvSpPr/>
          <p:nvPr/>
        </p:nvSpPr>
        <p:spPr>
          <a:xfrm>
            <a:off x="6199632"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46B17A.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Clear</a:t>
            </a:r>
          </a:p>
        </p:txBody>
      </p:sp>
      <p:sp>
        <p:nvSpPr>
          <p:cNvPr id="16" name="Rectangle 15"/>
          <p:cNvSpPr/>
          <p:nvPr/>
        </p:nvSpPr>
        <p:spPr>
          <a:xfrm>
            <a:off x="6492240"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Stack, endpoints, auth named</a:t>
            </a:r>
          </a:p>
        </p:txBody>
      </p:sp>
      <p:sp>
        <p:nvSpPr>
          <p:cNvPr id="18" name="Rectangle 17"/>
          <p:cNvSpPr/>
          <p:nvPr/>
        </p:nvSpPr>
        <p:spPr>
          <a:xfrm>
            <a:off x="6492240"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Matches your mental model</a:t>
            </a:r>
          </a:p>
        </p:txBody>
      </p:sp>
      <p:sp>
        <p:nvSpPr>
          <p:cNvPr id="20" name="Rectangle 19"/>
          <p:cNvSpPr/>
          <p:nvPr/>
        </p:nvSpPr>
        <p:spPr>
          <a:xfrm>
            <a:off x="6492240"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One round of refinement</a:t>
            </a:r>
          </a:p>
        </p:txBody>
      </p:sp>
      <p:sp>
        <p:nvSpPr>
          <p:cNvPr id="22" name="Rectangle 2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4" name="TextBox 2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SPECS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Interview Me pattern</a:t>
            </a:r>
          </a:p>
        </p:txBody>
      </p:sp>
      <p:sp>
        <p:nvSpPr>
          <p:cNvPr id="4" name="Rounded Rectangle 3"/>
          <p:cNvSpPr/>
          <p:nvPr/>
        </p:nvSpPr>
        <p:spPr>
          <a:xfrm>
            <a:off x="640080"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01</a:t>
            </a:r>
          </a:p>
        </p:txBody>
      </p:sp>
      <p:sp>
        <p:nvSpPr>
          <p:cNvPr id="6" name="TextBox 5"/>
          <p:cNvSpPr txBox="1"/>
          <p:nvPr/>
        </p:nvSpPr>
        <p:spPr>
          <a:xfrm>
            <a:off x="914400"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Invite</a:t>
            </a:r>
          </a:p>
        </p:txBody>
      </p:sp>
      <p:sp>
        <p:nvSpPr>
          <p:cNvPr id="7" name="TextBox 6"/>
          <p:cNvSpPr txBox="1"/>
          <p:nvPr/>
        </p:nvSpPr>
        <p:spPr>
          <a:xfrm>
            <a:off x="914400"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'I want to build X. Interview me first.'</a:t>
            </a:r>
          </a:p>
        </p:txBody>
      </p:sp>
      <p:sp>
        <p:nvSpPr>
          <p:cNvPr id="8" name="TextBox 7"/>
          <p:cNvSpPr txBox="1"/>
          <p:nvPr/>
        </p:nvSpPr>
        <p:spPr>
          <a:xfrm>
            <a:off x="3111246"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9" name="Rounded Rectangle 8"/>
          <p:cNvSpPr/>
          <p:nvPr/>
        </p:nvSpPr>
        <p:spPr>
          <a:xfrm>
            <a:off x="3458718"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33037"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02</a:t>
            </a:r>
          </a:p>
        </p:txBody>
      </p:sp>
      <p:sp>
        <p:nvSpPr>
          <p:cNvPr id="11" name="TextBox 10"/>
          <p:cNvSpPr txBox="1"/>
          <p:nvPr/>
        </p:nvSpPr>
        <p:spPr>
          <a:xfrm>
            <a:off x="3733037"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Answer</a:t>
            </a:r>
          </a:p>
        </p:txBody>
      </p:sp>
      <p:sp>
        <p:nvSpPr>
          <p:cNvPr id="12" name="TextBox 11"/>
          <p:cNvSpPr txBox="1"/>
          <p:nvPr/>
        </p:nvSpPr>
        <p:spPr>
          <a:xfrm>
            <a:off x="3733037"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Claude asks what you had not thought through.</a:t>
            </a:r>
          </a:p>
        </p:txBody>
      </p:sp>
      <p:sp>
        <p:nvSpPr>
          <p:cNvPr id="13" name="TextBox 12"/>
          <p:cNvSpPr txBox="1"/>
          <p:nvPr/>
        </p:nvSpPr>
        <p:spPr>
          <a:xfrm>
            <a:off x="5929883"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4" name="Rounded Rectangle 13"/>
          <p:cNvSpPr/>
          <p:nvPr/>
        </p:nvSpPr>
        <p:spPr>
          <a:xfrm>
            <a:off x="6277356"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1676"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03</a:t>
            </a:r>
          </a:p>
        </p:txBody>
      </p:sp>
      <p:sp>
        <p:nvSpPr>
          <p:cNvPr id="16" name="TextBox 15"/>
          <p:cNvSpPr txBox="1"/>
          <p:nvPr/>
        </p:nvSpPr>
        <p:spPr>
          <a:xfrm>
            <a:off x="6551676"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Spec</a:t>
            </a:r>
          </a:p>
        </p:txBody>
      </p:sp>
      <p:sp>
        <p:nvSpPr>
          <p:cNvPr id="17" name="TextBox 16"/>
          <p:cNvSpPr txBox="1"/>
          <p:nvPr/>
        </p:nvSpPr>
        <p:spPr>
          <a:xfrm>
            <a:off x="6551676"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It writes spec.md from your answers.</a:t>
            </a:r>
          </a:p>
        </p:txBody>
      </p:sp>
      <p:sp>
        <p:nvSpPr>
          <p:cNvPr id="18" name="TextBox 17"/>
          <p:cNvSpPr txBox="1"/>
          <p:nvPr/>
        </p:nvSpPr>
        <p:spPr>
          <a:xfrm>
            <a:off x="8748522"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9" name="Rounded Rectangle 18"/>
          <p:cNvSpPr/>
          <p:nvPr/>
        </p:nvSpPr>
        <p:spPr>
          <a:xfrm>
            <a:off x="9095994"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0314"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04</a:t>
            </a:r>
          </a:p>
        </p:txBody>
      </p:sp>
      <p:sp>
        <p:nvSpPr>
          <p:cNvPr id="21" name="TextBox 20"/>
          <p:cNvSpPr txBox="1"/>
          <p:nvPr/>
        </p:nvSpPr>
        <p:spPr>
          <a:xfrm>
            <a:off x="9370314"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Execute</a:t>
            </a:r>
          </a:p>
        </p:txBody>
      </p:sp>
      <p:sp>
        <p:nvSpPr>
          <p:cNvPr id="22" name="TextBox 21"/>
          <p:cNvSpPr txBox="1"/>
          <p:nvPr/>
        </p:nvSpPr>
        <p:spPr>
          <a:xfrm>
            <a:off x="9370314"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Build from the spec - problems caught before code.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PERMISSIONS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Shift+Tab: the four modes</a:t>
            </a:r>
          </a:p>
        </p:txBody>
      </p:sp>
      <p:sp>
        <p:nvSpPr>
          <p:cNvPr id="4" name="Oval 3"/>
          <p:cNvSpPr/>
          <p:nvPr/>
        </p:nvSpPr>
        <p:spPr>
          <a:xfrm>
            <a:off x="868680"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ck_F5F5F6.png"/>
          <p:cNvPicPr>
            <a:picLocks noChangeAspect="1"/>
          </p:cNvPicPr>
          <p:nvPr/>
        </p:nvPicPr>
        <p:blipFill>
          <a:blip r:embed="rId2"/>
          <a:stretch>
            <a:fillRect/>
          </a:stretch>
        </p:blipFill>
        <p:spPr>
          <a:xfrm>
            <a:off x="1344168" y="2926080"/>
            <a:ext cx="731520" cy="731520"/>
          </a:xfrm>
          <a:prstGeom prst="rect">
            <a:avLst/>
          </a:prstGeom>
        </p:spPr>
      </p:pic>
      <p:sp>
        <p:nvSpPr>
          <p:cNvPr id="6" name="TextBox 5"/>
          <p:cNvSpPr txBox="1"/>
          <p:nvPr/>
        </p:nvSpPr>
        <p:spPr>
          <a:xfrm>
            <a:off x="640080"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Default</a:t>
            </a:r>
          </a:p>
        </p:txBody>
      </p:sp>
      <p:sp>
        <p:nvSpPr>
          <p:cNvPr id="7" name="TextBox 6"/>
          <p:cNvSpPr txBox="1"/>
          <p:nvPr/>
        </p:nvSpPr>
        <p:spPr>
          <a:xfrm>
            <a:off x="640080"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ask before acting</a:t>
            </a:r>
          </a:p>
        </p:txBody>
      </p:sp>
      <p:sp>
        <p:nvSpPr>
          <p:cNvPr id="8" name="Oval 7"/>
          <p:cNvSpPr/>
          <p:nvPr/>
        </p:nvSpPr>
        <p:spPr>
          <a:xfrm>
            <a:off x="3792626"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en_F5F5F6.png"/>
          <p:cNvPicPr>
            <a:picLocks noChangeAspect="1"/>
          </p:cNvPicPr>
          <p:nvPr/>
        </p:nvPicPr>
        <p:blipFill>
          <a:blip r:embed="rId3"/>
          <a:stretch>
            <a:fillRect/>
          </a:stretch>
        </p:blipFill>
        <p:spPr>
          <a:xfrm>
            <a:off x="4268114" y="2926080"/>
            <a:ext cx="731520" cy="731520"/>
          </a:xfrm>
          <a:prstGeom prst="rect">
            <a:avLst/>
          </a:prstGeom>
        </p:spPr>
      </p:pic>
      <p:sp>
        <p:nvSpPr>
          <p:cNvPr id="10" name="TextBox 9"/>
          <p:cNvSpPr txBox="1"/>
          <p:nvPr/>
        </p:nvSpPr>
        <p:spPr>
          <a:xfrm>
            <a:off x="3564026"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AcceptEdits</a:t>
            </a:r>
          </a:p>
        </p:txBody>
      </p:sp>
      <p:sp>
        <p:nvSpPr>
          <p:cNvPr id="11" name="TextBox 10"/>
          <p:cNvSpPr txBox="1"/>
          <p:nvPr/>
        </p:nvSpPr>
        <p:spPr>
          <a:xfrm>
            <a:off x="3564026"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file edits auto-approved</a:t>
            </a:r>
          </a:p>
        </p:txBody>
      </p:sp>
      <p:sp>
        <p:nvSpPr>
          <p:cNvPr id="12" name="Oval 11"/>
          <p:cNvSpPr/>
          <p:nvPr/>
        </p:nvSpPr>
        <p:spPr>
          <a:xfrm>
            <a:off x="6716572"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st_F5F5F6.png"/>
          <p:cNvPicPr>
            <a:picLocks noChangeAspect="1"/>
          </p:cNvPicPr>
          <p:nvPr/>
        </p:nvPicPr>
        <p:blipFill>
          <a:blip r:embed="rId4"/>
          <a:stretch>
            <a:fillRect/>
          </a:stretch>
        </p:blipFill>
        <p:spPr>
          <a:xfrm>
            <a:off x="7192060" y="2926080"/>
            <a:ext cx="731520" cy="731520"/>
          </a:xfrm>
          <a:prstGeom prst="rect">
            <a:avLst/>
          </a:prstGeom>
        </p:spPr>
      </p:pic>
      <p:sp>
        <p:nvSpPr>
          <p:cNvPr id="14" name="TextBox 13"/>
          <p:cNvSpPr txBox="1"/>
          <p:nvPr/>
        </p:nvSpPr>
        <p:spPr>
          <a:xfrm>
            <a:off x="6487972"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Plan</a:t>
            </a:r>
          </a:p>
        </p:txBody>
      </p:sp>
      <p:sp>
        <p:nvSpPr>
          <p:cNvPr id="15" name="TextBox 14"/>
          <p:cNvSpPr txBox="1"/>
          <p:nvPr/>
        </p:nvSpPr>
        <p:spPr>
          <a:xfrm>
            <a:off x="6487972"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explore before acting</a:t>
            </a:r>
          </a:p>
        </p:txBody>
      </p:sp>
      <p:sp>
        <p:nvSpPr>
          <p:cNvPr id="16" name="Oval 15"/>
          <p:cNvSpPr/>
          <p:nvPr/>
        </p:nvSpPr>
        <p:spPr>
          <a:xfrm>
            <a:off x="964051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cket_F5F5F6.png"/>
          <p:cNvPicPr>
            <a:picLocks noChangeAspect="1"/>
          </p:cNvPicPr>
          <p:nvPr/>
        </p:nvPicPr>
        <p:blipFill>
          <a:blip r:embed="rId5"/>
          <a:stretch>
            <a:fillRect/>
          </a:stretch>
        </p:blipFill>
        <p:spPr>
          <a:xfrm>
            <a:off x="10116007" y="2926080"/>
            <a:ext cx="731520" cy="731520"/>
          </a:xfrm>
          <a:prstGeom prst="rect">
            <a:avLst/>
          </a:prstGeom>
        </p:spPr>
      </p:pic>
      <p:sp>
        <p:nvSpPr>
          <p:cNvPr id="18" name="TextBox 17"/>
          <p:cNvSpPr txBox="1"/>
          <p:nvPr/>
        </p:nvSpPr>
        <p:spPr>
          <a:xfrm>
            <a:off x="941191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Auto</a:t>
            </a:r>
          </a:p>
        </p:txBody>
      </p:sp>
      <p:sp>
        <p:nvSpPr>
          <p:cNvPr id="19" name="TextBox 18"/>
          <p:cNvSpPr txBox="1"/>
          <p:nvPr/>
        </p:nvSpPr>
        <p:spPr>
          <a:xfrm>
            <a:off x="941191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acts alone, guarded</a:t>
            </a:r>
          </a:p>
        </p:txBody>
      </p:sp>
      <p:sp>
        <p:nvSpPr>
          <p:cNvPr id="20" name="TextBox 19"/>
          <p:cNvSpPr txBox="1"/>
          <p:nvPr/>
        </p:nvSpPr>
        <p:spPr>
          <a:xfrm>
            <a:off x="2760421"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1" name="TextBox 20"/>
          <p:cNvSpPr txBox="1"/>
          <p:nvPr/>
        </p:nvSpPr>
        <p:spPr>
          <a:xfrm>
            <a:off x="568436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2" name="TextBox 21"/>
          <p:cNvSpPr txBox="1"/>
          <p:nvPr/>
        </p:nvSpPr>
        <p:spPr>
          <a:xfrm>
            <a:off x="8608314"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NEW IN 2026</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Auto mode: guarded autonomy</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Two protection layers plus hard guards.</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ye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Layer 1: inputs</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An injection probe screens what enters the session.</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cale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Layer 2: outputs</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 transcript classifier reviews what Claude did.</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ock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Hard guards</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Asks before rm -rf on unresolved variables; blocks transcript tampering.</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Auto mode is powerful, not unattended - supervise it, and verify guard details at delivery.</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BLAST RADIUS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Auto mode: shrink the blast radius</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_2A2A30.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Contain the workspace</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Sandbox, container, or throwaway clone - not your only checkout.</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warn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Starve it of secrets</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No production credentials inside an Auto session.</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x_E26B6B.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Write the deny list first</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With nobody watching, deny rules and guards are the only 'no'.</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cale_2A2A30.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Size the damage</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Assume every allowed action runs - grant accordingly.</a:t>
            </a:r>
          </a:p>
        </p:txBody>
      </p:sp>
      <p:sp>
        <p:nvSpPr>
          <p:cNvPr id="24" name="Rounded Rectangle 23"/>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warn_E0A93A.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Sandboxing options vary by platform and policy - verify available isolation at delivery.</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RULES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Rules: deny, ask, allow</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x_E26B6B.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Deny - checked first</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 matching deny always wins. Bash(rm -rf *), Read(.env).</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warn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Ask - the default</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Anything unmatched prompts you for a decision.</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Allow - pre-approved</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Bash(npm test), Bash(git *) - trusted and frictionless.</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ock_2A2A30.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Where they live</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settings.json arrays; managed settings lock org policy.</a:t>
            </a:r>
          </a:p>
        </p:txBody>
      </p:sp>
      <p:sp>
        <p:nvSpPr>
          <p:cNvPr id="24" name="Rounded Rectangle 23"/>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nfo_4C8DF0.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Evaluation order is deny, then ask, then allow - a matching deny beats an explicit allow.</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PRINCIPLE</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Principle 4: Default to safe</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The posture that keeps permissions enabled.</a:t>
            </a:r>
          </a:p>
        </p:txBody>
      </p:sp>
      <p:sp>
        <p:nvSpPr>
          <p:cNvPr id="5" name="Rounded Rectangle 4"/>
          <p:cNvSpPr/>
          <p:nvPr/>
        </p:nvSpPr>
        <p:spPr>
          <a:xfrm>
            <a:off x="640080"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ck_2A2A30.png"/>
          <p:cNvPicPr>
            <a:picLocks noChangeAspect="1"/>
          </p:cNvPicPr>
          <p:nvPr/>
        </p:nvPicPr>
        <p:blipFill>
          <a:blip r:embed="rId2"/>
          <a:stretch>
            <a:fillRect/>
          </a:stretch>
        </p:blipFill>
        <p:spPr>
          <a:xfrm>
            <a:off x="1005840" y="3076956"/>
            <a:ext cx="219456" cy="219456"/>
          </a:xfrm>
          <a:prstGeom prst="rect">
            <a:avLst/>
          </a:prstGeom>
        </p:spPr>
      </p:pic>
      <p:sp>
        <p:nvSpPr>
          <p:cNvPr id="8" name="TextBox 7"/>
          <p:cNvSpPr txBox="1"/>
          <p:nvPr/>
        </p:nvSpPr>
        <p:spPr>
          <a:xfrm>
            <a:off x="877824"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Asks first</a:t>
            </a:r>
          </a:p>
        </p:txBody>
      </p:sp>
      <p:sp>
        <p:nvSpPr>
          <p:cNvPr id="9" name="TextBox 8"/>
          <p:cNvSpPr txBox="1"/>
          <p:nvPr/>
        </p:nvSpPr>
        <p:spPr>
          <a:xfrm>
            <a:off x="877824"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When uncertain, Claude Code prompts. Safety over speed.</a:t>
            </a:r>
          </a:p>
        </p:txBody>
      </p:sp>
      <p:sp>
        <p:nvSpPr>
          <p:cNvPr id="10" name="Rounded Rectangle 9"/>
          <p:cNvSpPr/>
          <p:nvPr/>
        </p:nvSpPr>
        <p:spPr>
          <a:xfrm>
            <a:off x="4367784"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2A2A30.png"/>
          <p:cNvPicPr>
            <a:picLocks noChangeAspect="1"/>
          </p:cNvPicPr>
          <p:nvPr/>
        </p:nvPicPr>
        <p:blipFill>
          <a:blip r:embed="rId3"/>
          <a:stretch>
            <a:fillRect/>
          </a:stretch>
        </p:blipFill>
        <p:spPr>
          <a:xfrm>
            <a:off x="4733544" y="3076956"/>
            <a:ext cx="219456" cy="219456"/>
          </a:xfrm>
          <a:prstGeom prst="rect">
            <a:avLst/>
          </a:prstGeom>
        </p:spPr>
      </p:pic>
      <p:sp>
        <p:nvSpPr>
          <p:cNvPr id="13" name="TextBox 12"/>
          <p:cNvSpPr txBox="1"/>
          <p:nvPr/>
        </p:nvSpPr>
        <p:spPr>
          <a:xfrm>
            <a:off x="4605528"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Prompts are a feature</a:t>
            </a:r>
          </a:p>
        </p:txBody>
      </p:sp>
      <p:sp>
        <p:nvSpPr>
          <p:cNvPr id="14" name="TextBox 13"/>
          <p:cNvSpPr txBox="1"/>
          <p:nvPr/>
        </p:nvSpPr>
        <p:spPr>
          <a:xfrm>
            <a:off x="4605528"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Not friction - your review point.</a:t>
            </a:r>
          </a:p>
        </p:txBody>
      </p:sp>
      <p:sp>
        <p:nvSpPr>
          <p:cNvPr id="15" name="Rounded Rectangle 14"/>
          <p:cNvSpPr/>
          <p:nvPr/>
        </p:nvSpPr>
        <p:spPr>
          <a:xfrm>
            <a:off x="8095488"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cale_2A2A30.png"/>
          <p:cNvPicPr>
            <a:picLocks noChangeAspect="1"/>
          </p:cNvPicPr>
          <p:nvPr/>
        </p:nvPicPr>
        <p:blipFill>
          <a:blip r:embed="rId4"/>
          <a:stretch>
            <a:fillRect/>
          </a:stretch>
        </p:blipFill>
        <p:spPr>
          <a:xfrm>
            <a:off x="8461248" y="3076956"/>
            <a:ext cx="219456" cy="219456"/>
          </a:xfrm>
          <a:prstGeom prst="rect">
            <a:avLst/>
          </a:prstGeom>
        </p:spPr>
      </p:pic>
      <p:sp>
        <p:nvSpPr>
          <p:cNvPr id="18" name="TextBox 17"/>
          <p:cNvSpPr txBox="1"/>
          <p:nvPr/>
        </p:nvSpPr>
        <p:spPr>
          <a:xfrm>
            <a:off x="8333232"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Trust is earned</a:t>
            </a:r>
          </a:p>
        </p:txBody>
      </p:sp>
      <p:sp>
        <p:nvSpPr>
          <p:cNvPr id="19" name="TextBox 18"/>
          <p:cNvSpPr txBox="1"/>
          <p:nvPr/>
        </p:nvSpPr>
        <p:spPr>
          <a:xfrm>
            <a:off x="8333232"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Start restrictive; loosen rule by rule.</a:t>
            </a:r>
          </a:p>
        </p:txBody>
      </p:sp>
      <p:sp>
        <p:nvSpPr>
          <p:cNvPr id="20" name="Rectangle 19"/>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2" name="TextBox 21"/>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COST</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Know which meter you're on</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USAGE PATH</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CONTROL</a:t>
            </a:r>
          </a:p>
        </p:txBody>
      </p:sp>
      <p:sp>
        <p:nvSpPr>
          <p:cNvPr id="7" name="Rectangle 6"/>
          <p:cNvSpPr/>
          <p:nvPr/>
        </p:nvSpPr>
        <p:spPr>
          <a:xfrm>
            <a:off x="640080" y="242316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Subscription seat</a:t>
            </a:r>
          </a:p>
        </p:txBody>
      </p:sp>
      <p:sp>
        <p:nvSpPr>
          <p:cNvPr id="10" name="TextBox 9"/>
          <p:cNvSpPr txBox="1"/>
          <p:nvPr/>
        </p:nvSpPr>
        <p:spPr>
          <a:xfrm>
            <a:off x="3383280" y="242316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Rolling and weekly allowance shared across Claude surfaces; inspect /usage</a:t>
            </a:r>
          </a:p>
        </p:txBody>
      </p:sp>
      <p:sp>
        <p:nvSpPr>
          <p:cNvPr id="11" name="Rectangle 10"/>
          <p:cNvSpPr/>
          <p:nvPr/>
        </p:nvSpPr>
        <p:spPr>
          <a:xfrm>
            <a:off x="640080" y="338327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38327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8327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API or cloud provider</a:t>
            </a:r>
          </a:p>
        </p:txBody>
      </p:sp>
      <p:sp>
        <p:nvSpPr>
          <p:cNvPr id="14" name="TextBox 13"/>
          <p:cNvSpPr txBox="1"/>
          <p:nvPr/>
        </p:nvSpPr>
        <p:spPr>
          <a:xfrm>
            <a:off x="3383280" y="338327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Pay-per-token billing; use provider budgets and telemetry</a:t>
            </a:r>
          </a:p>
        </p:txBody>
      </p:sp>
      <p:sp>
        <p:nvSpPr>
          <p:cNvPr id="15" name="Rectangle 14"/>
          <p:cNvSpPr/>
          <p:nvPr/>
        </p:nvSpPr>
        <p:spPr>
          <a:xfrm>
            <a:off x="640080" y="434340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34340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4340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Headless / CI</a:t>
            </a:r>
          </a:p>
        </p:txBody>
      </p:sp>
      <p:sp>
        <p:nvSpPr>
          <p:cNvPr id="18" name="TextBox 17"/>
          <p:cNvSpPr txBox="1"/>
          <p:nvPr/>
        </p:nvSpPr>
        <p:spPr>
          <a:xfrm>
            <a:off x="3383280" y="434340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Set --max-turns and --allowedTools; monitor each automation path</a:t>
            </a:r>
          </a:p>
        </p:txBody>
      </p:sp>
      <p:sp>
        <p:nvSpPr>
          <p:cNvPr id="19" name="Rectangle 18"/>
          <p:cNvSpPr/>
          <p:nvPr/>
        </p:nvSpPr>
        <p:spPr>
          <a:xfrm>
            <a:off x="640080" y="530351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530351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30351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Agent teams</a:t>
            </a:r>
          </a:p>
        </p:txBody>
      </p:sp>
      <p:sp>
        <p:nvSpPr>
          <p:cNvPr id="22" name="TextBox 21"/>
          <p:cNvSpPr txBox="1"/>
          <p:nvPr/>
        </p:nvSpPr>
        <p:spPr>
          <a:xfrm>
            <a:off x="3383280" y="530351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Each teammate has its own context, so usage scales with active teammates</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COST</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Five habits that burn budget</a:t>
            </a:r>
          </a:p>
        </p:txBody>
      </p:sp>
      <p:sp>
        <p:nvSpPr>
          <p:cNvPr id="4" name="Rounded Rectangle 3"/>
          <p:cNvSpPr/>
          <p:nvPr/>
        </p:nvSpPr>
        <p:spPr>
          <a:xfrm>
            <a:off x="640080" y="1828800"/>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86171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arn_2A2A30.png"/>
          <p:cNvPicPr>
            <a:picLocks noChangeAspect="1"/>
          </p:cNvPicPr>
          <p:nvPr/>
        </p:nvPicPr>
        <p:blipFill>
          <a:blip r:embed="rId2"/>
          <a:stretch>
            <a:fillRect/>
          </a:stretch>
        </p:blipFill>
        <p:spPr>
          <a:xfrm>
            <a:off x="1014984" y="1998878"/>
            <a:ext cx="292608" cy="292608"/>
          </a:xfrm>
          <a:prstGeom prst="rect">
            <a:avLst/>
          </a:prstGeom>
        </p:spPr>
      </p:pic>
      <p:sp>
        <p:nvSpPr>
          <p:cNvPr id="7" name="TextBox 6"/>
          <p:cNvSpPr txBox="1"/>
          <p:nvPr/>
        </p:nvSpPr>
        <p:spPr>
          <a:xfrm>
            <a:off x="1591056" y="1828800"/>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Spraying context</a:t>
            </a:r>
          </a:p>
        </p:txBody>
      </p:sp>
      <p:sp>
        <p:nvSpPr>
          <p:cNvPr id="8" name="TextBox 7"/>
          <p:cNvSpPr txBox="1"/>
          <p:nvPr/>
        </p:nvSpPr>
        <p:spPr>
          <a:xfrm>
            <a:off x="4434840" y="1828800"/>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Pasting whole files instead of @-mentioning the two that matter - every token you send is spend.</a:t>
            </a:r>
          </a:p>
        </p:txBody>
      </p:sp>
      <p:sp>
        <p:nvSpPr>
          <p:cNvPr id="9" name="Rounded Rectangle 8"/>
          <p:cNvSpPr/>
          <p:nvPr/>
        </p:nvSpPr>
        <p:spPr>
          <a:xfrm>
            <a:off x="640080" y="2607868"/>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640787"/>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warn_2A2A30.png"/>
          <p:cNvPicPr>
            <a:picLocks noChangeAspect="1"/>
          </p:cNvPicPr>
          <p:nvPr/>
        </p:nvPicPr>
        <p:blipFill>
          <a:blip r:embed="rId2"/>
          <a:stretch>
            <a:fillRect/>
          </a:stretch>
        </p:blipFill>
        <p:spPr>
          <a:xfrm>
            <a:off x="1014984" y="2777947"/>
            <a:ext cx="292608" cy="292608"/>
          </a:xfrm>
          <a:prstGeom prst="rect">
            <a:avLst/>
          </a:prstGeom>
        </p:spPr>
      </p:pic>
      <p:sp>
        <p:nvSpPr>
          <p:cNvPr id="12" name="TextBox 11"/>
          <p:cNvSpPr txBox="1"/>
          <p:nvPr/>
        </p:nvSpPr>
        <p:spPr>
          <a:xfrm>
            <a:off x="1591056" y="2607868"/>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The immortal session</a:t>
            </a:r>
          </a:p>
        </p:txBody>
      </p:sp>
      <p:sp>
        <p:nvSpPr>
          <p:cNvPr id="13" name="TextBox 12"/>
          <p:cNvSpPr txBox="1"/>
          <p:nvPr/>
        </p:nvSpPr>
        <p:spPr>
          <a:xfrm>
            <a:off x="4434840" y="2607868"/>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One conversation all day: repeated compaction, degraded answers, retries - end sessions deliberately.</a:t>
            </a:r>
          </a:p>
        </p:txBody>
      </p:sp>
      <p:sp>
        <p:nvSpPr>
          <p:cNvPr id="14" name="Rounded Rectangle 13"/>
          <p:cNvSpPr/>
          <p:nvPr/>
        </p:nvSpPr>
        <p:spPr>
          <a:xfrm>
            <a:off x="640080" y="3386937"/>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41985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warn_2A2A30.png"/>
          <p:cNvPicPr>
            <a:picLocks noChangeAspect="1"/>
          </p:cNvPicPr>
          <p:nvPr/>
        </p:nvPicPr>
        <p:blipFill>
          <a:blip r:embed="rId2"/>
          <a:stretch>
            <a:fillRect/>
          </a:stretch>
        </p:blipFill>
        <p:spPr>
          <a:xfrm>
            <a:off x="1014984" y="3557015"/>
            <a:ext cx="292608" cy="292608"/>
          </a:xfrm>
          <a:prstGeom prst="rect">
            <a:avLst/>
          </a:prstGeom>
        </p:spPr>
      </p:pic>
      <p:sp>
        <p:nvSpPr>
          <p:cNvPr id="17" name="TextBox 16"/>
          <p:cNvSpPr txBox="1"/>
          <p:nvPr/>
        </p:nvSpPr>
        <p:spPr>
          <a:xfrm>
            <a:off x="1591056" y="3386937"/>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Premium model, routine work</a:t>
            </a:r>
          </a:p>
        </p:txBody>
      </p:sp>
      <p:sp>
        <p:nvSpPr>
          <p:cNvPr id="18" name="TextBox 17"/>
          <p:cNvSpPr txBox="1"/>
          <p:nvPr/>
        </p:nvSpPr>
        <p:spPr>
          <a:xfrm>
            <a:off x="4434840" y="3386937"/>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Running the top-tier model for renames and boilerplate a cheaper model does fine.</a:t>
            </a:r>
          </a:p>
        </p:txBody>
      </p:sp>
      <p:sp>
        <p:nvSpPr>
          <p:cNvPr id="19" name="Rounded Rectangle 18"/>
          <p:cNvSpPr/>
          <p:nvPr/>
        </p:nvSpPr>
        <p:spPr>
          <a:xfrm>
            <a:off x="640080" y="4166006"/>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19892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2A2A30.png"/>
          <p:cNvPicPr>
            <a:picLocks noChangeAspect="1"/>
          </p:cNvPicPr>
          <p:nvPr/>
        </p:nvPicPr>
        <p:blipFill>
          <a:blip r:embed="rId2"/>
          <a:stretch>
            <a:fillRect/>
          </a:stretch>
        </p:blipFill>
        <p:spPr>
          <a:xfrm>
            <a:off x="1014984" y="4336084"/>
            <a:ext cx="292608" cy="292608"/>
          </a:xfrm>
          <a:prstGeom prst="rect">
            <a:avLst/>
          </a:prstGeom>
        </p:spPr>
      </p:pic>
      <p:sp>
        <p:nvSpPr>
          <p:cNvPr id="22" name="TextBox 21"/>
          <p:cNvSpPr txBox="1"/>
          <p:nvPr/>
        </p:nvSpPr>
        <p:spPr>
          <a:xfrm>
            <a:off x="1591056" y="4166006"/>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Re-explaining the project</a:t>
            </a:r>
          </a:p>
        </p:txBody>
      </p:sp>
      <p:sp>
        <p:nvSpPr>
          <p:cNvPr id="23" name="TextBox 22"/>
          <p:cNvSpPr txBox="1"/>
          <p:nvPr/>
        </p:nvSpPr>
        <p:spPr>
          <a:xfrm>
            <a:off x="4434840" y="4166006"/>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Telling Claude your conventions every session instead of writing them once in CLAUDE.md.</a:t>
            </a:r>
          </a:p>
        </p:txBody>
      </p:sp>
      <p:sp>
        <p:nvSpPr>
          <p:cNvPr id="24" name="Rounded Rectangle 23"/>
          <p:cNvSpPr/>
          <p:nvPr/>
        </p:nvSpPr>
        <p:spPr>
          <a:xfrm>
            <a:off x="640080" y="4945075"/>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497799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warn_E26B6B.png"/>
          <p:cNvPicPr>
            <a:picLocks noChangeAspect="1"/>
          </p:cNvPicPr>
          <p:nvPr/>
        </p:nvPicPr>
        <p:blipFill>
          <a:blip r:embed="rId3"/>
          <a:stretch>
            <a:fillRect/>
          </a:stretch>
        </p:blipFill>
        <p:spPr>
          <a:xfrm>
            <a:off x="1014984" y="5115153"/>
            <a:ext cx="292608" cy="292608"/>
          </a:xfrm>
          <a:prstGeom prst="rect">
            <a:avLst/>
          </a:prstGeom>
        </p:spPr>
      </p:pic>
      <p:sp>
        <p:nvSpPr>
          <p:cNvPr id="27" name="TextBox 26"/>
          <p:cNvSpPr txBox="1"/>
          <p:nvPr/>
        </p:nvSpPr>
        <p:spPr>
          <a:xfrm>
            <a:off x="1591056" y="4945075"/>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No verification step</a:t>
            </a:r>
          </a:p>
        </p:txBody>
      </p:sp>
      <p:sp>
        <p:nvSpPr>
          <p:cNvPr id="28" name="TextBox 27"/>
          <p:cNvSpPr txBox="1"/>
          <p:nvPr/>
        </p:nvSpPr>
        <p:spPr>
          <a:xfrm>
            <a:off x="4434840" y="4945075"/>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Skipping the check, shipping a wrong answer, and paying for the whole loop twice.</a:t>
            </a:r>
          </a:p>
        </p:txBody>
      </p:sp>
      <p:sp>
        <p:nvSpPr>
          <p:cNvPr id="29" name="Rounded Rectangle 28"/>
          <p:cNvSpPr/>
          <p:nvPr/>
        </p:nvSpPr>
        <p:spPr>
          <a:xfrm>
            <a:off x="640080" y="5760720"/>
            <a:ext cx="10908792" cy="658368"/>
          </a:xfrm>
          <a:prstGeom prst="roundRect">
            <a:avLst>
              <a:gd name="adj" fmla="val 16000"/>
            </a:avLst>
          </a:prstGeom>
          <a:solidFill>
            <a:srgbClr val="173527"/>
          </a:solidFill>
          <a:ln w="9525">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heck_46B17A.png"/>
          <p:cNvPicPr>
            <a:picLocks noChangeAspect="1"/>
          </p:cNvPicPr>
          <p:nvPr/>
        </p:nvPicPr>
        <p:blipFill>
          <a:blip r:embed="rId4"/>
          <a:stretch>
            <a:fillRect/>
          </a:stretch>
        </p:blipFill>
        <p:spPr>
          <a:xfrm>
            <a:off x="877824" y="5907024"/>
            <a:ext cx="365760" cy="365760"/>
          </a:xfrm>
          <a:prstGeom prst="rect">
            <a:avLst/>
          </a:prstGeom>
        </p:spPr>
      </p:pic>
      <p:sp>
        <p:nvSpPr>
          <p:cNvPr id="31" name="TextBox 30"/>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BFE6D2"/>
                </a:solidFill>
                <a:latin typeface="Instrument Sans"/>
              </a:rPr>
              <a:t>Every habit on this slide is fixed by something you learned today - the course pays for itself here.</a:t>
            </a:r>
          </a:p>
        </p:txBody>
      </p:sp>
      <p:sp>
        <p:nvSpPr>
          <p:cNvPr id="32" name="Rectangle 3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4" name="TextBox 3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GIT</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Git to PR, all from chat</a:t>
            </a:r>
          </a:p>
        </p:txBody>
      </p:sp>
      <p:sp>
        <p:nvSpPr>
          <p:cNvPr id="4" name="Rounded Rectangle 3"/>
          <p:cNvSpPr/>
          <p:nvPr/>
        </p:nvSpPr>
        <p:spPr>
          <a:xfrm>
            <a:off x="640080" y="1828800"/>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3487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ye_2A2A30.png"/>
          <p:cNvPicPr>
            <a:picLocks noChangeAspect="1"/>
          </p:cNvPicPr>
          <p:nvPr/>
        </p:nvPicPr>
        <p:blipFill>
          <a:blip r:embed="rId2"/>
          <a:stretch>
            <a:fillRect/>
          </a:stretch>
        </p:blipFill>
        <p:spPr>
          <a:xfrm>
            <a:off x="1014984" y="2072030"/>
            <a:ext cx="292608" cy="292608"/>
          </a:xfrm>
          <a:prstGeom prst="rect">
            <a:avLst/>
          </a:prstGeom>
        </p:spPr>
      </p:pic>
      <p:sp>
        <p:nvSpPr>
          <p:cNvPr id="7" name="TextBox 6"/>
          <p:cNvSpPr txBox="1"/>
          <p:nvPr/>
        </p:nvSpPr>
        <p:spPr>
          <a:xfrm>
            <a:off x="1591056" y="1828800"/>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See changes</a:t>
            </a:r>
          </a:p>
        </p:txBody>
      </p:sp>
      <p:sp>
        <p:nvSpPr>
          <p:cNvPr id="8" name="TextBox 7"/>
          <p:cNvSpPr txBox="1"/>
          <p:nvPr/>
        </p:nvSpPr>
        <p:spPr>
          <a:xfrm>
            <a:off x="4434840" y="1828800"/>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'What have I modified?' - status and diff in plain English.</a:t>
            </a:r>
          </a:p>
        </p:txBody>
      </p:sp>
      <p:sp>
        <p:nvSpPr>
          <p:cNvPr id="9" name="Rounded Rectangle 8"/>
          <p:cNvSpPr/>
          <p:nvPr/>
        </p:nvSpPr>
        <p:spPr>
          <a:xfrm>
            <a:off x="640080" y="2754172"/>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86024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en_2A2A30.png"/>
          <p:cNvPicPr>
            <a:picLocks noChangeAspect="1"/>
          </p:cNvPicPr>
          <p:nvPr/>
        </p:nvPicPr>
        <p:blipFill>
          <a:blip r:embed="rId3"/>
          <a:stretch>
            <a:fillRect/>
          </a:stretch>
        </p:blipFill>
        <p:spPr>
          <a:xfrm>
            <a:off x="1014984" y="2997403"/>
            <a:ext cx="292608" cy="292608"/>
          </a:xfrm>
          <a:prstGeom prst="rect">
            <a:avLst/>
          </a:prstGeom>
        </p:spPr>
      </p:pic>
      <p:sp>
        <p:nvSpPr>
          <p:cNvPr id="12" name="TextBox 11"/>
          <p:cNvSpPr txBox="1"/>
          <p:nvPr/>
        </p:nvSpPr>
        <p:spPr>
          <a:xfrm>
            <a:off x="1591056" y="2754172"/>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Commit</a:t>
            </a:r>
          </a:p>
        </p:txBody>
      </p:sp>
      <p:sp>
        <p:nvSpPr>
          <p:cNvPr id="13" name="TextBox 12"/>
          <p:cNvSpPr txBox="1"/>
          <p:nvPr/>
        </p:nvSpPr>
        <p:spPr>
          <a:xfrm>
            <a:off x="4434840" y="2754172"/>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Staged with a generated, descriptive message.</a:t>
            </a:r>
          </a:p>
        </p:txBody>
      </p:sp>
      <p:sp>
        <p:nvSpPr>
          <p:cNvPr id="14" name="Rounded Rectangle 13"/>
          <p:cNvSpPr/>
          <p:nvPr/>
        </p:nvSpPr>
        <p:spPr>
          <a:xfrm>
            <a:off x="640080" y="3679545"/>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785615"/>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hare_2A2A30.png"/>
          <p:cNvPicPr>
            <a:picLocks noChangeAspect="1"/>
          </p:cNvPicPr>
          <p:nvPr/>
        </p:nvPicPr>
        <p:blipFill>
          <a:blip r:embed="rId4"/>
          <a:stretch>
            <a:fillRect/>
          </a:stretch>
        </p:blipFill>
        <p:spPr>
          <a:xfrm>
            <a:off x="1014984" y="3922776"/>
            <a:ext cx="292608" cy="292608"/>
          </a:xfrm>
          <a:prstGeom prst="rect">
            <a:avLst/>
          </a:prstGeom>
        </p:spPr>
      </p:pic>
      <p:sp>
        <p:nvSpPr>
          <p:cNvPr id="17" name="TextBox 16"/>
          <p:cNvSpPr txBox="1"/>
          <p:nvPr/>
        </p:nvSpPr>
        <p:spPr>
          <a:xfrm>
            <a:off x="1591056" y="3679545"/>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Branch</a:t>
            </a:r>
          </a:p>
        </p:txBody>
      </p:sp>
      <p:sp>
        <p:nvSpPr>
          <p:cNvPr id="18" name="TextBox 17"/>
          <p:cNvSpPr txBox="1"/>
          <p:nvPr/>
        </p:nvSpPr>
        <p:spPr>
          <a:xfrm>
            <a:off x="4434840" y="3679545"/>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Create, switch, merge - conflicts included.</a:t>
            </a:r>
          </a:p>
        </p:txBody>
      </p:sp>
      <p:sp>
        <p:nvSpPr>
          <p:cNvPr id="19" name="Rounded Rectangle 18"/>
          <p:cNvSpPr/>
          <p:nvPr/>
        </p:nvSpPr>
        <p:spPr>
          <a:xfrm>
            <a:off x="640080" y="4604918"/>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71098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rocket_2A2A30.png"/>
          <p:cNvPicPr>
            <a:picLocks noChangeAspect="1"/>
          </p:cNvPicPr>
          <p:nvPr/>
        </p:nvPicPr>
        <p:blipFill>
          <a:blip r:embed="rId5"/>
          <a:stretch>
            <a:fillRect/>
          </a:stretch>
        </p:blipFill>
        <p:spPr>
          <a:xfrm>
            <a:off x="1014984" y="4848148"/>
            <a:ext cx="292608" cy="292608"/>
          </a:xfrm>
          <a:prstGeom prst="rect">
            <a:avLst/>
          </a:prstGeom>
        </p:spPr>
      </p:pic>
      <p:sp>
        <p:nvSpPr>
          <p:cNvPr id="22" name="TextBox 21"/>
          <p:cNvSpPr txBox="1"/>
          <p:nvPr/>
        </p:nvSpPr>
        <p:spPr>
          <a:xfrm>
            <a:off x="1591056" y="4604918"/>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Pull request</a:t>
            </a:r>
          </a:p>
        </p:txBody>
      </p:sp>
      <p:sp>
        <p:nvSpPr>
          <p:cNvPr id="23" name="TextBox 22"/>
          <p:cNvSpPr txBox="1"/>
          <p:nvPr/>
        </p:nvSpPr>
        <p:spPr>
          <a:xfrm>
            <a:off x="4434840" y="4604918"/>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'Create a PR' - description written from your commits.</a:t>
            </a:r>
          </a:p>
        </p:txBody>
      </p:sp>
      <p:sp>
        <p:nvSpPr>
          <p:cNvPr id="24" name="Rounded Rectangle 23"/>
          <p:cNvSpPr/>
          <p:nvPr/>
        </p:nvSpPr>
        <p:spPr>
          <a:xfrm>
            <a:off x="640080" y="5530291"/>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5636361"/>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heck_2A2A30.png"/>
          <p:cNvPicPr>
            <a:picLocks noChangeAspect="1"/>
          </p:cNvPicPr>
          <p:nvPr/>
        </p:nvPicPr>
        <p:blipFill>
          <a:blip r:embed="rId6"/>
          <a:stretch>
            <a:fillRect/>
          </a:stretch>
        </p:blipFill>
        <p:spPr>
          <a:xfrm>
            <a:off x="1014984" y="5773521"/>
            <a:ext cx="292608" cy="292608"/>
          </a:xfrm>
          <a:prstGeom prst="rect">
            <a:avLst/>
          </a:prstGeom>
        </p:spPr>
      </p:pic>
      <p:sp>
        <p:nvSpPr>
          <p:cNvPr id="27" name="TextBox 26"/>
          <p:cNvSpPr txBox="1"/>
          <p:nvPr/>
        </p:nvSpPr>
        <p:spPr>
          <a:xfrm>
            <a:off x="1591056" y="5530291"/>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CI</a:t>
            </a:r>
          </a:p>
        </p:txBody>
      </p:sp>
      <p:sp>
        <p:nvSpPr>
          <p:cNvPr id="28" name="TextBox 27"/>
          <p:cNvSpPr txBox="1"/>
          <p:nvPr/>
        </p:nvSpPr>
        <p:spPr>
          <a:xfrm>
            <a:off x="4434840" y="5530291"/>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Reads failing checks and proposes the fix.</a:t>
            </a:r>
          </a:p>
        </p:txBody>
      </p:sp>
      <p:sp>
        <p:nvSpPr>
          <p:cNvPr id="29" name="Rectangle 2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1" name="TextBox 3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Paste this: ship with receipts</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Agent-assisted review before commit</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Commit message written from the diff</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PR description written from the commits</a:t>
            </a:r>
          </a:p>
        </p:txBody>
      </p:sp>
      <p:sp>
        <p:nvSpPr>
          <p:cNvPr id="12" name="TextBox 11"/>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3" name="Rounded Rectangle 12"/>
          <p:cNvSpPr/>
          <p:nvPr/>
        </p:nvSpPr>
        <p:spPr>
          <a:xfrm>
            <a:off x="7040880" y="2286000"/>
            <a:ext cx="4507992" cy="11750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6" name="TextBox 15"/>
          <p:cNvSpPr txBox="1"/>
          <p:nvPr/>
        </p:nvSpPr>
        <p:spPr>
          <a:xfrm>
            <a:off x="7699248" y="2670048"/>
            <a:ext cx="3593591" cy="736092"/>
          </a:xfrm>
          <a:prstGeom prst="rect">
            <a:avLst/>
          </a:prstGeom>
          <a:noFill/>
        </p:spPr>
        <p:txBody>
          <a:bodyPr wrap="square" anchor="t">
            <a:normAutofit/>
          </a:bodyPr>
          <a:lstStyle/>
          <a:p>
            <a:pPr algn="l">
              <a:lnSpc>
                <a:spcPct val="112000"/>
              </a:lnSpc>
              <a:spcBef>
                <a:spcPts val="0"/>
              </a:spcBef>
              <a:spcAft>
                <a:spcPts val="200"/>
              </a:spcAft>
            </a:pPr>
            <a:r>
              <a:rPr sz="1200" b="0">
                <a:solidFill>
                  <a:srgbClr val="C9C9D2"/>
                </a:solidFill>
                <a:latin typeface="Instrument Sans"/>
              </a:rPr>
              <a:t>Review the staged diff like a skeptical senior engineer: flag risky changes, missed edge cases, and anything unrelated to this task.</a:t>
            </a:r>
          </a:p>
        </p:txBody>
      </p:sp>
      <p:sp>
        <p:nvSpPr>
          <p:cNvPr id="17" name="Rounded Rectangle 16"/>
          <p:cNvSpPr/>
          <p:nvPr/>
        </p:nvSpPr>
        <p:spPr>
          <a:xfrm>
            <a:off x="7040880" y="3607308"/>
            <a:ext cx="4507992" cy="972311"/>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42048" y="3771900"/>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3753611"/>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0" name="TextBox 19"/>
          <p:cNvSpPr txBox="1"/>
          <p:nvPr/>
        </p:nvSpPr>
        <p:spPr>
          <a:xfrm>
            <a:off x="7699248" y="3991356"/>
            <a:ext cx="3593591" cy="533399"/>
          </a:xfrm>
          <a:prstGeom prst="rect">
            <a:avLst/>
          </a:prstGeom>
          <a:noFill/>
        </p:spPr>
        <p:txBody>
          <a:bodyPr wrap="square" anchor="t">
            <a:normAutofit/>
          </a:bodyPr>
          <a:lstStyle/>
          <a:p>
            <a:pPr algn="l">
              <a:lnSpc>
                <a:spcPct val="112000"/>
              </a:lnSpc>
              <a:spcBef>
                <a:spcPts val="0"/>
              </a:spcBef>
              <a:spcAft>
                <a:spcPts val="200"/>
              </a:spcAft>
            </a:pPr>
            <a:r>
              <a:rPr sz="1200" b="0">
                <a:solidFill>
                  <a:srgbClr val="C9C9D2"/>
                </a:solidFill>
                <a:latin typeface="Instrument Sans"/>
              </a:rPr>
              <a:t>Commit with a message that says what changed and why, following our commit format.</a:t>
            </a:r>
          </a:p>
        </p:txBody>
      </p:sp>
      <p:sp>
        <p:nvSpPr>
          <p:cNvPr id="21" name="Rounded Rectangle 20"/>
          <p:cNvSpPr/>
          <p:nvPr/>
        </p:nvSpPr>
        <p:spPr>
          <a:xfrm>
            <a:off x="7040880" y="4725924"/>
            <a:ext cx="4507992" cy="972311"/>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42048" y="4890515"/>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42048" y="4872228"/>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3</a:t>
            </a:r>
          </a:p>
        </p:txBody>
      </p:sp>
      <p:sp>
        <p:nvSpPr>
          <p:cNvPr id="24" name="TextBox 23"/>
          <p:cNvSpPr txBox="1"/>
          <p:nvPr/>
        </p:nvSpPr>
        <p:spPr>
          <a:xfrm>
            <a:off x="7699248" y="5109972"/>
            <a:ext cx="3593591" cy="533399"/>
          </a:xfrm>
          <a:prstGeom prst="rect">
            <a:avLst/>
          </a:prstGeom>
          <a:noFill/>
        </p:spPr>
        <p:txBody>
          <a:bodyPr wrap="square" anchor="t">
            <a:normAutofit/>
          </a:bodyPr>
          <a:lstStyle/>
          <a:p>
            <a:pPr algn="l">
              <a:lnSpc>
                <a:spcPct val="112000"/>
              </a:lnSpc>
              <a:spcBef>
                <a:spcPts val="0"/>
              </a:spcBef>
              <a:spcAft>
                <a:spcPts val="200"/>
              </a:spcAft>
            </a:pPr>
            <a:r>
              <a:rPr sz="1200" b="0">
                <a:solidFill>
                  <a:srgbClr val="C9C9D2"/>
                </a:solidFill>
                <a:latin typeface="Instrument Sans"/>
              </a:rPr>
              <a:t>Open a PR. Build the description from the commits: summary, key changes, and how it was tested.</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ENGINEERING BAR</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No verifier, no agent</a:t>
            </a:r>
          </a:p>
        </p:txBody>
      </p:sp>
      <p:sp>
        <p:nvSpPr>
          <p:cNvPr id="4" name="Rounded Rectangle 3"/>
          <p:cNvSpPr/>
          <p:nvPr/>
        </p:nvSpPr>
        <p:spPr>
          <a:xfrm>
            <a:off x="640080" y="1828800"/>
            <a:ext cx="10908792" cy="139598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224332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st_2A2A30.png"/>
          <p:cNvPicPr>
            <a:picLocks noChangeAspect="1"/>
          </p:cNvPicPr>
          <p:nvPr/>
        </p:nvPicPr>
        <p:blipFill>
          <a:blip r:embed="rId2"/>
          <a:stretch>
            <a:fillRect/>
          </a:stretch>
        </p:blipFill>
        <p:spPr>
          <a:xfrm>
            <a:off x="1014984" y="2380488"/>
            <a:ext cx="292608" cy="292608"/>
          </a:xfrm>
          <a:prstGeom prst="rect">
            <a:avLst/>
          </a:prstGeom>
        </p:spPr>
      </p:pic>
      <p:sp>
        <p:nvSpPr>
          <p:cNvPr id="7" name="TextBox 6"/>
          <p:cNvSpPr txBox="1"/>
          <p:nvPr/>
        </p:nvSpPr>
        <p:spPr>
          <a:xfrm>
            <a:off x="1591056" y="1828800"/>
            <a:ext cx="2743200" cy="139598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Three levels</a:t>
            </a:r>
          </a:p>
        </p:txBody>
      </p:sp>
      <p:sp>
        <p:nvSpPr>
          <p:cNvPr id="8" name="TextBox 7"/>
          <p:cNvSpPr txBox="1"/>
          <p:nvPr/>
        </p:nvSpPr>
        <p:spPr>
          <a:xfrm>
            <a:off x="4434840" y="1828800"/>
            <a:ext cx="6903720" cy="139598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Exit codes and tests; integration checks; production signals.</a:t>
            </a:r>
          </a:p>
        </p:txBody>
      </p:sp>
      <p:sp>
        <p:nvSpPr>
          <p:cNvPr id="9" name="Rounded Rectangle 8"/>
          <p:cNvSpPr/>
          <p:nvPr/>
        </p:nvSpPr>
        <p:spPr>
          <a:xfrm>
            <a:off x="640080" y="3371088"/>
            <a:ext cx="10908792" cy="139598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3785615"/>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arget_2A2A30.png"/>
          <p:cNvPicPr>
            <a:picLocks noChangeAspect="1"/>
          </p:cNvPicPr>
          <p:nvPr/>
        </p:nvPicPr>
        <p:blipFill>
          <a:blip r:embed="rId3"/>
          <a:stretch>
            <a:fillRect/>
          </a:stretch>
        </p:blipFill>
        <p:spPr>
          <a:xfrm>
            <a:off x="1014984" y="3922776"/>
            <a:ext cx="292608" cy="292608"/>
          </a:xfrm>
          <a:prstGeom prst="rect">
            <a:avLst/>
          </a:prstGeom>
        </p:spPr>
      </p:pic>
      <p:sp>
        <p:nvSpPr>
          <p:cNvPr id="12" name="TextBox 11"/>
          <p:cNvSpPr txBox="1"/>
          <p:nvPr/>
        </p:nvSpPr>
        <p:spPr>
          <a:xfrm>
            <a:off x="1591056" y="3371088"/>
            <a:ext cx="2743200" cy="139598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The test</a:t>
            </a:r>
          </a:p>
        </p:txBody>
      </p:sp>
      <p:sp>
        <p:nvSpPr>
          <p:cNvPr id="13" name="TextBox 12"/>
          <p:cNvSpPr txBox="1"/>
          <p:nvPr/>
        </p:nvSpPr>
        <p:spPr>
          <a:xfrm>
            <a:off x="4434840" y="3371088"/>
            <a:ext cx="6903720" cy="139598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Can you say how Claude knows it is done? If not, do not automate it.</a:t>
            </a:r>
          </a:p>
        </p:txBody>
      </p:sp>
      <p:sp>
        <p:nvSpPr>
          <p:cNvPr id="14" name="Rounded Rectangle 13"/>
          <p:cNvSpPr/>
          <p:nvPr/>
        </p:nvSpPr>
        <p:spPr>
          <a:xfrm>
            <a:off x="640080" y="4913376"/>
            <a:ext cx="10908792" cy="139598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532790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en_2A2A30.png"/>
          <p:cNvPicPr>
            <a:picLocks noChangeAspect="1"/>
          </p:cNvPicPr>
          <p:nvPr/>
        </p:nvPicPr>
        <p:blipFill>
          <a:blip r:embed="rId4"/>
          <a:stretch>
            <a:fillRect/>
          </a:stretch>
        </p:blipFill>
        <p:spPr>
          <a:xfrm>
            <a:off x="1014984" y="5465064"/>
            <a:ext cx="292608" cy="292608"/>
          </a:xfrm>
          <a:prstGeom prst="rect">
            <a:avLst/>
          </a:prstGeom>
        </p:spPr>
      </p:pic>
      <p:sp>
        <p:nvSpPr>
          <p:cNvPr id="17" name="TextBox 16"/>
          <p:cNvSpPr txBox="1"/>
          <p:nvPr/>
        </p:nvSpPr>
        <p:spPr>
          <a:xfrm>
            <a:off x="1591056" y="4913376"/>
            <a:ext cx="2743200" cy="139598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Do this</a:t>
            </a:r>
          </a:p>
        </p:txBody>
      </p:sp>
      <p:sp>
        <p:nvSpPr>
          <p:cNvPr id="18" name="TextBox 17"/>
          <p:cNvSpPr txBox="1"/>
          <p:nvPr/>
        </p:nvSpPr>
        <p:spPr>
          <a:xfrm>
            <a:off x="4434840" y="4913376"/>
            <a:ext cx="6903720" cy="139598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Define acceptance criteria before the task, not after.</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LIVE DEMO</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Demo: Auto mode, guarded</a:t>
            </a:r>
          </a:p>
        </p:txBody>
      </p:sp>
      <p:pic>
        <p:nvPicPr>
          <p:cNvPr id="4" name="Picture 3" descr="bg_6.png"/>
          <p:cNvPicPr>
            <a:picLocks noChangeAspect="1"/>
          </p:cNvPicPr>
          <p:nvPr/>
        </p:nvPicPr>
        <p:blipFill>
          <a:blip r:embed="rId2"/>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WHAT WE'LL RUN TOGETHER</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Shift+Tab to Auto on a safe task</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Trip a guardrail - watch it stop and ask</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A deny rule blocks even an allowed command</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HANDS-ON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Lab 1D: Ship It</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The dashboard leaves your machine tonight.</a:t>
            </a:r>
          </a:p>
        </p:txBody>
      </p:sp>
      <p:sp>
        <p:nvSpPr>
          <p:cNvPr id="5" name="Rounded Rectangle 4"/>
          <p:cNvSpPr/>
          <p:nvPr/>
        </p:nvSpPr>
        <p:spPr>
          <a:xfrm>
            <a:off x="640080" y="233172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5146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ocket_2A2A30.png"/>
          <p:cNvPicPr>
            <a:picLocks noChangeAspect="1"/>
          </p:cNvPicPr>
          <p:nvPr/>
        </p:nvPicPr>
        <p:blipFill>
          <a:blip r:embed="rId2"/>
          <a:stretch>
            <a:fillRect/>
          </a:stretch>
        </p:blipFill>
        <p:spPr>
          <a:xfrm>
            <a:off x="1005840" y="2642616"/>
            <a:ext cx="219456" cy="219456"/>
          </a:xfrm>
          <a:prstGeom prst="rect">
            <a:avLst/>
          </a:prstGeom>
        </p:spPr>
      </p:pic>
      <p:sp>
        <p:nvSpPr>
          <p:cNvPr id="8" name="TextBox 7"/>
          <p:cNvSpPr txBox="1"/>
          <p:nvPr/>
        </p:nvSpPr>
        <p:spPr>
          <a:xfrm>
            <a:off x="877824" y="3136391"/>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Deliverable</a:t>
            </a:r>
          </a:p>
        </p:txBody>
      </p:sp>
      <p:sp>
        <p:nvSpPr>
          <p:cNvPr id="9" name="TextBox 8"/>
          <p:cNvSpPr txBox="1"/>
          <p:nvPr/>
        </p:nvSpPr>
        <p:spPr>
          <a:xfrm>
            <a:off x="877824" y="3611879"/>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Dashboard tests green, committed, PR open for review.</a:t>
            </a:r>
          </a:p>
        </p:txBody>
      </p:sp>
      <p:sp>
        <p:nvSpPr>
          <p:cNvPr id="10" name="Rounded Rectangle 9"/>
          <p:cNvSpPr/>
          <p:nvPr/>
        </p:nvSpPr>
        <p:spPr>
          <a:xfrm>
            <a:off x="6231636" y="233172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69379" y="25146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ock_2A2A30.png"/>
          <p:cNvPicPr>
            <a:picLocks noChangeAspect="1"/>
          </p:cNvPicPr>
          <p:nvPr/>
        </p:nvPicPr>
        <p:blipFill>
          <a:blip r:embed="rId3"/>
          <a:stretch>
            <a:fillRect/>
          </a:stretch>
        </p:blipFill>
        <p:spPr>
          <a:xfrm>
            <a:off x="6597395" y="2642616"/>
            <a:ext cx="219456" cy="219456"/>
          </a:xfrm>
          <a:prstGeom prst="rect">
            <a:avLst/>
          </a:prstGeom>
        </p:spPr>
      </p:pic>
      <p:sp>
        <p:nvSpPr>
          <p:cNvPr id="13" name="TextBox 12"/>
          <p:cNvSpPr txBox="1"/>
          <p:nvPr/>
        </p:nvSpPr>
        <p:spPr>
          <a:xfrm>
            <a:off x="6469379" y="3136391"/>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Timebox</a:t>
            </a:r>
          </a:p>
        </p:txBody>
      </p:sp>
      <p:sp>
        <p:nvSpPr>
          <p:cNvPr id="14" name="TextBox 13"/>
          <p:cNvSpPr txBox="1"/>
          <p:nvPr/>
        </p:nvSpPr>
        <p:spPr>
          <a:xfrm>
            <a:off x="6469379" y="3611879"/>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25 minutes. If behind: a reviewed diff and a clean agent-written commit.</a:t>
            </a:r>
          </a:p>
        </p:txBody>
      </p:sp>
      <p:sp>
        <p:nvSpPr>
          <p:cNvPr id="15" name="Rounded Rectangle 14"/>
          <p:cNvSpPr/>
          <p:nvPr/>
        </p:nvSpPr>
        <p:spPr>
          <a:xfrm>
            <a:off x="640080" y="443484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77824" y="461772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ist_2A2A30.png"/>
          <p:cNvPicPr>
            <a:picLocks noChangeAspect="1"/>
          </p:cNvPicPr>
          <p:nvPr/>
        </p:nvPicPr>
        <p:blipFill>
          <a:blip r:embed="rId4"/>
          <a:stretch>
            <a:fillRect/>
          </a:stretch>
        </p:blipFill>
        <p:spPr>
          <a:xfrm>
            <a:off x="1005840" y="4745736"/>
            <a:ext cx="219456" cy="219456"/>
          </a:xfrm>
          <a:prstGeom prst="rect">
            <a:avLst/>
          </a:prstGeom>
        </p:spPr>
      </p:pic>
      <p:sp>
        <p:nvSpPr>
          <p:cNvPr id="18" name="TextBox 17"/>
          <p:cNvSpPr txBox="1"/>
          <p:nvPr/>
        </p:nvSpPr>
        <p:spPr>
          <a:xfrm>
            <a:off x="877824" y="5239512"/>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Success checklist</a:t>
            </a:r>
          </a:p>
        </p:txBody>
      </p:sp>
      <p:sp>
        <p:nvSpPr>
          <p:cNvPr id="19" name="TextBox 18"/>
          <p:cNvSpPr txBox="1"/>
          <p:nvPr/>
        </p:nvSpPr>
        <p:spPr>
          <a:xfrm>
            <a:off x="877824" y="5715000"/>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Permission rule set; diff reviewed; agent-written commit and PR.</a:t>
            </a:r>
          </a:p>
        </p:txBody>
      </p:sp>
      <p:sp>
        <p:nvSpPr>
          <p:cNvPr id="20" name="Rounded Rectangle 19"/>
          <p:cNvSpPr/>
          <p:nvPr/>
        </p:nvSpPr>
        <p:spPr>
          <a:xfrm>
            <a:off x="6231636" y="4434840"/>
            <a:ext cx="5317236" cy="182880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9379" y="461772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at_2A2A30.png"/>
          <p:cNvPicPr>
            <a:picLocks noChangeAspect="1"/>
          </p:cNvPicPr>
          <p:nvPr/>
        </p:nvPicPr>
        <p:blipFill>
          <a:blip r:embed="rId5"/>
          <a:stretch>
            <a:fillRect/>
          </a:stretch>
        </p:blipFill>
        <p:spPr>
          <a:xfrm>
            <a:off x="6597395" y="4745736"/>
            <a:ext cx="219456" cy="219456"/>
          </a:xfrm>
          <a:prstGeom prst="rect">
            <a:avLst/>
          </a:prstGeom>
        </p:spPr>
      </p:pic>
      <p:sp>
        <p:nvSpPr>
          <p:cNvPr id="23" name="TextBox 22"/>
          <p:cNvSpPr txBox="1"/>
          <p:nvPr/>
        </p:nvSpPr>
        <p:spPr>
          <a:xfrm>
            <a:off x="6469379" y="5239512"/>
            <a:ext cx="4841748"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Debrief</a:t>
            </a:r>
          </a:p>
        </p:txBody>
      </p:sp>
      <p:sp>
        <p:nvSpPr>
          <p:cNvPr id="24" name="TextBox 23"/>
          <p:cNvSpPr txBox="1"/>
          <p:nvPr/>
        </p:nvSpPr>
        <p:spPr>
          <a:xfrm>
            <a:off x="6469379" y="5715000"/>
            <a:ext cx="4841748" cy="457200"/>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What did the diff review catch that you would have missed?</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6.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BLOCK 5 - 20 MINUTES</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Wrap-Up</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What you learned, what breaks, and what happens tonight.</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5 - RECAP</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What you learned today</a:t>
            </a:r>
          </a:p>
        </p:txBody>
      </p:sp>
      <p:sp>
        <p:nvSpPr>
          <p:cNvPr id="4" name="Rounded Rectangle 3"/>
          <p:cNvSpPr/>
          <p:nvPr/>
        </p:nvSpPr>
        <p:spPr>
          <a:xfrm>
            <a:off x="640080" y="1828800"/>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85775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ocket_2A2A30.png"/>
          <p:cNvPicPr>
            <a:picLocks noChangeAspect="1"/>
          </p:cNvPicPr>
          <p:nvPr/>
        </p:nvPicPr>
        <p:blipFill>
          <a:blip r:embed="rId2"/>
          <a:stretch>
            <a:fillRect/>
          </a:stretch>
        </p:blipFill>
        <p:spPr>
          <a:xfrm>
            <a:off x="1014984" y="1994916"/>
            <a:ext cx="292608" cy="292608"/>
          </a:xfrm>
          <a:prstGeom prst="rect">
            <a:avLst/>
          </a:prstGeom>
        </p:spPr>
      </p:pic>
      <p:sp>
        <p:nvSpPr>
          <p:cNvPr id="7" name="TextBox 6"/>
          <p:cNvSpPr txBox="1"/>
          <p:nvPr/>
        </p:nvSpPr>
        <p:spPr>
          <a:xfrm>
            <a:off x="1591056" y="1828800"/>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Setup</a:t>
            </a:r>
          </a:p>
        </p:txBody>
      </p:sp>
      <p:sp>
        <p:nvSpPr>
          <p:cNvPr id="8" name="TextBox 7"/>
          <p:cNvSpPr txBox="1"/>
          <p:nvPr/>
        </p:nvSpPr>
        <p:spPr>
          <a:xfrm>
            <a:off x="4434840" y="1828800"/>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Native install, approved identity, live default verified with /model.</a:t>
            </a:r>
          </a:p>
        </p:txBody>
      </p:sp>
      <p:sp>
        <p:nvSpPr>
          <p:cNvPr id="9" name="Rounded Rectangle 8"/>
          <p:cNvSpPr/>
          <p:nvPr/>
        </p:nvSpPr>
        <p:spPr>
          <a:xfrm>
            <a:off x="640080" y="2599944"/>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62890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fresh_2A2A30.png"/>
          <p:cNvPicPr>
            <a:picLocks noChangeAspect="1"/>
          </p:cNvPicPr>
          <p:nvPr/>
        </p:nvPicPr>
        <p:blipFill>
          <a:blip r:embed="rId3"/>
          <a:stretch>
            <a:fillRect/>
          </a:stretch>
        </p:blipFill>
        <p:spPr>
          <a:xfrm>
            <a:off x="1014984" y="2766060"/>
            <a:ext cx="292608" cy="292608"/>
          </a:xfrm>
          <a:prstGeom prst="rect">
            <a:avLst/>
          </a:prstGeom>
        </p:spPr>
      </p:pic>
      <p:sp>
        <p:nvSpPr>
          <p:cNvPr id="12" name="TextBox 11"/>
          <p:cNvSpPr txBox="1"/>
          <p:nvPr/>
        </p:nvSpPr>
        <p:spPr>
          <a:xfrm>
            <a:off x="1591056" y="2599944"/>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The loop</a:t>
            </a:r>
          </a:p>
        </p:txBody>
      </p:sp>
      <p:sp>
        <p:nvSpPr>
          <p:cNvPr id="13" name="TextBox 12"/>
          <p:cNvSpPr txBox="1"/>
          <p:nvPr/>
        </p:nvSpPr>
        <p:spPr>
          <a:xfrm>
            <a:off x="4434840" y="2599944"/>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Five stages Claude runs on its own.</a:t>
            </a:r>
          </a:p>
        </p:txBody>
      </p:sp>
      <p:sp>
        <p:nvSpPr>
          <p:cNvPr id="14" name="Rounded Rectangle 13"/>
          <p:cNvSpPr/>
          <p:nvPr/>
        </p:nvSpPr>
        <p:spPr>
          <a:xfrm>
            <a:off x="640080" y="3371088"/>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40004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oc_2A2A30.png"/>
          <p:cNvPicPr>
            <a:picLocks noChangeAspect="1"/>
          </p:cNvPicPr>
          <p:nvPr/>
        </p:nvPicPr>
        <p:blipFill>
          <a:blip r:embed="rId4"/>
          <a:stretch>
            <a:fillRect/>
          </a:stretch>
        </p:blipFill>
        <p:spPr>
          <a:xfrm>
            <a:off x="1014984" y="3537204"/>
            <a:ext cx="292608" cy="292608"/>
          </a:xfrm>
          <a:prstGeom prst="rect">
            <a:avLst/>
          </a:prstGeom>
        </p:spPr>
      </p:pic>
      <p:sp>
        <p:nvSpPr>
          <p:cNvPr id="17" name="TextBox 16"/>
          <p:cNvSpPr txBox="1"/>
          <p:nvPr/>
        </p:nvSpPr>
        <p:spPr>
          <a:xfrm>
            <a:off x="1591056" y="3371088"/>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Memory</a:t>
            </a:r>
          </a:p>
        </p:txBody>
      </p:sp>
      <p:sp>
        <p:nvSpPr>
          <p:cNvPr id="18" name="TextBox 17"/>
          <p:cNvSpPr txBox="1"/>
          <p:nvPr/>
        </p:nvSpPr>
        <p:spPr>
          <a:xfrm>
            <a:off x="4434840" y="3371088"/>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CLAUDE.md plus auto memory - taught once, kept forever.</a:t>
            </a:r>
          </a:p>
        </p:txBody>
      </p:sp>
      <p:sp>
        <p:nvSpPr>
          <p:cNvPr id="19" name="Rounded Rectangle 18"/>
          <p:cNvSpPr/>
          <p:nvPr/>
        </p:nvSpPr>
        <p:spPr>
          <a:xfrm>
            <a:off x="640080" y="4142232"/>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17118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target_2A2A30.png"/>
          <p:cNvPicPr>
            <a:picLocks noChangeAspect="1"/>
          </p:cNvPicPr>
          <p:nvPr/>
        </p:nvPicPr>
        <p:blipFill>
          <a:blip r:embed="rId5"/>
          <a:stretch>
            <a:fillRect/>
          </a:stretch>
        </p:blipFill>
        <p:spPr>
          <a:xfrm>
            <a:off x="1014984" y="4308348"/>
            <a:ext cx="292608" cy="292608"/>
          </a:xfrm>
          <a:prstGeom prst="rect">
            <a:avLst/>
          </a:prstGeom>
        </p:spPr>
      </p:pic>
      <p:sp>
        <p:nvSpPr>
          <p:cNvPr id="22" name="TextBox 21"/>
          <p:cNvSpPr txBox="1"/>
          <p:nvPr/>
        </p:nvSpPr>
        <p:spPr>
          <a:xfrm>
            <a:off x="1591056" y="4142232"/>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Context</a:t>
            </a:r>
          </a:p>
        </p:txBody>
      </p:sp>
      <p:sp>
        <p:nvSpPr>
          <p:cNvPr id="23" name="TextBox 22"/>
          <p:cNvSpPr txBox="1"/>
          <p:nvPr/>
        </p:nvSpPr>
        <p:spPr>
          <a:xfrm>
            <a:off x="4434840" y="4142232"/>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@-mentions, one task per session, rewind recovery.</a:t>
            </a:r>
          </a:p>
        </p:txBody>
      </p:sp>
      <p:sp>
        <p:nvSpPr>
          <p:cNvPr id="24" name="Rounded Rectangle 23"/>
          <p:cNvSpPr/>
          <p:nvPr/>
        </p:nvSpPr>
        <p:spPr>
          <a:xfrm>
            <a:off x="640080" y="4913376"/>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494233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ock_2A2A30.png"/>
          <p:cNvPicPr>
            <a:picLocks noChangeAspect="1"/>
          </p:cNvPicPr>
          <p:nvPr/>
        </p:nvPicPr>
        <p:blipFill>
          <a:blip r:embed="rId6"/>
          <a:stretch>
            <a:fillRect/>
          </a:stretch>
        </p:blipFill>
        <p:spPr>
          <a:xfrm>
            <a:off x="1014984" y="5079492"/>
            <a:ext cx="292608" cy="292608"/>
          </a:xfrm>
          <a:prstGeom prst="rect">
            <a:avLst/>
          </a:prstGeom>
        </p:spPr>
      </p:pic>
      <p:sp>
        <p:nvSpPr>
          <p:cNvPr id="27" name="TextBox 26"/>
          <p:cNvSpPr txBox="1"/>
          <p:nvPr/>
        </p:nvSpPr>
        <p:spPr>
          <a:xfrm>
            <a:off x="1591056" y="4913376"/>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Guardrails</a:t>
            </a:r>
          </a:p>
        </p:txBody>
      </p:sp>
      <p:sp>
        <p:nvSpPr>
          <p:cNvPr id="28" name="TextBox 27"/>
          <p:cNvSpPr txBox="1"/>
          <p:nvPr/>
        </p:nvSpPr>
        <p:spPr>
          <a:xfrm>
            <a:off x="4434840" y="4913376"/>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Four modes, deny-ask-allow, priced sessions.</a:t>
            </a:r>
          </a:p>
        </p:txBody>
      </p:sp>
      <p:sp>
        <p:nvSpPr>
          <p:cNvPr id="29" name="Rounded Rectangle 28"/>
          <p:cNvSpPr/>
          <p:nvPr/>
        </p:nvSpPr>
        <p:spPr>
          <a:xfrm>
            <a:off x="640080" y="5684520"/>
            <a:ext cx="10908792" cy="6248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1248" y="571347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share_2A2A30.png"/>
          <p:cNvPicPr>
            <a:picLocks noChangeAspect="1"/>
          </p:cNvPicPr>
          <p:nvPr/>
        </p:nvPicPr>
        <p:blipFill>
          <a:blip r:embed="rId7"/>
          <a:stretch>
            <a:fillRect/>
          </a:stretch>
        </p:blipFill>
        <p:spPr>
          <a:xfrm>
            <a:off x="1014984" y="5850636"/>
            <a:ext cx="292608" cy="292608"/>
          </a:xfrm>
          <a:prstGeom prst="rect">
            <a:avLst/>
          </a:prstGeom>
        </p:spPr>
      </p:pic>
      <p:sp>
        <p:nvSpPr>
          <p:cNvPr id="32" name="TextBox 31"/>
          <p:cNvSpPr txBox="1"/>
          <p:nvPr/>
        </p:nvSpPr>
        <p:spPr>
          <a:xfrm>
            <a:off x="1591056" y="5684520"/>
            <a:ext cx="2743200" cy="624840"/>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Shipping</a:t>
            </a:r>
          </a:p>
        </p:txBody>
      </p:sp>
      <p:sp>
        <p:nvSpPr>
          <p:cNvPr id="33" name="TextBox 32"/>
          <p:cNvSpPr txBox="1"/>
          <p:nvPr/>
        </p:nvSpPr>
        <p:spPr>
          <a:xfrm>
            <a:off x="4434840" y="5684520"/>
            <a:ext cx="6903720" cy="624840"/>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Git to PR without leaving the conversation.</a:t>
            </a:r>
          </a:p>
        </p:txBody>
      </p:sp>
      <p:sp>
        <p:nvSpPr>
          <p:cNvPr id="34" name="Rectangle 3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6" name="TextBox 3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5 - PITFALLS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Five mistakes, five fixes</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MISTAKE</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FIX</a:t>
            </a:r>
          </a:p>
        </p:txBody>
      </p:sp>
      <p:sp>
        <p:nvSpPr>
          <p:cNvPr id="7" name="Rectangle 6"/>
          <p:cNvSpPr/>
          <p:nvPr/>
        </p:nvSpPr>
        <p:spPr>
          <a:xfrm>
            <a:off x="640080" y="2423160"/>
            <a:ext cx="10908792" cy="768095"/>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Context overflow</a:t>
            </a:r>
          </a:p>
        </p:txBody>
      </p:sp>
      <p:sp>
        <p:nvSpPr>
          <p:cNvPr id="10" name="TextBox 9"/>
          <p:cNvSpPr txBox="1"/>
          <p:nvPr/>
        </p:nvSpPr>
        <p:spPr>
          <a:xfrm>
            <a:off x="3383280" y="2423160"/>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/clear between tasks; feed files, not folders</a:t>
            </a:r>
          </a:p>
        </p:txBody>
      </p:sp>
      <p:sp>
        <p:nvSpPr>
          <p:cNvPr id="11" name="Rectangle 10"/>
          <p:cNvSpPr/>
          <p:nvPr/>
        </p:nvSpPr>
        <p:spPr>
          <a:xfrm>
            <a:off x="640080" y="3191256"/>
            <a:ext cx="10908792" cy="768095"/>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191256"/>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91256"/>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Correction spirals</a:t>
            </a:r>
          </a:p>
        </p:txBody>
      </p:sp>
      <p:sp>
        <p:nvSpPr>
          <p:cNvPr id="14" name="TextBox 13"/>
          <p:cNvSpPr txBox="1"/>
          <p:nvPr/>
        </p:nvSpPr>
        <p:spPr>
          <a:xfrm>
            <a:off x="3383280" y="3191256"/>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Two fails - rewind or restart, never argue</a:t>
            </a:r>
          </a:p>
        </p:txBody>
      </p:sp>
      <p:sp>
        <p:nvSpPr>
          <p:cNvPr id="15" name="Rectangle 14"/>
          <p:cNvSpPr/>
          <p:nvPr/>
        </p:nvSpPr>
        <p:spPr>
          <a:xfrm>
            <a:off x="640080" y="3959352"/>
            <a:ext cx="10908792" cy="768095"/>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959352"/>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959352"/>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Forgotten rules</a:t>
            </a:r>
          </a:p>
        </p:txBody>
      </p:sp>
      <p:sp>
        <p:nvSpPr>
          <p:cNvPr id="18" name="TextBox 17"/>
          <p:cNvSpPr txBox="1"/>
          <p:nvPr/>
        </p:nvSpPr>
        <p:spPr>
          <a:xfrm>
            <a:off x="3383280" y="3959352"/>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Said it twice? Put it in CLAUDE.md</a:t>
            </a:r>
          </a:p>
        </p:txBody>
      </p:sp>
      <p:sp>
        <p:nvSpPr>
          <p:cNvPr id="19" name="Rectangle 18"/>
          <p:cNvSpPr/>
          <p:nvPr/>
        </p:nvSpPr>
        <p:spPr>
          <a:xfrm>
            <a:off x="640080" y="4727448"/>
            <a:ext cx="10908792" cy="768095"/>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4727448"/>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727448"/>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Scope creep</a:t>
            </a:r>
          </a:p>
        </p:txBody>
      </p:sp>
      <p:sp>
        <p:nvSpPr>
          <p:cNvPr id="22" name="TextBox 21"/>
          <p:cNvSpPr txBox="1"/>
          <p:nvPr/>
        </p:nvSpPr>
        <p:spPr>
          <a:xfrm>
            <a:off x="3383280" y="4727448"/>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One task per session - commit, /clear, next</a:t>
            </a:r>
          </a:p>
        </p:txBody>
      </p:sp>
      <p:sp>
        <p:nvSpPr>
          <p:cNvPr id="23" name="Rectangle 22"/>
          <p:cNvSpPr/>
          <p:nvPr/>
        </p:nvSpPr>
        <p:spPr>
          <a:xfrm>
            <a:off x="640080" y="5495544"/>
            <a:ext cx="10908792" cy="768095"/>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5495544"/>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495544"/>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Vibe coding</a:t>
            </a:r>
          </a:p>
        </p:txBody>
      </p:sp>
      <p:sp>
        <p:nvSpPr>
          <p:cNvPr id="26" name="TextBox 25"/>
          <p:cNvSpPr txBox="1"/>
          <p:nvPr/>
        </p:nvSpPr>
        <p:spPr>
          <a:xfrm>
            <a:off x="3383280" y="5495544"/>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Spec first; plan mode for anything complex</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5 - THE ARC</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Your three-day journey</a:t>
            </a:r>
          </a:p>
        </p:txBody>
      </p:sp>
      <p:sp>
        <p:nvSpPr>
          <p:cNvPr id="4" name="Rounded Rectangle 3"/>
          <p:cNvSpPr/>
          <p:nvPr/>
        </p:nvSpPr>
        <p:spPr>
          <a:xfrm>
            <a:off x="640080" y="2651760"/>
            <a:ext cx="3392423"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907791"/>
            <a:ext cx="2843783"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01</a:t>
            </a:r>
          </a:p>
        </p:txBody>
      </p:sp>
      <p:sp>
        <p:nvSpPr>
          <p:cNvPr id="6" name="TextBox 5"/>
          <p:cNvSpPr txBox="1"/>
          <p:nvPr/>
        </p:nvSpPr>
        <p:spPr>
          <a:xfrm>
            <a:off x="914400" y="3566160"/>
            <a:ext cx="2843783"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Day 1: Drive</a:t>
            </a:r>
          </a:p>
        </p:txBody>
      </p:sp>
      <p:sp>
        <p:nvSpPr>
          <p:cNvPr id="7" name="TextBox 6"/>
          <p:cNvSpPr txBox="1"/>
          <p:nvPr/>
        </p:nvSpPr>
        <p:spPr>
          <a:xfrm>
            <a:off x="914400" y="4114800"/>
            <a:ext cx="2843783"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One agent, driven well - loop, memory, context, guardrails.</a:t>
            </a:r>
          </a:p>
        </p:txBody>
      </p:sp>
      <p:sp>
        <p:nvSpPr>
          <p:cNvPr id="8" name="TextBox 7"/>
          <p:cNvSpPr txBox="1"/>
          <p:nvPr/>
        </p:nvSpPr>
        <p:spPr>
          <a:xfrm>
            <a:off x="4050791"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9" name="Rounded Rectangle 8"/>
          <p:cNvSpPr/>
          <p:nvPr/>
        </p:nvSpPr>
        <p:spPr>
          <a:xfrm>
            <a:off x="4398264" y="2651760"/>
            <a:ext cx="3392423"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72583" y="2907791"/>
            <a:ext cx="2843783"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02</a:t>
            </a:r>
          </a:p>
        </p:txBody>
      </p:sp>
      <p:sp>
        <p:nvSpPr>
          <p:cNvPr id="11" name="TextBox 10"/>
          <p:cNvSpPr txBox="1"/>
          <p:nvPr/>
        </p:nvSpPr>
        <p:spPr>
          <a:xfrm>
            <a:off x="4672583" y="3566160"/>
            <a:ext cx="2843783"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Day 2: Teach</a:t>
            </a:r>
          </a:p>
        </p:txBody>
      </p:sp>
      <p:sp>
        <p:nvSpPr>
          <p:cNvPr id="12" name="TextBox 11"/>
          <p:cNvSpPr txBox="1"/>
          <p:nvPr/>
        </p:nvSpPr>
        <p:spPr>
          <a:xfrm>
            <a:off x="4672583" y="4114800"/>
            <a:ext cx="2843783"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Skills, hooks, invocation controls, plugins - your standards.</a:t>
            </a:r>
          </a:p>
        </p:txBody>
      </p:sp>
      <p:sp>
        <p:nvSpPr>
          <p:cNvPr id="13" name="TextBox 12"/>
          <p:cNvSpPr txBox="1"/>
          <p:nvPr/>
        </p:nvSpPr>
        <p:spPr>
          <a:xfrm>
            <a:off x="7808975"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4" name="Rounded Rectangle 13"/>
          <p:cNvSpPr/>
          <p:nvPr/>
        </p:nvSpPr>
        <p:spPr>
          <a:xfrm>
            <a:off x="8156447" y="2651760"/>
            <a:ext cx="3392423"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0767" y="2907791"/>
            <a:ext cx="2843783"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03</a:t>
            </a:r>
          </a:p>
        </p:txBody>
      </p:sp>
      <p:sp>
        <p:nvSpPr>
          <p:cNvPr id="16" name="TextBox 15"/>
          <p:cNvSpPr txBox="1"/>
          <p:nvPr/>
        </p:nvSpPr>
        <p:spPr>
          <a:xfrm>
            <a:off x="8430767" y="3566160"/>
            <a:ext cx="2843783"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Day 3: Multiply</a:t>
            </a:r>
          </a:p>
        </p:txBody>
      </p:sp>
      <p:sp>
        <p:nvSpPr>
          <p:cNvPr id="17" name="TextBox 16"/>
          <p:cNvSpPr txBox="1"/>
          <p:nvPr/>
        </p:nvSpPr>
        <p:spPr>
          <a:xfrm>
            <a:off x="8430767" y="4114800"/>
            <a:ext cx="2843783"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MCP, subagents, agent teams, headless CI/CD.</a:t>
            </a:r>
          </a:p>
        </p:txBody>
      </p:sp>
      <p:sp>
        <p:nvSpPr>
          <p:cNvPr id="18" name="Rectangle 1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0" name="TextBox 1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5 - TONIGHT</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Homework (optional)</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Twenty minutes tonight locks in the day.</a:t>
            </a:r>
          </a:p>
        </p:txBody>
      </p:sp>
      <p:sp>
        <p:nvSpPr>
          <p:cNvPr id="5" name="Rounded Rectangle 4"/>
          <p:cNvSpPr/>
          <p:nvPr/>
        </p:nvSpPr>
        <p:spPr>
          <a:xfrm>
            <a:off x="640080"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_2A2A30.png"/>
          <p:cNvPicPr>
            <a:picLocks noChangeAspect="1"/>
          </p:cNvPicPr>
          <p:nvPr/>
        </p:nvPicPr>
        <p:blipFill>
          <a:blip r:embed="rId2"/>
          <a:stretch>
            <a:fillRect/>
          </a:stretch>
        </p:blipFill>
        <p:spPr>
          <a:xfrm>
            <a:off x="1005840" y="3076956"/>
            <a:ext cx="219456" cy="219456"/>
          </a:xfrm>
          <a:prstGeom prst="rect">
            <a:avLst/>
          </a:prstGeom>
        </p:spPr>
      </p:pic>
      <p:sp>
        <p:nvSpPr>
          <p:cNvPr id="8" name="TextBox 7"/>
          <p:cNvSpPr txBox="1"/>
          <p:nvPr/>
        </p:nvSpPr>
        <p:spPr>
          <a:xfrm>
            <a:off x="877824"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Real CLAUDE.md</a:t>
            </a:r>
          </a:p>
        </p:txBody>
      </p:sp>
      <p:sp>
        <p:nvSpPr>
          <p:cNvPr id="9" name="TextBox 8"/>
          <p:cNvSpPr txBox="1"/>
          <p:nvPr/>
        </p:nvSpPr>
        <p:spPr>
          <a:xfrm>
            <a:off x="877824"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Run /init on your actual project; trim to the essentials.</a:t>
            </a:r>
          </a:p>
        </p:txBody>
      </p:sp>
      <p:sp>
        <p:nvSpPr>
          <p:cNvPr id="10" name="Rounded Rectangle 9"/>
          <p:cNvSpPr/>
          <p:nvPr/>
        </p:nvSpPr>
        <p:spPr>
          <a:xfrm>
            <a:off x="4367784"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en_2A2A30.png"/>
          <p:cNvPicPr>
            <a:picLocks noChangeAspect="1"/>
          </p:cNvPicPr>
          <p:nvPr/>
        </p:nvPicPr>
        <p:blipFill>
          <a:blip r:embed="rId3"/>
          <a:stretch>
            <a:fillRect/>
          </a:stretch>
        </p:blipFill>
        <p:spPr>
          <a:xfrm>
            <a:off x="4733544" y="3076956"/>
            <a:ext cx="219456" cy="219456"/>
          </a:xfrm>
          <a:prstGeom prst="rect">
            <a:avLst/>
          </a:prstGeom>
        </p:spPr>
      </p:pic>
      <p:sp>
        <p:nvSpPr>
          <p:cNvPr id="13" name="TextBox 12"/>
          <p:cNvSpPr txBox="1"/>
          <p:nvPr/>
        </p:nvSpPr>
        <p:spPr>
          <a:xfrm>
            <a:off x="4605528"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One explicit skill</a:t>
            </a:r>
          </a:p>
        </p:txBody>
      </p:sp>
      <p:sp>
        <p:nvSpPr>
          <p:cNvPr id="14" name="TextBox 13"/>
          <p:cNvSpPr txBox="1"/>
          <p:nvPr/>
        </p:nvSpPr>
        <p:spPr>
          <a:xfrm>
            <a:off x="4605528"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Create a human-invoked /workflow you will really use.</a:t>
            </a:r>
          </a:p>
        </p:txBody>
      </p:sp>
      <p:sp>
        <p:nvSpPr>
          <p:cNvPr id="15" name="Rounded Rectangle 14"/>
          <p:cNvSpPr/>
          <p:nvPr/>
        </p:nvSpPr>
        <p:spPr>
          <a:xfrm>
            <a:off x="8095488"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efresh_2A2A30.png"/>
          <p:cNvPicPr>
            <a:picLocks noChangeAspect="1"/>
          </p:cNvPicPr>
          <p:nvPr/>
        </p:nvPicPr>
        <p:blipFill>
          <a:blip r:embed="rId4"/>
          <a:stretch>
            <a:fillRect/>
          </a:stretch>
        </p:blipFill>
        <p:spPr>
          <a:xfrm>
            <a:off x="8461248" y="3076956"/>
            <a:ext cx="219456" cy="219456"/>
          </a:xfrm>
          <a:prstGeom prst="rect">
            <a:avLst/>
          </a:prstGeom>
        </p:spPr>
      </p:pic>
      <p:sp>
        <p:nvSpPr>
          <p:cNvPr id="18" name="TextBox 17"/>
          <p:cNvSpPr txBox="1"/>
          <p:nvPr/>
        </p:nvSpPr>
        <p:spPr>
          <a:xfrm>
            <a:off x="8333232"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One rewind</a:t>
            </a:r>
          </a:p>
        </p:txBody>
      </p:sp>
      <p:sp>
        <p:nvSpPr>
          <p:cNvPr id="19" name="TextBox 18"/>
          <p:cNvSpPr txBox="1"/>
          <p:nvPr/>
        </p:nvSpPr>
        <p:spPr>
          <a:xfrm>
            <a:off x="8333232"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Practice a deliberate double-Esc recovery on real work.</a:t>
            </a:r>
          </a:p>
        </p:txBody>
      </p:sp>
      <p:sp>
        <p:nvSpPr>
          <p:cNvPr id="20" name="Rectangle 19"/>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2" name="TextBox 21"/>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CLOSING THOUGHT</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Leave with these</a:t>
            </a:r>
          </a:p>
        </p:txBody>
      </p:sp>
      <p:sp>
        <p:nvSpPr>
          <p:cNvPr id="4" name="TextBox 3"/>
          <p:cNvSpPr txBox="1"/>
          <p:nvPr/>
        </p:nvSpPr>
        <p:spPr>
          <a:xfrm>
            <a:off x="640080" y="1645920"/>
            <a:ext cx="10241280" cy="457200"/>
          </a:xfrm>
          <a:prstGeom prst="rect">
            <a:avLst/>
          </a:prstGeom>
          <a:noFill/>
        </p:spPr>
        <p:txBody>
          <a:bodyPr wrap="square" anchor="t">
            <a:spAutoFit/>
          </a:bodyPr>
          <a:lstStyle/>
          <a:p>
            <a:pPr algn="l">
              <a:lnSpc>
                <a:spcPct val="100000"/>
              </a:lnSpc>
              <a:spcBef>
                <a:spcPts val="0"/>
              </a:spcBef>
              <a:spcAft>
                <a:spcPts val="200"/>
              </a:spcAft>
            </a:pPr>
            <a:r>
              <a:rPr sz="1800" b="0">
                <a:solidFill>
                  <a:srgbClr val="ACACB4"/>
                </a:solidFill>
                <a:latin typeface="Instrument Sans"/>
              </a:rPr>
              <a:t>Day 1 in two sentences.</a:t>
            </a:r>
          </a:p>
        </p:txBody>
      </p:sp>
      <p:sp>
        <p:nvSpPr>
          <p:cNvPr id="5" name="Rounded Rectangle 4"/>
          <p:cNvSpPr/>
          <p:nvPr/>
        </p:nvSpPr>
        <p:spPr>
          <a:xfrm>
            <a:off x="640080" y="2468880"/>
            <a:ext cx="5317236"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7" name="TextBox 6"/>
          <p:cNvSpPr txBox="1"/>
          <p:nvPr/>
        </p:nvSpPr>
        <p:spPr>
          <a:xfrm>
            <a:off x="914400" y="3383280"/>
            <a:ext cx="4768596"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Small, frequent, actionable - the loop rewards discipline.</a:t>
            </a:r>
          </a:p>
        </p:txBody>
      </p:sp>
      <p:sp>
        <p:nvSpPr>
          <p:cNvPr id="8" name="Rounded Rectangle 7"/>
          <p:cNvSpPr/>
          <p:nvPr/>
        </p:nvSpPr>
        <p:spPr>
          <a:xfrm>
            <a:off x="6231636" y="2468880"/>
            <a:ext cx="5317236"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5955"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0" name="TextBox 9"/>
          <p:cNvSpPr txBox="1"/>
          <p:nvPr/>
        </p:nvSpPr>
        <p:spPr>
          <a:xfrm>
            <a:off x="6505955" y="3383280"/>
            <a:ext cx="4768596"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Rewind beats arguing. Specs beat vibes. Verify beats trust.</a:t>
            </a:r>
          </a:p>
        </p:txBody>
      </p:sp>
      <p:sp>
        <p:nvSpPr>
          <p:cNvPr id="11" name="Rectangle 10"/>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3" name="TextBox 12"/>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7.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WRAP-UP</a:t>
            </a:r>
          </a:p>
        </p:txBody>
      </p:sp>
      <p:sp>
        <p:nvSpPr>
          <p:cNvPr id="5" name="TextBox 4"/>
          <p:cNvSpPr txBox="1"/>
          <p:nvPr/>
        </p:nvSpPr>
        <p:spPr>
          <a:xfrm>
            <a:off x="621792" y="914400"/>
            <a:ext cx="6949440" cy="1280160"/>
          </a:xfrm>
          <a:prstGeom prst="rect">
            <a:avLst/>
          </a:prstGeom>
          <a:noFill/>
        </p:spPr>
        <p:txBody>
          <a:bodyPr wrap="square" anchor="t">
            <a:spAutoFit/>
          </a:bodyPr>
          <a:lstStyle/>
          <a:p>
            <a:pPr algn="l">
              <a:lnSpc>
                <a:spcPct val="100000"/>
              </a:lnSpc>
              <a:spcBef>
                <a:spcPts val="0"/>
              </a:spcBef>
              <a:spcAft>
                <a:spcPts val="200"/>
              </a:spcAft>
            </a:pPr>
            <a:r>
              <a:rPr sz="3800" b="1">
                <a:solidFill>
                  <a:srgbClr val="F5F5F6"/>
                </a:solidFill>
                <a:latin typeface="Instrument Sans"/>
              </a:rPr>
              <a:t>See you tomorrow</a:t>
            </a:r>
          </a:p>
        </p:txBody>
      </p:sp>
      <p:sp>
        <p:nvSpPr>
          <p:cNvPr id="6" name="Rectangle 5"/>
          <p:cNvSpPr/>
          <p:nvPr/>
        </p:nvSpPr>
        <p:spPr>
          <a:xfrm>
            <a:off x="640080" y="2926080"/>
            <a:ext cx="45720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072384"/>
            <a:ext cx="3291840" cy="45720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Tonight</a:t>
            </a:r>
          </a:p>
        </p:txBody>
      </p:sp>
      <p:sp>
        <p:nvSpPr>
          <p:cNvPr id="8" name="TextBox 7"/>
          <p:cNvSpPr txBox="1"/>
          <p:nvPr/>
        </p:nvSpPr>
        <p:spPr>
          <a:xfrm>
            <a:off x="640080" y="3566160"/>
            <a:ext cx="3291840" cy="1828800"/>
          </a:xfrm>
          <a:prstGeom prst="rect">
            <a:avLst/>
          </a:prstGeom>
          <a:noFill/>
        </p:spPr>
        <p:txBody>
          <a:bodyPr wrap="square" anchor="t">
            <a:spAutoFit/>
          </a:bodyPr>
          <a:lstStyle/>
          <a:p>
            <a:pPr algn="l">
              <a:lnSpc>
                <a:spcPct val="125000"/>
              </a:lnSpc>
              <a:spcBef>
                <a:spcPts val="0"/>
              </a:spcBef>
              <a:spcAft>
                <a:spcPts val="200"/>
              </a:spcAft>
            </a:pPr>
            <a:r>
              <a:rPr sz="1600" b="0">
                <a:solidFill>
                  <a:srgbClr val="ACACB4"/>
                </a:solidFill>
                <a:latin typeface="Instrument Sans"/>
              </a:rPr>
              <a:t>Homework: /init your real project, build one human-invoked skill, practice one rewind. Apply one habit to real work and bring questions.</a:t>
            </a:r>
          </a:p>
        </p:txBody>
      </p:sp>
      <p:sp>
        <p:nvSpPr>
          <p:cNvPr id="9" name="Rectangle 8"/>
          <p:cNvSpPr/>
          <p:nvPr/>
        </p:nvSpPr>
        <p:spPr>
          <a:xfrm>
            <a:off x="4206240" y="2926080"/>
            <a:ext cx="45720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3072384"/>
            <a:ext cx="3291840" cy="45720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Tomorrow</a:t>
            </a:r>
          </a:p>
        </p:txBody>
      </p:sp>
      <p:sp>
        <p:nvSpPr>
          <p:cNvPr id="11" name="TextBox 10"/>
          <p:cNvSpPr txBox="1"/>
          <p:nvPr/>
        </p:nvSpPr>
        <p:spPr>
          <a:xfrm>
            <a:off x="4206240" y="3566160"/>
            <a:ext cx="3291840" cy="1828800"/>
          </a:xfrm>
          <a:prstGeom prst="rect">
            <a:avLst/>
          </a:prstGeom>
          <a:noFill/>
        </p:spPr>
        <p:txBody>
          <a:bodyPr wrap="square" anchor="t">
            <a:spAutoFit/>
          </a:bodyPr>
          <a:lstStyle/>
          <a:p>
            <a:pPr algn="l">
              <a:lnSpc>
                <a:spcPct val="125000"/>
              </a:lnSpc>
              <a:spcBef>
                <a:spcPts val="0"/>
              </a:spcBef>
              <a:spcAft>
                <a:spcPts val="200"/>
              </a:spcAft>
            </a:pPr>
            <a:r>
              <a:rPr sz="1600" b="0">
                <a:solidFill>
                  <a:srgbClr val="ACACB4"/>
                </a:solidFill>
                <a:latin typeface="Instrument Sans"/>
              </a:rPr>
              <a:t>Day 2 - teach Claude your standards: skills, hooks, invocation control, and governed plugins.</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84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AIA Training Factory 2026.06</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