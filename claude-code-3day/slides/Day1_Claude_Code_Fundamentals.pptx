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these three sessions - today, Wednesday the nineteenth, and Wednesday the twenty-sixth -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a:p/>
          <a:p>
            <a:r>
              <a:t>RUN SHEET GOVERNS THE CLOCK: DAY1_RUN_SHEET.md is the wall-clock authority for today; the per-slide times in these notes are the older plan and run early. Run sheet: install stop 9:15-9:35, first run 9:35, Block 1 content to 10:30, BREAK 10:30-10:40, demo 10:40-11:00, Lab 1A 11:00-11:40, Block 2 starts 11:40, LUNCH 12:10-12:55, Block 2 finish + /init demo + Lab 1B 12:55-1:35, Block 3 + Lab 1C 1:35-2:35, BREAK 2:35-2:45, Block 4 + Lab 1D 2:45-3:35, closing 3:35-4:00. Slide ORDER is identical in both plans - only the clock 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verify the feature end to end,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WHOSE MACHINE, WHICH FOLDER - THEIRS: the empty course workspace they initialized in Lab 0. No project repo exists yet in this room; hello.md lands in that workspace. Your own demo repo is not involved.</a:t>
            </a:r>
          </a:p>
          <a:p/>
          <a:p>
            <a:r>
              <a:t>WHERE WE ARE</a:t>
            </a:r>
          </a:p>
          <a:p>
            <a:r>
              <a:t>They have just installed. Nobody has run anything yet. This slide gets every person in the room to a working Claude before we talk about anything else - and the next three slides need it running, because they are going to be clicking around their own panel.</a:t>
            </a:r>
          </a:p>
          <a:p/>
          <a:p>
            <a:r>
              <a:t>LINE 1 - claude</a:t>
            </a:r>
          </a:p>
          <a:p>
            <a:r>
              <a:t>Launching with no session triggers the sign-in flow - exactly the path Lab 0 Step 5 walked them through. Browser opens, they sign in with the organization identity from two slides ago, the seat binds to this machine. Do not say 'claude auth login' - that is not the documented flow and it is not what their Lab 0 guide says. If they installed the extension, signing in through the panel does the same job.</a:t>
            </a:r>
          </a:p>
          <a:p/>
          <a:p>
            <a:r>
              <a:t>LINE 2 - /model</a:t>
            </a:r>
          </a:p>
          <a:p>
            <a:r>
              <a:t>Confirm Sonnet 5. Say why: if their model differs from mine, their output differs from mine all day and we waste time chasing a difference that is not real.</a:t>
            </a:r>
          </a:p>
          <a:p/>
          <a:p>
            <a:r>
              <a:t>LINE 3 - the one that matters</a:t>
            </a:r>
          </a:p>
          <a:p>
            <a:r>
              <a:t>"Create hello.md with one line explaining what Claude Code is, then tell me what you did."</a:t>
            </a:r>
          </a:p>
          <a:p>
            <a:r>
              <a:t>Notice what that is NOT. It is not a question. I deliberately asked it to DO something - write a file - and report back. First interaction should be an action, not a conversation. That distinction is the entire course in one line.</a:t>
            </a:r>
          </a:p>
          <a:p/>
          <a:p>
            <a:r>
              <a:t>WARN THEM BEFORE THEY PASTE</a:t>
            </a:r>
          </a:p>
          <a:p>
            <a:r>
              <a:t>It will ask permission before writing the file. Say so in advance: "You are about to get an approval prompt. Click accept. You will get a lot of these today - that is deliberate, and this afternoon you will learn how to stop answering the same one fifty times." That one sentence pre-frames Block 4.</a:t>
            </a:r>
          </a:p>
          <a:p/>
          <a:p>
            <a:r>
              <a:t>THE GATE - this is what you are actually checking</a:t>
            </a:r>
          </a:p>
          <a:p>
            <a:r>
              <a:t>hello.md appears in their file tree and Claude tells them what it did. That single exchange proves four things: install works, authenticated, model responding, and it can write to their workspace. Nothing else needs checking. No diagnostic sweep.</a:t>
            </a:r>
          </a:p>
          <a:p/>
          <a:p>
            <a:r>
              <a:t>IF SOMEONE FAILS</a:t>
            </a:r>
          </a:p>
          <a:p>
            <a:r>
              <a:t>Do not debug in front of the room. Pair them with a neighbour, note their name, fix it at the break. One broken laptop must not cost nineteen people their attention.</a:t>
            </a:r>
          </a:p>
          <a:p/>
          <a:p>
            <a:r>
              <a:t>ASK: [CRESCENDO L1] Thumbs up in chat when hello.md shows up in your file tree. expect: a wave of thumbs - your green light to move on.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WHICH REPO - MINE: the status-service demo repo shipped in Demo/status-service, copied to C:\aia-demo\status-service. Nobody in the room has built anything yet; every prompt below runs on your copy.</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Make it a git repo - the shipped folder has NO .git: git init &amp;&amp; git add -A &amp;&amp; git commit -m "baseline". Two later demos depend on this (the 1:38 rewind fallback runs git checkout ., and the 3:09 deny-rule beat needs a real branch to push).</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start-up or syntax error it read and fixed itself, a missing dependency installed autonomously. Nothing in this build creates a test suite - do not fish for "a failing test it fixed".</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RUN-SHEET POSITION: on the run sheet this break falls at 10:30 BEFORE the demo and Lab 1A, i.e. earlier in the deck than this slide sits. Take the break when the clock says 10:30, then come back to the demo slide.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Before you write your own file, there are four behavioral lines that belong in every CLAUDE.md - 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9 min) DEMO - /init and auto memory</a:t>
            </a:r>
          </a:p>
          <a:p/>
          <a:p>
            <a:r>
              <a:t>WHICH REPO - MINE: status-service at C:\aia-demo\status-service, the same copy from the 9:55 demo. NOT their dashboard - they build memory into that themselves in Lab 1B.</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status-service open in a FRESH Claude Code session in the VS Code Claude Code panel (there is no "Lab 1A status-service" - Lab 1A is their dashboard, this is your demo repo)</a:t>
            </a:r>
          </a:p>
          <a:p>
            <a:r>
              <a:t>- status-service ships a real CLAUDE.md and the 9:55 demo depends on it. Do NOT delete it: rename it to CLAUDE.md.bak before class so /init has something to do, then restore the name afterwards (or let the file /init writes stand).</a:t>
            </a:r>
          </a:p>
          <a:p>
            <a:r>
              <a:t>- This run card on the second screen</a:t>
            </a:r>
          </a:p>
          <a:p>
            <a:r>
              <a:t>- On your clipboard: Remember: in this service every error response must include a "code" field alongside "error". Save that so you never omit it.</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in this service every error response must include a 'code' field alongside 'error'. Save that so you never omit it."</a:t>
            </a:r>
          </a:p>
          <a:p>
            <a:r>
              <a:t>Why this rule and not a zod rule: status-service has zero dependencies by design and its own CLAUDE.md forbids adding packages, so "validate with zod" gets refused or breaks the repo. This rule needs nothing installed, and server.js already has one error shape to extend - the 404 in the fallthrough.</a:t>
            </a:r>
          </a:p>
          <a:p/>
          <a:p>
            <a:r>
              <a:t>STEP 4 - RESTART, THEN PROVE IT STUCK</a:t>
            </a:r>
          </a:p>
          <a:p>
            <a:r>
              <a:t>Restart the session completely - new session, blank short-term memory. Say that out loud so nobody thinks it is still sitting in the chat history. Then ask: "Add a GET /api/orders/:id endpoint that returns one order, or 404 if the id is unknown." Watch the 404 come back carrying a code field nobody asked for. Then run /memory and show them where the note actually lives.</a:t>
            </a:r>
          </a:p>
          <a:p/>
          <a:p>
            <a:r>
              <a:t>EXPECTED</a:t>
            </a:r>
          </a:p>
          <a:p>
            <a:r>
              <a:t>A lean CLAUDE.md under one screenful, and the taught rule surviving a restart - a code field showing up in an error response nobody asked to shape.</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The CLAUDE.md.bak rename is in BEFORE CLASS above; letting /init regenerate the file live is the better demo.</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(11:26,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(11:32,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"every error response returns { error } with a matching status code."</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RUN-SHEET POSITION: lunch is 12:10-12:55 wherever you actually are - on the run sheet you are still inside Block 2 when it arrives, and the /init demo plus Lab 1B land AFTER lunch (12:55-1:35). This slide is a marker, not a promise about which slide you are on.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they drive, on their own repo</a:t>
            </a:r>
          </a:p>
          <a:p/>
          <a:p>
            <a:r>
              <a:t>WHOSE REPO - answer this before anyone asks</a:t>
            </a:r>
          </a:p>
          <a:p>
            <a:r>
              <a:t>THEIRS. The business-dashboard they built in Lab 1A this morning. Not my status-service - that is only for my demos. Say it out loud as you put the slide up: "open the dashboard you built before lunch. These two prompts will run on it for real."</a:t>
            </a:r>
          </a:p>
          <a:p/>
          <a:p>
            <a:r>
              <a:t>WHY THESE TWO PROMPTS WORK ON EVERY REPO IN THE ROOM</a:t>
            </a:r>
          </a:p>
          <a:p>
            <a:r>
              <a:t>Both target @server.js, which every Lab 1A build produces - it is in the lab's own success checklist. And prompt one points at validation on POST /api/tasks, which THEY wrote themselves in the last step of Lab 1A. That is deliberate: they are telling Claude to follow a pattern they authored two hours ago. Say that - it lands.</a:t>
            </a:r>
          </a:p>
          <a:p/>
          <a:p>
            <a:r>
              <a:t>WHAT TO DO - 5 minutes</a:t>
            </a:r>
          </a:p>
          <a:p>
            <a:r>
              <a:t>1. Read the three habits on the left. Ten seconds, do not labour it.</a:t>
            </a:r>
          </a:p>
          <a:p>
            <a:r>
              <a:t>2. Dissect prompt one, pointing as you go: it names the file with an at-sign, so no hunting. It points at a pattern already in that file - "like the validation on POST /api/tasks" beats three paragraphs describing your style, and it is a pattern they wrote. And it ends by saying how success gets proven - run it, reject a bad request.</a:t>
            </a:r>
          </a:p>
          <a:p>
            <a:r>
              <a:t>3. Dissect prompt two: same at-mention, then a scope fence - "change only that one query" is what stops the helpful refactor sprawl - and a verification artifact, show me the diff.</a:t>
            </a:r>
          </a:p>
          <a:p>
            <a:r>
              <a:t>4. "Pick either one, paste it into your dashboard, run it. Two minutes. Watch how little it has to guess."</a:t>
            </a:r>
          </a:p>
          <a:p>
            <a:r>
              <a:t>5. While they run: circulate. Good moment to see who is comfortable and who is still hesitant.</a:t>
            </a:r>
          </a:p>
          <a:p/>
          <a:p>
            <a:r>
              <a:t>THE POINT - say it after they run, not before</a:t>
            </a:r>
          </a:p>
          <a:p>
            <a:r>
              <a:t>The last clause in both prompts is the whole difference. Wishing hopes it worked. Delegation demands evidence. If your prompt does not say how success gets proven, you have not delegated - you have hoped.</a:t>
            </a:r>
          </a:p>
          <a:p/>
          <a:p>
            <a:r>
              <a:t>IF SOMEONE'S REPO DIFFERS</a:t>
            </a:r>
          </a:p>
          <a:p>
            <a:r>
              <a:t>Lab 1A output varies a little between builds - some have db.js, some a db/ folder, frontend files get different names. server.js is the constant. If a filename does not match, tell them to substitute the nearest real one; the shape is the lesson, not the filename.</a:t>
            </a:r>
          </a:p>
          <a:p/>
          <a:p>
            <a:r>
              <a:t>ASK: One word in chat - sharper, or the same as what you typed last week? expect: 'sharper' almost universally. Steal the best rewrite you see and read it aloud - naming someone's prompt is the cheapest engagement win of the day. IF NOBODY ANSWERS: count to five, read your own favourite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 (3 tests)</a:t>
            </a:r>
          </a:p>
          <a:p>
            <a:r>
              <a:t>- The git baseline from the 9:55 before-class step must exist - `git status` should run clean. The shipped folder has no .git; if you skipped it: git init &amp;&amp; git add -A &amp;&amp; git commit -m "baseline".</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which works ONLY because you committed the baseline before class. If you skipped that step, delete the folder and re-copy Demo/status-service from the course pack instead: five files, no install, ten seconds.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RUN-SHEET POSITION: the run sheet puts this break at 2:35-2:45. Say the time that is actually on your watch.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FOLLOW ALONG - in THEIR business-dashboard from Lab 1A. The skill folder and the target file both live in their repo; server.js is the target because it is the one file every build in the room has (frontend filenames vary).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server.js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READ-ALONG, NOT RUN-NOW - these three prompts are the Lab 1D ritual and they run in THEIR business-dashboard, once there is a staged diff. Nothing is staged at 3:03; say so, or someone pastes prompt one and Claude correctly answers "nothing is staged".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both CSV export endpoints returning real rows, plus a reviewable PR - a machine check and a human check, together. Their dashboard has no test suite, so the endpoint check IS the machine check; do not promise green tests.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WHICH REPO - MINE: status-service at C:\aia-demo\status-service. Not their dashboard, and not a repo you care about.</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status-service with a hand-written .claude/settings.json in the repo root: allow "Bash(npm test:*)" and "Bash(git:*)", deny "Bash(git push --force:*)". Prefix-match syntax, identical to what Lab 1D teaches - write it in that form so the room can copy it.</a:t>
            </a:r>
          </a:p>
          <a:p>
            <a:r>
              <a:t>- Beat three pushes, so the folder needs the git baseline from the 9:55 step AND a remote, or git fails before the deny rule is ever reached. Safest remote in a classroom: git init --bare C:\aia-demo\origin.git, then git remote add origin C:\aia-demo\origin.git and push once.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"Add a Usage section to README.md documenting the two existing endpoints, then run the tests." (That README has no badge - asking for one gets you a live correction. The two endpoints are GET /api/orders and GET /api/orders/summary, and npm test is three passing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 the deny rule is deterministic and does not depend on release-dependent guard behavior - and point back at the two-layer architecture on the Auto mode slide.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both CSV export endpoints verified by hand,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export endpoints verified,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and the guide holds about thirty-five minutes of material - say that out loud rather than letting them discover it. The core is Phase 1, Phase 2, and Phase 4 through Step 5; Step 6 (push and PR) finishes tonight if the clock beats them.</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Wednesday the nineteenth.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 Day Two on Wednesday the nineteenth - it opens by upgrading them into team standards, so tonight's rough drafts become next week's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Next session's column - and correct the slide title as you say it, because Day Two is NOT tomorrow: Day Two is Wednesday August nineteenth,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verify the feature,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doing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my status-service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with @ - no hunting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Fence the scope - 'only that route'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make GET /api/tasks return newest first. Change only that one query,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server.js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endpoints verified,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