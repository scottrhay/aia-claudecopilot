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 deck opener; 1 min this slide) SAY: This deck is a little different - it never opens a day, it rescues one. We are ahead of schedule right now, and instead of stretching a break, I would rather use that time to go deeper on a power topic the main track could not fit. What you are looking at is our flex menu: six standalone modules, each ten to fifteen minutes long, each one a deeper cut on something we have already touched. Nothing here is required for the labs - this is bonus depth, the kind of material that usually only comes up in hallway conversations after class. So here is my offer. ASK: 'Give me a thumbs up in chat if you would rather go deeper than break early.' - expect: mostly thumbs up, plus a few honest holdouts, which is fine. SAY-NEXT: Let me show you the six modules on the menu and when each one fits.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(Flex menu; 2 min this slide) SAY: Here is the whole menu on one slide. Modules one and two belong to Day 1. Number one goes deeper on CLAUDE.md - the instruction file you write so Claude remembers how your project works. Number two is the quality-of-life arsenal: the small cockpit settings power users configure once and benefit from daily. Modules three, four, and five belong to Day 3. Three is building your own MCP server - MCP is the open standard that connects Claude to outside tools and data. Four is code execution and tool use, which changes how tools get called at all. Five is the Agent SDK, which puts the whole agent inside your own software. Module six works any day: a tour of everywhere Claude lives beyond the terminal. To be clear: we will do one or two of these today, not all six. [CRESCENDO L2] ASK in chat: 'Which number looks most useful to your team?' - expect: a spread, usually clustering on three and five in developer rooms. SAY-NEXT: Let us jump into the module we picked.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DEPLOY: Day 1 flex - pairs with Day 1 Block 2, Memory and CLAUDE.md. (10-15 min module; 1 min this slide) SAY: We are ahead of schedule, so I want to show you something most people never see - what a CLAUDE.md file looks like after six months of real production use, including patterns from the person who created Claude Code. Quick refresher: CLAUDE.md is the instruction file Claude reads at the start of every session - it is how you give the tool permanent memory about your project and your rules. This morning you wrote your first one. This module shows you where that file ends up when people who live in this tool keep improving it. Three ideas ahead: the shape of a lean file, a loop that improves the file automatically, and a handoff pattern that carries your work across sessions. ASK: 'Honest one-word answer in chat - is your CLAUDE.md today closer to empty or bloated?' - expect: a mix across the room, which sets up the fix perfectly. SAY-NEXT: Let us start by looking inside a lead engineer's actual file.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(10-15 min module; 3 min this slide) SAY: Three qualities show up in every production-grade CLAUDE.md, and they are the three badges on the slide. First, lean: community guidance from Claude Code's own creator is to keep the file near two hundred lines. Past that, the model starts sampling your rules instead of following all of them - so overflow moves into a .claude/rules folder instead of bloating the main file. I will flag this honestly: that two-hundred-line figure is field guidance, not a documented hard limit (verify at delivery). Second, behavioral: every line should be something Claude can execute. 'Run npm test before declaring done' is a behavior. 'Write good code' is a vibe - delete it. Third, tagged: teams like HumanLayer wrap their critical security and testing rules in XML tags - angle-bracket markers - so the model treats them as firm instructions rather than background reading. ASK: 'What do you think the litmus test for a good file is?' - expect: something like - a brand-new developer types run the tests and it works first try. SAY-NEXT: But a great file is not written once - it is grown by a loop, and that loop is next.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(10-15 min module; 3 min this slide) SAY: This slide is the compounding trick: your CLAUDE.md can largely write itself if you build one habit. Row one: start any message with the hash symbol - the pound sign - and Claude files that line into memory for you without breaking your flow. It is the cheapest documentation you will ever write. Row two is the habit: every time you correct Claude on the same thing twice, turn that correction into a written rule once. Row three automates row two: add a standing rule that says after any correction, append the lesson to lessons.md - a running log of lessons learned. The creator of Claude Code runs exactly this rule. And the red row: prune monthly. Dead rules erode trust in the live ones - a file full of stale instructions quietly teaches Claude to ignore all of them. The green strip is your litmus test: a new developer types 'run the tests' - if it works first try, your file is doing its job. [CRESCENDO L1] ASK: 'Drop a hash symbol in chat if you have corrected Claude on the same thing twice this week.' - expect: plenty of hashes. SAY-NEXT: The loop handles rules - now the pattern for handing off state between sessions.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(10-15 min module; 3 min this slide) SAY: Here is the advanced form of a principle from this morning: state lives in files, not sessions. The problem it solves: every Claude session eventually ends, and the context window - the model's working memory - dies with it. Files do not die. So: HANDOFF.md. Card one, what it is: a short file with three headings - what changed, what is next, what is blocked. Card two, the ritual: the last act of every serious session is writing it, and the first act of the next session is reading it. Thirty seconds on the way out buys you a fresh session that is productive in one prompt instead of ten - and that is card three, the payoff. Keep the file under thirty lines so it stays a briefing, not a novel; archive old entries if you want history. The blue strip says it plainly: this is Day 1's state-lives-in-files principle turned into a daily habit. ASK: 'What is the difference between HANDOFF.md and Claude's automatic memory?' - expect: you control exactly what survives, and it is readable by humans and by git. SAY-NEXT: Let us make all three patterns muscle memory - you are going to paste them right now.</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(10-15 min module; 4 min this slide) SAY: Your turn - run all three pastes in your lab repo, top to bottom. The first line starts with the hash symbol, so it files an instant memory: always run the full test suite before declaring any task done. After it runs, open your memory file and see exactly where it landed. The second paste installs the self-improvement loop as a standing instruction - from now on, every correction you make becomes a one-line rule appended to lessons.md automatically. The third paste writes your first HANDOFF.md: what changed, what is next, what is blocked, kept under thirty lines. The real habit is running that one before every /clear. While you work, watch for the classic miss: typing the hash line as a question instead of a rule - memories should be statements. ASK: 'Open your memory file - did the hash rule land where you expected?' - expect: yes, and most people are surprised how fast that was. BRIDGE BACK: And that is the whole module - three habits that make your CLAUDE.md grow itself. Let us head back to the main track, right where we left off - and notice we are still ahead of schedule.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DEPLOY: Day 1 flex - pairs with Day 1 Block 4, Commands, Cost and Permissions. (10-15 min module; 1 min this slide) SAY: We are ahead of schedule, so I want to show you the upgrades most people never bother to set up - and then wish they had. Block 4 gave you the daily-driver commands; this module is the cockpit upgrade. QoL stands for quality of life: the small settings and shortcuts that separate someone who merely uses Claude Code from someone who lives in it. Everything on the next few slides costs minutes to set up and pays you back every single day - custom keybindings, a status line that shows what is happening, session names you can actually find again tomorrow, and a handful of terminal tricks that become reflexes. ASK: 'Quick poll in chat - who has customized ANY tool's keybindings, ever, in any editor?' - expect: about half the room. SAY-NEXT: Here are the six switches worth mapping first.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(10-15 min module; 4 min this slide) SAY: Six rows, and I will give you one sentence of what and one sentence of why for each. Slash keybindings lets you remap every shortcut - the file lives at ~/.claude/keybindings.json and supports chords, meaning multi-key combinations. Slash statusline gives you a persistent HUD - a heads-up display line showing your model, git branch, context used, and elapsed time. The pair I want extra attention on: slash rename plus slash resume. Name your sessions like ticket titles - 'TODO: refactor auth' - and your session list becomes a to-do board you can return to tomorrow; cheapest project management you will ever get. Ctrl+R is the one nobody knows: it searches the full session transcript, so you can find that command from an hour ago. Slash terminal-setup is a one-time fix so Shift+Enter inserts a newline in your terminal. And slash btw lets you ask a side question without polluting the main task's context. Read the caution strip with me: these ship in weekly releases and details drift, so I re-verify each command's exact behavior on delivery morning (verify at delivery). [CRESCENDO L3] ASK, three words or less in chat: 'Which switch do you flip first?' - expect: statusline and keybindings dominate. SAY-NEXT: The statusline deserves its own slide - it is your instrument panel.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(10-15 min module; 3 min this slide) SAY: Here is the insight that makes the statusline special: it is not a fixed feature, it is a script hook. Anything a one-line shell script can print, your HUD can display - that is card one: model, git branch, context used, whatever you decide matters to you. Card two, elapsed time, is the sleeper hit. When that timer reads forty-five minutes on a single task, that is your cue the session needs a /compact - the command that condenses the conversation - or a complete rethink. It makes context hygiene visible instead of invisible. Card three is the meta-point of this whole module: you do not write the statusline script yourself. You describe what you want in plain English, and Claude writes and wires the script for you - you configure Claude Code by asking Claude Code. The blue strip repeats it: the statusline is just a script in your settings. One honest caveat: the exact wiring details move between releases (verify at delivery). ASK: 'What would YOU put on the line?' - expect: context percentage and branch, and usually cost from the API crowd. SAY-NEXT: Last piece of the cockpit - raw terminal muscle memory.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(10-15 min module; 3 min this slide) SAY: Five terminal moves, rapid fire - and I want you to physically try the first two right now in your open session, because muscle memory forms in the hands, not the ears. Esc Esc - press the Escape key twice - jumps you back in the conversation; it is the entry point to rewinding. The exclamation-point prefix runs a shell command and drops its output straight into context - no copy-paste round trip. Tab completes file paths, so stop typing them from memory. Row four surprises people every time: paste an image. Screenshot the broken UI, paste it into the prompt, type 'fix this' - that is a complete bug report, because Claude can see the screenshot. And Shift+Tab cycles your permission modes without leaving the keyboard. Go ahead - try Esc Esc and Tab completion now; I will wait a few seconds while you do. The ! prefix appeared this morning; here it becomes reflex. ASK: 'Which of these five did you not know?' - expect: image paste, plus the Ctrl+R transcript search from the last slide. SAY-NEXT: Now rig your own cockpit - you are going to paste three things.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(10-15 min module; 4 min this slide) SAY: Run all three pastes, top to bottom. The first is the wow moment: you are asking for a statusline that shows the model, current git branch, context percentage used, and minutes elapsed - in one plain-English sentence - and Claude writes its own HUD script from that sentence. Give it thirty seconds, then look at your new bottom line. The second paste renames your session to flex-lab-TODO-cleanup, which makes it findable tomorrow with /resume - that is the ticket-title habit from two slides ago, now installed. The third opens the keybindings surface: have a look around, but please do not remap everything today - just see what is possible. If any command is not recognized, that is the weekly-release drift we flagged on the caution strip - note it, skip it, move on (verify at delivery). ASK: 'Whose statusline came out best? Paste yours in chat.' - expect: two or three show-offs, which is exactly the point - people copy each other's HUD ideas. BRIDGE BACK: That closes the cockpit module - small switches, daily payoff. Let us head back to the scheduled track, and notice we are still ahead of schedule.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DEPLOY: Day 3 flex - extends Day 3 Block 1, MCP; it restores the build-your-own content that was cut for time. (10-15 min module; 1 min this slide) SAY: We are ahead of schedule, so I get to show you something that usually ends up on the cutting-room floor - how to build your own MCP server. Quick refresher: MCP, the Model Context Protocol, is the open standard that connects Claude to outside tools and data sources. Block 1 made you a confident consumer - you can install, configure, and secure servers other people wrote. This module crosses the line to producer: when the server you need does not exist, you write it - and the first working version takes minutes, not days, because Claude writes most of it for you. ASK: 'One-word answer in chat - what internal system do you wish Claude could reach today?' - expect: ticketing, order data, internal APIs. SAY: Good - hold that answer, because by the end of this module you will know exactly how to wire one of those up. SAY-NEXT: First, let us shrink the problem - a server is smaller than you think.</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(10-15 min module; 3 min this slide) SAY: Let me demystify this: an MCP server is not infrastructure. It is a small program that declares some tools and answers a protocol. Three parts on the slide. Tools - plain functions with descriptions written for the model to read, because the model chooses tools by reading those descriptions. FastMCP - the Python pattern from the official SDK, the software development kit Anthropic publishes: you take an ordinary function, put a decorator on it - one line starting with an at-sign - give it a docstring, and it becomes a tool in roughly ten lines total. TypeScript's official SDK mirrors the same shape; SDKs iterate, so I verify exact package naming the morning of (verify at delivery). Third, transport - how the messages travel: stdio, standard input and output, when the server runs on your own machine; Streamable HTTP when a team shares one over the network. You already made that same call in Block 1 as a consumer. ASK: 'Which part do you think takes longest in practice?' - expect: most say the protocol - the real answer is writing good tool descriptions, which is exactly where we are headed. SAY-NEXT: Because the hard part is not code - it is design.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(10-15 min module; 3 min this slide) SAY: The whole pipeline is five steps across the slide. One, install: the official MCP SDK into a fresh virtual environment - an isolated Python setup so dependencies do not collide. Two, wrap: a plain function becomes a tool with the decorator. Three, explain: write the docstring - the description block under the function - aimed at the model, not at humans. Four, run: serve it over stdio on your machine. Five, add: register it with claude mcp add and a name. Now the emphasis: step three matters more than the other four combined. The docstring IS the interface. The model picks tools by reading descriptions, so 'Look up one order's status by ID; returns JSON with status, carrier, ETA' beats 'gets order' every single time. Steps one, two, four, and five are mechanical, and Claude will happily write them for you. ASK: 'Which step do you never write by hand again after today?' - expect: all of them except step three - the explanation stays human-owned. SAY-NEXT: Description quality is one rule of tool design - here is the full builder's bar.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(10-15 min module; 3 min this slide) SAY: If you keep one slide from this module, keep this one. The mental shift: you are designing an API for a reader that never skims - every word of every description gets weighed on every call. Row one: task-shaped, not endpoint-shaped. One tool per job-to-be-done, not one per API route, because the model reasons in jobs, not routes. Row two: descriptions for the model - say when to use it, what comes back, and what the limits are. Row three: errors that teach. 'Order not found - IDs look like ORD-12345' turns a failed call into a self-correcting retry; a bare 404 is a dead end. Row four: paginate big results - never let one call dump ten thousand rows into the context window. And the red row, the over-tooling trap: forty thin tools confuse the model and bloat every prompt. Now the caution strip, and I mean it: sometimes the best MCP server is the one you do not build - if a one-off script, a skill, or an existing server covers the job, use that, because every tool costs context. ASK: 'Your internal API has thirty endpoints - how many tools should version one have?' - expect: three to five, covering the real jobs. SAY-NEXT: Before any of this touches Claude, you test it in the Inspector - watch.</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(10-15 min module; 5 min this slide) DEMO. Setup, done before class: terminal open in the demo repo with server.py saved - that is the FastMCP order-status server - Python venv active, and Node installed so npx works. SAY: Before a server ever touches Claude, we test it in the MCP Inspector - a browser-based test bench that ships with the protocol. Watch the four steps on the slide as I do them. Step one, I run: npx @modelcontextprotocol/inspector python server.py - that launches the Inspector and starts my server; it prints a local URL, I open it and click Connect. Step two, the Tools tab: there is get_order_status, showing the full docstring we wrote - proof the model will see exactly this text. Step three, I run the tool with ORD-1001. Expected output: the JSON payload - status, carrier, ETA. Step four, I break it on purpose with a junk ID - and the error reads 'Order not found - IDs look like ORD-12345'. That is an error that teaches. Recovery, if the Inspector fails to launch or connect: I fall back to claude mcp add orders -- python server.py and prove the server with /mcp inside Claude Code; the runbook holds screenshots as the final fallback. Debrief ASK: 'Why test in the Inspector before wiring it into Claude?' - expect: it isolates server bugs from agent behavior - one variable at a time. SAY-NEXT: Your turn to scaffold one - paste this.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(10-15 min module; 4 min this slide) SAY: Three pastes, in order. The first hands Claude the whole job: create a Python MCP server using the official SDK's FastMCP pattern, with one tool - get_order_status taking an order ID - fake data, and a docstring written for the model covering when to use it, what returns, and the ID format. Notice the prompt itself encodes this module's design rules: one task-shaped tool, a model-facing description, a documented ID format. The second paste is the test ritual you just watched me run - Inspector first, always. The third is graduation: claude mcp add turns your server into a real tool inside your own session. One heads-up: if the SDK import shape differs from what Claude generates, that is normal drift - have Claude read the error and fix it; I verify current SDK naming at delivery (verify at delivery). ASK: 'What would tool number two be for YOUR business?' - expect: the wish-list systems from the start of this module, now concrete. BRIDGE BACK: That is the module - you came in a consumer and you are leaving a builder. Let us head back to the main track, still ahead of schedule.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DEPLOY: Day 3 flex - extends Day 3 Block 4, Scale; it restores the advanced tool-use content that was cut for time. (10-15 min module; 1 min this slide) SAY: We are ahead of schedule, so I want to show you where the token bill actually comes from - and how to attack it at the source. Block 4 taught you to manage the bill; this module goes one level deeper, to how tools get called at all. Two definitions up front so we all mean the same thing: a token is the unit of text the model reads and writes - it is what you pay for - and the context window is the model's working memory, where every tool result normally lands. One mental model, three mechanisms, and some arithmetic that will change how you design agent work. ASK: 'Gut check in chat - when Claude calls a tool, where does the result go?' - expect: most say into the context window - which is exactly the problem we are about to put a price on. SAY-NEXT: Two ways to run the same job, side by side.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(10-15 min module; 3 min this slide) SAY: Same tools, same job, two very different bills. Concrete example: fetch fifty CI runs - automated build results - and report the failures. The left card is traditional tool calling: every result round-trips through the context window, one call at a time; all the tool schemas - the definitions - ride along up front; and the model orchestrates step by step. You pay tokens for every row you are about to throw away. The right card is code execution: the model writes a small script that calls those same tools as APIs inside a sandbox - an isolated environment where code runs safely. The intermediate data stays in the sandbox, the filtering happens there, and only the final answer - the failure summary - returns to the conversation. The strip has the whole idea in one line: same tools, same job - the difference is where the intermediate data lives and who pays for it. Context stops being the data bus. ASK: 'When does traditional calling still win?' - expect: single quick calls, and cases where a human should see every intermediate step. SAY-NEXT: Anthropic packages this thinking as three mechanisms - the pillars.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(10-15 min module; 3 min this slide) SAY: Three pillars, and each one kills a different tax. Pillar one, tool search: instead of loading every tool definition up front, the model discovers and loads schemas on demand. That kills the schema tax - with many MCP servers connected, definitions alone can eat tens of thousands of tokens before any work happens, and you already saw tools deferring by default earlier on Day 3. Pillar two, programmatic calling: invoke tools from code running in a sandbox - loop, filter, and join the data there, exactly as the last slide showed. That kills the round-trip tax. Pillar three, tool examples: show the model worked example calls so it nails tricky parameter shapes on the first try instead of the third. That kills the retry tax - a good example teaches better than a longer schema. Now read the caution strip with me: this framing is sourced from Anthropic engineering posts, and names and availability shift - I re-verify current status the morning of delivery (verify at delivery). ASK: 'Which tax is biggest in YOUR setup?' - expect: the schema tax, for MCP-heavy rooms. SAY-NEXT: Now let us put actual numbers on it.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(10-15 min module; 3 min this slide) SAY: Let us make the arithmetic land, row by row. The schema tax: dozens of connected tools can mean tens of thousands of tokens spent before any work starts. The round-trip tax is the one people miss, so hear the word twice: an intermediate result costs you once when it comes back from the tool, and then again on every later turn, because it sits in the history the model re-reads. The sandbox dividend follows naturally: filter ten thousand rows in code, and only the summary rides home. Aggregation belongs in code; conclusions belong in context. The last row is the headline: Anthropic's own published example shows a document workflow dropping from roughly one hundred fifty thousand tokens to roughly two thousand. That is a huge number - which is exactly why the caution strip matters: those are published benchmark figures, not your workload. Measure your own before you promise savings to anyone (verify at delivery). [CRESCENDO L3] ASK, three words or less in chat: 'What belongs in context?' - expect: decisions, summaries, answers - not data. SAY-NEXT: Let us turn the principle into prompts you can paste.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(10-15 min module; 3 min this slide) SAY: Two pastes, and every word in them is earning its place. The first is the pattern in production form: write and run a script that pulls the last fifty CI runs, filters to failures, and returns ONLY a summary table - do not stream raw logs into the conversation. The capital-letters ONLY is doing real work, and that closing sentence bans the failure mode explicitly. The second paste is the meta-habit: before Claude calls tools one at a time, it has to tell you whether a single script could do the whole chain - and if yes, write the script. That trains both you and the agent to see orchestration cost at all. Now take two minutes: adapt paste one to a data source from your own labs and run it. ASK: 'Which phrase in prompt one saves the most tokens?' - expect: returns ONLY a summary table. BRIDGE BACK: That is the module - context is a decision bus, not a data bus, and now you can price the difference. Let us head back to the main track; and if you like the idea of driving this loop from your own code, ask me about the Agent SDK module later.</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DEPLOY: Day 3 flex - pairs with Day 3 Block 3, Production and CI/CD. (10-15 min module; 1 min this slide) SAY: We are ahead of schedule, so I want to show you what is behind a door most teams do not open for months - the Agent SDK. Block 3 ended with claude -p running in your pipelines - print mode, where Claude answers once and exits. This module answers the next question: what happens when print mode stops being enough and you want the whole agent loop living inside your own application? SDK stands for software development kit - a library you install and import like any other dependency. Fifteen minutes, three answers: what it is, when to switch to it, and which billing meter it runs on. ASK: 'Quick chat answer - who here ships software with a backend where an agent could live?' - expect: most of the developer room. SAY-NEXT: The pitch fits on one slide.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(10-15 min module; 3 min this slide) SAY: Here is the one-sentence pitch: everything you have driven from a terminal for three days is available as a library your application imports. Badge one, same loop: gather context, act, verify - the agentic loop you already know, now running inside your own process instead of a terminal window. Nothing new to learn conceptually; the mental model transfers whole, which is exactly why this module fits in fifteen minutes. Badge two: official packages in Python and TypeScript, with the same options surface as the CLI - allowed tools, permission modes, system prompts, MCP servers. Badge three is the one I want to stress: your guardrails. In the SDK, permission rules and hooks are code you write and ship - not settings a user might change on a laptop. That is a real governance upgrade for production systems. ASK: 'What changes about testing when the agent is a library?' - expect: you can unit test it like any dependency - mock the tools, assert the outcomes. SAY-NEXT: So when do you actually switch off claude -p?</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(10-15 min module; 3 min this slide) SAY: Here is a clean decision rule. Left card - stay with claude -p for one-shot jobs and CI steps, where shell-native glue is enough and humans read the output. Print mode is genuinely a power tool for pipelines: stateless in, text or JSON out, perfect while a person or a simple script consumes the result. Right card - graduate to the SDK when custom tools need to run in-process, when you need multi-turn state your application owns, or when the agent IS the product you are shipping. And the strip is the tripwire, so let me read it: the moment you are parsing -p output to make decisions in code, you wanted the SDK. Because at that point you are building an application around the agent - so use the interface that was built for applications. ASK: 'A nightly triage bot that labels GitHub issues - which side?' - expect: -p is genuinely fine there; it becomes an SDK job the day the bot needs conversation memory or custom in-process tools. SAY-NEXT: Proof that it really is fifteen minutes - hello agent, in both languages.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(10-15 min module; 3 min this slide) SAY: Look how small this is. Install is one line per language: pip install claude-agent-sdk for Python, or the npm install line at the bottom for TypeScript. The middle snippet is the whole program: import query from the SDK, then loop - async for message in query, with your prompt. query() behaves just like claude -p, except instead of text on stdout you get a stream of typed messages - and that async iteration is the whole trick: each message is an event your application can route, log, or act on. Same options surface as the CLI: allowed tools, permission mode, system prompt, and MCP servers all become option fields. Run the install for your language and try the snippet now. One caveat to keep: package names drift between releases, so have Claude verify the current install line before running (verify at delivery). ASK: 'What CLI flag maps to what here?' - expect: --allowedTools and the permission modes become options fields. SAY-NEXT: One last thing before anyone ships this - know which meter it runs on.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(10-15 min module; 2 min this slide) SAY: We close this module on cost clarity, because billing is where teams get surprised. Three meters on the slide. One, subscription: interactive CLI use rides your Claude plan. Two, API and cloud: per-token billing - the production default, and the meter your CI runs on whenever it authenticates with an API key. Three, the SDK plan credit: eligible paid plans receive a separate monthly Agent SDK credit for SDK-based work. Let me read the caution strip verbatim, because this one is commonly misreported: the SDK credit is a separate MONTHLY credit, not a weekly pool - sizing and eligibility vary by plan, so I confirm the official support article the morning of delivery (verify at delivery). The rule to carry out of the room: do not discover which meter you are on in production - decide it up front, per workload. ASK: 'Your CI job runs the SDK with an API key - which meter?' - expect: per-token API billing, regardless of anyone's subscription. BRIDGE BACK: And that is the Agent SDK in fifteen minutes - same loop, your process, known meter. Let us head back to the main track, still ahead of schedule.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DEPLOY: Any day - works as a closer, an energy break, or a preview of what is next. (10-15 min module; 1 min this slide) SAY: We are ahead of schedule, so I want to show you something most people never see - how far the Claude account you already have reaches beyond this terminal. For three days we have lived in a command line, but the same subscription touches a much wider surface - and some of it is genuinely useful to your team this same week. This is a guided tour with one hands-on stop at the end. One ground rule I will repeat on every slide: every stop on this tour is gated by plan tier or by administrator policy, so treat everything you see as a demonstration, not a dependency. ASK: 'Show of hands - who has opened Claude anywhere OTHER than the terminal this week?' - expect: a decent number, usually via web or mobile. SAY-NEXT: The map first, then the fun part.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(10-15 min module; 2 min this slide) SAY: Here is the map - one account, three groups of surfaces. First, Artifacts: where a conversation becomes a live, shareable, running web page - describe an app, get an app. Second, the desktop app: Claude outside the terminal, with a built-in browsing surface for work that touches the web. Third, the embedded group: Claude living inside tools your team already uses - the Chrome browser, Slack, and Cowork-style collaborative sessions. Important framing: none of this replaces the terminal skills you have built over three days - it extends where those skills apply, and it is often the first Claude your non-developer colleagues will ever touch. And the ground rule from the section slide holds: every surface here is gated by plan and admin policy, and the next two slides flag that explicitly on their caution strips. ASK: 'Which surface would your NON-developer colleagues touch first?' - expect: Artifacts or Slack. SAY-NEXT: Artifacts first - because you can build one right now.</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(10-15 min module; 3 min this slide) SAY: This is the hands-on beat of the tour. Card one, build: an artifact is a live page - a calculator, a dashboard, a tiny internal tool - generated from one good prompt and then revised conversationally. No deploy step, no hosting ticket. Card two, share - and this matters for governance rooms: new artifacts start private, and whether they can be shared at all follows your plan and your administrator's policy. Card three is the sleeper, and I will say it twice because it surprises people: connector-backed artifacts - ones that call MCP connectors for live data - execute with the VIEWER'S effective permissions, not the author's. The person looking at the artifact only sees what their own access allows. That is the right security default. Read the strip: available on Pro, Max, Team, and Enterprise; sharing is admin-gated - verify your tenant before demoing (verify at delivery). ASK: 'What tiny internal tool would you build first?' - expect: calculators, lookup forms, team dashboards. SAY-NEXT: The rest of the surface, one beat per stop.</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(10-15 min module; 3 min this slide) SAY: Five stops, one honest beat each - no overselling. Remote Control: a research preview that lets an approved account continue a local session from a phone or browser; your filesystem and execution stay local, while synchronized transcript data is handled under Anthropic's data-usage policy. Trusted Devices: still beta - enrolled devices plus biometric or passkey confirmation before they can act. The desktop app with its built-in browser moves web-touching tasks out of the terminal. Claude in Chrome puts the agent inside your browser tabs, acting on real pages. And Slack plus Cowork put Claude where the team already talks and works - team chat, and session-based collaborative work. Now the strip, and I mean every word of it: every row is plan-gated, admin-gated, or preview-gated. These are demonstrations, not dependencies - nothing in this course's labs requires any of them, and I verify each one in the tenant before promising it (verify at delivery). ASK: 'Which row does your security team ask about first?' - expect: Remote Control and Chrome. SAY-NEXT: Let us end the tour hands-on - you are going to build your first artifact.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(10-15 min module; 4 min this slide) SAY: If our tenant allows Artifacts, open the Claude app and run paste one exactly as written: build a retro-board web app - three columns, went well, needs work, actions - with sticky notes you can add and drag, and a button to export the board as markdown. Watch a working page appear from that single prompt. Then run paste two: make it dark-themed and add a per-column note counter. That second paste is the real lesson - you iterate on a live artifact conversationally; you do not regenerate it from scratch. If our tenant blocks Artifacts, I will run it once on my instructor account as a demo and say so plainly - and honestly, that IS the plan-gating lesson of this whole module, happening live (verify tenant policy at delivery). [CRESCENDO L3] ASK, three words or less in chat: 'First artifact you would build Monday?' - expect: dashboards, calculators, standup boards. BRIDGE BACK: And that closes the tour - one account, many surfaces, every one of them gated, so check before you promise. Let us head back to the main track.</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(Deck closer; 1 min this slide) SAY: Let me close this detour cleanly. First I will name it out loud - which module we just took and which day and block it deepens - so your notes file it in the right place; for example, 'that was the MCP builder module, and it extends Day 3 Block 1.' Left column, what you added: a deeper cut than the syllabus promised, because this room earned the time by staying ahead. Right column, where it lives: every flex module maps to a day and a block, so when you review later, revisit it next to those notes. One practical tip before we move: the paste-this slides in that module are screenshots worth taking right now - go ahead, I will give you ten seconds. ASK: 'One takeaway from this detour - type it in chat before we move on.' - expect: a quick scatter of the module's key lines, which doubles as my retention check. SAY: Back to the scheduled block - and we are still ahead of schedule.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image" Target="../media/image18.png"/><Relationship Id="rId8" Type="http://schemas.openxmlformats.org/officeDocument/2006/relationships/image" Target="../media/image19.png"/><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12.png"/><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17.png"/><Relationship Id="rId4" Type="http://schemas.openxmlformats.org/officeDocument/2006/relationships/image" Target="../media/image6.png"/><Relationship Id="rId5" Type="http://schemas.openxmlformats.org/officeDocument/2006/relationships/image" Target="../media/image24.png"/><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5.png"/><Relationship Id="rId4" Type="http://schemas.openxmlformats.org/officeDocument/2006/relationships/image" Target="../media/image26.png"/><Relationship Id="rId5" Type="http://schemas.openxmlformats.org/officeDocument/2006/relationships/image" Target="../media/image4.png"/><Relationship Id="rId6" Type="http://schemas.openxmlformats.org/officeDocument/2006/relationships/image" Target="../media/image9.png"/><Relationship Id="rId7" Type="http://schemas.openxmlformats.org/officeDocument/2006/relationships/image" Target="../media/image19.png"/><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30.png"/><Relationship Id="rId4" Type="http://schemas.openxmlformats.org/officeDocument/2006/relationships/image" Target="../media/image12.png"/><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image" Target="../media/image8.png"/><Relationship Id="rId5" Type="http://schemas.openxmlformats.org/officeDocument/2006/relationships/image" Target="../media/image19.png"/><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7.png"/><Relationship Id="rId4" Type="http://schemas.openxmlformats.org/officeDocument/2006/relationships/image" Target="../media/image14.png"/><Relationship Id="rId5" Type="http://schemas.openxmlformats.org/officeDocument/2006/relationships/image" Target="../media/image25.png"/><Relationship Id="rId6" Type="http://schemas.openxmlformats.org/officeDocument/2006/relationships/image" Target="../media/image19.png"/><Relationship Id="rId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image" Target="../media/image21.png"/><Relationship Id="rId4" Type="http://schemas.openxmlformats.org/officeDocument/2006/relationships/image" Target="../media/image17.png"/><Relationship Id="rId5" Type="http://schemas.openxmlformats.org/officeDocument/2006/relationships/image" Target="../media/image33.png"/><Relationship Id="rId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image" Target="../media/image30.png"/><Relationship Id="rId4" Type="http://schemas.openxmlformats.org/officeDocument/2006/relationships/image" Target="../media/image12.png"/><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14.png"/><Relationship Id="rId4" Type="http://schemas.openxmlformats.org/officeDocument/2006/relationships/image" Target="../media/image20.png"/><Relationship Id="rId5" Type="http://schemas.openxmlformats.org/officeDocument/2006/relationships/image" Target="../media/image19.png"/><Relationship Id="rId6"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image" Target="../media/image11.png"/><Relationship Id="rId4" Type="http://schemas.openxmlformats.org/officeDocument/2006/relationships/image" Target="../media/image17.png"/><Relationship Id="rId5" Type="http://schemas.openxmlformats.org/officeDocument/2006/relationships/image" Target="../media/image38.png"/><Relationship Id="rId6"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image" Target="../media/image24.png"/><Relationship Id="rId4" Type="http://schemas.openxmlformats.org/officeDocument/2006/relationships/image" Target="../media/image33.png"/><Relationship Id="rId5" Type="http://schemas.openxmlformats.org/officeDocument/2006/relationships/image" Target="../media/image19.png"/><Relationship Id="rId6"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33.png"/><Relationship Id="rId4" Type="http://schemas.openxmlformats.org/officeDocument/2006/relationships/image" Target="../media/image17.png"/><Relationship Id="rId5" Type="http://schemas.openxmlformats.org/officeDocument/2006/relationships/image" Target="../media/image16.png"/><Relationship Id="rId6" Type="http://schemas.openxmlformats.org/officeDocument/2006/relationships/image" Target="../media/image38.png"/><Relationship Id="rId7" Type="http://schemas.openxmlformats.org/officeDocument/2006/relationships/image" Target="../media/image19.png"/><Relationship Id="rId8"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notesSlide" Target="../notesSlides/notesSlide3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pic>
        <p:nvPicPr>
          <p:cNvPr id="2" name="Picture 1" descr="bg_1.png"/>
          <p:cNvPicPr>
            <a:picLocks noChangeAspect="1"/>
          </p:cNvPicPr>
          <p:nvPr/>
        </p:nvPicPr>
        <p:blipFill>
          <a:blip r:embed="rId2"/>
          <a:stretch>
            <a:fillRect/>
          </a:stretch>
        </p:blipFill>
        <p:spPr>
          <a:xfrm>
            <a:off x="6263640" y="0"/>
            <a:ext cx="5925312" cy="6858000"/>
          </a:xfrm>
          <a:prstGeom prst="rect">
            <a:avLst/>
          </a:prstGeom>
        </p:spPr>
      </p:pic>
      <p:sp>
        <p:nvSpPr>
          <p:cNvPr id="3" name="Rectangle 2"/>
          <p:cNvSpPr/>
          <p:nvPr/>
        </p:nvSpPr>
        <p:spPr>
          <a:xfrm>
            <a:off x="6263640" y="0"/>
            <a:ext cx="32004" cy="6858000"/>
          </a:xfrm>
          <a:prstGeom prst="rect">
            <a:avLst/>
          </a:prstGeom>
          <a:solidFill>
            <a:srgbClr val="2F6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2286000"/>
            <a:ext cx="502920" cy="45720"/>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2432304"/>
            <a:ext cx="5486400" cy="274320"/>
          </a:xfrm>
          <a:prstGeom prst="rect">
            <a:avLst/>
          </a:prstGeom>
          <a:noFill/>
        </p:spPr>
        <p:txBody>
          <a:bodyPr wrap="square" anchor="t">
            <a:spAutoFit/>
          </a:bodyPr>
          <a:lstStyle/>
          <a:p>
            <a:pPr algn="l">
              <a:lnSpc>
                <a:spcPct val="100000"/>
              </a:lnSpc>
              <a:spcBef>
                <a:spcPts val="0"/>
              </a:spcBef>
              <a:spcAft>
                <a:spcPts val="200"/>
              </a:spcAft>
            </a:pPr>
            <a:r>
              <a:rPr sz="1200" b="1" spc="180">
                <a:solidFill>
                  <a:srgbClr val="8B8B93"/>
                </a:solidFill>
                <a:latin typeface="Instrument Sans"/>
              </a:rPr>
              <a:t>FLEX MODULES - PULL IN WHEN AHEAD</a:t>
            </a:r>
          </a:p>
        </p:txBody>
      </p:sp>
      <p:sp>
        <p:nvSpPr>
          <p:cNvPr id="6" name="TextBox 5"/>
          <p:cNvSpPr txBox="1"/>
          <p:nvPr/>
        </p:nvSpPr>
        <p:spPr>
          <a:xfrm>
            <a:off x="621792" y="2761488"/>
            <a:ext cx="5669280" cy="1371600"/>
          </a:xfrm>
          <a:prstGeom prst="rect">
            <a:avLst/>
          </a:prstGeom>
          <a:noFill/>
        </p:spPr>
        <p:txBody>
          <a:bodyPr wrap="square" anchor="t">
            <a:spAutoFit/>
          </a:bodyPr>
          <a:lstStyle/>
          <a:p>
            <a:pPr algn="l">
              <a:lnSpc>
                <a:spcPct val="100000"/>
              </a:lnSpc>
              <a:spcBef>
                <a:spcPts val="0"/>
              </a:spcBef>
              <a:spcAft>
                <a:spcPts val="200"/>
              </a:spcAft>
            </a:pPr>
            <a:r>
              <a:rPr sz="4600" b="1">
                <a:solidFill>
                  <a:srgbClr val="F5F5F6"/>
                </a:solidFill>
                <a:latin typeface="Instrument Sans"/>
              </a:rPr>
              <a:t>Claude Code Power Topics</a:t>
            </a:r>
          </a:p>
        </p:txBody>
      </p:sp>
      <p:sp>
        <p:nvSpPr>
          <p:cNvPr id="7" name="TextBox 6"/>
          <p:cNvSpPr txBox="1"/>
          <p:nvPr/>
        </p:nvSpPr>
        <p:spPr>
          <a:xfrm>
            <a:off x="640080" y="5074920"/>
            <a:ext cx="5486400" cy="274320"/>
          </a:xfrm>
          <a:prstGeom prst="rect">
            <a:avLst/>
          </a:prstGeom>
          <a:noFill/>
        </p:spPr>
        <p:txBody>
          <a:bodyPr wrap="square" anchor="t">
            <a:spAutoFit/>
          </a:bodyPr>
          <a:lstStyle/>
          <a:p>
            <a:pPr algn="l">
              <a:lnSpc>
                <a:spcPct val="100000"/>
              </a:lnSpc>
              <a:spcBef>
                <a:spcPts val="0"/>
              </a:spcBef>
              <a:spcAft>
                <a:spcPts val="200"/>
              </a:spcAft>
            </a:pPr>
            <a:r>
              <a:rPr sz="1500" b="0">
                <a:solidFill>
                  <a:srgbClr val="7E7E86"/>
                </a:solidFill>
                <a:latin typeface="Instrument Sans"/>
              </a:rPr>
              <a:t>Scott Hay</a:t>
            </a:r>
          </a:p>
        </p:txBody>
      </p:sp>
      <p:sp>
        <p:nvSpPr>
          <p:cNvPr id="8" name="TextBox 7"/>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THE FLEX MENU</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Six modules, deploy at will</a:t>
            </a:r>
          </a:p>
        </p:txBody>
      </p:sp>
      <p:sp>
        <p:nvSpPr>
          <p:cNvPr id="4" name="TextBox 3"/>
          <p:cNvSpPr txBox="1"/>
          <p:nvPr/>
        </p:nvSpPr>
        <p:spPr>
          <a:xfrm>
            <a:off x="640080" y="1965960"/>
            <a:ext cx="731520" cy="457200"/>
          </a:xfrm>
          <a:prstGeom prst="rect">
            <a:avLst/>
          </a:prstGeom>
          <a:noFill/>
        </p:spPr>
        <p:txBody>
          <a:bodyPr wrap="square" anchor="t">
            <a:spAutoFit/>
          </a:bodyPr>
          <a:lstStyle/>
          <a:p>
            <a:pPr algn="l">
              <a:lnSpc>
                <a:spcPct val="100000"/>
              </a:lnSpc>
              <a:spcBef>
                <a:spcPts val="0"/>
              </a:spcBef>
              <a:spcAft>
                <a:spcPts val="200"/>
              </a:spcAft>
            </a:pPr>
            <a:r>
              <a:rPr sz="2700" b="1">
                <a:solidFill>
                  <a:srgbClr val="4C8DF0"/>
                </a:solidFill>
                <a:latin typeface="Instrument Sans"/>
              </a:rPr>
              <a:t>01</a:t>
            </a:r>
          </a:p>
        </p:txBody>
      </p:sp>
      <p:sp>
        <p:nvSpPr>
          <p:cNvPr id="5" name="TextBox 4"/>
          <p:cNvSpPr txBox="1"/>
          <p:nvPr/>
        </p:nvSpPr>
        <p:spPr>
          <a:xfrm>
            <a:off x="1463040" y="1984248"/>
            <a:ext cx="4480560" cy="1219200"/>
          </a:xfrm>
          <a:prstGeom prst="rect">
            <a:avLst/>
          </a:prstGeom>
          <a:noFill/>
        </p:spPr>
        <p:txBody>
          <a:bodyPr wrap="square" anchor="t">
            <a:spAutoFit/>
          </a:bodyPr>
          <a:lstStyle/>
          <a:p>
            <a:pPr algn="l">
              <a:lnSpc>
                <a:spcPct val="105000"/>
              </a:lnSpc>
              <a:spcBef>
                <a:spcPts val="0"/>
              </a:spcBef>
              <a:spcAft>
                <a:spcPts val="300"/>
              </a:spcAft>
            </a:pPr>
            <a:r>
              <a:rPr sz="2100" b="1">
                <a:solidFill>
                  <a:srgbClr val="F5F5F6"/>
                </a:solidFill>
                <a:latin typeface="Instrument Sans"/>
              </a:rPr>
              <a:t>1. CLAUDE.md Power Patterns</a:t>
            </a:r>
          </a:p>
          <a:p>
            <a:pPr algn="l">
              <a:lnSpc>
                <a:spcPct val="105000"/>
              </a:lnSpc>
              <a:spcBef>
                <a:spcPts val="0"/>
              </a:spcBef>
              <a:spcAft>
                <a:spcPts val="300"/>
              </a:spcAft>
            </a:pPr>
            <a:r>
              <a:rPr sz="1550" b="0">
                <a:solidFill>
                  <a:srgbClr val="ACACB4"/>
                </a:solidFill>
                <a:latin typeface="Instrument Sans"/>
              </a:rPr>
              <a:t>Day 1 flex - after Block 2 (Memory)</a:t>
            </a:r>
          </a:p>
        </p:txBody>
      </p:sp>
      <p:sp>
        <p:nvSpPr>
          <p:cNvPr id="6" name="Rectangle 5"/>
          <p:cNvSpPr/>
          <p:nvPr/>
        </p:nvSpPr>
        <p:spPr>
          <a:xfrm>
            <a:off x="640080" y="3304032"/>
            <a:ext cx="5394960"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81344" y="1965960"/>
            <a:ext cx="731520" cy="457200"/>
          </a:xfrm>
          <a:prstGeom prst="rect">
            <a:avLst/>
          </a:prstGeom>
          <a:noFill/>
        </p:spPr>
        <p:txBody>
          <a:bodyPr wrap="square" anchor="t">
            <a:spAutoFit/>
          </a:bodyPr>
          <a:lstStyle/>
          <a:p>
            <a:pPr algn="l">
              <a:lnSpc>
                <a:spcPct val="100000"/>
              </a:lnSpc>
              <a:spcBef>
                <a:spcPts val="0"/>
              </a:spcBef>
              <a:spcAft>
                <a:spcPts val="200"/>
              </a:spcAft>
            </a:pPr>
            <a:r>
              <a:rPr sz="2700" b="1">
                <a:solidFill>
                  <a:srgbClr val="4C8DF0"/>
                </a:solidFill>
                <a:latin typeface="Instrument Sans"/>
              </a:rPr>
              <a:t>02</a:t>
            </a:r>
          </a:p>
        </p:txBody>
      </p:sp>
      <p:sp>
        <p:nvSpPr>
          <p:cNvPr id="8" name="TextBox 7"/>
          <p:cNvSpPr txBox="1"/>
          <p:nvPr/>
        </p:nvSpPr>
        <p:spPr>
          <a:xfrm>
            <a:off x="7004304" y="1984248"/>
            <a:ext cx="4480560" cy="1219200"/>
          </a:xfrm>
          <a:prstGeom prst="rect">
            <a:avLst/>
          </a:prstGeom>
          <a:noFill/>
        </p:spPr>
        <p:txBody>
          <a:bodyPr wrap="square" anchor="t">
            <a:spAutoFit/>
          </a:bodyPr>
          <a:lstStyle/>
          <a:p>
            <a:pPr algn="l">
              <a:lnSpc>
                <a:spcPct val="105000"/>
              </a:lnSpc>
              <a:spcBef>
                <a:spcPts val="0"/>
              </a:spcBef>
              <a:spcAft>
                <a:spcPts val="300"/>
              </a:spcAft>
            </a:pPr>
            <a:r>
              <a:rPr sz="2100" b="1">
                <a:solidFill>
                  <a:srgbClr val="F5F5F6"/>
                </a:solidFill>
                <a:latin typeface="Instrument Sans"/>
              </a:rPr>
              <a:t>2. The QoL Arsenal</a:t>
            </a:r>
          </a:p>
          <a:p>
            <a:pPr algn="l">
              <a:lnSpc>
                <a:spcPct val="105000"/>
              </a:lnSpc>
              <a:spcBef>
                <a:spcPts val="0"/>
              </a:spcBef>
              <a:spcAft>
                <a:spcPts val="300"/>
              </a:spcAft>
            </a:pPr>
            <a:r>
              <a:rPr sz="1550" b="0">
                <a:solidFill>
                  <a:srgbClr val="ACACB4"/>
                </a:solidFill>
                <a:latin typeface="Instrument Sans"/>
              </a:rPr>
              <a:t>Day 1 flex - after Block 4 (Commands)</a:t>
            </a:r>
          </a:p>
        </p:txBody>
      </p:sp>
      <p:sp>
        <p:nvSpPr>
          <p:cNvPr id="9" name="Rectangle 8"/>
          <p:cNvSpPr/>
          <p:nvPr/>
        </p:nvSpPr>
        <p:spPr>
          <a:xfrm>
            <a:off x="6181344" y="3304032"/>
            <a:ext cx="5394960"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413760"/>
            <a:ext cx="731520" cy="457200"/>
          </a:xfrm>
          <a:prstGeom prst="rect">
            <a:avLst/>
          </a:prstGeom>
          <a:noFill/>
        </p:spPr>
        <p:txBody>
          <a:bodyPr wrap="square" anchor="t">
            <a:spAutoFit/>
          </a:bodyPr>
          <a:lstStyle/>
          <a:p>
            <a:pPr algn="l">
              <a:lnSpc>
                <a:spcPct val="100000"/>
              </a:lnSpc>
              <a:spcBef>
                <a:spcPts val="0"/>
              </a:spcBef>
              <a:spcAft>
                <a:spcPts val="200"/>
              </a:spcAft>
            </a:pPr>
            <a:r>
              <a:rPr sz="2700" b="1">
                <a:solidFill>
                  <a:srgbClr val="4C8DF0"/>
                </a:solidFill>
                <a:latin typeface="Instrument Sans"/>
              </a:rPr>
              <a:t>03</a:t>
            </a:r>
          </a:p>
        </p:txBody>
      </p:sp>
      <p:sp>
        <p:nvSpPr>
          <p:cNvPr id="11" name="TextBox 10"/>
          <p:cNvSpPr txBox="1"/>
          <p:nvPr/>
        </p:nvSpPr>
        <p:spPr>
          <a:xfrm>
            <a:off x="1463040" y="3432048"/>
            <a:ext cx="4480560" cy="1219200"/>
          </a:xfrm>
          <a:prstGeom prst="rect">
            <a:avLst/>
          </a:prstGeom>
          <a:noFill/>
        </p:spPr>
        <p:txBody>
          <a:bodyPr wrap="square" anchor="t">
            <a:spAutoFit/>
          </a:bodyPr>
          <a:lstStyle/>
          <a:p>
            <a:pPr algn="l">
              <a:lnSpc>
                <a:spcPct val="105000"/>
              </a:lnSpc>
              <a:spcBef>
                <a:spcPts val="0"/>
              </a:spcBef>
              <a:spcAft>
                <a:spcPts val="300"/>
              </a:spcAft>
            </a:pPr>
            <a:r>
              <a:rPr sz="2100" b="1">
                <a:solidFill>
                  <a:srgbClr val="F5F5F6"/>
                </a:solidFill>
                <a:latin typeface="Instrument Sans"/>
              </a:rPr>
              <a:t>3. Build a Custom MCP Server</a:t>
            </a:r>
          </a:p>
          <a:p>
            <a:pPr algn="l">
              <a:lnSpc>
                <a:spcPct val="105000"/>
              </a:lnSpc>
              <a:spcBef>
                <a:spcPts val="0"/>
              </a:spcBef>
              <a:spcAft>
                <a:spcPts val="300"/>
              </a:spcAft>
            </a:pPr>
            <a:r>
              <a:rPr sz="1550" b="0">
                <a:solidFill>
                  <a:srgbClr val="ACACB4"/>
                </a:solidFill>
                <a:latin typeface="Instrument Sans"/>
              </a:rPr>
              <a:t>Day 3 flex - extends Block 1 (MCP)</a:t>
            </a:r>
          </a:p>
        </p:txBody>
      </p:sp>
      <p:sp>
        <p:nvSpPr>
          <p:cNvPr id="12" name="Rectangle 11"/>
          <p:cNvSpPr/>
          <p:nvPr/>
        </p:nvSpPr>
        <p:spPr>
          <a:xfrm>
            <a:off x="640080" y="4751832"/>
            <a:ext cx="5394960"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81344" y="3413760"/>
            <a:ext cx="731520" cy="457200"/>
          </a:xfrm>
          <a:prstGeom prst="rect">
            <a:avLst/>
          </a:prstGeom>
          <a:noFill/>
        </p:spPr>
        <p:txBody>
          <a:bodyPr wrap="square" anchor="t">
            <a:spAutoFit/>
          </a:bodyPr>
          <a:lstStyle/>
          <a:p>
            <a:pPr algn="l">
              <a:lnSpc>
                <a:spcPct val="100000"/>
              </a:lnSpc>
              <a:spcBef>
                <a:spcPts val="0"/>
              </a:spcBef>
              <a:spcAft>
                <a:spcPts val="200"/>
              </a:spcAft>
            </a:pPr>
            <a:r>
              <a:rPr sz="2700" b="1">
                <a:solidFill>
                  <a:srgbClr val="4C8DF0"/>
                </a:solidFill>
                <a:latin typeface="Instrument Sans"/>
              </a:rPr>
              <a:t>04</a:t>
            </a:r>
          </a:p>
        </p:txBody>
      </p:sp>
      <p:sp>
        <p:nvSpPr>
          <p:cNvPr id="14" name="TextBox 13"/>
          <p:cNvSpPr txBox="1"/>
          <p:nvPr/>
        </p:nvSpPr>
        <p:spPr>
          <a:xfrm>
            <a:off x="7004304" y="3432048"/>
            <a:ext cx="4480560" cy="1219200"/>
          </a:xfrm>
          <a:prstGeom prst="rect">
            <a:avLst/>
          </a:prstGeom>
          <a:noFill/>
        </p:spPr>
        <p:txBody>
          <a:bodyPr wrap="square" anchor="t">
            <a:spAutoFit/>
          </a:bodyPr>
          <a:lstStyle/>
          <a:p>
            <a:pPr algn="l">
              <a:lnSpc>
                <a:spcPct val="105000"/>
              </a:lnSpc>
              <a:spcBef>
                <a:spcPts val="0"/>
              </a:spcBef>
              <a:spcAft>
                <a:spcPts val="300"/>
              </a:spcAft>
            </a:pPr>
            <a:r>
              <a:rPr sz="2100" b="1">
                <a:solidFill>
                  <a:srgbClr val="F5F5F6"/>
                </a:solidFill>
                <a:latin typeface="Instrument Sans"/>
              </a:rPr>
              <a:t>4. Code Execution &amp; Tool Use</a:t>
            </a:r>
          </a:p>
          <a:p>
            <a:pPr algn="l">
              <a:lnSpc>
                <a:spcPct val="105000"/>
              </a:lnSpc>
              <a:spcBef>
                <a:spcPts val="0"/>
              </a:spcBef>
              <a:spcAft>
                <a:spcPts val="300"/>
              </a:spcAft>
            </a:pPr>
            <a:r>
              <a:rPr sz="1550" b="0">
                <a:solidFill>
                  <a:srgbClr val="ACACB4"/>
                </a:solidFill>
                <a:latin typeface="Instrument Sans"/>
              </a:rPr>
              <a:t>Day 3 flex - extends Block 4 (Scale)</a:t>
            </a:r>
          </a:p>
        </p:txBody>
      </p:sp>
      <p:sp>
        <p:nvSpPr>
          <p:cNvPr id="15" name="Rectangle 14"/>
          <p:cNvSpPr/>
          <p:nvPr/>
        </p:nvSpPr>
        <p:spPr>
          <a:xfrm>
            <a:off x="6181344" y="4751832"/>
            <a:ext cx="5394960"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861560"/>
            <a:ext cx="731520" cy="457200"/>
          </a:xfrm>
          <a:prstGeom prst="rect">
            <a:avLst/>
          </a:prstGeom>
          <a:noFill/>
        </p:spPr>
        <p:txBody>
          <a:bodyPr wrap="square" anchor="t">
            <a:spAutoFit/>
          </a:bodyPr>
          <a:lstStyle/>
          <a:p>
            <a:pPr algn="l">
              <a:lnSpc>
                <a:spcPct val="100000"/>
              </a:lnSpc>
              <a:spcBef>
                <a:spcPts val="0"/>
              </a:spcBef>
              <a:spcAft>
                <a:spcPts val="200"/>
              </a:spcAft>
            </a:pPr>
            <a:r>
              <a:rPr sz="2700" b="1">
                <a:solidFill>
                  <a:srgbClr val="4C8DF0"/>
                </a:solidFill>
                <a:latin typeface="Instrument Sans"/>
              </a:rPr>
              <a:t>05</a:t>
            </a:r>
          </a:p>
        </p:txBody>
      </p:sp>
      <p:sp>
        <p:nvSpPr>
          <p:cNvPr id="17" name="TextBox 16"/>
          <p:cNvSpPr txBox="1"/>
          <p:nvPr/>
        </p:nvSpPr>
        <p:spPr>
          <a:xfrm>
            <a:off x="1463040" y="4879847"/>
            <a:ext cx="4480560" cy="1219200"/>
          </a:xfrm>
          <a:prstGeom prst="rect">
            <a:avLst/>
          </a:prstGeom>
          <a:noFill/>
        </p:spPr>
        <p:txBody>
          <a:bodyPr wrap="square" anchor="t">
            <a:spAutoFit/>
          </a:bodyPr>
          <a:lstStyle/>
          <a:p>
            <a:pPr algn="l">
              <a:lnSpc>
                <a:spcPct val="105000"/>
              </a:lnSpc>
              <a:spcBef>
                <a:spcPts val="0"/>
              </a:spcBef>
              <a:spcAft>
                <a:spcPts val="300"/>
              </a:spcAft>
            </a:pPr>
            <a:r>
              <a:rPr sz="2100" b="1">
                <a:solidFill>
                  <a:srgbClr val="F5F5F6"/>
                </a:solidFill>
                <a:latin typeface="Instrument Sans"/>
              </a:rPr>
              <a:t>5. The Agent SDK in 15 Minutes</a:t>
            </a:r>
          </a:p>
          <a:p>
            <a:pPr algn="l">
              <a:lnSpc>
                <a:spcPct val="105000"/>
              </a:lnSpc>
              <a:spcBef>
                <a:spcPts val="0"/>
              </a:spcBef>
              <a:spcAft>
                <a:spcPts val="300"/>
              </a:spcAft>
            </a:pPr>
            <a:r>
              <a:rPr sz="1550" b="0">
                <a:solidFill>
                  <a:srgbClr val="ACACB4"/>
                </a:solidFill>
                <a:latin typeface="Instrument Sans"/>
              </a:rPr>
              <a:t>Day 3 flex - after Block 3 (Headless)</a:t>
            </a:r>
          </a:p>
        </p:txBody>
      </p:sp>
      <p:sp>
        <p:nvSpPr>
          <p:cNvPr id="18" name="Rectangle 17"/>
          <p:cNvSpPr/>
          <p:nvPr/>
        </p:nvSpPr>
        <p:spPr>
          <a:xfrm>
            <a:off x="640080" y="6199631"/>
            <a:ext cx="5394960"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81344" y="4861560"/>
            <a:ext cx="731520" cy="457200"/>
          </a:xfrm>
          <a:prstGeom prst="rect">
            <a:avLst/>
          </a:prstGeom>
          <a:noFill/>
        </p:spPr>
        <p:txBody>
          <a:bodyPr wrap="square" anchor="t">
            <a:spAutoFit/>
          </a:bodyPr>
          <a:lstStyle/>
          <a:p>
            <a:pPr algn="l">
              <a:lnSpc>
                <a:spcPct val="100000"/>
              </a:lnSpc>
              <a:spcBef>
                <a:spcPts val="0"/>
              </a:spcBef>
              <a:spcAft>
                <a:spcPts val="200"/>
              </a:spcAft>
            </a:pPr>
            <a:r>
              <a:rPr sz="2700" b="1">
                <a:solidFill>
                  <a:srgbClr val="4C8DF0"/>
                </a:solidFill>
                <a:latin typeface="Instrument Sans"/>
              </a:rPr>
              <a:t>06</a:t>
            </a:r>
          </a:p>
        </p:txBody>
      </p:sp>
      <p:sp>
        <p:nvSpPr>
          <p:cNvPr id="20" name="TextBox 19"/>
          <p:cNvSpPr txBox="1"/>
          <p:nvPr/>
        </p:nvSpPr>
        <p:spPr>
          <a:xfrm>
            <a:off x="7004304" y="4879847"/>
            <a:ext cx="4480560" cy="1219200"/>
          </a:xfrm>
          <a:prstGeom prst="rect">
            <a:avLst/>
          </a:prstGeom>
          <a:noFill/>
        </p:spPr>
        <p:txBody>
          <a:bodyPr wrap="square" anchor="t">
            <a:spAutoFit/>
          </a:bodyPr>
          <a:lstStyle/>
          <a:p>
            <a:pPr algn="l">
              <a:lnSpc>
                <a:spcPct val="105000"/>
              </a:lnSpc>
              <a:spcBef>
                <a:spcPts val="0"/>
              </a:spcBef>
              <a:spcAft>
                <a:spcPts val="300"/>
              </a:spcAft>
            </a:pPr>
            <a:r>
              <a:rPr sz="2100" b="1">
                <a:solidFill>
                  <a:srgbClr val="F5F5F6"/>
                </a:solidFill>
                <a:latin typeface="Instrument Sans"/>
              </a:rPr>
              <a:t>6. The Wider Surface</a:t>
            </a:r>
          </a:p>
          <a:p>
            <a:pPr algn="l">
              <a:lnSpc>
                <a:spcPct val="105000"/>
              </a:lnSpc>
              <a:spcBef>
                <a:spcPts val="0"/>
              </a:spcBef>
              <a:spcAft>
                <a:spcPts val="300"/>
              </a:spcAft>
            </a:pPr>
            <a:r>
              <a:rPr sz="1550" b="0">
                <a:solidFill>
                  <a:srgbClr val="ACACB4"/>
                </a:solidFill>
                <a:latin typeface="Instrument Sans"/>
              </a:rPr>
              <a:t>Any day - closer or energy break</a:t>
            </a:r>
          </a:p>
        </p:txBody>
      </p:sp>
      <p:sp>
        <p:nvSpPr>
          <p:cNvPr id="21" name="Rectangle 20"/>
          <p:cNvSpPr/>
          <p:nvPr/>
        </p:nvSpPr>
        <p:spPr>
          <a:xfrm>
            <a:off x="6181344" y="6199631"/>
            <a:ext cx="5394960"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4" name="TextBox 23"/>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pic>
        <p:nvPicPr>
          <p:cNvPr id="2" name="Picture 1" descr="bg_2.png"/>
          <p:cNvPicPr>
            <a:picLocks noChangeAspect="1"/>
          </p:cNvPicPr>
          <p:nvPr/>
        </p:nvPicPr>
        <p:blipFill>
          <a:blip r:embed="rId2"/>
          <a:stretch>
            <a:fillRect/>
          </a:stretch>
        </p:blipFill>
        <p:spPr>
          <a:xfrm>
            <a:off x="6355080" y="0"/>
            <a:ext cx="5833872" cy="6858000"/>
          </a:xfrm>
          <a:prstGeom prst="rect">
            <a:avLst/>
          </a:prstGeom>
        </p:spPr>
      </p:pic>
      <p:sp>
        <p:nvSpPr>
          <p:cNvPr id="3" name="Rectangle 2"/>
          <p:cNvSpPr/>
          <p:nvPr/>
        </p:nvSpPr>
        <p:spPr>
          <a:xfrm>
            <a:off x="6355080" y="0"/>
            <a:ext cx="32004" cy="6858000"/>
          </a:xfrm>
          <a:prstGeom prst="rect">
            <a:avLst/>
          </a:prstGeom>
          <a:solidFill>
            <a:srgbClr val="2F6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2542032"/>
            <a:ext cx="548640" cy="54864"/>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2706624"/>
            <a:ext cx="5486400" cy="365760"/>
          </a:xfrm>
          <a:prstGeom prst="rect">
            <a:avLst/>
          </a:prstGeom>
          <a:noFill/>
        </p:spPr>
        <p:txBody>
          <a:bodyPr wrap="square" anchor="t">
            <a:spAutoFit/>
          </a:bodyPr>
          <a:lstStyle/>
          <a:p>
            <a:pPr algn="l">
              <a:lnSpc>
                <a:spcPct val="100000"/>
              </a:lnSpc>
              <a:spcBef>
                <a:spcPts val="0"/>
              </a:spcBef>
              <a:spcAft>
                <a:spcPts val="200"/>
              </a:spcAft>
            </a:pPr>
            <a:r>
              <a:rPr sz="1300" b="1" spc="200">
                <a:solidFill>
                  <a:srgbClr val="8B8B93"/>
                </a:solidFill>
                <a:latin typeface="Instrument Sans"/>
              </a:rPr>
              <a:t>FLEX MODULE 1 - DAY 1</a:t>
            </a:r>
          </a:p>
        </p:txBody>
      </p:sp>
      <p:sp>
        <p:nvSpPr>
          <p:cNvPr id="6" name="TextBox 5"/>
          <p:cNvSpPr txBox="1"/>
          <p:nvPr/>
        </p:nvSpPr>
        <p:spPr>
          <a:xfrm>
            <a:off x="658368" y="3054096"/>
            <a:ext cx="5532120" cy="1783080"/>
          </a:xfrm>
          <a:prstGeom prst="rect">
            <a:avLst/>
          </a:prstGeom>
          <a:noFill/>
        </p:spPr>
        <p:txBody>
          <a:bodyPr wrap="square" anchor="t">
            <a:spAutoFit/>
          </a:bodyPr>
          <a:lstStyle/>
          <a:p>
            <a:pPr algn="l">
              <a:lnSpc>
                <a:spcPct val="102000"/>
              </a:lnSpc>
              <a:spcBef>
                <a:spcPts val="0"/>
              </a:spcBef>
              <a:spcAft>
                <a:spcPts val="200"/>
              </a:spcAft>
            </a:pPr>
            <a:r>
              <a:rPr sz="3400" b="1">
                <a:solidFill>
                  <a:srgbClr val="F5F5F6"/>
                </a:solidFill>
                <a:latin typeface="Instrument Sans"/>
              </a:rPr>
              <a:t>CLAUDE.md Power Patterns</a:t>
            </a:r>
          </a:p>
        </p:txBody>
      </p:sp>
      <p:sp>
        <p:nvSpPr>
          <p:cNvPr id="7" name="TextBox 6"/>
          <p:cNvSpPr txBox="1"/>
          <p:nvPr/>
        </p:nvSpPr>
        <p:spPr>
          <a:xfrm>
            <a:off x="685800" y="4983480"/>
            <a:ext cx="5440680" cy="1005840"/>
          </a:xfrm>
          <a:prstGeom prst="rect">
            <a:avLst/>
          </a:prstGeom>
          <a:noFill/>
        </p:spPr>
        <p:txBody>
          <a:bodyPr wrap="square" anchor="t">
            <a:spAutoFit/>
          </a:bodyPr>
          <a:lstStyle/>
          <a:p>
            <a:pPr algn="l">
              <a:lnSpc>
                <a:spcPct val="115000"/>
              </a:lnSpc>
              <a:spcBef>
                <a:spcPts val="0"/>
              </a:spcBef>
              <a:spcAft>
                <a:spcPts val="200"/>
              </a:spcAft>
            </a:pPr>
            <a:r>
              <a:rPr sz="1750" b="0">
                <a:solidFill>
                  <a:srgbClr val="ACACB4"/>
                </a:solidFill>
                <a:latin typeface="Instrument Sans"/>
              </a:rPr>
              <a:t>Pull in when ahead - pairs with Day 1 Block 2 (Memory &amp; CLAUDE.md)</a:t>
            </a:r>
          </a:p>
        </p:txBody>
      </p:sp>
      <p:sp>
        <p:nvSpPr>
          <p:cNvPr id="8" name="Rectangle 7"/>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10" name="TextBox 9"/>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pic>
        <p:nvPicPr>
          <p:cNvPr id="2" name="Picture 1" descr="bg_3.png"/>
          <p:cNvPicPr>
            <a:picLocks noChangeAspect="1"/>
          </p:cNvPicPr>
          <p:nvPr/>
        </p:nvPicPr>
        <p:blipFill>
          <a:blip r:embed="rId2"/>
          <a:stretch>
            <a:fillRect/>
          </a:stretch>
        </p:blipFill>
        <p:spPr>
          <a:xfrm>
            <a:off x="0" y="0"/>
            <a:ext cx="4800600" cy="6437376"/>
          </a:xfrm>
          <a:prstGeom prst="rect">
            <a:avLst/>
          </a:prstGeom>
        </p:spPr>
      </p:pic>
      <p:sp>
        <p:nvSpPr>
          <p:cNvPr id="3" name="Rectangle 2"/>
          <p:cNvSpPr/>
          <p:nvPr/>
        </p:nvSpPr>
        <p:spPr>
          <a:xfrm>
            <a:off x="4800600" y="0"/>
            <a:ext cx="45720" cy="6858000"/>
          </a:xfrm>
          <a:prstGeom prst="rect">
            <a:avLst/>
          </a:prstGeom>
          <a:solidFill>
            <a:srgbClr val="2F6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49240" y="603504"/>
            <a:ext cx="6385255" cy="274320"/>
          </a:xfrm>
          <a:prstGeom prst="rect">
            <a:avLst/>
          </a:prstGeom>
          <a:noFill/>
        </p:spPr>
        <p:txBody>
          <a:bodyPr wrap="square" anchor="t">
            <a:spAutoFit/>
          </a:bodyPr>
          <a:lstStyle/>
          <a:p>
            <a:pPr algn="l">
              <a:lnSpc>
                <a:spcPct val="100000"/>
              </a:lnSpc>
              <a:spcBef>
                <a:spcPts val="0"/>
              </a:spcBef>
              <a:spcAft>
                <a:spcPts val="200"/>
              </a:spcAft>
            </a:pPr>
            <a:r>
              <a:rPr sz="1300" b="1" spc="160">
                <a:solidFill>
                  <a:srgbClr val="8B8B93"/>
                </a:solidFill>
                <a:latin typeface="Instrument Sans"/>
              </a:rPr>
              <a:t>CONCEPT</a:t>
            </a:r>
          </a:p>
        </p:txBody>
      </p:sp>
      <p:sp>
        <p:nvSpPr>
          <p:cNvPr id="5" name="TextBox 4"/>
          <p:cNvSpPr txBox="1"/>
          <p:nvPr/>
        </p:nvSpPr>
        <p:spPr>
          <a:xfrm>
            <a:off x="5349240" y="969264"/>
            <a:ext cx="6385255" cy="1143000"/>
          </a:xfrm>
          <a:prstGeom prst="rect">
            <a:avLst/>
          </a:prstGeom>
          <a:noFill/>
        </p:spPr>
        <p:txBody>
          <a:bodyPr wrap="square" anchor="t">
            <a:spAutoFit/>
          </a:bodyPr>
          <a:lstStyle/>
          <a:p>
            <a:pPr algn="l">
              <a:lnSpc>
                <a:spcPct val="105000"/>
              </a:lnSpc>
              <a:spcBef>
                <a:spcPts val="0"/>
              </a:spcBef>
              <a:spcAft>
                <a:spcPts val="200"/>
              </a:spcAft>
            </a:pPr>
            <a:r>
              <a:rPr sz="2700" b="1">
                <a:solidFill>
                  <a:srgbClr val="F5F5F6"/>
                </a:solidFill>
                <a:latin typeface="Instrument Sans"/>
              </a:rPr>
              <a:t>Inside a lead engineer's file</a:t>
            </a:r>
          </a:p>
        </p:txBody>
      </p:sp>
      <p:sp>
        <p:nvSpPr>
          <p:cNvPr id="6" name="TextBox 5"/>
          <p:cNvSpPr txBox="1"/>
          <p:nvPr/>
        </p:nvSpPr>
        <p:spPr>
          <a:xfrm>
            <a:off x="5349240" y="2286000"/>
            <a:ext cx="6385255" cy="1097280"/>
          </a:xfrm>
          <a:prstGeom prst="rect">
            <a:avLst/>
          </a:prstGeom>
          <a:noFill/>
        </p:spPr>
        <p:txBody>
          <a:bodyPr wrap="square" anchor="t">
            <a:spAutoFit/>
          </a:bodyPr>
          <a:lstStyle/>
          <a:p>
            <a:pPr algn="l">
              <a:lnSpc>
                <a:spcPct val="125000"/>
              </a:lnSpc>
              <a:spcBef>
                <a:spcPts val="0"/>
              </a:spcBef>
              <a:spcAft>
                <a:spcPts val="200"/>
              </a:spcAft>
            </a:pPr>
            <a:r>
              <a:rPr sz="1500" b="0">
                <a:solidFill>
                  <a:srgbClr val="ACACB4"/>
                </a:solidFill>
                <a:latin typeface="Instrument Sans"/>
              </a:rPr>
              <a:t>Patterns from the CLAUDE.md of Claude Code's own creator - and teams shipping with it daily.</a:t>
            </a:r>
          </a:p>
        </p:txBody>
      </p:sp>
      <p:sp>
        <p:nvSpPr>
          <p:cNvPr id="7" name="Rounded Rectangle 6"/>
          <p:cNvSpPr/>
          <p:nvPr/>
        </p:nvSpPr>
        <p:spPr>
          <a:xfrm>
            <a:off x="5349240" y="3474720"/>
            <a:ext cx="6385255" cy="85344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5623559" y="3617976"/>
            <a:ext cx="566928" cy="566928"/>
          </a:xfrm>
          <a:prstGeom prst="ellipse">
            <a:avLst/>
          </a:prstGeom>
          <a:solidFill>
            <a:srgbClr val="E6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cale_2A2A30.png"/>
          <p:cNvPicPr>
            <a:picLocks noChangeAspect="1"/>
          </p:cNvPicPr>
          <p:nvPr/>
        </p:nvPicPr>
        <p:blipFill>
          <a:blip r:embed="rId3"/>
          <a:stretch>
            <a:fillRect/>
          </a:stretch>
        </p:blipFill>
        <p:spPr>
          <a:xfrm>
            <a:off x="5776630" y="3771046"/>
            <a:ext cx="260786" cy="260786"/>
          </a:xfrm>
          <a:prstGeom prst="rect">
            <a:avLst/>
          </a:prstGeom>
        </p:spPr>
      </p:pic>
      <p:sp>
        <p:nvSpPr>
          <p:cNvPr id="10" name="TextBox 9"/>
          <p:cNvSpPr txBox="1"/>
          <p:nvPr/>
        </p:nvSpPr>
        <p:spPr>
          <a:xfrm>
            <a:off x="6464807" y="3474720"/>
            <a:ext cx="5041087" cy="853440"/>
          </a:xfrm>
          <a:prstGeom prst="rect">
            <a:avLst/>
          </a:prstGeom>
          <a:noFill/>
        </p:spPr>
        <p:txBody>
          <a:bodyPr wrap="square" anchor="ctr">
            <a:spAutoFit/>
          </a:bodyPr>
          <a:lstStyle/>
          <a:p>
            <a:pPr algn="l">
              <a:lnSpc>
                <a:spcPct val="108000"/>
              </a:lnSpc>
              <a:spcBef>
                <a:spcPts val="0"/>
              </a:spcBef>
              <a:spcAft>
                <a:spcPts val="200"/>
              </a:spcAft>
            </a:pPr>
            <a:r>
              <a:rPr sz="1550" b="1">
                <a:solidFill>
                  <a:srgbClr val="F5F5F6"/>
                </a:solidFill>
                <a:latin typeface="Instrument Sans"/>
              </a:rPr>
              <a:t>Lean</a:t>
            </a:r>
            <a:r>
              <a:rPr sz="1400" b="0">
                <a:solidFill>
                  <a:srgbClr val="ACACB4"/>
                </a:solidFill>
                <a:latin typeface="Instrument Sans"/>
              </a:rPr>
              <a:t>  -  ~200 lines max - past that, rules get sampled, not followed</a:t>
            </a:r>
          </a:p>
        </p:txBody>
      </p:sp>
      <p:sp>
        <p:nvSpPr>
          <p:cNvPr id="11" name="Rounded Rectangle 10"/>
          <p:cNvSpPr/>
          <p:nvPr/>
        </p:nvSpPr>
        <p:spPr>
          <a:xfrm>
            <a:off x="5349240" y="4474464"/>
            <a:ext cx="6385255" cy="85344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623559" y="4617720"/>
            <a:ext cx="566928" cy="566928"/>
          </a:xfrm>
          <a:prstGeom prst="ellipse">
            <a:avLst/>
          </a:prstGeom>
          <a:solidFill>
            <a:srgbClr val="E6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pen_2A2A30.png"/>
          <p:cNvPicPr>
            <a:picLocks noChangeAspect="1"/>
          </p:cNvPicPr>
          <p:nvPr/>
        </p:nvPicPr>
        <p:blipFill>
          <a:blip r:embed="rId4"/>
          <a:stretch>
            <a:fillRect/>
          </a:stretch>
        </p:blipFill>
        <p:spPr>
          <a:xfrm>
            <a:off x="5776630" y="4770790"/>
            <a:ext cx="260786" cy="260786"/>
          </a:xfrm>
          <a:prstGeom prst="rect">
            <a:avLst/>
          </a:prstGeom>
        </p:spPr>
      </p:pic>
      <p:sp>
        <p:nvSpPr>
          <p:cNvPr id="14" name="TextBox 13"/>
          <p:cNvSpPr txBox="1"/>
          <p:nvPr/>
        </p:nvSpPr>
        <p:spPr>
          <a:xfrm>
            <a:off x="6464807" y="4474464"/>
            <a:ext cx="5041087" cy="853440"/>
          </a:xfrm>
          <a:prstGeom prst="rect">
            <a:avLst/>
          </a:prstGeom>
          <a:noFill/>
        </p:spPr>
        <p:txBody>
          <a:bodyPr wrap="square" anchor="ctr">
            <a:spAutoFit/>
          </a:bodyPr>
          <a:lstStyle/>
          <a:p>
            <a:pPr algn="l">
              <a:lnSpc>
                <a:spcPct val="108000"/>
              </a:lnSpc>
              <a:spcBef>
                <a:spcPts val="0"/>
              </a:spcBef>
              <a:spcAft>
                <a:spcPts val="200"/>
              </a:spcAft>
            </a:pPr>
            <a:r>
              <a:rPr sz="1550" b="1">
                <a:solidFill>
                  <a:srgbClr val="F5F5F6"/>
                </a:solidFill>
                <a:latin typeface="Instrument Sans"/>
              </a:rPr>
              <a:t>Behavioral</a:t>
            </a:r>
            <a:r>
              <a:rPr sz="1400" b="0">
                <a:solidFill>
                  <a:srgbClr val="ACACB4"/>
                </a:solidFill>
                <a:latin typeface="Instrument Sans"/>
              </a:rPr>
              <a:t>  -  rules Claude can execute, not vibes it should absorb</a:t>
            </a:r>
          </a:p>
        </p:txBody>
      </p:sp>
      <p:sp>
        <p:nvSpPr>
          <p:cNvPr id="15" name="Rounded Rectangle 14"/>
          <p:cNvSpPr/>
          <p:nvPr/>
        </p:nvSpPr>
        <p:spPr>
          <a:xfrm>
            <a:off x="5349240" y="5474208"/>
            <a:ext cx="6385255" cy="85344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623559" y="5617463"/>
            <a:ext cx="566928" cy="566928"/>
          </a:xfrm>
          <a:prstGeom prst="ellipse">
            <a:avLst/>
          </a:prstGeom>
          <a:solidFill>
            <a:srgbClr val="E6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doc_2A2A30.png"/>
          <p:cNvPicPr>
            <a:picLocks noChangeAspect="1"/>
          </p:cNvPicPr>
          <p:nvPr/>
        </p:nvPicPr>
        <p:blipFill>
          <a:blip r:embed="rId5"/>
          <a:stretch>
            <a:fillRect/>
          </a:stretch>
        </p:blipFill>
        <p:spPr>
          <a:xfrm>
            <a:off x="5776630" y="5770534"/>
            <a:ext cx="260786" cy="260786"/>
          </a:xfrm>
          <a:prstGeom prst="rect">
            <a:avLst/>
          </a:prstGeom>
        </p:spPr>
      </p:pic>
      <p:sp>
        <p:nvSpPr>
          <p:cNvPr id="18" name="TextBox 17"/>
          <p:cNvSpPr txBox="1"/>
          <p:nvPr/>
        </p:nvSpPr>
        <p:spPr>
          <a:xfrm>
            <a:off x="6464807" y="5474208"/>
            <a:ext cx="5041087" cy="853440"/>
          </a:xfrm>
          <a:prstGeom prst="rect">
            <a:avLst/>
          </a:prstGeom>
          <a:noFill/>
        </p:spPr>
        <p:txBody>
          <a:bodyPr wrap="square" anchor="ctr">
            <a:spAutoFit/>
          </a:bodyPr>
          <a:lstStyle/>
          <a:p>
            <a:pPr algn="l">
              <a:lnSpc>
                <a:spcPct val="108000"/>
              </a:lnSpc>
              <a:spcBef>
                <a:spcPts val="0"/>
              </a:spcBef>
              <a:spcAft>
                <a:spcPts val="200"/>
              </a:spcAft>
            </a:pPr>
            <a:r>
              <a:rPr sz="1550" b="1">
                <a:solidFill>
                  <a:srgbClr val="F5F5F6"/>
                </a:solidFill>
                <a:latin typeface="Instrument Sans"/>
              </a:rPr>
              <a:t>Tagged</a:t>
            </a:r>
            <a:r>
              <a:rPr sz="1400" b="0">
                <a:solidFill>
                  <a:srgbClr val="ACACB4"/>
                </a:solidFill>
                <a:latin typeface="Instrument Sans"/>
              </a:rPr>
              <a:t>  -  critical rules wrapped in &lt;xml_tags&gt; so they stand out</a:t>
            </a:r>
          </a:p>
        </p:txBody>
      </p:sp>
      <p:sp>
        <p:nvSpPr>
          <p:cNvPr id="19" name="Rectangle 18"/>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1" name="TextBox 20"/>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MECHANICS</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The self-improvement loop</a:t>
            </a:r>
          </a:p>
        </p:txBody>
      </p:sp>
      <p:sp>
        <p:nvSpPr>
          <p:cNvPr id="4" name="Rounded Rectangle 3"/>
          <p:cNvSpPr/>
          <p:nvPr/>
        </p:nvSpPr>
        <p:spPr>
          <a:xfrm>
            <a:off x="640080" y="1828800"/>
            <a:ext cx="10908792" cy="827531"/>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41248" y="1959102"/>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en_2A2A30.png"/>
          <p:cNvPicPr>
            <a:picLocks noChangeAspect="1"/>
          </p:cNvPicPr>
          <p:nvPr/>
        </p:nvPicPr>
        <p:blipFill>
          <a:blip r:embed="rId2"/>
          <a:stretch>
            <a:fillRect/>
          </a:stretch>
        </p:blipFill>
        <p:spPr>
          <a:xfrm>
            <a:off x="1014984" y="2096262"/>
            <a:ext cx="292608" cy="292608"/>
          </a:xfrm>
          <a:prstGeom prst="rect">
            <a:avLst/>
          </a:prstGeom>
        </p:spPr>
      </p:pic>
      <p:sp>
        <p:nvSpPr>
          <p:cNvPr id="7" name="TextBox 6"/>
          <p:cNvSpPr txBox="1"/>
          <p:nvPr/>
        </p:nvSpPr>
        <p:spPr>
          <a:xfrm>
            <a:off x="1591056" y="1828800"/>
            <a:ext cx="2743200" cy="827531"/>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 to memory</a:t>
            </a:r>
          </a:p>
        </p:txBody>
      </p:sp>
      <p:sp>
        <p:nvSpPr>
          <p:cNvPr id="8" name="TextBox 7"/>
          <p:cNvSpPr txBox="1"/>
          <p:nvPr/>
        </p:nvSpPr>
        <p:spPr>
          <a:xfrm>
            <a:off x="4434840" y="1828800"/>
            <a:ext cx="6903720" cy="827531"/>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Start a message with # - Claude files it into memory for you.</a:t>
            </a:r>
          </a:p>
        </p:txBody>
      </p:sp>
      <p:sp>
        <p:nvSpPr>
          <p:cNvPr id="9" name="Rounded Rectangle 8"/>
          <p:cNvSpPr/>
          <p:nvPr/>
        </p:nvSpPr>
        <p:spPr>
          <a:xfrm>
            <a:off x="640080" y="2802636"/>
            <a:ext cx="10908792" cy="827531"/>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41248" y="2932938"/>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refresh_2A2A30.png"/>
          <p:cNvPicPr>
            <a:picLocks noChangeAspect="1"/>
          </p:cNvPicPr>
          <p:nvPr/>
        </p:nvPicPr>
        <p:blipFill>
          <a:blip r:embed="rId3"/>
          <a:stretch>
            <a:fillRect/>
          </a:stretch>
        </p:blipFill>
        <p:spPr>
          <a:xfrm>
            <a:off x="1014984" y="3070098"/>
            <a:ext cx="292608" cy="292608"/>
          </a:xfrm>
          <a:prstGeom prst="rect">
            <a:avLst/>
          </a:prstGeom>
        </p:spPr>
      </p:pic>
      <p:sp>
        <p:nvSpPr>
          <p:cNvPr id="12" name="TextBox 11"/>
          <p:cNvSpPr txBox="1"/>
          <p:nvPr/>
        </p:nvSpPr>
        <p:spPr>
          <a:xfrm>
            <a:off x="1591056" y="2802636"/>
            <a:ext cx="2743200" cy="827531"/>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Correction becomes rule</a:t>
            </a:r>
          </a:p>
        </p:txBody>
      </p:sp>
      <p:sp>
        <p:nvSpPr>
          <p:cNvPr id="13" name="TextBox 12"/>
          <p:cNvSpPr txBox="1"/>
          <p:nvPr/>
        </p:nvSpPr>
        <p:spPr>
          <a:xfrm>
            <a:off x="4434840" y="2802636"/>
            <a:ext cx="6903720" cy="827531"/>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Every time you fix Claude twice, write the rule once.</a:t>
            </a:r>
          </a:p>
        </p:txBody>
      </p:sp>
      <p:sp>
        <p:nvSpPr>
          <p:cNvPr id="14" name="Rounded Rectangle 13"/>
          <p:cNvSpPr/>
          <p:nvPr/>
        </p:nvSpPr>
        <p:spPr>
          <a:xfrm>
            <a:off x="640080" y="3776472"/>
            <a:ext cx="10908792" cy="827531"/>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41248" y="3906774"/>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book_2A2A30.png"/>
          <p:cNvPicPr>
            <a:picLocks noChangeAspect="1"/>
          </p:cNvPicPr>
          <p:nvPr/>
        </p:nvPicPr>
        <p:blipFill>
          <a:blip r:embed="rId4"/>
          <a:stretch>
            <a:fillRect/>
          </a:stretch>
        </p:blipFill>
        <p:spPr>
          <a:xfrm>
            <a:off x="1014984" y="4043933"/>
            <a:ext cx="292608" cy="292608"/>
          </a:xfrm>
          <a:prstGeom prst="rect">
            <a:avLst/>
          </a:prstGeom>
        </p:spPr>
      </p:pic>
      <p:sp>
        <p:nvSpPr>
          <p:cNvPr id="17" name="TextBox 16"/>
          <p:cNvSpPr txBox="1"/>
          <p:nvPr/>
        </p:nvSpPr>
        <p:spPr>
          <a:xfrm>
            <a:off x="1591056" y="3776472"/>
            <a:ext cx="2743200" cy="827531"/>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lessons.md</a:t>
            </a:r>
          </a:p>
        </p:txBody>
      </p:sp>
      <p:sp>
        <p:nvSpPr>
          <p:cNvPr id="18" name="TextBox 17"/>
          <p:cNvSpPr txBox="1"/>
          <p:nvPr/>
        </p:nvSpPr>
        <p:spPr>
          <a:xfrm>
            <a:off x="4434840" y="3776472"/>
            <a:ext cx="6903720" cy="827531"/>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'After any correction, append the lesson' - as a standing rule.</a:t>
            </a:r>
          </a:p>
        </p:txBody>
      </p:sp>
      <p:sp>
        <p:nvSpPr>
          <p:cNvPr id="19" name="Rounded Rectangle 18"/>
          <p:cNvSpPr/>
          <p:nvPr/>
        </p:nvSpPr>
        <p:spPr>
          <a:xfrm>
            <a:off x="640080" y="4750308"/>
            <a:ext cx="10908792" cy="827531"/>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1248" y="4880610"/>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x_E26B6B.png"/>
          <p:cNvPicPr>
            <a:picLocks noChangeAspect="1"/>
          </p:cNvPicPr>
          <p:nvPr/>
        </p:nvPicPr>
        <p:blipFill>
          <a:blip r:embed="rId5"/>
          <a:stretch>
            <a:fillRect/>
          </a:stretch>
        </p:blipFill>
        <p:spPr>
          <a:xfrm>
            <a:off x="1014984" y="5017770"/>
            <a:ext cx="292608" cy="292608"/>
          </a:xfrm>
          <a:prstGeom prst="rect">
            <a:avLst/>
          </a:prstGeom>
        </p:spPr>
      </p:pic>
      <p:sp>
        <p:nvSpPr>
          <p:cNvPr id="22" name="TextBox 21"/>
          <p:cNvSpPr txBox="1"/>
          <p:nvPr/>
        </p:nvSpPr>
        <p:spPr>
          <a:xfrm>
            <a:off x="1591056" y="4750308"/>
            <a:ext cx="2743200" cy="827531"/>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Prune monthly</a:t>
            </a:r>
          </a:p>
        </p:txBody>
      </p:sp>
      <p:sp>
        <p:nvSpPr>
          <p:cNvPr id="23" name="TextBox 22"/>
          <p:cNvSpPr txBox="1"/>
          <p:nvPr/>
        </p:nvSpPr>
        <p:spPr>
          <a:xfrm>
            <a:off x="4434840" y="4750308"/>
            <a:ext cx="6903720" cy="827531"/>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Dead rules erode trust in the live ones - delete them.</a:t>
            </a:r>
          </a:p>
        </p:txBody>
      </p:sp>
      <p:sp>
        <p:nvSpPr>
          <p:cNvPr id="24" name="Rounded Rectangle 23"/>
          <p:cNvSpPr/>
          <p:nvPr/>
        </p:nvSpPr>
        <p:spPr>
          <a:xfrm>
            <a:off x="640080" y="5760720"/>
            <a:ext cx="10908792" cy="658368"/>
          </a:xfrm>
          <a:prstGeom prst="roundRect">
            <a:avLst>
              <a:gd name="adj" fmla="val 16000"/>
            </a:avLst>
          </a:prstGeom>
          <a:solidFill>
            <a:srgbClr val="173527"/>
          </a:solidFill>
          <a:ln w="9525">
            <a:solidFill>
              <a:srgbClr val="2E6E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check_46B17A.png"/>
          <p:cNvPicPr>
            <a:picLocks noChangeAspect="1"/>
          </p:cNvPicPr>
          <p:nvPr/>
        </p:nvPicPr>
        <p:blipFill>
          <a:blip r:embed="rId6"/>
          <a:stretch>
            <a:fillRect/>
          </a:stretch>
        </p:blipFill>
        <p:spPr>
          <a:xfrm>
            <a:off x="877824" y="5907024"/>
            <a:ext cx="365760" cy="365760"/>
          </a:xfrm>
          <a:prstGeom prst="rect">
            <a:avLst/>
          </a:prstGeom>
        </p:spPr>
      </p:pic>
      <p:sp>
        <p:nvSpPr>
          <p:cNvPr id="26" name="TextBox 25"/>
          <p:cNvSpPr txBox="1"/>
          <p:nvPr/>
        </p:nvSpPr>
        <p:spPr>
          <a:xfrm>
            <a:off x="1371600" y="5760720"/>
            <a:ext cx="9994392" cy="658368"/>
          </a:xfrm>
          <a:prstGeom prst="rect">
            <a:avLst/>
          </a:prstGeom>
          <a:noFill/>
        </p:spPr>
        <p:txBody>
          <a:bodyPr wrap="square" anchor="ctr">
            <a:spAutoFit/>
          </a:bodyPr>
          <a:lstStyle/>
          <a:p>
            <a:pPr algn="l">
              <a:lnSpc>
                <a:spcPct val="100000"/>
              </a:lnSpc>
              <a:spcBef>
                <a:spcPts val="0"/>
              </a:spcBef>
              <a:spcAft>
                <a:spcPts val="200"/>
              </a:spcAft>
            </a:pPr>
            <a:r>
              <a:rPr sz="1500" b="0">
                <a:solidFill>
                  <a:srgbClr val="BFE6D2"/>
                </a:solidFill>
                <a:latin typeface="Instrument Sans"/>
              </a:rPr>
              <a:t>Litmus test: a new dev types 'run the tests' - if it works first try, your file is doing its job.</a:t>
            </a:r>
          </a:p>
        </p:txBody>
      </p:sp>
      <p:sp>
        <p:nvSpPr>
          <p:cNvPr id="27" name="Rectangle 26"/>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9" name="TextBox 28"/>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ADVANCED</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HANDOFF.md: state that survives</a:t>
            </a:r>
          </a:p>
        </p:txBody>
      </p:sp>
      <p:sp>
        <p:nvSpPr>
          <p:cNvPr id="4" name="TextBox 3"/>
          <p:cNvSpPr txBox="1"/>
          <p:nvPr/>
        </p:nvSpPr>
        <p:spPr>
          <a:xfrm>
            <a:off x="640080" y="1572768"/>
            <a:ext cx="10424160" cy="548640"/>
          </a:xfrm>
          <a:prstGeom prst="rect">
            <a:avLst/>
          </a:prstGeom>
          <a:noFill/>
        </p:spPr>
        <p:txBody>
          <a:bodyPr wrap="square" anchor="t">
            <a:spAutoFit/>
          </a:bodyPr>
          <a:lstStyle/>
          <a:p>
            <a:pPr algn="l">
              <a:lnSpc>
                <a:spcPct val="120000"/>
              </a:lnSpc>
              <a:spcBef>
                <a:spcPts val="0"/>
              </a:spcBef>
              <a:spcAft>
                <a:spcPts val="200"/>
              </a:spcAft>
            </a:pPr>
            <a:r>
              <a:rPr sz="1800" b="0">
                <a:solidFill>
                  <a:srgbClr val="ACACB4"/>
                </a:solidFill>
                <a:latin typeface="Instrument Sans"/>
              </a:rPr>
              <a:t>The advanced form of 'state lives in files, not sessions'.</a:t>
            </a:r>
          </a:p>
        </p:txBody>
      </p:sp>
      <p:sp>
        <p:nvSpPr>
          <p:cNvPr id="5" name="Rounded Rectangle 4"/>
          <p:cNvSpPr/>
          <p:nvPr/>
        </p:nvSpPr>
        <p:spPr>
          <a:xfrm>
            <a:off x="640080"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77824"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oc_2A2A30.png"/>
          <p:cNvPicPr>
            <a:picLocks noChangeAspect="1"/>
          </p:cNvPicPr>
          <p:nvPr/>
        </p:nvPicPr>
        <p:blipFill>
          <a:blip r:embed="rId2"/>
          <a:stretch>
            <a:fillRect/>
          </a:stretch>
        </p:blipFill>
        <p:spPr>
          <a:xfrm>
            <a:off x="1005840" y="2756916"/>
            <a:ext cx="219456" cy="219456"/>
          </a:xfrm>
          <a:prstGeom prst="rect">
            <a:avLst/>
          </a:prstGeom>
        </p:spPr>
      </p:pic>
      <p:sp>
        <p:nvSpPr>
          <p:cNvPr id="8" name="TextBox 7"/>
          <p:cNvSpPr txBox="1"/>
          <p:nvPr/>
        </p:nvSpPr>
        <p:spPr>
          <a:xfrm>
            <a:off x="877824"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What it is</a:t>
            </a:r>
          </a:p>
        </p:txBody>
      </p:sp>
      <p:sp>
        <p:nvSpPr>
          <p:cNvPr id="9" name="TextBox 8"/>
          <p:cNvSpPr txBox="1"/>
          <p:nvPr/>
        </p:nvSpPr>
        <p:spPr>
          <a:xfrm>
            <a:off x="877824"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A short file: what changed, what's next, what's blocked.</a:t>
            </a:r>
          </a:p>
        </p:txBody>
      </p:sp>
      <p:sp>
        <p:nvSpPr>
          <p:cNvPr id="10" name="Rounded Rectangle 9"/>
          <p:cNvSpPr/>
          <p:nvPr/>
        </p:nvSpPr>
        <p:spPr>
          <a:xfrm>
            <a:off x="4367784"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605528"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refresh_2A2A30.png"/>
          <p:cNvPicPr>
            <a:picLocks noChangeAspect="1"/>
          </p:cNvPicPr>
          <p:nvPr/>
        </p:nvPicPr>
        <p:blipFill>
          <a:blip r:embed="rId3"/>
          <a:stretch>
            <a:fillRect/>
          </a:stretch>
        </p:blipFill>
        <p:spPr>
          <a:xfrm>
            <a:off x="4733544" y="2756916"/>
            <a:ext cx="219456" cy="219456"/>
          </a:xfrm>
          <a:prstGeom prst="rect">
            <a:avLst/>
          </a:prstGeom>
        </p:spPr>
      </p:pic>
      <p:sp>
        <p:nvSpPr>
          <p:cNvPr id="13" name="TextBox 12"/>
          <p:cNvSpPr txBox="1"/>
          <p:nvPr/>
        </p:nvSpPr>
        <p:spPr>
          <a:xfrm>
            <a:off x="4605528"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The ritual</a:t>
            </a:r>
          </a:p>
        </p:txBody>
      </p:sp>
      <p:sp>
        <p:nvSpPr>
          <p:cNvPr id="14" name="TextBox 13"/>
          <p:cNvSpPr txBox="1"/>
          <p:nvPr/>
        </p:nvSpPr>
        <p:spPr>
          <a:xfrm>
            <a:off x="4605528"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Last act of a session: write it. First act of the next: read it.</a:t>
            </a:r>
          </a:p>
        </p:txBody>
      </p:sp>
      <p:sp>
        <p:nvSpPr>
          <p:cNvPr id="15" name="Rounded Rectangle 14"/>
          <p:cNvSpPr/>
          <p:nvPr/>
        </p:nvSpPr>
        <p:spPr>
          <a:xfrm>
            <a:off x="8095488"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333232"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rocket_2A2A30.png"/>
          <p:cNvPicPr>
            <a:picLocks noChangeAspect="1"/>
          </p:cNvPicPr>
          <p:nvPr/>
        </p:nvPicPr>
        <p:blipFill>
          <a:blip r:embed="rId4"/>
          <a:stretch>
            <a:fillRect/>
          </a:stretch>
        </p:blipFill>
        <p:spPr>
          <a:xfrm>
            <a:off x="8461248" y="2756916"/>
            <a:ext cx="219456" cy="219456"/>
          </a:xfrm>
          <a:prstGeom prst="rect">
            <a:avLst/>
          </a:prstGeom>
        </p:spPr>
      </p:pic>
      <p:sp>
        <p:nvSpPr>
          <p:cNvPr id="18" name="TextBox 17"/>
          <p:cNvSpPr txBox="1"/>
          <p:nvPr/>
        </p:nvSpPr>
        <p:spPr>
          <a:xfrm>
            <a:off x="8333232"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The payoff</a:t>
            </a:r>
          </a:p>
        </p:txBody>
      </p:sp>
      <p:sp>
        <p:nvSpPr>
          <p:cNvPr id="19" name="TextBox 18"/>
          <p:cNvSpPr txBox="1"/>
          <p:nvPr/>
        </p:nvSpPr>
        <p:spPr>
          <a:xfrm>
            <a:off x="8333232"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A fresh session is productive in one prompt, not ten.</a:t>
            </a:r>
          </a:p>
        </p:txBody>
      </p:sp>
      <p:sp>
        <p:nvSpPr>
          <p:cNvPr id="20" name="Rounded Rectangle 19"/>
          <p:cNvSpPr/>
          <p:nvPr/>
        </p:nvSpPr>
        <p:spPr>
          <a:xfrm>
            <a:off x="640080" y="5760720"/>
            <a:ext cx="10908792" cy="658368"/>
          </a:xfrm>
          <a:prstGeom prst="roundRect">
            <a:avLst>
              <a:gd name="adj" fmla="val 16000"/>
            </a:avLst>
          </a:prstGeom>
          <a:solidFill>
            <a:srgbClr val="16324F"/>
          </a:solidFill>
          <a:ln w="9525">
            <a:solidFill>
              <a:srgbClr val="2F6F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info_4C8DF0.png"/>
          <p:cNvPicPr>
            <a:picLocks noChangeAspect="1"/>
          </p:cNvPicPr>
          <p:nvPr/>
        </p:nvPicPr>
        <p:blipFill>
          <a:blip r:embed="rId5"/>
          <a:stretch>
            <a:fillRect/>
          </a:stretch>
        </p:blipFill>
        <p:spPr>
          <a:xfrm>
            <a:off x="877824" y="5907024"/>
            <a:ext cx="365760" cy="365760"/>
          </a:xfrm>
          <a:prstGeom prst="rect">
            <a:avLst/>
          </a:prstGeom>
        </p:spPr>
      </p:pic>
      <p:sp>
        <p:nvSpPr>
          <p:cNvPr id="22" name="TextBox 21"/>
          <p:cNvSpPr txBox="1"/>
          <p:nvPr/>
        </p:nvSpPr>
        <p:spPr>
          <a:xfrm>
            <a:off x="1371600" y="5760720"/>
            <a:ext cx="9994392" cy="658368"/>
          </a:xfrm>
          <a:prstGeom prst="rect">
            <a:avLst/>
          </a:prstGeom>
          <a:noFill/>
        </p:spPr>
        <p:txBody>
          <a:bodyPr wrap="square" anchor="ctr">
            <a:spAutoFit/>
          </a:bodyPr>
          <a:lstStyle/>
          <a:p>
            <a:pPr algn="l">
              <a:lnSpc>
                <a:spcPct val="100000"/>
              </a:lnSpc>
              <a:spcBef>
                <a:spcPts val="0"/>
              </a:spcBef>
              <a:spcAft>
                <a:spcPts val="200"/>
              </a:spcAft>
            </a:pPr>
            <a:r>
              <a:rPr sz="1500" b="0">
                <a:solidFill>
                  <a:srgbClr val="CAD8F2"/>
                </a:solidFill>
                <a:latin typeface="Instrument Sans"/>
              </a:rPr>
              <a:t>Pairs with Day 1's 'state lives in files' principle - this is that principle made into a habit.</a:t>
            </a:r>
          </a:p>
        </p:txBody>
      </p:sp>
      <p:sp>
        <p:nvSpPr>
          <p:cNvPr id="23" name="Rectangle 22"/>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5" name="TextBox 24"/>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FOLLOW ALONG</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Paste this: teach it a lesson</a:t>
            </a:r>
          </a:p>
        </p:txBody>
      </p:sp>
      <p:sp>
        <p:nvSpPr>
          <p:cNvPr id="4" name="Rounded Rectangle 3"/>
          <p:cNvSpPr/>
          <p:nvPr/>
        </p:nvSpPr>
        <p:spPr>
          <a:xfrm>
            <a:off x="640080" y="1828800"/>
            <a:ext cx="6126480" cy="4206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084832"/>
            <a:ext cx="5577840" cy="457200"/>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What you are practicing</a:t>
            </a:r>
          </a:p>
        </p:txBody>
      </p:sp>
      <p:sp>
        <p:nvSpPr>
          <p:cNvPr id="6" name="Rectangle 5"/>
          <p:cNvSpPr/>
          <p:nvPr/>
        </p:nvSpPr>
        <p:spPr>
          <a:xfrm>
            <a:off x="914400" y="2852928"/>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07008" y="2743200"/>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Filing a rule without breaking flow</a:t>
            </a:r>
          </a:p>
        </p:txBody>
      </p:sp>
      <p:sp>
        <p:nvSpPr>
          <p:cNvPr id="8" name="Rectangle 7"/>
          <p:cNvSpPr/>
          <p:nvPr/>
        </p:nvSpPr>
        <p:spPr>
          <a:xfrm>
            <a:off x="914400" y="3419856"/>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07008" y="3310128"/>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Turning a correction into permanence</a:t>
            </a:r>
          </a:p>
        </p:txBody>
      </p:sp>
      <p:sp>
        <p:nvSpPr>
          <p:cNvPr id="10" name="Rectangle 9"/>
          <p:cNvSpPr/>
          <p:nvPr/>
        </p:nvSpPr>
        <p:spPr>
          <a:xfrm>
            <a:off x="914400" y="3986784"/>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07008" y="3877056"/>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Ending a session with a handoff</a:t>
            </a:r>
          </a:p>
        </p:txBody>
      </p:sp>
      <p:sp>
        <p:nvSpPr>
          <p:cNvPr id="12" name="TextBox 11"/>
          <p:cNvSpPr txBox="1"/>
          <p:nvPr/>
        </p:nvSpPr>
        <p:spPr>
          <a:xfrm>
            <a:off x="7040880" y="1810512"/>
            <a:ext cx="4507992" cy="365760"/>
          </a:xfrm>
          <a:prstGeom prst="rect">
            <a:avLst/>
          </a:prstGeom>
          <a:noFill/>
        </p:spPr>
        <p:txBody>
          <a:bodyPr wrap="square" anchor="t">
            <a:spAutoFit/>
          </a:bodyPr>
          <a:lstStyle/>
          <a:p>
            <a:pPr algn="l">
              <a:lnSpc>
                <a:spcPct val="100000"/>
              </a:lnSpc>
              <a:spcBef>
                <a:spcPts val="0"/>
              </a:spcBef>
              <a:spcAft>
                <a:spcPts val="200"/>
              </a:spcAft>
            </a:pPr>
            <a:r>
              <a:rPr sz="1300" b="1" spc="150">
                <a:solidFill>
                  <a:srgbClr val="8B8B93"/>
                </a:solidFill>
                <a:latin typeface="Instrument Sans"/>
              </a:rPr>
              <a:t>PASTE THIS</a:t>
            </a:r>
          </a:p>
        </p:txBody>
      </p:sp>
      <p:sp>
        <p:nvSpPr>
          <p:cNvPr id="13" name="Rounded Rectangle 12"/>
          <p:cNvSpPr/>
          <p:nvPr/>
        </p:nvSpPr>
        <p:spPr>
          <a:xfrm>
            <a:off x="7040880" y="2286000"/>
            <a:ext cx="4507992" cy="1057656"/>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242048" y="2450592"/>
            <a:ext cx="310896" cy="310896"/>
          </a:xfrm>
          <a:prstGeom prst="ellipse">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42048" y="2432304"/>
            <a:ext cx="310896" cy="310896"/>
          </a:xfrm>
          <a:prstGeom prst="rect">
            <a:avLst/>
          </a:prstGeom>
          <a:noFill/>
        </p:spPr>
        <p:txBody>
          <a:bodyPr wrap="square" anchor="ctr">
            <a:spAutoFit/>
          </a:bodyPr>
          <a:lstStyle/>
          <a:p>
            <a:pPr algn="ctr">
              <a:lnSpc>
                <a:spcPct val="100000"/>
              </a:lnSpc>
              <a:spcBef>
                <a:spcPts val="0"/>
              </a:spcBef>
              <a:spcAft>
                <a:spcPts val="200"/>
              </a:spcAft>
            </a:pPr>
            <a:r>
              <a:rPr sz="1300" b="1">
                <a:solidFill>
                  <a:srgbClr val="303036"/>
                </a:solidFill>
                <a:latin typeface="Instrument Sans"/>
              </a:rPr>
              <a:t>1</a:t>
            </a:r>
          </a:p>
        </p:txBody>
      </p:sp>
      <p:sp>
        <p:nvSpPr>
          <p:cNvPr id="16" name="TextBox 15"/>
          <p:cNvSpPr txBox="1"/>
          <p:nvPr/>
        </p:nvSpPr>
        <p:spPr>
          <a:xfrm>
            <a:off x="7699248" y="2670048"/>
            <a:ext cx="3593591" cy="618744"/>
          </a:xfrm>
          <a:prstGeom prst="rect">
            <a:avLst/>
          </a:prstGeom>
          <a:noFill/>
        </p:spPr>
        <p:txBody>
          <a:bodyPr wrap="square" anchor="t">
            <a:normAutofit/>
          </a:bodyPr>
          <a:lstStyle/>
          <a:p>
            <a:pPr algn="l">
              <a:lnSpc>
                <a:spcPct val="112000"/>
              </a:lnSpc>
              <a:spcBef>
                <a:spcPts val="0"/>
              </a:spcBef>
              <a:spcAft>
                <a:spcPts val="200"/>
              </a:spcAft>
            </a:pPr>
            <a:r>
              <a:rPr sz="1400" b="0">
                <a:solidFill>
                  <a:srgbClr val="C9C9D2"/>
                </a:solidFill>
                <a:latin typeface="Instrument Sans"/>
              </a:rPr>
              <a:t># Always run the full test suite before declaring any task done</a:t>
            </a:r>
          </a:p>
        </p:txBody>
      </p:sp>
      <p:sp>
        <p:nvSpPr>
          <p:cNvPr id="17" name="Rounded Rectangle 16"/>
          <p:cNvSpPr/>
          <p:nvPr/>
        </p:nvSpPr>
        <p:spPr>
          <a:xfrm>
            <a:off x="7040880" y="3489960"/>
            <a:ext cx="4507992" cy="1057656"/>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242048" y="3654552"/>
            <a:ext cx="310896" cy="310896"/>
          </a:xfrm>
          <a:prstGeom prst="ellipse">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42048" y="3636264"/>
            <a:ext cx="310896" cy="310896"/>
          </a:xfrm>
          <a:prstGeom prst="rect">
            <a:avLst/>
          </a:prstGeom>
          <a:noFill/>
        </p:spPr>
        <p:txBody>
          <a:bodyPr wrap="square" anchor="ctr">
            <a:spAutoFit/>
          </a:bodyPr>
          <a:lstStyle/>
          <a:p>
            <a:pPr algn="ctr">
              <a:lnSpc>
                <a:spcPct val="100000"/>
              </a:lnSpc>
              <a:spcBef>
                <a:spcPts val="0"/>
              </a:spcBef>
              <a:spcAft>
                <a:spcPts val="200"/>
              </a:spcAft>
            </a:pPr>
            <a:r>
              <a:rPr sz="1300" b="1">
                <a:solidFill>
                  <a:srgbClr val="303036"/>
                </a:solidFill>
                <a:latin typeface="Instrument Sans"/>
              </a:rPr>
              <a:t>2</a:t>
            </a:r>
          </a:p>
        </p:txBody>
      </p:sp>
      <p:sp>
        <p:nvSpPr>
          <p:cNvPr id="20" name="TextBox 19"/>
          <p:cNvSpPr txBox="1"/>
          <p:nvPr/>
        </p:nvSpPr>
        <p:spPr>
          <a:xfrm>
            <a:off x="7699248" y="3874007"/>
            <a:ext cx="3593591" cy="618744"/>
          </a:xfrm>
          <a:prstGeom prst="rect">
            <a:avLst/>
          </a:prstGeom>
          <a:noFill/>
        </p:spPr>
        <p:txBody>
          <a:bodyPr wrap="square" anchor="t">
            <a:normAutofit/>
          </a:bodyPr>
          <a:lstStyle/>
          <a:p>
            <a:pPr algn="l">
              <a:lnSpc>
                <a:spcPct val="112000"/>
              </a:lnSpc>
              <a:spcBef>
                <a:spcPts val="0"/>
              </a:spcBef>
              <a:spcAft>
                <a:spcPts val="200"/>
              </a:spcAft>
            </a:pPr>
            <a:r>
              <a:rPr sz="1400" b="0">
                <a:solidFill>
                  <a:srgbClr val="C9C9D2"/>
                </a:solidFill>
                <a:latin typeface="Instrument Sans"/>
              </a:rPr>
              <a:t>After any correction from me, append the lesson to lessons.md as a one-line rule.</a:t>
            </a:r>
          </a:p>
        </p:txBody>
      </p:sp>
      <p:sp>
        <p:nvSpPr>
          <p:cNvPr id="21" name="Rounded Rectangle 20"/>
          <p:cNvSpPr/>
          <p:nvPr/>
        </p:nvSpPr>
        <p:spPr>
          <a:xfrm>
            <a:off x="7040880" y="4693920"/>
            <a:ext cx="4507992" cy="1057656"/>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242048" y="4858511"/>
            <a:ext cx="310896" cy="310896"/>
          </a:xfrm>
          <a:prstGeom prst="ellipse">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242048" y="4840224"/>
            <a:ext cx="310896" cy="310896"/>
          </a:xfrm>
          <a:prstGeom prst="rect">
            <a:avLst/>
          </a:prstGeom>
          <a:noFill/>
        </p:spPr>
        <p:txBody>
          <a:bodyPr wrap="square" anchor="ctr">
            <a:spAutoFit/>
          </a:bodyPr>
          <a:lstStyle/>
          <a:p>
            <a:pPr algn="ctr">
              <a:lnSpc>
                <a:spcPct val="100000"/>
              </a:lnSpc>
              <a:spcBef>
                <a:spcPts val="0"/>
              </a:spcBef>
              <a:spcAft>
                <a:spcPts val="200"/>
              </a:spcAft>
            </a:pPr>
            <a:r>
              <a:rPr sz="1300" b="1">
                <a:solidFill>
                  <a:srgbClr val="303036"/>
                </a:solidFill>
                <a:latin typeface="Instrument Sans"/>
              </a:rPr>
              <a:t>3</a:t>
            </a:r>
          </a:p>
        </p:txBody>
      </p:sp>
      <p:sp>
        <p:nvSpPr>
          <p:cNvPr id="24" name="TextBox 23"/>
          <p:cNvSpPr txBox="1"/>
          <p:nvPr/>
        </p:nvSpPr>
        <p:spPr>
          <a:xfrm>
            <a:off x="7699248" y="5077967"/>
            <a:ext cx="3593591" cy="618744"/>
          </a:xfrm>
          <a:prstGeom prst="rect">
            <a:avLst/>
          </a:prstGeom>
          <a:noFill/>
        </p:spPr>
        <p:txBody>
          <a:bodyPr wrap="square" anchor="t">
            <a:normAutofit/>
          </a:bodyPr>
          <a:lstStyle/>
          <a:p>
            <a:pPr algn="l">
              <a:lnSpc>
                <a:spcPct val="112000"/>
              </a:lnSpc>
              <a:spcBef>
                <a:spcPts val="0"/>
              </a:spcBef>
              <a:spcAft>
                <a:spcPts val="200"/>
              </a:spcAft>
            </a:pPr>
            <a:r>
              <a:rPr sz="1400" b="0">
                <a:solidFill>
                  <a:srgbClr val="C9C9D2"/>
                </a:solidFill>
                <a:latin typeface="Instrument Sans"/>
              </a:rPr>
              <a:t>Update HANDOFF.md: what changed, what's next, what's blocked. Keep it under 30 lines.</a:t>
            </a:r>
          </a:p>
        </p:txBody>
      </p:sp>
      <p:sp>
        <p:nvSpPr>
          <p:cNvPr id="25" name="Rectangle 24"/>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7" name="TextBox 26"/>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pic>
        <p:nvPicPr>
          <p:cNvPr id="2" name="Picture 1" descr="bg_4.png"/>
          <p:cNvPicPr>
            <a:picLocks noChangeAspect="1"/>
          </p:cNvPicPr>
          <p:nvPr/>
        </p:nvPicPr>
        <p:blipFill>
          <a:blip r:embed="rId2"/>
          <a:stretch>
            <a:fillRect/>
          </a:stretch>
        </p:blipFill>
        <p:spPr>
          <a:xfrm>
            <a:off x="6355080" y="0"/>
            <a:ext cx="5833872" cy="6858000"/>
          </a:xfrm>
          <a:prstGeom prst="rect">
            <a:avLst/>
          </a:prstGeom>
        </p:spPr>
      </p:pic>
      <p:sp>
        <p:nvSpPr>
          <p:cNvPr id="3" name="Rectangle 2"/>
          <p:cNvSpPr/>
          <p:nvPr/>
        </p:nvSpPr>
        <p:spPr>
          <a:xfrm>
            <a:off x="6355080" y="0"/>
            <a:ext cx="32004" cy="6858000"/>
          </a:xfrm>
          <a:prstGeom prst="rect">
            <a:avLst/>
          </a:prstGeom>
          <a:solidFill>
            <a:srgbClr val="2F6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2542032"/>
            <a:ext cx="548640" cy="54864"/>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2706624"/>
            <a:ext cx="5486400" cy="365760"/>
          </a:xfrm>
          <a:prstGeom prst="rect">
            <a:avLst/>
          </a:prstGeom>
          <a:noFill/>
        </p:spPr>
        <p:txBody>
          <a:bodyPr wrap="square" anchor="t">
            <a:spAutoFit/>
          </a:bodyPr>
          <a:lstStyle/>
          <a:p>
            <a:pPr algn="l">
              <a:lnSpc>
                <a:spcPct val="100000"/>
              </a:lnSpc>
              <a:spcBef>
                <a:spcPts val="0"/>
              </a:spcBef>
              <a:spcAft>
                <a:spcPts val="200"/>
              </a:spcAft>
            </a:pPr>
            <a:r>
              <a:rPr sz="1300" b="1" spc="200">
                <a:solidFill>
                  <a:srgbClr val="8B8B93"/>
                </a:solidFill>
                <a:latin typeface="Instrument Sans"/>
              </a:rPr>
              <a:t>FLEX MODULE 2 - DAY 1</a:t>
            </a:r>
          </a:p>
        </p:txBody>
      </p:sp>
      <p:sp>
        <p:nvSpPr>
          <p:cNvPr id="6" name="TextBox 5"/>
          <p:cNvSpPr txBox="1"/>
          <p:nvPr/>
        </p:nvSpPr>
        <p:spPr>
          <a:xfrm>
            <a:off x="658368" y="3054096"/>
            <a:ext cx="5532120" cy="1783080"/>
          </a:xfrm>
          <a:prstGeom prst="rect">
            <a:avLst/>
          </a:prstGeom>
          <a:noFill/>
        </p:spPr>
        <p:txBody>
          <a:bodyPr wrap="square" anchor="t">
            <a:spAutoFit/>
          </a:bodyPr>
          <a:lstStyle/>
          <a:p>
            <a:pPr algn="l">
              <a:lnSpc>
                <a:spcPct val="102000"/>
              </a:lnSpc>
              <a:spcBef>
                <a:spcPts val="0"/>
              </a:spcBef>
              <a:spcAft>
                <a:spcPts val="200"/>
              </a:spcAft>
            </a:pPr>
            <a:r>
              <a:rPr sz="3400" b="1">
                <a:solidFill>
                  <a:srgbClr val="F5F5F6"/>
                </a:solidFill>
                <a:latin typeface="Instrument Sans"/>
              </a:rPr>
              <a:t>The QoL Arsenal</a:t>
            </a:r>
          </a:p>
        </p:txBody>
      </p:sp>
      <p:sp>
        <p:nvSpPr>
          <p:cNvPr id="7" name="TextBox 6"/>
          <p:cNvSpPr txBox="1"/>
          <p:nvPr/>
        </p:nvSpPr>
        <p:spPr>
          <a:xfrm>
            <a:off x="685800" y="4983480"/>
            <a:ext cx="5440680" cy="1005840"/>
          </a:xfrm>
          <a:prstGeom prst="rect">
            <a:avLst/>
          </a:prstGeom>
          <a:noFill/>
        </p:spPr>
        <p:txBody>
          <a:bodyPr wrap="square" anchor="t">
            <a:spAutoFit/>
          </a:bodyPr>
          <a:lstStyle/>
          <a:p>
            <a:pPr algn="l">
              <a:lnSpc>
                <a:spcPct val="115000"/>
              </a:lnSpc>
              <a:spcBef>
                <a:spcPts val="0"/>
              </a:spcBef>
              <a:spcAft>
                <a:spcPts val="200"/>
              </a:spcAft>
            </a:pPr>
            <a:r>
              <a:rPr sz="1750" b="0">
                <a:solidFill>
                  <a:srgbClr val="ACACB4"/>
                </a:solidFill>
                <a:latin typeface="Instrument Sans"/>
              </a:rPr>
              <a:t>Pull in when ahead - pairs with Day 1 Block 4 (Commands, Cost &amp; Permissions)</a:t>
            </a:r>
          </a:p>
        </p:txBody>
      </p:sp>
      <p:sp>
        <p:nvSpPr>
          <p:cNvPr id="8" name="Rectangle 7"/>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10" name="TextBox 9"/>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THE COCKPIT</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Cockpit switches worth mapping</a:t>
            </a:r>
          </a:p>
        </p:txBody>
      </p:sp>
      <p:sp>
        <p:nvSpPr>
          <p:cNvPr id="4" name="Rounded Rectangle 3"/>
          <p:cNvSpPr/>
          <p:nvPr/>
        </p:nvSpPr>
        <p:spPr>
          <a:xfrm>
            <a:off x="640080" y="1828800"/>
            <a:ext cx="10908792" cy="502919"/>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41248" y="1796795"/>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en_2A2A30.png"/>
          <p:cNvPicPr>
            <a:picLocks noChangeAspect="1"/>
          </p:cNvPicPr>
          <p:nvPr/>
        </p:nvPicPr>
        <p:blipFill>
          <a:blip r:embed="rId2"/>
          <a:stretch>
            <a:fillRect/>
          </a:stretch>
        </p:blipFill>
        <p:spPr>
          <a:xfrm>
            <a:off x="1014984" y="1933955"/>
            <a:ext cx="292608" cy="292608"/>
          </a:xfrm>
          <a:prstGeom prst="rect">
            <a:avLst/>
          </a:prstGeom>
        </p:spPr>
      </p:pic>
      <p:sp>
        <p:nvSpPr>
          <p:cNvPr id="7" name="TextBox 6"/>
          <p:cNvSpPr txBox="1"/>
          <p:nvPr/>
        </p:nvSpPr>
        <p:spPr>
          <a:xfrm>
            <a:off x="1591056" y="1828800"/>
            <a:ext cx="2743200" cy="502919"/>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/keybindings</a:t>
            </a:r>
          </a:p>
        </p:txBody>
      </p:sp>
      <p:sp>
        <p:nvSpPr>
          <p:cNvPr id="8" name="TextBox 7"/>
          <p:cNvSpPr txBox="1"/>
          <p:nvPr/>
        </p:nvSpPr>
        <p:spPr>
          <a:xfrm>
            <a:off x="4434840" y="1828800"/>
            <a:ext cx="6903720" cy="502919"/>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Remap everything - ~/.claude/keybindings.json, chords included.</a:t>
            </a:r>
          </a:p>
        </p:txBody>
      </p:sp>
      <p:sp>
        <p:nvSpPr>
          <p:cNvPr id="9" name="Rounded Rectangle 8"/>
          <p:cNvSpPr/>
          <p:nvPr/>
        </p:nvSpPr>
        <p:spPr>
          <a:xfrm>
            <a:off x="640080" y="2478024"/>
            <a:ext cx="10908792" cy="502919"/>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41248" y="2446020"/>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hart_2A2A30.png"/>
          <p:cNvPicPr>
            <a:picLocks noChangeAspect="1"/>
          </p:cNvPicPr>
          <p:nvPr/>
        </p:nvPicPr>
        <p:blipFill>
          <a:blip r:embed="rId3"/>
          <a:stretch>
            <a:fillRect/>
          </a:stretch>
        </p:blipFill>
        <p:spPr>
          <a:xfrm>
            <a:off x="1014984" y="2583179"/>
            <a:ext cx="292608" cy="292608"/>
          </a:xfrm>
          <a:prstGeom prst="rect">
            <a:avLst/>
          </a:prstGeom>
        </p:spPr>
      </p:pic>
      <p:sp>
        <p:nvSpPr>
          <p:cNvPr id="12" name="TextBox 11"/>
          <p:cNvSpPr txBox="1"/>
          <p:nvPr/>
        </p:nvSpPr>
        <p:spPr>
          <a:xfrm>
            <a:off x="1591056" y="2478024"/>
            <a:ext cx="2743200" cy="502919"/>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/statusline</a:t>
            </a:r>
          </a:p>
        </p:txBody>
      </p:sp>
      <p:sp>
        <p:nvSpPr>
          <p:cNvPr id="13" name="TextBox 12"/>
          <p:cNvSpPr txBox="1"/>
          <p:nvPr/>
        </p:nvSpPr>
        <p:spPr>
          <a:xfrm>
            <a:off x="4434840" y="2478024"/>
            <a:ext cx="6903720" cy="502919"/>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A persistent HUD line: model, branch, context, elapsed time.</a:t>
            </a:r>
          </a:p>
        </p:txBody>
      </p:sp>
      <p:sp>
        <p:nvSpPr>
          <p:cNvPr id="14" name="Rounded Rectangle 13"/>
          <p:cNvSpPr/>
          <p:nvPr/>
        </p:nvSpPr>
        <p:spPr>
          <a:xfrm>
            <a:off x="640080" y="3127248"/>
            <a:ext cx="10908792" cy="502919"/>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41248" y="3095244"/>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list_2A2A30.png"/>
          <p:cNvPicPr>
            <a:picLocks noChangeAspect="1"/>
          </p:cNvPicPr>
          <p:nvPr/>
        </p:nvPicPr>
        <p:blipFill>
          <a:blip r:embed="rId4"/>
          <a:stretch>
            <a:fillRect/>
          </a:stretch>
        </p:blipFill>
        <p:spPr>
          <a:xfrm>
            <a:off x="1014984" y="3232403"/>
            <a:ext cx="292608" cy="292608"/>
          </a:xfrm>
          <a:prstGeom prst="rect">
            <a:avLst/>
          </a:prstGeom>
        </p:spPr>
      </p:pic>
      <p:sp>
        <p:nvSpPr>
          <p:cNvPr id="17" name="TextBox 16"/>
          <p:cNvSpPr txBox="1"/>
          <p:nvPr/>
        </p:nvSpPr>
        <p:spPr>
          <a:xfrm>
            <a:off x="1591056" y="3127248"/>
            <a:ext cx="2743200" cy="502919"/>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/rename + /resume</a:t>
            </a:r>
          </a:p>
        </p:txBody>
      </p:sp>
      <p:sp>
        <p:nvSpPr>
          <p:cNvPr id="18" name="TextBox 17"/>
          <p:cNvSpPr txBox="1"/>
          <p:nvPr/>
        </p:nvSpPr>
        <p:spPr>
          <a:xfrm>
            <a:off x="4434840" y="3127248"/>
            <a:ext cx="6903720" cy="502919"/>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Label sessions like tickets - 'TODO: refactor auth' - and return later.</a:t>
            </a:r>
          </a:p>
        </p:txBody>
      </p:sp>
      <p:sp>
        <p:nvSpPr>
          <p:cNvPr id="19" name="Rounded Rectangle 18"/>
          <p:cNvSpPr/>
          <p:nvPr/>
        </p:nvSpPr>
        <p:spPr>
          <a:xfrm>
            <a:off x="640080" y="3776472"/>
            <a:ext cx="10908792" cy="502919"/>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1248" y="3744468"/>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eye_2A2A30.png"/>
          <p:cNvPicPr>
            <a:picLocks noChangeAspect="1"/>
          </p:cNvPicPr>
          <p:nvPr/>
        </p:nvPicPr>
        <p:blipFill>
          <a:blip r:embed="rId5"/>
          <a:stretch>
            <a:fillRect/>
          </a:stretch>
        </p:blipFill>
        <p:spPr>
          <a:xfrm>
            <a:off x="1014984" y="3881628"/>
            <a:ext cx="292608" cy="292608"/>
          </a:xfrm>
          <a:prstGeom prst="rect">
            <a:avLst/>
          </a:prstGeom>
        </p:spPr>
      </p:pic>
      <p:sp>
        <p:nvSpPr>
          <p:cNvPr id="22" name="TextBox 21"/>
          <p:cNvSpPr txBox="1"/>
          <p:nvPr/>
        </p:nvSpPr>
        <p:spPr>
          <a:xfrm>
            <a:off x="1591056" y="3776472"/>
            <a:ext cx="2743200" cy="502919"/>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Ctrl+R</a:t>
            </a:r>
          </a:p>
        </p:txBody>
      </p:sp>
      <p:sp>
        <p:nvSpPr>
          <p:cNvPr id="23" name="TextBox 22"/>
          <p:cNvSpPr txBox="1"/>
          <p:nvPr/>
        </p:nvSpPr>
        <p:spPr>
          <a:xfrm>
            <a:off x="4434840" y="3776472"/>
            <a:ext cx="6903720" cy="502919"/>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Search the full session transcript - find that command from an hour ago.</a:t>
            </a:r>
          </a:p>
        </p:txBody>
      </p:sp>
      <p:sp>
        <p:nvSpPr>
          <p:cNvPr id="24" name="Rounded Rectangle 23"/>
          <p:cNvSpPr/>
          <p:nvPr/>
        </p:nvSpPr>
        <p:spPr>
          <a:xfrm>
            <a:off x="640080" y="4425696"/>
            <a:ext cx="10908792" cy="502919"/>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841248" y="4393692"/>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apps_2A2A30.png"/>
          <p:cNvPicPr>
            <a:picLocks noChangeAspect="1"/>
          </p:cNvPicPr>
          <p:nvPr/>
        </p:nvPicPr>
        <p:blipFill>
          <a:blip r:embed="rId6"/>
          <a:stretch>
            <a:fillRect/>
          </a:stretch>
        </p:blipFill>
        <p:spPr>
          <a:xfrm>
            <a:off x="1014984" y="4530852"/>
            <a:ext cx="292608" cy="292608"/>
          </a:xfrm>
          <a:prstGeom prst="rect">
            <a:avLst/>
          </a:prstGeom>
        </p:spPr>
      </p:pic>
      <p:sp>
        <p:nvSpPr>
          <p:cNvPr id="27" name="TextBox 26"/>
          <p:cNvSpPr txBox="1"/>
          <p:nvPr/>
        </p:nvSpPr>
        <p:spPr>
          <a:xfrm>
            <a:off x="1591056" y="4425696"/>
            <a:ext cx="2743200" cy="502919"/>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/terminal-setup</a:t>
            </a:r>
          </a:p>
        </p:txBody>
      </p:sp>
      <p:sp>
        <p:nvSpPr>
          <p:cNvPr id="28" name="TextBox 27"/>
          <p:cNvSpPr txBox="1"/>
          <p:nvPr/>
        </p:nvSpPr>
        <p:spPr>
          <a:xfrm>
            <a:off x="4434840" y="4425696"/>
            <a:ext cx="6903720" cy="502919"/>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One-time fix so Shift+Enter inserts a newline in your terminal.</a:t>
            </a:r>
          </a:p>
        </p:txBody>
      </p:sp>
      <p:sp>
        <p:nvSpPr>
          <p:cNvPr id="29" name="Rounded Rectangle 28"/>
          <p:cNvSpPr/>
          <p:nvPr/>
        </p:nvSpPr>
        <p:spPr>
          <a:xfrm>
            <a:off x="640080" y="5074920"/>
            <a:ext cx="10908792" cy="502919"/>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41248" y="5042916"/>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chat_2A2A30.png"/>
          <p:cNvPicPr>
            <a:picLocks noChangeAspect="1"/>
          </p:cNvPicPr>
          <p:nvPr/>
        </p:nvPicPr>
        <p:blipFill>
          <a:blip r:embed="rId7"/>
          <a:stretch>
            <a:fillRect/>
          </a:stretch>
        </p:blipFill>
        <p:spPr>
          <a:xfrm>
            <a:off x="1014984" y="5180076"/>
            <a:ext cx="292608" cy="292608"/>
          </a:xfrm>
          <a:prstGeom prst="rect">
            <a:avLst/>
          </a:prstGeom>
        </p:spPr>
      </p:pic>
      <p:sp>
        <p:nvSpPr>
          <p:cNvPr id="32" name="TextBox 31"/>
          <p:cNvSpPr txBox="1"/>
          <p:nvPr/>
        </p:nvSpPr>
        <p:spPr>
          <a:xfrm>
            <a:off x="1591056" y="5074920"/>
            <a:ext cx="2743200" cy="502919"/>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/btw</a:t>
            </a:r>
          </a:p>
        </p:txBody>
      </p:sp>
      <p:sp>
        <p:nvSpPr>
          <p:cNvPr id="33" name="TextBox 32"/>
          <p:cNvSpPr txBox="1"/>
          <p:nvPr/>
        </p:nvSpPr>
        <p:spPr>
          <a:xfrm>
            <a:off x="4434840" y="5074920"/>
            <a:ext cx="6903720" cy="502919"/>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Ask a side question without polluting the main task context.</a:t>
            </a:r>
          </a:p>
        </p:txBody>
      </p:sp>
      <p:sp>
        <p:nvSpPr>
          <p:cNvPr id="34" name="Rounded Rectangle 33"/>
          <p:cNvSpPr/>
          <p:nvPr/>
        </p:nvSpPr>
        <p:spPr>
          <a:xfrm>
            <a:off x="640080" y="5760720"/>
            <a:ext cx="10908792" cy="658368"/>
          </a:xfrm>
          <a:prstGeom prst="roundRect">
            <a:avLst>
              <a:gd name="adj" fmla="val 16000"/>
            </a:avLst>
          </a:prstGeom>
          <a:solidFill>
            <a:srgbClr val="3A2F0A"/>
          </a:solidFill>
          <a:ln w="9525">
            <a:solidFill>
              <a:srgbClr val="8A6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warn_E0A93A.png"/>
          <p:cNvPicPr>
            <a:picLocks noChangeAspect="1"/>
          </p:cNvPicPr>
          <p:nvPr/>
        </p:nvPicPr>
        <p:blipFill>
          <a:blip r:embed="rId8"/>
          <a:stretch>
            <a:fillRect/>
          </a:stretch>
        </p:blipFill>
        <p:spPr>
          <a:xfrm>
            <a:off x="877824" y="5907024"/>
            <a:ext cx="365760" cy="365760"/>
          </a:xfrm>
          <a:prstGeom prst="rect">
            <a:avLst/>
          </a:prstGeom>
        </p:spPr>
      </p:pic>
      <p:sp>
        <p:nvSpPr>
          <p:cNvPr id="36" name="TextBox 35"/>
          <p:cNvSpPr txBox="1"/>
          <p:nvPr/>
        </p:nvSpPr>
        <p:spPr>
          <a:xfrm>
            <a:off x="1371600" y="5760720"/>
            <a:ext cx="9994392" cy="658368"/>
          </a:xfrm>
          <a:prstGeom prst="rect">
            <a:avLst/>
          </a:prstGeom>
          <a:noFill/>
        </p:spPr>
        <p:txBody>
          <a:bodyPr wrap="square" anchor="ctr">
            <a:spAutoFit/>
          </a:bodyPr>
          <a:lstStyle/>
          <a:p>
            <a:pPr algn="l">
              <a:lnSpc>
                <a:spcPct val="100000"/>
              </a:lnSpc>
              <a:spcBef>
                <a:spcPts val="0"/>
              </a:spcBef>
              <a:spcAft>
                <a:spcPts val="200"/>
              </a:spcAft>
            </a:pPr>
            <a:r>
              <a:rPr sz="1500" b="0">
                <a:solidFill>
                  <a:srgbClr val="F0D9A6"/>
                </a:solidFill>
                <a:latin typeface="Instrument Sans"/>
              </a:rPr>
              <a:t>Weekly releases move these fast - re-verify each command's exact behavior on delivery morning.</a:t>
            </a:r>
          </a:p>
        </p:txBody>
      </p:sp>
      <p:sp>
        <p:nvSpPr>
          <p:cNvPr id="37" name="Rectangle 36"/>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39" name="TextBox 38"/>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THE HUD</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/statusline: build your HUD</a:t>
            </a:r>
          </a:p>
        </p:txBody>
      </p:sp>
      <p:sp>
        <p:nvSpPr>
          <p:cNvPr id="4" name="TextBox 3"/>
          <p:cNvSpPr txBox="1"/>
          <p:nvPr/>
        </p:nvSpPr>
        <p:spPr>
          <a:xfrm>
            <a:off x="640080" y="1572768"/>
            <a:ext cx="10424160" cy="548640"/>
          </a:xfrm>
          <a:prstGeom prst="rect">
            <a:avLst/>
          </a:prstGeom>
          <a:noFill/>
        </p:spPr>
        <p:txBody>
          <a:bodyPr wrap="square" anchor="t">
            <a:spAutoFit/>
          </a:bodyPr>
          <a:lstStyle/>
          <a:p>
            <a:pPr algn="l">
              <a:lnSpc>
                <a:spcPct val="120000"/>
              </a:lnSpc>
              <a:spcBef>
                <a:spcPts val="0"/>
              </a:spcBef>
              <a:spcAft>
                <a:spcPts val="200"/>
              </a:spcAft>
            </a:pPr>
            <a:r>
              <a:rPr sz="1800" b="0">
                <a:solidFill>
                  <a:srgbClr val="ACACB4"/>
                </a:solidFill>
                <a:latin typeface="Instrument Sans"/>
              </a:rPr>
              <a:t>One persistent line at the bottom of every prompt.</a:t>
            </a:r>
          </a:p>
        </p:txBody>
      </p:sp>
      <p:sp>
        <p:nvSpPr>
          <p:cNvPr id="5" name="Rounded Rectangle 4"/>
          <p:cNvSpPr/>
          <p:nvPr/>
        </p:nvSpPr>
        <p:spPr>
          <a:xfrm>
            <a:off x="640080"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77824"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eye_2A2A30.png"/>
          <p:cNvPicPr>
            <a:picLocks noChangeAspect="1"/>
          </p:cNvPicPr>
          <p:nvPr/>
        </p:nvPicPr>
        <p:blipFill>
          <a:blip r:embed="rId2"/>
          <a:stretch>
            <a:fillRect/>
          </a:stretch>
        </p:blipFill>
        <p:spPr>
          <a:xfrm>
            <a:off x="1005840" y="2756916"/>
            <a:ext cx="219456" cy="219456"/>
          </a:xfrm>
          <a:prstGeom prst="rect">
            <a:avLst/>
          </a:prstGeom>
        </p:spPr>
      </p:pic>
      <p:sp>
        <p:nvSpPr>
          <p:cNvPr id="8" name="TextBox 7"/>
          <p:cNvSpPr txBox="1"/>
          <p:nvPr/>
        </p:nvSpPr>
        <p:spPr>
          <a:xfrm>
            <a:off x="877824"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What it shows</a:t>
            </a:r>
          </a:p>
        </p:txBody>
      </p:sp>
      <p:sp>
        <p:nvSpPr>
          <p:cNvPr id="9" name="TextBox 8"/>
          <p:cNvSpPr txBox="1"/>
          <p:nvPr/>
        </p:nvSpPr>
        <p:spPr>
          <a:xfrm>
            <a:off x="877824"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Model, git branch, context used - whatever you script.</a:t>
            </a:r>
          </a:p>
        </p:txBody>
      </p:sp>
      <p:sp>
        <p:nvSpPr>
          <p:cNvPr id="10" name="Rounded Rectangle 9"/>
          <p:cNvSpPr/>
          <p:nvPr/>
        </p:nvSpPr>
        <p:spPr>
          <a:xfrm>
            <a:off x="4367784"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605528"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lock_2A2A30.png"/>
          <p:cNvPicPr>
            <a:picLocks noChangeAspect="1"/>
          </p:cNvPicPr>
          <p:nvPr/>
        </p:nvPicPr>
        <p:blipFill>
          <a:blip r:embed="rId3"/>
          <a:stretch>
            <a:fillRect/>
          </a:stretch>
        </p:blipFill>
        <p:spPr>
          <a:xfrm>
            <a:off x="4733544" y="2756916"/>
            <a:ext cx="219456" cy="219456"/>
          </a:xfrm>
          <a:prstGeom prst="rect">
            <a:avLst/>
          </a:prstGeom>
        </p:spPr>
      </p:pic>
      <p:sp>
        <p:nvSpPr>
          <p:cNvPr id="13" name="TextBox 12"/>
          <p:cNvSpPr txBox="1"/>
          <p:nvPr/>
        </p:nvSpPr>
        <p:spPr>
          <a:xfrm>
            <a:off x="4605528"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Elapsed time</a:t>
            </a:r>
          </a:p>
        </p:txBody>
      </p:sp>
      <p:sp>
        <p:nvSpPr>
          <p:cNvPr id="14" name="TextBox 13"/>
          <p:cNvSpPr txBox="1"/>
          <p:nvPr/>
        </p:nvSpPr>
        <p:spPr>
          <a:xfrm>
            <a:off x="4605528"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A running session timer keeps long tasks honest.</a:t>
            </a:r>
          </a:p>
        </p:txBody>
      </p:sp>
      <p:sp>
        <p:nvSpPr>
          <p:cNvPr id="15" name="Rounded Rectangle 14"/>
          <p:cNvSpPr/>
          <p:nvPr/>
        </p:nvSpPr>
        <p:spPr>
          <a:xfrm>
            <a:off x="8095488"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333232"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spark_2A2A30.png"/>
          <p:cNvPicPr>
            <a:picLocks noChangeAspect="1"/>
          </p:cNvPicPr>
          <p:nvPr/>
        </p:nvPicPr>
        <p:blipFill>
          <a:blip r:embed="rId4"/>
          <a:stretch>
            <a:fillRect/>
          </a:stretch>
        </p:blipFill>
        <p:spPr>
          <a:xfrm>
            <a:off x="8461248" y="2756916"/>
            <a:ext cx="219456" cy="219456"/>
          </a:xfrm>
          <a:prstGeom prst="rect">
            <a:avLst/>
          </a:prstGeom>
        </p:spPr>
      </p:pic>
      <p:sp>
        <p:nvSpPr>
          <p:cNvPr id="18" name="TextBox 17"/>
          <p:cNvSpPr txBox="1"/>
          <p:nvPr/>
        </p:nvSpPr>
        <p:spPr>
          <a:xfrm>
            <a:off x="8333232"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How you build it</a:t>
            </a:r>
          </a:p>
        </p:txBody>
      </p:sp>
      <p:sp>
        <p:nvSpPr>
          <p:cNvPr id="19" name="TextBox 18"/>
          <p:cNvSpPr txBox="1"/>
          <p:nvPr/>
        </p:nvSpPr>
        <p:spPr>
          <a:xfrm>
            <a:off x="8333232"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Describe it in English - Claude writes the script itself.</a:t>
            </a:r>
          </a:p>
        </p:txBody>
      </p:sp>
      <p:sp>
        <p:nvSpPr>
          <p:cNvPr id="20" name="Rounded Rectangle 19"/>
          <p:cNvSpPr/>
          <p:nvPr/>
        </p:nvSpPr>
        <p:spPr>
          <a:xfrm>
            <a:off x="640080" y="5760720"/>
            <a:ext cx="10908792" cy="658368"/>
          </a:xfrm>
          <a:prstGeom prst="roundRect">
            <a:avLst>
              <a:gd name="adj" fmla="val 16000"/>
            </a:avLst>
          </a:prstGeom>
          <a:solidFill>
            <a:srgbClr val="16324F"/>
          </a:solidFill>
          <a:ln w="9525">
            <a:solidFill>
              <a:srgbClr val="2F6F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info_4C8DF0.png"/>
          <p:cNvPicPr>
            <a:picLocks noChangeAspect="1"/>
          </p:cNvPicPr>
          <p:nvPr/>
        </p:nvPicPr>
        <p:blipFill>
          <a:blip r:embed="rId5"/>
          <a:stretch>
            <a:fillRect/>
          </a:stretch>
        </p:blipFill>
        <p:spPr>
          <a:xfrm>
            <a:off x="877824" y="5907024"/>
            <a:ext cx="365760" cy="365760"/>
          </a:xfrm>
          <a:prstGeom prst="rect">
            <a:avLst/>
          </a:prstGeom>
        </p:spPr>
      </p:pic>
      <p:sp>
        <p:nvSpPr>
          <p:cNvPr id="22" name="TextBox 21"/>
          <p:cNvSpPr txBox="1"/>
          <p:nvPr/>
        </p:nvSpPr>
        <p:spPr>
          <a:xfrm>
            <a:off x="1371600" y="5760720"/>
            <a:ext cx="9994392" cy="658368"/>
          </a:xfrm>
          <a:prstGeom prst="rect">
            <a:avLst/>
          </a:prstGeom>
          <a:noFill/>
        </p:spPr>
        <p:txBody>
          <a:bodyPr wrap="square" anchor="ctr">
            <a:spAutoFit/>
          </a:bodyPr>
          <a:lstStyle/>
          <a:p>
            <a:pPr algn="l">
              <a:lnSpc>
                <a:spcPct val="100000"/>
              </a:lnSpc>
              <a:spcBef>
                <a:spcPts val="0"/>
              </a:spcBef>
              <a:spcAft>
                <a:spcPts val="200"/>
              </a:spcAft>
            </a:pPr>
            <a:r>
              <a:rPr sz="1500" b="0">
                <a:solidFill>
                  <a:srgbClr val="CAD8F2"/>
                </a:solidFill>
                <a:latin typeface="Instrument Sans"/>
              </a:rPr>
              <a:t>The statusline is just a script in your settings - ask Claude to write and wire it for you.</a:t>
            </a:r>
          </a:p>
        </p:txBody>
      </p:sp>
      <p:sp>
        <p:nvSpPr>
          <p:cNvPr id="23" name="Rectangle 22"/>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5" name="TextBox 24"/>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MUSCLE MEMORY</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Terminal moves that compound</a:t>
            </a:r>
          </a:p>
        </p:txBody>
      </p:sp>
      <p:sp>
        <p:nvSpPr>
          <p:cNvPr id="4" name="Rectangle 3"/>
          <p:cNvSpPr/>
          <p:nvPr/>
        </p:nvSpPr>
        <p:spPr>
          <a:xfrm>
            <a:off x="640080" y="1874519"/>
            <a:ext cx="10908792" cy="548640"/>
          </a:xfrm>
          <a:prstGeom prst="rect">
            <a:avLst/>
          </a:prstGeom>
          <a:solidFill>
            <a:srgbClr val="3030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74519"/>
            <a:ext cx="2468880" cy="548640"/>
          </a:xfrm>
          <a:prstGeom prst="rect">
            <a:avLst/>
          </a:prstGeom>
          <a:noFill/>
        </p:spPr>
        <p:txBody>
          <a:bodyPr wrap="square" anchor="ctr">
            <a:spAutoFit/>
          </a:bodyPr>
          <a:lstStyle/>
          <a:p>
            <a:pPr algn="l">
              <a:lnSpc>
                <a:spcPct val="100000"/>
              </a:lnSpc>
              <a:spcBef>
                <a:spcPts val="0"/>
              </a:spcBef>
              <a:spcAft>
                <a:spcPts val="200"/>
              </a:spcAft>
            </a:pPr>
            <a:r>
              <a:rPr sz="1400" b="1" spc="120">
                <a:solidFill>
                  <a:srgbClr val="7E7E86"/>
                </a:solidFill>
                <a:latin typeface="Instrument Sans"/>
              </a:rPr>
              <a:t>MOVE</a:t>
            </a:r>
          </a:p>
        </p:txBody>
      </p:sp>
      <p:sp>
        <p:nvSpPr>
          <p:cNvPr id="6" name="TextBox 5"/>
          <p:cNvSpPr txBox="1"/>
          <p:nvPr/>
        </p:nvSpPr>
        <p:spPr>
          <a:xfrm>
            <a:off x="3383280" y="1874519"/>
            <a:ext cx="7982712" cy="548640"/>
          </a:xfrm>
          <a:prstGeom prst="rect">
            <a:avLst/>
          </a:prstGeom>
          <a:noFill/>
        </p:spPr>
        <p:txBody>
          <a:bodyPr wrap="square" anchor="ctr">
            <a:spAutoFit/>
          </a:bodyPr>
          <a:lstStyle/>
          <a:p>
            <a:pPr algn="l">
              <a:lnSpc>
                <a:spcPct val="100000"/>
              </a:lnSpc>
              <a:spcBef>
                <a:spcPts val="0"/>
              </a:spcBef>
              <a:spcAft>
                <a:spcPts val="200"/>
              </a:spcAft>
            </a:pPr>
            <a:r>
              <a:rPr sz="1400" b="1" spc="120">
                <a:solidFill>
                  <a:srgbClr val="7E7E86"/>
                </a:solidFill>
                <a:latin typeface="Instrument Sans"/>
              </a:rPr>
              <a:t>PAYOFF</a:t>
            </a:r>
          </a:p>
        </p:txBody>
      </p:sp>
      <p:sp>
        <p:nvSpPr>
          <p:cNvPr id="7" name="Rectangle 6"/>
          <p:cNvSpPr/>
          <p:nvPr/>
        </p:nvSpPr>
        <p:spPr>
          <a:xfrm>
            <a:off x="640080" y="2423160"/>
            <a:ext cx="10908792" cy="768095"/>
          </a:xfrm>
          <a:prstGeom prst="rect">
            <a:avLst/>
          </a:prstGeom>
          <a:solidFill>
            <a:srgbClr val="282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2423160"/>
            <a:ext cx="10908792" cy="9144"/>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423160"/>
            <a:ext cx="2468880" cy="768095"/>
          </a:xfrm>
          <a:prstGeom prst="rect">
            <a:avLst/>
          </a:prstGeom>
          <a:noFill/>
        </p:spPr>
        <p:txBody>
          <a:bodyPr wrap="square" anchor="ctr">
            <a:spAutoFit/>
          </a:bodyPr>
          <a:lstStyle/>
          <a:p>
            <a:pPr algn="l">
              <a:lnSpc>
                <a:spcPct val="100000"/>
              </a:lnSpc>
              <a:spcBef>
                <a:spcPts val="0"/>
              </a:spcBef>
              <a:spcAft>
                <a:spcPts val="200"/>
              </a:spcAft>
            </a:pPr>
            <a:r>
              <a:rPr sz="1700" b="1">
                <a:solidFill>
                  <a:srgbClr val="F5F5F6"/>
                </a:solidFill>
                <a:latin typeface="Instrument Sans"/>
              </a:rPr>
              <a:t>Esc Esc</a:t>
            </a:r>
          </a:p>
        </p:txBody>
      </p:sp>
      <p:sp>
        <p:nvSpPr>
          <p:cNvPr id="10" name="TextBox 9"/>
          <p:cNvSpPr txBox="1"/>
          <p:nvPr/>
        </p:nvSpPr>
        <p:spPr>
          <a:xfrm>
            <a:off x="3383280" y="2423160"/>
            <a:ext cx="7982712" cy="768095"/>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Jump back in the conversation - the rewind entry point</a:t>
            </a:r>
          </a:p>
        </p:txBody>
      </p:sp>
      <p:sp>
        <p:nvSpPr>
          <p:cNvPr id="11" name="Rectangle 10"/>
          <p:cNvSpPr/>
          <p:nvPr/>
        </p:nvSpPr>
        <p:spPr>
          <a:xfrm>
            <a:off x="640080" y="3191256"/>
            <a:ext cx="10908792" cy="768095"/>
          </a:xfrm>
          <a:prstGeom prst="rect">
            <a:avLst/>
          </a:prstGeom>
          <a:solidFill>
            <a:srgbClr val="343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0080" y="3191256"/>
            <a:ext cx="10908792" cy="9144"/>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191256"/>
            <a:ext cx="2468880" cy="768095"/>
          </a:xfrm>
          <a:prstGeom prst="rect">
            <a:avLst/>
          </a:prstGeom>
          <a:noFill/>
        </p:spPr>
        <p:txBody>
          <a:bodyPr wrap="square" anchor="ctr">
            <a:spAutoFit/>
          </a:bodyPr>
          <a:lstStyle/>
          <a:p>
            <a:pPr algn="l">
              <a:lnSpc>
                <a:spcPct val="100000"/>
              </a:lnSpc>
              <a:spcBef>
                <a:spcPts val="0"/>
              </a:spcBef>
              <a:spcAft>
                <a:spcPts val="200"/>
              </a:spcAft>
            </a:pPr>
            <a:r>
              <a:rPr sz="1700" b="1">
                <a:solidFill>
                  <a:srgbClr val="F5F5F6"/>
                </a:solidFill>
                <a:latin typeface="Instrument Sans"/>
              </a:rPr>
              <a:t>! prefix</a:t>
            </a:r>
          </a:p>
        </p:txBody>
      </p:sp>
      <p:sp>
        <p:nvSpPr>
          <p:cNvPr id="14" name="TextBox 13"/>
          <p:cNvSpPr txBox="1"/>
          <p:nvPr/>
        </p:nvSpPr>
        <p:spPr>
          <a:xfrm>
            <a:off x="3383280" y="3191256"/>
            <a:ext cx="7982712" cy="768095"/>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Run a shell command; the output lands in context, no copy-paste</a:t>
            </a:r>
          </a:p>
        </p:txBody>
      </p:sp>
      <p:sp>
        <p:nvSpPr>
          <p:cNvPr id="15" name="Rectangle 14"/>
          <p:cNvSpPr/>
          <p:nvPr/>
        </p:nvSpPr>
        <p:spPr>
          <a:xfrm>
            <a:off x="640080" y="3959352"/>
            <a:ext cx="10908792" cy="768095"/>
          </a:xfrm>
          <a:prstGeom prst="rect">
            <a:avLst/>
          </a:prstGeom>
          <a:solidFill>
            <a:srgbClr val="282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3959352"/>
            <a:ext cx="10908792" cy="9144"/>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3959352"/>
            <a:ext cx="2468880" cy="768095"/>
          </a:xfrm>
          <a:prstGeom prst="rect">
            <a:avLst/>
          </a:prstGeom>
          <a:noFill/>
        </p:spPr>
        <p:txBody>
          <a:bodyPr wrap="square" anchor="ctr">
            <a:spAutoFit/>
          </a:bodyPr>
          <a:lstStyle/>
          <a:p>
            <a:pPr algn="l">
              <a:lnSpc>
                <a:spcPct val="100000"/>
              </a:lnSpc>
              <a:spcBef>
                <a:spcPts val="0"/>
              </a:spcBef>
              <a:spcAft>
                <a:spcPts val="200"/>
              </a:spcAft>
            </a:pPr>
            <a:r>
              <a:rPr sz="1700" b="1">
                <a:solidFill>
                  <a:srgbClr val="F5F5F6"/>
                </a:solidFill>
                <a:latin typeface="Instrument Sans"/>
              </a:rPr>
              <a:t>Tab</a:t>
            </a:r>
          </a:p>
        </p:txBody>
      </p:sp>
      <p:sp>
        <p:nvSpPr>
          <p:cNvPr id="18" name="TextBox 17"/>
          <p:cNvSpPr txBox="1"/>
          <p:nvPr/>
        </p:nvSpPr>
        <p:spPr>
          <a:xfrm>
            <a:off x="3383280" y="3959352"/>
            <a:ext cx="7982712" cy="768095"/>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Complete file paths - stop typing them from memory</a:t>
            </a:r>
          </a:p>
        </p:txBody>
      </p:sp>
      <p:sp>
        <p:nvSpPr>
          <p:cNvPr id="19" name="Rectangle 18"/>
          <p:cNvSpPr/>
          <p:nvPr/>
        </p:nvSpPr>
        <p:spPr>
          <a:xfrm>
            <a:off x="640080" y="4727448"/>
            <a:ext cx="10908792" cy="768095"/>
          </a:xfrm>
          <a:prstGeom prst="rect">
            <a:avLst/>
          </a:prstGeom>
          <a:solidFill>
            <a:srgbClr val="343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40080" y="4727448"/>
            <a:ext cx="10908792" cy="9144"/>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4727448"/>
            <a:ext cx="2468880" cy="768095"/>
          </a:xfrm>
          <a:prstGeom prst="rect">
            <a:avLst/>
          </a:prstGeom>
          <a:noFill/>
        </p:spPr>
        <p:txBody>
          <a:bodyPr wrap="square" anchor="ctr">
            <a:spAutoFit/>
          </a:bodyPr>
          <a:lstStyle/>
          <a:p>
            <a:pPr algn="l">
              <a:lnSpc>
                <a:spcPct val="100000"/>
              </a:lnSpc>
              <a:spcBef>
                <a:spcPts val="0"/>
              </a:spcBef>
              <a:spcAft>
                <a:spcPts val="200"/>
              </a:spcAft>
            </a:pPr>
            <a:r>
              <a:rPr sz="1700" b="1">
                <a:solidFill>
                  <a:srgbClr val="F5F5F6"/>
                </a:solidFill>
                <a:latin typeface="Instrument Sans"/>
              </a:rPr>
              <a:t>Paste an image</a:t>
            </a:r>
          </a:p>
        </p:txBody>
      </p:sp>
      <p:sp>
        <p:nvSpPr>
          <p:cNvPr id="22" name="TextBox 21"/>
          <p:cNvSpPr txBox="1"/>
          <p:nvPr/>
        </p:nvSpPr>
        <p:spPr>
          <a:xfrm>
            <a:off x="3383280" y="4727448"/>
            <a:ext cx="7982712" cy="768095"/>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Screenshots go straight into the prompt - point at the bug</a:t>
            </a:r>
          </a:p>
        </p:txBody>
      </p:sp>
      <p:sp>
        <p:nvSpPr>
          <p:cNvPr id="23" name="Rectangle 22"/>
          <p:cNvSpPr/>
          <p:nvPr/>
        </p:nvSpPr>
        <p:spPr>
          <a:xfrm>
            <a:off x="640080" y="5495544"/>
            <a:ext cx="10908792" cy="768095"/>
          </a:xfrm>
          <a:prstGeom prst="rect">
            <a:avLst/>
          </a:prstGeom>
          <a:solidFill>
            <a:srgbClr val="282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40080" y="5495544"/>
            <a:ext cx="10908792" cy="9144"/>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5495544"/>
            <a:ext cx="2468880" cy="768095"/>
          </a:xfrm>
          <a:prstGeom prst="rect">
            <a:avLst/>
          </a:prstGeom>
          <a:noFill/>
        </p:spPr>
        <p:txBody>
          <a:bodyPr wrap="square" anchor="ctr">
            <a:spAutoFit/>
          </a:bodyPr>
          <a:lstStyle/>
          <a:p>
            <a:pPr algn="l">
              <a:lnSpc>
                <a:spcPct val="100000"/>
              </a:lnSpc>
              <a:spcBef>
                <a:spcPts val="0"/>
              </a:spcBef>
              <a:spcAft>
                <a:spcPts val="200"/>
              </a:spcAft>
            </a:pPr>
            <a:r>
              <a:rPr sz="1700" b="1">
                <a:solidFill>
                  <a:srgbClr val="F5F5F6"/>
                </a:solidFill>
                <a:latin typeface="Instrument Sans"/>
              </a:rPr>
              <a:t>Shift+Tab</a:t>
            </a:r>
          </a:p>
        </p:txBody>
      </p:sp>
      <p:sp>
        <p:nvSpPr>
          <p:cNvPr id="26" name="TextBox 25"/>
          <p:cNvSpPr txBox="1"/>
          <p:nvPr/>
        </p:nvSpPr>
        <p:spPr>
          <a:xfrm>
            <a:off x="3383280" y="5495544"/>
            <a:ext cx="7982712" cy="768095"/>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Cycle permission modes without leaving the keyboard</a:t>
            </a:r>
          </a:p>
        </p:txBody>
      </p:sp>
      <p:sp>
        <p:nvSpPr>
          <p:cNvPr id="27" name="Rectangle 26"/>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9" name="TextBox 28"/>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FOLLOW ALONG</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Paste this: rig the cockpit</a:t>
            </a:r>
          </a:p>
        </p:txBody>
      </p:sp>
      <p:sp>
        <p:nvSpPr>
          <p:cNvPr id="4" name="Rounded Rectangle 3"/>
          <p:cNvSpPr/>
          <p:nvPr/>
        </p:nvSpPr>
        <p:spPr>
          <a:xfrm>
            <a:off x="640080" y="1828800"/>
            <a:ext cx="6126480" cy="4206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084832"/>
            <a:ext cx="5577840" cy="457200"/>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What you are practicing</a:t>
            </a:r>
          </a:p>
        </p:txBody>
      </p:sp>
      <p:sp>
        <p:nvSpPr>
          <p:cNvPr id="6" name="Rectangle 5"/>
          <p:cNvSpPr/>
          <p:nvPr/>
        </p:nvSpPr>
        <p:spPr>
          <a:xfrm>
            <a:off x="914400" y="2852928"/>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07008" y="2743200"/>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A HUD you designed in English</a:t>
            </a:r>
          </a:p>
        </p:txBody>
      </p:sp>
      <p:sp>
        <p:nvSpPr>
          <p:cNvPr id="8" name="Rectangle 7"/>
          <p:cNvSpPr/>
          <p:nvPr/>
        </p:nvSpPr>
        <p:spPr>
          <a:xfrm>
            <a:off x="914400" y="3419856"/>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07008" y="3310128"/>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Session names that read like tickets</a:t>
            </a:r>
          </a:p>
        </p:txBody>
      </p:sp>
      <p:sp>
        <p:nvSpPr>
          <p:cNvPr id="10" name="Rectangle 9"/>
          <p:cNvSpPr/>
          <p:nvPr/>
        </p:nvSpPr>
        <p:spPr>
          <a:xfrm>
            <a:off x="914400" y="3986784"/>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07008" y="3877056"/>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Letting Claude configure Claude</a:t>
            </a:r>
          </a:p>
        </p:txBody>
      </p:sp>
      <p:sp>
        <p:nvSpPr>
          <p:cNvPr id="12" name="TextBox 11"/>
          <p:cNvSpPr txBox="1"/>
          <p:nvPr/>
        </p:nvSpPr>
        <p:spPr>
          <a:xfrm>
            <a:off x="7040880" y="1810512"/>
            <a:ext cx="4507992" cy="365760"/>
          </a:xfrm>
          <a:prstGeom prst="rect">
            <a:avLst/>
          </a:prstGeom>
          <a:noFill/>
        </p:spPr>
        <p:txBody>
          <a:bodyPr wrap="square" anchor="t">
            <a:spAutoFit/>
          </a:bodyPr>
          <a:lstStyle/>
          <a:p>
            <a:pPr algn="l">
              <a:lnSpc>
                <a:spcPct val="100000"/>
              </a:lnSpc>
              <a:spcBef>
                <a:spcPts val="0"/>
              </a:spcBef>
              <a:spcAft>
                <a:spcPts val="200"/>
              </a:spcAft>
            </a:pPr>
            <a:r>
              <a:rPr sz="1300" b="1" spc="150">
                <a:solidFill>
                  <a:srgbClr val="8B8B93"/>
                </a:solidFill>
                <a:latin typeface="Instrument Sans"/>
              </a:rPr>
              <a:t>PASTE THIS</a:t>
            </a:r>
          </a:p>
        </p:txBody>
      </p:sp>
      <p:sp>
        <p:nvSpPr>
          <p:cNvPr id="13" name="Rounded Rectangle 12"/>
          <p:cNvSpPr/>
          <p:nvPr/>
        </p:nvSpPr>
        <p:spPr>
          <a:xfrm>
            <a:off x="7040880" y="2286000"/>
            <a:ext cx="4507992" cy="130302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242048" y="2450592"/>
            <a:ext cx="310896" cy="310896"/>
          </a:xfrm>
          <a:prstGeom prst="ellipse">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42048" y="2432304"/>
            <a:ext cx="310896" cy="310896"/>
          </a:xfrm>
          <a:prstGeom prst="rect">
            <a:avLst/>
          </a:prstGeom>
          <a:noFill/>
        </p:spPr>
        <p:txBody>
          <a:bodyPr wrap="square" anchor="ctr">
            <a:spAutoFit/>
          </a:bodyPr>
          <a:lstStyle/>
          <a:p>
            <a:pPr algn="ctr">
              <a:lnSpc>
                <a:spcPct val="100000"/>
              </a:lnSpc>
              <a:spcBef>
                <a:spcPts val="0"/>
              </a:spcBef>
              <a:spcAft>
                <a:spcPts val="200"/>
              </a:spcAft>
            </a:pPr>
            <a:r>
              <a:rPr sz="1300" b="1">
                <a:solidFill>
                  <a:srgbClr val="303036"/>
                </a:solidFill>
                <a:latin typeface="Instrument Sans"/>
              </a:rPr>
              <a:t>1</a:t>
            </a:r>
          </a:p>
        </p:txBody>
      </p:sp>
      <p:sp>
        <p:nvSpPr>
          <p:cNvPr id="16" name="TextBox 15"/>
          <p:cNvSpPr txBox="1"/>
          <p:nvPr/>
        </p:nvSpPr>
        <p:spPr>
          <a:xfrm>
            <a:off x="7699248" y="2670048"/>
            <a:ext cx="3593591" cy="864108"/>
          </a:xfrm>
          <a:prstGeom prst="rect">
            <a:avLst/>
          </a:prstGeom>
          <a:noFill/>
        </p:spPr>
        <p:txBody>
          <a:bodyPr wrap="square" anchor="t">
            <a:normAutofit/>
          </a:bodyPr>
          <a:lstStyle/>
          <a:p>
            <a:pPr algn="l">
              <a:lnSpc>
                <a:spcPct val="112000"/>
              </a:lnSpc>
              <a:spcBef>
                <a:spcPts val="0"/>
              </a:spcBef>
              <a:spcAft>
                <a:spcPts val="200"/>
              </a:spcAft>
            </a:pPr>
            <a:r>
              <a:rPr sz="1400" b="0">
                <a:solidFill>
                  <a:srgbClr val="C9C9D2"/>
                </a:solidFill>
                <a:latin typeface="Instrument Sans"/>
              </a:rPr>
              <a:t>/statusline show the model, current git branch, context % used, and minutes elapsed</a:t>
            </a:r>
          </a:p>
        </p:txBody>
      </p:sp>
      <p:sp>
        <p:nvSpPr>
          <p:cNvPr id="17" name="Rounded Rectangle 16"/>
          <p:cNvSpPr/>
          <p:nvPr/>
        </p:nvSpPr>
        <p:spPr>
          <a:xfrm>
            <a:off x="7040880" y="3735324"/>
            <a:ext cx="4507992" cy="812292"/>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242048" y="3899915"/>
            <a:ext cx="310896" cy="310896"/>
          </a:xfrm>
          <a:prstGeom prst="ellipse">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42048" y="3881628"/>
            <a:ext cx="310896" cy="310896"/>
          </a:xfrm>
          <a:prstGeom prst="rect">
            <a:avLst/>
          </a:prstGeom>
          <a:noFill/>
        </p:spPr>
        <p:txBody>
          <a:bodyPr wrap="square" anchor="ctr">
            <a:spAutoFit/>
          </a:bodyPr>
          <a:lstStyle/>
          <a:p>
            <a:pPr algn="ctr">
              <a:lnSpc>
                <a:spcPct val="100000"/>
              </a:lnSpc>
              <a:spcBef>
                <a:spcPts val="0"/>
              </a:spcBef>
              <a:spcAft>
                <a:spcPts val="200"/>
              </a:spcAft>
            </a:pPr>
            <a:r>
              <a:rPr sz="1300" b="1">
                <a:solidFill>
                  <a:srgbClr val="303036"/>
                </a:solidFill>
                <a:latin typeface="Instrument Sans"/>
              </a:rPr>
              <a:t>2</a:t>
            </a:r>
          </a:p>
        </p:txBody>
      </p:sp>
      <p:sp>
        <p:nvSpPr>
          <p:cNvPr id="20" name="TextBox 19"/>
          <p:cNvSpPr txBox="1"/>
          <p:nvPr/>
        </p:nvSpPr>
        <p:spPr>
          <a:xfrm>
            <a:off x="7699248" y="4119372"/>
            <a:ext cx="3593591" cy="373380"/>
          </a:xfrm>
          <a:prstGeom prst="rect">
            <a:avLst/>
          </a:prstGeom>
          <a:noFill/>
        </p:spPr>
        <p:txBody>
          <a:bodyPr wrap="square" anchor="t">
            <a:normAutofit/>
          </a:bodyPr>
          <a:lstStyle/>
          <a:p>
            <a:pPr algn="l">
              <a:lnSpc>
                <a:spcPct val="112000"/>
              </a:lnSpc>
              <a:spcBef>
                <a:spcPts val="0"/>
              </a:spcBef>
              <a:spcAft>
                <a:spcPts val="200"/>
              </a:spcAft>
            </a:pPr>
            <a:r>
              <a:rPr sz="1400" b="0">
                <a:solidFill>
                  <a:srgbClr val="C9C9D2"/>
                </a:solidFill>
                <a:latin typeface="Instrument Sans"/>
              </a:rPr>
              <a:t>/rename flex-lab-TODO-cleanup</a:t>
            </a:r>
          </a:p>
        </p:txBody>
      </p:sp>
      <p:sp>
        <p:nvSpPr>
          <p:cNvPr id="21" name="Rounded Rectangle 20"/>
          <p:cNvSpPr/>
          <p:nvPr/>
        </p:nvSpPr>
        <p:spPr>
          <a:xfrm>
            <a:off x="7040880" y="4693920"/>
            <a:ext cx="4507992" cy="812292"/>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242048" y="4858511"/>
            <a:ext cx="310896" cy="310896"/>
          </a:xfrm>
          <a:prstGeom prst="ellipse">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242048" y="4840224"/>
            <a:ext cx="310896" cy="310896"/>
          </a:xfrm>
          <a:prstGeom prst="rect">
            <a:avLst/>
          </a:prstGeom>
          <a:noFill/>
        </p:spPr>
        <p:txBody>
          <a:bodyPr wrap="square" anchor="ctr">
            <a:spAutoFit/>
          </a:bodyPr>
          <a:lstStyle/>
          <a:p>
            <a:pPr algn="ctr">
              <a:lnSpc>
                <a:spcPct val="100000"/>
              </a:lnSpc>
              <a:spcBef>
                <a:spcPts val="0"/>
              </a:spcBef>
              <a:spcAft>
                <a:spcPts val="200"/>
              </a:spcAft>
            </a:pPr>
            <a:r>
              <a:rPr sz="1300" b="1">
                <a:solidFill>
                  <a:srgbClr val="303036"/>
                </a:solidFill>
                <a:latin typeface="Instrument Sans"/>
              </a:rPr>
              <a:t>3</a:t>
            </a:r>
          </a:p>
        </p:txBody>
      </p:sp>
      <p:sp>
        <p:nvSpPr>
          <p:cNvPr id="24" name="TextBox 23"/>
          <p:cNvSpPr txBox="1"/>
          <p:nvPr/>
        </p:nvSpPr>
        <p:spPr>
          <a:xfrm>
            <a:off x="7699248" y="5077967"/>
            <a:ext cx="3593591" cy="373380"/>
          </a:xfrm>
          <a:prstGeom prst="rect">
            <a:avLst/>
          </a:prstGeom>
          <a:noFill/>
        </p:spPr>
        <p:txBody>
          <a:bodyPr wrap="square" anchor="t">
            <a:normAutofit/>
          </a:bodyPr>
          <a:lstStyle/>
          <a:p>
            <a:pPr algn="l">
              <a:lnSpc>
                <a:spcPct val="112000"/>
              </a:lnSpc>
              <a:spcBef>
                <a:spcPts val="0"/>
              </a:spcBef>
              <a:spcAft>
                <a:spcPts val="200"/>
              </a:spcAft>
            </a:pPr>
            <a:r>
              <a:rPr sz="1400" b="0">
                <a:solidFill>
                  <a:srgbClr val="C9C9D2"/>
                </a:solidFill>
                <a:latin typeface="Instrument Sans"/>
              </a:rPr>
              <a:t>/keybindings</a:t>
            </a:r>
          </a:p>
        </p:txBody>
      </p:sp>
      <p:sp>
        <p:nvSpPr>
          <p:cNvPr id="25" name="Rectangle 24"/>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7" name="TextBox 26"/>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pic>
        <p:nvPicPr>
          <p:cNvPr id="2" name="Picture 1" descr="bg_5.png"/>
          <p:cNvPicPr>
            <a:picLocks noChangeAspect="1"/>
          </p:cNvPicPr>
          <p:nvPr/>
        </p:nvPicPr>
        <p:blipFill>
          <a:blip r:embed="rId2"/>
          <a:stretch>
            <a:fillRect/>
          </a:stretch>
        </p:blipFill>
        <p:spPr>
          <a:xfrm>
            <a:off x="6355080" y="0"/>
            <a:ext cx="5833872" cy="6858000"/>
          </a:xfrm>
          <a:prstGeom prst="rect">
            <a:avLst/>
          </a:prstGeom>
        </p:spPr>
      </p:pic>
      <p:sp>
        <p:nvSpPr>
          <p:cNvPr id="3" name="Rectangle 2"/>
          <p:cNvSpPr/>
          <p:nvPr/>
        </p:nvSpPr>
        <p:spPr>
          <a:xfrm>
            <a:off x="6355080" y="0"/>
            <a:ext cx="32004" cy="6858000"/>
          </a:xfrm>
          <a:prstGeom prst="rect">
            <a:avLst/>
          </a:prstGeom>
          <a:solidFill>
            <a:srgbClr val="2F6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2542032"/>
            <a:ext cx="548640" cy="54864"/>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2706624"/>
            <a:ext cx="5486400" cy="365760"/>
          </a:xfrm>
          <a:prstGeom prst="rect">
            <a:avLst/>
          </a:prstGeom>
          <a:noFill/>
        </p:spPr>
        <p:txBody>
          <a:bodyPr wrap="square" anchor="t">
            <a:spAutoFit/>
          </a:bodyPr>
          <a:lstStyle/>
          <a:p>
            <a:pPr algn="l">
              <a:lnSpc>
                <a:spcPct val="100000"/>
              </a:lnSpc>
              <a:spcBef>
                <a:spcPts val="0"/>
              </a:spcBef>
              <a:spcAft>
                <a:spcPts val="200"/>
              </a:spcAft>
            </a:pPr>
            <a:r>
              <a:rPr sz="1300" b="1" spc="200">
                <a:solidFill>
                  <a:srgbClr val="8B8B93"/>
                </a:solidFill>
                <a:latin typeface="Instrument Sans"/>
              </a:rPr>
              <a:t>FLEX MODULE 3 - DAY 3</a:t>
            </a:r>
          </a:p>
        </p:txBody>
      </p:sp>
      <p:sp>
        <p:nvSpPr>
          <p:cNvPr id="6" name="TextBox 5"/>
          <p:cNvSpPr txBox="1"/>
          <p:nvPr/>
        </p:nvSpPr>
        <p:spPr>
          <a:xfrm>
            <a:off x="658368" y="3054096"/>
            <a:ext cx="5532120" cy="1783080"/>
          </a:xfrm>
          <a:prstGeom prst="rect">
            <a:avLst/>
          </a:prstGeom>
          <a:noFill/>
        </p:spPr>
        <p:txBody>
          <a:bodyPr wrap="square" anchor="t">
            <a:spAutoFit/>
          </a:bodyPr>
          <a:lstStyle/>
          <a:p>
            <a:pPr algn="l">
              <a:lnSpc>
                <a:spcPct val="102000"/>
              </a:lnSpc>
              <a:spcBef>
                <a:spcPts val="0"/>
              </a:spcBef>
              <a:spcAft>
                <a:spcPts val="200"/>
              </a:spcAft>
            </a:pPr>
            <a:r>
              <a:rPr sz="3400" b="1">
                <a:solidFill>
                  <a:srgbClr val="F5F5F6"/>
                </a:solidFill>
                <a:latin typeface="Instrument Sans"/>
              </a:rPr>
              <a:t>Build a Custom MCP Server</a:t>
            </a:r>
          </a:p>
        </p:txBody>
      </p:sp>
      <p:sp>
        <p:nvSpPr>
          <p:cNvPr id="7" name="TextBox 6"/>
          <p:cNvSpPr txBox="1"/>
          <p:nvPr/>
        </p:nvSpPr>
        <p:spPr>
          <a:xfrm>
            <a:off x="685800" y="4983480"/>
            <a:ext cx="5440680" cy="1005840"/>
          </a:xfrm>
          <a:prstGeom prst="rect">
            <a:avLst/>
          </a:prstGeom>
          <a:noFill/>
        </p:spPr>
        <p:txBody>
          <a:bodyPr wrap="square" anchor="t">
            <a:spAutoFit/>
          </a:bodyPr>
          <a:lstStyle/>
          <a:p>
            <a:pPr algn="l">
              <a:lnSpc>
                <a:spcPct val="115000"/>
              </a:lnSpc>
              <a:spcBef>
                <a:spcPts val="0"/>
              </a:spcBef>
              <a:spcAft>
                <a:spcPts val="200"/>
              </a:spcAft>
            </a:pPr>
            <a:r>
              <a:rPr sz="1750" b="0">
                <a:solidFill>
                  <a:srgbClr val="ACACB4"/>
                </a:solidFill>
                <a:latin typeface="Instrument Sans"/>
              </a:rPr>
              <a:t>Pull in when ahead - restores the build-your-own content cut from Day 3 Block 1</a:t>
            </a:r>
          </a:p>
        </p:txBody>
      </p:sp>
      <p:sp>
        <p:nvSpPr>
          <p:cNvPr id="8" name="Rectangle 7"/>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10" name="TextBox 9"/>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pic>
        <p:nvPicPr>
          <p:cNvPr id="2" name="Picture 1" descr="bg_6.png"/>
          <p:cNvPicPr>
            <a:picLocks noChangeAspect="1"/>
          </p:cNvPicPr>
          <p:nvPr/>
        </p:nvPicPr>
        <p:blipFill>
          <a:blip r:embed="rId2"/>
          <a:stretch>
            <a:fillRect/>
          </a:stretch>
        </p:blipFill>
        <p:spPr>
          <a:xfrm>
            <a:off x="0" y="0"/>
            <a:ext cx="4800600" cy="6437376"/>
          </a:xfrm>
          <a:prstGeom prst="rect">
            <a:avLst/>
          </a:prstGeom>
        </p:spPr>
      </p:pic>
      <p:sp>
        <p:nvSpPr>
          <p:cNvPr id="3" name="Rectangle 2"/>
          <p:cNvSpPr/>
          <p:nvPr/>
        </p:nvSpPr>
        <p:spPr>
          <a:xfrm>
            <a:off x="4800600" y="0"/>
            <a:ext cx="45720" cy="6858000"/>
          </a:xfrm>
          <a:prstGeom prst="rect">
            <a:avLst/>
          </a:prstGeom>
          <a:solidFill>
            <a:srgbClr val="2F6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49240" y="603504"/>
            <a:ext cx="6385255" cy="274320"/>
          </a:xfrm>
          <a:prstGeom prst="rect">
            <a:avLst/>
          </a:prstGeom>
          <a:noFill/>
        </p:spPr>
        <p:txBody>
          <a:bodyPr wrap="square" anchor="t">
            <a:spAutoFit/>
          </a:bodyPr>
          <a:lstStyle/>
          <a:p>
            <a:pPr algn="l">
              <a:lnSpc>
                <a:spcPct val="100000"/>
              </a:lnSpc>
              <a:spcBef>
                <a:spcPts val="0"/>
              </a:spcBef>
              <a:spcAft>
                <a:spcPts val="200"/>
              </a:spcAft>
            </a:pPr>
            <a:r>
              <a:rPr sz="1300" b="1" spc="160">
                <a:solidFill>
                  <a:srgbClr val="8B8B93"/>
                </a:solidFill>
                <a:latin typeface="Instrument Sans"/>
              </a:rPr>
              <a:t>CONCEPT</a:t>
            </a:r>
          </a:p>
        </p:txBody>
      </p:sp>
      <p:sp>
        <p:nvSpPr>
          <p:cNvPr id="5" name="TextBox 4"/>
          <p:cNvSpPr txBox="1"/>
          <p:nvPr/>
        </p:nvSpPr>
        <p:spPr>
          <a:xfrm>
            <a:off x="5349240" y="969264"/>
            <a:ext cx="6385255" cy="1143000"/>
          </a:xfrm>
          <a:prstGeom prst="rect">
            <a:avLst/>
          </a:prstGeom>
          <a:noFill/>
        </p:spPr>
        <p:txBody>
          <a:bodyPr wrap="square" anchor="t">
            <a:spAutoFit/>
          </a:bodyPr>
          <a:lstStyle/>
          <a:p>
            <a:pPr algn="l">
              <a:lnSpc>
                <a:spcPct val="105000"/>
              </a:lnSpc>
              <a:spcBef>
                <a:spcPts val="0"/>
              </a:spcBef>
              <a:spcAft>
                <a:spcPts val="200"/>
              </a:spcAft>
            </a:pPr>
            <a:r>
              <a:rPr sz="2700" b="1">
                <a:solidFill>
                  <a:srgbClr val="F5F5F6"/>
                </a:solidFill>
                <a:latin typeface="Instrument Sans"/>
              </a:rPr>
              <a:t>From consumer to builder</a:t>
            </a:r>
          </a:p>
        </p:txBody>
      </p:sp>
      <p:sp>
        <p:nvSpPr>
          <p:cNvPr id="6" name="TextBox 5"/>
          <p:cNvSpPr txBox="1"/>
          <p:nvPr/>
        </p:nvSpPr>
        <p:spPr>
          <a:xfrm>
            <a:off x="5349240" y="2286000"/>
            <a:ext cx="6385255" cy="1097280"/>
          </a:xfrm>
          <a:prstGeom prst="rect">
            <a:avLst/>
          </a:prstGeom>
          <a:noFill/>
        </p:spPr>
        <p:txBody>
          <a:bodyPr wrap="square" anchor="t">
            <a:spAutoFit/>
          </a:bodyPr>
          <a:lstStyle/>
          <a:p>
            <a:pPr algn="l">
              <a:lnSpc>
                <a:spcPct val="125000"/>
              </a:lnSpc>
              <a:spcBef>
                <a:spcPts val="0"/>
              </a:spcBef>
              <a:spcAft>
                <a:spcPts val="200"/>
              </a:spcAft>
            </a:pPr>
            <a:r>
              <a:rPr sz="1500" b="0">
                <a:solidFill>
                  <a:srgbClr val="ACACB4"/>
                </a:solidFill>
                <a:latin typeface="Instrument Sans"/>
              </a:rPr>
              <a:t>A server is small: tools, descriptions, and a transport.</a:t>
            </a:r>
          </a:p>
        </p:txBody>
      </p:sp>
      <p:sp>
        <p:nvSpPr>
          <p:cNvPr id="7" name="Rounded Rectangle 6"/>
          <p:cNvSpPr/>
          <p:nvPr/>
        </p:nvSpPr>
        <p:spPr>
          <a:xfrm>
            <a:off x="5349240" y="3474720"/>
            <a:ext cx="6385255" cy="85344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5623559" y="3617976"/>
            <a:ext cx="566928" cy="566928"/>
          </a:xfrm>
          <a:prstGeom prst="ellipse">
            <a:avLst/>
          </a:prstGeom>
          <a:solidFill>
            <a:srgbClr val="E6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apps_2A2A30.png"/>
          <p:cNvPicPr>
            <a:picLocks noChangeAspect="1"/>
          </p:cNvPicPr>
          <p:nvPr/>
        </p:nvPicPr>
        <p:blipFill>
          <a:blip r:embed="rId3"/>
          <a:stretch>
            <a:fillRect/>
          </a:stretch>
        </p:blipFill>
        <p:spPr>
          <a:xfrm>
            <a:off x="5776630" y="3771046"/>
            <a:ext cx="260786" cy="260786"/>
          </a:xfrm>
          <a:prstGeom prst="rect">
            <a:avLst/>
          </a:prstGeom>
        </p:spPr>
      </p:pic>
      <p:sp>
        <p:nvSpPr>
          <p:cNvPr id="10" name="TextBox 9"/>
          <p:cNvSpPr txBox="1"/>
          <p:nvPr/>
        </p:nvSpPr>
        <p:spPr>
          <a:xfrm>
            <a:off x="6464807" y="3474720"/>
            <a:ext cx="5041087" cy="853440"/>
          </a:xfrm>
          <a:prstGeom prst="rect">
            <a:avLst/>
          </a:prstGeom>
          <a:noFill/>
        </p:spPr>
        <p:txBody>
          <a:bodyPr wrap="square" anchor="ctr">
            <a:spAutoFit/>
          </a:bodyPr>
          <a:lstStyle/>
          <a:p>
            <a:pPr algn="l">
              <a:lnSpc>
                <a:spcPct val="108000"/>
              </a:lnSpc>
              <a:spcBef>
                <a:spcPts val="0"/>
              </a:spcBef>
              <a:spcAft>
                <a:spcPts val="200"/>
              </a:spcAft>
            </a:pPr>
            <a:r>
              <a:rPr sz="1550" b="1">
                <a:solidFill>
                  <a:srgbClr val="F5F5F6"/>
                </a:solidFill>
                <a:latin typeface="Instrument Sans"/>
              </a:rPr>
              <a:t>Tools</a:t>
            </a:r>
            <a:r>
              <a:rPr sz="1400" b="0">
                <a:solidFill>
                  <a:srgbClr val="ACACB4"/>
                </a:solidFill>
                <a:latin typeface="Instrument Sans"/>
              </a:rPr>
              <a:t>  -  functions with model-facing descriptions</a:t>
            </a:r>
          </a:p>
        </p:txBody>
      </p:sp>
      <p:sp>
        <p:nvSpPr>
          <p:cNvPr id="11" name="Rounded Rectangle 10"/>
          <p:cNvSpPr/>
          <p:nvPr/>
        </p:nvSpPr>
        <p:spPr>
          <a:xfrm>
            <a:off x="5349240" y="4474464"/>
            <a:ext cx="6385255" cy="85344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623559" y="4617720"/>
            <a:ext cx="566928" cy="566928"/>
          </a:xfrm>
          <a:prstGeom prst="ellipse">
            <a:avLst/>
          </a:prstGeom>
          <a:solidFill>
            <a:srgbClr val="E6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doc_2A2A30.png"/>
          <p:cNvPicPr>
            <a:picLocks noChangeAspect="1"/>
          </p:cNvPicPr>
          <p:nvPr/>
        </p:nvPicPr>
        <p:blipFill>
          <a:blip r:embed="rId4"/>
          <a:stretch>
            <a:fillRect/>
          </a:stretch>
        </p:blipFill>
        <p:spPr>
          <a:xfrm>
            <a:off x="5776630" y="4770790"/>
            <a:ext cx="260786" cy="260786"/>
          </a:xfrm>
          <a:prstGeom prst="rect">
            <a:avLst/>
          </a:prstGeom>
        </p:spPr>
      </p:pic>
      <p:sp>
        <p:nvSpPr>
          <p:cNvPr id="14" name="TextBox 13"/>
          <p:cNvSpPr txBox="1"/>
          <p:nvPr/>
        </p:nvSpPr>
        <p:spPr>
          <a:xfrm>
            <a:off x="6464807" y="4474464"/>
            <a:ext cx="5041087" cy="853440"/>
          </a:xfrm>
          <a:prstGeom prst="rect">
            <a:avLst/>
          </a:prstGeom>
          <a:noFill/>
        </p:spPr>
        <p:txBody>
          <a:bodyPr wrap="square" anchor="ctr">
            <a:spAutoFit/>
          </a:bodyPr>
          <a:lstStyle/>
          <a:p>
            <a:pPr algn="l">
              <a:lnSpc>
                <a:spcPct val="108000"/>
              </a:lnSpc>
              <a:spcBef>
                <a:spcPts val="0"/>
              </a:spcBef>
              <a:spcAft>
                <a:spcPts val="200"/>
              </a:spcAft>
            </a:pPr>
            <a:r>
              <a:rPr sz="1550" b="1">
                <a:solidFill>
                  <a:srgbClr val="F5F5F6"/>
                </a:solidFill>
                <a:latin typeface="Instrument Sans"/>
              </a:rPr>
              <a:t>FastMCP</a:t>
            </a:r>
            <a:r>
              <a:rPr sz="1400" b="0">
                <a:solidFill>
                  <a:srgbClr val="ACACB4"/>
                </a:solidFill>
                <a:latin typeface="Instrument Sans"/>
              </a:rPr>
              <a:t>  -  the Python decorator pattern - a tool in ~10 lines</a:t>
            </a:r>
          </a:p>
        </p:txBody>
      </p:sp>
      <p:sp>
        <p:nvSpPr>
          <p:cNvPr id="15" name="Rounded Rectangle 14"/>
          <p:cNvSpPr/>
          <p:nvPr/>
        </p:nvSpPr>
        <p:spPr>
          <a:xfrm>
            <a:off x="5349240" y="5474208"/>
            <a:ext cx="6385255" cy="85344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623559" y="5617463"/>
            <a:ext cx="566928" cy="566928"/>
          </a:xfrm>
          <a:prstGeom prst="ellipse">
            <a:avLst/>
          </a:prstGeom>
          <a:solidFill>
            <a:srgbClr val="E6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share_2A2A30.png"/>
          <p:cNvPicPr>
            <a:picLocks noChangeAspect="1"/>
          </p:cNvPicPr>
          <p:nvPr/>
        </p:nvPicPr>
        <p:blipFill>
          <a:blip r:embed="rId5"/>
          <a:stretch>
            <a:fillRect/>
          </a:stretch>
        </p:blipFill>
        <p:spPr>
          <a:xfrm>
            <a:off x="5776630" y="5770534"/>
            <a:ext cx="260786" cy="260786"/>
          </a:xfrm>
          <a:prstGeom prst="rect">
            <a:avLst/>
          </a:prstGeom>
        </p:spPr>
      </p:pic>
      <p:sp>
        <p:nvSpPr>
          <p:cNvPr id="18" name="TextBox 17"/>
          <p:cNvSpPr txBox="1"/>
          <p:nvPr/>
        </p:nvSpPr>
        <p:spPr>
          <a:xfrm>
            <a:off x="6464807" y="5474208"/>
            <a:ext cx="5041087" cy="853440"/>
          </a:xfrm>
          <a:prstGeom prst="rect">
            <a:avLst/>
          </a:prstGeom>
          <a:noFill/>
        </p:spPr>
        <p:txBody>
          <a:bodyPr wrap="square" anchor="ctr">
            <a:spAutoFit/>
          </a:bodyPr>
          <a:lstStyle/>
          <a:p>
            <a:pPr algn="l">
              <a:lnSpc>
                <a:spcPct val="108000"/>
              </a:lnSpc>
              <a:spcBef>
                <a:spcPts val="0"/>
              </a:spcBef>
              <a:spcAft>
                <a:spcPts val="200"/>
              </a:spcAft>
            </a:pPr>
            <a:r>
              <a:rPr sz="1550" b="1">
                <a:solidFill>
                  <a:srgbClr val="F5F5F6"/>
                </a:solidFill>
                <a:latin typeface="Instrument Sans"/>
              </a:rPr>
              <a:t>Transport</a:t>
            </a:r>
            <a:r>
              <a:rPr sz="1400" b="0">
                <a:solidFill>
                  <a:srgbClr val="ACACB4"/>
                </a:solidFill>
                <a:latin typeface="Instrument Sans"/>
              </a:rPr>
              <a:t>  -  stdio for local, Streamable HTTP for shared</a:t>
            </a:r>
          </a:p>
        </p:txBody>
      </p:sp>
      <p:sp>
        <p:nvSpPr>
          <p:cNvPr id="19" name="Rectangle 18"/>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1" name="TextBox 20"/>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MECHANICS</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FastMCP in five steps</a:t>
            </a:r>
          </a:p>
        </p:txBody>
      </p:sp>
      <p:sp>
        <p:nvSpPr>
          <p:cNvPr id="4" name="Rounded Rectangle 3"/>
          <p:cNvSpPr/>
          <p:nvPr/>
        </p:nvSpPr>
        <p:spPr>
          <a:xfrm>
            <a:off x="640080" y="2651760"/>
            <a:ext cx="1889150" cy="23774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907791"/>
            <a:ext cx="1340510" cy="548640"/>
          </a:xfrm>
          <a:prstGeom prst="rect">
            <a:avLst/>
          </a:prstGeom>
          <a:noFill/>
        </p:spPr>
        <p:txBody>
          <a:bodyPr wrap="square" anchor="t">
            <a:spAutoFit/>
          </a:bodyPr>
          <a:lstStyle/>
          <a:p>
            <a:pPr algn="l">
              <a:lnSpc>
                <a:spcPct val="100000"/>
              </a:lnSpc>
              <a:spcBef>
                <a:spcPts val="0"/>
              </a:spcBef>
              <a:spcAft>
                <a:spcPts val="200"/>
              </a:spcAft>
            </a:pPr>
            <a:r>
              <a:rPr sz="2600" b="1">
                <a:solidFill>
                  <a:srgbClr val="4C8DF0"/>
                </a:solidFill>
                <a:latin typeface="Instrument Sans"/>
              </a:rPr>
              <a:t>01</a:t>
            </a:r>
          </a:p>
        </p:txBody>
      </p:sp>
      <p:sp>
        <p:nvSpPr>
          <p:cNvPr id="6" name="TextBox 5"/>
          <p:cNvSpPr txBox="1"/>
          <p:nvPr/>
        </p:nvSpPr>
        <p:spPr>
          <a:xfrm>
            <a:off x="914400" y="3566160"/>
            <a:ext cx="1340510" cy="548640"/>
          </a:xfrm>
          <a:prstGeom prst="rect">
            <a:avLst/>
          </a:prstGeom>
          <a:noFill/>
        </p:spPr>
        <p:txBody>
          <a:bodyPr wrap="square" anchor="t">
            <a:spAutoFit/>
          </a:bodyPr>
          <a:lstStyle/>
          <a:p>
            <a:pPr algn="l">
              <a:lnSpc>
                <a:spcPct val="100000"/>
              </a:lnSpc>
              <a:spcBef>
                <a:spcPts val="0"/>
              </a:spcBef>
              <a:spcAft>
                <a:spcPts val="200"/>
              </a:spcAft>
            </a:pPr>
            <a:r>
              <a:rPr sz="1900" b="1">
                <a:solidFill>
                  <a:srgbClr val="F5F5F6"/>
                </a:solidFill>
                <a:latin typeface="Instrument Sans"/>
              </a:rPr>
              <a:t>Install</a:t>
            </a:r>
          </a:p>
        </p:txBody>
      </p:sp>
      <p:sp>
        <p:nvSpPr>
          <p:cNvPr id="7" name="TextBox 6"/>
          <p:cNvSpPr txBox="1"/>
          <p:nvPr/>
        </p:nvSpPr>
        <p:spPr>
          <a:xfrm>
            <a:off x="914400" y="4114800"/>
            <a:ext cx="1340510" cy="1097280"/>
          </a:xfrm>
          <a:prstGeom prst="rect">
            <a:avLst/>
          </a:prstGeom>
          <a:noFill/>
        </p:spPr>
        <p:txBody>
          <a:bodyPr wrap="square" anchor="t">
            <a:spAutoFit/>
          </a:bodyPr>
          <a:lstStyle/>
          <a:p>
            <a:pPr algn="l">
              <a:lnSpc>
                <a:spcPct val="115000"/>
              </a:lnSpc>
              <a:spcBef>
                <a:spcPts val="0"/>
              </a:spcBef>
              <a:spcAft>
                <a:spcPts val="200"/>
              </a:spcAft>
            </a:pPr>
            <a:r>
              <a:rPr sz="1500" b="0">
                <a:solidFill>
                  <a:srgbClr val="ACACB4"/>
                </a:solidFill>
                <a:latin typeface="Instrument Sans"/>
              </a:rPr>
              <a:t>Official MCP SDK, fresh venv.</a:t>
            </a:r>
          </a:p>
        </p:txBody>
      </p:sp>
      <p:sp>
        <p:nvSpPr>
          <p:cNvPr id="8" name="TextBox 7"/>
          <p:cNvSpPr txBox="1"/>
          <p:nvPr/>
        </p:nvSpPr>
        <p:spPr>
          <a:xfrm>
            <a:off x="2547518" y="3611880"/>
            <a:ext cx="329184" cy="457200"/>
          </a:xfrm>
          <a:prstGeom prst="rect">
            <a:avLst/>
          </a:prstGeom>
          <a:noFill/>
        </p:spPr>
        <p:txBody>
          <a:bodyPr wrap="square" anchor="ctr">
            <a:spAutoFit/>
          </a:bodyPr>
          <a:lstStyle/>
          <a:p>
            <a:pPr algn="ctr">
              <a:lnSpc>
                <a:spcPct val="100000"/>
              </a:lnSpc>
              <a:spcBef>
                <a:spcPts val="0"/>
              </a:spcBef>
              <a:spcAft>
                <a:spcPts val="200"/>
              </a:spcAft>
            </a:pPr>
            <a:r>
              <a:rPr sz="2600" b="1">
                <a:solidFill>
                  <a:srgbClr val="7E7E86"/>
                </a:solidFill>
                <a:latin typeface="Instrument Sans"/>
              </a:rPr>
              <a:t>›</a:t>
            </a:r>
          </a:p>
        </p:txBody>
      </p:sp>
      <p:sp>
        <p:nvSpPr>
          <p:cNvPr id="9" name="Rounded Rectangle 8"/>
          <p:cNvSpPr/>
          <p:nvPr/>
        </p:nvSpPr>
        <p:spPr>
          <a:xfrm>
            <a:off x="2894990" y="2651760"/>
            <a:ext cx="1889150" cy="23774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169310" y="2907791"/>
            <a:ext cx="1340510" cy="548640"/>
          </a:xfrm>
          <a:prstGeom prst="rect">
            <a:avLst/>
          </a:prstGeom>
          <a:noFill/>
        </p:spPr>
        <p:txBody>
          <a:bodyPr wrap="square" anchor="t">
            <a:spAutoFit/>
          </a:bodyPr>
          <a:lstStyle/>
          <a:p>
            <a:pPr algn="l">
              <a:lnSpc>
                <a:spcPct val="100000"/>
              </a:lnSpc>
              <a:spcBef>
                <a:spcPts val="0"/>
              </a:spcBef>
              <a:spcAft>
                <a:spcPts val="200"/>
              </a:spcAft>
            </a:pPr>
            <a:r>
              <a:rPr sz="2600" b="1">
                <a:solidFill>
                  <a:srgbClr val="4C8DF0"/>
                </a:solidFill>
                <a:latin typeface="Instrument Sans"/>
              </a:rPr>
              <a:t>02</a:t>
            </a:r>
          </a:p>
        </p:txBody>
      </p:sp>
      <p:sp>
        <p:nvSpPr>
          <p:cNvPr id="11" name="TextBox 10"/>
          <p:cNvSpPr txBox="1"/>
          <p:nvPr/>
        </p:nvSpPr>
        <p:spPr>
          <a:xfrm>
            <a:off x="3169310" y="3566160"/>
            <a:ext cx="1340510" cy="548640"/>
          </a:xfrm>
          <a:prstGeom prst="rect">
            <a:avLst/>
          </a:prstGeom>
          <a:noFill/>
        </p:spPr>
        <p:txBody>
          <a:bodyPr wrap="square" anchor="t">
            <a:spAutoFit/>
          </a:bodyPr>
          <a:lstStyle/>
          <a:p>
            <a:pPr algn="l">
              <a:lnSpc>
                <a:spcPct val="100000"/>
              </a:lnSpc>
              <a:spcBef>
                <a:spcPts val="0"/>
              </a:spcBef>
              <a:spcAft>
                <a:spcPts val="200"/>
              </a:spcAft>
            </a:pPr>
            <a:r>
              <a:rPr sz="1900" b="1">
                <a:solidFill>
                  <a:srgbClr val="F5F5F6"/>
                </a:solidFill>
                <a:latin typeface="Instrument Sans"/>
              </a:rPr>
              <a:t>Wrap</a:t>
            </a:r>
          </a:p>
        </p:txBody>
      </p:sp>
      <p:sp>
        <p:nvSpPr>
          <p:cNvPr id="12" name="TextBox 11"/>
          <p:cNvSpPr txBox="1"/>
          <p:nvPr/>
        </p:nvSpPr>
        <p:spPr>
          <a:xfrm>
            <a:off x="3169310" y="4114800"/>
            <a:ext cx="1340510" cy="1097280"/>
          </a:xfrm>
          <a:prstGeom prst="rect">
            <a:avLst/>
          </a:prstGeom>
          <a:noFill/>
        </p:spPr>
        <p:txBody>
          <a:bodyPr wrap="square" anchor="t">
            <a:spAutoFit/>
          </a:bodyPr>
          <a:lstStyle/>
          <a:p>
            <a:pPr algn="l">
              <a:lnSpc>
                <a:spcPct val="115000"/>
              </a:lnSpc>
              <a:spcBef>
                <a:spcPts val="0"/>
              </a:spcBef>
              <a:spcAft>
                <a:spcPts val="200"/>
              </a:spcAft>
            </a:pPr>
            <a:r>
              <a:rPr sz="1500" b="0">
                <a:solidFill>
                  <a:srgbClr val="ACACB4"/>
                </a:solidFill>
                <a:latin typeface="Instrument Sans"/>
              </a:rPr>
              <a:t>A plain function as a @tool.</a:t>
            </a:r>
          </a:p>
        </p:txBody>
      </p:sp>
      <p:sp>
        <p:nvSpPr>
          <p:cNvPr id="13" name="TextBox 12"/>
          <p:cNvSpPr txBox="1"/>
          <p:nvPr/>
        </p:nvSpPr>
        <p:spPr>
          <a:xfrm>
            <a:off x="4802428" y="3611880"/>
            <a:ext cx="329184" cy="457200"/>
          </a:xfrm>
          <a:prstGeom prst="rect">
            <a:avLst/>
          </a:prstGeom>
          <a:noFill/>
        </p:spPr>
        <p:txBody>
          <a:bodyPr wrap="square" anchor="ctr">
            <a:spAutoFit/>
          </a:bodyPr>
          <a:lstStyle/>
          <a:p>
            <a:pPr algn="ctr">
              <a:lnSpc>
                <a:spcPct val="100000"/>
              </a:lnSpc>
              <a:spcBef>
                <a:spcPts val="0"/>
              </a:spcBef>
              <a:spcAft>
                <a:spcPts val="200"/>
              </a:spcAft>
            </a:pPr>
            <a:r>
              <a:rPr sz="2600" b="1">
                <a:solidFill>
                  <a:srgbClr val="7E7E86"/>
                </a:solidFill>
                <a:latin typeface="Instrument Sans"/>
              </a:rPr>
              <a:t>›</a:t>
            </a:r>
          </a:p>
        </p:txBody>
      </p:sp>
      <p:sp>
        <p:nvSpPr>
          <p:cNvPr id="14" name="Rounded Rectangle 13"/>
          <p:cNvSpPr/>
          <p:nvPr/>
        </p:nvSpPr>
        <p:spPr>
          <a:xfrm>
            <a:off x="5149900" y="2651760"/>
            <a:ext cx="1889150" cy="23774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24220" y="2907791"/>
            <a:ext cx="1340510" cy="548640"/>
          </a:xfrm>
          <a:prstGeom prst="rect">
            <a:avLst/>
          </a:prstGeom>
          <a:noFill/>
        </p:spPr>
        <p:txBody>
          <a:bodyPr wrap="square" anchor="t">
            <a:spAutoFit/>
          </a:bodyPr>
          <a:lstStyle/>
          <a:p>
            <a:pPr algn="l">
              <a:lnSpc>
                <a:spcPct val="100000"/>
              </a:lnSpc>
              <a:spcBef>
                <a:spcPts val="0"/>
              </a:spcBef>
              <a:spcAft>
                <a:spcPts val="200"/>
              </a:spcAft>
            </a:pPr>
            <a:r>
              <a:rPr sz="2600" b="1">
                <a:solidFill>
                  <a:srgbClr val="4C8DF0"/>
                </a:solidFill>
                <a:latin typeface="Instrument Sans"/>
              </a:rPr>
              <a:t>03</a:t>
            </a:r>
          </a:p>
        </p:txBody>
      </p:sp>
      <p:sp>
        <p:nvSpPr>
          <p:cNvPr id="16" name="TextBox 15"/>
          <p:cNvSpPr txBox="1"/>
          <p:nvPr/>
        </p:nvSpPr>
        <p:spPr>
          <a:xfrm>
            <a:off x="5424220" y="3566160"/>
            <a:ext cx="1340510" cy="548640"/>
          </a:xfrm>
          <a:prstGeom prst="rect">
            <a:avLst/>
          </a:prstGeom>
          <a:noFill/>
        </p:spPr>
        <p:txBody>
          <a:bodyPr wrap="square" anchor="t">
            <a:spAutoFit/>
          </a:bodyPr>
          <a:lstStyle/>
          <a:p>
            <a:pPr algn="l">
              <a:lnSpc>
                <a:spcPct val="100000"/>
              </a:lnSpc>
              <a:spcBef>
                <a:spcPts val="0"/>
              </a:spcBef>
              <a:spcAft>
                <a:spcPts val="200"/>
              </a:spcAft>
            </a:pPr>
            <a:r>
              <a:rPr sz="1900" b="1">
                <a:solidFill>
                  <a:srgbClr val="F5F5F6"/>
                </a:solidFill>
                <a:latin typeface="Instrument Sans"/>
              </a:rPr>
              <a:t>Explain</a:t>
            </a:r>
          </a:p>
        </p:txBody>
      </p:sp>
      <p:sp>
        <p:nvSpPr>
          <p:cNvPr id="17" name="TextBox 16"/>
          <p:cNvSpPr txBox="1"/>
          <p:nvPr/>
        </p:nvSpPr>
        <p:spPr>
          <a:xfrm>
            <a:off x="5424220" y="4114800"/>
            <a:ext cx="1340510" cy="1097280"/>
          </a:xfrm>
          <a:prstGeom prst="rect">
            <a:avLst/>
          </a:prstGeom>
          <a:noFill/>
        </p:spPr>
        <p:txBody>
          <a:bodyPr wrap="square" anchor="t">
            <a:spAutoFit/>
          </a:bodyPr>
          <a:lstStyle/>
          <a:p>
            <a:pPr algn="l">
              <a:lnSpc>
                <a:spcPct val="115000"/>
              </a:lnSpc>
              <a:spcBef>
                <a:spcPts val="0"/>
              </a:spcBef>
              <a:spcAft>
                <a:spcPts val="200"/>
              </a:spcAft>
            </a:pPr>
            <a:r>
              <a:rPr sz="1500" b="0">
                <a:solidFill>
                  <a:srgbClr val="ACACB4"/>
                </a:solidFill>
                <a:latin typeface="Instrument Sans"/>
              </a:rPr>
              <a:t>Docstring for the model.</a:t>
            </a:r>
          </a:p>
        </p:txBody>
      </p:sp>
      <p:sp>
        <p:nvSpPr>
          <p:cNvPr id="18" name="TextBox 17"/>
          <p:cNvSpPr txBox="1"/>
          <p:nvPr/>
        </p:nvSpPr>
        <p:spPr>
          <a:xfrm>
            <a:off x="7057339" y="3611880"/>
            <a:ext cx="329184" cy="457200"/>
          </a:xfrm>
          <a:prstGeom prst="rect">
            <a:avLst/>
          </a:prstGeom>
          <a:noFill/>
        </p:spPr>
        <p:txBody>
          <a:bodyPr wrap="square" anchor="ctr">
            <a:spAutoFit/>
          </a:bodyPr>
          <a:lstStyle/>
          <a:p>
            <a:pPr algn="ctr">
              <a:lnSpc>
                <a:spcPct val="100000"/>
              </a:lnSpc>
              <a:spcBef>
                <a:spcPts val="0"/>
              </a:spcBef>
              <a:spcAft>
                <a:spcPts val="200"/>
              </a:spcAft>
            </a:pPr>
            <a:r>
              <a:rPr sz="2600" b="1">
                <a:solidFill>
                  <a:srgbClr val="7E7E86"/>
                </a:solidFill>
                <a:latin typeface="Instrument Sans"/>
              </a:rPr>
              <a:t>›</a:t>
            </a:r>
          </a:p>
        </p:txBody>
      </p:sp>
      <p:sp>
        <p:nvSpPr>
          <p:cNvPr id="19" name="Rounded Rectangle 18"/>
          <p:cNvSpPr/>
          <p:nvPr/>
        </p:nvSpPr>
        <p:spPr>
          <a:xfrm>
            <a:off x="7404811" y="2651760"/>
            <a:ext cx="1889150" cy="23774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79131" y="2907791"/>
            <a:ext cx="1340510" cy="548640"/>
          </a:xfrm>
          <a:prstGeom prst="rect">
            <a:avLst/>
          </a:prstGeom>
          <a:noFill/>
        </p:spPr>
        <p:txBody>
          <a:bodyPr wrap="square" anchor="t">
            <a:spAutoFit/>
          </a:bodyPr>
          <a:lstStyle/>
          <a:p>
            <a:pPr algn="l">
              <a:lnSpc>
                <a:spcPct val="100000"/>
              </a:lnSpc>
              <a:spcBef>
                <a:spcPts val="0"/>
              </a:spcBef>
              <a:spcAft>
                <a:spcPts val="200"/>
              </a:spcAft>
            </a:pPr>
            <a:r>
              <a:rPr sz="2600" b="1">
                <a:solidFill>
                  <a:srgbClr val="4C8DF0"/>
                </a:solidFill>
                <a:latin typeface="Instrument Sans"/>
              </a:rPr>
              <a:t>04</a:t>
            </a:r>
          </a:p>
        </p:txBody>
      </p:sp>
      <p:sp>
        <p:nvSpPr>
          <p:cNvPr id="21" name="TextBox 20"/>
          <p:cNvSpPr txBox="1"/>
          <p:nvPr/>
        </p:nvSpPr>
        <p:spPr>
          <a:xfrm>
            <a:off x="7679131" y="3566160"/>
            <a:ext cx="1340510" cy="548640"/>
          </a:xfrm>
          <a:prstGeom prst="rect">
            <a:avLst/>
          </a:prstGeom>
          <a:noFill/>
        </p:spPr>
        <p:txBody>
          <a:bodyPr wrap="square" anchor="t">
            <a:spAutoFit/>
          </a:bodyPr>
          <a:lstStyle/>
          <a:p>
            <a:pPr algn="l">
              <a:lnSpc>
                <a:spcPct val="100000"/>
              </a:lnSpc>
              <a:spcBef>
                <a:spcPts val="0"/>
              </a:spcBef>
              <a:spcAft>
                <a:spcPts val="200"/>
              </a:spcAft>
            </a:pPr>
            <a:r>
              <a:rPr sz="1900" b="1">
                <a:solidFill>
                  <a:srgbClr val="F5F5F6"/>
                </a:solidFill>
                <a:latin typeface="Instrument Sans"/>
              </a:rPr>
              <a:t>Run</a:t>
            </a:r>
          </a:p>
        </p:txBody>
      </p:sp>
      <p:sp>
        <p:nvSpPr>
          <p:cNvPr id="22" name="TextBox 21"/>
          <p:cNvSpPr txBox="1"/>
          <p:nvPr/>
        </p:nvSpPr>
        <p:spPr>
          <a:xfrm>
            <a:off x="7679131" y="4114800"/>
            <a:ext cx="1340510" cy="1097280"/>
          </a:xfrm>
          <a:prstGeom prst="rect">
            <a:avLst/>
          </a:prstGeom>
          <a:noFill/>
        </p:spPr>
        <p:txBody>
          <a:bodyPr wrap="square" anchor="t">
            <a:spAutoFit/>
          </a:bodyPr>
          <a:lstStyle/>
          <a:p>
            <a:pPr algn="l">
              <a:lnSpc>
                <a:spcPct val="115000"/>
              </a:lnSpc>
              <a:spcBef>
                <a:spcPts val="0"/>
              </a:spcBef>
              <a:spcAft>
                <a:spcPts val="200"/>
              </a:spcAft>
            </a:pPr>
            <a:r>
              <a:rPr sz="1500" b="0">
                <a:solidFill>
                  <a:srgbClr val="ACACB4"/>
                </a:solidFill>
                <a:latin typeface="Instrument Sans"/>
              </a:rPr>
              <a:t>Serve over stdio.</a:t>
            </a:r>
          </a:p>
        </p:txBody>
      </p:sp>
      <p:sp>
        <p:nvSpPr>
          <p:cNvPr id="23" name="TextBox 22"/>
          <p:cNvSpPr txBox="1"/>
          <p:nvPr/>
        </p:nvSpPr>
        <p:spPr>
          <a:xfrm>
            <a:off x="9312249" y="3611880"/>
            <a:ext cx="329184" cy="457200"/>
          </a:xfrm>
          <a:prstGeom prst="rect">
            <a:avLst/>
          </a:prstGeom>
          <a:noFill/>
        </p:spPr>
        <p:txBody>
          <a:bodyPr wrap="square" anchor="ctr">
            <a:spAutoFit/>
          </a:bodyPr>
          <a:lstStyle/>
          <a:p>
            <a:pPr algn="ctr">
              <a:lnSpc>
                <a:spcPct val="100000"/>
              </a:lnSpc>
              <a:spcBef>
                <a:spcPts val="0"/>
              </a:spcBef>
              <a:spcAft>
                <a:spcPts val="200"/>
              </a:spcAft>
            </a:pPr>
            <a:r>
              <a:rPr sz="2600" b="1">
                <a:solidFill>
                  <a:srgbClr val="7E7E86"/>
                </a:solidFill>
                <a:latin typeface="Instrument Sans"/>
              </a:rPr>
              <a:t>›</a:t>
            </a:r>
          </a:p>
        </p:txBody>
      </p:sp>
      <p:sp>
        <p:nvSpPr>
          <p:cNvPr id="24" name="Rounded Rectangle 23"/>
          <p:cNvSpPr/>
          <p:nvPr/>
        </p:nvSpPr>
        <p:spPr>
          <a:xfrm>
            <a:off x="9659721" y="2651760"/>
            <a:ext cx="1889150" cy="23774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934041" y="2907791"/>
            <a:ext cx="1340510" cy="548640"/>
          </a:xfrm>
          <a:prstGeom prst="rect">
            <a:avLst/>
          </a:prstGeom>
          <a:noFill/>
        </p:spPr>
        <p:txBody>
          <a:bodyPr wrap="square" anchor="t">
            <a:spAutoFit/>
          </a:bodyPr>
          <a:lstStyle/>
          <a:p>
            <a:pPr algn="l">
              <a:lnSpc>
                <a:spcPct val="100000"/>
              </a:lnSpc>
              <a:spcBef>
                <a:spcPts val="0"/>
              </a:spcBef>
              <a:spcAft>
                <a:spcPts val="200"/>
              </a:spcAft>
            </a:pPr>
            <a:r>
              <a:rPr sz="2600" b="1">
                <a:solidFill>
                  <a:srgbClr val="4C8DF0"/>
                </a:solidFill>
                <a:latin typeface="Instrument Sans"/>
              </a:rPr>
              <a:t>05</a:t>
            </a:r>
          </a:p>
        </p:txBody>
      </p:sp>
      <p:sp>
        <p:nvSpPr>
          <p:cNvPr id="26" name="TextBox 25"/>
          <p:cNvSpPr txBox="1"/>
          <p:nvPr/>
        </p:nvSpPr>
        <p:spPr>
          <a:xfrm>
            <a:off x="9934041" y="3566160"/>
            <a:ext cx="1340510" cy="548640"/>
          </a:xfrm>
          <a:prstGeom prst="rect">
            <a:avLst/>
          </a:prstGeom>
          <a:noFill/>
        </p:spPr>
        <p:txBody>
          <a:bodyPr wrap="square" anchor="t">
            <a:spAutoFit/>
          </a:bodyPr>
          <a:lstStyle/>
          <a:p>
            <a:pPr algn="l">
              <a:lnSpc>
                <a:spcPct val="100000"/>
              </a:lnSpc>
              <a:spcBef>
                <a:spcPts val="0"/>
              </a:spcBef>
              <a:spcAft>
                <a:spcPts val="200"/>
              </a:spcAft>
            </a:pPr>
            <a:r>
              <a:rPr sz="1900" b="1">
                <a:solidFill>
                  <a:srgbClr val="F5F5F6"/>
                </a:solidFill>
                <a:latin typeface="Instrument Sans"/>
              </a:rPr>
              <a:t>Add</a:t>
            </a:r>
          </a:p>
        </p:txBody>
      </p:sp>
      <p:sp>
        <p:nvSpPr>
          <p:cNvPr id="27" name="TextBox 26"/>
          <p:cNvSpPr txBox="1"/>
          <p:nvPr/>
        </p:nvSpPr>
        <p:spPr>
          <a:xfrm>
            <a:off x="9934041" y="4114800"/>
            <a:ext cx="1340510" cy="1097280"/>
          </a:xfrm>
          <a:prstGeom prst="rect">
            <a:avLst/>
          </a:prstGeom>
          <a:noFill/>
        </p:spPr>
        <p:txBody>
          <a:bodyPr wrap="square" anchor="t">
            <a:spAutoFit/>
          </a:bodyPr>
          <a:lstStyle/>
          <a:p>
            <a:pPr algn="l">
              <a:lnSpc>
                <a:spcPct val="115000"/>
              </a:lnSpc>
              <a:spcBef>
                <a:spcPts val="0"/>
              </a:spcBef>
              <a:spcAft>
                <a:spcPts val="200"/>
              </a:spcAft>
            </a:pPr>
            <a:r>
              <a:rPr sz="1500" b="0">
                <a:solidFill>
                  <a:srgbClr val="ACACB4"/>
                </a:solidFill>
                <a:latin typeface="Instrument Sans"/>
              </a:rPr>
              <a:t>claude mcp add &lt;name&gt;</a:t>
            </a:r>
          </a:p>
        </p:txBody>
      </p:sp>
      <p:sp>
        <p:nvSpPr>
          <p:cNvPr id="28" name="Rectangle 27"/>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30" name="TextBox 29"/>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DESIGN</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Tool design: the builder's bar</a:t>
            </a:r>
          </a:p>
        </p:txBody>
      </p:sp>
      <p:sp>
        <p:nvSpPr>
          <p:cNvPr id="4" name="Rounded Rectangle 3"/>
          <p:cNvSpPr/>
          <p:nvPr/>
        </p:nvSpPr>
        <p:spPr>
          <a:xfrm>
            <a:off x="640080" y="1828800"/>
            <a:ext cx="10908792" cy="632764"/>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41248" y="1861718"/>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arget_2A2A30.png"/>
          <p:cNvPicPr>
            <a:picLocks noChangeAspect="1"/>
          </p:cNvPicPr>
          <p:nvPr/>
        </p:nvPicPr>
        <p:blipFill>
          <a:blip r:embed="rId2"/>
          <a:stretch>
            <a:fillRect/>
          </a:stretch>
        </p:blipFill>
        <p:spPr>
          <a:xfrm>
            <a:off x="1014984" y="1998878"/>
            <a:ext cx="292608" cy="292608"/>
          </a:xfrm>
          <a:prstGeom prst="rect">
            <a:avLst/>
          </a:prstGeom>
        </p:spPr>
      </p:pic>
      <p:sp>
        <p:nvSpPr>
          <p:cNvPr id="7" name="TextBox 6"/>
          <p:cNvSpPr txBox="1"/>
          <p:nvPr/>
        </p:nvSpPr>
        <p:spPr>
          <a:xfrm>
            <a:off x="1591056" y="1828800"/>
            <a:ext cx="2743200" cy="632764"/>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Task-shaped, not endpoint-shaped</a:t>
            </a:r>
          </a:p>
        </p:txBody>
      </p:sp>
      <p:sp>
        <p:nvSpPr>
          <p:cNvPr id="8" name="TextBox 7"/>
          <p:cNvSpPr txBox="1"/>
          <p:nvPr/>
        </p:nvSpPr>
        <p:spPr>
          <a:xfrm>
            <a:off x="4434840" y="1828800"/>
            <a:ext cx="6903720" cy="632764"/>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One tool per job-to-be-done, not one per API route.</a:t>
            </a:r>
          </a:p>
        </p:txBody>
      </p:sp>
      <p:sp>
        <p:nvSpPr>
          <p:cNvPr id="9" name="Rounded Rectangle 8"/>
          <p:cNvSpPr/>
          <p:nvPr/>
        </p:nvSpPr>
        <p:spPr>
          <a:xfrm>
            <a:off x="640080" y="2607868"/>
            <a:ext cx="10908792" cy="632764"/>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41248" y="2640787"/>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pen_2A2A30.png"/>
          <p:cNvPicPr>
            <a:picLocks noChangeAspect="1"/>
          </p:cNvPicPr>
          <p:nvPr/>
        </p:nvPicPr>
        <p:blipFill>
          <a:blip r:embed="rId3"/>
          <a:stretch>
            <a:fillRect/>
          </a:stretch>
        </p:blipFill>
        <p:spPr>
          <a:xfrm>
            <a:off x="1014984" y="2777947"/>
            <a:ext cx="292608" cy="292608"/>
          </a:xfrm>
          <a:prstGeom prst="rect">
            <a:avLst/>
          </a:prstGeom>
        </p:spPr>
      </p:pic>
      <p:sp>
        <p:nvSpPr>
          <p:cNvPr id="12" name="TextBox 11"/>
          <p:cNvSpPr txBox="1"/>
          <p:nvPr/>
        </p:nvSpPr>
        <p:spPr>
          <a:xfrm>
            <a:off x="1591056" y="2607868"/>
            <a:ext cx="2743200" cy="632764"/>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Descriptions for the model</a:t>
            </a:r>
          </a:p>
        </p:txBody>
      </p:sp>
      <p:sp>
        <p:nvSpPr>
          <p:cNvPr id="13" name="TextBox 12"/>
          <p:cNvSpPr txBox="1"/>
          <p:nvPr/>
        </p:nvSpPr>
        <p:spPr>
          <a:xfrm>
            <a:off x="4434840" y="2607868"/>
            <a:ext cx="6903720" cy="632764"/>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Say when to use it, what comes back, what the limits are.</a:t>
            </a:r>
          </a:p>
        </p:txBody>
      </p:sp>
      <p:sp>
        <p:nvSpPr>
          <p:cNvPr id="14" name="Rounded Rectangle 13"/>
          <p:cNvSpPr/>
          <p:nvPr/>
        </p:nvSpPr>
        <p:spPr>
          <a:xfrm>
            <a:off x="640080" y="3386937"/>
            <a:ext cx="10908792" cy="632764"/>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41248" y="3419856"/>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warn_2A2A30.png"/>
          <p:cNvPicPr>
            <a:picLocks noChangeAspect="1"/>
          </p:cNvPicPr>
          <p:nvPr/>
        </p:nvPicPr>
        <p:blipFill>
          <a:blip r:embed="rId4"/>
          <a:stretch>
            <a:fillRect/>
          </a:stretch>
        </p:blipFill>
        <p:spPr>
          <a:xfrm>
            <a:off x="1014984" y="3557015"/>
            <a:ext cx="292608" cy="292608"/>
          </a:xfrm>
          <a:prstGeom prst="rect">
            <a:avLst/>
          </a:prstGeom>
        </p:spPr>
      </p:pic>
      <p:sp>
        <p:nvSpPr>
          <p:cNvPr id="17" name="TextBox 16"/>
          <p:cNvSpPr txBox="1"/>
          <p:nvPr/>
        </p:nvSpPr>
        <p:spPr>
          <a:xfrm>
            <a:off x="1591056" y="3386937"/>
            <a:ext cx="2743200" cy="632764"/>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Errors that teach</a:t>
            </a:r>
          </a:p>
        </p:txBody>
      </p:sp>
      <p:sp>
        <p:nvSpPr>
          <p:cNvPr id="18" name="TextBox 17"/>
          <p:cNvSpPr txBox="1"/>
          <p:nvPr/>
        </p:nvSpPr>
        <p:spPr>
          <a:xfrm>
            <a:off x="4434840" y="3386937"/>
            <a:ext cx="6903720" cy="632764"/>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'Order not found - IDs look like ORD-12345' beats a 404.</a:t>
            </a:r>
          </a:p>
        </p:txBody>
      </p:sp>
      <p:sp>
        <p:nvSpPr>
          <p:cNvPr id="19" name="Rounded Rectangle 18"/>
          <p:cNvSpPr/>
          <p:nvPr/>
        </p:nvSpPr>
        <p:spPr>
          <a:xfrm>
            <a:off x="640080" y="4166006"/>
            <a:ext cx="10908792" cy="632764"/>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1248" y="4198924"/>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scale_2A2A30.png"/>
          <p:cNvPicPr>
            <a:picLocks noChangeAspect="1"/>
          </p:cNvPicPr>
          <p:nvPr/>
        </p:nvPicPr>
        <p:blipFill>
          <a:blip r:embed="rId5"/>
          <a:stretch>
            <a:fillRect/>
          </a:stretch>
        </p:blipFill>
        <p:spPr>
          <a:xfrm>
            <a:off x="1014984" y="4336084"/>
            <a:ext cx="292608" cy="292608"/>
          </a:xfrm>
          <a:prstGeom prst="rect">
            <a:avLst/>
          </a:prstGeom>
        </p:spPr>
      </p:pic>
      <p:sp>
        <p:nvSpPr>
          <p:cNvPr id="22" name="TextBox 21"/>
          <p:cNvSpPr txBox="1"/>
          <p:nvPr/>
        </p:nvSpPr>
        <p:spPr>
          <a:xfrm>
            <a:off x="1591056" y="4166006"/>
            <a:ext cx="2743200" cy="632764"/>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Paginate big results</a:t>
            </a:r>
          </a:p>
        </p:txBody>
      </p:sp>
      <p:sp>
        <p:nvSpPr>
          <p:cNvPr id="23" name="TextBox 22"/>
          <p:cNvSpPr txBox="1"/>
          <p:nvPr/>
        </p:nvSpPr>
        <p:spPr>
          <a:xfrm>
            <a:off x="4434840" y="4166006"/>
            <a:ext cx="6903720" cy="632764"/>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Never let one call dump 10,000 rows into context.</a:t>
            </a:r>
          </a:p>
        </p:txBody>
      </p:sp>
      <p:sp>
        <p:nvSpPr>
          <p:cNvPr id="24" name="Rounded Rectangle 23"/>
          <p:cNvSpPr/>
          <p:nvPr/>
        </p:nvSpPr>
        <p:spPr>
          <a:xfrm>
            <a:off x="640080" y="4945075"/>
            <a:ext cx="10908792" cy="632764"/>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841248" y="4977993"/>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x_E26B6B.png"/>
          <p:cNvPicPr>
            <a:picLocks noChangeAspect="1"/>
          </p:cNvPicPr>
          <p:nvPr/>
        </p:nvPicPr>
        <p:blipFill>
          <a:blip r:embed="rId6"/>
          <a:stretch>
            <a:fillRect/>
          </a:stretch>
        </p:blipFill>
        <p:spPr>
          <a:xfrm>
            <a:off x="1014984" y="5115153"/>
            <a:ext cx="292608" cy="292608"/>
          </a:xfrm>
          <a:prstGeom prst="rect">
            <a:avLst/>
          </a:prstGeom>
        </p:spPr>
      </p:pic>
      <p:sp>
        <p:nvSpPr>
          <p:cNvPr id="27" name="TextBox 26"/>
          <p:cNvSpPr txBox="1"/>
          <p:nvPr/>
        </p:nvSpPr>
        <p:spPr>
          <a:xfrm>
            <a:off x="1591056" y="4945075"/>
            <a:ext cx="2743200" cy="632764"/>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The over-tooling trap</a:t>
            </a:r>
          </a:p>
        </p:txBody>
      </p:sp>
      <p:sp>
        <p:nvSpPr>
          <p:cNvPr id="28" name="TextBox 27"/>
          <p:cNvSpPr txBox="1"/>
          <p:nvPr/>
        </p:nvSpPr>
        <p:spPr>
          <a:xfrm>
            <a:off x="4434840" y="4945075"/>
            <a:ext cx="6903720" cy="632764"/>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40 thin tools confuse the model and bloat every prompt.</a:t>
            </a:r>
          </a:p>
        </p:txBody>
      </p:sp>
      <p:sp>
        <p:nvSpPr>
          <p:cNvPr id="29" name="Rounded Rectangle 28"/>
          <p:cNvSpPr/>
          <p:nvPr/>
        </p:nvSpPr>
        <p:spPr>
          <a:xfrm>
            <a:off x="640080" y="5760720"/>
            <a:ext cx="10908792" cy="658368"/>
          </a:xfrm>
          <a:prstGeom prst="roundRect">
            <a:avLst>
              <a:gd name="adj" fmla="val 16000"/>
            </a:avLst>
          </a:prstGeom>
          <a:solidFill>
            <a:srgbClr val="3A2F0A"/>
          </a:solidFill>
          <a:ln w="9525">
            <a:solidFill>
              <a:srgbClr val="8A6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warn_E0A93A.png"/>
          <p:cNvPicPr>
            <a:picLocks noChangeAspect="1"/>
          </p:cNvPicPr>
          <p:nvPr/>
        </p:nvPicPr>
        <p:blipFill>
          <a:blip r:embed="rId7"/>
          <a:stretch>
            <a:fillRect/>
          </a:stretch>
        </p:blipFill>
        <p:spPr>
          <a:xfrm>
            <a:off x="877824" y="5907024"/>
            <a:ext cx="365760" cy="365760"/>
          </a:xfrm>
          <a:prstGeom prst="rect">
            <a:avLst/>
          </a:prstGeom>
        </p:spPr>
      </p:pic>
      <p:sp>
        <p:nvSpPr>
          <p:cNvPr id="31" name="TextBox 30"/>
          <p:cNvSpPr txBox="1"/>
          <p:nvPr/>
        </p:nvSpPr>
        <p:spPr>
          <a:xfrm>
            <a:off x="1371600" y="5760720"/>
            <a:ext cx="9994392" cy="658368"/>
          </a:xfrm>
          <a:prstGeom prst="rect">
            <a:avLst/>
          </a:prstGeom>
          <a:noFill/>
        </p:spPr>
        <p:txBody>
          <a:bodyPr wrap="square" anchor="ctr">
            <a:spAutoFit/>
          </a:bodyPr>
          <a:lstStyle/>
          <a:p>
            <a:pPr algn="l">
              <a:lnSpc>
                <a:spcPct val="100000"/>
              </a:lnSpc>
              <a:spcBef>
                <a:spcPts val="0"/>
              </a:spcBef>
              <a:spcAft>
                <a:spcPts val="200"/>
              </a:spcAft>
            </a:pPr>
            <a:r>
              <a:rPr sz="1500" b="0">
                <a:solidFill>
                  <a:srgbClr val="F0D9A6"/>
                </a:solidFill>
                <a:latin typeface="Instrument Sans"/>
              </a:rPr>
              <a:t>When NOT to build: if a one-off script, a skill, or an existing server covers it - every tool costs context.</a:t>
            </a:r>
          </a:p>
        </p:txBody>
      </p:sp>
      <p:sp>
        <p:nvSpPr>
          <p:cNvPr id="32" name="Rectangle 31"/>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34" name="TextBox 33"/>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LIVE</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Demo: Inspector on your server</a:t>
            </a:r>
          </a:p>
        </p:txBody>
      </p:sp>
      <p:pic>
        <p:nvPicPr>
          <p:cNvPr id="4" name="Picture 3" descr="bg_7.png"/>
          <p:cNvPicPr>
            <a:picLocks noChangeAspect="1"/>
          </p:cNvPicPr>
          <p:nvPr/>
        </p:nvPicPr>
        <p:blipFill>
          <a:blip r:embed="rId2"/>
          <a:stretch>
            <a:fillRect/>
          </a:stretch>
        </p:blipFill>
        <p:spPr>
          <a:xfrm>
            <a:off x="640080" y="1920240"/>
            <a:ext cx="4480560" cy="4206240"/>
          </a:xfrm>
          <a:prstGeom prst="rect">
            <a:avLst/>
          </a:prstGeom>
        </p:spPr>
      </p:pic>
      <p:sp>
        <p:nvSpPr>
          <p:cNvPr id="5" name="TextBox 4"/>
          <p:cNvSpPr txBox="1"/>
          <p:nvPr/>
        </p:nvSpPr>
        <p:spPr>
          <a:xfrm>
            <a:off x="5394960" y="1828800"/>
            <a:ext cx="6126480" cy="365760"/>
          </a:xfrm>
          <a:prstGeom prst="rect">
            <a:avLst/>
          </a:prstGeom>
          <a:noFill/>
        </p:spPr>
        <p:txBody>
          <a:bodyPr wrap="square" anchor="t">
            <a:spAutoFit/>
          </a:bodyPr>
          <a:lstStyle/>
          <a:p>
            <a:pPr algn="l">
              <a:lnSpc>
                <a:spcPct val="100000"/>
              </a:lnSpc>
              <a:spcBef>
                <a:spcPts val="0"/>
              </a:spcBef>
              <a:spcAft>
                <a:spcPts val="200"/>
              </a:spcAft>
            </a:pPr>
            <a:r>
              <a:rPr sz="1300" b="1" spc="150">
                <a:solidFill>
                  <a:srgbClr val="8B8B93"/>
                </a:solidFill>
                <a:latin typeface="Instrument Sans"/>
              </a:rPr>
              <a:t>LIVE DEMO</a:t>
            </a:r>
          </a:p>
        </p:txBody>
      </p:sp>
      <p:sp>
        <p:nvSpPr>
          <p:cNvPr id="6" name="TextBox 5"/>
          <p:cNvSpPr txBox="1"/>
          <p:nvPr/>
        </p:nvSpPr>
        <p:spPr>
          <a:xfrm>
            <a:off x="5394960" y="2395728"/>
            <a:ext cx="411480" cy="457200"/>
          </a:xfrm>
          <a:prstGeom prst="rect">
            <a:avLst/>
          </a:prstGeom>
          <a:noFill/>
        </p:spPr>
        <p:txBody>
          <a:bodyPr wrap="square" anchor="t">
            <a:spAutoFit/>
          </a:bodyPr>
          <a:lstStyle/>
          <a:p>
            <a:pPr algn="l">
              <a:lnSpc>
                <a:spcPct val="100000"/>
              </a:lnSpc>
              <a:spcBef>
                <a:spcPts val="0"/>
              </a:spcBef>
              <a:spcAft>
                <a:spcPts val="200"/>
              </a:spcAft>
            </a:pPr>
            <a:r>
              <a:rPr sz="1600" b="1">
                <a:solidFill>
                  <a:srgbClr val="4C8DF0"/>
                </a:solidFill>
                <a:latin typeface="Instrument Sans"/>
              </a:rPr>
              <a:t>1</a:t>
            </a:r>
          </a:p>
        </p:txBody>
      </p:sp>
      <p:sp>
        <p:nvSpPr>
          <p:cNvPr id="7" name="TextBox 6"/>
          <p:cNvSpPr txBox="1"/>
          <p:nvPr/>
        </p:nvSpPr>
        <p:spPr>
          <a:xfrm>
            <a:off x="5961888" y="2395728"/>
            <a:ext cx="5486400" cy="640080"/>
          </a:xfrm>
          <a:prstGeom prst="rect">
            <a:avLst/>
          </a:prstGeom>
          <a:noFill/>
        </p:spPr>
        <p:txBody>
          <a:bodyPr wrap="square" anchor="t">
            <a:spAutoFit/>
          </a:bodyPr>
          <a:lstStyle/>
          <a:p>
            <a:pPr algn="l">
              <a:lnSpc>
                <a:spcPct val="110000"/>
              </a:lnSpc>
              <a:spcBef>
                <a:spcPts val="0"/>
              </a:spcBef>
              <a:spcAft>
                <a:spcPts val="200"/>
              </a:spcAft>
            </a:pPr>
            <a:r>
              <a:rPr sz="1600" b="0">
                <a:solidFill>
                  <a:srgbClr val="ACACB4"/>
                </a:solidFill>
                <a:latin typeface="Instrument Sans"/>
              </a:rPr>
              <a:t>npx @modelcontextprotocol/inspector python server.py</a:t>
            </a:r>
          </a:p>
        </p:txBody>
      </p:sp>
      <p:sp>
        <p:nvSpPr>
          <p:cNvPr id="8" name="TextBox 7"/>
          <p:cNvSpPr txBox="1"/>
          <p:nvPr/>
        </p:nvSpPr>
        <p:spPr>
          <a:xfrm>
            <a:off x="5394960" y="3145536"/>
            <a:ext cx="411480" cy="457200"/>
          </a:xfrm>
          <a:prstGeom prst="rect">
            <a:avLst/>
          </a:prstGeom>
          <a:noFill/>
        </p:spPr>
        <p:txBody>
          <a:bodyPr wrap="square" anchor="t">
            <a:spAutoFit/>
          </a:bodyPr>
          <a:lstStyle/>
          <a:p>
            <a:pPr algn="l">
              <a:lnSpc>
                <a:spcPct val="100000"/>
              </a:lnSpc>
              <a:spcBef>
                <a:spcPts val="0"/>
              </a:spcBef>
              <a:spcAft>
                <a:spcPts val="200"/>
              </a:spcAft>
            </a:pPr>
            <a:r>
              <a:rPr sz="1600" b="1">
                <a:solidFill>
                  <a:srgbClr val="4C8DF0"/>
                </a:solidFill>
                <a:latin typeface="Instrument Sans"/>
              </a:rPr>
              <a:t>2</a:t>
            </a:r>
          </a:p>
        </p:txBody>
      </p:sp>
      <p:sp>
        <p:nvSpPr>
          <p:cNvPr id="9" name="TextBox 8"/>
          <p:cNvSpPr txBox="1"/>
          <p:nvPr/>
        </p:nvSpPr>
        <p:spPr>
          <a:xfrm>
            <a:off x="5961888" y="3145536"/>
            <a:ext cx="5486400" cy="640080"/>
          </a:xfrm>
          <a:prstGeom prst="rect">
            <a:avLst/>
          </a:prstGeom>
          <a:noFill/>
        </p:spPr>
        <p:txBody>
          <a:bodyPr wrap="square" anchor="t">
            <a:spAutoFit/>
          </a:bodyPr>
          <a:lstStyle/>
          <a:p>
            <a:pPr algn="l">
              <a:lnSpc>
                <a:spcPct val="110000"/>
              </a:lnSpc>
              <a:spcBef>
                <a:spcPts val="0"/>
              </a:spcBef>
              <a:spcAft>
                <a:spcPts val="200"/>
              </a:spcAft>
            </a:pPr>
            <a:r>
              <a:rPr sz="1600" b="0">
                <a:solidFill>
                  <a:srgbClr val="ACACB4"/>
                </a:solidFill>
                <a:latin typeface="Instrument Sans"/>
              </a:rPr>
              <a:t>Connect - list tools - read the description</a:t>
            </a:r>
          </a:p>
        </p:txBody>
      </p:sp>
      <p:sp>
        <p:nvSpPr>
          <p:cNvPr id="10" name="TextBox 9"/>
          <p:cNvSpPr txBox="1"/>
          <p:nvPr/>
        </p:nvSpPr>
        <p:spPr>
          <a:xfrm>
            <a:off x="5394960" y="3895344"/>
            <a:ext cx="411480" cy="457200"/>
          </a:xfrm>
          <a:prstGeom prst="rect">
            <a:avLst/>
          </a:prstGeom>
          <a:noFill/>
        </p:spPr>
        <p:txBody>
          <a:bodyPr wrap="square" anchor="t">
            <a:spAutoFit/>
          </a:bodyPr>
          <a:lstStyle/>
          <a:p>
            <a:pPr algn="l">
              <a:lnSpc>
                <a:spcPct val="100000"/>
              </a:lnSpc>
              <a:spcBef>
                <a:spcPts val="0"/>
              </a:spcBef>
              <a:spcAft>
                <a:spcPts val="200"/>
              </a:spcAft>
            </a:pPr>
            <a:r>
              <a:rPr sz="1600" b="1">
                <a:solidFill>
                  <a:srgbClr val="4C8DF0"/>
                </a:solidFill>
                <a:latin typeface="Instrument Sans"/>
              </a:rPr>
              <a:t>3</a:t>
            </a:r>
          </a:p>
        </p:txBody>
      </p:sp>
      <p:sp>
        <p:nvSpPr>
          <p:cNvPr id="11" name="TextBox 10"/>
          <p:cNvSpPr txBox="1"/>
          <p:nvPr/>
        </p:nvSpPr>
        <p:spPr>
          <a:xfrm>
            <a:off x="5961888" y="3895344"/>
            <a:ext cx="5486400" cy="640080"/>
          </a:xfrm>
          <a:prstGeom prst="rect">
            <a:avLst/>
          </a:prstGeom>
          <a:noFill/>
        </p:spPr>
        <p:txBody>
          <a:bodyPr wrap="square" anchor="t">
            <a:spAutoFit/>
          </a:bodyPr>
          <a:lstStyle/>
          <a:p>
            <a:pPr algn="l">
              <a:lnSpc>
                <a:spcPct val="110000"/>
              </a:lnSpc>
              <a:spcBef>
                <a:spcPts val="0"/>
              </a:spcBef>
              <a:spcAft>
                <a:spcPts val="200"/>
              </a:spcAft>
            </a:pPr>
            <a:r>
              <a:rPr sz="1600" b="0">
                <a:solidFill>
                  <a:srgbClr val="ACACB4"/>
                </a:solidFill>
                <a:latin typeface="Instrument Sans"/>
              </a:rPr>
              <a:t>Run get_order_status with a test ID</a:t>
            </a:r>
          </a:p>
        </p:txBody>
      </p:sp>
      <p:sp>
        <p:nvSpPr>
          <p:cNvPr id="12" name="TextBox 11"/>
          <p:cNvSpPr txBox="1"/>
          <p:nvPr/>
        </p:nvSpPr>
        <p:spPr>
          <a:xfrm>
            <a:off x="5394960" y="4645152"/>
            <a:ext cx="411480" cy="457200"/>
          </a:xfrm>
          <a:prstGeom prst="rect">
            <a:avLst/>
          </a:prstGeom>
          <a:noFill/>
        </p:spPr>
        <p:txBody>
          <a:bodyPr wrap="square" anchor="t">
            <a:spAutoFit/>
          </a:bodyPr>
          <a:lstStyle/>
          <a:p>
            <a:pPr algn="l">
              <a:lnSpc>
                <a:spcPct val="100000"/>
              </a:lnSpc>
              <a:spcBef>
                <a:spcPts val="0"/>
              </a:spcBef>
              <a:spcAft>
                <a:spcPts val="200"/>
              </a:spcAft>
            </a:pPr>
            <a:r>
              <a:rPr sz="1600" b="1">
                <a:solidFill>
                  <a:srgbClr val="4C8DF0"/>
                </a:solidFill>
                <a:latin typeface="Instrument Sans"/>
              </a:rPr>
              <a:t>4</a:t>
            </a:r>
          </a:p>
        </p:txBody>
      </p:sp>
      <p:sp>
        <p:nvSpPr>
          <p:cNvPr id="13" name="TextBox 12"/>
          <p:cNvSpPr txBox="1"/>
          <p:nvPr/>
        </p:nvSpPr>
        <p:spPr>
          <a:xfrm>
            <a:off x="5961888" y="4645152"/>
            <a:ext cx="5486400" cy="640080"/>
          </a:xfrm>
          <a:prstGeom prst="rect">
            <a:avLst/>
          </a:prstGeom>
          <a:noFill/>
        </p:spPr>
        <p:txBody>
          <a:bodyPr wrap="square" anchor="t">
            <a:spAutoFit/>
          </a:bodyPr>
          <a:lstStyle/>
          <a:p>
            <a:pPr algn="l">
              <a:lnSpc>
                <a:spcPct val="110000"/>
              </a:lnSpc>
              <a:spcBef>
                <a:spcPts val="0"/>
              </a:spcBef>
              <a:spcAft>
                <a:spcPts val="200"/>
              </a:spcAft>
            </a:pPr>
            <a:r>
              <a:rPr sz="1600" b="0">
                <a:solidFill>
                  <a:srgbClr val="ACACB4"/>
                </a:solidFill>
                <a:latin typeface="Instrument Sans"/>
              </a:rPr>
              <a:t>Break it: send a bad ID, read the error</a:t>
            </a:r>
          </a:p>
        </p:txBody>
      </p:sp>
      <p:sp>
        <p:nvSpPr>
          <p:cNvPr id="14" name="Rectangle 13"/>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16" name="TextBox 15"/>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FOLLOW ALONG</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Paste this: scaffold a server</a:t>
            </a:r>
          </a:p>
        </p:txBody>
      </p:sp>
      <p:sp>
        <p:nvSpPr>
          <p:cNvPr id="4" name="Rounded Rectangle 3"/>
          <p:cNvSpPr/>
          <p:nvPr/>
        </p:nvSpPr>
        <p:spPr>
          <a:xfrm>
            <a:off x="640080" y="1828800"/>
            <a:ext cx="6126480" cy="4206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084832"/>
            <a:ext cx="5577840" cy="457200"/>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What you are practicing</a:t>
            </a:r>
          </a:p>
        </p:txBody>
      </p:sp>
      <p:sp>
        <p:nvSpPr>
          <p:cNvPr id="6" name="Rectangle 5"/>
          <p:cNvSpPr/>
          <p:nvPr/>
        </p:nvSpPr>
        <p:spPr>
          <a:xfrm>
            <a:off x="914400" y="2852928"/>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07008" y="2743200"/>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Claude writes the boilerplate</a:t>
            </a:r>
          </a:p>
        </p:txBody>
      </p:sp>
      <p:sp>
        <p:nvSpPr>
          <p:cNvPr id="8" name="Rectangle 7"/>
          <p:cNvSpPr/>
          <p:nvPr/>
        </p:nvSpPr>
        <p:spPr>
          <a:xfrm>
            <a:off x="914400" y="3419856"/>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07008" y="3310128"/>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You own the tool descriptions</a:t>
            </a:r>
          </a:p>
        </p:txBody>
      </p:sp>
      <p:sp>
        <p:nvSpPr>
          <p:cNvPr id="10" name="Rectangle 9"/>
          <p:cNvSpPr/>
          <p:nvPr/>
        </p:nvSpPr>
        <p:spPr>
          <a:xfrm>
            <a:off x="914400" y="3986784"/>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07008" y="3877056"/>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Inspector before integration</a:t>
            </a:r>
          </a:p>
        </p:txBody>
      </p:sp>
      <p:sp>
        <p:nvSpPr>
          <p:cNvPr id="12" name="TextBox 11"/>
          <p:cNvSpPr txBox="1"/>
          <p:nvPr/>
        </p:nvSpPr>
        <p:spPr>
          <a:xfrm>
            <a:off x="7040880" y="1810512"/>
            <a:ext cx="4507992" cy="365760"/>
          </a:xfrm>
          <a:prstGeom prst="rect">
            <a:avLst/>
          </a:prstGeom>
          <a:noFill/>
        </p:spPr>
        <p:txBody>
          <a:bodyPr wrap="square" anchor="t">
            <a:spAutoFit/>
          </a:bodyPr>
          <a:lstStyle/>
          <a:p>
            <a:pPr algn="l">
              <a:lnSpc>
                <a:spcPct val="100000"/>
              </a:lnSpc>
              <a:spcBef>
                <a:spcPts val="0"/>
              </a:spcBef>
              <a:spcAft>
                <a:spcPts val="200"/>
              </a:spcAft>
            </a:pPr>
            <a:r>
              <a:rPr sz="1300" b="1" spc="150">
                <a:solidFill>
                  <a:srgbClr val="8B8B93"/>
                </a:solidFill>
                <a:latin typeface="Instrument Sans"/>
              </a:rPr>
              <a:t>PASTE THIS</a:t>
            </a:r>
          </a:p>
        </p:txBody>
      </p:sp>
      <p:sp>
        <p:nvSpPr>
          <p:cNvPr id="13" name="Rounded Rectangle 12"/>
          <p:cNvSpPr/>
          <p:nvPr/>
        </p:nvSpPr>
        <p:spPr>
          <a:xfrm>
            <a:off x="7040880" y="2286000"/>
            <a:ext cx="4507992" cy="1580388"/>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242048" y="2450592"/>
            <a:ext cx="310896" cy="310896"/>
          </a:xfrm>
          <a:prstGeom prst="ellipse">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42048" y="2432304"/>
            <a:ext cx="310896" cy="310896"/>
          </a:xfrm>
          <a:prstGeom prst="rect">
            <a:avLst/>
          </a:prstGeom>
          <a:noFill/>
        </p:spPr>
        <p:txBody>
          <a:bodyPr wrap="square" anchor="ctr">
            <a:spAutoFit/>
          </a:bodyPr>
          <a:lstStyle/>
          <a:p>
            <a:pPr algn="ctr">
              <a:lnSpc>
                <a:spcPct val="100000"/>
              </a:lnSpc>
              <a:spcBef>
                <a:spcPts val="0"/>
              </a:spcBef>
              <a:spcAft>
                <a:spcPts val="200"/>
              </a:spcAft>
            </a:pPr>
            <a:r>
              <a:rPr sz="1300" b="1">
                <a:solidFill>
                  <a:srgbClr val="303036"/>
                </a:solidFill>
                <a:latin typeface="Instrument Sans"/>
              </a:rPr>
              <a:t>1</a:t>
            </a:r>
          </a:p>
        </p:txBody>
      </p:sp>
      <p:sp>
        <p:nvSpPr>
          <p:cNvPr id="16" name="TextBox 15"/>
          <p:cNvSpPr txBox="1"/>
          <p:nvPr/>
        </p:nvSpPr>
        <p:spPr>
          <a:xfrm>
            <a:off x="7699248" y="2670048"/>
            <a:ext cx="3593591" cy="1141476"/>
          </a:xfrm>
          <a:prstGeom prst="rect">
            <a:avLst/>
          </a:prstGeom>
          <a:noFill/>
        </p:spPr>
        <p:txBody>
          <a:bodyPr wrap="square" anchor="t">
            <a:normAutofit/>
          </a:bodyPr>
          <a:lstStyle/>
          <a:p>
            <a:pPr algn="l">
              <a:lnSpc>
                <a:spcPct val="112000"/>
              </a:lnSpc>
              <a:spcBef>
                <a:spcPts val="0"/>
              </a:spcBef>
              <a:spcAft>
                <a:spcPts val="200"/>
              </a:spcAft>
            </a:pPr>
            <a:r>
              <a:rPr sz="1200" b="0">
                <a:solidFill>
                  <a:srgbClr val="C9C9D2"/>
                </a:solidFill>
                <a:latin typeface="Instrument Sans"/>
              </a:rPr>
              <a:t>Create a Python MCP server using the official SDK's FastMCP pattern with one tool: get_order_status(order_id: str). Fake the data. Write the docstring for the model: when to use it, what returns, ID format.</a:t>
            </a:r>
          </a:p>
        </p:txBody>
      </p:sp>
      <p:sp>
        <p:nvSpPr>
          <p:cNvPr id="17" name="Rounded Rectangle 16"/>
          <p:cNvSpPr/>
          <p:nvPr/>
        </p:nvSpPr>
        <p:spPr>
          <a:xfrm>
            <a:off x="7040880" y="4012692"/>
            <a:ext cx="4507992" cy="972311"/>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242048" y="4177284"/>
            <a:ext cx="310896" cy="310896"/>
          </a:xfrm>
          <a:prstGeom prst="ellipse">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42048" y="4158996"/>
            <a:ext cx="310896" cy="310896"/>
          </a:xfrm>
          <a:prstGeom prst="rect">
            <a:avLst/>
          </a:prstGeom>
          <a:noFill/>
        </p:spPr>
        <p:txBody>
          <a:bodyPr wrap="square" anchor="ctr">
            <a:spAutoFit/>
          </a:bodyPr>
          <a:lstStyle/>
          <a:p>
            <a:pPr algn="ctr">
              <a:lnSpc>
                <a:spcPct val="100000"/>
              </a:lnSpc>
              <a:spcBef>
                <a:spcPts val="0"/>
              </a:spcBef>
              <a:spcAft>
                <a:spcPts val="200"/>
              </a:spcAft>
            </a:pPr>
            <a:r>
              <a:rPr sz="1300" b="1">
                <a:solidFill>
                  <a:srgbClr val="303036"/>
                </a:solidFill>
                <a:latin typeface="Instrument Sans"/>
              </a:rPr>
              <a:t>2</a:t>
            </a:r>
          </a:p>
        </p:txBody>
      </p:sp>
      <p:sp>
        <p:nvSpPr>
          <p:cNvPr id="20" name="TextBox 19"/>
          <p:cNvSpPr txBox="1"/>
          <p:nvPr/>
        </p:nvSpPr>
        <p:spPr>
          <a:xfrm>
            <a:off x="7699248" y="4396740"/>
            <a:ext cx="3593591" cy="533399"/>
          </a:xfrm>
          <a:prstGeom prst="rect">
            <a:avLst/>
          </a:prstGeom>
          <a:noFill/>
        </p:spPr>
        <p:txBody>
          <a:bodyPr wrap="square" anchor="t">
            <a:normAutofit/>
          </a:bodyPr>
          <a:lstStyle/>
          <a:p>
            <a:pPr algn="l">
              <a:lnSpc>
                <a:spcPct val="112000"/>
              </a:lnSpc>
              <a:spcBef>
                <a:spcPts val="0"/>
              </a:spcBef>
              <a:spcAft>
                <a:spcPts val="200"/>
              </a:spcAft>
            </a:pPr>
            <a:r>
              <a:rPr sz="1200" b="0">
                <a:solidFill>
                  <a:srgbClr val="C9C9D2"/>
                </a:solidFill>
                <a:latin typeface="Instrument Sans"/>
              </a:rPr>
              <a:t>npx @modelcontextprotocol/inspector python server.py</a:t>
            </a:r>
          </a:p>
        </p:txBody>
      </p:sp>
      <p:sp>
        <p:nvSpPr>
          <p:cNvPr id="21" name="Rounded Rectangle 20"/>
          <p:cNvSpPr/>
          <p:nvPr/>
        </p:nvSpPr>
        <p:spPr>
          <a:xfrm>
            <a:off x="7040880" y="5131308"/>
            <a:ext cx="4507992" cy="769619"/>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242048" y="5295899"/>
            <a:ext cx="310896" cy="310896"/>
          </a:xfrm>
          <a:prstGeom prst="ellipse">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242048" y="5277612"/>
            <a:ext cx="310896" cy="310896"/>
          </a:xfrm>
          <a:prstGeom prst="rect">
            <a:avLst/>
          </a:prstGeom>
          <a:noFill/>
        </p:spPr>
        <p:txBody>
          <a:bodyPr wrap="square" anchor="ctr">
            <a:spAutoFit/>
          </a:bodyPr>
          <a:lstStyle/>
          <a:p>
            <a:pPr algn="ctr">
              <a:lnSpc>
                <a:spcPct val="100000"/>
              </a:lnSpc>
              <a:spcBef>
                <a:spcPts val="0"/>
              </a:spcBef>
              <a:spcAft>
                <a:spcPts val="200"/>
              </a:spcAft>
            </a:pPr>
            <a:r>
              <a:rPr sz="1300" b="1">
                <a:solidFill>
                  <a:srgbClr val="303036"/>
                </a:solidFill>
                <a:latin typeface="Instrument Sans"/>
              </a:rPr>
              <a:t>3</a:t>
            </a:r>
          </a:p>
        </p:txBody>
      </p:sp>
      <p:sp>
        <p:nvSpPr>
          <p:cNvPr id="24" name="TextBox 23"/>
          <p:cNvSpPr txBox="1"/>
          <p:nvPr/>
        </p:nvSpPr>
        <p:spPr>
          <a:xfrm>
            <a:off x="7699248" y="5515356"/>
            <a:ext cx="3593591" cy="330707"/>
          </a:xfrm>
          <a:prstGeom prst="rect">
            <a:avLst/>
          </a:prstGeom>
          <a:noFill/>
        </p:spPr>
        <p:txBody>
          <a:bodyPr wrap="square" anchor="t">
            <a:normAutofit/>
          </a:bodyPr>
          <a:lstStyle/>
          <a:p>
            <a:pPr algn="l">
              <a:lnSpc>
                <a:spcPct val="112000"/>
              </a:lnSpc>
              <a:spcBef>
                <a:spcPts val="0"/>
              </a:spcBef>
              <a:spcAft>
                <a:spcPts val="200"/>
              </a:spcAft>
            </a:pPr>
            <a:r>
              <a:rPr sz="1200" b="0">
                <a:solidFill>
                  <a:srgbClr val="C9C9D2"/>
                </a:solidFill>
                <a:latin typeface="Instrument Sans"/>
              </a:rPr>
              <a:t>claude mcp add orders -- python server.py</a:t>
            </a:r>
          </a:p>
        </p:txBody>
      </p:sp>
      <p:sp>
        <p:nvSpPr>
          <p:cNvPr id="25" name="Rectangle 24"/>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7" name="TextBox 26"/>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pic>
        <p:nvPicPr>
          <p:cNvPr id="2" name="Picture 1" descr="bg_8.png"/>
          <p:cNvPicPr>
            <a:picLocks noChangeAspect="1"/>
          </p:cNvPicPr>
          <p:nvPr/>
        </p:nvPicPr>
        <p:blipFill>
          <a:blip r:embed="rId2"/>
          <a:stretch>
            <a:fillRect/>
          </a:stretch>
        </p:blipFill>
        <p:spPr>
          <a:xfrm>
            <a:off x="6355080" y="0"/>
            <a:ext cx="5833872" cy="6858000"/>
          </a:xfrm>
          <a:prstGeom prst="rect">
            <a:avLst/>
          </a:prstGeom>
        </p:spPr>
      </p:pic>
      <p:sp>
        <p:nvSpPr>
          <p:cNvPr id="3" name="Rectangle 2"/>
          <p:cNvSpPr/>
          <p:nvPr/>
        </p:nvSpPr>
        <p:spPr>
          <a:xfrm>
            <a:off x="6355080" y="0"/>
            <a:ext cx="32004" cy="6858000"/>
          </a:xfrm>
          <a:prstGeom prst="rect">
            <a:avLst/>
          </a:prstGeom>
          <a:solidFill>
            <a:srgbClr val="2F6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2542032"/>
            <a:ext cx="548640" cy="54864"/>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2706624"/>
            <a:ext cx="5486400" cy="365760"/>
          </a:xfrm>
          <a:prstGeom prst="rect">
            <a:avLst/>
          </a:prstGeom>
          <a:noFill/>
        </p:spPr>
        <p:txBody>
          <a:bodyPr wrap="square" anchor="t">
            <a:spAutoFit/>
          </a:bodyPr>
          <a:lstStyle/>
          <a:p>
            <a:pPr algn="l">
              <a:lnSpc>
                <a:spcPct val="100000"/>
              </a:lnSpc>
              <a:spcBef>
                <a:spcPts val="0"/>
              </a:spcBef>
              <a:spcAft>
                <a:spcPts val="200"/>
              </a:spcAft>
            </a:pPr>
            <a:r>
              <a:rPr sz="1300" b="1" spc="200">
                <a:solidFill>
                  <a:srgbClr val="8B8B93"/>
                </a:solidFill>
                <a:latin typeface="Instrument Sans"/>
              </a:rPr>
              <a:t>FLEX MODULE 4 - DAY 3</a:t>
            </a:r>
          </a:p>
        </p:txBody>
      </p:sp>
      <p:sp>
        <p:nvSpPr>
          <p:cNvPr id="6" name="TextBox 5"/>
          <p:cNvSpPr txBox="1"/>
          <p:nvPr/>
        </p:nvSpPr>
        <p:spPr>
          <a:xfrm>
            <a:off x="658368" y="3054096"/>
            <a:ext cx="5532120" cy="1783080"/>
          </a:xfrm>
          <a:prstGeom prst="rect">
            <a:avLst/>
          </a:prstGeom>
          <a:noFill/>
        </p:spPr>
        <p:txBody>
          <a:bodyPr wrap="square" anchor="t">
            <a:spAutoFit/>
          </a:bodyPr>
          <a:lstStyle/>
          <a:p>
            <a:pPr algn="l">
              <a:lnSpc>
                <a:spcPct val="102000"/>
              </a:lnSpc>
              <a:spcBef>
                <a:spcPts val="0"/>
              </a:spcBef>
              <a:spcAft>
                <a:spcPts val="200"/>
              </a:spcAft>
            </a:pPr>
            <a:r>
              <a:rPr sz="3400" b="1">
                <a:solidFill>
                  <a:srgbClr val="F5F5F6"/>
                </a:solidFill>
                <a:latin typeface="Instrument Sans"/>
              </a:rPr>
              <a:t>Code Execution &amp; Tool Use</a:t>
            </a:r>
          </a:p>
        </p:txBody>
      </p:sp>
      <p:sp>
        <p:nvSpPr>
          <p:cNvPr id="7" name="TextBox 6"/>
          <p:cNvSpPr txBox="1"/>
          <p:nvPr/>
        </p:nvSpPr>
        <p:spPr>
          <a:xfrm>
            <a:off x="685800" y="4983480"/>
            <a:ext cx="5440680" cy="1005840"/>
          </a:xfrm>
          <a:prstGeom prst="rect">
            <a:avLst/>
          </a:prstGeom>
          <a:noFill/>
        </p:spPr>
        <p:txBody>
          <a:bodyPr wrap="square" anchor="t">
            <a:spAutoFit/>
          </a:bodyPr>
          <a:lstStyle/>
          <a:p>
            <a:pPr algn="l">
              <a:lnSpc>
                <a:spcPct val="115000"/>
              </a:lnSpc>
              <a:spcBef>
                <a:spcPts val="0"/>
              </a:spcBef>
              <a:spcAft>
                <a:spcPts val="200"/>
              </a:spcAft>
            </a:pPr>
            <a:r>
              <a:rPr sz="1750" b="0">
                <a:solidFill>
                  <a:srgbClr val="ACACB4"/>
                </a:solidFill>
                <a:latin typeface="Instrument Sans"/>
              </a:rPr>
              <a:t>Pull in when ahead - restores the advanced tool-use content cut from Day 3 Block 4</a:t>
            </a:r>
          </a:p>
        </p:txBody>
      </p:sp>
      <p:sp>
        <p:nvSpPr>
          <p:cNvPr id="8" name="Rectangle 7"/>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10" name="TextBox 9"/>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CONCEPT</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Round-trips or one script?</a:t>
            </a:r>
          </a:p>
        </p:txBody>
      </p:sp>
      <p:sp>
        <p:nvSpPr>
          <p:cNvPr id="4" name="Rounded Rectangle 3"/>
          <p:cNvSpPr/>
          <p:nvPr/>
        </p:nvSpPr>
        <p:spPr>
          <a:xfrm>
            <a:off x="640080" y="1874519"/>
            <a:ext cx="5285232"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refresh_ACACB4.png"/>
          <p:cNvPicPr>
            <a:picLocks noChangeAspect="1"/>
          </p:cNvPicPr>
          <p:nvPr/>
        </p:nvPicPr>
        <p:blipFill>
          <a:blip r:embed="rId2"/>
          <a:stretch>
            <a:fillRect/>
          </a:stretch>
        </p:blipFill>
        <p:spPr>
          <a:xfrm>
            <a:off x="914400" y="2167127"/>
            <a:ext cx="384048" cy="384048"/>
          </a:xfrm>
          <a:prstGeom prst="rect">
            <a:avLst/>
          </a:prstGeom>
        </p:spPr>
      </p:pic>
      <p:sp>
        <p:nvSpPr>
          <p:cNvPr id="6" name="TextBox 5"/>
          <p:cNvSpPr txBox="1"/>
          <p:nvPr/>
        </p:nvSpPr>
        <p:spPr>
          <a:xfrm>
            <a:off x="1417319" y="2148839"/>
            <a:ext cx="4370832" cy="457200"/>
          </a:xfrm>
          <a:prstGeom prst="rect">
            <a:avLst/>
          </a:prstGeom>
          <a:noFill/>
        </p:spPr>
        <p:txBody>
          <a:bodyPr wrap="square" anchor="t">
            <a:spAutoFit/>
          </a:bodyPr>
          <a:lstStyle/>
          <a:p>
            <a:pPr algn="l">
              <a:lnSpc>
                <a:spcPct val="100000"/>
              </a:lnSpc>
              <a:spcBef>
                <a:spcPts val="0"/>
              </a:spcBef>
              <a:spcAft>
                <a:spcPts val="200"/>
              </a:spcAft>
            </a:pPr>
            <a:r>
              <a:rPr sz="2100" b="1">
                <a:solidFill>
                  <a:srgbClr val="F5F5F6"/>
                </a:solidFill>
                <a:latin typeface="Instrument Sans"/>
              </a:rPr>
              <a:t>Traditional tool calls</a:t>
            </a:r>
          </a:p>
        </p:txBody>
      </p:sp>
      <p:sp>
        <p:nvSpPr>
          <p:cNvPr id="7" name="Rectangle 6"/>
          <p:cNvSpPr/>
          <p:nvPr/>
        </p:nvSpPr>
        <p:spPr>
          <a:xfrm>
            <a:off x="932688" y="3291839"/>
            <a:ext cx="164592" cy="18288"/>
          </a:xfrm>
          <a:prstGeom prst="rect">
            <a:avLst/>
          </a:prstGeom>
          <a:solidFill>
            <a:srgbClr val="ACAC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43584" y="3017520"/>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Every result round-trips through context</a:t>
            </a:r>
          </a:p>
        </p:txBody>
      </p:sp>
      <p:sp>
        <p:nvSpPr>
          <p:cNvPr id="9" name="Rectangle 8"/>
          <p:cNvSpPr/>
          <p:nvPr/>
        </p:nvSpPr>
        <p:spPr>
          <a:xfrm>
            <a:off x="932688" y="3858768"/>
            <a:ext cx="164592" cy="18288"/>
          </a:xfrm>
          <a:prstGeom prst="rect">
            <a:avLst/>
          </a:prstGeom>
          <a:solidFill>
            <a:srgbClr val="ACAC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43584" y="3584448"/>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All schemas ride along up front</a:t>
            </a:r>
          </a:p>
        </p:txBody>
      </p:sp>
      <p:sp>
        <p:nvSpPr>
          <p:cNvPr id="11" name="Rectangle 10"/>
          <p:cNvSpPr/>
          <p:nvPr/>
        </p:nvSpPr>
        <p:spPr>
          <a:xfrm>
            <a:off x="932688" y="4425696"/>
            <a:ext cx="164592" cy="18288"/>
          </a:xfrm>
          <a:prstGeom prst="rect">
            <a:avLst/>
          </a:prstGeom>
          <a:solidFill>
            <a:srgbClr val="ACAC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43584" y="4151376"/>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Model orchestrates step by step</a:t>
            </a:r>
          </a:p>
        </p:txBody>
      </p:sp>
      <p:sp>
        <p:nvSpPr>
          <p:cNvPr id="13" name="Rounded Rectangle 12"/>
          <p:cNvSpPr/>
          <p:nvPr/>
        </p:nvSpPr>
        <p:spPr>
          <a:xfrm>
            <a:off x="6199632" y="1874519"/>
            <a:ext cx="5285232" cy="3063240"/>
          </a:xfrm>
          <a:prstGeom prst="roundRect">
            <a:avLst>
              <a:gd name="adj" fmla="val 6000"/>
            </a:avLst>
          </a:prstGeom>
          <a:solidFill>
            <a:srgbClr val="34343A"/>
          </a:solidFill>
          <a:ln w="19050">
            <a:solidFill>
              <a:srgbClr val="2E6E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rocket_46B17A.png"/>
          <p:cNvPicPr>
            <a:picLocks noChangeAspect="1"/>
          </p:cNvPicPr>
          <p:nvPr/>
        </p:nvPicPr>
        <p:blipFill>
          <a:blip r:embed="rId3"/>
          <a:stretch>
            <a:fillRect/>
          </a:stretch>
        </p:blipFill>
        <p:spPr>
          <a:xfrm>
            <a:off x="6473952" y="2167127"/>
            <a:ext cx="384048" cy="384048"/>
          </a:xfrm>
          <a:prstGeom prst="rect">
            <a:avLst/>
          </a:prstGeom>
        </p:spPr>
      </p:pic>
      <p:sp>
        <p:nvSpPr>
          <p:cNvPr id="15" name="TextBox 14"/>
          <p:cNvSpPr txBox="1"/>
          <p:nvPr/>
        </p:nvSpPr>
        <p:spPr>
          <a:xfrm>
            <a:off x="6976872" y="2148839"/>
            <a:ext cx="4370832" cy="457200"/>
          </a:xfrm>
          <a:prstGeom prst="rect">
            <a:avLst/>
          </a:prstGeom>
          <a:noFill/>
        </p:spPr>
        <p:txBody>
          <a:bodyPr wrap="square" anchor="t">
            <a:spAutoFit/>
          </a:bodyPr>
          <a:lstStyle/>
          <a:p>
            <a:pPr algn="l">
              <a:lnSpc>
                <a:spcPct val="100000"/>
              </a:lnSpc>
              <a:spcBef>
                <a:spcPts val="0"/>
              </a:spcBef>
              <a:spcAft>
                <a:spcPts val="200"/>
              </a:spcAft>
            </a:pPr>
            <a:r>
              <a:rPr sz="2100" b="1">
                <a:solidFill>
                  <a:srgbClr val="F5F5F6"/>
                </a:solidFill>
                <a:latin typeface="Instrument Sans"/>
              </a:rPr>
              <a:t>Code execution</a:t>
            </a:r>
          </a:p>
        </p:txBody>
      </p:sp>
      <p:sp>
        <p:nvSpPr>
          <p:cNvPr id="16" name="Rectangle 15"/>
          <p:cNvSpPr/>
          <p:nvPr/>
        </p:nvSpPr>
        <p:spPr>
          <a:xfrm>
            <a:off x="6492240" y="3291839"/>
            <a:ext cx="164592" cy="18288"/>
          </a:xfrm>
          <a:prstGeom prst="rect">
            <a:avLst/>
          </a:prstGeom>
          <a:solidFill>
            <a:srgbClr val="46B1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03136" y="3017520"/>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Model writes code that calls tools</a:t>
            </a:r>
          </a:p>
        </p:txBody>
      </p:sp>
      <p:sp>
        <p:nvSpPr>
          <p:cNvPr id="18" name="Rectangle 17"/>
          <p:cNvSpPr/>
          <p:nvPr/>
        </p:nvSpPr>
        <p:spPr>
          <a:xfrm>
            <a:off x="6492240" y="3858768"/>
            <a:ext cx="164592" cy="18288"/>
          </a:xfrm>
          <a:prstGeom prst="rect">
            <a:avLst/>
          </a:prstGeom>
          <a:solidFill>
            <a:srgbClr val="46B1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03136" y="3584448"/>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Intermediates stay in the sandbox</a:t>
            </a:r>
          </a:p>
        </p:txBody>
      </p:sp>
      <p:sp>
        <p:nvSpPr>
          <p:cNvPr id="20" name="Rectangle 19"/>
          <p:cNvSpPr/>
          <p:nvPr/>
        </p:nvSpPr>
        <p:spPr>
          <a:xfrm>
            <a:off x="6492240" y="4425696"/>
            <a:ext cx="164592" cy="18288"/>
          </a:xfrm>
          <a:prstGeom prst="rect">
            <a:avLst/>
          </a:prstGeom>
          <a:solidFill>
            <a:srgbClr val="46B1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03136" y="4151376"/>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Only the final answer returns</a:t>
            </a:r>
          </a:p>
        </p:txBody>
      </p:sp>
      <p:sp>
        <p:nvSpPr>
          <p:cNvPr id="22" name="Rounded Rectangle 21"/>
          <p:cNvSpPr/>
          <p:nvPr/>
        </p:nvSpPr>
        <p:spPr>
          <a:xfrm>
            <a:off x="640080" y="5138928"/>
            <a:ext cx="10908792" cy="713232"/>
          </a:xfrm>
          <a:prstGeom prst="roundRect">
            <a:avLst>
              <a:gd name="adj" fmla="val 16000"/>
            </a:avLst>
          </a:prstGeom>
          <a:solidFill>
            <a:srgbClr val="16324F"/>
          </a:solidFill>
          <a:ln w="9525">
            <a:solidFill>
              <a:srgbClr val="2F6F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info_4C8DF0.png"/>
          <p:cNvPicPr>
            <a:picLocks noChangeAspect="1"/>
          </p:cNvPicPr>
          <p:nvPr/>
        </p:nvPicPr>
        <p:blipFill>
          <a:blip r:embed="rId4"/>
          <a:stretch>
            <a:fillRect/>
          </a:stretch>
        </p:blipFill>
        <p:spPr>
          <a:xfrm>
            <a:off x="877824" y="5312664"/>
            <a:ext cx="365760" cy="365760"/>
          </a:xfrm>
          <a:prstGeom prst="rect">
            <a:avLst/>
          </a:prstGeom>
        </p:spPr>
      </p:pic>
      <p:sp>
        <p:nvSpPr>
          <p:cNvPr id="24" name="TextBox 23"/>
          <p:cNvSpPr txBox="1"/>
          <p:nvPr/>
        </p:nvSpPr>
        <p:spPr>
          <a:xfrm>
            <a:off x="1371600" y="5138928"/>
            <a:ext cx="9994392" cy="713232"/>
          </a:xfrm>
          <a:prstGeom prst="rect">
            <a:avLst/>
          </a:prstGeom>
          <a:noFill/>
        </p:spPr>
        <p:txBody>
          <a:bodyPr wrap="square" anchor="ctr">
            <a:spAutoFit/>
          </a:bodyPr>
          <a:lstStyle/>
          <a:p>
            <a:pPr algn="l">
              <a:lnSpc>
                <a:spcPct val="100000"/>
              </a:lnSpc>
              <a:spcBef>
                <a:spcPts val="0"/>
              </a:spcBef>
              <a:spcAft>
                <a:spcPts val="200"/>
              </a:spcAft>
            </a:pPr>
            <a:r>
              <a:rPr sz="1500" b="0">
                <a:solidFill>
                  <a:srgbClr val="CAD8F2"/>
                </a:solidFill>
                <a:latin typeface="Instrument Sans"/>
              </a:rPr>
              <a:t>Same tools, same job - the difference is where the intermediate data lives and who pays for it.</a:t>
            </a:r>
          </a:p>
        </p:txBody>
      </p:sp>
      <p:sp>
        <p:nvSpPr>
          <p:cNvPr id="25" name="Rectangle 24"/>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7" name="TextBox 26"/>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MECHANICS</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Three pillars of advanced use</a:t>
            </a:r>
          </a:p>
        </p:txBody>
      </p:sp>
      <p:sp>
        <p:nvSpPr>
          <p:cNvPr id="4" name="TextBox 3"/>
          <p:cNvSpPr txBox="1"/>
          <p:nvPr/>
        </p:nvSpPr>
        <p:spPr>
          <a:xfrm>
            <a:off x="640080" y="1572768"/>
            <a:ext cx="10424160" cy="548640"/>
          </a:xfrm>
          <a:prstGeom prst="rect">
            <a:avLst/>
          </a:prstGeom>
          <a:noFill/>
        </p:spPr>
        <p:txBody>
          <a:bodyPr wrap="square" anchor="t">
            <a:spAutoFit/>
          </a:bodyPr>
          <a:lstStyle/>
          <a:p>
            <a:pPr algn="l">
              <a:lnSpc>
                <a:spcPct val="120000"/>
              </a:lnSpc>
              <a:spcBef>
                <a:spcPts val="0"/>
              </a:spcBef>
              <a:spcAft>
                <a:spcPts val="200"/>
              </a:spcAft>
            </a:pPr>
            <a:r>
              <a:rPr sz="1800" b="0">
                <a:solidFill>
                  <a:srgbClr val="ACACB4"/>
                </a:solidFill>
                <a:latin typeface="Instrument Sans"/>
              </a:rPr>
              <a:t>Three mechanisms, one goal: stop paying for what the model doesn't need.</a:t>
            </a:r>
          </a:p>
        </p:txBody>
      </p:sp>
      <p:sp>
        <p:nvSpPr>
          <p:cNvPr id="5" name="Rounded Rectangle 4"/>
          <p:cNvSpPr/>
          <p:nvPr/>
        </p:nvSpPr>
        <p:spPr>
          <a:xfrm>
            <a:off x="640080"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77824"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eye_2A2A30.png"/>
          <p:cNvPicPr>
            <a:picLocks noChangeAspect="1"/>
          </p:cNvPicPr>
          <p:nvPr/>
        </p:nvPicPr>
        <p:blipFill>
          <a:blip r:embed="rId2"/>
          <a:stretch>
            <a:fillRect/>
          </a:stretch>
        </p:blipFill>
        <p:spPr>
          <a:xfrm>
            <a:off x="1005840" y="2756916"/>
            <a:ext cx="219456" cy="219456"/>
          </a:xfrm>
          <a:prstGeom prst="rect">
            <a:avLst/>
          </a:prstGeom>
        </p:spPr>
      </p:pic>
      <p:sp>
        <p:nvSpPr>
          <p:cNvPr id="8" name="TextBox 7"/>
          <p:cNvSpPr txBox="1"/>
          <p:nvPr/>
        </p:nvSpPr>
        <p:spPr>
          <a:xfrm>
            <a:off x="877824"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Tool search</a:t>
            </a:r>
          </a:p>
        </p:txBody>
      </p:sp>
      <p:sp>
        <p:nvSpPr>
          <p:cNvPr id="9" name="TextBox 8"/>
          <p:cNvSpPr txBox="1"/>
          <p:nvPr/>
        </p:nvSpPr>
        <p:spPr>
          <a:xfrm>
            <a:off x="877824"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Discover and load tool schemas on demand, not all up front.</a:t>
            </a:r>
          </a:p>
        </p:txBody>
      </p:sp>
      <p:sp>
        <p:nvSpPr>
          <p:cNvPr id="10" name="Rounded Rectangle 9"/>
          <p:cNvSpPr/>
          <p:nvPr/>
        </p:nvSpPr>
        <p:spPr>
          <a:xfrm>
            <a:off x="4367784"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605528"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apps_2A2A30.png"/>
          <p:cNvPicPr>
            <a:picLocks noChangeAspect="1"/>
          </p:cNvPicPr>
          <p:nvPr/>
        </p:nvPicPr>
        <p:blipFill>
          <a:blip r:embed="rId3"/>
          <a:stretch>
            <a:fillRect/>
          </a:stretch>
        </p:blipFill>
        <p:spPr>
          <a:xfrm>
            <a:off x="4733544" y="2756916"/>
            <a:ext cx="219456" cy="219456"/>
          </a:xfrm>
          <a:prstGeom prst="rect">
            <a:avLst/>
          </a:prstGeom>
        </p:spPr>
      </p:pic>
      <p:sp>
        <p:nvSpPr>
          <p:cNvPr id="13" name="TextBox 12"/>
          <p:cNvSpPr txBox="1"/>
          <p:nvPr/>
        </p:nvSpPr>
        <p:spPr>
          <a:xfrm>
            <a:off x="4605528"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Programmatic calling</a:t>
            </a:r>
          </a:p>
        </p:txBody>
      </p:sp>
      <p:sp>
        <p:nvSpPr>
          <p:cNvPr id="14" name="TextBox 13"/>
          <p:cNvSpPr txBox="1"/>
          <p:nvPr/>
        </p:nvSpPr>
        <p:spPr>
          <a:xfrm>
            <a:off x="4605528"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Invoke tools from code in a sandbox - loop, filter, join there.</a:t>
            </a:r>
          </a:p>
        </p:txBody>
      </p:sp>
      <p:sp>
        <p:nvSpPr>
          <p:cNvPr id="15" name="Rounded Rectangle 14"/>
          <p:cNvSpPr/>
          <p:nvPr/>
        </p:nvSpPr>
        <p:spPr>
          <a:xfrm>
            <a:off x="8095488"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333232"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book_2A2A30.png"/>
          <p:cNvPicPr>
            <a:picLocks noChangeAspect="1"/>
          </p:cNvPicPr>
          <p:nvPr/>
        </p:nvPicPr>
        <p:blipFill>
          <a:blip r:embed="rId4"/>
          <a:stretch>
            <a:fillRect/>
          </a:stretch>
        </p:blipFill>
        <p:spPr>
          <a:xfrm>
            <a:off x="8461248" y="2756916"/>
            <a:ext cx="219456" cy="219456"/>
          </a:xfrm>
          <a:prstGeom prst="rect">
            <a:avLst/>
          </a:prstGeom>
        </p:spPr>
      </p:pic>
      <p:sp>
        <p:nvSpPr>
          <p:cNvPr id="18" name="TextBox 17"/>
          <p:cNvSpPr txBox="1"/>
          <p:nvPr/>
        </p:nvSpPr>
        <p:spPr>
          <a:xfrm>
            <a:off x="8333232"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Tool examples</a:t>
            </a:r>
          </a:p>
        </p:txBody>
      </p:sp>
      <p:sp>
        <p:nvSpPr>
          <p:cNvPr id="19" name="TextBox 18"/>
          <p:cNvSpPr txBox="1"/>
          <p:nvPr/>
        </p:nvSpPr>
        <p:spPr>
          <a:xfrm>
            <a:off x="8333232"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Show worked calls so the model nails tricky parameter shapes.</a:t>
            </a:r>
          </a:p>
        </p:txBody>
      </p:sp>
      <p:sp>
        <p:nvSpPr>
          <p:cNvPr id="20" name="Rounded Rectangle 19"/>
          <p:cNvSpPr/>
          <p:nvPr/>
        </p:nvSpPr>
        <p:spPr>
          <a:xfrm>
            <a:off x="640080" y="5760720"/>
            <a:ext cx="10908792" cy="658368"/>
          </a:xfrm>
          <a:prstGeom prst="roundRect">
            <a:avLst>
              <a:gd name="adj" fmla="val 16000"/>
            </a:avLst>
          </a:prstGeom>
          <a:solidFill>
            <a:srgbClr val="3A2F0A"/>
          </a:solidFill>
          <a:ln w="9525">
            <a:solidFill>
              <a:srgbClr val="8A6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warn_E0A93A.png"/>
          <p:cNvPicPr>
            <a:picLocks noChangeAspect="1"/>
          </p:cNvPicPr>
          <p:nvPr/>
        </p:nvPicPr>
        <p:blipFill>
          <a:blip r:embed="rId5"/>
          <a:stretch>
            <a:fillRect/>
          </a:stretch>
        </p:blipFill>
        <p:spPr>
          <a:xfrm>
            <a:off x="877824" y="5907024"/>
            <a:ext cx="365760" cy="365760"/>
          </a:xfrm>
          <a:prstGeom prst="rect">
            <a:avLst/>
          </a:prstGeom>
        </p:spPr>
      </p:pic>
      <p:sp>
        <p:nvSpPr>
          <p:cNvPr id="22" name="TextBox 21"/>
          <p:cNvSpPr txBox="1"/>
          <p:nvPr/>
        </p:nvSpPr>
        <p:spPr>
          <a:xfrm>
            <a:off x="1371600" y="5760720"/>
            <a:ext cx="9994392" cy="658368"/>
          </a:xfrm>
          <a:prstGeom prst="rect">
            <a:avLst/>
          </a:prstGeom>
          <a:noFill/>
        </p:spPr>
        <p:txBody>
          <a:bodyPr wrap="square" anchor="ctr">
            <a:spAutoFit/>
          </a:bodyPr>
          <a:lstStyle/>
          <a:p>
            <a:pPr algn="l">
              <a:lnSpc>
                <a:spcPct val="100000"/>
              </a:lnSpc>
              <a:spcBef>
                <a:spcPts val="0"/>
              </a:spcBef>
              <a:spcAft>
                <a:spcPts val="200"/>
              </a:spcAft>
            </a:pPr>
            <a:r>
              <a:rPr sz="1500" b="0">
                <a:solidFill>
                  <a:srgbClr val="F0D9A6"/>
                </a:solidFill>
                <a:latin typeface="Instrument Sans"/>
              </a:rPr>
              <a:t>Sourced from Anthropic engineering posts - names and availability shift; verify current status at delivery.</a:t>
            </a:r>
          </a:p>
        </p:txBody>
      </p:sp>
      <p:sp>
        <p:nvSpPr>
          <p:cNvPr id="23" name="Rectangle 22"/>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5" name="TextBox 24"/>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ECONOMICS</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The token math</a:t>
            </a:r>
          </a:p>
        </p:txBody>
      </p:sp>
      <p:sp>
        <p:nvSpPr>
          <p:cNvPr id="4" name="Rounded Rectangle 3"/>
          <p:cNvSpPr/>
          <p:nvPr/>
        </p:nvSpPr>
        <p:spPr>
          <a:xfrm>
            <a:off x="640080" y="1828800"/>
            <a:ext cx="10908792" cy="827531"/>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41248" y="1959102"/>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cale_2A2A30.png"/>
          <p:cNvPicPr>
            <a:picLocks noChangeAspect="1"/>
          </p:cNvPicPr>
          <p:nvPr/>
        </p:nvPicPr>
        <p:blipFill>
          <a:blip r:embed="rId2"/>
          <a:stretch>
            <a:fillRect/>
          </a:stretch>
        </p:blipFill>
        <p:spPr>
          <a:xfrm>
            <a:off x="1014984" y="2096262"/>
            <a:ext cx="292608" cy="292608"/>
          </a:xfrm>
          <a:prstGeom prst="rect">
            <a:avLst/>
          </a:prstGeom>
        </p:spPr>
      </p:pic>
      <p:sp>
        <p:nvSpPr>
          <p:cNvPr id="7" name="TextBox 6"/>
          <p:cNvSpPr txBox="1"/>
          <p:nvPr/>
        </p:nvSpPr>
        <p:spPr>
          <a:xfrm>
            <a:off x="1591056" y="1828800"/>
            <a:ext cx="2743200" cy="827531"/>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The schema tax</a:t>
            </a:r>
          </a:p>
        </p:txBody>
      </p:sp>
      <p:sp>
        <p:nvSpPr>
          <p:cNvPr id="8" name="TextBox 7"/>
          <p:cNvSpPr txBox="1"/>
          <p:nvPr/>
        </p:nvSpPr>
        <p:spPr>
          <a:xfrm>
            <a:off x="4434840" y="1828800"/>
            <a:ext cx="6903720" cy="827531"/>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Dozens of connected tools = tens of thousands of tokens before work starts.</a:t>
            </a:r>
          </a:p>
        </p:txBody>
      </p:sp>
      <p:sp>
        <p:nvSpPr>
          <p:cNvPr id="9" name="Rounded Rectangle 8"/>
          <p:cNvSpPr/>
          <p:nvPr/>
        </p:nvSpPr>
        <p:spPr>
          <a:xfrm>
            <a:off x="640080" y="2802636"/>
            <a:ext cx="10908792" cy="827531"/>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41248" y="2932938"/>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refresh_2A2A30.png"/>
          <p:cNvPicPr>
            <a:picLocks noChangeAspect="1"/>
          </p:cNvPicPr>
          <p:nvPr/>
        </p:nvPicPr>
        <p:blipFill>
          <a:blip r:embed="rId3"/>
          <a:stretch>
            <a:fillRect/>
          </a:stretch>
        </p:blipFill>
        <p:spPr>
          <a:xfrm>
            <a:off x="1014984" y="3070098"/>
            <a:ext cx="292608" cy="292608"/>
          </a:xfrm>
          <a:prstGeom prst="rect">
            <a:avLst/>
          </a:prstGeom>
        </p:spPr>
      </p:pic>
      <p:sp>
        <p:nvSpPr>
          <p:cNvPr id="12" name="TextBox 11"/>
          <p:cNvSpPr txBox="1"/>
          <p:nvPr/>
        </p:nvSpPr>
        <p:spPr>
          <a:xfrm>
            <a:off x="1591056" y="2802636"/>
            <a:ext cx="2743200" cy="827531"/>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The round-trip tax</a:t>
            </a:r>
          </a:p>
        </p:txBody>
      </p:sp>
      <p:sp>
        <p:nvSpPr>
          <p:cNvPr id="13" name="TextBox 12"/>
          <p:cNvSpPr txBox="1"/>
          <p:nvPr/>
        </p:nvSpPr>
        <p:spPr>
          <a:xfrm>
            <a:off x="4434840" y="2802636"/>
            <a:ext cx="6903720" cy="827531"/>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Every intermediate result is billed through context - twice.</a:t>
            </a:r>
          </a:p>
        </p:txBody>
      </p:sp>
      <p:sp>
        <p:nvSpPr>
          <p:cNvPr id="14" name="Rounded Rectangle 13"/>
          <p:cNvSpPr/>
          <p:nvPr/>
        </p:nvSpPr>
        <p:spPr>
          <a:xfrm>
            <a:off x="640080" y="3776472"/>
            <a:ext cx="10908792" cy="827531"/>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41248" y="3906774"/>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art_2A2A30.png"/>
          <p:cNvPicPr>
            <a:picLocks noChangeAspect="1"/>
          </p:cNvPicPr>
          <p:nvPr/>
        </p:nvPicPr>
        <p:blipFill>
          <a:blip r:embed="rId4"/>
          <a:stretch>
            <a:fillRect/>
          </a:stretch>
        </p:blipFill>
        <p:spPr>
          <a:xfrm>
            <a:off x="1014984" y="4043933"/>
            <a:ext cx="292608" cy="292608"/>
          </a:xfrm>
          <a:prstGeom prst="rect">
            <a:avLst/>
          </a:prstGeom>
        </p:spPr>
      </p:pic>
      <p:sp>
        <p:nvSpPr>
          <p:cNvPr id="17" name="TextBox 16"/>
          <p:cNvSpPr txBox="1"/>
          <p:nvPr/>
        </p:nvSpPr>
        <p:spPr>
          <a:xfrm>
            <a:off x="1591056" y="3776472"/>
            <a:ext cx="2743200" cy="827531"/>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The sandbox dividend</a:t>
            </a:r>
          </a:p>
        </p:txBody>
      </p:sp>
      <p:sp>
        <p:nvSpPr>
          <p:cNvPr id="18" name="TextBox 17"/>
          <p:cNvSpPr txBox="1"/>
          <p:nvPr/>
        </p:nvSpPr>
        <p:spPr>
          <a:xfrm>
            <a:off x="4434840" y="3776472"/>
            <a:ext cx="6903720" cy="827531"/>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Filter 10,000 rows in code; only the summary rides home.</a:t>
            </a:r>
          </a:p>
        </p:txBody>
      </p:sp>
      <p:sp>
        <p:nvSpPr>
          <p:cNvPr id="19" name="Rounded Rectangle 18"/>
          <p:cNvSpPr/>
          <p:nvPr/>
        </p:nvSpPr>
        <p:spPr>
          <a:xfrm>
            <a:off x="640080" y="4750308"/>
            <a:ext cx="10908792" cy="827531"/>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1248" y="4880610"/>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target_2A2A30.png"/>
          <p:cNvPicPr>
            <a:picLocks noChangeAspect="1"/>
          </p:cNvPicPr>
          <p:nvPr/>
        </p:nvPicPr>
        <p:blipFill>
          <a:blip r:embed="rId5"/>
          <a:stretch>
            <a:fillRect/>
          </a:stretch>
        </p:blipFill>
        <p:spPr>
          <a:xfrm>
            <a:off x="1014984" y="5017770"/>
            <a:ext cx="292608" cy="292608"/>
          </a:xfrm>
          <a:prstGeom prst="rect">
            <a:avLst/>
          </a:prstGeom>
        </p:spPr>
      </p:pic>
      <p:sp>
        <p:nvSpPr>
          <p:cNvPr id="22" name="TextBox 21"/>
          <p:cNvSpPr txBox="1"/>
          <p:nvPr/>
        </p:nvSpPr>
        <p:spPr>
          <a:xfrm>
            <a:off x="1591056" y="4750308"/>
            <a:ext cx="2743200" cy="827531"/>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Reported gains</a:t>
            </a:r>
          </a:p>
        </p:txBody>
      </p:sp>
      <p:sp>
        <p:nvSpPr>
          <p:cNvPr id="23" name="TextBox 22"/>
          <p:cNvSpPr txBox="1"/>
          <p:nvPr/>
        </p:nvSpPr>
        <p:spPr>
          <a:xfrm>
            <a:off x="4434840" y="4750308"/>
            <a:ext cx="6903720" cy="827531"/>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Anthropic's published example: ~150K tokens down to ~2K.</a:t>
            </a:r>
          </a:p>
        </p:txBody>
      </p:sp>
      <p:sp>
        <p:nvSpPr>
          <p:cNvPr id="24" name="Rounded Rectangle 23"/>
          <p:cNvSpPr/>
          <p:nvPr/>
        </p:nvSpPr>
        <p:spPr>
          <a:xfrm>
            <a:off x="640080" y="5760720"/>
            <a:ext cx="10908792" cy="658368"/>
          </a:xfrm>
          <a:prstGeom prst="roundRect">
            <a:avLst>
              <a:gd name="adj" fmla="val 16000"/>
            </a:avLst>
          </a:prstGeom>
          <a:solidFill>
            <a:srgbClr val="3A2F0A"/>
          </a:solidFill>
          <a:ln w="9525">
            <a:solidFill>
              <a:srgbClr val="8A6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warn_E0A93A.png"/>
          <p:cNvPicPr>
            <a:picLocks noChangeAspect="1"/>
          </p:cNvPicPr>
          <p:nvPr/>
        </p:nvPicPr>
        <p:blipFill>
          <a:blip r:embed="rId6"/>
          <a:stretch>
            <a:fillRect/>
          </a:stretch>
        </p:blipFill>
        <p:spPr>
          <a:xfrm>
            <a:off x="877824" y="5907024"/>
            <a:ext cx="365760" cy="365760"/>
          </a:xfrm>
          <a:prstGeom prst="rect">
            <a:avLst/>
          </a:prstGeom>
        </p:spPr>
      </p:pic>
      <p:sp>
        <p:nvSpPr>
          <p:cNvPr id="26" name="TextBox 25"/>
          <p:cNvSpPr txBox="1"/>
          <p:nvPr/>
        </p:nvSpPr>
        <p:spPr>
          <a:xfrm>
            <a:off x="1371600" y="5760720"/>
            <a:ext cx="9994392" cy="658368"/>
          </a:xfrm>
          <a:prstGeom prst="rect">
            <a:avLst/>
          </a:prstGeom>
          <a:noFill/>
        </p:spPr>
        <p:txBody>
          <a:bodyPr wrap="square" anchor="ctr">
            <a:spAutoFit/>
          </a:bodyPr>
          <a:lstStyle/>
          <a:p>
            <a:pPr algn="l">
              <a:lnSpc>
                <a:spcPct val="100000"/>
              </a:lnSpc>
              <a:spcBef>
                <a:spcPts val="0"/>
              </a:spcBef>
              <a:spcAft>
                <a:spcPts val="200"/>
              </a:spcAft>
            </a:pPr>
            <a:r>
              <a:rPr sz="1500" b="0">
                <a:solidFill>
                  <a:srgbClr val="F0D9A6"/>
                </a:solidFill>
                <a:latin typeface="Instrument Sans"/>
              </a:rPr>
              <a:t>Published benchmark figures, not your workload - measure your own before promising savings.</a:t>
            </a:r>
          </a:p>
        </p:txBody>
      </p:sp>
      <p:sp>
        <p:nvSpPr>
          <p:cNvPr id="27" name="Rectangle 26"/>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9" name="TextBox 28"/>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FOLLOW ALONG</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Paste this: think in scripts</a:t>
            </a:r>
          </a:p>
        </p:txBody>
      </p:sp>
      <p:sp>
        <p:nvSpPr>
          <p:cNvPr id="4" name="Rounded Rectangle 3"/>
          <p:cNvSpPr/>
          <p:nvPr/>
        </p:nvSpPr>
        <p:spPr>
          <a:xfrm>
            <a:off x="640080" y="1828800"/>
            <a:ext cx="6126480" cy="4206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084832"/>
            <a:ext cx="5577840" cy="457200"/>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What you are practicing</a:t>
            </a:r>
          </a:p>
        </p:txBody>
      </p:sp>
      <p:sp>
        <p:nvSpPr>
          <p:cNvPr id="6" name="Rectangle 5"/>
          <p:cNvSpPr/>
          <p:nvPr/>
        </p:nvSpPr>
        <p:spPr>
          <a:xfrm>
            <a:off x="914400" y="2852928"/>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07008" y="2743200"/>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Context as a decision bus, not a data bus</a:t>
            </a:r>
          </a:p>
        </p:txBody>
      </p:sp>
      <p:sp>
        <p:nvSpPr>
          <p:cNvPr id="8" name="Rectangle 7"/>
          <p:cNvSpPr/>
          <p:nvPr/>
        </p:nvSpPr>
        <p:spPr>
          <a:xfrm>
            <a:off x="914400" y="3419856"/>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07008" y="3310128"/>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Asking for scripts over call chains</a:t>
            </a:r>
          </a:p>
        </p:txBody>
      </p:sp>
      <p:sp>
        <p:nvSpPr>
          <p:cNvPr id="10" name="Rectangle 9"/>
          <p:cNvSpPr/>
          <p:nvPr/>
        </p:nvSpPr>
        <p:spPr>
          <a:xfrm>
            <a:off x="914400" y="3986784"/>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07008" y="3877056"/>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Summaries home, intermediates stay</a:t>
            </a:r>
          </a:p>
        </p:txBody>
      </p:sp>
      <p:sp>
        <p:nvSpPr>
          <p:cNvPr id="12" name="TextBox 11"/>
          <p:cNvSpPr txBox="1"/>
          <p:nvPr/>
        </p:nvSpPr>
        <p:spPr>
          <a:xfrm>
            <a:off x="7040880" y="1810512"/>
            <a:ext cx="4507992" cy="365760"/>
          </a:xfrm>
          <a:prstGeom prst="rect">
            <a:avLst/>
          </a:prstGeom>
          <a:noFill/>
        </p:spPr>
        <p:txBody>
          <a:bodyPr wrap="square" anchor="t">
            <a:spAutoFit/>
          </a:bodyPr>
          <a:lstStyle/>
          <a:p>
            <a:pPr algn="l">
              <a:lnSpc>
                <a:spcPct val="100000"/>
              </a:lnSpc>
              <a:spcBef>
                <a:spcPts val="0"/>
              </a:spcBef>
              <a:spcAft>
                <a:spcPts val="200"/>
              </a:spcAft>
            </a:pPr>
            <a:r>
              <a:rPr sz="1300" b="1" spc="150">
                <a:solidFill>
                  <a:srgbClr val="8B8B93"/>
                </a:solidFill>
                <a:latin typeface="Instrument Sans"/>
              </a:rPr>
              <a:t>PASTE THIS</a:t>
            </a:r>
          </a:p>
        </p:txBody>
      </p:sp>
      <p:sp>
        <p:nvSpPr>
          <p:cNvPr id="13" name="Rounded Rectangle 12"/>
          <p:cNvSpPr/>
          <p:nvPr/>
        </p:nvSpPr>
        <p:spPr>
          <a:xfrm>
            <a:off x="7040880" y="2286000"/>
            <a:ext cx="4507992" cy="1548384"/>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242048" y="2450592"/>
            <a:ext cx="310896" cy="310896"/>
          </a:xfrm>
          <a:prstGeom prst="ellipse">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42048" y="2432304"/>
            <a:ext cx="310896" cy="310896"/>
          </a:xfrm>
          <a:prstGeom prst="rect">
            <a:avLst/>
          </a:prstGeom>
          <a:noFill/>
        </p:spPr>
        <p:txBody>
          <a:bodyPr wrap="square" anchor="ctr">
            <a:spAutoFit/>
          </a:bodyPr>
          <a:lstStyle/>
          <a:p>
            <a:pPr algn="ctr">
              <a:lnSpc>
                <a:spcPct val="100000"/>
              </a:lnSpc>
              <a:spcBef>
                <a:spcPts val="0"/>
              </a:spcBef>
              <a:spcAft>
                <a:spcPts val="200"/>
              </a:spcAft>
            </a:pPr>
            <a:r>
              <a:rPr sz="1300" b="1">
                <a:solidFill>
                  <a:srgbClr val="303036"/>
                </a:solidFill>
                <a:latin typeface="Instrument Sans"/>
              </a:rPr>
              <a:t>1</a:t>
            </a:r>
          </a:p>
        </p:txBody>
      </p:sp>
      <p:sp>
        <p:nvSpPr>
          <p:cNvPr id="16" name="TextBox 15"/>
          <p:cNvSpPr txBox="1"/>
          <p:nvPr/>
        </p:nvSpPr>
        <p:spPr>
          <a:xfrm>
            <a:off x="7699248" y="2670048"/>
            <a:ext cx="3593591" cy="1109472"/>
          </a:xfrm>
          <a:prstGeom prst="rect">
            <a:avLst/>
          </a:prstGeom>
          <a:noFill/>
        </p:spPr>
        <p:txBody>
          <a:bodyPr wrap="square" anchor="t">
            <a:normAutofit/>
          </a:bodyPr>
          <a:lstStyle/>
          <a:p>
            <a:pPr algn="l">
              <a:lnSpc>
                <a:spcPct val="112000"/>
              </a:lnSpc>
              <a:spcBef>
                <a:spcPts val="0"/>
              </a:spcBef>
              <a:spcAft>
                <a:spcPts val="200"/>
              </a:spcAft>
            </a:pPr>
            <a:r>
              <a:rPr sz="1400" b="0">
                <a:solidFill>
                  <a:srgbClr val="C9C9D2"/>
                </a:solidFill>
                <a:latin typeface="Instrument Sans"/>
              </a:rPr>
              <a:t>Write and run a script that pulls the last 50 CI runs, filters to failures, and returns ONLY a summary table. Do not stream raw logs into the conversation.</a:t>
            </a:r>
          </a:p>
        </p:txBody>
      </p:sp>
      <p:sp>
        <p:nvSpPr>
          <p:cNvPr id="17" name="Rounded Rectangle 16"/>
          <p:cNvSpPr/>
          <p:nvPr/>
        </p:nvSpPr>
        <p:spPr>
          <a:xfrm>
            <a:off x="7040880" y="3980688"/>
            <a:ext cx="4507992" cy="130302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242048" y="4145280"/>
            <a:ext cx="310896" cy="310896"/>
          </a:xfrm>
          <a:prstGeom prst="ellipse">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42048" y="4126992"/>
            <a:ext cx="310896" cy="310896"/>
          </a:xfrm>
          <a:prstGeom prst="rect">
            <a:avLst/>
          </a:prstGeom>
          <a:noFill/>
        </p:spPr>
        <p:txBody>
          <a:bodyPr wrap="square" anchor="ctr">
            <a:spAutoFit/>
          </a:bodyPr>
          <a:lstStyle/>
          <a:p>
            <a:pPr algn="ctr">
              <a:lnSpc>
                <a:spcPct val="100000"/>
              </a:lnSpc>
              <a:spcBef>
                <a:spcPts val="0"/>
              </a:spcBef>
              <a:spcAft>
                <a:spcPts val="200"/>
              </a:spcAft>
            </a:pPr>
            <a:r>
              <a:rPr sz="1300" b="1">
                <a:solidFill>
                  <a:srgbClr val="303036"/>
                </a:solidFill>
                <a:latin typeface="Instrument Sans"/>
              </a:rPr>
              <a:t>2</a:t>
            </a:r>
          </a:p>
        </p:txBody>
      </p:sp>
      <p:sp>
        <p:nvSpPr>
          <p:cNvPr id="20" name="TextBox 19"/>
          <p:cNvSpPr txBox="1"/>
          <p:nvPr/>
        </p:nvSpPr>
        <p:spPr>
          <a:xfrm>
            <a:off x="7699248" y="4364736"/>
            <a:ext cx="3593591" cy="864108"/>
          </a:xfrm>
          <a:prstGeom prst="rect">
            <a:avLst/>
          </a:prstGeom>
          <a:noFill/>
        </p:spPr>
        <p:txBody>
          <a:bodyPr wrap="square" anchor="t">
            <a:normAutofit/>
          </a:bodyPr>
          <a:lstStyle/>
          <a:p>
            <a:pPr algn="l">
              <a:lnSpc>
                <a:spcPct val="112000"/>
              </a:lnSpc>
              <a:spcBef>
                <a:spcPts val="0"/>
              </a:spcBef>
              <a:spcAft>
                <a:spcPts val="200"/>
              </a:spcAft>
            </a:pPr>
            <a:r>
              <a:rPr sz="1400" b="0">
                <a:solidFill>
                  <a:srgbClr val="C9C9D2"/>
                </a:solidFill>
                <a:latin typeface="Instrument Sans"/>
              </a:rPr>
              <a:t>Before you call tools one at a time, tell me: could a single script do this whole chain? If yes, write it.</a:t>
            </a:r>
          </a:p>
        </p:txBody>
      </p:sp>
      <p:sp>
        <p:nvSpPr>
          <p:cNvPr id="21" name="Rectangle 20"/>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3" name="TextBox 22"/>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pic>
        <p:nvPicPr>
          <p:cNvPr id="2" name="Picture 1" descr="bg_9.png"/>
          <p:cNvPicPr>
            <a:picLocks noChangeAspect="1"/>
          </p:cNvPicPr>
          <p:nvPr/>
        </p:nvPicPr>
        <p:blipFill>
          <a:blip r:embed="rId2"/>
          <a:stretch>
            <a:fillRect/>
          </a:stretch>
        </p:blipFill>
        <p:spPr>
          <a:xfrm>
            <a:off x="6355080" y="0"/>
            <a:ext cx="5833872" cy="6858000"/>
          </a:xfrm>
          <a:prstGeom prst="rect">
            <a:avLst/>
          </a:prstGeom>
        </p:spPr>
      </p:pic>
      <p:sp>
        <p:nvSpPr>
          <p:cNvPr id="3" name="Rectangle 2"/>
          <p:cNvSpPr/>
          <p:nvPr/>
        </p:nvSpPr>
        <p:spPr>
          <a:xfrm>
            <a:off x="6355080" y="0"/>
            <a:ext cx="32004" cy="6858000"/>
          </a:xfrm>
          <a:prstGeom prst="rect">
            <a:avLst/>
          </a:prstGeom>
          <a:solidFill>
            <a:srgbClr val="2F6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2542032"/>
            <a:ext cx="548640" cy="54864"/>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2706624"/>
            <a:ext cx="5486400" cy="365760"/>
          </a:xfrm>
          <a:prstGeom prst="rect">
            <a:avLst/>
          </a:prstGeom>
          <a:noFill/>
        </p:spPr>
        <p:txBody>
          <a:bodyPr wrap="square" anchor="t">
            <a:spAutoFit/>
          </a:bodyPr>
          <a:lstStyle/>
          <a:p>
            <a:pPr algn="l">
              <a:lnSpc>
                <a:spcPct val="100000"/>
              </a:lnSpc>
              <a:spcBef>
                <a:spcPts val="0"/>
              </a:spcBef>
              <a:spcAft>
                <a:spcPts val="200"/>
              </a:spcAft>
            </a:pPr>
            <a:r>
              <a:rPr sz="1300" b="1" spc="200">
                <a:solidFill>
                  <a:srgbClr val="8B8B93"/>
                </a:solidFill>
                <a:latin typeface="Instrument Sans"/>
              </a:rPr>
              <a:t>FLEX MODULE 5 - DAY 3</a:t>
            </a:r>
          </a:p>
        </p:txBody>
      </p:sp>
      <p:sp>
        <p:nvSpPr>
          <p:cNvPr id="6" name="TextBox 5"/>
          <p:cNvSpPr txBox="1"/>
          <p:nvPr/>
        </p:nvSpPr>
        <p:spPr>
          <a:xfrm>
            <a:off x="658368" y="3054096"/>
            <a:ext cx="5532120" cy="1783080"/>
          </a:xfrm>
          <a:prstGeom prst="rect">
            <a:avLst/>
          </a:prstGeom>
          <a:noFill/>
        </p:spPr>
        <p:txBody>
          <a:bodyPr wrap="square" anchor="t">
            <a:spAutoFit/>
          </a:bodyPr>
          <a:lstStyle/>
          <a:p>
            <a:pPr algn="l">
              <a:lnSpc>
                <a:spcPct val="102000"/>
              </a:lnSpc>
              <a:spcBef>
                <a:spcPts val="0"/>
              </a:spcBef>
              <a:spcAft>
                <a:spcPts val="200"/>
              </a:spcAft>
            </a:pPr>
            <a:r>
              <a:rPr sz="3400" b="1">
                <a:solidFill>
                  <a:srgbClr val="F5F5F6"/>
                </a:solidFill>
                <a:latin typeface="Instrument Sans"/>
              </a:rPr>
              <a:t>The Agent SDK in 15 Minutes</a:t>
            </a:r>
          </a:p>
        </p:txBody>
      </p:sp>
      <p:sp>
        <p:nvSpPr>
          <p:cNvPr id="7" name="TextBox 6"/>
          <p:cNvSpPr txBox="1"/>
          <p:nvPr/>
        </p:nvSpPr>
        <p:spPr>
          <a:xfrm>
            <a:off x="685800" y="4983480"/>
            <a:ext cx="5440680" cy="1005840"/>
          </a:xfrm>
          <a:prstGeom prst="rect">
            <a:avLst/>
          </a:prstGeom>
          <a:noFill/>
        </p:spPr>
        <p:txBody>
          <a:bodyPr wrap="square" anchor="t">
            <a:spAutoFit/>
          </a:bodyPr>
          <a:lstStyle/>
          <a:p>
            <a:pPr algn="l">
              <a:lnSpc>
                <a:spcPct val="115000"/>
              </a:lnSpc>
              <a:spcBef>
                <a:spcPts val="0"/>
              </a:spcBef>
              <a:spcAft>
                <a:spcPts val="200"/>
              </a:spcAft>
            </a:pPr>
            <a:r>
              <a:rPr sz="1750" b="0">
                <a:solidFill>
                  <a:srgbClr val="ACACB4"/>
                </a:solidFill>
                <a:latin typeface="Instrument Sans"/>
              </a:rPr>
              <a:t>Pull in when ahead - pairs with Day 3 Block 3 (Production &amp; CI/CD)</a:t>
            </a:r>
          </a:p>
        </p:txBody>
      </p:sp>
      <p:sp>
        <p:nvSpPr>
          <p:cNvPr id="8" name="Rectangle 7"/>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10" name="TextBox 9"/>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pic>
        <p:nvPicPr>
          <p:cNvPr id="2" name="Picture 1" descr="bg_10.png"/>
          <p:cNvPicPr>
            <a:picLocks noChangeAspect="1"/>
          </p:cNvPicPr>
          <p:nvPr/>
        </p:nvPicPr>
        <p:blipFill>
          <a:blip r:embed="rId2"/>
          <a:stretch>
            <a:fillRect/>
          </a:stretch>
        </p:blipFill>
        <p:spPr>
          <a:xfrm>
            <a:off x="0" y="0"/>
            <a:ext cx="4800600" cy="6437376"/>
          </a:xfrm>
          <a:prstGeom prst="rect">
            <a:avLst/>
          </a:prstGeom>
        </p:spPr>
      </p:pic>
      <p:sp>
        <p:nvSpPr>
          <p:cNvPr id="3" name="Rectangle 2"/>
          <p:cNvSpPr/>
          <p:nvPr/>
        </p:nvSpPr>
        <p:spPr>
          <a:xfrm>
            <a:off x="4800600" y="0"/>
            <a:ext cx="45720" cy="6858000"/>
          </a:xfrm>
          <a:prstGeom prst="rect">
            <a:avLst/>
          </a:prstGeom>
          <a:solidFill>
            <a:srgbClr val="2F6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49240" y="603504"/>
            <a:ext cx="6385255" cy="274320"/>
          </a:xfrm>
          <a:prstGeom prst="rect">
            <a:avLst/>
          </a:prstGeom>
          <a:noFill/>
        </p:spPr>
        <p:txBody>
          <a:bodyPr wrap="square" anchor="t">
            <a:spAutoFit/>
          </a:bodyPr>
          <a:lstStyle/>
          <a:p>
            <a:pPr algn="l">
              <a:lnSpc>
                <a:spcPct val="100000"/>
              </a:lnSpc>
              <a:spcBef>
                <a:spcPts val="0"/>
              </a:spcBef>
              <a:spcAft>
                <a:spcPts val="200"/>
              </a:spcAft>
            </a:pPr>
            <a:r>
              <a:rPr sz="1300" b="1" spc="160">
                <a:solidFill>
                  <a:srgbClr val="8B8B93"/>
                </a:solidFill>
                <a:latin typeface="Instrument Sans"/>
              </a:rPr>
              <a:t>CONCEPT</a:t>
            </a:r>
          </a:p>
        </p:txBody>
      </p:sp>
      <p:sp>
        <p:nvSpPr>
          <p:cNvPr id="5" name="TextBox 4"/>
          <p:cNvSpPr txBox="1"/>
          <p:nvPr/>
        </p:nvSpPr>
        <p:spPr>
          <a:xfrm>
            <a:off x="5349240" y="969264"/>
            <a:ext cx="6385255" cy="1143000"/>
          </a:xfrm>
          <a:prstGeom prst="rect">
            <a:avLst/>
          </a:prstGeom>
          <a:noFill/>
        </p:spPr>
        <p:txBody>
          <a:bodyPr wrap="square" anchor="t">
            <a:spAutoFit/>
          </a:bodyPr>
          <a:lstStyle/>
          <a:p>
            <a:pPr algn="l">
              <a:lnSpc>
                <a:spcPct val="105000"/>
              </a:lnSpc>
              <a:spcBef>
                <a:spcPts val="0"/>
              </a:spcBef>
              <a:spcAft>
                <a:spcPts val="200"/>
              </a:spcAft>
            </a:pPr>
            <a:r>
              <a:rPr sz="2700" b="1">
                <a:solidFill>
                  <a:srgbClr val="F5F5F6"/>
                </a:solidFill>
                <a:latin typeface="Instrument Sans"/>
              </a:rPr>
              <a:t>Claude Code as a library</a:t>
            </a:r>
          </a:p>
        </p:txBody>
      </p:sp>
      <p:sp>
        <p:nvSpPr>
          <p:cNvPr id="6" name="TextBox 5"/>
          <p:cNvSpPr txBox="1"/>
          <p:nvPr/>
        </p:nvSpPr>
        <p:spPr>
          <a:xfrm>
            <a:off x="5349240" y="2286000"/>
            <a:ext cx="6385255" cy="1097280"/>
          </a:xfrm>
          <a:prstGeom prst="rect">
            <a:avLst/>
          </a:prstGeom>
          <a:noFill/>
        </p:spPr>
        <p:txBody>
          <a:bodyPr wrap="square" anchor="t">
            <a:spAutoFit/>
          </a:bodyPr>
          <a:lstStyle/>
          <a:p>
            <a:pPr algn="l">
              <a:lnSpc>
                <a:spcPct val="125000"/>
              </a:lnSpc>
              <a:spcBef>
                <a:spcPts val="0"/>
              </a:spcBef>
              <a:spcAft>
                <a:spcPts val="200"/>
              </a:spcAft>
            </a:pPr>
            <a:r>
              <a:rPr sz="1500" b="0">
                <a:solidFill>
                  <a:srgbClr val="ACACB4"/>
                </a:solidFill>
                <a:latin typeface="Instrument Sans"/>
              </a:rPr>
              <a:t>The same agentic loop you have used for three days - importable.</a:t>
            </a:r>
          </a:p>
        </p:txBody>
      </p:sp>
      <p:sp>
        <p:nvSpPr>
          <p:cNvPr id="7" name="Rounded Rectangle 6"/>
          <p:cNvSpPr/>
          <p:nvPr/>
        </p:nvSpPr>
        <p:spPr>
          <a:xfrm>
            <a:off x="5349240" y="3474720"/>
            <a:ext cx="6385255" cy="85344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5623559" y="3617976"/>
            <a:ext cx="566928" cy="566928"/>
          </a:xfrm>
          <a:prstGeom prst="ellipse">
            <a:avLst/>
          </a:prstGeom>
          <a:solidFill>
            <a:srgbClr val="E6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park_2A2A30.png"/>
          <p:cNvPicPr>
            <a:picLocks noChangeAspect="1"/>
          </p:cNvPicPr>
          <p:nvPr/>
        </p:nvPicPr>
        <p:blipFill>
          <a:blip r:embed="rId3"/>
          <a:stretch>
            <a:fillRect/>
          </a:stretch>
        </p:blipFill>
        <p:spPr>
          <a:xfrm>
            <a:off x="5776630" y="3771046"/>
            <a:ext cx="260786" cy="260786"/>
          </a:xfrm>
          <a:prstGeom prst="rect">
            <a:avLst/>
          </a:prstGeom>
        </p:spPr>
      </p:pic>
      <p:sp>
        <p:nvSpPr>
          <p:cNvPr id="10" name="TextBox 9"/>
          <p:cNvSpPr txBox="1"/>
          <p:nvPr/>
        </p:nvSpPr>
        <p:spPr>
          <a:xfrm>
            <a:off x="6464807" y="3474720"/>
            <a:ext cx="5041087" cy="853440"/>
          </a:xfrm>
          <a:prstGeom prst="rect">
            <a:avLst/>
          </a:prstGeom>
          <a:noFill/>
        </p:spPr>
        <p:txBody>
          <a:bodyPr wrap="square" anchor="ctr">
            <a:spAutoFit/>
          </a:bodyPr>
          <a:lstStyle/>
          <a:p>
            <a:pPr algn="l">
              <a:lnSpc>
                <a:spcPct val="108000"/>
              </a:lnSpc>
              <a:spcBef>
                <a:spcPts val="0"/>
              </a:spcBef>
              <a:spcAft>
                <a:spcPts val="200"/>
              </a:spcAft>
            </a:pPr>
            <a:r>
              <a:rPr sz="1550" b="1">
                <a:solidFill>
                  <a:srgbClr val="F5F5F6"/>
                </a:solidFill>
                <a:latin typeface="Instrument Sans"/>
              </a:rPr>
              <a:t>Same loop</a:t>
            </a:r>
            <a:r>
              <a:rPr sz="1400" b="0">
                <a:solidFill>
                  <a:srgbClr val="ACACB4"/>
                </a:solidFill>
                <a:latin typeface="Instrument Sans"/>
              </a:rPr>
              <a:t>  -  gather context - act - verify, now inside your process</a:t>
            </a:r>
          </a:p>
        </p:txBody>
      </p:sp>
      <p:sp>
        <p:nvSpPr>
          <p:cNvPr id="11" name="Rounded Rectangle 10"/>
          <p:cNvSpPr/>
          <p:nvPr/>
        </p:nvSpPr>
        <p:spPr>
          <a:xfrm>
            <a:off x="5349240" y="4474464"/>
            <a:ext cx="6385255" cy="85344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623559" y="4617720"/>
            <a:ext cx="566928" cy="566928"/>
          </a:xfrm>
          <a:prstGeom prst="ellipse">
            <a:avLst/>
          </a:prstGeom>
          <a:solidFill>
            <a:srgbClr val="E6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apps_2A2A30.png"/>
          <p:cNvPicPr>
            <a:picLocks noChangeAspect="1"/>
          </p:cNvPicPr>
          <p:nvPr/>
        </p:nvPicPr>
        <p:blipFill>
          <a:blip r:embed="rId4"/>
          <a:stretch>
            <a:fillRect/>
          </a:stretch>
        </p:blipFill>
        <p:spPr>
          <a:xfrm>
            <a:off x="5776630" y="4770790"/>
            <a:ext cx="260786" cy="260786"/>
          </a:xfrm>
          <a:prstGeom prst="rect">
            <a:avLst/>
          </a:prstGeom>
        </p:spPr>
      </p:pic>
      <p:sp>
        <p:nvSpPr>
          <p:cNvPr id="14" name="TextBox 13"/>
          <p:cNvSpPr txBox="1"/>
          <p:nvPr/>
        </p:nvSpPr>
        <p:spPr>
          <a:xfrm>
            <a:off x="6464807" y="4474464"/>
            <a:ext cx="5041087" cy="853440"/>
          </a:xfrm>
          <a:prstGeom prst="rect">
            <a:avLst/>
          </a:prstGeom>
          <a:noFill/>
        </p:spPr>
        <p:txBody>
          <a:bodyPr wrap="square" anchor="ctr">
            <a:spAutoFit/>
          </a:bodyPr>
          <a:lstStyle/>
          <a:p>
            <a:pPr algn="l">
              <a:lnSpc>
                <a:spcPct val="108000"/>
              </a:lnSpc>
              <a:spcBef>
                <a:spcPts val="0"/>
              </a:spcBef>
              <a:spcAft>
                <a:spcPts val="200"/>
              </a:spcAft>
            </a:pPr>
            <a:r>
              <a:rPr sz="1550" b="1">
                <a:solidFill>
                  <a:srgbClr val="F5F5F6"/>
                </a:solidFill>
                <a:latin typeface="Instrument Sans"/>
              </a:rPr>
              <a:t>Python &amp; TypeScript</a:t>
            </a:r>
            <a:r>
              <a:rPr sz="1400" b="0">
                <a:solidFill>
                  <a:srgbClr val="ACACB4"/>
                </a:solidFill>
                <a:latin typeface="Instrument Sans"/>
              </a:rPr>
              <a:t>  -  official packages, same options as the CLI</a:t>
            </a:r>
          </a:p>
        </p:txBody>
      </p:sp>
      <p:sp>
        <p:nvSpPr>
          <p:cNvPr id="15" name="Rounded Rectangle 14"/>
          <p:cNvSpPr/>
          <p:nvPr/>
        </p:nvSpPr>
        <p:spPr>
          <a:xfrm>
            <a:off x="5349240" y="5474208"/>
            <a:ext cx="6385255" cy="85344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623559" y="5617463"/>
            <a:ext cx="566928" cy="566928"/>
          </a:xfrm>
          <a:prstGeom prst="ellipse">
            <a:avLst/>
          </a:prstGeom>
          <a:solidFill>
            <a:srgbClr val="E6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lock_2A2A30.png"/>
          <p:cNvPicPr>
            <a:picLocks noChangeAspect="1"/>
          </p:cNvPicPr>
          <p:nvPr/>
        </p:nvPicPr>
        <p:blipFill>
          <a:blip r:embed="rId5"/>
          <a:stretch>
            <a:fillRect/>
          </a:stretch>
        </p:blipFill>
        <p:spPr>
          <a:xfrm>
            <a:off x="5776630" y="5770534"/>
            <a:ext cx="260786" cy="260786"/>
          </a:xfrm>
          <a:prstGeom prst="rect">
            <a:avLst/>
          </a:prstGeom>
        </p:spPr>
      </p:pic>
      <p:sp>
        <p:nvSpPr>
          <p:cNvPr id="18" name="TextBox 17"/>
          <p:cNvSpPr txBox="1"/>
          <p:nvPr/>
        </p:nvSpPr>
        <p:spPr>
          <a:xfrm>
            <a:off x="6464807" y="5474208"/>
            <a:ext cx="5041087" cy="853440"/>
          </a:xfrm>
          <a:prstGeom prst="rect">
            <a:avLst/>
          </a:prstGeom>
          <a:noFill/>
        </p:spPr>
        <p:txBody>
          <a:bodyPr wrap="square" anchor="ctr">
            <a:spAutoFit/>
          </a:bodyPr>
          <a:lstStyle/>
          <a:p>
            <a:pPr algn="l">
              <a:lnSpc>
                <a:spcPct val="108000"/>
              </a:lnSpc>
              <a:spcBef>
                <a:spcPts val="0"/>
              </a:spcBef>
              <a:spcAft>
                <a:spcPts val="200"/>
              </a:spcAft>
            </a:pPr>
            <a:r>
              <a:rPr sz="1550" b="1">
                <a:solidFill>
                  <a:srgbClr val="F5F5F6"/>
                </a:solidFill>
                <a:latin typeface="Instrument Sans"/>
              </a:rPr>
              <a:t>Your guardrails</a:t>
            </a:r>
            <a:r>
              <a:rPr sz="1400" b="0">
                <a:solidFill>
                  <a:srgbClr val="ACACB4"/>
                </a:solidFill>
                <a:latin typeface="Instrument Sans"/>
              </a:rPr>
              <a:t>  -  tools, permissions, and hooks set in code</a:t>
            </a:r>
          </a:p>
        </p:txBody>
      </p:sp>
      <p:sp>
        <p:nvSpPr>
          <p:cNvPr id="19" name="Rectangle 18"/>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1" name="TextBox 20"/>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THE CALL</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Stay on -p, or graduate?</a:t>
            </a:r>
          </a:p>
        </p:txBody>
      </p:sp>
      <p:sp>
        <p:nvSpPr>
          <p:cNvPr id="4" name="Rounded Rectangle 3"/>
          <p:cNvSpPr/>
          <p:nvPr/>
        </p:nvSpPr>
        <p:spPr>
          <a:xfrm>
            <a:off x="640080" y="1874519"/>
            <a:ext cx="5285232"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heck_ACACB4.png"/>
          <p:cNvPicPr>
            <a:picLocks noChangeAspect="1"/>
          </p:cNvPicPr>
          <p:nvPr/>
        </p:nvPicPr>
        <p:blipFill>
          <a:blip r:embed="rId2"/>
          <a:stretch>
            <a:fillRect/>
          </a:stretch>
        </p:blipFill>
        <p:spPr>
          <a:xfrm>
            <a:off x="914400" y="2167127"/>
            <a:ext cx="384048" cy="384048"/>
          </a:xfrm>
          <a:prstGeom prst="rect">
            <a:avLst/>
          </a:prstGeom>
        </p:spPr>
      </p:pic>
      <p:sp>
        <p:nvSpPr>
          <p:cNvPr id="6" name="TextBox 5"/>
          <p:cNvSpPr txBox="1"/>
          <p:nvPr/>
        </p:nvSpPr>
        <p:spPr>
          <a:xfrm>
            <a:off x="1417319" y="2148839"/>
            <a:ext cx="4370832" cy="457200"/>
          </a:xfrm>
          <a:prstGeom prst="rect">
            <a:avLst/>
          </a:prstGeom>
          <a:noFill/>
        </p:spPr>
        <p:txBody>
          <a:bodyPr wrap="square" anchor="t">
            <a:spAutoFit/>
          </a:bodyPr>
          <a:lstStyle/>
          <a:p>
            <a:pPr algn="l">
              <a:lnSpc>
                <a:spcPct val="100000"/>
              </a:lnSpc>
              <a:spcBef>
                <a:spcPts val="0"/>
              </a:spcBef>
              <a:spcAft>
                <a:spcPts val="200"/>
              </a:spcAft>
            </a:pPr>
            <a:r>
              <a:rPr sz="2100" b="1">
                <a:solidFill>
                  <a:srgbClr val="F5F5F6"/>
                </a:solidFill>
                <a:latin typeface="Instrument Sans"/>
              </a:rPr>
              <a:t>Stay with claude -p</a:t>
            </a:r>
          </a:p>
        </p:txBody>
      </p:sp>
      <p:sp>
        <p:nvSpPr>
          <p:cNvPr id="7" name="Rectangle 6"/>
          <p:cNvSpPr/>
          <p:nvPr/>
        </p:nvSpPr>
        <p:spPr>
          <a:xfrm>
            <a:off x="932688" y="3291839"/>
            <a:ext cx="164592" cy="18288"/>
          </a:xfrm>
          <a:prstGeom prst="rect">
            <a:avLst/>
          </a:prstGeom>
          <a:solidFill>
            <a:srgbClr val="ACAC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43584" y="3017520"/>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One-shot jobs and CI steps</a:t>
            </a:r>
          </a:p>
        </p:txBody>
      </p:sp>
      <p:sp>
        <p:nvSpPr>
          <p:cNvPr id="9" name="Rectangle 8"/>
          <p:cNvSpPr/>
          <p:nvPr/>
        </p:nvSpPr>
        <p:spPr>
          <a:xfrm>
            <a:off x="932688" y="3858768"/>
            <a:ext cx="164592" cy="18288"/>
          </a:xfrm>
          <a:prstGeom prst="rect">
            <a:avLst/>
          </a:prstGeom>
          <a:solidFill>
            <a:srgbClr val="ACAC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43584" y="3584448"/>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Shell-native glue is enough</a:t>
            </a:r>
          </a:p>
        </p:txBody>
      </p:sp>
      <p:sp>
        <p:nvSpPr>
          <p:cNvPr id="11" name="Rectangle 10"/>
          <p:cNvSpPr/>
          <p:nvPr/>
        </p:nvSpPr>
        <p:spPr>
          <a:xfrm>
            <a:off x="932688" y="4425696"/>
            <a:ext cx="164592" cy="18288"/>
          </a:xfrm>
          <a:prstGeom prst="rect">
            <a:avLst/>
          </a:prstGeom>
          <a:solidFill>
            <a:srgbClr val="ACAC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43584" y="4151376"/>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Humans read the output</a:t>
            </a:r>
          </a:p>
        </p:txBody>
      </p:sp>
      <p:sp>
        <p:nvSpPr>
          <p:cNvPr id="13" name="Rounded Rectangle 12"/>
          <p:cNvSpPr/>
          <p:nvPr/>
        </p:nvSpPr>
        <p:spPr>
          <a:xfrm>
            <a:off x="6199632" y="1874519"/>
            <a:ext cx="5285232" cy="3063240"/>
          </a:xfrm>
          <a:prstGeom prst="roundRect">
            <a:avLst>
              <a:gd name="adj" fmla="val 6000"/>
            </a:avLst>
          </a:prstGeom>
          <a:solidFill>
            <a:srgbClr val="34343A"/>
          </a:solidFill>
          <a:ln w="19050">
            <a:solidFill>
              <a:srgbClr val="2E6E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rocket_46B17A.png"/>
          <p:cNvPicPr>
            <a:picLocks noChangeAspect="1"/>
          </p:cNvPicPr>
          <p:nvPr/>
        </p:nvPicPr>
        <p:blipFill>
          <a:blip r:embed="rId3"/>
          <a:stretch>
            <a:fillRect/>
          </a:stretch>
        </p:blipFill>
        <p:spPr>
          <a:xfrm>
            <a:off x="6473952" y="2167127"/>
            <a:ext cx="384048" cy="384048"/>
          </a:xfrm>
          <a:prstGeom prst="rect">
            <a:avLst/>
          </a:prstGeom>
        </p:spPr>
      </p:pic>
      <p:sp>
        <p:nvSpPr>
          <p:cNvPr id="15" name="TextBox 14"/>
          <p:cNvSpPr txBox="1"/>
          <p:nvPr/>
        </p:nvSpPr>
        <p:spPr>
          <a:xfrm>
            <a:off x="6976872" y="2148839"/>
            <a:ext cx="4370832" cy="457200"/>
          </a:xfrm>
          <a:prstGeom prst="rect">
            <a:avLst/>
          </a:prstGeom>
          <a:noFill/>
        </p:spPr>
        <p:txBody>
          <a:bodyPr wrap="square" anchor="t">
            <a:spAutoFit/>
          </a:bodyPr>
          <a:lstStyle/>
          <a:p>
            <a:pPr algn="l">
              <a:lnSpc>
                <a:spcPct val="100000"/>
              </a:lnSpc>
              <a:spcBef>
                <a:spcPts val="0"/>
              </a:spcBef>
              <a:spcAft>
                <a:spcPts val="200"/>
              </a:spcAft>
            </a:pPr>
            <a:r>
              <a:rPr sz="2100" b="1">
                <a:solidFill>
                  <a:srgbClr val="F5F5F6"/>
                </a:solidFill>
                <a:latin typeface="Instrument Sans"/>
              </a:rPr>
              <a:t>Graduate to the SDK</a:t>
            </a:r>
          </a:p>
        </p:txBody>
      </p:sp>
      <p:sp>
        <p:nvSpPr>
          <p:cNvPr id="16" name="Rectangle 15"/>
          <p:cNvSpPr/>
          <p:nvPr/>
        </p:nvSpPr>
        <p:spPr>
          <a:xfrm>
            <a:off x="6492240" y="3291839"/>
            <a:ext cx="164592" cy="18288"/>
          </a:xfrm>
          <a:prstGeom prst="rect">
            <a:avLst/>
          </a:prstGeom>
          <a:solidFill>
            <a:srgbClr val="46B1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03136" y="3017520"/>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Custom tools run in-process</a:t>
            </a:r>
          </a:p>
        </p:txBody>
      </p:sp>
      <p:sp>
        <p:nvSpPr>
          <p:cNvPr id="18" name="Rectangle 17"/>
          <p:cNvSpPr/>
          <p:nvPr/>
        </p:nvSpPr>
        <p:spPr>
          <a:xfrm>
            <a:off x="6492240" y="3858768"/>
            <a:ext cx="164592" cy="18288"/>
          </a:xfrm>
          <a:prstGeom prst="rect">
            <a:avLst/>
          </a:prstGeom>
          <a:solidFill>
            <a:srgbClr val="46B1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03136" y="3584448"/>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Multi-turn state your app owns</a:t>
            </a:r>
          </a:p>
        </p:txBody>
      </p:sp>
      <p:sp>
        <p:nvSpPr>
          <p:cNvPr id="20" name="Rectangle 19"/>
          <p:cNvSpPr/>
          <p:nvPr/>
        </p:nvSpPr>
        <p:spPr>
          <a:xfrm>
            <a:off x="6492240" y="4425696"/>
            <a:ext cx="164592" cy="18288"/>
          </a:xfrm>
          <a:prstGeom prst="rect">
            <a:avLst/>
          </a:prstGeom>
          <a:solidFill>
            <a:srgbClr val="46B1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03136" y="4151376"/>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The agent IS the product</a:t>
            </a:r>
          </a:p>
        </p:txBody>
      </p:sp>
      <p:sp>
        <p:nvSpPr>
          <p:cNvPr id="22" name="Rounded Rectangle 21"/>
          <p:cNvSpPr/>
          <p:nvPr/>
        </p:nvSpPr>
        <p:spPr>
          <a:xfrm>
            <a:off x="640080" y="5138928"/>
            <a:ext cx="10908792" cy="713232"/>
          </a:xfrm>
          <a:prstGeom prst="roundRect">
            <a:avLst>
              <a:gd name="adj" fmla="val 16000"/>
            </a:avLst>
          </a:prstGeom>
          <a:solidFill>
            <a:srgbClr val="16324F"/>
          </a:solidFill>
          <a:ln w="9525">
            <a:solidFill>
              <a:srgbClr val="2F6F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info_4C8DF0.png"/>
          <p:cNvPicPr>
            <a:picLocks noChangeAspect="1"/>
          </p:cNvPicPr>
          <p:nvPr/>
        </p:nvPicPr>
        <p:blipFill>
          <a:blip r:embed="rId4"/>
          <a:stretch>
            <a:fillRect/>
          </a:stretch>
        </p:blipFill>
        <p:spPr>
          <a:xfrm>
            <a:off x="877824" y="5312664"/>
            <a:ext cx="365760" cy="365760"/>
          </a:xfrm>
          <a:prstGeom prst="rect">
            <a:avLst/>
          </a:prstGeom>
        </p:spPr>
      </p:pic>
      <p:sp>
        <p:nvSpPr>
          <p:cNvPr id="24" name="TextBox 23"/>
          <p:cNvSpPr txBox="1"/>
          <p:nvPr/>
        </p:nvSpPr>
        <p:spPr>
          <a:xfrm>
            <a:off x="1371600" y="5138928"/>
            <a:ext cx="9994392" cy="713232"/>
          </a:xfrm>
          <a:prstGeom prst="rect">
            <a:avLst/>
          </a:prstGeom>
          <a:noFill/>
        </p:spPr>
        <p:txBody>
          <a:bodyPr wrap="square" anchor="ctr">
            <a:spAutoFit/>
          </a:bodyPr>
          <a:lstStyle/>
          <a:p>
            <a:pPr algn="l">
              <a:lnSpc>
                <a:spcPct val="100000"/>
              </a:lnSpc>
              <a:spcBef>
                <a:spcPts val="0"/>
              </a:spcBef>
              <a:spcAft>
                <a:spcPts val="200"/>
              </a:spcAft>
            </a:pPr>
            <a:r>
              <a:rPr sz="1500" b="0">
                <a:solidFill>
                  <a:srgbClr val="CAD8F2"/>
                </a:solidFill>
                <a:latin typeface="Instrument Sans"/>
              </a:rPr>
              <a:t>Rule of thumb: the moment you're parsing -p output to make decisions in code, you wanted the SDK.</a:t>
            </a:r>
          </a:p>
        </p:txBody>
      </p:sp>
      <p:sp>
        <p:nvSpPr>
          <p:cNvPr id="25" name="Rectangle 24"/>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7" name="TextBox 26"/>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FOLLOW ALONG</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Paste this: hello, agent</a:t>
            </a:r>
          </a:p>
        </p:txBody>
      </p:sp>
      <p:sp>
        <p:nvSpPr>
          <p:cNvPr id="4" name="Rounded Rectangle 3"/>
          <p:cNvSpPr/>
          <p:nvPr/>
        </p:nvSpPr>
        <p:spPr>
          <a:xfrm>
            <a:off x="640080" y="1828800"/>
            <a:ext cx="6126480" cy="4206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084832"/>
            <a:ext cx="5577840" cy="457200"/>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What you are practicing</a:t>
            </a:r>
          </a:p>
        </p:txBody>
      </p:sp>
      <p:sp>
        <p:nvSpPr>
          <p:cNvPr id="6" name="Rectangle 5"/>
          <p:cNvSpPr/>
          <p:nvPr/>
        </p:nvSpPr>
        <p:spPr>
          <a:xfrm>
            <a:off x="914400" y="2852928"/>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07008" y="2743200"/>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Install is one line per language</a:t>
            </a:r>
          </a:p>
        </p:txBody>
      </p:sp>
      <p:sp>
        <p:nvSpPr>
          <p:cNvPr id="8" name="Rectangle 7"/>
          <p:cNvSpPr/>
          <p:nvPr/>
        </p:nvSpPr>
        <p:spPr>
          <a:xfrm>
            <a:off x="914400" y="3419856"/>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07008" y="3310128"/>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query() mirrors claude -p</a:t>
            </a:r>
          </a:p>
        </p:txBody>
      </p:sp>
      <p:sp>
        <p:nvSpPr>
          <p:cNvPr id="10" name="Rectangle 9"/>
          <p:cNvSpPr/>
          <p:nvPr/>
        </p:nvSpPr>
        <p:spPr>
          <a:xfrm>
            <a:off x="914400" y="3986784"/>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07008" y="3877056"/>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CLI knowledge transfers whole</a:t>
            </a:r>
          </a:p>
        </p:txBody>
      </p:sp>
      <p:sp>
        <p:nvSpPr>
          <p:cNvPr id="12" name="TextBox 11"/>
          <p:cNvSpPr txBox="1"/>
          <p:nvPr/>
        </p:nvSpPr>
        <p:spPr>
          <a:xfrm>
            <a:off x="7040880" y="1810512"/>
            <a:ext cx="4507992" cy="365760"/>
          </a:xfrm>
          <a:prstGeom prst="rect">
            <a:avLst/>
          </a:prstGeom>
          <a:noFill/>
        </p:spPr>
        <p:txBody>
          <a:bodyPr wrap="square" anchor="t">
            <a:spAutoFit/>
          </a:bodyPr>
          <a:lstStyle/>
          <a:p>
            <a:pPr algn="l">
              <a:lnSpc>
                <a:spcPct val="100000"/>
              </a:lnSpc>
              <a:spcBef>
                <a:spcPts val="0"/>
              </a:spcBef>
              <a:spcAft>
                <a:spcPts val="200"/>
              </a:spcAft>
            </a:pPr>
            <a:r>
              <a:rPr sz="1300" b="1" spc="150">
                <a:solidFill>
                  <a:srgbClr val="8B8B93"/>
                </a:solidFill>
                <a:latin typeface="Instrument Sans"/>
              </a:rPr>
              <a:t>PASTE THIS</a:t>
            </a:r>
          </a:p>
        </p:txBody>
      </p:sp>
      <p:sp>
        <p:nvSpPr>
          <p:cNvPr id="13" name="Rounded Rectangle 12"/>
          <p:cNvSpPr/>
          <p:nvPr/>
        </p:nvSpPr>
        <p:spPr>
          <a:xfrm>
            <a:off x="7040880" y="2286000"/>
            <a:ext cx="4507992" cy="812292"/>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242048" y="2450592"/>
            <a:ext cx="310896" cy="310896"/>
          </a:xfrm>
          <a:prstGeom prst="ellipse">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42048" y="2432304"/>
            <a:ext cx="310896" cy="310896"/>
          </a:xfrm>
          <a:prstGeom prst="rect">
            <a:avLst/>
          </a:prstGeom>
          <a:noFill/>
        </p:spPr>
        <p:txBody>
          <a:bodyPr wrap="square" anchor="ctr">
            <a:spAutoFit/>
          </a:bodyPr>
          <a:lstStyle/>
          <a:p>
            <a:pPr algn="ctr">
              <a:lnSpc>
                <a:spcPct val="100000"/>
              </a:lnSpc>
              <a:spcBef>
                <a:spcPts val="0"/>
              </a:spcBef>
              <a:spcAft>
                <a:spcPts val="200"/>
              </a:spcAft>
            </a:pPr>
            <a:r>
              <a:rPr sz="1300" b="1">
                <a:solidFill>
                  <a:srgbClr val="303036"/>
                </a:solidFill>
                <a:latin typeface="Instrument Sans"/>
              </a:rPr>
              <a:t>1</a:t>
            </a:r>
          </a:p>
        </p:txBody>
      </p:sp>
      <p:sp>
        <p:nvSpPr>
          <p:cNvPr id="16" name="TextBox 15"/>
          <p:cNvSpPr txBox="1"/>
          <p:nvPr/>
        </p:nvSpPr>
        <p:spPr>
          <a:xfrm>
            <a:off x="7699248" y="2670048"/>
            <a:ext cx="3593591" cy="373380"/>
          </a:xfrm>
          <a:prstGeom prst="rect">
            <a:avLst/>
          </a:prstGeom>
          <a:noFill/>
        </p:spPr>
        <p:txBody>
          <a:bodyPr wrap="square" anchor="t">
            <a:normAutofit/>
          </a:bodyPr>
          <a:lstStyle/>
          <a:p>
            <a:pPr algn="l">
              <a:lnSpc>
                <a:spcPct val="112000"/>
              </a:lnSpc>
              <a:spcBef>
                <a:spcPts val="0"/>
              </a:spcBef>
              <a:spcAft>
                <a:spcPts val="200"/>
              </a:spcAft>
            </a:pPr>
            <a:r>
              <a:rPr sz="1400" b="0">
                <a:solidFill>
                  <a:srgbClr val="C9C9D2"/>
                </a:solidFill>
                <a:latin typeface="Instrument Sans"/>
              </a:rPr>
              <a:t>pip install claude-agent-sdk</a:t>
            </a:r>
          </a:p>
        </p:txBody>
      </p:sp>
      <p:sp>
        <p:nvSpPr>
          <p:cNvPr id="17" name="Rounded Rectangle 16"/>
          <p:cNvSpPr/>
          <p:nvPr/>
        </p:nvSpPr>
        <p:spPr>
          <a:xfrm>
            <a:off x="7040880" y="3244596"/>
            <a:ext cx="4507992" cy="130302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242048" y="3409188"/>
            <a:ext cx="310896" cy="310896"/>
          </a:xfrm>
          <a:prstGeom prst="ellipse">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42048" y="3390900"/>
            <a:ext cx="310896" cy="310896"/>
          </a:xfrm>
          <a:prstGeom prst="rect">
            <a:avLst/>
          </a:prstGeom>
          <a:noFill/>
        </p:spPr>
        <p:txBody>
          <a:bodyPr wrap="square" anchor="ctr">
            <a:spAutoFit/>
          </a:bodyPr>
          <a:lstStyle/>
          <a:p>
            <a:pPr algn="ctr">
              <a:lnSpc>
                <a:spcPct val="100000"/>
              </a:lnSpc>
              <a:spcBef>
                <a:spcPts val="0"/>
              </a:spcBef>
              <a:spcAft>
                <a:spcPts val="200"/>
              </a:spcAft>
            </a:pPr>
            <a:r>
              <a:rPr sz="1300" b="1">
                <a:solidFill>
                  <a:srgbClr val="303036"/>
                </a:solidFill>
                <a:latin typeface="Instrument Sans"/>
              </a:rPr>
              <a:t>2</a:t>
            </a:r>
          </a:p>
        </p:txBody>
      </p:sp>
      <p:sp>
        <p:nvSpPr>
          <p:cNvPr id="20" name="TextBox 19"/>
          <p:cNvSpPr txBox="1"/>
          <p:nvPr/>
        </p:nvSpPr>
        <p:spPr>
          <a:xfrm>
            <a:off x="7699248" y="3628644"/>
            <a:ext cx="3593591" cy="864108"/>
          </a:xfrm>
          <a:prstGeom prst="rect">
            <a:avLst/>
          </a:prstGeom>
          <a:noFill/>
        </p:spPr>
        <p:txBody>
          <a:bodyPr wrap="square" anchor="t">
            <a:normAutofit/>
          </a:bodyPr>
          <a:lstStyle/>
          <a:p>
            <a:pPr algn="l">
              <a:lnSpc>
                <a:spcPct val="112000"/>
              </a:lnSpc>
              <a:spcBef>
                <a:spcPts val="0"/>
              </a:spcBef>
              <a:spcAft>
                <a:spcPts val="200"/>
              </a:spcAft>
            </a:pPr>
            <a:r>
              <a:rPr sz="1400" b="0">
                <a:solidFill>
                  <a:srgbClr val="C9C9D2"/>
                </a:solidFill>
                <a:latin typeface="Instrument Sans"/>
              </a:rPr>
              <a:t>from claude_agent_sdk import query
async for msg in query(prompt="Summarize this repo's state"):
    print(msg)</a:t>
            </a:r>
          </a:p>
        </p:txBody>
      </p:sp>
      <p:sp>
        <p:nvSpPr>
          <p:cNvPr id="21" name="Rounded Rectangle 20"/>
          <p:cNvSpPr/>
          <p:nvPr/>
        </p:nvSpPr>
        <p:spPr>
          <a:xfrm>
            <a:off x="7040880" y="4693920"/>
            <a:ext cx="4507992" cy="812292"/>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242048" y="4858511"/>
            <a:ext cx="310896" cy="310896"/>
          </a:xfrm>
          <a:prstGeom prst="ellipse">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242048" y="4840224"/>
            <a:ext cx="310896" cy="310896"/>
          </a:xfrm>
          <a:prstGeom prst="rect">
            <a:avLst/>
          </a:prstGeom>
          <a:noFill/>
        </p:spPr>
        <p:txBody>
          <a:bodyPr wrap="square" anchor="ctr">
            <a:spAutoFit/>
          </a:bodyPr>
          <a:lstStyle/>
          <a:p>
            <a:pPr algn="ctr">
              <a:lnSpc>
                <a:spcPct val="100000"/>
              </a:lnSpc>
              <a:spcBef>
                <a:spcPts val="0"/>
              </a:spcBef>
              <a:spcAft>
                <a:spcPts val="200"/>
              </a:spcAft>
            </a:pPr>
            <a:r>
              <a:rPr sz="1300" b="1">
                <a:solidFill>
                  <a:srgbClr val="303036"/>
                </a:solidFill>
                <a:latin typeface="Instrument Sans"/>
              </a:rPr>
              <a:t>3</a:t>
            </a:r>
          </a:p>
        </p:txBody>
      </p:sp>
      <p:sp>
        <p:nvSpPr>
          <p:cNvPr id="24" name="TextBox 23"/>
          <p:cNvSpPr txBox="1"/>
          <p:nvPr/>
        </p:nvSpPr>
        <p:spPr>
          <a:xfrm>
            <a:off x="7699248" y="5077967"/>
            <a:ext cx="3593591" cy="373380"/>
          </a:xfrm>
          <a:prstGeom prst="rect">
            <a:avLst/>
          </a:prstGeom>
          <a:noFill/>
        </p:spPr>
        <p:txBody>
          <a:bodyPr wrap="square" anchor="t">
            <a:normAutofit/>
          </a:bodyPr>
          <a:lstStyle/>
          <a:p>
            <a:pPr algn="l">
              <a:lnSpc>
                <a:spcPct val="112000"/>
              </a:lnSpc>
              <a:spcBef>
                <a:spcPts val="0"/>
              </a:spcBef>
              <a:spcAft>
                <a:spcPts val="200"/>
              </a:spcAft>
            </a:pPr>
            <a:r>
              <a:rPr sz="1400" b="0">
                <a:solidFill>
                  <a:srgbClr val="C9C9D2"/>
                </a:solidFill>
                <a:latin typeface="Instrument Sans"/>
              </a:rPr>
              <a:t>npm install @anthropic-ai/claude-agent-sdk</a:t>
            </a:r>
          </a:p>
        </p:txBody>
      </p:sp>
      <p:sp>
        <p:nvSpPr>
          <p:cNvPr id="25" name="Rectangle 24"/>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7" name="TextBox 26"/>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ECONOMICS</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Know your meter</a:t>
            </a:r>
          </a:p>
        </p:txBody>
      </p:sp>
      <p:sp>
        <p:nvSpPr>
          <p:cNvPr id="4" name="TextBox 3"/>
          <p:cNvSpPr txBox="1"/>
          <p:nvPr/>
        </p:nvSpPr>
        <p:spPr>
          <a:xfrm>
            <a:off x="640080" y="1572768"/>
            <a:ext cx="10424160" cy="548640"/>
          </a:xfrm>
          <a:prstGeom prst="rect">
            <a:avLst/>
          </a:prstGeom>
          <a:noFill/>
        </p:spPr>
        <p:txBody>
          <a:bodyPr wrap="square" anchor="t">
            <a:spAutoFit/>
          </a:bodyPr>
          <a:lstStyle/>
          <a:p>
            <a:pPr algn="l">
              <a:lnSpc>
                <a:spcPct val="120000"/>
              </a:lnSpc>
              <a:spcBef>
                <a:spcPts val="0"/>
              </a:spcBef>
              <a:spcAft>
                <a:spcPts val="200"/>
              </a:spcAft>
            </a:pPr>
            <a:r>
              <a:rPr sz="1800" b="0">
                <a:solidFill>
                  <a:srgbClr val="ACACB4"/>
                </a:solidFill>
                <a:latin typeface="Instrument Sans"/>
              </a:rPr>
              <a:t>Three billing paths - do not discover which one you're on in production.</a:t>
            </a:r>
          </a:p>
        </p:txBody>
      </p:sp>
      <p:sp>
        <p:nvSpPr>
          <p:cNvPr id="5" name="Rounded Rectangle 4"/>
          <p:cNvSpPr/>
          <p:nvPr/>
        </p:nvSpPr>
        <p:spPr>
          <a:xfrm>
            <a:off x="640080"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77824"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user_2A2A30.png"/>
          <p:cNvPicPr>
            <a:picLocks noChangeAspect="1"/>
          </p:cNvPicPr>
          <p:nvPr/>
        </p:nvPicPr>
        <p:blipFill>
          <a:blip r:embed="rId2"/>
          <a:stretch>
            <a:fillRect/>
          </a:stretch>
        </p:blipFill>
        <p:spPr>
          <a:xfrm>
            <a:off x="1005840" y="2756916"/>
            <a:ext cx="219456" cy="219456"/>
          </a:xfrm>
          <a:prstGeom prst="rect">
            <a:avLst/>
          </a:prstGeom>
        </p:spPr>
      </p:pic>
      <p:sp>
        <p:nvSpPr>
          <p:cNvPr id="8" name="TextBox 7"/>
          <p:cNvSpPr txBox="1"/>
          <p:nvPr/>
        </p:nvSpPr>
        <p:spPr>
          <a:xfrm>
            <a:off x="877824"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Subscription</a:t>
            </a:r>
          </a:p>
        </p:txBody>
      </p:sp>
      <p:sp>
        <p:nvSpPr>
          <p:cNvPr id="9" name="TextBox 8"/>
          <p:cNvSpPr txBox="1"/>
          <p:nvPr/>
        </p:nvSpPr>
        <p:spPr>
          <a:xfrm>
            <a:off x="877824"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Interactive CLI use rides your Claude plan.</a:t>
            </a:r>
          </a:p>
        </p:txBody>
      </p:sp>
      <p:sp>
        <p:nvSpPr>
          <p:cNvPr id="10" name="Rounded Rectangle 9"/>
          <p:cNvSpPr/>
          <p:nvPr/>
        </p:nvSpPr>
        <p:spPr>
          <a:xfrm>
            <a:off x="4367784"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605528"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hart_2A2A30.png"/>
          <p:cNvPicPr>
            <a:picLocks noChangeAspect="1"/>
          </p:cNvPicPr>
          <p:nvPr/>
        </p:nvPicPr>
        <p:blipFill>
          <a:blip r:embed="rId3"/>
          <a:stretch>
            <a:fillRect/>
          </a:stretch>
        </p:blipFill>
        <p:spPr>
          <a:xfrm>
            <a:off x="4733544" y="2756916"/>
            <a:ext cx="219456" cy="219456"/>
          </a:xfrm>
          <a:prstGeom prst="rect">
            <a:avLst/>
          </a:prstGeom>
        </p:spPr>
      </p:pic>
      <p:sp>
        <p:nvSpPr>
          <p:cNvPr id="13" name="TextBox 12"/>
          <p:cNvSpPr txBox="1"/>
          <p:nvPr/>
        </p:nvSpPr>
        <p:spPr>
          <a:xfrm>
            <a:off x="4605528"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API / cloud</a:t>
            </a:r>
          </a:p>
        </p:txBody>
      </p:sp>
      <p:sp>
        <p:nvSpPr>
          <p:cNvPr id="14" name="TextBox 13"/>
          <p:cNvSpPr txBox="1"/>
          <p:nvPr/>
        </p:nvSpPr>
        <p:spPr>
          <a:xfrm>
            <a:off x="4605528"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Per-token billing - the production default.</a:t>
            </a:r>
          </a:p>
        </p:txBody>
      </p:sp>
      <p:sp>
        <p:nvSpPr>
          <p:cNvPr id="15" name="Rounded Rectangle 14"/>
          <p:cNvSpPr/>
          <p:nvPr/>
        </p:nvSpPr>
        <p:spPr>
          <a:xfrm>
            <a:off x="8095488"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333232"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lock_2A2A30.png"/>
          <p:cNvPicPr>
            <a:picLocks noChangeAspect="1"/>
          </p:cNvPicPr>
          <p:nvPr/>
        </p:nvPicPr>
        <p:blipFill>
          <a:blip r:embed="rId4"/>
          <a:stretch>
            <a:fillRect/>
          </a:stretch>
        </p:blipFill>
        <p:spPr>
          <a:xfrm>
            <a:off x="8461248" y="2756916"/>
            <a:ext cx="219456" cy="219456"/>
          </a:xfrm>
          <a:prstGeom prst="rect">
            <a:avLst/>
          </a:prstGeom>
        </p:spPr>
      </p:pic>
      <p:sp>
        <p:nvSpPr>
          <p:cNvPr id="18" name="TextBox 17"/>
          <p:cNvSpPr txBox="1"/>
          <p:nvPr/>
        </p:nvSpPr>
        <p:spPr>
          <a:xfrm>
            <a:off x="8333232"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SDK plan credit</a:t>
            </a:r>
          </a:p>
        </p:txBody>
      </p:sp>
      <p:sp>
        <p:nvSpPr>
          <p:cNvPr id="19" name="TextBox 18"/>
          <p:cNvSpPr txBox="1"/>
          <p:nvPr/>
        </p:nvSpPr>
        <p:spPr>
          <a:xfrm>
            <a:off x="8333232"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Eligible paid plans get a separate monthly Agent SDK credit.</a:t>
            </a:r>
          </a:p>
        </p:txBody>
      </p:sp>
      <p:sp>
        <p:nvSpPr>
          <p:cNvPr id="20" name="Rounded Rectangle 19"/>
          <p:cNvSpPr/>
          <p:nvPr/>
        </p:nvSpPr>
        <p:spPr>
          <a:xfrm>
            <a:off x="640080" y="5760720"/>
            <a:ext cx="10908792" cy="658368"/>
          </a:xfrm>
          <a:prstGeom prst="roundRect">
            <a:avLst>
              <a:gd name="adj" fmla="val 16000"/>
            </a:avLst>
          </a:prstGeom>
          <a:solidFill>
            <a:srgbClr val="3A2F0A"/>
          </a:solidFill>
          <a:ln w="9525">
            <a:solidFill>
              <a:srgbClr val="8A6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warn_E0A93A.png"/>
          <p:cNvPicPr>
            <a:picLocks noChangeAspect="1"/>
          </p:cNvPicPr>
          <p:nvPr/>
        </p:nvPicPr>
        <p:blipFill>
          <a:blip r:embed="rId5"/>
          <a:stretch>
            <a:fillRect/>
          </a:stretch>
        </p:blipFill>
        <p:spPr>
          <a:xfrm>
            <a:off x="877824" y="5907024"/>
            <a:ext cx="365760" cy="365760"/>
          </a:xfrm>
          <a:prstGeom prst="rect">
            <a:avLst/>
          </a:prstGeom>
        </p:spPr>
      </p:pic>
      <p:sp>
        <p:nvSpPr>
          <p:cNvPr id="22" name="TextBox 21"/>
          <p:cNvSpPr txBox="1"/>
          <p:nvPr/>
        </p:nvSpPr>
        <p:spPr>
          <a:xfrm>
            <a:off x="1371600" y="5760720"/>
            <a:ext cx="9994392" cy="658368"/>
          </a:xfrm>
          <a:prstGeom prst="rect">
            <a:avLst/>
          </a:prstGeom>
          <a:noFill/>
        </p:spPr>
        <p:txBody>
          <a:bodyPr wrap="square" anchor="ctr">
            <a:spAutoFit/>
          </a:bodyPr>
          <a:lstStyle/>
          <a:p>
            <a:pPr algn="l">
              <a:lnSpc>
                <a:spcPct val="100000"/>
              </a:lnSpc>
              <a:spcBef>
                <a:spcPts val="0"/>
              </a:spcBef>
              <a:spcAft>
                <a:spcPts val="200"/>
              </a:spcAft>
            </a:pPr>
            <a:r>
              <a:rPr sz="1500" b="0">
                <a:solidFill>
                  <a:srgbClr val="F0D9A6"/>
                </a:solidFill>
                <a:latin typeface="Instrument Sans"/>
              </a:rPr>
              <a:t>The SDK credit is a separate MONTHLY credit, NOT a weekly pool - sizing/eligibility vary by plan, confirm the support doc at delivery.</a:t>
            </a:r>
          </a:p>
        </p:txBody>
      </p:sp>
      <p:sp>
        <p:nvSpPr>
          <p:cNvPr id="23" name="Rectangle 22"/>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5" name="TextBox 24"/>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pic>
        <p:nvPicPr>
          <p:cNvPr id="2" name="Picture 1" descr="bg_11.png"/>
          <p:cNvPicPr>
            <a:picLocks noChangeAspect="1"/>
          </p:cNvPicPr>
          <p:nvPr/>
        </p:nvPicPr>
        <p:blipFill>
          <a:blip r:embed="rId2"/>
          <a:stretch>
            <a:fillRect/>
          </a:stretch>
        </p:blipFill>
        <p:spPr>
          <a:xfrm>
            <a:off x="6355080" y="0"/>
            <a:ext cx="5833872" cy="6858000"/>
          </a:xfrm>
          <a:prstGeom prst="rect">
            <a:avLst/>
          </a:prstGeom>
        </p:spPr>
      </p:pic>
      <p:sp>
        <p:nvSpPr>
          <p:cNvPr id="3" name="Rectangle 2"/>
          <p:cNvSpPr/>
          <p:nvPr/>
        </p:nvSpPr>
        <p:spPr>
          <a:xfrm>
            <a:off x="6355080" y="0"/>
            <a:ext cx="32004" cy="6858000"/>
          </a:xfrm>
          <a:prstGeom prst="rect">
            <a:avLst/>
          </a:prstGeom>
          <a:solidFill>
            <a:srgbClr val="2F6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2542032"/>
            <a:ext cx="548640" cy="54864"/>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2706624"/>
            <a:ext cx="5486400" cy="365760"/>
          </a:xfrm>
          <a:prstGeom prst="rect">
            <a:avLst/>
          </a:prstGeom>
          <a:noFill/>
        </p:spPr>
        <p:txBody>
          <a:bodyPr wrap="square" anchor="t">
            <a:spAutoFit/>
          </a:bodyPr>
          <a:lstStyle/>
          <a:p>
            <a:pPr algn="l">
              <a:lnSpc>
                <a:spcPct val="100000"/>
              </a:lnSpc>
              <a:spcBef>
                <a:spcPts val="0"/>
              </a:spcBef>
              <a:spcAft>
                <a:spcPts val="200"/>
              </a:spcAft>
            </a:pPr>
            <a:r>
              <a:rPr sz="1300" b="1" spc="200">
                <a:solidFill>
                  <a:srgbClr val="8B8B93"/>
                </a:solidFill>
                <a:latin typeface="Instrument Sans"/>
              </a:rPr>
              <a:t>FLEX MODULE 6 - ANY DAY</a:t>
            </a:r>
          </a:p>
        </p:txBody>
      </p:sp>
      <p:sp>
        <p:nvSpPr>
          <p:cNvPr id="6" name="TextBox 5"/>
          <p:cNvSpPr txBox="1"/>
          <p:nvPr/>
        </p:nvSpPr>
        <p:spPr>
          <a:xfrm>
            <a:off x="658368" y="3054096"/>
            <a:ext cx="5532120" cy="1783080"/>
          </a:xfrm>
          <a:prstGeom prst="rect">
            <a:avLst/>
          </a:prstGeom>
          <a:noFill/>
        </p:spPr>
        <p:txBody>
          <a:bodyPr wrap="square" anchor="t">
            <a:spAutoFit/>
          </a:bodyPr>
          <a:lstStyle/>
          <a:p>
            <a:pPr algn="l">
              <a:lnSpc>
                <a:spcPct val="102000"/>
              </a:lnSpc>
              <a:spcBef>
                <a:spcPts val="0"/>
              </a:spcBef>
              <a:spcAft>
                <a:spcPts val="200"/>
              </a:spcAft>
            </a:pPr>
            <a:r>
              <a:rPr sz="3400" b="1">
                <a:solidFill>
                  <a:srgbClr val="F5F5F6"/>
                </a:solidFill>
                <a:latin typeface="Instrument Sans"/>
              </a:rPr>
              <a:t>The Wider Surface</a:t>
            </a:r>
          </a:p>
        </p:txBody>
      </p:sp>
      <p:sp>
        <p:nvSpPr>
          <p:cNvPr id="7" name="TextBox 6"/>
          <p:cNvSpPr txBox="1"/>
          <p:nvPr/>
        </p:nvSpPr>
        <p:spPr>
          <a:xfrm>
            <a:off x="685800" y="4983480"/>
            <a:ext cx="5440680" cy="1005840"/>
          </a:xfrm>
          <a:prstGeom prst="rect">
            <a:avLst/>
          </a:prstGeom>
          <a:noFill/>
        </p:spPr>
        <p:txBody>
          <a:bodyPr wrap="square" anchor="t">
            <a:spAutoFit/>
          </a:bodyPr>
          <a:lstStyle/>
          <a:p>
            <a:pPr algn="l">
              <a:lnSpc>
                <a:spcPct val="115000"/>
              </a:lnSpc>
              <a:spcBef>
                <a:spcPts val="0"/>
              </a:spcBef>
              <a:spcAft>
                <a:spcPts val="200"/>
              </a:spcAft>
            </a:pPr>
            <a:r>
              <a:rPr sz="1750" b="0">
                <a:solidFill>
                  <a:srgbClr val="ACACB4"/>
                </a:solidFill>
                <a:latin typeface="Instrument Sans"/>
              </a:rPr>
              <a:t>Pull in any day - works as a closer, an energy break, or a preview of what's next</a:t>
            </a:r>
          </a:p>
        </p:txBody>
      </p:sp>
      <p:sp>
        <p:nvSpPr>
          <p:cNvPr id="8" name="Rectangle 7"/>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10" name="TextBox 9"/>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pic>
        <p:nvPicPr>
          <p:cNvPr id="2" name="Picture 1" descr="bg_12.png"/>
          <p:cNvPicPr>
            <a:picLocks noChangeAspect="1"/>
          </p:cNvPicPr>
          <p:nvPr/>
        </p:nvPicPr>
        <p:blipFill>
          <a:blip r:embed="rId2"/>
          <a:stretch>
            <a:fillRect/>
          </a:stretch>
        </p:blipFill>
        <p:spPr>
          <a:xfrm>
            <a:off x="0" y="0"/>
            <a:ext cx="4800600" cy="6437376"/>
          </a:xfrm>
          <a:prstGeom prst="rect">
            <a:avLst/>
          </a:prstGeom>
        </p:spPr>
      </p:pic>
      <p:sp>
        <p:nvSpPr>
          <p:cNvPr id="3" name="Rectangle 2"/>
          <p:cNvSpPr/>
          <p:nvPr/>
        </p:nvSpPr>
        <p:spPr>
          <a:xfrm>
            <a:off x="4800600" y="0"/>
            <a:ext cx="45720" cy="6858000"/>
          </a:xfrm>
          <a:prstGeom prst="rect">
            <a:avLst/>
          </a:prstGeom>
          <a:solidFill>
            <a:srgbClr val="2F6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49240" y="603504"/>
            <a:ext cx="6385255" cy="274320"/>
          </a:xfrm>
          <a:prstGeom prst="rect">
            <a:avLst/>
          </a:prstGeom>
          <a:noFill/>
        </p:spPr>
        <p:txBody>
          <a:bodyPr wrap="square" anchor="t">
            <a:spAutoFit/>
          </a:bodyPr>
          <a:lstStyle/>
          <a:p>
            <a:pPr algn="l">
              <a:lnSpc>
                <a:spcPct val="100000"/>
              </a:lnSpc>
              <a:spcBef>
                <a:spcPts val="0"/>
              </a:spcBef>
              <a:spcAft>
                <a:spcPts val="200"/>
              </a:spcAft>
            </a:pPr>
            <a:r>
              <a:rPr sz="1300" b="1" spc="160">
                <a:solidFill>
                  <a:srgbClr val="8B8B93"/>
                </a:solidFill>
                <a:latin typeface="Instrument Sans"/>
              </a:rPr>
              <a:t>CONCEPT</a:t>
            </a:r>
          </a:p>
        </p:txBody>
      </p:sp>
      <p:sp>
        <p:nvSpPr>
          <p:cNvPr id="5" name="TextBox 4"/>
          <p:cNvSpPr txBox="1"/>
          <p:nvPr/>
        </p:nvSpPr>
        <p:spPr>
          <a:xfrm>
            <a:off x="5349240" y="969264"/>
            <a:ext cx="6385255" cy="1143000"/>
          </a:xfrm>
          <a:prstGeom prst="rect">
            <a:avLst/>
          </a:prstGeom>
          <a:noFill/>
        </p:spPr>
        <p:txBody>
          <a:bodyPr wrap="square" anchor="t">
            <a:spAutoFit/>
          </a:bodyPr>
          <a:lstStyle/>
          <a:p>
            <a:pPr algn="l">
              <a:lnSpc>
                <a:spcPct val="105000"/>
              </a:lnSpc>
              <a:spcBef>
                <a:spcPts val="0"/>
              </a:spcBef>
              <a:spcAft>
                <a:spcPts val="200"/>
              </a:spcAft>
            </a:pPr>
            <a:r>
              <a:rPr sz="2700" b="1">
                <a:solidFill>
                  <a:srgbClr val="F5F5F6"/>
                </a:solidFill>
                <a:latin typeface="Instrument Sans"/>
              </a:rPr>
              <a:t>One account, many surfaces</a:t>
            </a:r>
          </a:p>
        </p:txBody>
      </p:sp>
      <p:sp>
        <p:nvSpPr>
          <p:cNvPr id="6" name="TextBox 5"/>
          <p:cNvSpPr txBox="1"/>
          <p:nvPr/>
        </p:nvSpPr>
        <p:spPr>
          <a:xfrm>
            <a:off x="5349240" y="2286000"/>
            <a:ext cx="6385255" cy="1097280"/>
          </a:xfrm>
          <a:prstGeom prst="rect">
            <a:avLst/>
          </a:prstGeom>
          <a:noFill/>
        </p:spPr>
        <p:txBody>
          <a:bodyPr wrap="square" anchor="t">
            <a:spAutoFit/>
          </a:bodyPr>
          <a:lstStyle/>
          <a:p>
            <a:pPr algn="l">
              <a:lnSpc>
                <a:spcPct val="125000"/>
              </a:lnSpc>
              <a:spcBef>
                <a:spcPts val="0"/>
              </a:spcBef>
              <a:spcAft>
                <a:spcPts val="200"/>
              </a:spcAft>
            </a:pPr>
            <a:r>
              <a:rPr sz="1500" b="0">
                <a:solidFill>
                  <a:srgbClr val="ACACB4"/>
                </a:solidFill>
                <a:latin typeface="Instrument Sans"/>
              </a:rPr>
              <a:t>The same Claude, reachable from more places than your terminal.</a:t>
            </a:r>
          </a:p>
        </p:txBody>
      </p:sp>
      <p:sp>
        <p:nvSpPr>
          <p:cNvPr id="7" name="Rounded Rectangle 6"/>
          <p:cNvSpPr/>
          <p:nvPr/>
        </p:nvSpPr>
        <p:spPr>
          <a:xfrm>
            <a:off x="5349240" y="3474720"/>
            <a:ext cx="6385255" cy="85344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5623559" y="3617976"/>
            <a:ext cx="566928" cy="566928"/>
          </a:xfrm>
          <a:prstGeom prst="ellipse">
            <a:avLst/>
          </a:prstGeom>
          <a:solidFill>
            <a:srgbClr val="E6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rocket_2A2A30.png"/>
          <p:cNvPicPr>
            <a:picLocks noChangeAspect="1"/>
          </p:cNvPicPr>
          <p:nvPr/>
        </p:nvPicPr>
        <p:blipFill>
          <a:blip r:embed="rId3"/>
          <a:stretch>
            <a:fillRect/>
          </a:stretch>
        </p:blipFill>
        <p:spPr>
          <a:xfrm>
            <a:off x="5776630" y="3771046"/>
            <a:ext cx="260786" cy="260786"/>
          </a:xfrm>
          <a:prstGeom prst="rect">
            <a:avLst/>
          </a:prstGeom>
        </p:spPr>
      </p:pic>
      <p:sp>
        <p:nvSpPr>
          <p:cNvPr id="10" name="TextBox 9"/>
          <p:cNvSpPr txBox="1"/>
          <p:nvPr/>
        </p:nvSpPr>
        <p:spPr>
          <a:xfrm>
            <a:off x="6464807" y="3474720"/>
            <a:ext cx="5041087" cy="853440"/>
          </a:xfrm>
          <a:prstGeom prst="rect">
            <a:avLst/>
          </a:prstGeom>
          <a:noFill/>
        </p:spPr>
        <p:txBody>
          <a:bodyPr wrap="square" anchor="ctr">
            <a:spAutoFit/>
          </a:bodyPr>
          <a:lstStyle/>
          <a:p>
            <a:pPr algn="l">
              <a:lnSpc>
                <a:spcPct val="108000"/>
              </a:lnSpc>
              <a:spcBef>
                <a:spcPts val="0"/>
              </a:spcBef>
              <a:spcAft>
                <a:spcPts val="200"/>
              </a:spcAft>
            </a:pPr>
            <a:r>
              <a:rPr sz="1550" b="1">
                <a:solidFill>
                  <a:srgbClr val="F5F5F6"/>
                </a:solidFill>
                <a:latin typeface="Instrument Sans"/>
              </a:rPr>
              <a:t>Artifacts</a:t>
            </a:r>
            <a:r>
              <a:rPr sz="1400" b="0">
                <a:solidFill>
                  <a:srgbClr val="ACACB4"/>
                </a:solidFill>
                <a:latin typeface="Instrument Sans"/>
              </a:rPr>
              <a:t>  -  live interactive pages built from a prompt</a:t>
            </a:r>
          </a:p>
        </p:txBody>
      </p:sp>
      <p:sp>
        <p:nvSpPr>
          <p:cNvPr id="11" name="Rounded Rectangle 10"/>
          <p:cNvSpPr/>
          <p:nvPr/>
        </p:nvSpPr>
        <p:spPr>
          <a:xfrm>
            <a:off x="5349240" y="4474464"/>
            <a:ext cx="6385255" cy="85344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623559" y="4617720"/>
            <a:ext cx="566928" cy="566928"/>
          </a:xfrm>
          <a:prstGeom prst="ellipse">
            <a:avLst/>
          </a:prstGeom>
          <a:solidFill>
            <a:srgbClr val="E6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apps_2A2A30.png"/>
          <p:cNvPicPr>
            <a:picLocks noChangeAspect="1"/>
          </p:cNvPicPr>
          <p:nvPr/>
        </p:nvPicPr>
        <p:blipFill>
          <a:blip r:embed="rId4"/>
          <a:stretch>
            <a:fillRect/>
          </a:stretch>
        </p:blipFill>
        <p:spPr>
          <a:xfrm>
            <a:off x="5776630" y="4770790"/>
            <a:ext cx="260786" cy="260786"/>
          </a:xfrm>
          <a:prstGeom prst="rect">
            <a:avLst/>
          </a:prstGeom>
        </p:spPr>
      </p:pic>
      <p:sp>
        <p:nvSpPr>
          <p:cNvPr id="14" name="TextBox 13"/>
          <p:cNvSpPr txBox="1"/>
          <p:nvPr/>
        </p:nvSpPr>
        <p:spPr>
          <a:xfrm>
            <a:off x="6464807" y="4474464"/>
            <a:ext cx="5041087" cy="853440"/>
          </a:xfrm>
          <a:prstGeom prst="rect">
            <a:avLst/>
          </a:prstGeom>
          <a:noFill/>
        </p:spPr>
        <p:txBody>
          <a:bodyPr wrap="square" anchor="ctr">
            <a:spAutoFit/>
          </a:bodyPr>
          <a:lstStyle/>
          <a:p>
            <a:pPr algn="l">
              <a:lnSpc>
                <a:spcPct val="108000"/>
              </a:lnSpc>
              <a:spcBef>
                <a:spcPts val="0"/>
              </a:spcBef>
              <a:spcAft>
                <a:spcPts val="200"/>
              </a:spcAft>
            </a:pPr>
            <a:r>
              <a:rPr sz="1550" b="1">
                <a:solidFill>
                  <a:srgbClr val="F5F5F6"/>
                </a:solidFill>
                <a:latin typeface="Instrument Sans"/>
              </a:rPr>
              <a:t>Desktop + browser</a:t>
            </a:r>
            <a:r>
              <a:rPr sz="1400" b="0">
                <a:solidFill>
                  <a:srgbClr val="ACACB4"/>
                </a:solidFill>
                <a:latin typeface="Instrument Sans"/>
              </a:rPr>
              <a:t>  -  the app, with a built-in browsing surface</a:t>
            </a:r>
          </a:p>
        </p:txBody>
      </p:sp>
      <p:sp>
        <p:nvSpPr>
          <p:cNvPr id="15" name="Rounded Rectangle 14"/>
          <p:cNvSpPr/>
          <p:nvPr/>
        </p:nvSpPr>
        <p:spPr>
          <a:xfrm>
            <a:off x="5349240" y="5474208"/>
            <a:ext cx="6385255" cy="85344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623559" y="5617463"/>
            <a:ext cx="566928" cy="566928"/>
          </a:xfrm>
          <a:prstGeom prst="ellipse">
            <a:avLst/>
          </a:prstGeom>
          <a:solidFill>
            <a:srgbClr val="E6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people_2A2A30.png"/>
          <p:cNvPicPr>
            <a:picLocks noChangeAspect="1"/>
          </p:cNvPicPr>
          <p:nvPr/>
        </p:nvPicPr>
        <p:blipFill>
          <a:blip r:embed="rId5"/>
          <a:stretch>
            <a:fillRect/>
          </a:stretch>
        </p:blipFill>
        <p:spPr>
          <a:xfrm>
            <a:off x="5776630" y="5770534"/>
            <a:ext cx="260786" cy="260786"/>
          </a:xfrm>
          <a:prstGeom prst="rect">
            <a:avLst/>
          </a:prstGeom>
        </p:spPr>
      </p:pic>
      <p:sp>
        <p:nvSpPr>
          <p:cNvPr id="18" name="TextBox 17"/>
          <p:cNvSpPr txBox="1"/>
          <p:nvPr/>
        </p:nvSpPr>
        <p:spPr>
          <a:xfrm>
            <a:off x="6464807" y="5474208"/>
            <a:ext cx="5041087" cy="853440"/>
          </a:xfrm>
          <a:prstGeom prst="rect">
            <a:avLst/>
          </a:prstGeom>
          <a:noFill/>
        </p:spPr>
        <p:txBody>
          <a:bodyPr wrap="square" anchor="ctr">
            <a:spAutoFit/>
          </a:bodyPr>
          <a:lstStyle/>
          <a:p>
            <a:pPr algn="l">
              <a:lnSpc>
                <a:spcPct val="108000"/>
              </a:lnSpc>
              <a:spcBef>
                <a:spcPts val="0"/>
              </a:spcBef>
              <a:spcAft>
                <a:spcPts val="200"/>
              </a:spcAft>
            </a:pPr>
            <a:r>
              <a:rPr sz="1550" b="1">
                <a:solidFill>
                  <a:srgbClr val="F5F5F6"/>
                </a:solidFill>
                <a:latin typeface="Instrument Sans"/>
              </a:rPr>
              <a:t>Embedded</a:t>
            </a:r>
            <a:r>
              <a:rPr sz="1400" b="0">
                <a:solidFill>
                  <a:srgbClr val="ACACB4"/>
                </a:solidFill>
                <a:latin typeface="Instrument Sans"/>
              </a:rPr>
              <a:t>  -  Chrome, Slack, and Cowork sessions</a:t>
            </a:r>
          </a:p>
        </p:txBody>
      </p:sp>
      <p:sp>
        <p:nvSpPr>
          <p:cNvPr id="19" name="Rectangle 18"/>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1" name="TextBox 20"/>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HANDS-ON</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Artifacts: apps from prompts</a:t>
            </a:r>
          </a:p>
        </p:txBody>
      </p:sp>
      <p:sp>
        <p:nvSpPr>
          <p:cNvPr id="4" name="TextBox 3"/>
          <p:cNvSpPr txBox="1"/>
          <p:nvPr/>
        </p:nvSpPr>
        <p:spPr>
          <a:xfrm>
            <a:off x="640080" y="1572768"/>
            <a:ext cx="10424160" cy="548640"/>
          </a:xfrm>
          <a:prstGeom prst="rect">
            <a:avLst/>
          </a:prstGeom>
          <a:noFill/>
        </p:spPr>
        <p:txBody>
          <a:bodyPr wrap="square" anchor="t">
            <a:spAutoFit/>
          </a:bodyPr>
          <a:lstStyle/>
          <a:p>
            <a:pPr algn="l">
              <a:lnSpc>
                <a:spcPct val="120000"/>
              </a:lnSpc>
              <a:spcBef>
                <a:spcPts val="0"/>
              </a:spcBef>
              <a:spcAft>
                <a:spcPts val="200"/>
              </a:spcAft>
            </a:pPr>
            <a:r>
              <a:rPr sz="1800" b="0">
                <a:solidFill>
                  <a:srgbClr val="ACACB4"/>
                </a:solidFill>
                <a:latin typeface="Instrument Sans"/>
              </a:rPr>
              <a:t>Describe an app; get a running page.</a:t>
            </a:r>
          </a:p>
        </p:txBody>
      </p:sp>
      <p:sp>
        <p:nvSpPr>
          <p:cNvPr id="5" name="Rounded Rectangle 4"/>
          <p:cNvSpPr/>
          <p:nvPr/>
        </p:nvSpPr>
        <p:spPr>
          <a:xfrm>
            <a:off x="640080"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77824"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bulb_2A2A30.png"/>
          <p:cNvPicPr>
            <a:picLocks noChangeAspect="1"/>
          </p:cNvPicPr>
          <p:nvPr/>
        </p:nvPicPr>
        <p:blipFill>
          <a:blip r:embed="rId2"/>
          <a:stretch>
            <a:fillRect/>
          </a:stretch>
        </p:blipFill>
        <p:spPr>
          <a:xfrm>
            <a:off x="1005840" y="2756916"/>
            <a:ext cx="219456" cy="219456"/>
          </a:xfrm>
          <a:prstGeom prst="rect">
            <a:avLst/>
          </a:prstGeom>
        </p:spPr>
      </p:pic>
      <p:sp>
        <p:nvSpPr>
          <p:cNvPr id="8" name="TextBox 7"/>
          <p:cNvSpPr txBox="1"/>
          <p:nvPr/>
        </p:nvSpPr>
        <p:spPr>
          <a:xfrm>
            <a:off x="877824"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Build</a:t>
            </a:r>
          </a:p>
        </p:txBody>
      </p:sp>
      <p:sp>
        <p:nvSpPr>
          <p:cNvPr id="9" name="TextBox 8"/>
          <p:cNvSpPr txBox="1"/>
          <p:nvPr/>
        </p:nvSpPr>
        <p:spPr>
          <a:xfrm>
            <a:off x="877824"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A working interactive page from one good prompt.</a:t>
            </a:r>
          </a:p>
        </p:txBody>
      </p:sp>
      <p:sp>
        <p:nvSpPr>
          <p:cNvPr id="10" name="Rounded Rectangle 9"/>
          <p:cNvSpPr/>
          <p:nvPr/>
        </p:nvSpPr>
        <p:spPr>
          <a:xfrm>
            <a:off x="4367784"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605528"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hare_2A2A30.png"/>
          <p:cNvPicPr>
            <a:picLocks noChangeAspect="1"/>
          </p:cNvPicPr>
          <p:nvPr/>
        </p:nvPicPr>
        <p:blipFill>
          <a:blip r:embed="rId3"/>
          <a:stretch>
            <a:fillRect/>
          </a:stretch>
        </p:blipFill>
        <p:spPr>
          <a:xfrm>
            <a:off x="4733544" y="2756916"/>
            <a:ext cx="219456" cy="219456"/>
          </a:xfrm>
          <a:prstGeom prst="rect">
            <a:avLst/>
          </a:prstGeom>
        </p:spPr>
      </p:pic>
      <p:sp>
        <p:nvSpPr>
          <p:cNvPr id="13" name="TextBox 12"/>
          <p:cNvSpPr txBox="1"/>
          <p:nvPr/>
        </p:nvSpPr>
        <p:spPr>
          <a:xfrm>
            <a:off x="4605528"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Share</a:t>
            </a:r>
          </a:p>
        </p:txBody>
      </p:sp>
      <p:sp>
        <p:nvSpPr>
          <p:cNvPr id="14" name="TextBox 13"/>
          <p:cNvSpPr txBox="1"/>
          <p:nvPr/>
        </p:nvSpPr>
        <p:spPr>
          <a:xfrm>
            <a:off x="4605528"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Starts private; sharing follows plan and admin policy.</a:t>
            </a:r>
          </a:p>
        </p:txBody>
      </p:sp>
      <p:sp>
        <p:nvSpPr>
          <p:cNvPr id="15" name="Rounded Rectangle 14"/>
          <p:cNvSpPr/>
          <p:nvPr/>
        </p:nvSpPr>
        <p:spPr>
          <a:xfrm>
            <a:off x="8095488"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333232"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lock_2A2A30.png"/>
          <p:cNvPicPr>
            <a:picLocks noChangeAspect="1"/>
          </p:cNvPicPr>
          <p:nvPr/>
        </p:nvPicPr>
        <p:blipFill>
          <a:blip r:embed="rId4"/>
          <a:stretch>
            <a:fillRect/>
          </a:stretch>
        </p:blipFill>
        <p:spPr>
          <a:xfrm>
            <a:off x="8461248" y="2756916"/>
            <a:ext cx="219456" cy="219456"/>
          </a:xfrm>
          <a:prstGeom prst="rect">
            <a:avLst/>
          </a:prstGeom>
        </p:spPr>
      </p:pic>
      <p:sp>
        <p:nvSpPr>
          <p:cNvPr id="18" name="TextBox 17"/>
          <p:cNvSpPr txBox="1"/>
          <p:nvPr/>
        </p:nvSpPr>
        <p:spPr>
          <a:xfrm>
            <a:off x="8333232"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Connector-backed</a:t>
            </a:r>
          </a:p>
        </p:txBody>
      </p:sp>
      <p:sp>
        <p:nvSpPr>
          <p:cNvPr id="19" name="TextBox 18"/>
          <p:cNvSpPr txBox="1"/>
          <p:nvPr/>
        </p:nvSpPr>
        <p:spPr>
          <a:xfrm>
            <a:off x="8333232"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Can call MCP connectors with the viewer's permissions.</a:t>
            </a:r>
          </a:p>
        </p:txBody>
      </p:sp>
      <p:sp>
        <p:nvSpPr>
          <p:cNvPr id="20" name="Rounded Rectangle 19"/>
          <p:cNvSpPr/>
          <p:nvPr/>
        </p:nvSpPr>
        <p:spPr>
          <a:xfrm>
            <a:off x="640080" y="5760720"/>
            <a:ext cx="10908792" cy="658368"/>
          </a:xfrm>
          <a:prstGeom prst="roundRect">
            <a:avLst>
              <a:gd name="adj" fmla="val 16000"/>
            </a:avLst>
          </a:prstGeom>
          <a:solidFill>
            <a:srgbClr val="3A2F0A"/>
          </a:solidFill>
          <a:ln w="9525">
            <a:solidFill>
              <a:srgbClr val="8A6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warn_E0A93A.png"/>
          <p:cNvPicPr>
            <a:picLocks noChangeAspect="1"/>
          </p:cNvPicPr>
          <p:nvPr/>
        </p:nvPicPr>
        <p:blipFill>
          <a:blip r:embed="rId5"/>
          <a:stretch>
            <a:fillRect/>
          </a:stretch>
        </p:blipFill>
        <p:spPr>
          <a:xfrm>
            <a:off x="877824" y="5907024"/>
            <a:ext cx="365760" cy="365760"/>
          </a:xfrm>
          <a:prstGeom prst="rect">
            <a:avLst/>
          </a:prstGeom>
        </p:spPr>
      </p:pic>
      <p:sp>
        <p:nvSpPr>
          <p:cNvPr id="22" name="TextBox 21"/>
          <p:cNvSpPr txBox="1"/>
          <p:nvPr/>
        </p:nvSpPr>
        <p:spPr>
          <a:xfrm>
            <a:off x="1371600" y="5760720"/>
            <a:ext cx="9994392" cy="658368"/>
          </a:xfrm>
          <a:prstGeom prst="rect">
            <a:avLst/>
          </a:prstGeom>
          <a:noFill/>
        </p:spPr>
        <p:txBody>
          <a:bodyPr wrap="square" anchor="ctr">
            <a:spAutoFit/>
          </a:bodyPr>
          <a:lstStyle/>
          <a:p>
            <a:pPr algn="l">
              <a:lnSpc>
                <a:spcPct val="100000"/>
              </a:lnSpc>
              <a:spcBef>
                <a:spcPts val="0"/>
              </a:spcBef>
              <a:spcAft>
                <a:spcPts val="200"/>
              </a:spcAft>
            </a:pPr>
            <a:r>
              <a:rPr sz="1500" b="0">
                <a:solidFill>
                  <a:srgbClr val="F0D9A6"/>
                </a:solidFill>
                <a:latin typeface="Instrument Sans"/>
              </a:rPr>
              <a:t>Available on Pro, Max, Team, and Enterprise; sharing is admin-gated - verify your tenant before demoing.</a:t>
            </a:r>
          </a:p>
        </p:txBody>
      </p:sp>
      <p:sp>
        <p:nvSpPr>
          <p:cNvPr id="23" name="Rectangle 22"/>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5" name="TextBox 24"/>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THE TOUR</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The rest, one beat each</a:t>
            </a:r>
          </a:p>
        </p:txBody>
      </p:sp>
      <p:sp>
        <p:nvSpPr>
          <p:cNvPr id="4" name="Rounded Rectangle 3"/>
          <p:cNvSpPr/>
          <p:nvPr/>
        </p:nvSpPr>
        <p:spPr>
          <a:xfrm>
            <a:off x="640080" y="1828800"/>
            <a:ext cx="10908792" cy="632764"/>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41248" y="1861718"/>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hare_2A2A30.png"/>
          <p:cNvPicPr>
            <a:picLocks noChangeAspect="1"/>
          </p:cNvPicPr>
          <p:nvPr/>
        </p:nvPicPr>
        <p:blipFill>
          <a:blip r:embed="rId2"/>
          <a:stretch>
            <a:fillRect/>
          </a:stretch>
        </p:blipFill>
        <p:spPr>
          <a:xfrm>
            <a:off x="1014984" y="1998878"/>
            <a:ext cx="292608" cy="292608"/>
          </a:xfrm>
          <a:prstGeom prst="rect">
            <a:avLst/>
          </a:prstGeom>
        </p:spPr>
      </p:pic>
      <p:sp>
        <p:nvSpPr>
          <p:cNvPr id="7" name="TextBox 6"/>
          <p:cNvSpPr txBox="1"/>
          <p:nvPr/>
        </p:nvSpPr>
        <p:spPr>
          <a:xfrm>
            <a:off x="1591056" y="1828800"/>
            <a:ext cx="2743200" cy="632764"/>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Remote Control</a:t>
            </a:r>
          </a:p>
        </p:txBody>
      </p:sp>
      <p:sp>
        <p:nvSpPr>
          <p:cNvPr id="8" name="TextBox 7"/>
          <p:cNvSpPr txBox="1"/>
          <p:nvPr/>
        </p:nvSpPr>
        <p:spPr>
          <a:xfrm>
            <a:off x="4434840" y="1828800"/>
            <a:ext cx="6903720" cy="632764"/>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Continue a local session from phone or browser - research preview.</a:t>
            </a:r>
          </a:p>
        </p:txBody>
      </p:sp>
      <p:sp>
        <p:nvSpPr>
          <p:cNvPr id="9" name="Rounded Rectangle 8"/>
          <p:cNvSpPr/>
          <p:nvPr/>
        </p:nvSpPr>
        <p:spPr>
          <a:xfrm>
            <a:off x="640080" y="2607868"/>
            <a:ext cx="10908792" cy="632764"/>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41248" y="2640787"/>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lock_2A2A30.png"/>
          <p:cNvPicPr>
            <a:picLocks noChangeAspect="1"/>
          </p:cNvPicPr>
          <p:nvPr/>
        </p:nvPicPr>
        <p:blipFill>
          <a:blip r:embed="rId3"/>
          <a:stretch>
            <a:fillRect/>
          </a:stretch>
        </p:blipFill>
        <p:spPr>
          <a:xfrm>
            <a:off x="1014984" y="2777947"/>
            <a:ext cx="292608" cy="292608"/>
          </a:xfrm>
          <a:prstGeom prst="rect">
            <a:avLst/>
          </a:prstGeom>
        </p:spPr>
      </p:pic>
      <p:sp>
        <p:nvSpPr>
          <p:cNvPr id="12" name="TextBox 11"/>
          <p:cNvSpPr txBox="1"/>
          <p:nvPr/>
        </p:nvSpPr>
        <p:spPr>
          <a:xfrm>
            <a:off x="1591056" y="2607868"/>
            <a:ext cx="2743200" cy="632764"/>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Trusted Devices</a:t>
            </a:r>
          </a:p>
        </p:txBody>
      </p:sp>
      <p:sp>
        <p:nvSpPr>
          <p:cNvPr id="13" name="TextBox 12"/>
          <p:cNvSpPr txBox="1"/>
          <p:nvPr/>
        </p:nvSpPr>
        <p:spPr>
          <a:xfrm>
            <a:off x="4434840" y="2607868"/>
            <a:ext cx="6903720" cy="632764"/>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Beta - enrolled devices plus biometric or passkey confirmation.</a:t>
            </a:r>
          </a:p>
        </p:txBody>
      </p:sp>
      <p:sp>
        <p:nvSpPr>
          <p:cNvPr id="14" name="Rounded Rectangle 13"/>
          <p:cNvSpPr/>
          <p:nvPr/>
        </p:nvSpPr>
        <p:spPr>
          <a:xfrm>
            <a:off x="640080" y="3386937"/>
            <a:ext cx="10908792" cy="632764"/>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41248" y="3419856"/>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apps_2A2A30.png"/>
          <p:cNvPicPr>
            <a:picLocks noChangeAspect="1"/>
          </p:cNvPicPr>
          <p:nvPr/>
        </p:nvPicPr>
        <p:blipFill>
          <a:blip r:embed="rId4"/>
          <a:stretch>
            <a:fillRect/>
          </a:stretch>
        </p:blipFill>
        <p:spPr>
          <a:xfrm>
            <a:off x="1014984" y="3557015"/>
            <a:ext cx="292608" cy="292608"/>
          </a:xfrm>
          <a:prstGeom prst="rect">
            <a:avLst/>
          </a:prstGeom>
        </p:spPr>
      </p:pic>
      <p:sp>
        <p:nvSpPr>
          <p:cNvPr id="17" name="TextBox 16"/>
          <p:cNvSpPr txBox="1"/>
          <p:nvPr/>
        </p:nvSpPr>
        <p:spPr>
          <a:xfrm>
            <a:off x="1591056" y="3386937"/>
            <a:ext cx="2743200" cy="632764"/>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Desktop + built-in browser</a:t>
            </a:r>
          </a:p>
        </p:txBody>
      </p:sp>
      <p:sp>
        <p:nvSpPr>
          <p:cNvPr id="18" name="TextBox 17"/>
          <p:cNvSpPr txBox="1"/>
          <p:nvPr/>
        </p:nvSpPr>
        <p:spPr>
          <a:xfrm>
            <a:off x="4434840" y="3386937"/>
            <a:ext cx="6903720" cy="632764"/>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Claude outside the terminal, with a browsing surface.</a:t>
            </a:r>
          </a:p>
        </p:txBody>
      </p:sp>
      <p:sp>
        <p:nvSpPr>
          <p:cNvPr id="19" name="Rounded Rectangle 18"/>
          <p:cNvSpPr/>
          <p:nvPr/>
        </p:nvSpPr>
        <p:spPr>
          <a:xfrm>
            <a:off x="640080" y="4166006"/>
            <a:ext cx="10908792" cy="632764"/>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1248" y="4198924"/>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eye_2A2A30.png"/>
          <p:cNvPicPr>
            <a:picLocks noChangeAspect="1"/>
          </p:cNvPicPr>
          <p:nvPr/>
        </p:nvPicPr>
        <p:blipFill>
          <a:blip r:embed="rId5"/>
          <a:stretch>
            <a:fillRect/>
          </a:stretch>
        </p:blipFill>
        <p:spPr>
          <a:xfrm>
            <a:off x="1014984" y="4336084"/>
            <a:ext cx="292608" cy="292608"/>
          </a:xfrm>
          <a:prstGeom prst="rect">
            <a:avLst/>
          </a:prstGeom>
        </p:spPr>
      </p:pic>
      <p:sp>
        <p:nvSpPr>
          <p:cNvPr id="22" name="TextBox 21"/>
          <p:cNvSpPr txBox="1"/>
          <p:nvPr/>
        </p:nvSpPr>
        <p:spPr>
          <a:xfrm>
            <a:off x="1591056" y="4166006"/>
            <a:ext cx="2743200" cy="632764"/>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Claude in Chrome</a:t>
            </a:r>
          </a:p>
        </p:txBody>
      </p:sp>
      <p:sp>
        <p:nvSpPr>
          <p:cNvPr id="23" name="TextBox 22"/>
          <p:cNvSpPr txBox="1"/>
          <p:nvPr/>
        </p:nvSpPr>
        <p:spPr>
          <a:xfrm>
            <a:off x="4434840" y="4166006"/>
            <a:ext cx="6903720" cy="632764"/>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The agent acting inside your browser tabs.</a:t>
            </a:r>
          </a:p>
        </p:txBody>
      </p:sp>
      <p:sp>
        <p:nvSpPr>
          <p:cNvPr id="24" name="Rounded Rectangle 23"/>
          <p:cNvSpPr/>
          <p:nvPr/>
        </p:nvSpPr>
        <p:spPr>
          <a:xfrm>
            <a:off x="640080" y="4945075"/>
            <a:ext cx="10908792" cy="632764"/>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841248" y="4977993"/>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people_2A2A30.png"/>
          <p:cNvPicPr>
            <a:picLocks noChangeAspect="1"/>
          </p:cNvPicPr>
          <p:nvPr/>
        </p:nvPicPr>
        <p:blipFill>
          <a:blip r:embed="rId6"/>
          <a:stretch>
            <a:fillRect/>
          </a:stretch>
        </p:blipFill>
        <p:spPr>
          <a:xfrm>
            <a:off x="1014984" y="5115153"/>
            <a:ext cx="292608" cy="292608"/>
          </a:xfrm>
          <a:prstGeom prst="rect">
            <a:avLst/>
          </a:prstGeom>
        </p:spPr>
      </p:pic>
      <p:sp>
        <p:nvSpPr>
          <p:cNvPr id="27" name="TextBox 26"/>
          <p:cNvSpPr txBox="1"/>
          <p:nvPr/>
        </p:nvSpPr>
        <p:spPr>
          <a:xfrm>
            <a:off x="1591056" y="4945075"/>
            <a:ext cx="2743200" cy="632764"/>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Slack + Cowork</a:t>
            </a:r>
          </a:p>
        </p:txBody>
      </p:sp>
      <p:sp>
        <p:nvSpPr>
          <p:cNvPr id="28" name="TextBox 27"/>
          <p:cNvSpPr txBox="1"/>
          <p:nvPr/>
        </p:nvSpPr>
        <p:spPr>
          <a:xfrm>
            <a:off x="4434840" y="4945075"/>
            <a:ext cx="6903720" cy="632764"/>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Claude in team chat; session-based collaborative work.</a:t>
            </a:r>
          </a:p>
        </p:txBody>
      </p:sp>
      <p:sp>
        <p:nvSpPr>
          <p:cNvPr id="29" name="Rounded Rectangle 28"/>
          <p:cNvSpPr/>
          <p:nvPr/>
        </p:nvSpPr>
        <p:spPr>
          <a:xfrm>
            <a:off x="640080" y="5760720"/>
            <a:ext cx="10908792" cy="658368"/>
          </a:xfrm>
          <a:prstGeom prst="roundRect">
            <a:avLst>
              <a:gd name="adj" fmla="val 16000"/>
            </a:avLst>
          </a:prstGeom>
          <a:solidFill>
            <a:srgbClr val="3A2F0A"/>
          </a:solidFill>
          <a:ln w="9525">
            <a:solidFill>
              <a:srgbClr val="8A6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warn_E0A93A.png"/>
          <p:cNvPicPr>
            <a:picLocks noChangeAspect="1"/>
          </p:cNvPicPr>
          <p:nvPr/>
        </p:nvPicPr>
        <p:blipFill>
          <a:blip r:embed="rId7"/>
          <a:stretch>
            <a:fillRect/>
          </a:stretch>
        </p:blipFill>
        <p:spPr>
          <a:xfrm>
            <a:off x="877824" y="5907024"/>
            <a:ext cx="365760" cy="365760"/>
          </a:xfrm>
          <a:prstGeom prst="rect">
            <a:avLst/>
          </a:prstGeom>
        </p:spPr>
      </p:pic>
      <p:sp>
        <p:nvSpPr>
          <p:cNvPr id="31" name="TextBox 30"/>
          <p:cNvSpPr txBox="1"/>
          <p:nvPr/>
        </p:nvSpPr>
        <p:spPr>
          <a:xfrm>
            <a:off x="1371600" y="5760720"/>
            <a:ext cx="9994392" cy="658368"/>
          </a:xfrm>
          <a:prstGeom prst="rect">
            <a:avLst/>
          </a:prstGeom>
          <a:noFill/>
        </p:spPr>
        <p:txBody>
          <a:bodyPr wrap="square" anchor="ctr">
            <a:spAutoFit/>
          </a:bodyPr>
          <a:lstStyle/>
          <a:p>
            <a:pPr algn="l">
              <a:lnSpc>
                <a:spcPct val="100000"/>
              </a:lnSpc>
              <a:spcBef>
                <a:spcPts val="0"/>
              </a:spcBef>
              <a:spcAft>
                <a:spcPts val="200"/>
              </a:spcAft>
            </a:pPr>
            <a:r>
              <a:rPr sz="1500" b="0">
                <a:solidFill>
                  <a:srgbClr val="F0D9A6"/>
                </a:solidFill>
                <a:latin typeface="Instrument Sans"/>
              </a:rPr>
              <a:t>Every row is plan-, admin-, or preview-gated - demonstrations, not dependencies. Verify before showing.</a:t>
            </a:r>
          </a:p>
        </p:txBody>
      </p:sp>
      <p:sp>
        <p:nvSpPr>
          <p:cNvPr id="32" name="Rectangle 31"/>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34" name="TextBox 33"/>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FOLLOW ALONG</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Paste this: your first Artifact</a:t>
            </a:r>
          </a:p>
        </p:txBody>
      </p:sp>
      <p:sp>
        <p:nvSpPr>
          <p:cNvPr id="4" name="Rounded Rectangle 3"/>
          <p:cNvSpPr/>
          <p:nvPr/>
        </p:nvSpPr>
        <p:spPr>
          <a:xfrm>
            <a:off x="640080" y="1828800"/>
            <a:ext cx="6126480" cy="4206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084832"/>
            <a:ext cx="5577840" cy="457200"/>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What you are practicing</a:t>
            </a:r>
          </a:p>
        </p:txBody>
      </p:sp>
      <p:sp>
        <p:nvSpPr>
          <p:cNvPr id="6" name="Rectangle 5"/>
          <p:cNvSpPr/>
          <p:nvPr/>
        </p:nvSpPr>
        <p:spPr>
          <a:xfrm>
            <a:off x="914400" y="2852928"/>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07008" y="2743200"/>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Prompt-to-app in one shot</a:t>
            </a:r>
          </a:p>
        </p:txBody>
      </p:sp>
      <p:sp>
        <p:nvSpPr>
          <p:cNvPr id="8" name="Rectangle 7"/>
          <p:cNvSpPr/>
          <p:nvPr/>
        </p:nvSpPr>
        <p:spPr>
          <a:xfrm>
            <a:off x="914400" y="3419856"/>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07008" y="3310128"/>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Iterating on a live page</a:t>
            </a:r>
          </a:p>
        </p:txBody>
      </p:sp>
      <p:sp>
        <p:nvSpPr>
          <p:cNvPr id="10" name="Rectangle 9"/>
          <p:cNvSpPr/>
          <p:nvPr/>
        </p:nvSpPr>
        <p:spPr>
          <a:xfrm>
            <a:off x="914400" y="3986784"/>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07008" y="3877056"/>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Judging where Artifacts fit</a:t>
            </a:r>
          </a:p>
        </p:txBody>
      </p:sp>
      <p:sp>
        <p:nvSpPr>
          <p:cNvPr id="12" name="TextBox 11"/>
          <p:cNvSpPr txBox="1"/>
          <p:nvPr/>
        </p:nvSpPr>
        <p:spPr>
          <a:xfrm>
            <a:off x="7040880" y="1810512"/>
            <a:ext cx="4507992" cy="365760"/>
          </a:xfrm>
          <a:prstGeom prst="rect">
            <a:avLst/>
          </a:prstGeom>
          <a:noFill/>
        </p:spPr>
        <p:txBody>
          <a:bodyPr wrap="square" anchor="t">
            <a:spAutoFit/>
          </a:bodyPr>
          <a:lstStyle/>
          <a:p>
            <a:pPr algn="l">
              <a:lnSpc>
                <a:spcPct val="100000"/>
              </a:lnSpc>
              <a:spcBef>
                <a:spcPts val="0"/>
              </a:spcBef>
              <a:spcAft>
                <a:spcPts val="200"/>
              </a:spcAft>
            </a:pPr>
            <a:r>
              <a:rPr sz="1300" b="1" spc="150">
                <a:solidFill>
                  <a:srgbClr val="8B8B93"/>
                </a:solidFill>
                <a:latin typeface="Instrument Sans"/>
              </a:rPr>
              <a:t>PASTE THIS</a:t>
            </a:r>
          </a:p>
        </p:txBody>
      </p:sp>
      <p:sp>
        <p:nvSpPr>
          <p:cNvPr id="13" name="Rounded Rectangle 12"/>
          <p:cNvSpPr/>
          <p:nvPr/>
        </p:nvSpPr>
        <p:spPr>
          <a:xfrm>
            <a:off x="7040880" y="2286000"/>
            <a:ext cx="4507992" cy="1548384"/>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242048" y="2450592"/>
            <a:ext cx="310896" cy="310896"/>
          </a:xfrm>
          <a:prstGeom prst="ellipse">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42048" y="2432304"/>
            <a:ext cx="310896" cy="310896"/>
          </a:xfrm>
          <a:prstGeom prst="rect">
            <a:avLst/>
          </a:prstGeom>
          <a:noFill/>
        </p:spPr>
        <p:txBody>
          <a:bodyPr wrap="square" anchor="ctr">
            <a:spAutoFit/>
          </a:bodyPr>
          <a:lstStyle/>
          <a:p>
            <a:pPr algn="ctr">
              <a:lnSpc>
                <a:spcPct val="100000"/>
              </a:lnSpc>
              <a:spcBef>
                <a:spcPts val="0"/>
              </a:spcBef>
              <a:spcAft>
                <a:spcPts val="200"/>
              </a:spcAft>
            </a:pPr>
            <a:r>
              <a:rPr sz="1300" b="1">
                <a:solidFill>
                  <a:srgbClr val="303036"/>
                </a:solidFill>
                <a:latin typeface="Instrument Sans"/>
              </a:rPr>
              <a:t>1</a:t>
            </a:r>
          </a:p>
        </p:txBody>
      </p:sp>
      <p:sp>
        <p:nvSpPr>
          <p:cNvPr id="16" name="TextBox 15"/>
          <p:cNvSpPr txBox="1"/>
          <p:nvPr/>
        </p:nvSpPr>
        <p:spPr>
          <a:xfrm>
            <a:off x="7699248" y="2670048"/>
            <a:ext cx="3593591" cy="1109472"/>
          </a:xfrm>
          <a:prstGeom prst="rect">
            <a:avLst/>
          </a:prstGeom>
          <a:noFill/>
        </p:spPr>
        <p:txBody>
          <a:bodyPr wrap="square" anchor="t">
            <a:normAutofit/>
          </a:bodyPr>
          <a:lstStyle/>
          <a:p>
            <a:pPr algn="l">
              <a:lnSpc>
                <a:spcPct val="112000"/>
              </a:lnSpc>
              <a:spcBef>
                <a:spcPts val="0"/>
              </a:spcBef>
              <a:spcAft>
                <a:spcPts val="200"/>
              </a:spcAft>
            </a:pPr>
            <a:r>
              <a:rPr sz="1400" b="0">
                <a:solidFill>
                  <a:srgbClr val="C9C9D2"/>
                </a:solidFill>
                <a:latin typeface="Instrument Sans"/>
              </a:rPr>
              <a:t>Build me a retro-board web app: three columns - went well, needs work, actions - with sticky notes I can add and drag, and a button to export the board as markdown.</a:t>
            </a:r>
          </a:p>
        </p:txBody>
      </p:sp>
      <p:sp>
        <p:nvSpPr>
          <p:cNvPr id="17" name="Rounded Rectangle 16"/>
          <p:cNvSpPr/>
          <p:nvPr/>
        </p:nvSpPr>
        <p:spPr>
          <a:xfrm>
            <a:off x="7040880" y="3980688"/>
            <a:ext cx="4507992" cy="1057656"/>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242048" y="4145280"/>
            <a:ext cx="310896" cy="310896"/>
          </a:xfrm>
          <a:prstGeom prst="ellipse">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42048" y="4126992"/>
            <a:ext cx="310896" cy="310896"/>
          </a:xfrm>
          <a:prstGeom prst="rect">
            <a:avLst/>
          </a:prstGeom>
          <a:noFill/>
        </p:spPr>
        <p:txBody>
          <a:bodyPr wrap="square" anchor="ctr">
            <a:spAutoFit/>
          </a:bodyPr>
          <a:lstStyle/>
          <a:p>
            <a:pPr algn="ctr">
              <a:lnSpc>
                <a:spcPct val="100000"/>
              </a:lnSpc>
              <a:spcBef>
                <a:spcPts val="0"/>
              </a:spcBef>
              <a:spcAft>
                <a:spcPts val="200"/>
              </a:spcAft>
            </a:pPr>
            <a:r>
              <a:rPr sz="1300" b="1">
                <a:solidFill>
                  <a:srgbClr val="303036"/>
                </a:solidFill>
                <a:latin typeface="Instrument Sans"/>
              </a:rPr>
              <a:t>2</a:t>
            </a:r>
          </a:p>
        </p:txBody>
      </p:sp>
      <p:sp>
        <p:nvSpPr>
          <p:cNvPr id="20" name="TextBox 19"/>
          <p:cNvSpPr txBox="1"/>
          <p:nvPr/>
        </p:nvSpPr>
        <p:spPr>
          <a:xfrm>
            <a:off x="7699248" y="4364736"/>
            <a:ext cx="3593591" cy="618744"/>
          </a:xfrm>
          <a:prstGeom prst="rect">
            <a:avLst/>
          </a:prstGeom>
          <a:noFill/>
        </p:spPr>
        <p:txBody>
          <a:bodyPr wrap="square" anchor="t">
            <a:normAutofit/>
          </a:bodyPr>
          <a:lstStyle/>
          <a:p>
            <a:pPr algn="l">
              <a:lnSpc>
                <a:spcPct val="112000"/>
              </a:lnSpc>
              <a:spcBef>
                <a:spcPts val="0"/>
              </a:spcBef>
              <a:spcAft>
                <a:spcPts val="200"/>
              </a:spcAft>
            </a:pPr>
            <a:r>
              <a:rPr sz="1400" b="0">
                <a:solidFill>
                  <a:srgbClr val="C9C9D2"/>
                </a:solidFill>
                <a:latin typeface="Instrument Sans"/>
              </a:rPr>
              <a:t>Now make it dark-themed and add a per-column note counter.</a:t>
            </a:r>
          </a:p>
        </p:txBody>
      </p:sp>
      <p:sp>
        <p:nvSpPr>
          <p:cNvPr id="21" name="Rectangle 20"/>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3" name="TextBox 22"/>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pic>
        <p:nvPicPr>
          <p:cNvPr id="2" name="Picture 1" descr="bg_13.png"/>
          <p:cNvPicPr>
            <a:picLocks noChangeAspect="1"/>
          </p:cNvPicPr>
          <p:nvPr/>
        </p:nvPicPr>
        <p:blipFill>
          <a:blip r:embed="rId2"/>
          <a:stretch>
            <a:fillRect/>
          </a:stretch>
        </p:blipFill>
        <p:spPr>
          <a:xfrm>
            <a:off x="7680960" y="0"/>
            <a:ext cx="4507992" cy="6858000"/>
          </a:xfrm>
          <a:prstGeom prst="rect">
            <a:avLst/>
          </a:prstGeom>
        </p:spPr>
      </p:pic>
      <p:sp>
        <p:nvSpPr>
          <p:cNvPr id="3" name="Rectangle 2"/>
          <p:cNvSpPr/>
          <p:nvPr/>
        </p:nvSpPr>
        <p:spPr>
          <a:xfrm>
            <a:off x="7680960" y="0"/>
            <a:ext cx="32004" cy="6858000"/>
          </a:xfrm>
          <a:prstGeom prst="rect">
            <a:avLst/>
          </a:prstGeom>
          <a:solidFill>
            <a:srgbClr val="2F6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FLEX SPENT</a:t>
            </a:r>
          </a:p>
        </p:txBody>
      </p:sp>
      <p:sp>
        <p:nvSpPr>
          <p:cNvPr id="5" name="TextBox 4"/>
          <p:cNvSpPr txBox="1"/>
          <p:nvPr/>
        </p:nvSpPr>
        <p:spPr>
          <a:xfrm>
            <a:off x="621792" y="914400"/>
            <a:ext cx="6949440" cy="1280160"/>
          </a:xfrm>
          <a:prstGeom prst="rect">
            <a:avLst/>
          </a:prstGeom>
          <a:noFill/>
        </p:spPr>
        <p:txBody>
          <a:bodyPr wrap="square" anchor="t">
            <a:spAutoFit/>
          </a:bodyPr>
          <a:lstStyle/>
          <a:p>
            <a:pPr algn="l">
              <a:lnSpc>
                <a:spcPct val="100000"/>
              </a:lnSpc>
              <a:spcBef>
                <a:spcPts val="0"/>
              </a:spcBef>
              <a:spcAft>
                <a:spcPts val="200"/>
              </a:spcAft>
            </a:pPr>
            <a:r>
              <a:rPr sz="3800" b="1">
                <a:solidFill>
                  <a:srgbClr val="F5F5F6"/>
                </a:solidFill>
                <a:latin typeface="Instrument Sans"/>
              </a:rPr>
              <a:t>Back to the plan</a:t>
            </a:r>
          </a:p>
        </p:txBody>
      </p:sp>
      <p:sp>
        <p:nvSpPr>
          <p:cNvPr id="6" name="Rectangle 5"/>
          <p:cNvSpPr/>
          <p:nvPr/>
        </p:nvSpPr>
        <p:spPr>
          <a:xfrm>
            <a:off x="640080" y="2926080"/>
            <a:ext cx="457200" cy="45720"/>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3072384"/>
            <a:ext cx="3291840" cy="457200"/>
          </a:xfrm>
          <a:prstGeom prst="rect">
            <a:avLst/>
          </a:prstGeom>
          <a:noFill/>
        </p:spPr>
        <p:txBody>
          <a:bodyPr wrap="square" anchor="t">
            <a:spAutoFit/>
          </a:bodyPr>
          <a:lstStyle/>
          <a:p>
            <a:pPr algn="l">
              <a:lnSpc>
                <a:spcPct val="100000"/>
              </a:lnSpc>
              <a:spcBef>
                <a:spcPts val="0"/>
              </a:spcBef>
              <a:spcAft>
                <a:spcPts val="200"/>
              </a:spcAft>
            </a:pPr>
            <a:r>
              <a:rPr sz="1900" b="1">
                <a:solidFill>
                  <a:srgbClr val="F5F5F6"/>
                </a:solidFill>
                <a:latin typeface="Instrument Sans"/>
              </a:rPr>
              <a:t>What you added</a:t>
            </a:r>
          </a:p>
        </p:txBody>
      </p:sp>
      <p:sp>
        <p:nvSpPr>
          <p:cNvPr id="8" name="TextBox 7"/>
          <p:cNvSpPr txBox="1"/>
          <p:nvPr/>
        </p:nvSpPr>
        <p:spPr>
          <a:xfrm>
            <a:off x="640080" y="3566160"/>
            <a:ext cx="3291840" cy="1828800"/>
          </a:xfrm>
          <a:prstGeom prst="rect">
            <a:avLst/>
          </a:prstGeom>
          <a:noFill/>
        </p:spPr>
        <p:txBody>
          <a:bodyPr wrap="square" anchor="t">
            <a:spAutoFit/>
          </a:bodyPr>
          <a:lstStyle/>
          <a:p>
            <a:pPr algn="l">
              <a:lnSpc>
                <a:spcPct val="125000"/>
              </a:lnSpc>
              <a:spcBef>
                <a:spcPts val="0"/>
              </a:spcBef>
              <a:spcAft>
                <a:spcPts val="200"/>
              </a:spcAft>
            </a:pPr>
            <a:r>
              <a:rPr sz="1600" b="0">
                <a:solidFill>
                  <a:srgbClr val="ACACB4"/>
                </a:solidFill>
                <a:latin typeface="Instrument Sans"/>
              </a:rPr>
              <a:t>A deeper cut than the syllabus promised - because the room earned the time.</a:t>
            </a:r>
          </a:p>
        </p:txBody>
      </p:sp>
      <p:sp>
        <p:nvSpPr>
          <p:cNvPr id="9" name="Rectangle 8"/>
          <p:cNvSpPr/>
          <p:nvPr/>
        </p:nvSpPr>
        <p:spPr>
          <a:xfrm>
            <a:off x="4206240" y="2926080"/>
            <a:ext cx="457200" cy="45720"/>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06240" y="3072384"/>
            <a:ext cx="3291840" cy="457200"/>
          </a:xfrm>
          <a:prstGeom prst="rect">
            <a:avLst/>
          </a:prstGeom>
          <a:noFill/>
        </p:spPr>
        <p:txBody>
          <a:bodyPr wrap="square" anchor="t">
            <a:spAutoFit/>
          </a:bodyPr>
          <a:lstStyle/>
          <a:p>
            <a:pPr algn="l">
              <a:lnSpc>
                <a:spcPct val="100000"/>
              </a:lnSpc>
              <a:spcBef>
                <a:spcPts val="0"/>
              </a:spcBef>
              <a:spcAft>
                <a:spcPts val="200"/>
              </a:spcAft>
            </a:pPr>
            <a:r>
              <a:rPr sz="1900" b="1">
                <a:solidFill>
                  <a:srgbClr val="F5F5F6"/>
                </a:solidFill>
                <a:latin typeface="Instrument Sans"/>
              </a:rPr>
              <a:t>Where it lives</a:t>
            </a:r>
          </a:p>
        </p:txBody>
      </p:sp>
      <p:sp>
        <p:nvSpPr>
          <p:cNvPr id="11" name="TextBox 10"/>
          <p:cNvSpPr txBox="1"/>
          <p:nvPr/>
        </p:nvSpPr>
        <p:spPr>
          <a:xfrm>
            <a:off x="4206240" y="3566160"/>
            <a:ext cx="3291840" cy="1828800"/>
          </a:xfrm>
          <a:prstGeom prst="rect">
            <a:avLst/>
          </a:prstGeom>
          <a:noFill/>
        </p:spPr>
        <p:txBody>
          <a:bodyPr wrap="square" anchor="t">
            <a:spAutoFit/>
          </a:bodyPr>
          <a:lstStyle/>
          <a:p>
            <a:pPr algn="l">
              <a:lnSpc>
                <a:spcPct val="125000"/>
              </a:lnSpc>
              <a:spcBef>
                <a:spcPts val="0"/>
              </a:spcBef>
              <a:spcAft>
                <a:spcPts val="200"/>
              </a:spcAft>
            </a:pPr>
            <a:r>
              <a:rPr sz="1600" b="0">
                <a:solidFill>
                  <a:srgbClr val="ACACB4"/>
                </a:solidFill>
                <a:latin typeface="Instrument Sans"/>
              </a:rPr>
              <a:t>Every module maps to a day and block - revisit it next to those notes.</a:t>
            </a:r>
          </a:p>
        </p:txBody>
      </p:sp>
      <p:sp>
        <p:nvSpPr>
          <p:cNvPr id="12" name="Rectangle 11"/>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14" name="TextBox 13"/>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34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AIA Training Factory 2026.06</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