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min. This deck never opens a day - it rescues one. Tell them: we are ahead of schedule, so instead of stretching a break we go deeper on a power topic the main track could not fit. Each module is a standalone ten-to-fifteen-minute unit. Ask: 'thumbs up in chat if you would rather go deeper than break early?' Expected answer: mostly thumbs up, a few honest holdouts. Transition: here are the six modules on the menu and when each one fits.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min. Walk the menu fast: two Day 1 modules that deepen memory and the command cockpit, three Day 3 modules that restore content cut for time - building MCP servers, code execution, and the Agent SDK - and one anywhere module on the wider Claude surface. Say plainly: we will do one or two of these, not all six. [CRESCENDO L2] Ask in chat: 'which number looks most useful to your team?' Expected answer: a spread, usually clustering on 3 and 5 with developer rooms. Transition: module one - what a production CLAUDE.md actually looks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min. Frame it: this morning you wrote a CLAUDE.md; this module shows what the file looks like after six months of production use by people who live in this tool - including its creator. Three ideas: the shape of a lean file, the loop that improves it automatically, and the handoff pattern for state across sessions. Ask: 'honest one-word answer - is your CLAUDE.md today closer to empty or bloated?' Expected answer: a mix, which sets up the fix. Transition: start with what a lead engineer's file actually looks like inside.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min. Walk the three badges. Lean: community guidance from Claude Code's creator is to hold the file near two hundred lines - longer files get progressively ignored, so overflow moves into .claude/rules/ (verify at delivery - this is field guidance, not a documented hard limit). Behavioral: every line should be executable - 'run npm test before declaring done', never 'write good code'. Tagged: teams like HumanLayer wrap security or testing rules in XML tags so the model treats them as instructions, not background. Ask: 'what is the litmus test for a good file?' Expected answer: a brand-new dev types run the tests and it works first try. Transition: a great file is not written once - it is grown by a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min. This is the compounding trick: the file writes itself if you build the habit. The # prefix files a memory without breaking flow - it is the cheapest documentation you will ever write. The standing rule 'after any correction, append the lesson to lessons.md' turns every mistake into a permanent upgrade; the creator of Claude Code runs exactly this rule. And the red row matters: prune, because a file full of stale rules teaches Claude to ignore all of them. [CRESCENDO L1] Ask for a quick hash-symbol in chat if they have corrected Claude on the same thing twice this week. Expected answer: plenty of hashes. Transition: the loop handles rules - now the pattern for handing off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min. Sell the ritual: context windows die, files do not. Ending every serious session with 'update HANDOFF.md' costs thirty seconds; starting the next session with 'read HANDOFF.md and continue' recovers everything a compaction or a /clear would have destroyed. Keep it under thirty lines so it stays a briefing, not a novel - archive old entries if you want history. Ask: 'what is the difference between HANDOFF.md and auto memory?' Expected answer: you control exactly what survives and it is readable by humans and git. Transition: let's make all three patterns muscle memory - paste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min. Have them run all three in their lab repo. The first files an instant memory with the # prefix - show where it landed afterwards. The second installs the self-improvement loop as a standing instruction. The third writes their first handoff; tell them the real habit is running it before every /clear. Watch for the classic miss: typing the # line as a question instead of a rule. Ask: 'open your memory file - did the # rule land where you expected?' Expected answer: yes, most are surprised how fast that was. Transition: module complete - back to the plan, or on to the cockpit.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min. Frame it: Block 4 gave you the daily-driver commands; this module is the cockpit upgrade - the small quality-of-life features that separate someone who uses Claude Code from someone who lives in it. Everything here costs minutes to set up and pays daily. Ask: 'quick poll - who has customized ANY tool's keybindings, ever, in any editor?' Expected answer: about half the room. Transition: here are the six switches worth mapping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min. Walk the six rows at pace - each is one sentence of what and one of why. Spend the extra beat on /rename plus /resume: naming sessions like ticket titles turns your session list into a to-do board, which is the cheapest project management they will ever get. Ctrl+R is the one nobody knows: full transcript search inside the session. Read the strip honestly - these ship in weekly releases and details drift (verify at delivery). [CRESCENDO L3] Ask for a three-words-or-less answer in chat: 'which switch do you flip first?' Expected answer: statusline and keybindings dominate. Transition: the statusline deserves its own slide - it is your instrument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min. The insight: the statusline is not a fixed feature, it is a script hook - anything a shell one-liner can print, your HUD can show. The elapsed-time counter is the sleeper hit: when the timer reads forty-five minutes on one task, that is your cue that the session needs a /compact or a rethink - it makes context hygiene visible. And the meta-point of card three: you configure Claude Code by asking Claude Code. Exact wiring details move between releases (verify at delivery). Ask: 'what would YOU put on the line?' Expected answer: context percentage and branch, usually cost from the API crowd. Transition: last piece of the cockpit - raw terminal muscle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min. Run the table as a rapid-fire drill and make them physically try Esc Esc and Tab completion right now in their open session - muscle memory forms in the hands, not the ears. The image-paste row surprises people every time: screenshot the broken UI, paste it, type 'fix this' - that is a complete bug report. The ! prefix appeared this morning; here it becomes reflex. Ask: 'which of these five did you not know?' Expected answer: image paste and Ctrl-style transcript search from the last slide. Transition: now rig your own cockpit - paste these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min. Let them run all three. The statusline ask is the wow moment - Claude writes its own HUD script from a plain-English sentence; give it thirty seconds and have people read their new bottom line aloud. The rename makes their session findable tomorrow via /resume. The keybindings command opens the remap surface - tell them NOT to remap everything today, just look. If a command is not recognized, that is the weekly-release drift we flagged - note it and move on (verify at delivery). Ask: 'whose statusline came out best? Paste yours in chat.' Expected answer: two or three show-offs, which is the point. Transition: that closes the cockpit - back to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min. Frame the restore: Block 1 made you a confident MCP consumer - install, configure, secure. This module crosses the line to producer: when the server you need does not exist, you write it, and the first version takes minutes, not days. Ask: 'one-word answer - what internal system do you wish Claude could reach today?' Expected answer: ticketing, order data, internal APIs. Transition: good - by the end of this module you will know exactly how to wire one of those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min. Demystify it: an MCP server is not infrastructure, it is a small program that declares tools and answers a protocol. In Python, the FastMCP pattern from the official SDK turns any function into a tool with a decorator and a docstring; TypeScript's official SDK mirrors the same shape (verify exact package naming at delivery - SDKs iterate). The transport decision they already know from Block 1: stdio on your machine, Streamable HTTP when a team shares it. Ask: 'which part do you think takes the longest in practice?' Expected answer: most say the protocol - the real answer is writing good tool descriptions, which is the next slide. Transition: because the hard part is not code, it is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min. Walk the pipeline and stress step three above all others: the docstring IS the interface - the model chooses tools by reading descriptions, so 'Look up one order's status by ID; returns JSON with status, carrier, ETA' beats 'gets order' every single time. Steps one, two, four and five are mechanical and Claude will happily write them for you. Ask: 'which step do you never write by hand again after today?' Expected answer: all but Describe - that one stays human-owned. Transition: description quality is one rule of tool design - here is the full builder's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min. This is the module's keeper slide. The mental shift: you are designing an API for a reader that never skims - every word of every description gets weighed on every call. Task-shaped beats endpoint-shaped because the model reasons in jobs, not routes; errors that teach turn a failed call into a self-correcting retry instead of a dead end. And land the strip hard: the best MCP server is often the one you do not build. Ask: 'your internal API has 30 endpoints - how many tools should the first server version have?' Expected answer: three to five, covering the real jobs. Transition: before any of it touches Claude, you test it in the Inspector - watch.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min. DEMO. Setup: terminal open in the demo repo with server.py (the FastMCP order-status server) saved; Python venv active and Node available for npx. Steps: run 'npx @modelcontextprotocol/inspector python server.py', open the local URL it prints, click Connect, open the Tools tab, select get_order_status, enter ORD-1001, Run Tool; then rerun with a junk ID to show the teaching error message. Expected output: the tool appears with its full description, the good call returns the JSON payload, the bad call returns 'Order not found - IDs look like ORD-12345'. Recovery: if the Inspector will not launch or connect, fall back to 'claude mcp add orders -- python server.py' and prove the server via /mcp inside Claude Code; runbook has screenshots as the final fallback. Debrief question: 'why test in the Inspector before wiring it into Claude?' Expected answer: it isolates server bugs from agent behavior - one variable at a time. Transition: your turn to scaffold one - paste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min. The first paste has Claude scaffold the whole server - emphasize that the prompt itself encodes this module's design rules: one task-shaped tool, a model-facing docstring, a documented ID format. The second paste is the test ritual from the demo; the third is graduation - the server becomes a real tool in their session. If the SDK import shape differs from what Claude generates, that is normal drift - have Claude read the error and fix it (verify current SDK naming at delivery). Ask: 'what would tool number two be for YOUR business?' Expected answer: their earlier wish-list answers, now concrete. Transition: module done - next stop, making tools cheaper to use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min. Frame it: Block 4 taught you to manage the token bill; this module attacks the bill at its source - how tools get called at all. One mental model, three mechanisms, and arithmetic that changes how you design agent work. Ask: 'gut check in chat - when Claude calls a tool, where does the result go?' Expected answer: most say into the context window, which is exactly the problem we are about to price. Transition: two ways to run the same job - side by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min. Draw the contrast concretely: fetch 50 CI runs and report the failures. Traditional calling pulls all fifty runs through the context window one round-trip at a time, then reasons over them - you pay tokens for every row you will throw away. Code execution flips it: the model writes a small script that calls the same tools as APIs inside a sandbox, filters there, and returns only the failure summary. Context stops being the data bus. Ask: 'when does traditional calling still win?' Expected answer: single quick calls and cases where a human should see every intermediate step. Transition: Anthropic packages this thinking as three mechanisms - the pillars.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min. Walk the pillars as answers to three different costs. Tool search kills the schema tax - with many MCP servers connected, definitions alone can eat tens of thousands of tokens before any work happens, and Day 3 already showed tools deferring by default. Programmatic calling kills the round-trip tax, as the last slide showed. Tool examples kill the retry tax - a worked example teaches parameter shapes better than a longer schema. Read the strip: this framing comes from Anthropic engineering posts, so re-verify naming and availability the morning of (verify at delivery). Ask: 'which tax is biggest in YOUR setup?' Expected answer: schema tax for MCP-heavy rooms. Transition: now put actual numbers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min. Make the arithmetic land. Row two is the one people miss: an intermediate result costs you when it comes back from the tool AND again on every subsequent turn it sits in history. The sandbox dividend follows: aggregation belongs in code, conclusions belong in context. The reported-gains row cites Anthropic's own published example of a document workflow dropping from roughly 150,000 tokens to roughly 2,000 - a huge number, which is exactly why the strip tells them to measure their own workload instead of quoting ours (verify at delivery). [CRESCENDO L3] Ask for three words or less: 'what belongs in context?' Expected answer: decisions, summaries, answers - not data. Transition: turn the principle into prompts you can paste.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min. The first paste is the pattern in production form - the capital ONLY is doing real work, and the closing sentence bans the failure mode explicitly. The second paste is the meta-habit: making the agent justify round-trips before spending them, which trains users to see orchestration cost at all. Have them adapt paste one to a data source from their own labs. Ask: 'what phrase in prompt one saves the most tokens?' Expected answer: returns ONLY a summary table. Transition: module done - and if you like driving this loop from your own code, the next module is the SDK.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min. Frame it: Block 3 ended with claude -p in your pipelines. This module answers the next question - what happens when print mode stops being enough and you want the agent loop inside your own application. Fifteen minutes: what it is, when to switch, what it costs. Ask: 'quick chat answer - who here ships software with a backend where an agent could live?' Expected answer: most of the developer room. Transition: the pitch fits on one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min. The one-sentence pitch: everything they have driven from a terminal for three days - the loop, the tools, skills, MCP, permissions - is available as a library their application imports. Nothing new to learn conceptually; the mental model transfers whole, which is why this module fits in fifteen minutes. Stress badge three: in the SDK, permission rules and hooks are code you ship, not settings a user might change. Ask: 'what changes about testing when the agent is a library?' Expected answer: you can unit test it like any dependency - mock tools, assert outcomes. Transition: so when do you actually switch off claude -p?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min. Give them a clean decision rule. Print mode is a power tool for pipelines: stateless in, text or JSON out, perfect while a human or a simple script consumes the result. The graduation moment is the strip: when your code starts parsing agent output to branch on it, you are building an application around the agent - so use the interface built for applications, with in-process tools and state you own. Ask: 'nightly triage bot that labels GitHub issues - which side?' Expected answer: -p is genuinely fine there; it becomes SDK when the bot needs conversation memory or custom in-process tools. Transition: proof it is fifteen minutes - hello agent, both languages.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min. Walk the snippets: one pip or npm install, then query() - which behaves like claude -p with streamed messages instead of stdout text. Same options surface as the CLI: allowed tools, permission mode, system prompt, MCP servers. Tell them the async iteration is the whole trick - each message is a typed event their app can route. Package names drift between releases, so have Claude verify the current install line before running (verify at delivery). Ask: 'what CLI flag maps to what here?' Expected answer: --allowedTools and permission modes become options fields. Transition: one last thing before anyone ships this - know which meter it runs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min. Close the module on cost clarity, because this is where teams get surprised. Interactive CLI use rides the subscription; production SDK and API traffic is per-token; and eligible paid plans receive a separate weekly Agent SDK token pool for SDK-based work. Read the strip verbatim - Anthropic explicitly did NOT create a separate monthly credit (June 15 billing decision); the pool is weekly; eligibility and amounts vary, so check the official support article the morning of (verify at delivery). Ask: 'your CI job runs the SDK with an API key - which meter?' Expected answer: per-token API billing, regardless of anyone's subscription. Transition: that is the SDK in fifteen - last module widens the lens beyond the terminal.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min. Frame it: three days have lived in the terminal, but the Claude account they already have reaches a much wider surface - some of it genuinely useful the same week. This is a tour with one hands-on stop, and every stop is plan- or admin-gated, so we flag that on every slide. Ask: 'show of hands - who has opened Claude anywhere OTHER than the terminal this week?' Expected answer: a decent number via web or mobile. Transition: the map first, then the fun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min. Position the map: Artifacts is where a conversation becomes a shareable running page; the desktop app brings Claude out of the terminal with a built-in browser surface for web-touching work; and the embedded row is Claude living inside tools teams already use - a browser, Slack, and Cowork-style sessions. None of this replaces the terminal skills from three days - it extends where they apply. Every surface here is gated by plan and admin policy, which the next two slides flag explicitly. Ask: 'which surface would your NON-developer colleagues touch first?' Expected answer: Artifacts or Slack. Transition: Artifacts first, because you can build one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min. This is the module's hands-on beat. Card one: an artifact is a live page - a calculator, a dashboard, a tiny internal tool - generated and revised conversationally. Card two matters for governance rooms: new artifacts start private, and whether they can be shared at all follows plan and administrator policy. Card three is the sleeper: connector-backed artifacts execute with the VIEWER'S effective permissions, not the author's - say that twice, it is the right security default and it surprises people. Ask: 'what tiny internal tool would you build first?' Expected answer: calculators, lookup forms, team dashboards. Transition: the rest of the surface, one beat per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min. One honest beat per row, no overselling. Remote Control: a research preview that lets an approved account continue a local session remotely - execution stays local, transcripts sync under Anthropic's data policy. Trusted Devices: beta, enrollment plus biometric or passkey. Desktop with its built-in browser moves web-touching tasks out of the terminal; Chrome puts the agent in the tab; Slack and Cowork put it where the team already talks and works. Land the strip: none of these are lab dependencies in this course, and half are previews - verify each in the tenant before promising it (verify at delivery). Ask: 'which row does your security team ask about first?' Expected answer: Remote Control and Chrome. Transition: end the tour hands-on - build your first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min. If the tenant allows Artifacts, have them run paste one in the Claude app and watch a working retro board appear; paste two teaches the real workflow - you iterate on a live artifact conversationally instead of regenerating it. If the tenant blocks Artifacts, run it once on the instructor account as a demo and say so plainly - that IS the plan-gating lesson from this module (verify tenant policy at delivery). [CRESCENDO L3] Ask for three words or less in chat: 'first artifact you'd build Monday?' Expected answer: dashboards, calculators, standup boards. Transition: and that closes the flex menu - back to the main track.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min. Close the flex module cleanly and hand back to the main track: name which module the room just took and which day-block it deepens, so their notes file it in the right place. Remind them the paste-this slides are screenshots worth taking now. Ask: 'one takeaway from this detour - type it in chat before we move on.' Expected answer: a quick scatter of the module's key lines, which doubles as your retention check. Transition: back to the scheduled block - we are still ahead.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17.png"/><Relationship Id="rId4" Type="http://schemas.openxmlformats.org/officeDocument/2006/relationships/image" Target="../media/image6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5.png"/><Relationship Id="rId4" Type="http://schemas.openxmlformats.org/officeDocument/2006/relationships/image" Target="../media/image26.png"/><Relationship Id="rId5" Type="http://schemas.openxmlformats.org/officeDocument/2006/relationships/image" Target="../media/image4.png"/><Relationship Id="rId6" Type="http://schemas.openxmlformats.org/officeDocument/2006/relationships/image" Target="../media/image9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8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image" Target="../media/image25.png"/><Relationship Id="rId6" Type="http://schemas.openxmlformats.org/officeDocument/2006/relationships/image" Target="../media/image19.png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21.png"/><Relationship Id="rId4" Type="http://schemas.openxmlformats.org/officeDocument/2006/relationships/image" Target="../media/image17.png"/><Relationship Id="rId5" Type="http://schemas.openxmlformats.org/officeDocument/2006/relationships/image" Target="../media/image33.png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0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4.png"/><Relationship Id="rId4" Type="http://schemas.openxmlformats.org/officeDocument/2006/relationships/image" Target="../media/image20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11.png"/><Relationship Id="rId4" Type="http://schemas.openxmlformats.org/officeDocument/2006/relationships/image" Target="../media/image17.png"/><Relationship Id="rId5" Type="http://schemas.openxmlformats.org/officeDocument/2006/relationships/image" Target="../media/image38.png"/><Relationship Id="rId6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24.png"/><Relationship Id="rId4" Type="http://schemas.openxmlformats.org/officeDocument/2006/relationships/image" Target="../media/image33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33.png"/><Relationship Id="rId4" Type="http://schemas.openxmlformats.org/officeDocument/2006/relationships/image" Target="../media/image17.png"/><Relationship Id="rId5" Type="http://schemas.openxmlformats.org/officeDocument/2006/relationships/image" Target="../media/image16.png"/><Relationship Id="rId6" Type="http://schemas.openxmlformats.org/officeDocument/2006/relationships/image" Target="../media/image38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0"/>
            <a:ext cx="592531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263640" y="0"/>
            <a:ext cx="32004" cy="6858000"/>
          </a:xfrm>
          <a:prstGeom prst="rect">
            <a:avLst/>
          </a:prstGeom>
          <a:solidFill>
            <a:srgbClr val="2F6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502920" cy="45720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432304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spc="180">
                <a:solidFill>
                  <a:srgbClr val="8B8B93"/>
                </a:solidFill>
                <a:latin typeface="Instrument Sans"/>
              </a:rPr>
              <a:t>FLEX MODULES - PULL IN WHEN AHEAD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761488"/>
            <a:ext cx="5669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>
                <a:solidFill>
                  <a:srgbClr val="F5F5F6"/>
                </a:solidFill>
                <a:latin typeface="Instrument Sans"/>
              </a:rPr>
              <a:t>Claude Code Power Topics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7E7E86"/>
                </a:solidFill>
                <a:latin typeface="Instrument Sans"/>
              </a:rPr>
              <a:t>Scott Hay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THE FLEX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Six modules, deploy at will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4C8DF0"/>
                </a:solidFill>
                <a:latin typeface="Instrument San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984248"/>
            <a:ext cx="448056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F5F5F6"/>
                </a:solidFill>
                <a:latin typeface="Instrument Sans"/>
              </a:rPr>
              <a:t>1. CLAUDE.md Power Patterns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ACACB4"/>
                </a:solidFill>
                <a:latin typeface="Instrument Sans"/>
              </a:rPr>
              <a:t>Day 1 flex - after Block 2 (Memory)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304032"/>
            <a:ext cx="5394960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81344" y="196596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4C8DF0"/>
                </a:solidFill>
                <a:latin typeface="Instrument San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4304" y="1984248"/>
            <a:ext cx="448056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F5F5F6"/>
                </a:solidFill>
                <a:latin typeface="Instrument Sans"/>
              </a:rPr>
              <a:t>2. The QoL Arsenal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ACACB4"/>
                </a:solidFill>
                <a:latin typeface="Instrument Sans"/>
              </a:rPr>
              <a:t>Day 1 flex - after Block 4 (Commands)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1344" y="3304032"/>
            <a:ext cx="5394960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41376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4C8DF0"/>
                </a:solidFill>
                <a:latin typeface="Instrument Sans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432048"/>
            <a:ext cx="448056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F5F5F6"/>
                </a:solidFill>
                <a:latin typeface="Instrument Sans"/>
              </a:rPr>
              <a:t>3. Build a Custom MCP Server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ACACB4"/>
                </a:solidFill>
                <a:latin typeface="Instrument Sans"/>
              </a:rPr>
              <a:t>Day 3 flex - extends Block 1 (MCP)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751832"/>
            <a:ext cx="5394960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341376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4C8DF0"/>
                </a:solidFill>
                <a:latin typeface="Instrument Sans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4304" y="3432048"/>
            <a:ext cx="448056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F5F5F6"/>
                </a:solidFill>
                <a:latin typeface="Instrument Sans"/>
              </a:rPr>
              <a:t>4. Code Execution &amp; Tool Use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ACACB4"/>
                </a:solidFill>
                <a:latin typeface="Instrument Sans"/>
              </a:rPr>
              <a:t>Day 3 flex - extends Block 4 (Scale)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4751832"/>
            <a:ext cx="5394960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86156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4C8DF0"/>
                </a:solidFill>
                <a:latin typeface="Instrument Sans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879847"/>
            <a:ext cx="448056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F5F5F6"/>
                </a:solidFill>
                <a:latin typeface="Instrument Sans"/>
              </a:rPr>
              <a:t>5. The Agent SDK in 15 Minutes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ACACB4"/>
                </a:solidFill>
                <a:latin typeface="Instrument Sans"/>
              </a:rPr>
              <a:t>Day 3 flex - after Block 3 (Headless)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199631"/>
            <a:ext cx="5394960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81344" y="486156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4C8DF0"/>
                </a:solidFill>
                <a:latin typeface="Instrument Sans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04304" y="4879847"/>
            <a:ext cx="448056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F5F5F6"/>
                </a:solidFill>
                <a:latin typeface="Instrument Sans"/>
              </a:rPr>
              <a:t>6. The Wider Surface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ACACB4"/>
                </a:solidFill>
                <a:latin typeface="Instrument Sans"/>
              </a:rPr>
              <a:t>Any day - closer or energy break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81344" y="6199631"/>
            <a:ext cx="5394960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0"/>
            <a:ext cx="583387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355080" y="0"/>
            <a:ext cx="32004" cy="6858000"/>
          </a:xfrm>
          <a:prstGeom prst="rect">
            <a:avLst/>
          </a:prstGeom>
          <a:solidFill>
            <a:srgbClr val="2F6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542032"/>
            <a:ext cx="548640" cy="54864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06624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spc="200">
                <a:solidFill>
                  <a:srgbClr val="8B8B93"/>
                </a:solidFill>
                <a:latin typeface="Instrument Sans"/>
              </a:rPr>
              <a:t>FLEX MODULE 1 - 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54096"/>
            <a:ext cx="553212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5F5F6"/>
                </a:solidFill>
                <a:latin typeface="Instrument Sans"/>
              </a:rPr>
              <a:t>CLAUDE.md Power Patterns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983480"/>
            <a:ext cx="5440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ACACB4"/>
                </a:solidFill>
                <a:latin typeface="Instrument Sans"/>
              </a:rPr>
              <a:t>Pull in when ahead - pairs with Day 1 Block 2 (Memory &amp; CLAUDE.md)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600" cy="6437376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800600" y="0"/>
            <a:ext cx="45720" cy="6858000"/>
          </a:xfrm>
          <a:prstGeom prst="rect">
            <a:avLst/>
          </a:prstGeom>
          <a:solidFill>
            <a:srgbClr val="2F6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49240" y="603504"/>
            <a:ext cx="63852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spc="160">
                <a:solidFill>
                  <a:srgbClr val="8B8B93"/>
                </a:solidFill>
                <a:latin typeface="Instrument Sans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49240" y="969264"/>
            <a:ext cx="6385255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5F5F6"/>
                </a:solidFill>
                <a:latin typeface="Instrument Sans"/>
              </a:rPr>
              <a:t>Inside a lead engineer's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49240" y="2286000"/>
            <a:ext cx="63852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Patterns from the CLAUDE.md of Claude Code's own creator - and teams shipping with it daily.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0" y="3474720"/>
            <a:ext cx="6385255" cy="853440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23559" y="3617976"/>
            <a:ext cx="566928" cy="566928"/>
          </a:xfrm>
          <a:prstGeom prst="ellipse">
            <a:avLst/>
          </a:prstGeom>
          <a:solidFill>
            <a:srgbClr val="E6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cale_2A2A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630" y="3771046"/>
            <a:ext cx="260786" cy="26078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64807" y="3474720"/>
            <a:ext cx="5041087" cy="85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F5F5F6"/>
                </a:solidFill>
                <a:latin typeface="Instrument Sans"/>
              </a:rPr>
              <a:t>Lean</a:t>
            </a:r>
            <a:r>
              <a:rPr sz="1400" b="0">
                <a:solidFill>
                  <a:srgbClr val="ACACB4"/>
                </a:solidFill>
                <a:latin typeface="Instrument Sans"/>
              </a:rPr>
              <a:t>  -  ~200 lines max - past that, rules get sampled, not followed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4474464"/>
            <a:ext cx="6385255" cy="853440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23559" y="4617720"/>
            <a:ext cx="566928" cy="566928"/>
          </a:xfrm>
          <a:prstGeom prst="ellipse">
            <a:avLst/>
          </a:prstGeom>
          <a:solidFill>
            <a:srgbClr val="E6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en_2A2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6630" y="4770790"/>
            <a:ext cx="260786" cy="26078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64807" y="4474464"/>
            <a:ext cx="5041087" cy="85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F5F5F6"/>
                </a:solidFill>
                <a:latin typeface="Instrument Sans"/>
              </a:rPr>
              <a:t>Behavioral</a:t>
            </a:r>
            <a:r>
              <a:rPr sz="1400" b="0">
                <a:solidFill>
                  <a:srgbClr val="ACACB4"/>
                </a:solidFill>
                <a:latin typeface="Instrument Sans"/>
              </a:rPr>
              <a:t>  -  rules Claude can execute, not vibes it should absorb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9240" y="5474208"/>
            <a:ext cx="6385255" cy="853440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23559" y="5617463"/>
            <a:ext cx="566928" cy="566928"/>
          </a:xfrm>
          <a:prstGeom prst="ellipse">
            <a:avLst/>
          </a:prstGeom>
          <a:solidFill>
            <a:srgbClr val="E6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oc_2A2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6630" y="5770534"/>
            <a:ext cx="260786" cy="26078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64807" y="5474208"/>
            <a:ext cx="5041087" cy="85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F5F5F6"/>
                </a:solidFill>
                <a:latin typeface="Instrument Sans"/>
              </a:rPr>
              <a:t>Tagged</a:t>
            </a:r>
            <a:r>
              <a:rPr sz="1400" b="0">
                <a:solidFill>
                  <a:srgbClr val="ACACB4"/>
                </a:solidFill>
                <a:latin typeface="Instrument Sans"/>
              </a:rPr>
              <a:t>  -  critical rules wrapped in &lt;xml_tags&gt; so they stand out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MECHANICS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The self-improvement loop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27531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1959102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n_2A2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096262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91056" y="1828800"/>
            <a:ext cx="2743200" cy="8275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# to 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828800"/>
            <a:ext cx="6903720" cy="8275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Start a message with # - Claude files it into memory for you.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02636"/>
            <a:ext cx="10908792" cy="827531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1248" y="2932938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fresh_2A2A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070098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91056" y="2802636"/>
            <a:ext cx="2743200" cy="8275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Correction becomes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802636"/>
            <a:ext cx="6903720" cy="8275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Every time you fix Claude twice, write the rule once.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76472"/>
            <a:ext cx="10908792" cy="827531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3906774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ook_2A2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043933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91056" y="3776472"/>
            <a:ext cx="2743200" cy="8275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lessons.md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3776472"/>
            <a:ext cx="6903720" cy="8275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'After any correction, append the lesson' - as a standing rule.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50308"/>
            <a:ext cx="10908792" cy="827531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1248" y="4880610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x_E26B6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017770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91056" y="4750308"/>
            <a:ext cx="2743200" cy="8275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Prune monthly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750308"/>
            <a:ext cx="6903720" cy="8275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Dead rules erode trust in the live ones - delete them.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760720"/>
            <a:ext cx="10908792" cy="658368"/>
          </a:xfrm>
          <a:prstGeom prst="roundRect">
            <a:avLst>
              <a:gd name="adj" fmla="val 16000"/>
            </a:avLst>
          </a:prstGeom>
          <a:solidFill>
            <a:srgbClr val="173527"/>
          </a:solidFill>
          <a:ln w="9525">
            <a:solidFill>
              <a:srgbClr val="2E6E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heck_46B17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" y="5907024"/>
            <a:ext cx="365760" cy="365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371600" y="5760720"/>
            <a:ext cx="9994392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BFE6D2"/>
                </a:solidFill>
                <a:latin typeface="Instrument Sans"/>
              </a:rPr>
              <a:t>Litmus test: a new dev types 'run the tests' - if it works first try, your file is doing its job.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ADVANCED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HANDOFF.md: state that survives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ACACB4"/>
                </a:solidFill>
                <a:latin typeface="Instrument Sans"/>
              </a:rPr>
              <a:t>The advanced form of 'state lives in files, not sessions'.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46020"/>
            <a:ext cx="3453384" cy="3063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7824" y="2628900"/>
            <a:ext cx="475488" cy="47548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oc_2A2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756916"/>
            <a:ext cx="219456" cy="219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7824" y="3250691"/>
            <a:ext cx="2977896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>
                <a:solidFill>
                  <a:srgbClr val="F5F5F6"/>
                </a:solidFill>
                <a:latin typeface="Instrument Sans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890772"/>
            <a:ext cx="2977896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ACACB4"/>
                </a:solidFill>
                <a:latin typeface="Instrument Sans"/>
              </a:rPr>
              <a:t>A short file: what changed, what's next, what's blocked.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7784" y="2446020"/>
            <a:ext cx="3453384" cy="3063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5528" y="2628900"/>
            <a:ext cx="475488" cy="47548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fresh_2A2A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3544" y="2756916"/>
            <a:ext cx="219456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5528" y="3250691"/>
            <a:ext cx="2977896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>
                <a:solidFill>
                  <a:srgbClr val="F5F5F6"/>
                </a:solidFill>
                <a:latin typeface="Instrument Sans"/>
              </a:rPr>
              <a:t>The ritual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5528" y="3890772"/>
            <a:ext cx="2977896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ACACB4"/>
                </a:solidFill>
                <a:latin typeface="Instrument Sans"/>
              </a:rPr>
              <a:t>Last act of a session: write it. First act of the next: read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5488" y="2446020"/>
            <a:ext cx="3453384" cy="3063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33232" y="2628900"/>
            <a:ext cx="475488" cy="47548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ocket_2A2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1248" y="2756916"/>
            <a:ext cx="219456" cy="219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33232" y="3250691"/>
            <a:ext cx="2977896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>
                <a:solidFill>
                  <a:srgbClr val="F5F5F6"/>
                </a:solidFill>
                <a:latin typeface="Instrument Sans"/>
              </a:rPr>
              <a:t>The payoff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3232" y="3890772"/>
            <a:ext cx="2977896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ACACB4"/>
                </a:solidFill>
                <a:latin typeface="Instrument Sans"/>
              </a:rPr>
              <a:t>A fresh session is productive in one prompt, not ten.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760720"/>
            <a:ext cx="10908792" cy="658368"/>
          </a:xfrm>
          <a:prstGeom prst="roundRect">
            <a:avLst>
              <a:gd name="adj" fmla="val 16000"/>
            </a:avLst>
          </a:prstGeom>
          <a:solidFill>
            <a:srgbClr val="16324F"/>
          </a:solidFill>
          <a:ln w="9525">
            <a:solidFill>
              <a:srgbClr val="2F6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nfo_4C8DF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5907024"/>
            <a:ext cx="365760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71600" y="5760720"/>
            <a:ext cx="9994392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AD8F2"/>
                </a:solidFill>
                <a:latin typeface="Instrument Sans"/>
              </a:rPr>
              <a:t>Pairs with Day 1's 'state lives in files' principle - this is that principle made into a habit.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FOLLOW ALONG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Paste this: teach it a lesson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6126480" cy="4206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84832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>
                <a:solidFill>
                  <a:srgbClr val="F5F5F6"/>
                </a:solidFill>
                <a:latin typeface="Instrument Sans"/>
              </a:rPr>
              <a:t>What you are practicing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146304" cy="18288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74320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Filing a rule without breaking 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419856"/>
            <a:ext cx="146304" cy="18288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3310128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Turning a correction into permanence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986784"/>
            <a:ext cx="146304" cy="18288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38770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Ending a session with a handoff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810512"/>
            <a:ext cx="45079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spc="150">
                <a:solidFill>
                  <a:srgbClr val="8B8B93"/>
                </a:solidFill>
                <a:latin typeface="Instrument Sans"/>
              </a:rPr>
              <a:t>PASTE THIS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286000"/>
            <a:ext cx="4507992" cy="1057656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42048" y="2450592"/>
            <a:ext cx="310896" cy="310896"/>
          </a:xfrm>
          <a:prstGeom prst="ellipse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42048" y="2432304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03036"/>
                </a:solidFill>
                <a:latin typeface="Instrument San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9248" y="2670048"/>
            <a:ext cx="3593591" cy="61874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9C9D2"/>
                </a:solidFill>
                <a:latin typeface="Instrument Sans"/>
              </a:rPr>
              <a:t># Always run the full test suite before declaring any task done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3489960"/>
            <a:ext cx="4507992" cy="1057656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42048" y="3654552"/>
            <a:ext cx="310896" cy="310896"/>
          </a:xfrm>
          <a:prstGeom prst="ellipse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2048" y="3636264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03036"/>
                </a:solidFill>
                <a:latin typeface="Instrumen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3874007"/>
            <a:ext cx="3593591" cy="61874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9C9D2"/>
                </a:solidFill>
                <a:latin typeface="Instrument Sans"/>
              </a:rPr>
              <a:t>After any correction from me, append the lesson to lessons.md as a one-line rule.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4693920"/>
            <a:ext cx="4507992" cy="1057656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242048" y="4858511"/>
            <a:ext cx="310896" cy="310896"/>
          </a:xfrm>
          <a:prstGeom prst="ellipse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42048" y="4840224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03036"/>
                </a:solidFill>
                <a:latin typeface="Instrumen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99248" y="5077967"/>
            <a:ext cx="3593591" cy="61874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9C9D2"/>
                </a:solidFill>
                <a:latin typeface="Instrument Sans"/>
              </a:rPr>
              <a:t>Update HANDOFF.md: what changed, what's next, what's blocked. Keep it under 30 lines.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0"/>
            <a:ext cx="583387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355080" y="0"/>
            <a:ext cx="32004" cy="6858000"/>
          </a:xfrm>
          <a:prstGeom prst="rect">
            <a:avLst/>
          </a:prstGeom>
          <a:solidFill>
            <a:srgbClr val="2F6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542032"/>
            <a:ext cx="548640" cy="54864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06624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spc="200">
                <a:solidFill>
                  <a:srgbClr val="8B8B93"/>
                </a:solidFill>
                <a:latin typeface="Instrument Sans"/>
              </a:rPr>
              <a:t>FLEX MODULE 2 - 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54096"/>
            <a:ext cx="553212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5F5F6"/>
                </a:solidFill>
                <a:latin typeface="Instrument Sans"/>
              </a:rPr>
              <a:t>The QoL Arsenal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983480"/>
            <a:ext cx="5440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ACACB4"/>
                </a:solidFill>
                <a:latin typeface="Instrument Sans"/>
              </a:rPr>
              <a:t>Pull in when ahead - pairs with Day 1 Block 4 (Commands, Cost &amp; Permissions)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THE COCKPIT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Cockpit switches worth mapping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502919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1796795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n_2A2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1933955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91056" y="1828800"/>
            <a:ext cx="2743200" cy="502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/keybindings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828800"/>
            <a:ext cx="6903720" cy="502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Remap everything - ~/.claude/keybindings.json, chords included.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78024"/>
            <a:ext cx="10908792" cy="502919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1248" y="2446020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_2A2A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583179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91056" y="2478024"/>
            <a:ext cx="2743200" cy="502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/statusline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478024"/>
            <a:ext cx="6903720" cy="502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A persistent HUD line: model, branch, context, elapsed 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27248"/>
            <a:ext cx="10908792" cy="502919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3095244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ist_2A2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3232403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91056" y="3127248"/>
            <a:ext cx="2743200" cy="502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/rename + /resume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3127248"/>
            <a:ext cx="6903720" cy="502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Label sessions like tickets - 'TODO: refactor auth' - and return later.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76472"/>
            <a:ext cx="10908792" cy="502919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1248" y="3744468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eye_2A2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3881628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91056" y="3776472"/>
            <a:ext cx="2743200" cy="502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Ctrl+R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3776472"/>
            <a:ext cx="6903720" cy="502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Search the full session transcript - find that command from an hour ago.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25696"/>
            <a:ext cx="10908792" cy="502919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1248" y="4393692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pps_2A2A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" y="4530852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591056" y="4425696"/>
            <a:ext cx="2743200" cy="502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/terminal-setup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425696"/>
            <a:ext cx="6903720" cy="502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One-time fix so Shift+Enter inserts a newline in your terminal.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074920"/>
            <a:ext cx="10908792" cy="502919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41248" y="5042916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hat_2A2A3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" y="5180076"/>
            <a:ext cx="292608" cy="2926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591056" y="5074920"/>
            <a:ext cx="2743200" cy="502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/btw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5074920"/>
            <a:ext cx="6903720" cy="502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Ask a side question without polluting the main task context.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760720"/>
            <a:ext cx="10908792" cy="658368"/>
          </a:xfrm>
          <a:prstGeom prst="roundRect">
            <a:avLst>
              <a:gd name="adj" fmla="val 16000"/>
            </a:avLst>
          </a:prstGeom>
          <a:solidFill>
            <a:srgbClr val="3A2F0A"/>
          </a:solidFill>
          <a:ln w="9525">
            <a:solidFill>
              <a:srgbClr val="8A6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warn_E0A93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" y="5907024"/>
            <a:ext cx="365760" cy="3657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371600" y="5760720"/>
            <a:ext cx="9994392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F0D9A6"/>
                </a:solidFill>
                <a:latin typeface="Instrument Sans"/>
              </a:rPr>
              <a:t>Weekly releases move these fast - re-verify each command's exact behavior on delivery morning.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THE HUD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/statusline: build your HUD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ACACB4"/>
                </a:solidFill>
                <a:latin typeface="Instrument Sans"/>
              </a:rPr>
              <a:t>One persistent line at the bottom of every prompt.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46020"/>
            <a:ext cx="3453384" cy="3063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7824" y="2628900"/>
            <a:ext cx="475488" cy="47548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ye_2A2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756916"/>
            <a:ext cx="219456" cy="219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7824" y="3250691"/>
            <a:ext cx="2977896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>
                <a:solidFill>
                  <a:srgbClr val="F5F5F6"/>
                </a:solidFill>
                <a:latin typeface="Instrument Sans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890772"/>
            <a:ext cx="2977896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ACACB4"/>
                </a:solidFill>
                <a:latin typeface="Instrument Sans"/>
              </a:rPr>
              <a:t>Model, git branch, context used - whatever you script.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7784" y="2446020"/>
            <a:ext cx="3453384" cy="3063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5528" y="2628900"/>
            <a:ext cx="475488" cy="47548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ock_2A2A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3544" y="2756916"/>
            <a:ext cx="219456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5528" y="3250691"/>
            <a:ext cx="2977896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>
                <a:solidFill>
                  <a:srgbClr val="F5F5F6"/>
                </a:solidFill>
                <a:latin typeface="Instrument Sans"/>
              </a:rPr>
              <a:t>Elapsed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5528" y="3890772"/>
            <a:ext cx="2977896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ACACB4"/>
                </a:solidFill>
                <a:latin typeface="Instrument Sans"/>
              </a:rPr>
              <a:t>A running session timer keeps long tasks honest.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5488" y="2446020"/>
            <a:ext cx="3453384" cy="3063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33232" y="2628900"/>
            <a:ext cx="475488" cy="47548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park_2A2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1248" y="2756916"/>
            <a:ext cx="219456" cy="219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33232" y="3250691"/>
            <a:ext cx="2977896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>
                <a:solidFill>
                  <a:srgbClr val="F5F5F6"/>
                </a:solidFill>
                <a:latin typeface="Instrument Sans"/>
              </a:rPr>
              <a:t>How you build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3232" y="3890772"/>
            <a:ext cx="2977896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ACACB4"/>
                </a:solidFill>
                <a:latin typeface="Instrument Sans"/>
              </a:rPr>
              <a:t>Describe it in English - Claude writes the script itself.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760720"/>
            <a:ext cx="10908792" cy="658368"/>
          </a:xfrm>
          <a:prstGeom prst="roundRect">
            <a:avLst>
              <a:gd name="adj" fmla="val 16000"/>
            </a:avLst>
          </a:prstGeom>
          <a:solidFill>
            <a:srgbClr val="16324F"/>
          </a:solidFill>
          <a:ln w="9525">
            <a:solidFill>
              <a:srgbClr val="2F6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nfo_4C8DF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5907024"/>
            <a:ext cx="365760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71600" y="5760720"/>
            <a:ext cx="9994392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AD8F2"/>
                </a:solidFill>
                <a:latin typeface="Instrument Sans"/>
              </a:rPr>
              <a:t>The statusline is just a script in your settings - ask Claude to write and wire it for you.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MUSCLE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Terminal moves that compound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0908792" cy="548640"/>
          </a:xfrm>
          <a:prstGeom prst="rect">
            <a:avLst/>
          </a:prstGeom>
          <a:solidFill>
            <a:srgbClr val="30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2468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spc="120">
                <a:solidFill>
                  <a:srgbClr val="7E7E86"/>
                </a:solidFill>
                <a:latin typeface="Instrument Sans"/>
              </a:rPr>
              <a:t>MOVE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874519"/>
            <a:ext cx="798271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spc="120">
                <a:solidFill>
                  <a:srgbClr val="7E7E86"/>
                </a:solidFill>
                <a:latin typeface="Instrument Sans"/>
              </a:rPr>
              <a:t>PAYOFF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23160"/>
            <a:ext cx="10908792" cy="768095"/>
          </a:xfrm>
          <a:prstGeom prst="rect">
            <a:avLst/>
          </a:prstGeom>
          <a:solidFill>
            <a:srgbClr val="28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423160"/>
            <a:ext cx="10908792" cy="9144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2468880" cy="768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5F5F6"/>
                </a:solidFill>
                <a:latin typeface="Instrument Sans"/>
              </a:rPr>
              <a:t>Esc Esc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423160"/>
            <a:ext cx="7982712" cy="768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Jump back in the conversation - the rewind entry point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91256"/>
            <a:ext cx="10908792" cy="768095"/>
          </a:xfrm>
          <a:prstGeom prst="rect">
            <a:avLst/>
          </a:prstGeom>
          <a:solidFill>
            <a:srgbClr val="34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191256"/>
            <a:ext cx="10908792" cy="9144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91256"/>
            <a:ext cx="2468880" cy="768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5F5F6"/>
                </a:solidFill>
                <a:latin typeface="Instrument Sans"/>
              </a:rPr>
              <a:t>! prefix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191256"/>
            <a:ext cx="7982712" cy="768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Run a shell command; the output lands in context, no copy-paste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59352"/>
            <a:ext cx="10908792" cy="768095"/>
          </a:xfrm>
          <a:prstGeom prst="rect">
            <a:avLst/>
          </a:prstGeom>
          <a:solidFill>
            <a:srgbClr val="28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959352"/>
            <a:ext cx="10908792" cy="9144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959352"/>
            <a:ext cx="2468880" cy="768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5F5F6"/>
                </a:solidFill>
                <a:latin typeface="Instrument Sans"/>
              </a:rPr>
              <a:t>Tab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959352"/>
            <a:ext cx="7982712" cy="768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Complete file paths - stop typing them from memory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727448"/>
            <a:ext cx="10908792" cy="768095"/>
          </a:xfrm>
          <a:prstGeom prst="rect">
            <a:avLst/>
          </a:prstGeom>
          <a:solidFill>
            <a:srgbClr val="34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727448"/>
            <a:ext cx="10908792" cy="9144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27448"/>
            <a:ext cx="2468880" cy="768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5F5F6"/>
                </a:solidFill>
                <a:latin typeface="Instrument Sans"/>
              </a:rPr>
              <a:t>Paste an image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4727448"/>
            <a:ext cx="7982712" cy="768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Screenshots go straight into the prompt - point at the bug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495544"/>
            <a:ext cx="10908792" cy="768095"/>
          </a:xfrm>
          <a:prstGeom prst="rect">
            <a:avLst/>
          </a:prstGeom>
          <a:solidFill>
            <a:srgbClr val="28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495544"/>
            <a:ext cx="10908792" cy="9144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95544"/>
            <a:ext cx="2468880" cy="768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5F5F6"/>
                </a:solidFill>
                <a:latin typeface="Instrument Sans"/>
              </a:rPr>
              <a:t>Shift+Tab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5495544"/>
            <a:ext cx="7982712" cy="768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Cycle permission modes without leaving the keyboard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FOLLOW ALONG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Paste this: rig the cockpit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6126480" cy="4206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84832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>
                <a:solidFill>
                  <a:srgbClr val="F5F5F6"/>
                </a:solidFill>
                <a:latin typeface="Instrument Sans"/>
              </a:rPr>
              <a:t>What you are practicing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146304" cy="18288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74320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A HUD you designed in English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419856"/>
            <a:ext cx="146304" cy="18288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3310128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Session names that read like tickets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986784"/>
            <a:ext cx="146304" cy="18288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38770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Letting Claude configure Claude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810512"/>
            <a:ext cx="45079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spc="150">
                <a:solidFill>
                  <a:srgbClr val="8B8B93"/>
                </a:solidFill>
                <a:latin typeface="Instrument Sans"/>
              </a:rPr>
              <a:t>PASTE THIS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286000"/>
            <a:ext cx="4507992" cy="1303020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42048" y="2450592"/>
            <a:ext cx="310896" cy="310896"/>
          </a:xfrm>
          <a:prstGeom prst="ellipse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42048" y="2432304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03036"/>
                </a:solidFill>
                <a:latin typeface="Instrument San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9248" y="2670048"/>
            <a:ext cx="3593591" cy="8641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9C9D2"/>
                </a:solidFill>
                <a:latin typeface="Instrument Sans"/>
              </a:rPr>
              <a:t>/statusline show the model, current git branch, context % used, and minutes elapsed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3735324"/>
            <a:ext cx="4507992" cy="812292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42048" y="3899915"/>
            <a:ext cx="310896" cy="310896"/>
          </a:xfrm>
          <a:prstGeom prst="ellipse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2048" y="388162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03036"/>
                </a:solidFill>
                <a:latin typeface="Instrumen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4119372"/>
            <a:ext cx="3593591" cy="3733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9C9D2"/>
                </a:solidFill>
                <a:latin typeface="Instrument Sans"/>
              </a:rPr>
              <a:t>/rename flex-lab-TODO-cleanup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4693920"/>
            <a:ext cx="4507992" cy="812292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242048" y="4858511"/>
            <a:ext cx="310896" cy="310896"/>
          </a:xfrm>
          <a:prstGeom prst="ellipse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42048" y="4840224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03036"/>
                </a:solidFill>
                <a:latin typeface="Instrumen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99248" y="5077967"/>
            <a:ext cx="3593591" cy="3733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9C9D2"/>
                </a:solidFill>
                <a:latin typeface="Instrument Sans"/>
              </a:rPr>
              <a:t>/keybindings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0"/>
            <a:ext cx="583387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355080" y="0"/>
            <a:ext cx="32004" cy="6858000"/>
          </a:xfrm>
          <a:prstGeom prst="rect">
            <a:avLst/>
          </a:prstGeom>
          <a:solidFill>
            <a:srgbClr val="2F6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542032"/>
            <a:ext cx="548640" cy="54864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06624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spc="200">
                <a:solidFill>
                  <a:srgbClr val="8B8B93"/>
                </a:solidFill>
                <a:latin typeface="Instrument Sans"/>
              </a:rPr>
              <a:t>FLEX MODULE 3 - DAY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54096"/>
            <a:ext cx="553212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5F5F6"/>
                </a:solidFill>
                <a:latin typeface="Instrument Sans"/>
              </a:rPr>
              <a:t>Build a Custom MCP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983480"/>
            <a:ext cx="5440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ACACB4"/>
                </a:solidFill>
                <a:latin typeface="Instrument Sans"/>
              </a:rPr>
              <a:t>Pull in when ahead - restores the build-your-own content cut from Day 3 Block 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600" cy="6437376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800600" y="0"/>
            <a:ext cx="45720" cy="6858000"/>
          </a:xfrm>
          <a:prstGeom prst="rect">
            <a:avLst/>
          </a:prstGeom>
          <a:solidFill>
            <a:srgbClr val="2F6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49240" y="603504"/>
            <a:ext cx="63852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spc="160">
                <a:solidFill>
                  <a:srgbClr val="8B8B93"/>
                </a:solidFill>
                <a:latin typeface="Instrument Sans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49240" y="969264"/>
            <a:ext cx="6385255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5F5F6"/>
                </a:solidFill>
                <a:latin typeface="Instrument Sans"/>
              </a:rPr>
              <a:t>From consumer to builder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49240" y="2286000"/>
            <a:ext cx="63852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A server is small: tools, descriptions, and a transport.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0" y="3474720"/>
            <a:ext cx="6385255" cy="853440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23559" y="3617976"/>
            <a:ext cx="566928" cy="566928"/>
          </a:xfrm>
          <a:prstGeom prst="ellipse">
            <a:avLst/>
          </a:prstGeom>
          <a:solidFill>
            <a:srgbClr val="E6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pps_2A2A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630" y="3771046"/>
            <a:ext cx="260786" cy="26078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64807" y="3474720"/>
            <a:ext cx="5041087" cy="85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F5F5F6"/>
                </a:solidFill>
                <a:latin typeface="Instrument Sans"/>
              </a:rPr>
              <a:t>Tools</a:t>
            </a:r>
            <a:r>
              <a:rPr sz="1400" b="0">
                <a:solidFill>
                  <a:srgbClr val="ACACB4"/>
                </a:solidFill>
                <a:latin typeface="Instrument Sans"/>
              </a:rPr>
              <a:t>  -  functions with model-facing descriptions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4474464"/>
            <a:ext cx="6385255" cy="853440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23559" y="4617720"/>
            <a:ext cx="566928" cy="566928"/>
          </a:xfrm>
          <a:prstGeom prst="ellipse">
            <a:avLst/>
          </a:prstGeom>
          <a:solidFill>
            <a:srgbClr val="E6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oc_2A2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6630" y="4770790"/>
            <a:ext cx="260786" cy="26078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64807" y="4474464"/>
            <a:ext cx="5041087" cy="85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F5F5F6"/>
                </a:solidFill>
                <a:latin typeface="Instrument Sans"/>
              </a:rPr>
              <a:t>FastMCP</a:t>
            </a:r>
            <a:r>
              <a:rPr sz="1400" b="0">
                <a:solidFill>
                  <a:srgbClr val="ACACB4"/>
                </a:solidFill>
                <a:latin typeface="Instrument Sans"/>
              </a:rPr>
              <a:t>  -  the Python decorator pattern - a tool in ~10 lines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9240" y="5474208"/>
            <a:ext cx="6385255" cy="853440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23559" y="5617463"/>
            <a:ext cx="566928" cy="566928"/>
          </a:xfrm>
          <a:prstGeom prst="ellipse">
            <a:avLst/>
          </a:prstGeom>
          <a:solidFill>
            <a:srgbClr val="E6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are_2A2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6630" y="5770534"/>
            <a:ext cx="260786" cy="26078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64807" y="5474208"/>
            <a:ext cx="5041087" cy="85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F5F5F6"/>
                </a:solidFill>
                <a:latin typeface="Instrument Sans"/>
              </a:rPr>
              <a:t>Transport</a:t>
            </a:r>
            <a:r>
              <a:rPr sz="1400" b="0">
                <a:solidFill>
                  <a:srgbClr val="ACACB4"/>
                </a:solidFill>
                <a:latin typeface="Instrument Sans"/>
              </a:rPr>
              <a:t>  -  stdio for local, Streamable HTTP for shared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MECHANICS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FastMCP in five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51760"/>
            <a:ext cx="1889150" cy="23774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07791"/>
            <a:ext cx="134051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4C8DF0"/>
                </a:solidFill>
                <a:latin typeface="Instrument San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34051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5F5F6"/>
                </a:solidFill>
                <a:latin typeface="Instrument Sans"/>
              </a:rPr>
              <a:t>Install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34051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Official MCP SDK, fresh venv.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7518" y="3611880"/>
            <a:ext cx="3291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7E7E86"/>
                </a:solidFill>
                <a:latin typeface="Instrument Sans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4990" y="2651760"/>
            <a:ext cx="1889150" cy="23774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69310" y="2907791"/>
            <a:ext cx="134051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4C8DF0"/>
                </a:solidFill>
                <a:latin typeface="Instrument San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9310" y="3566160"/>
            <a:ext cx="134051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5F5F6"/>
                </a:solidFill>
                <a:latin typeface="Instrument Sans"/>
              </a:rPr>
              <a:t>Wrap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9310" y="4114800"/>
            <a:ext cx="134051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A plain function as a @tool.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2428" y="3611880"/>
            <a:ext cx="3291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7E7E86"/>
                </a:solidFill>
                <a:latin typeface="Instrument Sans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9900" y="2651760"/>
            <a:ext cx="1889150" cy="23774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4220" y="2907791"/>
            <a:ext cx="134051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4C8DF0"/>
                </a:solidFill>
                <a:latin typeface="Instrument San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4220" y="3566160"/>
            <a:ext cx="134051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5F5F6"/>
                </a:solidFill>
                <a:latin typeface="Instrument Sans"/>
              </a:rPr>
              <a:t>Explain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24220" y="4114800"/>
            <a:ext cx="134051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Docstring for the model.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7339" y="3611880"/>
            <a:ext cx="3291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7E7E86"/>
                </a:solidFill>
                <a:latin typeface="Instrument Sans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4811" y="2651760"/>
            <a:ext cx="1889150" cy="23774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79131" y="2907791"/>
            <a:ext cx="134051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4C8DF0"/>
                </a:solidFill>
                <a:latin typeface="Instrument San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79131" y="3566160"/>
            <a:ext cx="134051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5F5F6"/>
                </a:solidFill>
                <a:latin typeface="Instrument Sans"/>
              </a:rPr>
              <a:t>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79131" y="4114800"/>
            <a:ext cx="134051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Serve over stdio.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249" y="3611880"/>
            <a:ext cx="3291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7E7E86"/>
                </a:solidFill>
                <a:latin typeface="Instrument Sans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59721" y="2651760"/>
            <a:ext cx="1889150" cy="23774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34041" y="2907791"/>
            <a:ext cx="134051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4C8DF0"/>
                </a:solidFill>
                <a:latin typeface="Instrument San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34041" y="3566160"/>
            <a:ext cx="134051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5F5F6"/>
                </a:solidFill>
                <a:latin typeface="Instrument Sans"/>
              </a:rPr>
              <a:t>Add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4041" y="4114800"/>
            <a:ext cx="134051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claude mcp add &lt;name&gt;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Tool design: the builder's bar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632764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1861718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rget_2A2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1998878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91056" y="1828800"/>
            <a:ext cx="2743200" cy="6327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Task-shaped, not endpoint-shaped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828800"/>
            <a:ext cx="6903720" cy="6327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One tool per job-to-be-done, not one per API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07868"/>
            <a:ext cx="10908792" cy="632764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1248" y="2640787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en_2A2A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777947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91056" y="2607868"/>
            <a:ext cx="2743200" cy="6327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Descriptions for the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607868"/>
            <a:ext cx="6903720" cy="6327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Say when to use it, what comes back, what the limits are.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86937"/>
            <a:ext cx="10908792" cy="632764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3419856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warn_2A2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3557015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91056" y="3386937"/>
            <a:ext cx="2743200" cy="6327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Errors that teach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3386937"/>
            <a:ext cx="6903720" cy="6327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'Order not found - IDs look like ORD-12345' beats a 404.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166006"/>
            <a:ext cx="10908792" cy="632764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1248" y="4198924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cale_2A2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43360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91056" y="4166006"/>
            <a:ext cx="2743200" cy="6327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Paginate big results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166006"/>
            <a:ext cx="6903720" cy="6327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Never let one call dump 10,000 rows into context.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945075"/>
            <a:ext cx="10908792" cy="632764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1248" y="4977993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x_E26B6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" y="5115153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591056" y="4945075"/>
            <a:ext cx="2743200" cy="6327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The over-tooling trap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945075"/>
            <a:ext cx="6903720" cy="6327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40 thin tools confuse the model and bloat every prompt.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760720"/>
            <a:ext cx="10908792" cy="658368"/>
          </a:xfrm>
          <a:prstGeom prst="roundRect">
            <a:avLst>
              <a:gd name="adj" fmla="val 16000"/>
            </a:avLst>
          </a:prstGeom>
          <a:solidFill>
            <a:srgbClr val="3A2F0A"/>
          </a:solidFill>
          <a:ln w="9525">
            <a:solidFill>
              <a:srgbClr val="8A6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warn_E0A9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" y="5907024"/>
            <a:ext cx="365760" cy="3657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371600" y="5760720"/>
            <a:ext cx="9994392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F0D9A6"/>
                </a:solidFill>
                <a:latin typeface="Instrument Sans"/>
              </a:rPr>
              <a:t>When NOT to build: if a one-off script, a skill, or an existing server covers it - every tool costs context.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Demo: Inspector on your server</a:t>
            </a:r>
          </a:p>
        </p:txBody>
      </p:sp>
      <p:pic>
        <p:nvPicPr>
          <p:cNvPr id="4" name="Picture 3" descr="bg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4480560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94960" y="1828800"/>
            <a:ext cx="6126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spc="150">
                <a:solidFill>
                  <a:srgbClr val="8B8B93"/>
                </a:solidFill>
                <a:latin typeface="Instrument Sans"/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2395728"/>
            <a:ext cx="411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4C8DF0"/>
                </a:solidFill>
                <a:latin typeface="Instrument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1888" y="2395728"/>
            <a:ext cx="5486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ACACB4"/>
                </a:solidFill>
                <a:latin typeface="Instrument Sans"/>
              </a:rPr>
              <a:t>npx @modelcontextprotocol/inspector python server.py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3145536"/>
            <a:ext cx="411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4C8DF0"/>
                </a:solidFill>
                <a:latin typeface="Instrument San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1888" y="3145536"/>
            <a:ext cx="5486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ACACB4"/>
                </a:solidFill>
                <a:latin typeface="Instrument Sans"/>
              </a:rPr>
              <a:t>Connect - list tools - read the description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3895344"/>
            <a:ext cx="411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4C8DF0"/>
                </a:solidFill>
                <a:latin typeface="Instrument Sans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1888" y="3895344"/>
            <a:ext cx="5486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ACACB4"/>
                </a:solidFill>
                <a:latin typeface="Instrument Sans"/>
              </a:rPr>
              <a:t>Run get_order_status with a test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4645152"/>
            <a:ext cx="411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4C8DF0"/>
                </a:solidFill>
                <a:latin typeface="Instrument San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4645152"/>
            <a:ext cx="5486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ACACB4"/>
                </a:solidFill>
                <a:latin typeface="Instrument Sans"/>
              </a:rPr>
              <a:t>Break it: send a bad ID, read the 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FOLLOW ALONG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Paste this: scaffold a server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6126480" cy="4206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84832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>
                <a:solidFill>
                  <a:srgbClr val="F5F5F6"/>
                </a:solidFill>
                <a:latin typeface="Instrument Sans"/>
              </a:rPr>
              <a:t>What you are practicing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146304" cy="18288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74320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Claude writes the boilerplate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419856"/>
            <a:ext cx="146304" cy="18288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3310128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You own the tool descriptions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986784"/>
            <a:ext cx="146304" cy="18288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38770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Inspector before integration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810512"/>
            <a:ext cx="45079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spc="150">
                <a:solidFill>
                  <a:srgbClr val="8B8B93"/>
                </a:solidFill>
                <a:latin typeface="Instrument Sans"/>
              </a:rPr>
              <a:t>PASTE THIS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286000"/>
            <a:ext cx="4507992" cy="1580388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42048" y="2450592"/>
            <a:ext cx="310896" cy="310896"/>
          </a:xfrm>
          <a:prstGeom prst="ellipse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42048" y="2432304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03036"/>
                </a:solidFill>
                <a:latin typeface="Instrument San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9248" y="2670048"/>
            <a:ext cx="3593591" cy="114147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9C9D2"/>
                </a:solidFill>
                <a:latin typeface="Instrument Sans"/>
              </a:rPr>
              <a:t>Create a Python MCP server using the official SDK's FastMCP pattern with one tool: get_order_status(order_id: str). Fake the data. Write the docstring for the model: when to use it, what returns, ID format.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4012692"/>
            <a:ext cx="4507992" cy="972311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42048" y="4177284"/>
            <a:ext cx="310896" cy="310896"/>
          </a:xfrm>
          <a:prstGeom prst="ellipse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2048" y="4158996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03036"/>
                </a:solidFill>
                <a:latin typeface="Instrumen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4396740"/>
            <a:ext cx="3593591" cy="533399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9C9D2"/>
                </a:solidFill>
                <a:latin typeface="Instrument Sans"/>
              </a:rPr>
              <a:t>npx @modelcontextprotocol/inspector python server.py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5131308"/>
            <a:ext cx="4507992" cy="769619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242048" y="5295899"/>
            <a:ext cx="310896" cy="310896"/>
          </a:xfrm>
          <a:prstGeom prst="ellipse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42048" y="527761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03036"/>
                </a:solidFill>
                <a:latin typeface="Instrumen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99248" y="5515356"/>
            <a:ext cx="3593591" cy="330707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9C9D2"/>
                </a:solidFill>
                <a:latin typeface="Instrument Sans"/>
              </a:rPr>
              <a:t>claude mcp add orders -- python server.py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0"/>
            <a:ext cx="583387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355080" y="0"/>
            <a:ext cx="32004" cy="6858000"/>
          </a:xfrm>
          <a:prstGeom prst="rect">
            <a:avLst/>
          </a:prstGeom>
          <a:solidFill>
            <a:srgbClr val="2F6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542032"/>
            <a:ext cx="548640" cy="54864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06624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spc="200">
                <a:solidFill>
                  <a:srgbClr val="8B8B93"/>
                </a:solidFill>
                <a:latin typeface="Instrument Sans"/>
              </a:rPr>
              <a:t>FLEX MODULE 4 - DAY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54096"/>
            <a:ext cx="553212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5F5F6"/>
                </a:solidFill>
                <a:latin typeface="Instrument Sans"/>
              </a:rPr>
              <a:t>Code Execution &amp; Tool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983480"/>
            <a:ext cx="5440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ACACB4"/>
                </a:solidFill>
                <a:latin typeface="Instrument Sans"/>
              </a:rPr>
              <a:t>Pull in when ahead - restores the advanced tool-use content cut from Day 3 Block 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Round-trips or one script?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5285232" cy="3063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fresh_ACAC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67127"/>
            <a:ext cx="38404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19" y="2148839"/>
            <a:ext cx="43708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F5F5F6"/>
                </a:solidFill>
                <a:latin typeface="Instrument Sans"/>
              </a:rPr>
              <a:t>Traditional tool calls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291839"/>
            <a:ext cx="164592" cy="18288"/>
          </a:xfrm>
          <a:prstGeom prst="rect">
            <a:avLst/>
          </a:prstGeom>
          <a:solidFill>
            <a:srgbClr val="AC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3584" y="3017520"/>
            <a:ext cx="41879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ACACB4"/>
                </a:solidFill>
                <a:latin typeface="Instrument Sans"/>
              </a:rPr>
              <a:t>Every result round-trips through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3858768"/>
            <a:ext cx="164592" cy="18288"/>
          </a:xfrm>
          <a:prstGeom prst="rect">
            <a:avLst/>
          </a:prstGeom>
          <a:solidFill>
            <a:srgbClr val="AC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3584" y="3584448"/>
            <a:ext cx="41879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ACACB4"/>
                </a:solidFill>
                <a:latin typeface="Instrument Sans"/>
              </a:rPr>
              <a:t>All schemas ride along up front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4425696"/>
            <a:ext cx="164592" cy="18288"/>
          </a:xfrm>
          <a:prstGeom prst="rect">
            <a:avLst/>
          </a:prstGeom>
          <a:solidFill>
            <a:srgbClr val="AC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4151376"/>
            <a:ext cx="41879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ACACB4"/>
                </a:solidFill>
                <a:latin typeface="Instrument Sans"/>
              </a:rPr>
              <a:t>Model orchestrates step by step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874519"/>
            <a:ext cx="5285232" cy="3063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19050">
            <a:solidFill>
              <a:srgbClr val="2E6E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ocket_46B1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167127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76872" y="2148839"/>
            <a:ext cx="43708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F5F5F6"/>
                </a:solidFill>
                <a:latin typeface="Instrument Sans"/>
              </a:rPr>
              <a:t>Code execution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291839"/>
            <a:ext cx="164592" cy="18288"/>
          </a:xfrm>
          <a:prstGeom prst="rect">
            <a:avLst/>
          </a:prstGeom>
          <a:solidFill>
            <a:srgbClr val="46B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3136" y="3017520"/>
            <a:ext cx="41879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ACACB4"/>
                </a:solidFill>
                <a:latin typeface="Instrument Sans"/>
              </a:rPr>
              <a:t>Model writes code that calls tools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3858768"/>
            <a:ext cx="164592" cy="18288"/>
          </a:xfrm>
          <a:prstGeom prst="rect">
            <a:avLst/>
          </a:prstGeom>
          <a:solidFill>
            <a:srgbClr val="46B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03136" y="3584448"/>
            <a:ext cx="41879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ACACB4"/>
                </a:solidFill>
                <a:latin typeface="Instrument Sans"/>
              </a:rPr>
              <a:t>Intermediates stay in the sandbox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4425696"/>
            <a:ext cx="164592" cy="18288"/>
          </a:xfrm>
          <a:prstGeom prst="rect">
            <a:avLst/>
          </a:prstGeom>
          <a:solidFill>
            <a:srgbClr val="46B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4151376"/>
            <a:ext cx="41879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ACACB4"/>
                </a:solidFill>
                <a:latin typeface="Instrument Sans"/>
              </a:rPr>
              <a:t>Only the final answer returns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138928"/>
            <a:ext cx="10908792" cy="713232"/>
          </a:xfrm>
          <a:prstGeom prst="roundRect">
            <a:avLst>
              <a:gd name="adj" fmla="val 16000"/>
            </a:avLst>
          </a:prstGeom>
          <a:solidFill>
            <a:srgbClr val="16324F"/>
          </a:solidFill>
          <a:ln w="9525">
            <a:solidFill>
              <a:srgbClr val="2F6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nfo_4C8DF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5312664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71600" y="5138928"/>
            <a:ext cx="999439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AD8F2"/>
                </a:solidFill>
                <a:latin typeface="Instrument Sans"/>
              </a:rPr>
              <a:t>Same tools, same job - the difference is where the intermediate data lives and who pays for 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MECHANICS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Three pillars of advanced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ACACB4"/>
                </a:solidFill>
                <a:latin typeface="Instrument Sans"/>
              </a:rPr>
              <a:t>Three mechanisms, one goal: stop paying for what the model doesn't need.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46020"/>
            <a:ext cx="3453384" cy="3063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7824" y="2628900"/>
            <a:ext cx="475488" cy="47548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ye_2A2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756916"/>
            <a:ext cx="219456" cy="219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7824" y="3250691"/>
            <a:ext cx="2977896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>
                <a:solidFill>
                  <a:srgbClr val="F5F5F6"/>
                </a:solidFill>
                <a:latin typeface="Instrument Sans"/>
              </a:rPr>
              <a:t>Tool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890772"/>
            <a:ext cx="2977896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ACACB4"/>
                </a:solidFill>
                <a:latin typeface="Instrument Sans"/>
              </a:rPr>
              <a:t>Discover and load tool schemas on demand, not all up front.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7784" y="2446020"/>
            <a:ext cx="3453384" cy="3063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5528" y="2628900"/>
            <a:ext cx="475488" cy="47548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pps_2A2A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3544" y="2756916"/>
            <a:ext cx="219456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5528" y="3250691"/>
            <a:ext cx="2977896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>
                <a:solidFill>
                  <a:srgbClr val="F5F5F6"/>
                </a:solidFill>
                <a:latin typeface="Instrument Sans"/>
              </a:rPr>
              <a:t>Programmatic calling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5528" y="3890772"/>
            <a:ext cx="2977896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ACACB4"/>
                </a:solidFill>
                <a:latin typeface="Instrument Sans"/>
              </a:rPr>
              <a:t>Invoke tools from code in a sandbox - loop, filter, join there.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5488" y="2446020"/>
            <a:ext cx="3453384" cy="3063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33232" y="2628900"/>
            <a:ext cx="475488" cy="47548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ook_2A2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1248" y="2756916"/>
            <a:ext cx="219456" cy="219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33232" y="3250691"/>
            <a:ext cx="2977896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>
                <a:solidFill>
                  <a:srgbClr val="F5F5F6"/>
                </a:solidFill>
                <a:latin typeface="Instrument Sans"/>
              </a:rPr>
              <a:t>Tool examples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3232" y="3890772"/>
            <a:ext cx="2977896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ACACB4"/>
                </a:solidFill>
                <a:latin typeface="Instrument Sans"/>
              </a:rPr>
              <a:t>Show worked calls so the model nails tricky parameter shapes.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760720"/>
            <a:ext cx="10908792" cy="658368"/>
          </a:xfrm>
          <a:prstGeom prst="roundRect">
            <a:avLst>
              <a:gd name="adj" fmla="val 16000"/>
            </a:avLst>
          </a:prstGeom>
          <a:solidFill>
            <a:srgbClr val="3A2F0A"/>
          </a:solidFill>
          <a:ln w="9525">
            <a:solidFill>
              <a:srgbClr val="8A6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arn_E0A9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5907024"/>
            <a:ext cx="365760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71600" y="5760720"/>
            <a:ext cx="9994392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F0D9A6"/>
                </a:solidFill>
                <a:latin typeface="Instrument Sans"/>
              </a:rPr>
              <a:t>Sourced from Anthropic engineering posts - names and availability shift; verify current status at delivery.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The token math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27531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1959102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_2A2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096262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91056" y="1828800"/>
            <a:ext cx="2743200" cy="8275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The schema tax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828800"/>
            <a:ext cx="6903720" cy="8275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Dozens of connected tools = tens of thousands of tokens before work starts.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02636"/>
            <a:ext cx="10908792" cy="827531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1248" y="2932938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fresh_2A2A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070098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91056" y="2802636"/>
            <a:ext cx="2743200" cy="8275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The round-trip tax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802636"/>
            <a:ext cx="6903720" cy="8275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Every intermediate result is billed through context - twice.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76472"/>
            <a:ext cx="10908792" cy="827531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3906774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art_2A2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043933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91056" y="3776472"/>
            <a:ext cx="2743200" cy="8275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The sandbox dividend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3776472"/>
            <a:ext cx="6903720" cy="8275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Filter 10,000 rows in code; only the summary rides home.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50308"/>
            <a:ext cx="10908792" cy="827531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1248" y="4880610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rget_2A2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017770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91056" y="4750308"/>
            <a:ext cx="2743200" cy="8275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Reported gains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750308"/>
            <a:ext cx="6903720" cy="8275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Anthropic's published example: ~150K tokens down to ~2K.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760720"/>
            <a:ext cx="10908792" cy="658368"/>
          </a:xfrm>
          <a:prstGeom prst="roundRect">
            <a:avLst>
              <a:gd name="adj" fmla="val 16000"/>
            </a:avLst>
          </a:prstGeom>
          <a:solidFill>
            <a:srgbClr val="3A2F0A"/>
          </a:solidFill>
          <a:ln w="9525">
            <a:solidFill>
              <a:srgbClr val="8A6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warn_E0A9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" y="5907024"/>
            <a:ext cx="365760" cy="365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371600" y="5760720"/>
            <a:ext cx="9994392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F0D9A6"/>
                </a:solidFill>
                <a:latin typeface="Instrument Sans"/>
              </a:rPr>
              <a:t>Published benchmark figures, not your workload - measure your own before promising savings.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FOLLOW ALONG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Paste this: think in scripts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6126480" cy="4206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84832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>
                <a:solidFill>
                  <a:srgbClr val="F5F5F6"/>
                </a:solidFill>
                <a:latin typeface="Instrument Sans"/>
              </a:rPr>
              <a:t>What you are practicing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146304" cy="18288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74320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Context as a decision bus, not a data bus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419856"/>
            <a:ext cx="146304" cy="18288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3310128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Asking for scripts over call chains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986784"/>
            <a:ext cx="146304" cy="18288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38770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Summaries home, intermediates stay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810512"/>
            <a:ext cx="45079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spc="150">
                <a:solidFill>
                  <a:srgbClr val="8B8B93"/>
                </a:solidFill>
                <a:latin typeface="Instrument Sans"/>
              </a:rPr>
              <a:t>PASTE THIS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286000"/>
            <a:ext cx="4507992" cy="1548384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42048" y="2450592"/>
            <a:ext cx="310896" cy="310896"/>
          </a:xfrm>
          <a:prstGeom prst="ellipse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42048" y="2432304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03036"/>
                </a:solidFill>
                <a:latin typeface="Instrument San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9248" y="2670048"/>
            <a:ext cx="3593591" cy="1109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9C9D2"/>
                </a:solidFill>
                <a:latin typeface="Instrument Sans"/>
              </a:rPr>
              <a:t>Write and run a script that pulls the last 50 CI runs, filters to failures, and returns ONLY a summary table. Do not stream raw logs into the conversation.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3980688"/>
            <a:ext cx="4507992" cy="1303020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42048" y="4145280"/>
            <a:ext cx="310896" cy="310896"/>
          </a:xfrm>
          <a:prstGeom prst="ellipse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2048" y="412699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03036"/>
                </a:solidFill>
                <a:latin typeface="Instrumen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4364736"/>
            <a:ext cx="3593591" cy="8641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9C9D2"/>
                </a:solidFill>
                <a:latin typeface="Instrument Sans"/>
              </a:rPr>
              <a:t>Before you call tools one at a time, tell me: could a single script do this whole chain? If yes, write 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0"/>
            <a:ext cx="583387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355080" y="0"/>
            <a:ext cx="32004" cy="6858000"/>
          </a:xfrm>
          <a:prstGeom prst="rect">
            <a:avLst/>
          </a:prstGeom>
          <a:solidFill>
            <a:srgbClr val="2F6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542032"/>
            <a:ext cx="548640" cy="54864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06624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spc="200">
                <a:solidFill>
                  <a:srgbClr val="8B8B93"/>
                </a:solidFill>
                <a:latin typeface="Instrument Sans"/>
              </a:rPr>
              <a:t>FLEX MODULE 5 - DAY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54096"/>
            <a:ext cx="553212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5F5F6"/>
                </a:solidFill>
                <a:latin typeface="Instrument Sans"/>
              </a:rPr>
              <a:t>The Agent SDK in 15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983480"/>
            <a:ext cx="5440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ACACB4"/>
                </a:solidFill>
                <a:latin typeface="Instrument Sans"/>
              </a:rPr>
              <a:t>Pull in when ahead - pairs with Day 3 Block 3 (Production &amp; CI/CD)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600" cy="6437376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800600" y="0"/>
            <a:ext cx="45720" cy="6858000"/>
          </a:xfrm>
          <a:prstGeom prst="rect">
            <a:avLst/>
          </a:prstGeom>
          <a:solidFill>
            <a:srgbClr val="2F6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49240" y="603504"/>
            <a:ext cx="63852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spc="160">
                <a:solidFill>
                  <a:srgbClr val="8B8B93"/>
                </a:solidFill>
                <a:latin typeface="Instrument Sans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49240" y="969264"/>
            <a:ext cx="6385255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5F5F6"/>
                </a:solidFill>
                <a:latin typeface="Instrument Sans"/>
              </a:rPr>
              <a:t>Claude Code as a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49240" y="2286000"/>
            <a:ext cx="63852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The same agentic loop you have used for three days - importable.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0" y="3474720"/>
            <a:ext cx="6385255" cy="853440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23559" y="3617976"/>
            <a:ext cx="566928" cy="566928"/>
          </a:xfrm>
          <a:prstGeom prst="ellipse">
            <a:avLst/>
          </a:prstGeom>
          <a:solidFill>
            <a:srgbClr val="E6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park_2A2A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630" y="3771046"/>
            <a:ext cx="260786" cy="26078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64807" y="3474720"/>
            <a:ext cx="5041087" cy="85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F5F5F6"/>
                </a:solidFill>
                <a:latin typeface="Instrument Sans"/>
              </a:rPr>
              <a:t>Same loop</a:t>
            </a:r>
            <a:r>
              <a:rPr sz="1400" b="0">
                <a:solidFill>
                  <a:srgbClr val="ACACB4"/>
                </a:solidFill>
                <a:latin typeface="Instrument Sans"/>
              </a:rPr>
              <a:t>  -  gather context - act - verify, now inside your process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4474464"/>
            <a:ext cx="6385255" cy="853440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23559" y="4617720"/>
            <a:ext cx="566928" cy="566928"/>
          </a:xfrm>
          <a:prstGeom prst="ellipse">
            <a:avLst/>
          </a:prstGeom>
          <a:solidFill>
            <a:srgbClr val="E6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pps_2A2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6630" y="4770790"/>
            <a:ext cx="260786" cy="26078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64807" y="4474464"/>
            <a:ext cx="5041087" cy="85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F5F5F6"/>
                </a:solidFill>
                <a:latin typeface="Instrument Sans"/>
              </a:rPr>
              <a:t>Python &amp; TypeScript</a:t>
            </a:r>
            <a:r>
              <a:rPr sz="1400" b="0">
                <a:solidFill>
                  <a:srgbClr val="ACACB4"/>
                </a:solidFill>
                <a:latin typeface="Instrument Sans"/>
              </a:rPr>
              <a:t>  -  official packages, same options as the CLI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9240" y="5474208"/>
            <a:ext cx="6385255" cy="853440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23559" y="5617463"/>
            <a:ext cx="566928" cy="566928"/>
          </a:xfrm>
          <a:prstGeom prst="ellipse">
            <a:avLst/>
          </a:prstGeom>
          <a:solidFill>
            <a:srgbClr val="E6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ck_2A2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6630" y="5770534"/>
            <a:ext cx="260786" cy="26078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64807" y="5474208"/>
            <a:ext cx="5041087" cy="85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F5F5F6"/>
                </a:solidFill>
                <a:latin typeface="Instrument Sans"/>
              </a:rPr>
              <a:t>Your guardrails</a:t>
            </a:r>
            <a:r>
              <a:rPr sz="1400" b="0">
                <a:solidFill>
                  <a:srgbClr val="ACACB4"/>
                </a:solidFill>
                <a:latin typeface="Instrument Sans"/>
              </a:rPr>
              <a:t>  -  tools, permissions, and hooks set in code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THE 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Stay on -p, or graduate?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5285232" cy="3063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eck_ACAC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67127"/>
            <a:ext cx="38404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19" y="2148839"/>
            <a:ext cx="43708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F5F5F6"/>
                </a:solidFill>
                <a:latin typeface="Instrument Sans"/>
              </a:rPr>
              <a:t>Stay with claude -p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291839"/>
            <a:ext cx="164592" cy="18288"/>
          </a:xfrm>
          <a:prstGeom prst="rect">
            <a:avLst/>
          </a:prstGeom>
          <a:solidFill>
            <a:srgbClr val="AC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3584" y="3017520"/>
            <a:ext cx="41879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ACACB4"/>
                </a:solidFill>
                <a:latin typeface="Instrument Sans"/>
              </a:rPr>
              <a:t>One-shot jobs and CI steps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3858768"/>
            <a:ext cx="164592" cy="18288"/>
          </a:xfrm>
          <a:prstGeom prst="rect">
            <a:avLst/>
          </a:prstGeom>
          <a:solidFill>
            <a:srgbClr val="AC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3584" y="3584448"/>
            <a:ext cx="41879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ACACB4"/>
                </a:solidFill>
                <a:latin typeface="Instrument Sans"/>
              </a:rPr>
              <a:t>Shell-native glue is enough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4425696"/>
            <a:ext cx="164592" cy="18288"/>
          </a:xfrm>
          <a:prstGeom prst="rect">
            <a:avLst/>
          </a:prstGeom>
          <a:solidFill>
            <a:srgbClr val="AC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4151376"/>
            <a:ext cx="41879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ACACB4"/>
                </a:solidFill>
                <a:latin typeface="Instrument Sans"/>
              </a:rPr>
              <a:t>Humans read the output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874519"/>
            <a:ext cx="5285232" cy="3063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19050">
            <a:solidFill>
              <a:srgbClr val="2E6E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ocket_46B1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167127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76872" y="2148839"/>
            <a:ext cx="43708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F5F5F6"/>
                </a:solidFill>
                <a:latin typeface="Instrument Sans"/>
              </a:rPr>
              <a:t>Graduate to the SDK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291839"/>
            <a:ext cx="164592" cy="18288"/>
          </a:xfrm>
          <a:prstGeom prst="rect">
            <a:avLst/>
          </a:prstGeom>
          <a:solidFill>
            <a:srgbClr val="46B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3136" y="3017520"/>
            <a:ext cx="41879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ACACB4"/>
                </a:solidFill>
                <a:latin typeface="Instrument Sans"/>
              </a:rPr>
              <a:t>Custom tools run in-process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3858768"/>
            <a:ext cx="164592" cy="18288"/>
          </a:xfrm>
          <a:prstGeom prst="rect">
            <a:avLst/>
          </a:prstGeom>
          <a:solidFill>
            <a:srgbClr val="46B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03136" y="3584448"/>
            <a:ext cx="41879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ACACB4"/>
                </a:solidFill>
                <a:latin typeface="Instrument Sans"/>
              </a:rPr>
              <a:t>Multi-turn state your app owns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4425696"/>
            <a:ext cx="164592" cy="18288"/>
          </a:xfrm>
          <a:prstGeom prst="rect">
            <a:avLst/>
          </a:prstGeom>
          <a:solidFill>
            <a:srgbClr val="46B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4151376"/>
            <a:ext cx="41879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ACACB4"/>
                </a:solidFill>
                <a:latin typeface="Instrument Sans"/>
              </a:rPr>
              <a:t>The agent IS the 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138928"/>
            <a:ext cx="10908792" cy="713232"/>
          </a:xfrm>
          <a:prstGeom prst="roundRect">
            <a:avLst>
              <a:gd name="adj" fmla="val 16000"/>
            </a:avLst>
          </a:prstGeom>
          <a:solidFill>
            <a:srgbClr val="16324F"/>
          </a:solidFill>
          <a:ln w="9525">
            <a:solidFill>
              <a:srgbClr val="2F6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nfo_4C8DF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5312664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71600" y="5138928"/>
            <a:ext cx="999439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AD8F2"/>
                </a:solidFill>
                <a:latin typeface="Instrument Sans"/>
              </a:rPr>
              <a:t>Rule of thumb: the moment you're parsing -p output to make decisions in code, you wanted the SDK.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FOLLOW ALONG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Paste this: hello, agent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6126480" cy="4206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84832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>
                <a:solidFill>
                  <a:srgbClr val="F5F5F6"/>
                </a:solidFill>
                <a:latin typeface="Instrument Sans"/>
              </a:rPr>
              <a:t>What you are practicing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146304" cy="18288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74320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Install is one line per language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419856"/>
            <a:ext cx="146304" cy="18288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3310128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query() mirrors claude -p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986784"/>
            <a:ext cx="146304" cy="18288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38770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CLI knowledge transfers whole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810512"/>
            <a:ext cx="45079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spc="150">
                <a:solidFill>
                  <a:srgbClr val="8B8B93"/>
                </a:solidFill>
                <a:latin typeface="Instrument Sans"/>
              </a:rPr>
              <a:t>PASTE THIS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286000"/>
            <a:ext cx="4507992" cy="812292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42048" y="2450592"/>
            <a:ext cx="310896" cy="310896"/>
          </a:xfrm>
          <a:prstGeom prst="ellipse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42048" y="2432304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03036"/>
                </a:solidFill>
                <a:latin typeface="Instrument San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9248" y="2670048"/>
            <a:ext cx="3593591" cy="3733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9C9D2"/>
                </a:solidFill>
                <a:latin typeface="Instrument Sans"/>
              </a:rPr>
              <a:t>pip install claude-agent-sdk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3244596"/>
            <a:ext cx="4507992" cy="1303020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42048" y="3409188"/>
            <a:ext cx="310896" cy="310896"/>
          </a:xfrm>
          <a:prstGeom prst="ellipse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2048" y="339090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03036"/>
                </a:solidFill>
                <a:latin typeface="Instrumen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3628644"/>
            <a:ext cx="3593591" cy="8641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9C9D2"/>
                </a:solidFill>
                <a:latin typeface="Instrument Sans"/>
              </a:rPr>
              <a:t>from claude_agent_sdk import query
async for msg in query(prompt="Summarize this repo's state"):
    print(msg)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4693920"/>
            <a:ext cx="4507992" cy="812292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242048" y="4858511"/>
            <a:ext cx="310896" cy="310896"/>
          </a:xfrm>
          <a:prstGeom prst="ellipse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42048" y="4840224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03036"/>
                </a:solidFill>
                <a:latin typeface="Instrumen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99248" y="5077967"/>
            <a:ext cx="3593591" cy="3733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9C9D2"/>
                </a:solidFill>
                <a:latin typeface="Instrument Sans"/>
              </a:rPr>
              <a:t>npm install @anthropic-ai/claude-agent-sdk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Know your meter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ACACB4"/>
                </a:solidFill>
                <a:latin typeface="Instrument Sans"/>
              </a:rPr>
              <a:t>Three billing paths - do not discover which one you're on in production.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46020"/>
            <a:ext cx="3453384" cy="3063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7824" y="2628900"/>
            <a:ext cx="475488" cy="47548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ser_2A2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756916"/>
            <a:ext cx="219456" cy="219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7824" y="3250691"/>
            <a:ext cx="2977896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>
                <a:solidFill>
                  <a:srgbClr val="F5F5F6"/>
                </a:solidFill>
                <a:latin typeface="Instrument Sans"/>
              </a:rPr>
              <a:t>Subscription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890772"/>
            <a:ext cx="2977896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ACACB4"/>
                </a:solidFill>
                <a:latin typeface="Instrument Sans"/>
              </a:rPr>
              <a:t>Interactive CLI use rides your Claude plan.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7784" y="2446020"/>
            <a:ext cx="3453384" cy="3063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5528" y="2628900"/>
            <a:ext cx="475488" cy="47548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_2A2A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3544" y="2756916"/>
            <a:ext cx="219456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5528" y="3250691"/>
            <a:ext cx="2977896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>
                <a:solidFill>
                  <a:srgbClr val="F5F5F6"/>
                </a:solidFill>
                <a:latin typeface="Instrument Sans"/>
              </a:rPr>
              <a:t>API / cloud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5528" y="3890772"/>
            <a:ext cx="2977896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ACACB4"/>
                </a:solidFill>
                <a:latin typeface="Instrument Sans"/>
              </a:rPr>
              <a:t>Per-token billing - the production default.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5488" y="2446020"/>
            <a:ext cx="3453384" cy="3063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33232" y="2628900"/>
            <a:ext cx="475488" cy="47548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lock_2A2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1248" y="2756916"/>
            <a:ext cx="219456" cy="219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33232" y="3250691"/>
            <a:ext cx="2977896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>
                <a:solidFill>
                  <a:srgbClr val="F5F5F6"/>
                </a:solidFill>
                <a:latin typeface="Instrument Sans"/>
              </a:rPr>
              <a:t>SDK plan credit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3232" y="3890772"/>
            <a:ext cx="2977896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ACACB4"/>
                </a:solidFill>
                <a:latin typeface="Instrument Sans"/>
              </a:rPr>
              <a:t>Eligible paid plans get a weekly Agent SDK token pool.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760720"/>
            <a:ext cx="10908792" cy="658368"/>
          </a:xfrm>
          <a:prstGeom prst="roundRect">
            <a:avLst>
              <a:gd name="adj" fmla="val 16000"/>
            </a:avLst>
          </a:prstGeom>
          <a:solidFill>
            <a:srgbClr val="3A2F0A"/>
          </a:solidFill>
          <a:ln w="9525">
            <a:solidFill>
              <a:srgbClr val="8A6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arn_E0A9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5907024"/>
            <a:ext cx="365760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71600" y="5760720"/>
            <a:ext cx="9994392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F0D9A6"/>
                </a:solidFill>
                <a:latin typeface="Instrument Sans"/>
              </a:rPr>
              <a:t>The SDK credit is a WEEKLY pool, NOT a separate monthly credit - sizing/eligibility vary by plan, confirm the support doc at delivery.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0"/>
            <a:ext cx="583387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355080" y="0"/>
            <a:ext cx="32004" cy="6858000"/>
          </a:xfrm>
          <a:prstGeom prst="rect">
            <a:avLst/>
          </a:prstGeom>
          <a:solidFill>
            <a:srgbClr val="2F6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542032"/>
            <a:ext cx="548640" cy="54864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06624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spc="200">
                <a:solidFill>
                  <a:srgbClr val="8B8B93"/>
                </a:solidFill>
                <a:latin typeface="Instrument Sans"/>
              </a:rPr>
              <a:t>FLEX MODULE 6 - ANY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54096"/>
            <a:ext cx="553212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5F5F6"/>
                </a:solidFill>
                <a:latin typeface="Instrument Sans"/>
              </a:rPr>
              <a:t>The Wider Surface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983480"/>
            <a:ext cx="5440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ACACB4"/>
                </a:solidFill>
                <a:latin typeface="Instrument Sans"/>
              </a:rPr>
              <a:t>Pull in any day - works as a closer, an energy break, or a preview of what's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600" cy="6437376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800600" y="0"/>
            <a:ext cx="45720" cy="6858000"/>
          </a:xfrm>
          <a:prstGeom prst="rect">
            <a:avLst/>
          </a:prstGeom>
          <a:solidFill>
            <a:srgbClr val="2F6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49240" y="603504"/>
            <a:ext cx="63852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spc="160">
                <a:solidFill>
                  <a:srgbClr val="8B8B93"/>
                </a:solidFill>
                <a:latin typeface="Instrument Sans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49240" y="969264"/>
            <a:ext cx="6385255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5F5F6"/>
                </a:solidFill>
                <a:latin typeface="Instrument Sans"/>
              </a:rPr>
              <a:t>One account, many surfaces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49240" y="2286000"/>
            <a:ext cx="63852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The same Claude, reachable from more places than your terminal.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0" y="3474720"/>
            <a:ext cx="6385255" cy="853440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23559" y="3617976"/>
            <a:ext cx="566928" cy="566928"/>
          </a:xfrm>
          <a:prstGeom prst="ellipse">
            <a:avLst/>
          </a:prstGeom>
          <a:solidFill>
            <a:srgbClr val="E6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ocket_2A2A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630" y="3771046"/>
            <a:ext cx="260786" cy="26078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64807" y="3474720"/>
            <a:ext cx="5041087" cy="85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F5F5F6"/>
                </a:solidFill>
                <a:latin typeface="Instrument Sans"/>
              </a:rPr>
              <a:t>Artifacts</a:t>
            </a:r>
            <a:r>
              <a:rPr sz="1400" b="0">
                <a:solidFill>
                  <a:srgbClr val="ACACB4"/>
                </a:solidFill>
                <a:latin typeface="Instrument Sans"/>
              </a:rPr>
              <a:t>  -  live interactive pages built from a prompt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4474464"/>
            <a:ext cx="6385255" cy="853440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23559" y="4617720"/>
            <a:ext cx="566928" cy="566928"/>
          </a:xfrm>
          <a:prstGeom prst="ellipse">
            <a:avLst/>
          </a:prstGeom>
          <a:solidFill>
            <a:srgbClr val="E6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pps_2A2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6630" y="4770790"/>
            <a:ext cx="260786" cy="26078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64807" y="4474464"/>
            <a:ext cx="5041087" cy="85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F5F5F6"/>
                </a:solidFill>
                <a:latin typeface="Instrument Sans"/>
              </a:rPr>
              <a:t>Desktop + browser</a:t>
            </a:r>
            <a:r>
              <a:rPr sz="1400" b="0">
                <a:solidFill>
                  <a:srgbClr val="ACACB4"/>
                </a:solidFill>
                <a:latin typeface="Instrument Sans"/>
              </a:rPr>
              <a:t>  -  the app, with a built-in browsing surface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9240" y="5474208"/>
            <a:ext cx="6385255" cy="853440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23559" y="5617463"/>
            <a:ext cx="566928" cy="566928"/>
          </a:xfrm>
          <a:prstGeom prst="ellipse">
            <a:avLst/>
          </a:prstGeom>
          <a:solidFill>
            <a:srgbClr val="E6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eople_2A2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6630" y="5770534"/>
            <a:ext cx="260786" cy="26078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64807" y="5474208"/>
            <a:ext cx="5041087" cy="85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F5F5F6"/>
                </a:solidFill>
                <a:latin typeface="Instrument Sans"/>
              </a:rPr>
              <a:t>Embedded</a:t>
            </a:r>
            <a:r>
              <a:rPr sz="1400" b="0">
                <a:solidFill>
                  <a:srgbClr val="ACACB4"/>
                </a:solidFill>
                <a:latin typeface="Instrument Sans"/>
              </a:rPr>
              <a:t>  -  Chrome, Slack, and Cowork sessions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Artifacts: apps from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ACACB4"/>
                </a:solidFill>
                <a:latin typeface="Instrument Sans"/>
              </a:rPr>
              <a:t>Describe an app; get a running page.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46020"/>
            <a:ext cx="3453384" cy="3063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7824" y="2628900"/>
            <a:ext cx="475488" cy="47548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ulb_2A2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756916"/>
            <a:ext cx="219456" cy="219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7824" y="3250691"/>
            <a:ext cx="2977896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>
                <a:solidFill>
                  <a:srgbClr val="F5F5F6"/>
                </a:solidFill>
                <a:latin typeface="Instrument Sans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890772"/>
            <a:ext cx="2977896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ACACB4"/>
                </a:solidFill>
                <a:latin typeface="Instrument Sans"/>
              </a:rPr>
              <a:t>A working interactive page from one good prompt.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7784" y="2446020"/>
            <a:ext cx="3453384" cy="3063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5528" y="2628900"/>
            <a:ext cx="475488" cy="47548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are_2A2A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3544" y="2756916"/>
            <a:ext cx="219456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5528" y="3250691"/>
            <a:ext cx="2977896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>
                <a:solidFill>
                  <a:srgbClr val="F5F5F6"/>
                </a:solidFill>
                <a:latin typeface="Instrument Sans"/>
              </a:rPr>
              <a:t>Share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5528" y="3890772"/>
            <a:ext cx="2977896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ACACB4"/>
                </a:solidFill>
                <a:latin typeface="Instrument Sans"/>
              </a:rPr>
              <a:t>Starts private; sharing follows plan and admin policy.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5488" y="2446020"/>
            <a:ext cx="3453384" cy="3063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33232" y="2628900"/>
            <a:ext cx="475488" cy="47548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ck_2A2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1248" y="2756916"/>
            <a:ext cx="219456" cy="219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33232" y="3250691"/>
            <a:ext cx="2977896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>
                <a:solidFill>
                  <a:srgbClr val="F5F5F6"/>
                </a:solidFill>
                <a:latin typeface="Instrument Sans"/>
              </a:rPr>
              <a:t>Connector-backed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3232" y="3890772"/>
            <a:ext cx="2977896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ACACB4"/>
                </a:solidFill>
                <a:latin typeface="Instrument Sans"/>
              </a:rPr>
              <a:t>Can call MCP connectors with the viewer's permissions.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760720"/>
            <a:ext cx="10908792" cy="658368"/>
          </a:xfrm>
          <a:prstGeom prst="roundRect">
            <a:avLst>
              <a:gd name="adj" fmla="val 16000"/>
            </a:avLst>
          </a:prstGeom>
          <a:solidFill>
            <a:srgbClr val="3A2F0A"/>
          </a:solidFill>
          <a:ln w="9525">
            <a:solidFill>
              <a:srgbClr val="8A6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arn_E0A9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5907024"/>
            <a:ext cx="365760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71600" y="5760720"/>
            <a:ext cx="9994392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F0D9A6"/>
                </a:solidFill>
                <a:latin typeface="Instrument Sans"/>
              </a:rPr>
              <a:t>Available on Pro, Max, Team, and Enterprise; sharing is admin-gated - verify your tenant before demoing.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THE TOUR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The rest, one beat each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632764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1861718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hare_2A2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1998878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91056" y="1828800"/>
            <a:ext cx="2743200" cy="6327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Remote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828800"/>
            <a:ext cx="6903720" cy="6327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Continue a local session from phone or browser - research preview.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07868"/>
            <a:ext cx="10908792" cy="632764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1248" y="2640787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ck_2A2A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777947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91056" y="2607868"/>
            <a:ext cx="2743200" cy="6327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Trusted Devices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607868"/>
            <a:ext cx="6903720" cy="6327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Beta - enrolled devices plus biometric or passkey confirmation.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86937"/>
            <a:ext cx="10908792" cy="632764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3419856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pps_2A2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3557015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91056" y="3386937"/>
            <a:ext cx="2743200" cy="6327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Desktop + built-in browser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3386937"/>
            <a:ext cx="6903720" cy="6327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Claude outside the terminal, with a browsing surface.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166006"/>
            <a:ext cx="10908792" cy="632764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1248" y="4198924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eye_2A2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43360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91056" y="4166006"/>
            <a:ext cx="2743200" cy="6327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Claude in Chrome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166006"/>
            <a:ext cx="6903720" cy="6327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The agent acting inside your browser tabs.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945075"/>
            <a:ext cx="10908792" cy="632764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1248" y="4977993"/>
            <a:ext cx="566928" cy="566928"/>
          </a:xfrm>
          <a:prstGeom prst="ellipse">
            <a:avLst/>
          </a:prstGeom>
          <a:solidFill>
            <a:srgbClr val="E7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eople_2A2A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" y="5115153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591056" y="4945075"/>
            <a:ext cx="2743200" cy="6327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5F5F6"/>
                </a:solidFill>
                <a:latin typeface="Instrument Sans"/>
              </a:rPr>
              <a:t>Slack + Cowork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945075"/>
            <a:ext cx="6903720" cy="6327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Claude in team chat; session-based collaborative work.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760720"/>
            <a:ext cx="10908792" cy="658368"/>
          </a:xfrm>
          <a:prstGeom prst="roundRect">
            <a:avLst>
              <a:gd name="adj" fmla="val 16000"/>
            </a:avLst>
          </a:prstGeom>
          <a:solidFill>
            <a:srgbClr val="3A2F0A"/>
          </a:solidFill>
          <a:ln w="9525">
            <a:solidFill>
              <a:srgbClr val="8A6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warn_E0A9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" y="5907024"/>
            <a:ext cx="365760" cy="3657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371600" y="5760720"/>
            <a:ext cx="9994392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F0D9A6"/>
                </a:solidFill>
                <a:latin typeface="Instrument Sans"/>
              </a:rPr>
              <a:t>Every row is plan-, admin-, or preview-gated - demonstrations, not dependencies. Verify before showing.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FOLLOW ALONG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927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5F5F6"/>
                </a:solidFill>
                <a:latin typeface="Instrument Sans"/>
              </a:rPr>
              <a:t>Paste this: your first Artifact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6126480" cy="4206240"/>
          </a:xfrm>
          <a:prstGeom prst="roundRect">
            <a:avLst>
              <a:gd name="adj" fmla="val 6000"/>
            </a:avLst>
          </a:prstGeom>
          <a:solidFill>
            <a:srgbClr val="34343A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84832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>
                <a:solidFill>
                  <a:srgbClr val="F5F5F6"/>
                </a:solidFill>
                <a:latin typeface="Instrument Sans"/>
              </a:rPr>
              <a:t>What you are practicing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146304" cy="18288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74320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Prompt-to-app in one shot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419856"/>
            <a:ext cx="146304" cy="18288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3310128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Iterating on a live page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986784"/>
            <a:ext cx="146304" cy="18288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38770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CACB4"/>
                </a:solidFill>
                <a:latin typeface="Instrument Sans"/>
              </a:rPr>
              <a:t>Judging where Artifacts 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810512"/>
            <a:ext cx="45079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spc="150">
                <a:solidFill>
                  <a:srgbClr val="8B8B93"/>
                </a:solidFill>
                <a:latin typeface="Instrument Sans"/>
              </a:rPr>
              <a:t>PASTE THIS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286000"/>
            <a:ext cx="4507992" cy="1548384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42048" y="2450592"/>
            <a:ext cx="310896" cy="310896"/>
          </a:xfrm>
          <a:prstGeom prst="ellipse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42048" y="2432304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03036"/>
                </a:solidFill>
                <a:latin typeface="Instrument San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9248" y="2670048"/>
            <a:ext cx="3593591" cy="1109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9C9D2"/>
                </a:solidFill>
                <a:latin typeface="Instrument Sans"/>
              </a:rPr>
              <a:t>Build me a retro-board web app: three columns - went well, needs work, actions - with sticky notes I can add and drag, and a button to export the board as markdown.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3980688"/>
            <a:ext cx="4507992" cy="1057656"/>
          </a:xfrm>
          <a:prstGeom prst="roundRect">
            <a:avLst>
              <a:gd name="adj" fmla="val 6000"/>
            </a:avLst>
          </a:prstGeom>
          <a:solidFill>
            <a:srgbClr val="303036"/>
          </a:solidFill>
          <a:ln w="9525">
            <a:solidFill>
              <a:srgbClr val="4545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42048" y="4145280"/>
            <a:ext cx="310896" cy="310896"/>
          </a:xfrm>
          <a:prstGeom prst="ellipse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2048" y="412699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03036"/>
                </a:solidFill>
                <a:latin typeface="Instrumen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4364736"/>
            <a:ext cx="3593591" cy="61874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9C9D2"/>
                </a:solidFill>
                <a:latin typeface="Instrument Sans"/>
              </a:rPr>
              <a:t>Now make it dark-themed and add a per-column note counter.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28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0"/>
            <a:ext cx="450799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80960" y="0"/>
            <a:ext cx="32004" cy="6858000"/>
          </a:xfrm>
          <a:prstGeom prst="rect">
            <a:avLst/>
          </a:prstGeom>
          <a:solidFill>
            <a:srgbClr val="2F6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spc="160">
                <a:solidFill>
                  <a:srgbClr val="8B8B93"/>
                </a:solidFill>
                <a:latin typeface="Instrument Sans"/>
              </a:rPr>
              <a:t>FLEX SPENT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914400"/>
            <a:ext cx="69494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5F5F6"/>
                </a:solidFill>
                <a:latin typeface="Instrument Sans"/>
              </a:rPr>
              <a:t>Back to the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926080"/>
            <a:ext cx="457200" cy="45720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072384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5F5F6"/>
                </a:solidFill>
                <a:latin typeface="Instrument Sans"/>
              </a:rPr>
              <a:t>What you added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2918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ACACB4"/>
                </a:solidFill>
                <a:latin typeface="Instrument Sans"/>
              </a:rPr>
              <a:t>A deeper cut than the syllabus promised - because the room earned the time.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926080"/>
            <a:ext cx="457200" cy="45720"/>
          </a:xfrm>
          <a:prstGeom prst="rect">
            <a:avLst/>
          </a:prstGeom>
          <a:solidFill>
            <a:srgbClr val="4C8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3072384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5F5F6"/>
                </a:solidFill>
                <a:latin typeface="Instrument Sans"/>
              </a:rPr>
              <a:t>Where it lives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566160"/>
            <a:ext cx="32918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ACACB4"/>
                </a:solidFill>
                <a:latin typeface="Instrument Sans"/>
              </a:rPr>
              <a:t>Every module maps to a day and block - revisit it next to those notes.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37376"/>
            <a:ext cx="10908792" cy="10972"/>
          </a:xfrm>
          <a:prstGeom prst="rect">
            <a:avLst/>
          </a:prstGeom>
          <a:solidFill>
            <a:srgbClr val="3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AIA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E7E86"/>
                </a:solidFill>
                <a:latin typeface="Instrument Sans"/>
              </a:rPr>
              <a:t>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>AIA Training Factory 2026.06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