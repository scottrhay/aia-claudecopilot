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Welcome the room back and open with the Day 2 promise: yesterday you learned to drive one agent well - today you teach it your standards. By end of day everyone leaves with a working skill, a security hook, a custom command, and all of it packaged as a plugin they can share. Ask: 'in chat, one thing Claude did yesterday that you wish it just knew without being told?' Expected answer: formatting rules, project conventions, review standards. Transition: that wish is exactly what today builds.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five blocks and say the arc plainly: encode your knowledge (skills), enforce your rules (hooks and commands), prove it works (evals), then ship it to the team (plugins). Four labs, one per block, each adding a piece to the personal toolkit repo started on Day 1. Ask: 'thumbs-up in chat if your Day 1 dashboard project still runs - anyone need a recovery checkpoint?' Expected answer: most thumbs up, one or two need the checkpoint repo. Transition: here is what you will be able to do by five o'clock.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five capabilities and say every one maps to a lab this afternoon - nothing on this list is theory. Stress the last row: Day 2 ends with their own extension installed from a marketplace, exactly how their team would consume it. Ask: 'which of these five would save your team the most time this quarter?' Expected answer: hooks for enforcement or skills for review standards. Transition: quick look at where today sits in the three-day arc.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Point at the middle badge and say today is the hinge of the course: Day 1 skills work with any project, Day 3 orchestration only pays off if the standards you encode today are solid. Everything today lives in the same business-dashboard project from Day 1 and travels with the repo. Ask: 'what standard does your team enforce today only through code review comments?' Expected answer: naming, error handling, test style. Transition: block one - skills, the knowledge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by naming what it covers: what a skill actually is, how progressive disclosure keeps context lean, how to write descriptions that fire, and how to debug the ones that do not. Ask: 'one-word answer in chat - what repetitive instruction do you paste into Claude most often?' Expected answer: review checklists, formatting rules, test patterns. Transition: first, the anatomy - a skill is a folder, not a prompt.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Teach the three badges left to right: SKILL.md is the contract, the folder carries scripts and reference files Claude uses on demand, and the description is what decides when any of it loads. Land the key framing: a skill is a standard operating procedure for an AI agent - what to do, in what order, what good looks like. Ask: 'think of a task you explain to every new hire - could you write it as an SOP?' Expected answer: yes, code review or release steps. Transition: the loading mechanism is the clever part - progressive disclosure.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Trace the four nodes and stress the economics: at session start only the one-line descriptions sit in context; the body loads only on a match, and reference files only when the body points at them. Say the layered picture out loud - summary, then process, then knowledge - each layer costs tokens only when needed. Ask: 'why not just paste all your standards into CLAUDE.md?' Expected answer: context bloat - CLAUDE.md loads every session whether needed or not. Transition: so what exactly goes in the file? Here is the current frontmatter.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four fields and say these are the July 2026 documented set - name and description are required, the other two are your control surfaces. Spend a beat on allowed-tools as the safety net: read-only skills cannot break anything. Teach the strip: keep the body between 1,500 and 2,000 words of process instructions and point at reference files for anything bulky. Ask: 'which field do you think most skills get wrong?' Expected answer: description - and that is the next slide. Transition: the description deserves its own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Say the hard truth first: most skills that fail never load at all, and the description is almost always why. Walk the three cards - explicit trigger phrases users actually type, negative boundaries so the skill does not hijack unrelated prompts, and a five-phrasing test before you trust it. Ask: 'what phrase would YOUR teammates type when they want a code review?' Expected answer: review this, check for bugs, QA this - rarely the words you would guess. Transition: let us write one together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Give them three minutes to paste the first prompt into their own session and watch the skill appear, then run the second prompt to make Claude explain its own scaffolding. Call out the phrase 'current project directory' - without it Claude sometimes writes to the global ~/.claude folder instead. [CRESCENDO L3] Ask everyone to paste their generated description line into chat and pick two for group critique: would these fire reliably? Expected answer: half are too vague - great teaching moment. Transition: descriptions decide WHEN - now what belongs in the body versus a script.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real choice: anything needing judgment or language lives in the markdown body; anything needing precise, repeatable computation belongs in a script the skill carries. Give the tell - if the same input must always produce the same output, that is a script. The best skills use both: scripts crunch, instructions judge. Ask: 'CSV cleanup with fixed header rules - which side?' Expected answer: script, because determinism matters. Transition: one more structural rule keeps skills fast - one level deep.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four steps and explain the why on step three: Claude truncates nested reads, so a reference pointing at another reference silently loses content. The pattern to say out loud is point-don't-dump - the body points at knowledge, it never contains it. Ask: 'your team wiki page is 8,000 words - what do you do before adding it to a skill?' Expected answer: compress it to just what the skill needs. Transition: what kinds of skills are people actually building? Anthropic catalogued its 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five rows and spend the most time on 'don't state the obvious' - Claude already writes decent code, so a skill repeating generic advice adds cost without changing behavior; encode only what is uniquely yours. The gotchas row compounds: every time Claude trips, the fix goes in the skill. Ask: 'which principle surprises you most?' Expected answer: don't railroad - people expect more prescription to mean more control, but it makes skills brittle. Transition: here is what Anthropic's own catalog of hundreds of skills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Say the source: Anthropic catalogued hundreds of skills in internal use and they cluster into nine types across these three families - knowledge skills that teach, verification skills that check, workflow skills that do. Teach the strip out loud: verification is the family teams underinvest in and the one Anthropic says pays best. Ask: 'which family would you build first for your codebase?' Expected answer: workflow - and push back gently that verification multiplies everything else. Transition: wherever you build them, skills now travel across every Claude surface.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four rows and land the point: SKILL.md is now a cross-platform standard - the file you write in this lab works in Claude Code, in Claude.ai, and in Agent SDK apps without changes. Claude Code discovers skills by scanning .claude/skills/ at session start, so placement is the whole install step. Ask: 'why does one format across surfaces matter for a team?' Expected answer: write once, standardize everywhere - no per-tool rewrites. Transition: when a skill refuses to load,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rows top to bottom as the actual debugging order - the red row is the culprit nine times out of ten, so start at the description. Teach the strip as new since April: the /doctor overhaul now runs a full diagnostic and flags skills that never fire, plus an auto-fix key. Ask: 'a skill fires on your machine but not your teammate's - first thing you check?' Expected answer: location and whether it is committed to git. Transition: enough theory - watch me build one live and break it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Setup: open the business-dashboard project in Claude Code with a clean session, and have src/routes/tasks.js visible in the editor. Steps: step 1, paste the Lab 2A creation prompt from the previous leftright slide and let Claude scaffold .claude/skills/code-review/SKILL.md; step 2, run 'Review the code in src/routes/tasks.js' and point at the skill-activation line in the transcript; step 3, edit the description down to just 'reviews code', restart the session, show the same prompt no longer firing, then run /doctor and show the unused-skill flag. Expected result: skill fires with structured findings in step 2, silently fails in step 3, and /doctor names it. If it fails: fallback is the pre-built skill in the instructor repo checkpoint - copy it in and rerun; if /doctor output differs, show the saved screenshot from the runbook. Debrief question: ask 'what would change in a different scenario - a skill your whole team shares via git?' Expected answer: the description must match everyone's phrasing, not just yours.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each line aloud slowly - this is the recap beat before the lab, not new content. Say the first line is the framing that makes skills click for most people, and the second is the one that saves them an hour of debugging. Ask: 'which line goes on your team's wall?' Expected answer: the description line. Transition: your turn - thirty minutes, your own skill, in your own project.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Run the four questions cold-call style before confirming. Answers: every SKILL.md is YAML frontmatter plus a markdown body; the description field drives auto-invocation and the trigger phrases go inside it; disable-model-invocation makes a skill user-only; references must never point at other references because nested reads get truncated. Ask the third question twice if it stalls - it is the one people forget in the lab. Expected answer: strong on parts one and two, the frontmatter field needs a hint. Transition: three lines to keep,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then 30 minutes of lab. Launch the lab: the deliverable is a working code-review skill in their toolkit repo with a references checklist, timebox 30 minutes, and the success checklist on screen - fires on three different phrasings, /doctor shows it as used, committed to git. If behind, the minimum artifact is the skill firing on one phrasing. Walk the room during the build; the common sticking point is the description. [CRESCENDO L3] Debrief: bring everyone back and ask two people to share their trigger phrases and one failed phrasing. Expected answer: real phrasings are shorter and messier than drafted ones. Transition: break, then hooks - the enforcement layer.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 Give the room fifteen minutes and say what is coming when they return: hooks - the layer that does not suggest your standards but enforces them on every single action Claude takes. Encourage anyone whose Lab 2A skill did not fire to grab you during the break for a description tune-up before Block 2 starts. Transition: when we return, the enforcement layer.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by drawing the line from Block 1: skills suggest, hooks enforce - a skill can be ignored on a bad day, a hook cannot. This block covers the hook event model, the four handler types, three production hook patterns, and then custom commands. Ask: 'what rule does your team have that Claude absolutely must never break?' Expected answer: no secrets in commits, no pushes to main, formatting. Transition: first, what a hook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three badges: hooks observe (audit trails), enforce (block before the action runs), and automate (cleanup after). Land the core property - hooks are deterministic scripts, not model judgment; exit code 2 blocks an action every single time, which is why compliance conversations end here. Ask: 'why is a hook stronger than a CLAUDE.md rule?' Expected answer: CLAUDE.md is advice the model can drift from; a hook is code that always runs. Transition: the lifecycle - where exactly hooks fire.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Trace the four nodes with the audit-log example: the PostToolUse event fires, the matcher checks whether the tool was Write or Edit, the handler script receives JSON on stdin, and the exit code decides what happens next. Stress the data contract - hook data arrives as JSON on stdin, not environment variables, so bash handlers start with json=$(cat) and jq. Ask: 'which node makes hooks safe to roll out gradually?' Expected answer: the matcher - you can scope a hook to one tool before going wide. Transition: 27 events is a lot - here are the ones worth knowing by name.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six rows and be honest about proportions: PreToolUse and PostToolUse cover 95% of what they will ever build, and the lab uses exactly those. Then name what is new since April - the event count grew to 27, adding subagent, teammate, task, worktree, and compaction lifecycle events that matter for Day 3 orchestration. Ask: 'which new event pairs with the compaction pain you hit in Day 1 Lab 1C?' Expected answer: PreCompact - save state before the squeeze. Transition: an event needs a handler - and there are now four kinds.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four cards and anchor on command handlers - everything in today's lab is a shell script, and that is deliberately the default. HTTP handlers matter to platform teams shipping telemetry to a central service; MCP tool handlers reuse integrations you already run; prompt handlers ask a model to make the call. Teach the strip hard: a security rule enforced by a prompt handler is a suggestion again - keep blocking rules deterministic. Ask: 'when is a prompt handler actually the right choice?' Expected answer: fuzzy judgment calls like tone or risk triage, never hard blocks. Transition: so which event do you pick? Quick reference.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Say this is the photograph slide - the same table ships in the printed quick reference, so nobody transcribes. Walk the first two rows because they are the lab: PreToolUse with exit 2 for blocking, PostToolUse with a Write|Edit matcher for formatting. Ask: 'your team wants every Claude session to open with the sprint context loaded - which row?' Expected answer: SessionStart. Transition: three production patterns you can copy wholesale.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three cards as a maturity path: the audit log is the safest first hook because it observes and cannot break anything; auto-format is the invisible-CI pattern that ends 'please run prettier' forever; notifications give the team visibility into high-impact commands. Teach the strip mechanics once - stdin JSON parsed with jq is the same skeleton for all three. Ask: 'which one would your security team ask for first?' Expected answer: the audit log - compliance trail. Transition: whatever you build, three rules keep hooks from hurting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four steps and spend the beat on step one: hooks run synchronously, so a two-second hook makes every single Claude action feel slow - and the /doctor overhaul now detects and flags slow hooks for exactly this reason. Step three is the safety philosophy: never block what you do not understand. Ask: 'why fail open rather than fail closed on unknown tools?' Expected answer: a fail-closed hook bricks the session the day a new tool ships. Transition: how the three layers you now know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layering as the day's central architecture: CLAUDE.md sets the contract but can be ignored under context pressure; skills provide the execution path but cannot block anything; hooks enforce the hard boundary but cannot make judgment calls. When something breaks, diagnose by layer. Say the enterprise line: 'the AI said it was safe' is not a defense - exit 2 is deterministic, model judgment is not. Ask: 'your team's no-secrets rule - which layer?' Expected answer: hooks, with CLAUDE.md stating it for context. Transition: watch the audit hook get built live.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Setup: open the business-dashboard project, create the .claude/hooks/ folder, and have a split terminal ready with tail -f .claude-audit.log running. Steps: step 1, paste the audit-log.sh script (json=$(cat), jq for tool_name and file_path, append timestamped line) and register it in settings.json under PostToolUse with an empty matcher; step 2, prompt Claude to 'add a comment header to src/utils/helpers.js' and watch the log line appear in the tail; step 3, add a PreToolUse hook matching Bash that exits 2 on 'rm -rf' and prompt Claude to clean the temp folder with rm -rf to show the block message. Expected result: the audit line appears within a second of the edit, and the dangerous command is refused with the hook's stderr message shown. If it fails: fallback is the pre-wired hooks branch in the instructor repo - git checkout hooks-demo and rerun; if jq is missing on the machine, use the node variant from the runbook. Debrief question: ask 'what would change in a different scenario - running this hook only for one subagent?' Expected answer: register it at the subagent level, the Day 3 pattern.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three cards fast because the mechanics are genuinely simple: a markdown file whose name becomes the slash command, a $ARGUMENTS placeholder for dynamic input, and git as the distribution channel. Say the mental-model line: commands are explicit user actions, skills are Claude-selected behaviors - recent versions share machinery underneath, but the distinction keeps intent clear. Ask: 'what prompt do you retype so often it deserves a name?' Expected answer: review this, write tests, explain this error. Transition: build one right now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Give them three minutes: paste the first prompt to create the command, then invoke it with the second line and watch $ARGUMENTS resolve to the file path. Point at the frontmatter description - it is what /help shows teammates. [CRESCENDO L3] Ask everyone to paste the name of the command they would build for their real team into chat, and pick two to workshop out loud: what would the body say? Expected answer: /deploy-check, /onboard, /pr-summary - concrete, daily-use names. Transition: when is it a command versus a skill? Decision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four rows as a starter pack every team can adopt this week - each one is a markdown file under twenty lines. Teach the strip: commands can invoke other commands, so a /full-review can orchestrate three specialized passes and compile one report - orchestration without writing code. Ask: 'which of the four would remove the most friction from your week?' Expected answer: /review or /deploy-check. Transition: when does something deserve to be a command versus a skill? Decision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choice with the intent test: if the human should consciously decide the moment - deployments, releases, onboarding - make it a command; if the behavior should appear whenever relevant - review standards, domain patterns - make it a skill. Give the combo pattern: a command can invoke skills, so /review-pr can chain three review skills in sequence. Ask: 'your pre-deploy checklist - which side and why?' Expected answer: command - a human should pull that trigger deliberately. Transition: quick check of the block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Run the four questions cold-call style and let the room answer before you confirm. Answers: exit code 2 blocks (exit 1 is a non-blocking error); data arrives as JSON on stdin, parsed with jq or process.stdin; handler types are command, HTTP, MCP tool, and prompt; commands are user-invoked, skills are Claude-selected by description match. Ask the last one to the quietest corner of the room and give the expected answer time to land. Expected answer: most get exit 2 and stdin right, handler types need a prompt. Transition: lab time - hooks and commands together in your toolkit.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then 30 minutes of lab. Launch it: the deliverable is a secret-detection PreToolUse hook, the audit-log PostToolUse hook, and one custom command with $ARGUMENTS, all in the toolkit repo. Timebox 30 minutes; if behind, the minimum artifact is the audit hook wired and logging. Success checklist on screen: the planted fake API key gets blocked with exit 2, the command resolves its argument, everything committed to git. [CRESCENDO L3] Debrief: reconvene and ask who saw the hook fire on something they did NOT expect - share one surprise. Expected answer: the secret pattern matched a test fixture - great segue into matcher precision. Transition: lunch, then we make skills provably good.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60 min. Send the room to lunch with the afternoon trailer: this morning you built skills and hooks that work; this afternoon we prove they work - eval loops, A/B benchmarking against raw Claude, and then packaging everything as a plugin your team installs in one command. Encourage anyone with a red Lab 2B checklist item to catch you in the first ten minutes after lunch. Transition: back in sixty for advanced skill systems.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afternoon by naming the shift: this morning was about building skills - this block is about knowing whether they actually work, keeping them working as models improve, and connecting them into systems. Ask: 'honest poll in chat - has anyone ever built an automation and never checked if it was still helping?' Expected answer: most, sheepishly. Transition: first, a maturity model to locate yourself 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three levels and say where value compounds: most people stop at L1 and re-type their expertise forever; Lab 2A got everyone to L2; this block is the L2-to-L3 jump - testing, benchmarking, and chaining. Give the Anthropic pattern: codify before you build - write down what good looks like first, then build automation on top of it. Ask: 'where is your team's best internal knowledge today - L1, L2, or L3?' Expected answer: L1, in senior engineers' heads. Transition: before testing, know which KIND of skill you built - it changes the test.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Force the distinction because it changes how you test: capability-uplift skills patch a model weakness - exact document formatting, coordinate-precise PDF work - and every model release can make them obsolete or even harmful. Encoded-preference skills capture your judgment - your NDA checklist, your report format - and they outlive upgrades because they are about you, not the model. Ask: 'the code-review skill you built this morning - which side?' Expected answer: mostly encoded preference, your standards - which is why it is durable. Transition: either way, one skill alone is not a system - here is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framing first: a collection of skills means you are the API - invoking one, copying output into the next; a system chains them with files as the interface. Walk the three patterns as an adoption path: shared context you already have from Day 1, chaining when two skills naturally flow together, scheduling only once you trust the pipeline. Ask: 'which two of your skills would you chain first?' Expected answer: review then fix, or analyze then report. Transition: none of this is safe without testing - the loop.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creative pattern: a skill can register hooks that live only for the current session - opt-in guardrails on demand. Walk the rows: /careful before touching production, /freeze before a focused refactor, and the metering pattern that surfaces skills you thought were firing but were not. Say these are patterns to recognize today and build in Day 3. Ask: 'when would you invoke /careful in your real week?' Expected answer: database work, release windows. Transition: with guardrails covered, the loop that proves a skill works.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Trace the loop and land the mindset change: this is unit testing for AI behavior - you define prompts that SHOULD trigger the skill and prompts that should NOT, run them, and record which fired correctly. The difference between hoping a skill works and proving it works is exactly this loop. Say the test-quality caution: write evals that lock in behavior - inputs and outputs - not implementation details. Ask: 'what belongs in the should-NOT-trigger list for your review skill?' Expected answer: doc generation, writing new code - neighboring tasks. Transition: when the loop fails, here is the symptom-to-fix table.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rows as the troubleshooting card they keep after the course - symptom on the left, fix on the right, red row first because activation failure is the most common by far. Point out that every fix is an edit to the skill, never a workaround in the prompt: fix the asset, not the invocation. Ask: 'which symptom did you already hit in Lab 2A?' Expected answer: never activates or extra commentary. Transition: the loop tells you the skill passes - benchmarking tells you it is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Teach the insight most people miss: when a smarter model ships, a skill written for the old one can actively hold Claude back - rigid instructions overriding improved abilities. The A/B protocol catches it: run the same test prompts with and without the skill, and let a separate agent judge blind. Say that Anthropic reported finding issues in most of its own skills this way when it ran the exercise - and that capability-uplift skills are the ones that expire. Ask: 'when should you re-run this benchmark?' Expected answer: after every model release. Transition: you do not do any of this by hand - skill-creator does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Introduce it as the official Anthropic plugin that automates everything this block taught: create scaffolds the structure Lab 2A built by hand, improve rewrites and tests description variants until triggering is reliable, evaluate runs your test prompts, benchmark scores skill against baseline. Because they built one by hand this morning, they understand what it generates - that ordering was deliberate. Ask: 'why did we make you hand-build before giving you the generator?' Expected answer: you cannot debug what you cannot read. Transition: run it yourself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Give them four minutes to run the first prompt against the Lab 2A skill and watch the pass/fail table come back, then the second prompt to get a description rewrite grounded in real failures. [CRESCENDO L3] Ask everyone to paste their pass rate into chat - X of 8 - and have the lowest and highest scorer each read their description aloud for group comparison: what does the reliable one do differently? Expected answer: more trigger phrases, tighter boundaries. Transition: where all this testing is heading - a look at the horizon.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three lines and give the arc: as models improve, detailed procedure matters less and clear definitions of good output matter more - the eval, your statement of what good looks like, may eventually BE the skill. Say why this matters today: time spent writing evals is the most durable investment in this whole day. Ask: 'which of your artifacts from today survives five model upgrades?' Expected answer: the evals and the encoded preferences. Transition: watch the full test cycle run live.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Setup: open the project with the morning's code-review skill in place, and have the eval prompt from the previous leftright slide ready to paste in a fresh session. Steps: step 1, run the eval-set prompt and show the pass/fail table - point at any should-not-trigger prompt that incorrectly fired; step 2, benchmark by renaming SKILL.md to SKILL.md.bak, running 'Review the code in src/routes/tasks.js' without it, restoring the file, and comparing both outputs side by side; step 3, apply the improved description and rerun the failed eval prompts to show them flip to pass. Expected result: the skilled output shows the structured checklist format while baseline is generic prose, and the description fix raises the pass rate. If it fails: if outputs look too similar, fallback to the instructor repo's deliberately-weak skill variant which shows a dramatic gap; if the session gets noisy, /clear and rerun step 2 only. Debrief question: ask 'what would change in a different scenario - benchmarking after a new model release?' Expected answer: baseline improves, so the bar for keeping the skill rises.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Run the four questions to the room before confirming. Answers: L1 repeated prompt, L2 proper skill, L3 tested system; capability-uplift skills expire because the base model catches up, encoded preferences survive; the judge is honest because it reviews blind - it does not know which output used the skill; files are the API between chained skills. Ask a follow-up on the last: why files rather than one giant session? Expected answer: loose coupling and inspectability at each step. Transition: Lab 2C - run the whole loop on your own skill.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then 30 minutes of lab. Launch it: the deliverable is an eval set of five should-trigger and three should-not prompts, an A/B benchmark verdict against raw Claude, and one description improvement - all recorded in the toolkit repo. Timebox 30 minutes; if behind, the minimum artifact is the eval table with at least one fix applied. Success checklist: every eval passes after one fix cycle and the benchmark verdict is written down. A recovery checkpoint is available for anyone who missed Labs 2A or 2B. [CRESCENDO L3] Debrief: reconvene and ask who found their skill LOSING to baseline - and what they did about it. Expected answer: one or two retire or rewrite - exactly the muscle this builds. Transition: break, then we ship all of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 Give the room fifteen minutes and set up the final teaching block: everything they have built today - skill, hooks, command, evals - is about to become one installable package their whole team can pull from a marketplace with a single command. Say that the last lab publishes for real, to a team marketplace repo. Transition: when we return, plugins and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final teaching block with the payoff frame: everything built today is still trapped in one repo - plugins are how standards travel across every repo and every teammate. This block covers plugin anatomy, the marketplace ecosystem, scaffolding, the trust model, and publishing. Ask: 'how does your team share tooling conventions today?' Expected answer: wiki pages, word of mouth, copy-paste - all of which drift. Transition: first, what a plugin actually contains.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four badges and land the definition from the docs: a plugin bundles skills, hooks, commands, and MCP servers into one installable unit with a manifest at .claude-plugin/plugin.json. Say the namespacing rule - installed skills become plugin-name:skill-name so multiple plugins coexist without collisions - and that installed plugins are read-only. Ask: 'why read-only after install?' Expected answer: so the marketplace stays the source of truth and local drift cannot fork team standards. Transition: one of those four needs a caution flag before Day 3 - MCP.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Keep this deliberately light and say so: Day 3 opens with a full MCP block including transports and authentication - today they only need what plugins require. Teach the strip as the headline: tool definitions occupy context permanently while connected, so every server must earn its tokens; /context shows the real bill. Ask: 'what should you check before installing any MCP server?' Expected answer: how many tools it exposes and whether you need them this session. Transition: so where do plugins come from? The ecosystem got big.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four rows with the honesty flag built in: the official marketplace count is from Anthropic's own docs, while the community numbers come from a public directory - say 'directionally right, verify before you put them in a slide for your CTO.' The teaching point is not the digits but the shape: the official set is curated and small, the community is enormous and unvetted. Ask: 'what does a 200x gap between official and community tell you?' Expected answer: curation is the scarce resource - which is why the trust model matters. Transition: how installing actually flows.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Trace the four nodes with the concrete example: /plugin marketplace add registers a repo as a marketplace, /plugin install skill-creator@claude-plugins-official pulls the plugin, /plugins confirms what arrived, and the new capabilities appear namespaced. Mention the one gotcha: bundled MCP servers need a fresh session or /clear to activate. Ask: 'where does an installed plugin live - your project or your machine?' Expected answer: user-level plugin directory, not the repo - which is why it works across all your projects. Transition: building your own starts with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five steps and celebrate step one as new since April: claude plugin init scaffolds the whole structure so nobody hand-writes a manifest anymore. Step five is the demystifier - a marketplace is just a git repo with plugin folders, so a team marketplace is one internal repo plus /plugin marketplace add. Ask: 'what is the difference between your .claude/ folder and the plugin you are about to make from it?' Expected answer: scope - project config travels with one repo, the plugin installs into many. Transition: before anyone installs anything, the trust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hierarchy top to bottom and make the strip the headline: the docs' own language is that plugins are highly-trusted components - they can ship arbitrary scripts and MCP servers that run with your credentials, so the vetting bar is the same as an npm dependency or a VS Code extension. The red row is the policy conversation: most enterprises should require marketplace review or internal hosting. Ask: 'what is your team's npm policy - and why would plugins deserve less?' Expected answer: lockfiles and review - and no reason. Transition: two housekeeping commands keep marketplaces healthy.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three cards quickly as operational hygiene: claude mcp login and logout are new since April and give you shell-level auth for MCP servers instead of hand-editing tokens into config; update and uninstall keep the estate current and reversible. Say the rotation habit out loud - logout is part of offboarding a teammate. Ask: 'which of these belongs in your team's leaver checklist?' Expected answer: mcp logout and credential rotation. Transition: time to package your own toolkit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Give them four minutes: the first prompt scaffolds and migrates their day's work into plugin form, the second proves the round trip by installing into a clean project and listing namespaced capabilities. [CRESCENDO L3] Ask everyone to paste their plugin's one-line description from the manifest into chat, and workshop two: would a teammate know what this installs and trusts? Expected answer: most are too terse - descriptions are for the humans doing the vetting. Transition: one decision left before the demo - what belongs in a plugin at all.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choice with the scope test: if the standard is specific to one codebase - its architecture notes, its test commands - it stays project config; the moment two repos need it, promote it to a plugin so there is one versioned source of truth. Give the progression most teams follow: build locally, prove it, promote. Ask: 'your secret-detection hook from Lab 2B - config or plugin?' Expected answer: plugin - every repo needs that one. Transition: watch the full install-and-inspect flow live.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Setup: open a terminal in the business-dashboard project with a clean Claude Code session, and have the empty team-marketplace git repo URL from the runbook ready. Steps: step 1, run /plugin install skill-creator@claude-plugins-official and show the install output; step 2, run /plugins to show what arrived, open the plugin folder to walk the manifest, and point at the namespaced skill names; step 3, push the my-toolkit plugin built in the follow-along to the team repo, run /plugin marketplace add on that repo, and install my-toolkit from it. Expected result: skill-creator appears namespaced in step 2, and the class's own plugin installs from the team marketplace in step 3 exactly like an official one. If it fails: if network or auth blocks the marketplace, fallback to installing from the local path and show the saved terminal capture of the marketplace flow from the runbook. Debrief question: ask 'what would change in a different scenario - a plugin that also ships an MCP server?' Expected answer: it needs /clear to activate and a trust review before install.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Run the four questions to the room before confirming. Answers: a plugin bundles skills, hooks, commands, and MCP servers; the manifest lives at .claude-plugin/plugin.json; any git repo with plugin folders becomes a marketplace via /plugin marketplace add; plugins deserve dependency-level scrutiny because they can ship arbitrary scripts and MCP servers that run with your credentials. Ask the last question with feeling - it is the one that protects their org. Expected answer: most nail the bundle, the manifest path needs a prompt. Transition: final lab - package and actually publish.</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then 30 minutes of lab. Launch the expanded final lab: the deliverable is the my-toolkit plugin - skill, hooks, command - packaged with claude plugin init and published to the shared class marketplace repo, then installed by a peer. Timebox 30 minutes; if behind, the minimum artifact is a local-path install that passes verification. Success checklist on screen: manifest valid, plugin visible on the marketplace, and a classmate runs YOUR namespaced command in THEIR project. [CRESCENDO L3] Debrief: reconvene and ask pairs to share one thing that broke crossing machines. Expected answer: hardcoded paths and missing tool assumptions - exactly what packaging surfaces. Transition: close the day - what you built and where it goes tomorrow.</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close by pointing at the clock: in one day the room went from pasting repeated prompts to publishing a tested, packaged, installable toolkit. This short block reviews the stack, names the principles, sets homework, and bridges to Day 3. Ask: 'one word in chat - how does your toolkit repo feel right now?' Expected answer: real, shippable, mine. Transition: the whole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five rows and let each land with its lab: everything on this slide exists in their repo right now, committed and installable - not slideware. Say the compounding line: a new teammate who clones or installs gets the team's standards on day one, no onboarding wiki required. Ask: 'which layer will you extend first next week?' Expected answer: more skills or a stricter hook set. Transition: three principles to carry out of the room.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each line slowly - this is the recap beat, not new content. Say the first principle is the habit that builds the toolkit automatically over time: notice the third repetition and encode it. Ask: 'which principle will be hardest to hold under deadline pressure?' Expected answer: evals - testing is always the first casualty, which is why skill-creator makes it cheap. Transition: homework keeps the momentum until tomorrow.</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Set the homework with the constraint that matters: real project, real standards - not toy examples - because Day 3 orchestration labs consume these exact artifacts. Walk the three cards and point at the strip: tomorrow a subagent will load their skill and a CI job will run their command headlessly. Ask: 'what is the first candidate that comes to mind for your daily command?' Expected answer: review, deploy-check, or standup summary. Transition: a preview of exactly how those pieces get multiplied.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Paint the bridge concretely: today a skill loads into your one session; tomorrow a subagent with its own context loads that same skill, does the work in isolation, and reports back - and multiple subagents run in parallel, including nested delegation. The example to say out loud: a security-review subagent loading their Lab 2A skill against every PR. Ask: 'what would change in a different scenario - and which of your skills most deserves its own dedicated agent?' Expected answer: review or test generation. Transition: final word and we are done for the day.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Close with the promise kept: this morning Claude was a capable generalist - tonight it carries their standards in a package anyone on the team can install in one command. Thank the room, name the homework once more, and preview tomorrow's opening question about which architecture fits which job. Ask: 'before you drop - one thing from today you will use before Friday, in chat on the way out.' Expected answer: hooks and the /test-this command lead the list. Transition: see you tomorrow morning for Day 3 - orchestration and 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5.png"/><Relationship Id="rId4" Type="http://schemas.openxmlformats.org/officeDocument/2006/relationships/image" Target="../media/image22.png"/><Relationship Id="rId5" Type="http://schemas.openxmlformats.org/officeDocument/2006/relationships/image" Target="../media/image29.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9.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5.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34.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6.png"/><Relationship Id="rId8" Type="http://schemas.openxmlformats.org/officeDocument/2006/relationships/image" Target="../media/image20.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1.png"/><Relationship Id="rId4" Type="http://schemas.openxmlformats.org/officeDocument/2006/relationships/image" Target="../media/image13.png"/><Relationship Id="rId5" Type="http://schemas.openxmlformats.org/officeDocument/2006/relationships/image" Target="../media/image43.png"/><Relationship Id="rId6" Type="http://schemas.openxmlformats.org/officeDocument/2006/relationships/image" Target="../media/image23.pn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44.png"/><Relationship Id="rId5" Type="http://schemas.openxmlformats.org/officeDocument/2006/relationships/image" Target="../media/image20.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28.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4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6.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47.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1.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png"/><Relationship Id="rId4" Type="http://schemas.openxmlformats.org/officeDocument/2006/relationships/image" Target="../media/image31.png"/><Relationship Id="rId5" Type="http://schemas.openxmlformats.org/officeDocument/2006/relationships/image" Target="../media/image20.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png"/><Relationship Id="rId6" Type="http://schemas.openxmlformats.org/officeDocument/2006/relationships/image" Target="../media/image43.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31.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4.png"/><Relationship Id="rId4" Type="http://schemas.openxmlformats.org/officeDocument/2006/relationships/image" Target="../media/image31.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41.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23.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1.png"/><Relationship Id="rId6" Type="http://schemas.openxmlformats.org/officeDocument/2006/relationships/image" Target="../media/image23.png"/><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59.png"/><Relationship Id="rId4" Type="http://schemas.openxmlformats.org/officeDocument/2006/relationships/image" Target="../media/image40.png"/><Relationship Id="rId5" Type="http://schemas.openxmlformats.org/officeDocument/2006/relationships/image" Target="../media/image38.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60.png"/><Relationship Id="rId6" Type="http://schemas.openxmlformats.org/officeDocument/2006/relationships/image" Target="../media/image23.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41.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9.png"/><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DAY 2 OF 3</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Extensions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2: teach it your standards</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Skills</a:t>
            </a:r>
          </a:p>
          <a:p>
            <a:pPr algn="l">
              <a:lnSpc>
                <a:spcPct val="105000"/>
              </a:lnSpc>
              <a:spcBef>
                <a:spcPts val="0"/>
              </a:spcBef>
              <a:spcAft>
                <a:spcPts val="300"/>
              </a:spcAft>
            </a:pPr>
            <a:r>
              <a:rPr sz="1550" b="0">
                <a:solidFill>
                  <a:srgbClr val="ACACB4"/>
                </a:solidFill>
                <a:latin typeface="Instrument Sans"/>
              </a:rPr>
              <a:t>Domain expertise in a folder - SKILL.md, triggers, progressive disclosure</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Hooks &amp; custom commands</a:t>
            </a:r>
          </a:p>
          <a:p>
            <a:pPr algn="l">
              <a:lnSpc>
                <a:spcPct val="105000"/>
              </a:lnSpc>
              <a:spcBef>
                <a:spcPts val="0"/>
              </a:spcBef>
              <a:spcAft>
                <a:spcPts val="300"/>
              </a:spcAft>
            </a:pPr>
            <a:r>
              <a:rPr sz="1550" b="0">
                <a:solidFill>
                  <a:srgbClr val="ACACB4"/>
                </a:solidFill>
                <a:latin typeface="Instrument Sans"/>
              </a:rPr>
              <a:t>27 events, 4 handler types, and reusable /commands</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Advanced skill systems</a:t>
            </a:r>
          </a:p>
          <a:p>
            <a:pPr algn="l">
              <a:lnSpc>
                <a:spcPct val="105000"/>
              </a:lnSpc>
              <a:spcBef>
                <a:spcPts val="0"/>
              </a:spcBef>
              <a:spcAft>
                <a:spcPts val="300"/>
              </a:spcAft>
            </a:pPr>
            <a:r>
              <a:rPr sz="1550" b="0">
                <a:solidFill>
                  <a:srgbClr val="ACACB4"/>
                </a:solidFill>
                <a:latin typeface="Instrument Sans"/>
              </a:rPr>
              <a:t>Maturity model, eval loops, A/B benchmarking</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Plugins &amp; marketplaces</a:t>
            </a:r>
          </a:p>
          <a:p>
            <a:pPr algn="l">
              <a:lnSpc>
                <a:spcPct val="105000"/>
              </a:lnSpc>
              <a:spcBef>
                <a:spcPts val="0"/>
              </a:spcBef>
              <a:spcAft>
                <a:spcPts val="300"/>
              </a:spcAft>
            </a:pPr>
            <a:r>
              <a:rPr sz="1550" b="0">
                <a:solidFill>
                  <a:srgbClr val="ACACB4"/>
                </a:solidFill>
                <a:latin typeface="Instrument Sans"/>
              </a:rPr>
              <a:t>Package your toolkit and publish it to your team</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Toolkit review and the Day 3 bridge to subagents</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LEARNING OBJECTIVES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can do by end of day</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skill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SKILL.md with a description that triggers reliably.</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Wire a hook</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PostToolUse hook that enforces a rule on every action.</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command</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parameterized /command with $ARGUMENTS.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Prove it works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Eval loop plus A/B benchmark against raw Claude.</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cke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it</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Package the toolkit as a plugin on a team marketplace.</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THREE-DAY ARC</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From assistant to engineering system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Day 2 is where Claude stops being generic and starts being yours.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a:t>
            </a:r>
            <a:r>
              <a:rPr sz="1400" b="0">
                <a:solidFill>
                  <a:srgbClr val="ACACB4"/>
                </a:solidFill>
                <a:latin typeface="Instrument Sans"/>
              </a:rPr>
              <a:t>  -  drive one agent well - loop, context, memory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a:t>
            </a:r>
            <a:r>
              <a:rPr sz="1400" b="0">
                <a:solidFill>
                  <a:srgbClr val="ACACB4"/>
                </a:solidFill>
                <a:latin typeface="Instrument Sans"/>
              </a:rPr>
              <a:t>  -  teach it your standards - skills, hooks, plugins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opl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a:t>
            </a:r>
            <a:r>
              <a:rPr sz="1400" b="0">
                <a:solidFill>
                  <a:srgbClr val="ACACB4"/>
                </a:solidFill>
                <a:latin typeface="Instrument Sans"/>
              </a:rPr>
              <a:t>  -  multiply it - MCP, subagents, CI/CD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Domain expertise Claude loads on demand.</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a skill actually is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folder with a playbook - not a magic prompt.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SKILL.md</a:t>
            </a:r>
            <a:r>
              <a:rPr sz="1400" b="0">
                <a:solidFill>
                  <a:srgbClr val="ACACB4"/>
                </a:solidFill>
                <a:latin typeface="Instrument Sans"/>
              </a:rPr>
              <a:t>  -  frontmatter trigger + markdown playbook</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folder</a:t>
            </a:r>
            <a:r>
              <a:rPr sz="1400" b="0">
                <a:solidFill>
                  <a:srgbClr val="ACACB4"/>
                </a:solidFill>
                <a:latin typeface="Instrument Sans"/>
              </a:rPr>
              <a:t>  -  scripts/, references/, templates alongside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trigger</a:t>
            </a:r>
            <a:r>
              <a:rPr sz="1400" b="0">
                <a:solidFill>
                  <a:srgbClr val="ACACB4"/>
                </a:solidFill>
                <a:latin typeface="Instrument Sans"/>
              </a:rPr>
              <a:t>  -  description matching loads it on demand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Progressive disclosure</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Scan</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descriptions only</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prompt fits trigger</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Load body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playbook enters context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Reach deeper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references on demand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SKILL.MD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Frontmatter: the current fields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name field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Kebab-case identifier - becomes the /slash invocation.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description field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trigger. Claude reads this to decide when to load.</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disable-model-invocation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the user can invoke - Claude never auto-loads 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Least privilege - a review skill gets Read, Grep, Glob only.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Body target: 1,500-2,000 words of process. Push bulk knowledge into references/ - point, don't dump.</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DESCRIPTIONS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Pushy descriptions win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is conservative - vague descriptions never fire.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Be explicit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List 5-7 trigger phrases users actually type.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Set boundaries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Add 'do NOT use for...' negative triggers.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Test 5 phrasings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If 3+ fail to fire, rewrite the description.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Trigger failure is the #1 reason skills never fire - the description is the single most important 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your first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Scoping one skill to one job</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 description with trigger phrases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Least-privilege allowed-tools</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Saying 'current project directory'</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7" name="TextBox 16"/>
          <p:cNvSpPr txBox="1"/>
          <p:nvPr/>
        </p:nvSpPr>
        <p:spPr>
          <a:xfrm>
            <a:off x="7543800" y="2670048"/>
            <a:ext cx="3776472"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 skill at .claude/skills/code-review/SKILL.md in the current project directory. Trigger on 'review the code', 'check for bugs', 'QA this file'. Review for security, error handling, and test coverage. Read-only tools.</a:t>
            </a:r>
          </a:p>
        </p:txBody>
      </p:sp>
      <p:sp>
        <p:nvSpPr>
          <p:cNvPr id="18" name="Rounded Rectangle 17"/>
          <p:cNvSpPr/>
          <p:nvPr/>
        </p:nvSpPr>
        <p:spPr>
          <a:xfrm>
            <a:off x="7040880" y="447141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8040" y="4535424"/>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20" name="TextBox 19"/>
          <p:cNvSpPr txBox="1"/>
          <p:nvPr/>
        </p:nvSpPr>
        <p:spPr>
          <a:xfrm>
            <a:off x="7543800" y="4855464"/>
            <a:ext cx="3776472"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Show me the SKILL.md you created and explain what each frontmatter field does.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Instructions or scripts?</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Instructions (SKILL.md)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Judgment, language, formatting</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Rewrite in brand voice, categorize</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adapts to context</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pps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Scripts (scripts/)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Computation, parsing, file ops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Deterministic, repeatable output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runs them, not rewrites them</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STRUCTURE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one-level-deep rule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Body = steps</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Process instructions only.</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references/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Checklists and templates.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Never nest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References can't link deeper.</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Compress</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Extract only what's needed.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principles that hold up</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responsibility</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skill, one job - never review AND refactor AND document.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gotchas section</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Log Claude's failure points over time - highest-signal content.</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state the obvious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include what pushes Claude OUT of its defaults.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railroad</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Give goals and constraints, not micromanaged steps.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it 5 times</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Inconsistent output means ambiguous instructions.</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9 skill types in the wild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 catalogued hundreds of internal skills - they cluster into three families.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Knowledge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Library/API reference, domain patterns, docs generation.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Verification</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Output checking, product verification, eval harnesses.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Workflow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Formatting, automation, review pipelines, reporting.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Verification skills repay a full engineering week - they make every other skill's output trustworthy.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PORTABILITY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skill, every surface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SURFACE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HOW YOUR SKILL LOADS</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 Code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.claude/skills/ scanned automatically at session start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Claude.ai</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SKILL.md format uploaded to the web app</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SDK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folder wired into your custom agents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Plugins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Bundled and installed from a marketplace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a skill won't load</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Description too vague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keyword overlap with the prompt - sharpen the triggers.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location</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Must be .claude/skills/&lt;name&gt;/SKILL.md - not root, not nested.</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 nearly full</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may not load late in a bloated session - check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the matching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--debug shows which skills were considered and why.</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/doctor now flags unused skills - run it to find skills that never fire (v2.1.116+ overhaul).</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Demo: build a skill, watch it fire</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Create code-review skill via one prompt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Trigger it: 'review src/routes/tasks.js'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Break it: vague description, then /doctor</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they remember nothing else from Block 1, they remember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is an SOP for an AI agent - process in the body, knowledge in references.</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The description is the trigger. Vague descriptions never fire.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only what pushes Claude out of its defaults.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1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Two parts of every SKILL.md?</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Trigger and playbook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Which field drives auto-invocation?</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trigger phrases live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stops Claude auto-loading a skill?</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frontmatter field</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State the one-level-deep rule</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nesting breaks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2A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2A: Build Your First Skill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own skill in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code-review skill: SKILL.md + references/ checklist.</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ship the skill without references.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Fires on 3 phrasings; /doctor shows it used; committed to git.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15 - hooks are next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Hooks &amp; Custom Commands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Hard enforcement and reusable workflows.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hooks actually are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Deterministic scripts wrapped around Claude's actions.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Observe</a:t>
            </a:r>
            <a:r>
              <a:rPr sz="1400" b="0">
                <a:solidFill>
                  <a:srgbClr val="ACACB4"/>
                </a:solidFill>
                <a:latin typeface="Instrument Sans"/>
              </a:rPr>
              <a:t>  -  log and audit everything Claude does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Enforce</a:t>
            </a:r>
            <a:r>
              <a:rPr sz="1400" b="0">
                <a:solidFill>
                  <a:srgbClr val="ACACB4"/>
                </a:solidFill>
                <a:latin typeface="Instrument Sans"/>
              </a:rPr>
              <a:t>  -  block dangerous actions before they run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Automate</a:t>
            </a:r>
            <a:r>
              <a:rPr sz="1400" b="0">
                <a:solidFill>
                  <a:srgbClr val="ACACB4"/>
                </a:solidFill>
                <a:latin typeface="Instrument Sans"/>
              </a:rPr>
              <a:t>  -  format, test, notify after every change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How a hook fires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ar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Event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one of 27 lifecycle points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Matcher</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regex picks the tool</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Handler</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your script runs</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Exit code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0 allows, 2 blocks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EVENTS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event map worth knowing</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PreToolUse / PostToolUse</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workhorses - validate before, react after. 95% of use cases.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SubagentStart / SubagentStop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Wrap delegated work - scope rules per subagent (Day 3).</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TeammateIdle / TaskCreated / TaskCompleted</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Team and task lifecycle signals for orchestration.</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WorktreeCreate / WorktreeRemove</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React when parallel worktrees appear and vanish.</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PreCompact / PostCompact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Save or restore state around context compaction.</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warn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PermissionRequest / PermissionDenied</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Route, log, or auto-triage permission prompts.</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27 events total as of v2.1.141+ - full list in the hooks reference at code.claude.com.</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HANDLERS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handler types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command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Shell script - JSON on stdin, exit code decides. The classic.</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 the event to an endpoint - central team telemetry.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 tool</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 an MCP server tool as the handler.</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prompt</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Ask a model to judge - non-deterministic, use with care.</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prompt handlers reintroduce model judgment - keep hard security rules in command handlers with exit codes.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Pick the right event</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YOU NEED TO...</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THIS EVENT</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Block a dangerous command</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PreToolUse (exit 2 blocks)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Auto-format after edits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PostToolUse on Write|Edit</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Load context at session open</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SessionStart</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Save a summary at session end</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Stop / SessionEnd</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Audit permission prompts</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PermissionRequest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hooks every team ships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Copy these - they cover audit, hygiene, and visibility.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Audit log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empty matcher - timestamp, tool, file to a log.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Auto-format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on Write|Edit - prettier/black by extension.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Notification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Bash matcher - webhook to Slack/Teams on deploy or push.</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Handlers read JSON from stdin: json=$(cat), then jq -r '.tool_name' - never env vars.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Fail-safe hook discipline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Fast</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Under 1 second, always.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Focused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hook, one concern.</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open</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Exit 0 on unknown tools.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stderr only</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Messages never on stdout.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ARCHITECTURE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three-layer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Each layer covers the failure mode of the one above.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ok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CLAUDE.md</a:t>
            </a:r>
            <a:r>
              <a:rPr sz="1400" b="0">
                <a:solidFill>
                  <a:srgbClr val="ACACB4"/>
                </a:solidFill>
                <a:latin typeface="Instrument Sans"/>
              </a:rPr>
              <a:t>  -  the contract - context and conventions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a:t>
            </a:r>
            <a:r>
              <a:rPr sz="1400" b="0">
                <a:solidFill>
                  <a:srgbClr val="ACACB4"/>
                </a:solidFill>
                <a:latin typeface="Instrument Sans"/>
              </a:rPr>
              <a:t>  -  the execution path - how work gets done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the hard boundary - rules that cannot drift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audit-log hook live</a:t>
            </a:r>
          </a:p>
        </p:txBody>
      </p:sp>
      <p:pic>
        <p:nvPicPr>
          <p:cNvPr id="4" name="Picture 3" descr="bg_10.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Write audit-log.sh, wire settings.json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Have Claude edit a file - watch the log</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Add a PreToolUse block, trigger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commands in one slide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Reusable prompt templates your whole team invokes by name.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markdown file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.claude/commands/review.md becomes /review.</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Parameterized</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$ARGUMENTS substitutes everything after the name.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ar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Team-shared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to git - everyone gets /review on clone.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a /test-this command</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Command file with frontmatter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as the file path</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Output format named in the prompt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.claude/commands/test-this.md: frontmatter description 'Generate tests for a file', body: 'Write unit tests for $ARGUMENTS. Cover happy path, edge cases, and error handling. Run the tests and report results.'</a:t>
            </a:r>
          </a:p>
        </p:txBody>
      </p:sp>
      <p:sp>
        <p:nvSpPr>
          <p:cNvPr id="16" name="Rounded Rectangle 15"/>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4535424"/>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4855464"/>
            <a:ext cx="3776472"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/test-this src/utils/helpers.js</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commands worth stealing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/test-this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tests for a file - happy path, edges, errors.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/review</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Security, performance, and style pass with actionable fixes.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ocke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/deploy-check</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Pre-deploy checklist: tests, no console.log, changelog.</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/onboard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Analyze a new codebase - stack, architecture, entry points.</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Commands can chain commands - /full-review can run three review commands and compile one report.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or skill?</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Command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decide when it runs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Explicit /name invocation</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Workflows with clear start points</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par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Skill</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decides when it loads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Description matching triggers it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Knowledge that applies contextually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2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exit code blocks a PreToolUse action?</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deterministic contract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How does a hook receive its data?</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environment variables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two of the four handler types</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runs when the event fires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Command vs skill - who decides when?</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Intent and invocation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2B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2B: Hooks and Commands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enforcement wired into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Secret-detection + audit hooks, and one custom /command.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ship the audit hook only.</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Hook blocks a planted secret; /command runs with $ARGUMENTS; committed.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back in 60</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Advanced Skill Systems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From skills that exist to skills that are proven.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maturity model</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L1: Prompt</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Repeated from memory.</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L2: Skill</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SKILL.md + refs, in git.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L3: System</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Evals, hooks, monitoring.</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Uplift or encoded preference?</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cke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Capability uplift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Teaches Claude something it can't do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May expire as models improve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base model now match it?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Encoded preference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YOUR workflow, sequenced YOUR way</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Survives model upgrades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it still match your process?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SYSTEMS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patterns for skill systems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pile of skills makes YOU the glue. Systems chain them.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Shared context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skill reads the same CLAUDE.md and rules.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ar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 as input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skill writes structured files, the next reads them.</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Scheduled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Hooks and CI trigger skill chains automatically.</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Files are the API between skills - loose coupling, inspectable at every step.</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ADVANCED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that carry hooks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/careful</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Invoked skill registers PreToolUse blocks on rm -rf, force-push, DROP.</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/freeze</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Blocks edits outside one directory during focused debugging.</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metering</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PreToolUse hook logs which skills fire - finds under-triggering.</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hooks are session-scoped - they activate when the skill is invoked and vanish at session end.</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TESTING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testing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Evaluate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run test prompts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pass/fail per prompt</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Fix</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sharpen the skill</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Retest</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green</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DIAGNOSIS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Symptom to fix, fast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activates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5+ trigger phrases to the description.</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skill fires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'do NOT use for...' boundaries.</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Close but not right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Replace vague instructions with testable ones.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Fails on real data</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edge-case handling for messy input.</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Adds extra commentary</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an 'output ONLY X' constraint.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BENCHMARKING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A/B: is your skill helping?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prompts, twice - with the skill and without.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With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instructions steer the output.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Baseline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Raw Claude - improves with every model release.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Blind judge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agent picks the winner, unbiased.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baseline wins, retire the skill - an outdated skill can hold a newer model back.</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TOOLING</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skill-creator: the meta-skill</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Anthropic's official plugin - use AI to build and test AI automation.</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Create</a:t>
            </a:r>
            <a:r>
              <a:rPr sz="1400" b="0">
                <a:solidFill>
                  <a:srgbClr val="ACACB4"/>
                </a:solidFill>
                <a:latin typeface="Instrument Sans"/>
              </a:rPr>
              <a:t>  -  scaffold a well-structured skill</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Improve</a:t>
            </a:r>
            <a:r>
              <a:rPr sz="1400" b="0">
                <a:solidFill>
                  <a:srgbClr val="ACACB4"/>
                </a:solidFill>
                <a:latin typeface="Instrument Sans"/>
              </a:rPr>
              <a:t>  -  tune descriptions that under-trigger</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Evaluate</a:t>
            </a:r>
            <a:r>
              <a:rPr sz="1400" b="0">
                <a:solidFill>
                  <a:srgbClr val="ACACB4"/>
                </a:solidFill>
                <a:latin typeface="Instrument Sans"/>
              </a:rPr>
              <a:t>  -  write and run evals, no code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Benchmark</a:t>
            </a:r>
            <a:r>
              <a:rPr sz="1400" b="0">
                <a:solidFill>
                  <a:srgbClr val="ACACB4"/>
                </a:solidFill>
                <a:latin typeface="Instrument Sans"/>
              </a:rPr>
              <a:t>  -  pass rate, time, tokens vs baseline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eval your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Should-trigger and should-not lists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Recording pass/fail honestly</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Description fixes from failures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an eval set for my code-review skill: 5 prompts that SHOULD trigger it and 3 that should NOT. Run each, report which fired correctly as a pass/fail table.</a:t>
            </a:r>
          </a:p>
        </p:txBody>
      </p:sp>
      <p:sp>
        <p:nvSpPr>
          <p:cNvPr id="16" name="Rounded Rectangle 15"/>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4044696"/>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4364736"/>
            <a:ext cx="3776472"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Analyze the failures and propose one improved description. Show old vs new side by side.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HORIZON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become specifications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Where Anthropic says this is going.</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Today a SKILL.md tells Claude HOW - step-by-step procedure.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Tomorrow it may only state WHAT - the model finds the how.</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evals already describe the what. They are future-proof.</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eval and benchmark live</a:t>
            </a:r>
          </a:p>
        </p:txBody>
      </p:sp>
      <p:pic>
        <p:nvPicPr>
          <p:cNvPr id="4" name="Picture 3" descr="bg_14.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Run the eval set - see pass/fail</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Benchmark: skill vs raw baseline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Fix the description, rerun, compare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3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the three maturity levels</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value compounds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Uplift vs preference - which expires?</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model releases change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the A/B judge honest?</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Bias removal</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are files, in a skill system?</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interface between skills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2C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2C: Advanced Skill Workflows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prove your skill earns its 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Eval set (5+3 prompts), benchmark verdict, improved description.</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run evals only, skip the benchmark.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All evals pass after one fix cycle; verdict recorded in the repo.</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15 - then we ship it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Plugins &amp; Marketplaces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Package your standards and ship them to the team.</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 plugin is a bundle of four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Everything from today, packaged as one installable unit.</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a:t>
            </a:r>
            <a:r>
              <a:rPr sz="1400" b="0">
                <a:solidFill>
                  <a:srgbClr val="ACACB4"/>
                </a:solidFill>
                <a:latin typeface="Instrument Sans"/>
              </a:rPr>
              <a:t>  -  your domain playbooks, namespaced</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your enforcement, wired on install</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Commands</a:t>
            </a:r>
            <a:r>
              <a:rPr sz="1400" b="0">
                <a:solidFill>
                  <a:srgbClr val="ACACB4"/>
                </a:solidFill>
                <a:latin typeface="Instrument Sans"/>
              </a:rPr>
              <a:t>  -  your /workflows, available instantly</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MCP servers</a:t>
            </a:r>
            <a:r>
              <a:rPr sz="1400" b="0">
                <a:solidFill>
                  <a:srgbClr val="ACACB4"/>
                </a:solidFill>
                <a:latin typeface="Instrument Sans"/>
              </a:rPr>
              <a:t>  -  external integrations, preconfigured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MCP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 one slide (Day 3 deep)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protocol that connects Claude to external tools.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standard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one server, any MCP client can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Config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at project root; /mcp verifies connection.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In plugins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Plugins can ship preconfigured MCP servers.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Every MCP tool definition costs context on every prompt - a 30-tool server taxes you whether used or not.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ECOSYSTEM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marketplace, by the numbers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~101 plugins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Official claude-plugins-official marketplace, auto-available (Mar 2026).</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23,400+ skills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Community skills across public registries and repos.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2,600+ marketplaces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git repo can be one - teams run their own.</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12,700+ MCP servers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Integrations for most SaaS tools you already use.</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Community figures come from a public directory - treat as ecosystem scale, verify before quoting.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From browse to running</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Browse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Discover tab</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Install</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name@marketplace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Verify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/plugins lists it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Use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namespaced commands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AUTHORING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Author a plugin in five steps</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init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Scaffolds the structure.</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Add</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commands.</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Declare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manifest: name, paths.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Test</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Install from local path.</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Publish</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Push to git = marketplace.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plugin trust hierarchy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tools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Anthropic-maintained, always available - most trusted.</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plugins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Reviewed and maintained by Anthropic - high trust.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External marketplace</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Reviewed for listing, third-party maintained - inspect first.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Direct GitHub installs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review at all - read the source yourself.</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Plugins are highly-trusted components - they run scripts and MCP servers. Treat them like dependencies.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Marketplace housekeeping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commands that keep your plugin estate clean.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claude mcp login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Shell auth for MCP servers - logout when rotating.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update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Pull new versions from the marketplace.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x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uninstall</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Remove cleanly - namespacing means no residue.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claude mcp login/logout landed in the July 2026 releases - auth without editing config files.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package your toolkit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plugin init scaffolding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Manifest that maps your assets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Local install as the smoke test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Run claude plugin init to scaffold a plugin called my-toolkit. Move my .claude/skills, hooks, and commands into it and update the manifest to reference them.</a:t>
            </a:r>
          </a:p>
        </p:txBody>
      </p:sp>
      <p:sp>
        <p:nvSpPr>
          <p:cNvPr id="16" name="Rounded Rectangle 15"/>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4044696"/>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4364736"/>
            <a:ext cx="3776472"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Install my-toolkit from the local path into a fresh test project and list what became available, with namespaces.</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Project config or plugin?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Project config (.claude/)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repo's standards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Travels via git clone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Editable by the whole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Plugin (.claude-plugin/)</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Standards across MANY repos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Installed from a marketplace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Read-only - versioned centrally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marketplace to running</a:t>
            </a:r>
          </a:p>
        </p:txBody>
      </p:sp>
      <p:pic>
        <p:nvPicPr>
          <p:cNvPr id="4" name="Picture 3" descr="bg_18.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Install skill-creator from official</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Inspect: /plugins, namespaces, manifest</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Publish my-toolkit to a team repo</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4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four things can a plugin bundle?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day's whole stack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Where does the manifest live?</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the project root</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a git repo a marketplace?</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Less than you think</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Why treat plugins like dependencies?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they can run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2D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2D: Package and Ship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toolkit, on a real team marketplace.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my-toolkit plugin published to the class marketplace repo, installed by a peer.</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local-path install counts.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classmate installs YOUR plugin and runs your /command.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5 - 30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Your Toolkit</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built, and the bridge to Day 3.</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complete extension stack</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Skills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Domain playbooks, tested with evals - Lab 2A + 2C.</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Hooks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Deterministic enforcement on all 27 events - Lab 2B.</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Commands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Parameterized team workflows via /slash - Lab 2B.</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of it packaged, published, peer-installed - Lab 2D.</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hare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External tools, context-cost aware - Day 3 goes deep.</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PRINCIPLES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principles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Day 2 engineering mindset in three lines.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don't repeat - said 3x means CLAUDE.md, did 3x means a command, checked 3x means a hook.</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without evals is a hope, not an asset.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Systems beat collections - files are the API between skills.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extend your toolkit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small artifacts before Day 3 - all in your real work.</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 your actual project, with references, eval-tested.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command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Something you will genuinely run daily.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hook</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safety rule, committed to git.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Bring all three tomorrow - Day 3 wires them into subagents and CI.</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CLOSE - DAY 3 BRIDGE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Skills + subagents: the multiplier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Tomorrow your standards stop being loaded - they get delegated.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Today</a:t>
            </a:r>
            <a:r>
              <a:rPr sz="1400" b="0">
                <a:solidFill>
                  <a:srgbClr val="ACACB4"/>
                </a:solidFill>
                <a:latin typeface="Instrument Sans"/>
              </a:rPr>
              <a:t>  -  skills load into one session on demand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Tomorrow</a:t>
            </a:r>
            <a:r>
              <a:rPr sz="1400" b="0">
                <a:solidFill>
                  <a:srgbClr val="ACACB4"/>
                </a:solidFill>
                <a:latin typeface="Instrument Sans"/>
              </a:rPr>
              <a:t>  -  subagents run your skills in parallel, isolated</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payoff</a:t>
            </a:r>
            <a:r>
              <a:rPr sz="1400" b="0">
                <a:solidFill>
                  <a:srgbClr val="ACACB4"/>
                </a:solidFill>
                <a:latin typeface="Instrument Sans"/>
              </a:rPr>
              <a:t>  -  a security-review agent per PR, automatically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END OF DAY 2</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You taught it your standards</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you shipped</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A tested skill, two hooks, a parameterized command, and a plugin a classmate installed from a team marketplace. All committed, all portable.</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3 multiplies it: MCP in depth, subagents and agent teams running your skills in parallel, and headless CI/CD with cost controls.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