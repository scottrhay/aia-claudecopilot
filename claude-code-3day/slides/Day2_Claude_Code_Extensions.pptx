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Welcome the room back and open with the Day 2 promise: yesterday you learned to drive one agent well - today you teach it your standards. By end of day everyone leaves with a model-invoked skill, a security hook, a human-invoked skill, and a validated plugin they can share. Ask: 'in chat, one thing Claude did yesterday that you wish it just knew without being told?' Expected answer: formatting rules, project conventions, review standards. Transition: that wish is exactly what today builds.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Walk the five blocks with the clock: today runs 9:00 to 4:00 with two 10-minute breaks (10:30 and 2:20) and lunch 12:10-12:55. Say the arc plainly: encode your knowledge (skills), enforce your rules (hooks and commands), prove it works (evals and run variance), then ship it to the team (plugins with real versioning). Four labs, one per block, each adding a piece to the personal toolkit repo started on Day 1. Ask: 'thumbs-up in chat if your Day 1 dashboard project still runs - anyone need a recovery checkpoint?' Expected answer: most thumbs up, one or two need the checkpoint repo. Transition: here is what you will be able to do by four o'clock.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the five capabilities and say every one maps to a lab this afternoon - nothing on this list is theory. Stress the last row: Day 2 ends with their own extension installed from a marketplace, exactly how their team would consume it. Ask: 'which of these five would save your team the most time this quarter?' Expected answer: hooks for enforcement or skills for review standards. Transition: quick look at where today sits in the three-day arc.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Point at the middle badge and say today is the hinge of the course: Day 1 skills work with any project, Day 3 orchestration only pays off if the standards you encode today are solid. Everything today lives in the same business-dashboard project from Day 1 and travels with the repo. Ask: 'what standard does your team enforce today only through code review comments?' Expected answer: naming, error handling, test style. Transition: block one - skills, the knowledge layer.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Open the block by naming what it covers: what a skill actually is, how progressive disclosure keeps context lean, how to write descriptions that fire, and how to debug the ones that do not. Ask: 'one-word answer in chat - what repetitive instruction do you paste into Claude most often?' Expected answer: review checklists, formatting rules, test patterns. Transition: first, the anatomy - a skill is a folder, not a prompt.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Teach the three badges left to right: SKILL.md is the contract, the folder carries scripts and reference files Claude uses on demand, and the description is what decides when any of it loads. Land the key framing: a skill is a standard operating procedure for an AI agent - what to do, in what order, what good looks like. Ask: 'think of a task you explain to every new hire - could you write it as an SOP?' Expected answer: yes, code review or release steps. Transition: the loading mechanism is the clever part - progressive disclosure.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Trace the four nodes and stress the economics: at session start only the one-line descriptions sit in context; the body loads only on a match, and reference files only when the body points at them. Say the layered picture out loud - summary, then process, then knowledge - each layer costs tokens only when needed. Ask: 'why not just paste all your standards into CLAUDE.md?' Expected answer: context bloat - CLAUDE.md loads every session whether needed or not. Transition: so what exactly goes in the file? Here is the current frontmatter.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four fields and say these are the July 2026 documented set - name and description are required, the other two are your control surfaces. Spend a beat on allowed-tools as the safety net: read-only skills cannot break anything. Teach the strip: keep the body between 1,500 and 2,000 words of process instructions and point at reference files for anything bulky. Ask: 'which field do you think most skills get wrong?' Expected answer: description - and that is the next slide. Transition: the description deserves its own rules.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Say the hard truth first: most skills that fail never load at all, and the description is almost always why. Walk the three cards - explicit trigger phrases users actually type, negative boundaries so the skill does not hijack unrelated prompts, and a five-phrasing test before you trust it. Ask: 'what phrase would YOUR teammates type when they want a code review?' Expected answer: review this, check for bugs, QA this - rarely the words you would guess. Transition: let us write one together - paste this.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Give them three minutes to paste the first prompt into their own session and watch the skill appear, then run the second prompt to make Claude explain its own scaffolding. Call out the phrase 'current project directory' - without it Claude sometimes writes to the global ~/.claude folder instead. [CRESCENDO L3] Ask everyone to paste their generated description line into chat and pick two for group critique: would these fire reliably? Expected answer: half are too vague - great teaching moment. Transition: descriptions decide WHEN - now what belongs in the body versus a script.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Force the real choice: anything needing judgment or language lives in the markdown body; anything needing precise, repeatable computation belongs in a script the skill carries. Give the tell - if the same input must always produce the same output, that is a script. The best skills use both: scripts crunch, instructions judge. Ask: 'CSV cleanup with fixed header rules - which side?' Expected answer: script, because determinism matters. Transition: one more structural rule keeps skills fast - one level deep.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four steps and explain the why on step three: Claude truncates nested reads, so a reference pointing at another reference silently loses content. The pattern to say out loud is point-don't-dump - the body points at knowledge, it never contains it. Ask: 'your team wiki page is 8,000 words - what do you do before adding it to a skill?' Expected answer: compress it to just what the skill needs. Transition: what kinds of skills are people actually building? Anthropic catalogued its 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five rows and spend the most time on 'don't state the obvious' - Claude already writes decent code, so a skill repeating generic advice adds cost without changing behavior; encode only what is uniquely yours. The gotchas row compounds: every time Claude trips, the fix goes in the skill. Ask: 'which principle surprises you most?' Expected answer: don't railroad - people expect more prescription to mean more control, but it makes skills brittle. Transition: here is what Anthropic's own catalog of hundreds of skills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Say the source: Anthropic catalogued hundreds of skills in internal use and they cluster into nine types across these three families - knowledge skills that teach, verification skills that check, workflow skills that do. Teach the strip out loud: verification is the family teams underinvest in and the one Anthropic says pays best. Ask: 'which family would you build first for your codebase?' Expected answer: workflow - and push back gently that verification multiplies everything else. Transition: wherever you build them, skills now travel across every Claude surface.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Walk the four rows and land the point: SKILL.md is now a cross-platform standard - the file you write in this lab works in Claude Code, in Claude.ai, and in Agent SDK apps without changes. Claude Code discovers skills by scanning .claude/skills/ at session start, so placement is the whole install step. Ask: 'why does one format across surfaces matter for a team?' Expected answer: write once, standardize everywhere - no per-tool rewrites. Transition: when a skill refuses to load, here is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three homes left to right as a maturity path, not three equal options: personal skills are your private drafts and follow you across every repo; project skills are team law because they travel with git; plugin-distributed skills are fleet law - versioned centrally and read-only for consumers. Teach the strip as the promotion path every good skill follows. Name the trade: the wider the home, the higher the review bar before you put something there. Ask: 'the code-review skill you are about to build - which home does it start in, and which does it end in?' Expected answer: starts project since the lab repo is shared, ends as a plugin once other repos want it. Transition: when a skill refuses to load, here is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rows top to bottom as the actual debugging order - the red row is the culprit nine times out of ten, so start at the description. Teach the strip as new since April: the /doctor overhaul now runs a full diagnostic and flags skills that never fire, plus an auto-fix key. Ask: 'a skill fires on your machine but not your teammate's - first thing you check?' Expected answer: location and whether it is committed to git. Transition: enough theory - watch me build one live and break it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 Setup: open the business-dashboard project in Claude Code with a clean session, and have src/routes/tasks.js visible in the editor. Steps: step 1, paste the Lab 2A creation prompt from the previous leftright slide and let Claude scaffold .claude/skills/code-review/SKILL.md; step 2, run 'Review the code in src/routes/tasks.js' and point at the skill-activation line in the transcript; step 3, edit the description down to just 'reviews code', restart the session, show the same prompt no longer firing, then run /doctor and show the unused-skill flag. Expected result: skill fires with structured findings in step 2, silently fails in step 3, and /doctor names it. If it fails: fallback is the pre-built skill in the instructor repo checkpoint - copy it in and rerun; if /doctor output differs, show the saved screenshot from the runbook. Debrief question: ask 'what would change in a different scenario - a skill your whole team shares via git?' Expected answer: the description must match everyone's phrasing, not just yours.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each line aloud slowly - this is the recap beat before the lab, not new content. Say the first line is the framing that makes skills click for most people, and the second is the one that saves them an hour of debugging. Ask: 'which line goes on your team's wall?' Expected answer: the description line. Transition: your turn - thirty minutes, your own skill, in your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Run the four questions cold-call style before confirming. Answers: every SKILL.md is YAML frontmatter plus a markdown body; the description field drives auto-invocation and the trigger phrases go inside it; disable-model-invocation makes a skill user-only; references must never point at other references because nested reads get truncated. Ask the third question twice if it stalls - it is the one people forget in the lab. Expected answer: strong on parts one and two, the frontmatter field needs a hint. Transition: three lines to keep, then the lab.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then 30 minutes of lab. Launch the lab: the deliverable is a working code-review skill in their toolkit repo with a references checklist, timebox 30 minutes, and the success checklist on screen - fires on three different phrasings, /doctor shows it as used, committed to git. If behind, the minimum artifact is the skill firing on one phrasing. Walk the room during the build; the common sticking point is the description. [CRESCENDO L3] Debrief: bring everyone back and ask two people to share their trigger phrases and one failed phrasing. Expected answer: real phrasings are shorter and messier than drafted ones. Transition: break, then hooks - the enforcement layer.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 Give the room ten minutes - back at 10:40 sharp - and say what is coming when they return: hooks, the layer that does not suggest your standards but enforces them on every single action Claude takes. Encourage anyone whose Lab 2A skill did not fire to grab you during the break for a description tune-up before Block 2 starts. Transition: when we return, the enforcement layer.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Draw the line: skills provide reusable workflow context; hooks enforce deterministic behavior. This block covers the current 31-event model, five handler types, production hook patterns, and the current skills-based replacement for new custom commands. Ask: 'what must Claude never do?' Expected answer: expose secrets, push directly to main, or skip required checks. Transition: first, how a hook fires.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three badges: hooks observe (audit trails), enforce (block before the action runs), and automate (cleanup after). Land the core property - hooks are deterministic scripts, not model judgment; exit code 2 blocks an action every single time, which is why compliance conversations end here. Ask: 'why is a hook stronger than a CLAUDE.md rule?' Expected answer: CLAUDE.md is advice the model can drift from; a hook is code that always runs. Transition: the lifecycle - where exactly hooks fire.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Trace the four nodes with the audit-log example: the PostToolUse event fires, the matcher checks whether the tool was Write or Edit, the handler script receives JSON on stdin, and the exit code decides what happens next. Stress the data contract - hook data arrives as JSON on stdin, not environment variables, so bash handlers start with json=$(cat) and jq. Ask: 'which node makes hooks safe to roll out gradually?' Expected answer: the matcher - you can scope a hook to one tool before going wide. Transition: 31 events is a lot - here are the ones worth knowing by name.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fields top to bottom and anchor the mechanics: every command handler starts with json=$(cat), then jq pulls what it needs - the data arrives on stdin, never in environment variables. Spend the beat on tool_input: it carries the exact command or file content BEFORE it runs, which is exactly what the lab's secret blocker inspects. tool_response only exists after the fact, so blocking logic lives in PreToolUse. Say plainly that the last row is real: these field names are documented as of July 2026 and get re-verified at the morning-of gate. Ask: 'which two fields would an audit log need?' Expected answer: tool_name plus tool_input.file_path. Transition: your script has read the payload - now what it says back: exit codes.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six rows and be honest about proportions: PreToolUse and PostToolUse cover 95% of what they will ever build, and the lab uses exactly those. Then name what is new since April - the event map now contains 31 events, adding subagent, teammate, task, worktree, and compaction lifecycle events that matter for Day 3 orchestration. Ask: 'which new event pairs with the compaction pain you hit in Day 1 Lab 1C?' Expected answer: PreCompact - save state before the squeeze. Transition: an event needs a handler - and there are now five handler types.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five rows and anchor on command handlers - everything in today's lab is a shell script, and that is deliberately the default. Agent handlers run multi-step verification with tools; HTTP handlers matter to platform teams shipping telemetry to a central service; MCP tool handlers reuse integrations you already run; prompt handlers ask a model to make the call. Teach the strip hard: a security rule enforced by a prompt handler is a suggestion again - keep blocking rules deterministic. Ask: 'when is a prompt handler actually the right choice?' Expected answer: fuzzy judgment calls like tone or risk triage, never hard blocks. Transition: so which event do you pick? Quick reference.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Force the choice and teach the rollout discipline: every enforcement hook should live as advisory first - exit 0 plus a warning - until you trust its false-positive rate, then get promoted to exit 2. The blocking side has a property most people miss: the stderr reason is not for the human, it is fed back to Claude, and the agent reacts to it - blocks a hardcoded key, and Claude rewrites with an environment variable on its own. That feedback loop is Lab 2B's money moment. Mention the advanced form: a handler can also print a structured JSON decision object on stdout - a deny plus a reason string - for finer control than a bare exit code; exact shape gets verified at the delivery gate. [CRESCENDO L1] Ask for a thumbs-up if a blocking CI gate has ever saved you from yourself. Expected answer: most thumbs. Transition: enforcement needs aim - matchers and placement.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Two dials on every hook: WHAT it watches - the matcher, a regex against the tool name, exact and case-sensitive, with an empty matcher meaning everything - and WHERE it is registered, which sets its reach. Walk the three homes and point back at the skills-placement slide from Block 1: it is the same personal-project-plugin ladder, and the same promotion discipline applies - a hook that blocks belongs at project or plugin scope only after its advisory phase proved the false-positive rate. Ask: 'your secret blocker - which matcher on day one, Write or empty?' Expected answer: Write - narrow first; the lab then shows why Edit needs adding. Transition: the photograph slide - which event for which job.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Say this is the photograph slide - the same table ships in the printed quick reference, so nobody transcribes. Walk the first two rows because they are the lab: PreToolUse with exit 2 for blocking, PostToolUse with a Write|Edit matcher for formatting. Ask: 'your team wants every Claude session to open with the sprint context loaded - which row?' Expected answer: SessionStart. Transition: three production patterns you can copy wholesale.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three cards as a maturity path: the audit log is the safest first hook because it observes and cannot break anything; auto-format is the invisible-CI pattern that ends 'please run prettier' forever; notifications give the team visibility into high-impact commands. Teach the strip mechanics once - stdin JSON parsed with jq is the same skeleton for all three. Ask: 'which one would your security team ask for first?' Expected answer: the audit log - compliance trail. Transition: whatever you build, three rules keep hooks from hurting you.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Walk the four steps and spend the beat on step one: hooks run synchronously, so a two-second hook makes every single Claude action feel slow - and the /doctor overhaul now detects and flags slow hooks for exactly this reason. Step three is the safety philosophy: never block what you do not understand. Ask: 'why fail open rather than fail closed on unknown tools?' Expected answer: a fail-closed hook bricks the session the day a new tool ships. Transition: how the three layers you now know fit together.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Teach the layering as the day's central architecture: CLAUDE.md sets the contract but can be ignored under context pressure; skills provide the execution path but cannot block anything; hooks enforce the hard boundary but cannot make judgment calls. When something breaks, diagnose by layer. Say the enterprise line: 'the AI said it was safe' is not a defense - exit 2 is deterministic, model judgment is not. Ask: 'your team's no-secrets rule - which layer?' Expected answer: hooks, with CLAUDE.md stating it for context. Transition: watch the audit hook get built live.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Setup: open the business-dashboard project, create the .claude/hooks/ folder, and have a split terminal ready with tail -f .claude-audit.log running. Steps: step 1, paste the audit-log.sh script (json=$(cat), jq for tool_name and file_path, append timestamped line) and register it in settings.json under PostToolUse with an empty matcher; step 2, prompt Claude to 'add a comment header to src/utils/helpers.js' and watch the log line appear in the tail; step 3, add a PreToolUse hook matching Bash that exits 2 on 'rm -rf' and prompt Claude to clean the temp folder with rm -rf to show the block message. Expected result: the audit line appears within a second of the edit, and the dangerous command is refused with the hook's stderr message shown. If it fails: fallback is the pre-wired hooks branch in the instructor repo - git checkout hooks-demo and rerun; if jq is missing on the machine, use the node variant from the runbook. Debrief question: ask 'what would change in a different scenario - running this hook only for one subagent?' Expected answer: register it at the subagent level, the Day 3 pattern.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Teach the current model: custom commands were merged into skills. Existing .claude/commands files still work, but new reusable workflows should be skills because they support supporting files, invocation controls, and automatic discovery. $ARGUMENTS still works for explicit invocation. Ask: 'which workflow must remain human-triggered?' Expected answer: deploy, release, or any side-effecting workflow. Transition: build one as a human-invoked skill.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Give learners three minutes to create the human-invoked skill, then invoke it with the second line and watch $ARGUMENTS resolve. Point out that custom commands have merged into skills; the legacy .claude/commands path remains compatible but is not the recommended new-work form. Ask for one daily workflow candidate. Transition: invocation control is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four rows as increasing power: $ARGUMENTS they already know; positional $1/$2 turns one command into a parameterized tool - /fix-issue takes a ticket number and a priority; @file pulls a file in by name; and shell-output injection is the sleeper - a /pr-summary command that embeds the output of git diff before Claude ever sees the prompt, so the command arrives pre-loaded with live state. Teach the strip twice: the syntax is current-docs and gets re-verified at the gate, and injected output is untrusted input - a command that injects the output of arbitrary shell text deserves the same review as a hook. Ask: 'what live state would YOUR daily command inject?' Expected answer: git diff, test results, the sprint board export. Transition: the frontmatter that controls the whole thing.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three controls: allowed-tools is the same least-privilege story as skills - a review command that can only Read and Grep cannot break anything; model pinning is the economics dial nobody uses - a changelog formatter does not need your premium model, pin the cheap one and the command gets faster AND cheaper; and disable-model-invocation keeps side-effecting workflows human-triggered - deploy and release commands never fire on the model's initiative. There is also a one-line description field that drives /help discovery - mention it verbally. Teach the strip honestly: these field names are the July 2026 documented set and get re-verified at the morning-of gate. Ask: 'which of your commands would you pin to the cheap model tonight?' Expected answer: formatters, summaries, commit messages. Transition: what happens when the library grows past ten commands.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Walk the four rows as a starter pack every team can adopt this week - each one is a markdown file under twenty lines. Teach the strip: human-invoked skills can invoke other human-invoked skills, so a /full-review can orchestrate three specialized passes and compile one report - orchestration without writing code. Ask: 'which of the four would remove the most friction from your week?' Expected answer: /review or /deploy-check. Transition: when does something deserve to be a skill versus a skill? Decision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Force the decision with the structure test: if it is one prompt in one file that a human always triggers, it stays a command - do not ceremonially promote it. The moment it needs supporting files, or Claude should discover it from a description, it is a skill. Then the scaling problem the strip solves: at thirty commands a flat folder is unfindable - subfolder namespacing gives you /git:pr and /db:migrate style names grouped by domain, and plugin-delivered commands arrive namespaced by plugin automatically. Verify the exact namespace syntax at the delivery gate. Ask: 'how many slash commands until YOUR flat folder becomes a junk drawer?' Expected answer: ten to fifteen. Transition: whichever form it takes, who decides when it runs - the invocation-authority decision.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Force the choice with the authority test: if a human must consciously trigger the action, set disable-model-invocation: true. If the behavior is safe and should appear whenever relevant, allow model invocation and write a precise description. Both are skills; the distinction is invocation authority, not two separate content systems. Ask: 'your pre-deploy checklist, which side and why?' Expected answer: human-invoked because a person owns that gate. Transition: quick check before the lab.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Run the four questions cold-call style and let the room answer before you confirm. Answers: exit 0 is advisory - the action proceeds; exit 2 blocks and the stderr reason is fed back to Claude, which adjusts course. Data arrives as JSON on stdin, parsed with jq or process.stdin - never environment variables. Handler types are command, HTTP, MCP tool, prompt, and agent. Commands versus skills: the real distinction is invocation authority - who decides when it runs. Ask the last one to the quietest corner of the room. Expected answer: most get exit 2 and stdin right, handler types need a prompt. Transition: lab time - hooks and commands together in your toolkit.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then 30 minutes of lab. Launch it: build the PostToolUse format hook, then a secret-detection hook in two stages - advisory first (warns, exit 0, the write still lands), then promoted to blocking (exit 2, the write stops and Claude reads the reason and rewrites with process.env on its own). Then the matcher-scoping step: prove the Write-only matcher misses Edit, widen it to Write|Edit, retest. Finish with the human-invoked /review skill and a commit. Minimum artifact is the blocking hook working. [CRESCENDO L3] Debrief: ask two people what Claude did the moment the block landed. Expected answer: it read the reason and switched to an environment variable without being told - that is the feedback loop. Transition: lunch, then we prove all of this works.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min. Send the room to lunch - back at 12:55 - with the afternoon trailer: this morning you built skills and hooks that work; this afternoon we prove they work - eval loops, run variance, A/B benchmarking against raw Claude, and then packaging everything as a versioned plugin your team installs in one command. Encourage anyone with a red Lab 2B checklist item to catch you in the first ten minutes after lunch. Transition: back at 12:55 for advanced skill systems.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Open the afternoon by naming the shift: this morning was about building skills - this block is about knowing whether they actually work, keeping them working as models improve, and connecting them into systems. Ask: 'honest poll in chat - has anyone ever built an automation and never checked if it was still helping?' Expected answer: most, sheepishly. Transition: first, a maturity model to locate yourself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three levels and say where value compounds: most people stop at L1 and re-type their expertise forever; Lab 2A got everyone to L2; this block is the L2-to-L3 jump - testing, benchmarking, and chaining. Give the Anthropic pattern: codify before you build - write down what good looks like first, then build automation on top of it. Ask: 'where is your team's best internal knowledge today - L1, L2, or L3?' Expected answer: L1, in senior engineers' heads. Transition: before testing, know which KIND of skill you built - it changes the test.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Force the distinction because it changes how you test: capability-uplift skills patch a model weakness - exact document formatting, coordinate-precise PDF work - and every model release can make them obsolete or even harmful. Encoded-preference skills capture your judgment - your NDA checklist, your report format - and they outlive upgrades because they are about you, not the model. Ask: 'the code-review skill you built this morning - which side?' Expected answer: mostly encoded preference, your standards - which is why it is durable. Transition: either way, one skill alone is not a system - here is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framing first: a collection of skills means you are the API - invoking one, copying output into the next; a system chains them with files as the interface. Walk the three patterns as an adoption path: shared context you already have from Day 1, chaining when two skills naturally flow together, scheduling only once you trust the pipeline. Ask: 'which two of your skills would you chain first?' Expected answer: review then fix, or analyze then report. Transition: none of this is safe without testing - the loop.</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creative pattern: a skill can register hooks that live only for the current session - opt-in guardrails on demand. Walk the rows: /careful before touching production, /freeze before a focused refactor, and the metering pattern that surfaces skills you thought were firing but were not. Say these are patterns to recognize today and build in Day 3. Ask: 'when would you invoke /careful in your real week?' Expected answer: database work, release windows. Transition: with guardrails covered, the loop that proves a skill works.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Trace the loop and land the mindset change: this is unit testing for AI behavior - you define prompts that SHOULD trigger the skill and prompts that should NOT, run them, and record which fired correctly. The difference between hoping a skill works and proving it works is exactly this loop. Say the test-quality caution: write evals that lock in behavior - inputs and outputs - not implementation details. Ask: 'what belongs in the should-NOT-trigger list for your review skill?' Expected answer: doc generation, writing new code - neighboring tasks. Transition: when the loop fails, here is the symptom-to-fix table.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rows as the troubleshooting card they keep after the course - symptom on the left, fix on the right, red row first because activation failure is the most common by far. Point out that every fix is an edit to the skill, never a workaround in the prompt: fix the asset, not the invocation. Ask: 'which symptom did you already hit in Lab 2A?' Expected answer: never activates or extra commentary. Transition: the loop tells you the skill passes - benchmarking tells you it is worth keeping.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Teach the insight most people miss: when a smarter model ships, a skill written for the old one can actively hold Claude back - rigid instructions overriding improved abilities. The A/B protocol catches it: run the same test prompts with and without the skill, and let a separate agent judge blind. Say that Anthropic reported finding issues in most of its own skills this way when it ran the exercise - and that capability-uplift skills are the ones that expire. Ask: 'when should you re-run this benchmark?' Expected answer: after every model release. Transition: you do not do any of this by hand - skill-creator does it.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Land the uncomfortable truth before the lab: model output is probabilistic, so a single eval run is an anecdote, not a measurement - the same skill scores 6 of 8, then 7, then 5, with zero changes. Walk the four steps and give the rule of thumb to write down: five runs minimum before you trust a pass rate, more if the spread is wide - and in an A/B comparison, a gap smaller than your run-to-run band is a coin flip, not a win. This is why the previous slide's benchmark verdict must be read against the band, never against one lucky run. Ask: 'your skill scores 7/8 and baseline scores 6/8 on one run each - keep or no conclusion?' Expected answer: no conclusion - the gap is inside typical variance. Transition: nobody does this by hand - skill-creator automates the loop.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Introduce it as the official Anthropic plugin that automates everything this block taught: create scaffolds the structure Lab 2A built by hand, improve rewrites and tests description variants until triggering is reliable, evaluate runs your test prompts, benchmark scores skill against baseline. Because they built one by hand this morning, they understand what it generates - that ordering was deliberate. Ask: 'why did we make you hand-build before giving you the generator?' Expected answer: you cannot debug what you cannot read. Transition: run it yourself - paste this.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 Give them four minutes to run the first prompt against the Lab 2A skill and watch the pass/fail table come back, then the second prompt to get a description rewrite grounded in real failures. [CRESCENDO L3] Ask everyone to paste their pass rate into chat - X of 8 - and have the lowest and highest scorer each read their description aloud for group comparison: what does the reliable one do differently? Expected answer: more trigger phrases, tighter boundaries. Transition: where all this testing is heading - a look at the horizon.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the three lines and give the arc: as models improve, detailed procedure matters less and clear definitions of good output matter more - the eval, your statement of what good looks like, may eventually BE the skill. Say why this matters today: time spent writing evals is the most durable investment in this whole day. Ask: 'which of your artifacts from today survives five model upgrades?' Expected answer: the evals and the encoded preferences. Transition: watch the full test cycle run live.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 Setup: open the project with the morning's code-review skill in place, and have the eval prompt from the previous leftright slide ready to paste in a fresh session. Steps: step 1, run the eval-set prompt and show the pass/fail table - point at any should-not-trigger prompt that incorrectly fired; step 2, benchmark by renaming SKILL.md to SKILL.md.bak, running 'Review the code in src/routes/tasks.js' without it, restoring the file, and comparing both outputs side by side; step 3, apply the improved description and rerun the failed eval prompts to show them flip to pass. Expected result: the skilled output shows the structured checklist format while baseline is generic prose, and the description fix raises the pass rate. If it fails: if outputs look too similar, fallback to the instructor repo's deliberately-weak skill variant which shows a dramatic gap; if the session gets noisy, /clear and rerun step 2 only. Debrief question: ask 'what would change in a different scenario - benchmarking after a new model release?' Expected answer: baseline improves, so the bar for keeping the skill rises.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Run the four questions to the room before confirming. Answers: L1 repeated prompt, L2 proper skill, L3 tested system; capability-uplift skills expire because the base model catches up, encoded preferences survive; the judge is honest because it reviews blind - it does not know which output used the skill; files are the API between chained skills. Ask a follow-up on the last: why files rather than one giant session? Expected answer: loose coupling and inspectability at each step. Transition: Lab 2C - run the whole loop on your own skill.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then 30 minutes of lab. Launch it: the deliverable is an eval set of five should-trigger and five should-not prompts, a run-variance band from running one prompt five times, an A/B benchmark verdict against raw Claude, and one description improvement - all recorded in the toolkit repo. The new discipline: no conclusion from a single run - five runs minimum, and an A/B gap smaller than your run-to-run spread is noise, not signal. Timebox 30 minutes; the minimum artifact is the eval table plus the variance band. A recovery checkpoint is available for anyone who missed Labs 2A or 2B. [CRESCENDO L3] Debrief: ask who found their skill LOSING to baseline - and whether the loss was bigger than their band. Expected answer: one or two retire or rewrite - exactly the muscle this builds. Transition: break, then we ship all of it.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 Give the room ten minutes - back at 2:30 - and set up the final teaching block: everything they have built today - skill, hooks, command, evals - is about to become one installable, versioned package their whole team can pull from a marketplace with a single command. Say that the last lab publishes for real, to a team marketplace repo. Transition: when we return, plugins and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Open the final teaching block with the payoff frame: everything built today is still trapped in one repo - plugins are how standards travel across every repo and every teammate. This block covers plugin anatomy, the marketplace ecosystem, scaffolding, the trust model, and publishing. Ask: 'how does your team share tooling conventions today?' Expected answer: wiki pages, word of mouth, copy-paste - all of which drift. Transition: first, what a plugin actually contains.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Teach the core inventory from the current docs: plugins can contribute skills, legacy commands, agents, hooks, MCP servers, and LSP servers, with additional component types evolving. The manifest lives at .claude-plugin/plugin.json; plugin skills and agents are namespaced. Ask: 'which component deserves the strictest review?' Expected answer: hooks and servers because they can execute code or move data. Transition: MCP is tomorrow's deep dive, but its context behavior changed.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Keep this light because Day 3 goes deep. Current Claude Code uses MCP ToolSearch by default, so tool schemas are deferred until relevant rather than permanently loading every definition. Exceptions include configurations that disable tool search, unsupported providers, or servers marked alwaysLoad. The security and data-flow review still applies before connecting. Ask: 'what should you inspect before enabling an MCP server?' Expected answer: publisher, tools, data access, auth, network destinations, and loading behavior. Transition: use the same inspection discipline for every plugin.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This is the durable lesson from the plugin-list post: evaluate the exact component, not the marketing claim. Walk provenance, component inventory, authority, data flow, and lifecycle. Mention Claude-Mem and OmniRoute only as optional case studies: one changes memory/data flow; the other changes provider routing. Neither belongs in the baseline stack without an organization review. Ask: 'which row would catch a plugin that silently swaps model providers?' Expected answer: data flow plus authority. Transition: now install one through the supported flow.</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Trace the four nodes with the concrete example: /plugin marketplace add registers a repo as a marketplace, /plugin install skill-creator@claude-plugins-official pulls the plugin, /plugin list or claude plugin list confirms what arrived, and the new capabilities appear namespaced. Mention the one gotcha: bundled MCP servers may activate immediately; if the summary requests it, run /reload-plugins. Ask: 'where does an installed plugin live - your project or your machine?' Expected answer: user-level plugin directory, not the repo - which is why it works across all your projects. Transition: building your own starts with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current scaffold behavior precisely: claude plugin init &lt;name&gt; writes to ~/.claude/skills/&lt;name&gt;/ and loads it as &lt;name&gt;@skills-dir on the next session. Use --with to add component folders, run claude plugin validate --strict, then copy the proven plugin under your marketplace's plugins/ directory and reference it from marketplace.json. Ask: 'why validate before copying into the team catalog?' Expected answer: the catalog should distribute a known-good package. Transition: before distribution, the trust hierarchy.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Do not equate catalog placement with publisher identity. Built-in or Anthropic-maintained components start with the highest confidence; an approved internal marketplace can be safer for enterprise use because policy and versions are explicit; third-party entries require source review wherever they are listed. Ask: 'what is your npm or VS Code extension policy, and why would plugins deserve less?' Expected answer: they do not. Transition: controls make the estate reversible.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Make reversibility part of installation. List and inspect components first, disable for investigation, and uninstall at the correct scope when removing. Marketplace update refreshes the catalog; the install summary tells you whether /reload-plugins is needed. Ask: 'which command belongs in an incident response runbook?' Expected answer: disable first, then inspect and uninstall if required. Transition: package the toolkit with the current scaffold.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Give learners four minutes. The first prompt uses the current scaffold location and migrates the day's assets. The second validates the schema and forces a security inventory before publication. [CRESCENDO L3] Ask pairs to exchange the inventory and decide approve, reject, or approve-with-conditions. Expected answer: hooks need explicit review; this toolkit has no external network or server. Transition: decide whether the capability belongs in one repo or many.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Force the choice with the scope test: if the standard is specific to one codebase - its architecture notes, its test commands - it stays project config; the moment two repos need it, promote it to a plugin so there is one versioned source of truth. Give the progression most teams follow: build locally, prove it, promote. Ask: 'your secret-detection hook from Lab 2B - config or plugin?' Expected answer: plugin - every repo needs that one. Transition: watch the full install-and-inspect flow live.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Teach the manifest's version field as a promise, not decoration: semver signals to every consumer whether they can update blind. Walk the two columns with the tell - a change is breaking the moment an existing consumer's muscle memory, script, or expectation stops working: renames and removals obviously, but also a hook that starts blocking something it used to allow, and any new credential or tool scope, because that changes what the plugin is trusted to do. Those ship as a major bump with a migration note in the changelog, never as a quiet patch. Ask: 'you tightened your secret regex and it now catches more - safe or breaking?' Expected answer: arguably breaking - builds that passed yesterday fail today; version it like one. Transition: versioning is the contract - governance is who gets to publish it.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Say the governing idea first: the internal marketplace repo is production code - it executes on every teammate's machine with their credentials - so it gets production discipline: protected main, every plugin lands by PR, and the reviewer runs the inspect-before-you-install checklist from earlier in this block as the review gate. Each plugin gets a named owner, every release gets a semver bump and a changelog line, releases get announced where the team lives, and retirement is a deprecation window with a migration note - deleting a plugin out from under consumers is the marketplace equivalent of a force-push to main. Ask: 'who in your org signs off on a plugin that ships a blocking hook?' Expected answer: platform or security lead - and if there is no answer, that is the gap to fix this quarter. Transition: watch the full install-and-inspect flow live.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 Setup: open a terminal in the business-dashboard project with a clean Claude Code session, and have the empty team-marketplace git repo URL from the runbook ready. Steps: step 1, run /plugin install skill-creator@claude-plugins-official and show the install output; step 2, run /plugin list to show what arrived, open the plugin folder to walk the manifest, and point at the namespaced skill names; step 3, push the my-toolkit plugin built in the follow-along to the team repo, run /plugin marketplace add on that repo, and install my-toolkit from it. Expected result: skill-creator appears namespaced in step 2, and the class's own plugin installs from the team marketplace in step 3 exactly like an official one. If it fails: if network or auth blocks the marketplace, fallback to installing from the local path and show the saved terminal capture of the marketplace flow from the runbook. Debrief question: ask 'what would change in a different scenario - a plugin that also ships an MCP server?' Expected answer: it may require /reload-plugins when the install summary says so and a trust review before install.</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Run the four questions before confirming. Answers: core components include skills/legacy commands, agents, hooks, MCP servers, and LSP servers; the manifest lives at .claude-plugin/plugin.json; a marketplace is a catalog with marketplace.json and plugin sources; plugins deserve dependency-level scrutiny because they can execute code and connect external systems with user privileges. Ask the final question with feeling. Transition: package and test.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then 30 minutes of lab. Launch the expanded final lab: the deliverable is the my-toolkit plugin - skill, hooks, command - packaged with the current claude plugin init scaffold, validated --strict, and published to the shared class marketplace repo, then installed by a peer. Timebox 30 minutes; if behind, the minimum artifact is a local-path install that passes verification. Success checklist on screen: manifest valid, plugin visible on the marketplace, and a classmate runs YOUR namespaced command in THEIR project. [CRESCENDO L3] Debrief: reconvene and ask pairs to share one thing that broke crossing machines. Expected answer: hardcoded paths and missing tool assumptions - exactly what packaging surfaces. Transition: close the day - what you built and where it goes tomorrow.</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 Open the close by pointing at the clock: in one day the room went from pasting repeated prompts to publishing a tested, packaged, installable toolkit. This short block reviews the stack, names the principles, sets homework, and bridges to Day 3. Ask: 'one word in chat - how does your toolkit repo feel right now?' Expected answer: real, shippable, mine. Transition: the whole stack on one slide.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Walk the five rows and let each land with its lab: everything on this slide exists in their repo right now, committed and installable - not slideware. Say the compounding line: a new teammate who clones or installs gets the team's standards on day one, no onboarding wiki required. Ask: 'which layer will you extend first next week?' Expected answer: more skills or a stricter hook set. Transition: three principles to carry out of the room.</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Read each line slowly - this is the recap beat, not new content. Say the first principle is the habit that builds the toolkit automatically over time: notice the third repetition and encode it. Ask: 'which principle will be hardest to hold under deadline pressure?' Expected answer: evals - testing is always the first casualty, which is why skill-creator makes it cheap. Transition: homework keeps the momentum until tomorrow.</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Set the homework with the constraint that matters: real project, real standards - not toy examples - because Day 3 orchestration labs consume these exact artifacts. Walk the three cards and point at the strip: tomorrow a subagent will load their skill and a CI job will invoke their skill deliberately. Ask: 'what is the first candidate that comes to mind for your daily human-invoked skill?' Expected answer: review, deploy-check, or standup summary. Transition: a preview of exactly how those pieces get multiplied.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 Paint the bridge concretely: today a skill loads into your one session; tomorrow a subagent with its own context loads that same skill, does the work in isolation, and reports back - and multiple subagents run in parallel, including nested delegation. The example to say out loud: a security-review subagent loading their Lab 2A skill against every PR. Ask: 'what would change in a different scenario - and which of your skills most deserves its own dedicated agent?' Expected answer: review or test generation. Transition: final word and we are done for the day.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 Close with the promise kept: this morning Claude was a capable generalist - tonight it carries their standards in a package anyone on the team can install in one command. Thank the room, name the homework once more, and preview tomorrow's opening question about which architecture fits which job. Ask: 'before you drop - one thing from today you will use before Friday, in chat on the way out.' Expected answer: hooks and the /test-this skill lead the list. Transition: see you tomorrow morning for Day 3 - orchestration and 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29.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29.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2.png"/><Relationship Id="rId4" Type="http://schemas.openxmlformats.org/officeDocument/2006/relationships/image" Target="../media/image3.png"/><Relationship Id="rId5" Type="http://schemas.openxmlformats.org/officeDocument/2006/relationships/image" Target="../media/image22.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5.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34.png"/><Relationship Id="rId5" Type="http://schemas.openxmlformats.org/officeDocument/2006/relationships/image" Target="../media/image41.png"/><Relationship Id="rId6" Type="http://schemas.openxmlformats.org/officeDocument/2006/relationships/image" Target="../media/image22.png"/><Relationship Id="rId7" Type="http://schemas.openxmlformats.org/officeDocument/2006/relationships/image" Target="../media/image26.png"/><Relationship Id="rId8" Type="http://schemas.openxmlformats.org/officeDocument/2006/relationships/image" Target="../media/image20.png"/><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image" Target="../media/image13.png"/><Relationship Id="rId5" Type="http://schemas.openxmlformats.org/officeDocument/2006/relationships/image" Target="../media/image43.png"/><Relationship Id="rId6" Type="http://schemas.openxmlformats.org/officeDocument/2006/relationships/image" Target="../media/image9.png"/><Relationship Id="rId7" Type="http://schemas.openxmlformats.org/officeDocument/2006/relationships/image" Target="../media/image23.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23.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20.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46.png"/><Relationship Id="rId5" Type="http://schemas.openxmlformats.org/officeDocument/2006/relationships/image" Target="../media/image20.pn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8.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image" Target="../media/image3.png"/><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42.png"/><Relationship Id="rId6" Type="http://schemas.openxmlformats.org/officeDocument/2006/relationships/image" Target="../media/image23.png"/><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2.png"/><Relationship Id="rId4" Type="http://schemas.openxmlformats.org/officeDocument/2006/relationships/image" Target="../media/image6.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20.png"/><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4.png"/><Relationship Id="rId4" Type="http://schemas.openxmlformats.org/officeDocument/2006/relationships/image" Target="../media/image5.png"/><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41.png"/><Relationship Id="rId4" Type="http://schemas.openxmlformats.org/officeDocument/2006/relationships/image" Target="../media/image34.png"/><Relationship Id="rId5" Type="http://schemas.openxmlformats.org/officeDocument/2006/relationships/image" Target="../media/image20.png"/><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png"/><Relationship Id="rId4"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26.png"/><Relationship Id="rId4" Type="http://schemas.openxmlformats.org/officeDocument/2006/relationships/image" Target="../media/image18.png"/><Relationship Id="rId5" Type="http://schemas.openxmlformats.org/officeDocument/2006/relationships/image" Target="../media/image2.png"/><Relationship Id="rId6" Type="http://schemas.openxmlformats.org/officeDocument/2006/relationships/image" Target="../media/image43.png"/><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9.png"/><Relationship Id="rId5" Type="http://schemas.openxmlformats.org/officeDocument/2006/relationships/image" Target="../media/image23.png"/><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31.png"/><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4.png"/><Relationship Id="rId4" Type="http://schemas.openxmlformats.org/officeDocument/2006/relationships/image" Target="../media/image31.png"/><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41.png"/><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2.png"/><Relationship Id="rId4" Type="http://schemas.openxmlformats.org/officeDocument/2006/relationships/image" Target="../media/image42.png"/><Relationship Id="rId5" Type="http://schemas.openxmlformats.org/officeDocument/2006/relationships/image" Target="../media/image23.png"/><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2.png"/><Relationship Id="rId4" Type="http://schemas.openxmlformats.org/officeDocument/2006/relationships/image" Target="../media/image3.png"/><Relationship Id="rId5" Type="http://schemas.openxmlformats.org/officeDocument/2006/relationships/image" Target="../media/image4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63.png"/><Relationship Id="rId4" Type="http://schemas.openxmlformats.org/officeDocument/2006/relationships/image" Target="../media/image40.png"/><Relationship Id="rId5" Type="http://schemas.openxmlformats.org/officeDocument/2006/relationships/image" Target="../media/image38.png"/><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64.png"/><Relationship Id="rId6" Type="http://schemas.openxmlformats.org/officeDocument/2006/relationships/image" Target="../media/image23.png"/><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4.png"/><Relationship Id="rId4" Type="http://schemas.openxmlformats.org/officeDocument/2006/relationships/image" Target="../media/image21.png"/><Relationship Id="rId5" Type="http://schemas.openxmlformats.org/officeDocument/2006/relationships/image" Target="../media/image20.png"/><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67.png"/><Relationship Id="rId4" Type="http://schemas.openxmlformats.org/officeDocument/2006/relationships/image" Target="../media/image23.png"/><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4.png"/><Relationship Id="rId4" Type="http://schemas.openxmlformats.org/officeDocument/2006/relationships/image" Target="../media/image5.pn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41.png"/><Relationship Id="rId7"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9.png"/><Relationship Id="rId6"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8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png"/>
          <p:cNvPicPr>
            <a:picLocks noChangeAspect="1"/>
          </p:cNvPicPr>
          <p:nvPr/>
        </p:nvPicPr>
        <p:blipFill>
          <a:blip r:embed="rId2"/>
          <a:stretch>
            <a:fillRect/>
          </a:stretch>
        </p:blipFill>
        <p:spPr>
          <a:xfrm>
            <a:off x="6263640" y="0"/>
            <a:ext cx="5925312" cy="6858000"/>
          </a:xfrm>
          <a:prstGeom prst="rect">
            <a:avLst/>
          </a:prstGeom>
        </p:spPr>
      </p:pic>
      <p:sp>
        <p:nvSpPr>
          <p:cNvPr id="3" name="Rectangle 2"/>
          <p:cNvSpPr/>
          <p:nvPr/>
        </p:nvSpPr>
        <p:spPr>
          <a:xfrm>
            <a:off x="626364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286000"/>
            <a:ext cx="50292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432304"/>
            <a:ext cx="5486400" cy="274320"/>
          </a:xfrm>
          <a:prstGeom prst="rect">
            <a:avLst/>
          </a:prstGeom>
          <a:noFill/>
        </p:spPr>
        <p:txBody>
          <a:bodyPr wrap="square" anchor="t">
            <a:spAutoFit/>
          </a:bodyPr>
          <a:lstStyle/>
          <a:p>
            <a:pPr algn="l">
              <a:lnSpc>
                <a:spcPct val="100000"/>
              </a:lnSpc>
              <a:spcBef>
                <a:spcPts val="0"/>
              </a:spcBef>
              <a:spcAft>
                <a:spcPts val="200"/>
              </a:spcAft>
            </a:pPr>
            <a:r>
              <a:rPr sz="1200" b="1" spc="180">
                <a:solidFill>
                  <a:srgbClr val="8B8B93"/>
                </a:solidFill>
                <a:latin typeface="Instrument Sans"/>
              </a:rPr>
              <a:t>AIA COPILOT TRAINING - DAY 2 OF 3</a:t>
            </a:r>
          </a:p>
        </p:txBody>
      </p:sp>
      <p:sp>
        <p:nvSpPr>
          <p:cNvPr id="6" name="TextBox 5"/>
          <p:cNvSpPr txBox="1"/>
          <p:nvPr/>
        </p:nvSpPr>
        <p:spPr>
          <a:xfrm>
            <a:off x="621792" y="2761488"/>
            <a:ext cx="5669280" cy="1371600"/>
          </a:xfrm>
          <a:prstGeom prst="rect">
            <a:avLst/>
          </a:prstGeom>
          <a:noFill/>
        </p:spPr>
        <p:txBody>
          <a:bodyPr wrap="square" anchor="t">
            <a:spAutoFit/>
          </a:bodyPr>
          <a:lstStyle/>
          <a:p>
            <a:pPr algn="l">
              <a:lnSpc>
                <a:spcPct val="100000"/>
              </a:lnSpc>
              <a:spcBef>
                <a:spcPts val="0"/>
              </a:spcBef>
              <a:spcAft>
                <a:spcPts val="200"/>
              </a:spcAft>
            </a:pPr>
            <a:r>
              <a:rPr sz="4600" b="1">
                <a:solidFill>
                  <a:srgbClr val="F5F5F6"/>
                </a:solidFill>
                <a:latin typeface="Instrument Sans"/>
              </a:rPr>
              <a:t>Claude Code Extensions</a:t>
            </a:r>
          </a:p>
        </p:txBody>
      </p:sp>
      <p:sp>
        <p:nvSpPr>
          <p:cNvPr id="7" name="TextBox 6"/>
          <p:cNvSpPr txBox="1"/>
          <p:nvPr/>
        </p:nvSpPr>
        <p:spPr>
          <a:xfrm>
            <a:off x="640080" y="5074920"/>
            <a:ext cx="5486400" cy="274320"/>
          </a:xfrm>
          <a:prstGeom prst="rect">
            <a:avLst/>
          </a:prstGeom>
          <a:noFill/>
        </p:spPr>
        <p:txBody>
          <a:bodyPr wrap="square" anchor="t">
            <a:spAutoFit/>
          </a:bodyPr>
          <a:lstStyle/>
          <a:p>
            <a:pPr algn="l">
              <a:lnSpc>
                <a:spcPct val="100000"/>
              </a:lnSpc>
              <a:spcBef>
                <a:spcPts val="0"/>
              </a:spcBef>
              <a:spcAft>
                <a:spcPts val="200"/>
              </a:spcAft>
            </a:pPr>
            <a:r>
              <a:rPr sz="1500" b="0">
                <a:solidFill>
                  <a:srgbClr val="7E7E86"/>
                </a:solidFill>
                <a:latin typeface="Instrument Sans"/>
              </a:rPr>
              <a:t>Scott Hay</a:t>
            </a:r>
          </a:p>
        </p:txBody>
      </p:sp>
      <p:sp>
        <p:nvSpPr>
          <p:cNvPr id="8" name="TextBox 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AGENDA - WEDNESDAY, AUGUST 19</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Day 2: teach it your standards</a:t>
            </a:r>
          </a:p>
        </p:txBody>
      </p:sp>
      <p:sp>
        <p:nvSpPr>
          <p:cNvPr id="4" name="TextBox 3"/>
          <p:cNvSpPr txBox="1"/>
          <p:nvPr/>
        </p:nvSpPr>
        <p:spPr>
          <a:xfrm>
            <a:off x="640080"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01</a:t>
            </a:r>
          </a:p>
        </p:txBody>
      </p:sp>
      <p:sp>
        <p:nvSpPr>
          <p:cNvPr id="5" name="TextBox 4"/>
          <p:cNvSpPr txBox="1"/>
          <p:nvPr/>
        </p:nvSpPr>
        <p:spPr>
          <a:xfrm>
            <a:off x="1463040"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Skills</a:t>
            </a:r>
          </a:p>
          <a:p>
            <a:pPr algn="l">
              <a:lnSpc>
                <a:spcPct val="105000"/>
              </a:lnSpc>
              <a:spcBef>
                <a:spcPts val="0"/>
              </a:spcBef>
              <a:spcAft>
                <a:spcPts val="300"/>
              </a:spcAft>
            </a:pPr>
            <a:r>
              <a:rPr sz="1550" b="0">
                <a:solidFill>
                  <a:srgbClr val="ACACB4"/>
                </a:solidFill>
                <a:latin typeface="Instrument Sans"/>
              </a:rPr>
              <a:t>9:00-10:30 - anatomy, triggers, where a skill lives</a:t>
            </a:r>
          </a:p>
        </p:txBody>
      </p:sp>
      <p:sp>
        <p:nvSpPr>
          <p:cNvPr id="6" name="Rectangle 5"/>
          <p:cNvSpPr/>
          <p:nvPr/>
        </p:nvSpPr>
        <p:spPr>
          <a:xfrm>
            <a:off x="640080"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81344"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02</a:t>
            </a:r>
          </a:p>
        </p:txBody>
      </p:sp>
      <p:sp>
        <p:nvSpPr>
          <p:cNvPr id="8" name="TextBox 7"/>
          <p:cNvSpPr txBox="1"/>
          <p:nvPr/>
        </p:nvSpPr>
        <p:spPr>
          <a:xfrm>
            <a:off x="7004304"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Hooks &amp; commands</a:t>
            </a:r>
          </a:p>
          <a:p>
            <a:pPr algn="l">
              <a:lnSpc>
                <a:spcPct val="105000"/>
              </a:lnSpc>
              <a:spcBef>
                <a:spcPts val="0"/>
              </a:spcBef>
              <a:spcAft>
                <a:spcPts val="300"/>
              </a:spcAft>
            </a:pPr>
            <a:r>
              <a:rPr sz="1550" b="0">
                <a:solidFill>
                  <a:srgbClr val="ACACB4"/>
                </a:solidFill>
                <a:latin typeface="Instrument Sans"/>
              </a:rPr>
              <a:t>10:40-12:10 - payloads, blocking hooks, command frontmatter</a:t>
            </a:r>
          </a:p>
        </p:txBody>
      </p:sp>
      <p:sp>
        <p:nvSpPr>
          <p:cNvPr id="9" name="Rectangle 8"/>
          <p:cNvSpPr/>
          <p:nvPr/>
        </p:nvSpPr>
        <p:spPr>
          <a:xfrm>
            <a:off x="6181344"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03</a:t>
            </a:r>
          </a:p>
        </p:txBody>
      </p:sp>
      <p:sp>
        <p:nvSpPr>
          <p:cNvPr id="11" name="TextBox 10"/>
          <p:cNvSpPr txBox="1"/>
          <p:nvPr/>
        </p:nvSpPr>
        <p:spPr>
          <a:xfrm>
            <a:off x="1463040"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Advanced skill systems</a:t>
            </a:r>
          </a:p>
          <a:p>
            <a:pPr algn="l">
              <a:lnSpc>
                <a:spcPct val="105000"/>
              </a:lnSpc>
              <a:spcBef>
                <a:spcPts val="0"/>
              </a:spcBef>
              <a:spcAft>
                <a:spcPts val="300"/>
              </a:spcAft>
            </a:pPr>
            <a:r>
              <a:rPr sz="1550" b="0">
                <a:solidFill>
                  <a:srgbClr val="ACACB4"/>
                </a:solidFill>
                <a:latin typeface="Instrument Sans"/>
              </a:rPr>
              <a:t>12:55-2:20 - evals, run variance, A/B benchmarking</a:t>
            </a:r>
          </a:p>
        </p:txBody>
      </p:sp>
      <p:sp>
        <p:nvSpPr>
          <p:cNvPr id="12" name="Rectangle 11"/>
          <p:cNvSpPr/>
          <p:nvPr/>
        </p:nvSpPr>
        <p:spPr>
          <a:xfrm>
            <a:off x="640080"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04</a:t>
            </a:r>
          </a:p>
        </p:txBody>
      </p:sp>
      <p:sp>
        <p:nvSpPr>
          <p:cNvPr id="14" name="TextBox 13"/>
          <p:cNvSpPr txBox="1"/>
          <p:nvPr/>
        </p:nvSpPr>
        <p:spPr>
          <a:xfrm>
            <a:off x="7004304"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Plugins &amp; marketplaces</a:t>
            </a:r>
          </a:p>
          <a:p>
            <a:pPr algn="l">
              <a:lnSpc>
                <a:spcPct val="105000"/>
              </a:lnSpc>
              <a:spcBef>
                <a:spcPts val="0"/>
              </a:spcBef>
              <a:spcAft>
                <a:spcPts val="300"/>
              </a:spcAft>
            </a:pPr>
            <a:r>
              <a:rPr sz="1550" b="0">
                <a:solidFill>
                  <a:srgbClr val="ACACB4"/>
                </a:solidFill>
                <a:latin typeface="Instrument Sans"/>
              </a:rPr>
              <a:t>2:30-3:40 - manifests, versioning, publishing governance</a:t>
            </a:r>
          </a:p>
        </p:txBody>
      </p:sp>
      <p:sp>
        <p:nvSpPr>
          <p:cNvPr id="15" name="Rectangle 14"/>
          <p:cNvSpPr/>
          <p:nvPr/>
        </p:nvSpPr>
        <p:spPr>
          <a:xfrm>
            <a:off x="6181344"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615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05</a:t>
            </a:r>
          </a:p>
        </p:txBody>
      </p:sp>
      <p:sp>
        <p:nvSpPr>
          <p:cNvPr id="17" name="TextBox 16"/>
          <p:cNvSpPr txBox="1"/>
          <p:nvPr/>
        </p:nvSpPr>
        <p:spPr>
          <a:xfrm>
            <a:off x="1463040" y="4879847"/>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Close</a:t>
            </a:r>
          </a:p>
          <a:p>
            <a:pPr algn="l">
              <a:lnSpc>
                <a:spcPct val="105000"/>
              </a:lnSpc>
              <a:spcBef>
                <a:spcPts val="0"/>
              </a:spcBef>
              <a:spcAft>
                <a:spcPts val="300"/>
              </a:spcAft>
            </a:pPr>
            <a:r>
              <a:rPr sz="1550" b="0">
                <a:solidFill>
                  <a:srgbClr val="ACACB4"/>
                </a:solidFill>
                <a:latin typeface="Instrument Sans"/>
              </a:rPr>
              <a:t>3:40-4:00 - toolkit review and the Day 3 bridge</a:t>
            </a:r>
          </a:p>
        </p:txBody>
      </p:sp>
      <p:sp>
        <p:nvSpPr>
          <p:cNvPr id="18" name="Rectangle 17"/>
          <p:cNvSpPr/>
          <p:nvPr/>
        </p:nvSpPr>
        <p:spPr>
          <a:xfrm>
            <a:off x="640080" y="6199631"/>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LEARNING OBJECTIVES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What you can do by end of day</a:t>
            </a:r>
          </a:p>
        </p:txBody>
      </p:sp>
      <p:sp>
        <p:nvSpPr>
          <p:cNvPr id="4" name="Rounded Rectangle 3"/>
          <p:cNvSpPr/>
          <p:nvPr/>
        </p:nvSpPr>
        <p:spPr>
          <a:xfrm>
            <a:off x="640080" y="1828800"/>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3487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_2A2A30.png"/>
          <p:cNvPicPr>
            <a:picLocks noChangeAspect="1"/>
          </p:cNvPicPr>
          <p:nvPr/>
        </p:nvPicPr>
        <p:blipFill>
          <a:blip r:embed="rId2"/>
          <a:stretch>
            <a:fillRect/>
          </a:stretch>
        </p:blipFill>
        <p:spPr>
          <a:xfrm>
            <a:off x="1014984" y="2072030"/>
            <a:ext cx="292608" cy="292608"/>
          </a:xfrm>
          <a:prstGeom prst="rect">
            <a:avLst/>
          </a:prstGeom>
        </p:spPr>
      </p:pic>
      <p:sp>
        <p:nvSpPr>
          <p:cNvPr id="7" name="TextBox 6"/>
          <p:cNvSpPr txBox="1"/>
          <p:nvPr/>
        </p:nvSpPr>
        <p:spPr>
          <a:xfrm>
            <a:off x="1591056" y="1828800"/>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Write a skill</a:t>
            </a:r>
          </a:p>
        </p:txBody>
      </p:sp>
      <p:sp>
        <p:nvSpPr>
          <p:cNvPr id="8" name="TextBox 7"/>
          <p:cNvSpPr txBox="1"/>
          <p:nvPr/>
        </p:nvSpPr>
        <p:spPr>
          <a:xfrm>
            <a:off x="4434840" y="1828800"/>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SKILL.md with a description that triggers reliably.</a:t>
            </a:r>
          </a:p>
        </p:txBody>
      </p:sp>
      <p:sp>
        <p:nvSpPr>
          <p:cNvPr id="9" name="Rounded Rectangle 8"/>
          <p:cNvSpPr/>
          <p:nvPr/>
        </p:nvSpPr>
        <p:spPr>
          <a:xfrm>
            <a:off x="640080" y="2754172"/>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86024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k_2A2A30.png"/>
          <p:cNvPicPr>
            <a:picLocks noChangeAspect="1"/>
          </p:cNvPicPr>
          <p:nvPr/>
        </p:nvPicPr>
        <p:blipFill>
          <a:blip r:embed="rId3"/>
          <a:stretch>
            <a:fillRect/>
          </a:stretch>
        </p:blipFill>
        <p:spPr>
          <a:xfrm>
            <a:off x="1014984" y="2997403"/>
            <a:ext cx="292608" cy="292608"/>
          </a:xfrm>
          <a:prstGeom prst="rect">
            <a:avLst/>
          </a:prstGeom>
        </p:spPr>
      </p:pic>
      <p:sp>
        <p:nvSpPr>
          <p:cNvPr id="12" name="TextBox 11"/>
          <p:cNvSpPr txBox="1"/>
          <p:nvPr/>
        </p:nvSpPr>
        <p:spPr>
          <a:xfrm>
            <a:off x="1591056" y="2754172"/>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Wire a hook</a:t>
            </a:r>
          </a:p>
        </p:txBody>
      </p:sp>
      <p:sp>
        <p:nvSpPr>
          <p:cNvPr id="13" name="TextBox 12"/>
          <p:cNvSpPr txBox="1"/>
          <p:nvPr/>
        </p:nvSpPr>
        <p:spPr>
          <a:xfrm>
            <a:off x="4434840" y="2754172"/>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PostToolUse hook that enforces a rule on every action.</a:t>
            </a:r>
          </a:p>
        </p:txBody>
      </p:sp>
      <p:sp>
        <p:nvSpPr>
          <p:cNvPr id="14" name="Rounded Rectangle 13"/>
          <p:cNvSpPr/>
          <p:nvPr/>
        </p:nvSpPr>
        <p:spPr>
          <a:xfrm>
            <a:off x="640080" y="3679545"/>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n_2A2A30.png"/>
          <p:cNvPicPr>
            <a:picLocks noChangeAspect="1"/>
          </p:cNvPicPr>
          <p:nvPr/>
        </p:nvPicPr>
        <p:blipFill>
          <a:blip r:embed="rId4"/>
          <a:stretch>
            <a:fillRect/>
          </a:stretch>
        </p:blipFill>
        <p:spPr>
          <a:xfrm>
            <a:off x="1014984" y="3922776"/>
            <a:ext cx="292608" cy="292608"/>
          </a:xfrm>
          <a:prstGeom prst="rect">
            <a:avLst/>
          </a:prstGeom>
        </p:spPr>
      </p:pic>
      <p:sp>
        <p:nvSpPr>
          <p:cNvPr id="17" name="TextBox 16"/>
          <p:cNvSpPr txBox="1"/>
          <p:nvPr/>
        </p:nvSpPr>
        <p:spPr>
          <a:xfrm>
            <a:off x="1591056" y="3679545"/>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Build a human-invoked skill</a:t>
            </a:r>
          </a:p>
        </p:txBody>
      </p:sp>
      <p:sp>
        <p:nvSpPr>
          <p:cNvPr id="18" name="TextBox 17"/>
          <p:cNvSpPr txBox="1"/>
          <p:nvPr/>
        </p:nvSpPr>
        <p:spPr>
          <a:xfrm>
            <a:off x="4434840" y="3679545"/>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An explicit /workflow with $ARGUMENTS and model invocation disabled.</a:t>
            </a:r>
          </a:p>
        </p:txBody>
      </p:sp>
      <p:sp>
        <p:nvSpPr>
          <p:cNvPr id="19" name="Rounded Rectangle 18"/>
          <p:cNvSpPr/>
          <p:nvPr/>
        </p:nvSpPr>
        <p:spPr>
          <a:xfrm>
            <a:off x="640080" y="4604918"/>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7109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2A2A30.png"/>
          <p:cNvPicPr>
            <a:picLocks noChangeAspect="1"/>
          </p:cNvPicPr>
          <p:nvPr/>
        </p:nvPicPr>
        <p:blipFill>
          <a:blip r:embed="rId5"/>
          <a:stretch>
            <a:fillRect/>
          </a:stretch>
        </p:blipFill>
        <p:spPr>
          <a:xfrm>
            <a:off x="1014984" y="4848148"/>
            <a:ext cx="292608" cy="292608"/>
          </a:xfrm>
          <a:prstGeom prst="rect">
            <a:avLst/>
          </a:prstGeom>
        </p:spPr>
      </p:pic>
      <p:sp>
        <p:nvSpPr>
          <p:cNvPr id="22" name="TextBox 21"/>
          <p:cNvSpPr txBox="1"/>
          <p:nvPr/>
        </p:nvSpPr>
        <p:spPr>
          <a:xfrm>
            <a:off x="1591056" y="4604918"/>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Prove it works</a:t>
            </a:r>
          </a:p>
        </p:txBody>
      </p:sp>
      <p:sp>
        <p:nvSpPr>
          <p:cNvPr id="23" name="TextBox 22"/>
          <p:cNvSpPr txBox="1"/>
          <p:nvPr/>
        </p:nvSpPr>
        <p:spPr>
          <a:xfrm>
            <a:off x="4434840" y="4604918"/>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Eval loop plus A/B benchmark against raw Claude.</a:t>
            </a:r>
          </a:p>
        </p:txBody>
      </p:sp>
      <p:sp>
        <p:nvSpPr>
          <p:cNvPr id="24" name="Rounded Rectangle 23"/>
          <p:cNvSpPr/>
          <p:nvPr/>
        </p:nvSpPr>
        <p:spPr>
          <a:xfrm>
            <a:off x="640080" y="5530291"/>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5636361"/>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rocket_2A2A30.png"/>
          <p:cNvPicPr>
            <a:picLocks noChangeAspect="1"/>
          </p:cNvPicPr>
          <p:nvPr/>
        </p:nvPicPr>
        <p:blipFill>
          <a:blip r:embed="rId6"/>
          <a:stretch>
            <a:fillRect/>
          </a:stretch>
        </p:blipFill>
        <p:spPr>
          <a:xfrm>
            <a:off x="1014984" y="5773521"/>
            <a:ext cx="292608" cy="292608"/>
          </a:xfrm>
          <a:prstGeom prst="rect">
            <a:avLst/>
          </a:prstGeom>
        </p:spPr>
      </p:pic>
      <p:sp>
        <p:nvSpPr>
          <p:cNvPr id="27" name="TextBox 26"/>
          <p:cNvSpPr txBox="1"/>
          <p:nvPr/>
        </p:nvSpPr>
        <p:spPr>
          <a:xfrm>
            <a:off x="1591056" y="5530291"/>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Ship it</a:t>
            </a:r>
          </a:p>
        </p:txBody>
      </p:sp>
      <p:sp>
        <p:nvSpPr>
          <p:cNvPr id="28" name="TextBox 27"/>
          <p:cNvSpPr txBox="1"/>
          <p:nvPr/>
        </p:nvSpPr>
        <p:spPr>
          <a:xfrm>
            <a:off x="4434840" y="5530291"/>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Package the toolkit as a plugin on a team marketplace.</a:t>
            </a:r>
          </a:p>
        </p:txBody>
      </p:sp>
      <p:sp>
        <p:nvSpPr>
          <p:cNvPr id="29" name="Rectangle 2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1" name="TextBox 3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THE THREE-DAY ARC</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From assistant to engineering system</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Day 2 is where Claude stops being generic and starts being yours.</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user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Day 1</a:t>
            </a:r>
            <a:r>
              <a:rPr sz="1400" b="0">
                <a:solidFill>
                  <a:srgbClr val="ACACB4"/>
                </a:solidFill>
                <a:latin typeface="Instrument Sans"/>
              </a:rPr>
              <a:t>  -  drive one agent well - loop, context, memory</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n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Day 2</a:t>
            </a:r>
            <a:r>
              <a:rPr sz="1400" b="0">
                <a:solidFill>
                  <a:srgbClr val="ACACB4"/>
                </a:solidFill>
                <a:latin typeface="Instrument Sans"/>
              </a:rPr>
              <a:t>  -  teach it your standards - skills, hooks, plugins</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ople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Day 3</a:t>
            </a:r>
            <a:r>
              <a:rPr sz="1400" b="0">
                <a:solidFill>
                  <a:srgbClr val="ACACB4"/>
                </a:solidFill>
                <a:latin typeface="Instrument Sans"/>
              </a:rPr>
              <a:t>  -  multiply it - MCP, subagents, CI/CD</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3.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1 - 90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Skills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Domain expertise Claude loads on demand.</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1 -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What a skill actually is</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A folder with a playbook - not a magic prompt.</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SKILL.md</a:t>
            </a:r>
            <a:r>
              <a:rPr sz="1400" b="0">
                <a:solidFill>
                  <a:srgbClr val="ACACB4"/>
                </a:solidFill>
                <a:latin typeface="Instrument Sans"/>
              </a:rPr>
              <a:t>  -  frontmatter trigger + markdown playbook</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The folder</a:t>
            </a:r>
            <a:r>
              <a:rPr sz="1400" b="0">
                <a:solidFill>
                  <a:srgbClr val="ACACB4"/>
                </a:solidFill>
                <a:latin typeface="Instrument Sans"/>
              </a:rPr>
              <a:t>  -  scripts/, references/, templates alongside</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park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The trigger</a:t>
            </a:r>
            <a:r>
              <a:rPr sz="1400" b="0">
                <a:solidFill>
                  <a:srgbClr val="ACACB4"/>
                </a:solidFill>
                <a:latin typeface="Instrument Sans"/>
              </a:rPr>
              <a:t>  -  description matching loads it on demand</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MECHANICS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Progressive disclosure</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ye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Scan</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descriptions only</a:t>
            </a:r>
          </a:p>
        </p:txBody>
      </p:sp>
      <p:sp>
        <p:nvSpPr>
          <p:cNvPr id="8" name="Oval 7"/>
          <p:cNvSpPr/>
          <p:nvPr/>
        </p:nvSpPr>
        <p:spPr>
          <a:xfrm>
            <a:off x="3792626"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rget_F5F5F6.png"/>
          <p:cNvPicPr>
            <a:picLocks noChangeAspect="1"/>
          </p:cNvPicPr>
          <p:nvPr/>
        </p:nvPicPr>
        <p:blipFill>
          <a:blip r:embed="rId3"/>
          <a:stretch>
            <a:fillRect/>
          </a:stretch>
        </p:blipFill>
        <p:spPr>
          <a:xfrm>
            <a:off x="4268114" y="2926080"/>
            <a:ext cx="731520" cy="731520"/>
          </a:xfrm>
          <a:prstGeom prst="rect">
            <a:avLst/>
          </a:prstGeom>
        </p:spPr>
      </p:pic>
      <p:sp>
        <p:nvSpPr>
          <p:cNvPr id="10" name="TextBox 9"/>
          <p:cNvSpPr txBox="1"/>
          <p:nvPr/>
        </p:nvSpPr>
        <p:spPr>
          <a:xfrm>
            <a:off x="3564026"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Match</a:t>
            </a:r>
          </a:p>
        </p:txBody>
      </p:sp>
      <p:sp>
        <p:nvSpPr>
          <p:cNvPr id="11" name="TextBox 10"/>
          <p:cNvSpPr txBox="1"/>
          <p:nvPr/>
        </p:nvSpPr>
        <p:spPr>
          <a:xfrm>
            <a:off x="3564026"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prompt fits trigger</a:t>
            </a:r>
          </a:p>
        </p:txBody>
      </p:sp>
      <p:sp>
        <p:nvSpPr>
          <p:cNvPr id="12" name="Oval 11"/>
          <p:cNvSpPr/>
          <p:nvPr/>
        </p:nvSpPr>
        <p:spPr>
          <a:xfrm>
            <a:off x="6716572"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_F5F5F6.png"/>
          <p:cNvPicPr>
            <a:picLocks noChangeAspect="1"/>
          </p:cNvPicPr>
          <p:nvPr/>
        </p:nvPicPr>
        <p:blipFill>
          <a:blip r:embed="rId4"/>
          <a:stretch>
            <a:fillRect/>
          </a:stretch>
        </p:blipFill>
        <p:spPr>
          <a:xfrm>
            <a:off x="7192060" y="2926080"/>
            <a:ext cx="731520" cy="731520"/>
          </a:xfrm>
          <a:prstGeom prst="rect">
            <a:avLst/>
          </a:prstGeom>
        </p:spPr>
      </p:pic>
      <p:sp>
        <p:nvSpPr>
          <p:cNvPr id="14" name="TextBox 13"/>
          <p:cNvSpPr txBox="1"/>
          <p:nvPr/>
        </p:nvSpPr>
        <p:spPr>
          <a:xfrm>
            <a:off x="6487972"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Load body</a:t>
            </a:r>
          </a:p>
        </p:txBody>
      </p:sp>
      <p:sp>
        <p:nvSpPr>
          <p:cNvPr id="15" name="TextBox 14"/>
          <p:cNvSpPr txBox="1"/>
          <p:nvPr/>
        </p:nvSpPr>
        <p:spPr>
          <a:xfrm>
            <a:off x="6487972"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playbook enters context</a:t>
            </a:r>
          </a:p>
        </p:txBody>
      </p:sp>
      <p:sp>
        <p:nvSpPr>
          <p:cNvPr id="16" name="Oval 15"/>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ook_F5F5F6.png"/>
          <p:cNvPicPr>
            <a:picLocks noChangeAspect="1"/>
          </p:cNvPicPr>
          <p:nvPr/>
        </p:nvPicPr>
        <p:blipFill>
          <a:blip r:embed="rId5"/>
          <a:stretch>
            <a:fillRect/>
          </a:stretch>
        </p:blipFill>
        <p:spPr>
          <a:xfrm>
            <a:off x="10116007" y="2926080"/>
            <a:ext cx="731520" cy="731520"/>
          </a:xfrm>
          <a:prstGeom prst="rect">
            <a:avLst/>
          </a:prstGeom>
        </p:spPr>
      </p:pic>
      <p:sp>
        <p:nvSpPr>
          <p:cNvPr id="18" name="TextBox 17"/>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Reach deeper</a:t>
            </a:r>
          </a:p>
        </p:txBody>
      </p:sp>
      <p:sp>
        <p:nvSpPr>
          <p:cNvPr id="19" name="TextBox 18"/>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references on demand</a:t>
            </a:r>
          </a:p>
        </p:txBody>
      </p:sp>
      <p:sp>
        <p:nvSpPr>
          <p:cNvPr id="20" name="TextBox 19"/>
          <p:cNvSpPr txBox="1"/>
          <p:nvPr/>
        </p:nvSpPr>
        <p:spPr>
          <a:xfrm>
            <a:off x="2760421"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1" name="TextBox 20"/>
          <p:cNvSpPr txBox="1"/>
          <p:nvPr/>
        </p:nvSpPr>
        <p:spPr>
          <a:xfrm>
            <a:off x="568436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2" name="TextBox 21"/>
          <p:cNvSpPr txBox="1"/>
          <p:nvPr/>
        </p:nvSpPr>
        <p:spPr>
          <a:xfrm>
            <a:off x="8608314"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SKILL.MD</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Frontmatter: the current fields</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n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name field</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Kebab-case identifier - becomes the /slash invocation.</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arget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The description field</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trigger. Claude reads this to decide when to load.</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ck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disable-model-invocation</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Only the user can invoke - Claude never auto-loads it.</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cale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allowed-tools</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Least privilege - a review skill gets Read, Grep, Glob only.</a:t>
            </a:r>
          </a:p>
        </p:txBody>
      </p:sp>
      <p:sp>
        <p:nvSpPr>
          <p:cNvPr id="24" name="Rounded Rectangle 23"/>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nfo_4C8DF0.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Body target: 1,500-2,000 words of process. Push bulk knowledge into references/ - point, don't dump.</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DESCRIPTIONS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Pushy descriptions win</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Claude is conservative - vague descriptions never fire.</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rget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Be explicit</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List 5-7 trigger phrases users actually type.</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x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Set boundaries</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Add 'do NOT use for...' negative triggers.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Test 5 phrasings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If 3+ fail to fire, rewrite the description.</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Trigger failure is the #1 reason skills never fire - the description is the single most important line.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your first skill</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Scoping one skill to one job</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 description with trigger phrases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Least-privilege allowed-tools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Saying 'current project directory'</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a skill at .claude/skills/code-review/SKILL.md in the current project directory. Trigger on 'review the code', 'check for bugs', 'QA this file'. Review for security, error handling, and test coverage. Read-only tools.</a:t>
            </a:r>
          </a:p>
        </p:txBody>
      </p:sp>
      <p:sp>
        <p:nvSpPr>
          <p:cNvPr id="19" name="Rounded Rectangle 18"/>
          <p:cNvSpPr/>
          <p:nvPr/>
        </p:nvSpPr>
        <p:spPr>
          <a:xfrm>
            <a:off x="7040880" y="4471416"/>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Show me the SKILL.md you created and explain what each frontmatter field does.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Instructions or scripts?</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n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Instructions (SKILL.md)</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Judgment, language, formatting</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Rewrite in brand voice, categorize</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adapts to context</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pps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Scripts (scripts/)</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Computation, parsing, file ops</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Deterministic, repeatable output</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runs them, not rewrites them</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STRUCTURE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one-level-deep rule</a:t>
            </a:r>
          </a:p>
        </p:txBody>
      </p:sp>
      <p:sp>
        <p:nvSpPr>
          <p:cNvPr id="4" name="Rounded Rectangle 3"/>
          <p:cNvSpPr/>
          <p:nvPr/>
        </p:nvSpPr>
        <p:spPr>
          <a:xfrm>
            <a:off x="640080"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Body = steps</a:t>
            </a:r>
          </a:p>
        </p:txBody>
      </p:sp>
      <p:sp>
        <p:nvSpPr>
          <p:cNvPr id="7" name="TextBox 6"/>
          <p:cNvSpPr txBox="1"/>
          <p:nvPr/>
        </p:nvSpPr>
        <p:spPr>
          <a:xfrm>
            <a:off x="914400"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Process instructions only.</a:t>
            </a:r>
          </a:p>
        </p:txBody>
      </p:sp>
      <p:sp>
        <p:nvSpPr>
          <p:cNvPr id="8" name="TextBox 7"/>
          <p:cNvSpPr txBox="1"/>
          <p:nvPr/>
        </p:nvSpPr>
        <p:spPr>
          <a:xfrm>
            <a:off x="3111246"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3458718"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037"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733037"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references/</a:t>
            </a:r>
          </a:p>
        </p:txBody>
      </p:sp>
      <p:sp>
        <p:nvSpPr>
          <p:cNvPr id="12" name="TextBox 11"/>
          <p:cNvSpPr txBox="1"/>
          <p:nvPr/>
        </p:nvSpPr>
        <p:spPr>
          <a:xfrm>
            <a:off x="3733037"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Checklists and templates.</a:t>
            </a:r>
          </a:p>
        </p:txBody>
      </p:sp>
      <p:sp>
        <p:nvSpPr>
          <p:cNvPr id="13" name="TextBox 12"/>
          <p:cNvSpPr txBox="1"/>
          <p:nvPr/>
        </p:nvSpPr>
        <p:spPr>
          <a:xfrm>
            <a:off x="5929883"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6277356"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6"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6551676"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Never nest</a:t>
            </a:r>
          </a:p>
        </p:txBody>
      </p:sp>
      <p:sp>
        <p:nvSpPr>
          <p:cNvPr id="17" name="TextBox 16"/>
          <p:cNvSpPr txBox="1"/>
          <p:nvPr/>
        </p:nvSpPr>
        <p:spPr>
          <a:xfrm>
            <a:off x="6551676"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References can't link deeper.</a:t>
            </a:r>
          </a:p>
        </p:txBody>
      </p:sp>
      <p:sp>
        <p:nvSpPr>
          <p:cNvPr id="18" name="TextBox 17"/>
          <p:cNvSpPr txBox="1"/>
          <p:nvPr/>
        </p:nvSpPr>
        <p:spPr>
          <a:xfrm>
            <a:off x="8748522"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9095994"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0314"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9370314"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Compress</a:t>
            </a:r>
          </a:p>
        </p:txBody>
      </p:sp>
      <p:sp>
        <p:nvSpPr>
          <p:cNvPr id="22" name="TextBox 21"/>
          <p:cNvSpPr txBox="1"/>
          <p:nvPr/>
        </p:nvSpPr>
        <p:spPr>
          <a:xfrm>
            <a:off x="9370314"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Extract only what's needed.</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CRAFT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Design principles that hold up</a:t>
            </a:r>
          </a:p>
        </p:txBody>
      </p:sp>
      <p:sp>
        <p:nvSpPr>
          <p:cNvPr id="4" name="Rounded Rectangle 3"/>
          <p:cNvSpPr/>
          <p:nvPr/>
        </p:nvSpPr>
        <p:spPr>
          <a:xfrm>
            <a:off x="640080" y="1828800"/>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3487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_2A2A30.png"/>
          <p:cNvPicPr>
            <a:picLocks noChangeAspect="1"/>
          </p:cNvPicPr>
          <p:nvPr/>
        </p:nvPicPr>
        <p:blipFill>
          <a:blip r:embed="rId2"/>
          <a:stretch>
            <a:fillRect/>
          </a:stretch>
        </p:blipFill>
        <p:spPr>
          <a:xfrm>
            <a:off x="1014984" y="2072030"/>
            <a:ext cx="292608" cy="292608"/>
          </a:xfrm>
          <a:prstGeom prst="rect">
            <a:avLst/>
          </a:prstGeom>
        </p:spPr>
      </p:pic>
      <p:sp>
        <p:nvSpPr>
          <p:cNvPr id="7" name="TextBox 6"/>
          <p:cNvSpPr txBox="1"/>
          <p:nvPr/>
        </p:nvSpPr>
        <p:spPr>
          <a:xfrm>
            <a:off x="1591056" y="1828800"/>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Single responsibility</a:t>
            </a:r>
          </a:p>
        </p:txBody>
      </p:sp>
      <p:sp>
        <p:nvSpPr>
          <p:cNvPr id="8" name="TextBox 7"/>
          <p:cNvSpPr txBox="1"/>
          <p:nvPr/>
        </p:nvSpPr>
        <p:spPr>
          <a:xfrm>
            <a:off x="4434840" y="1828800"/>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One skill, one job - never review AND refactor AND document.</a:t>
            </a:r>
          </a:p>
        </p:txBody>
      </p:sp>
      <p:sp>
        <p:nvSpPr>
          <p:cNvPr id="9" name="Rounded Rectangle 8"/>
          <p:cNvSpPr/>
          <p:nvPr/>
        </p:nvSpPr>
        <p:spPr>
          <a:xfrm>
            <a:off x="640080" y="2754172"/>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86024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2997403"/>
            <a:ext cx="292608" cy="292608"/>
          </a:xfrm>
          <a:prstGeom prst="rect">
            <a:avLst/>
          </a:prstGeom>
        </p:spPr>
      </p:pic>
      <p:sp>
        <p:nvSpPr>
          <p:cNvPr id="12" name="TextBox 11"/>
          <p:cNvSpPr txBox="1"/>
          <p:nvPr/>
        </p:nvSpPr>
        <p:spPr>
          <a:xfrm>
            <a:off x="1591056" y="2754172"/>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Build a gotchas section</a:t>
            </a:r>
          </a:p>
        </p:txBody>
      </p:sp>
      <p:sp>
        <p:nvSpPr>
          <p:cNvPr id="13" name="TextBox 12"/>
          <p:cNvSpPr txBox="1"/>
          <p:nvPr/>
        </p:nvSpPr>
        <p:spPr>
          <a:xfrm>
            <a:off x="4434840" y="2754172"/>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Log Claude's failure points over time - highest-signal content.</a:t>
            </a:r>
          </a:p>
        </p:txBody>
      </p:sp>
      <p:sp>
        <p:nvSpPr>
          <p:cNvPr id="14" name="Rounded Rectangle 13"/>
          <p:cNvSpPr/>
          <p:nvPr/>
        </p:nvSpPr>
        <p:spPr>
          <a:xfrm>
            <a:off x="640080" y="3679545"/>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ulb_2A2A30.png"/>
          <p:cNvPicPr>
            <a:picLocks noChangeAspect="1"/>
          </p:cNvPicPr>
          <p:nvPr/>
        </p:nvPicPr>
        <p:blipFill>
          <a:blip r:embed="rId4"/>
          <a:stretch>
            <a:fillRect/>
          </a:stretch>
        </p:blipFill>
        <p:spPr>
          <a:xfrm>
            <a:off x="1014984" y="3922776"/>
            <a:ext cx="292608" cy="292608"/>
          </a:xfrm>
          <a:prstGeom prst="rect">
            <a:avLst/>
          </a:prstGeom>
        </p:spPr>
      </p:pic>
      <p:sp>
        <p:nvSpPr>
          <p:cNvPr id="17" name="TextBox 16"/>
          <p:cNvSpPr txBox="1"/>
          <p:nvPr/>
        </p:nvSpPr>
        <p:spPr>
          <a:xfrm>
            <a:off x="1591056" y="3679545"/>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Don't state the obvious</a:t>
            </a:r>
          </a:p>
        </p:txBody>
      </p:sp>
      <p:sp>
        <p:nvSpPr>
          <p:cNvPr id="18" name="TextBox 17"/>
          <p:cNvSpPr txBox="1"/>
          <p:nvPr/>
        </p:nvSpPr>
        <p:spPr>
          <a:xfrm>
            <a:off x="4434840" y="3679545"/>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Only include what pushes Claude OUT of its defaults.</a:t>
            </a:r>
          </a:p>
        </p:txBody>
      </p:sp>
      <p:sp>
        <p:nvSpPr>
          <p:cNvPr id="19" name="Rounded Rectangle 18"/>
          <p:cNvSpPr/>
          <p:nvPr/>
        </p:nvSpPr>
        <p:spPr>
          <a:xfrm>
            <a:off x="640080" y="4604918"/>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7109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cale_2A2A30.png"/>
          <p:cNvPicPr>
            <a:picLocks noChangeAspect="1"/>
          </p:cNvPicPr>
          <p:nvPr/>
        </p:nvPicPr>
        <p:blipFill>
          <a:blip r:embed="rId5"/>
          <a:stretch>
            <a:fillRect/>
          </a:stretch>
        </p:blipFill>
        <p:spPr>
          <a:xfrm>
            <a:off x="1014984" y="4848148"/>
            <a:ext cx="292608" cy="292608"/>
          </a:xfrm>
          <a:prstGeom prst="rect">
            <a:avLst/>
          </a:prstGeom>
        </p:spPr>
      </p:pic>
      <p:sp>
        <p:nvSpPr>
          <p:cNvPr id="22" name="TextBox 21"/>
          <p:cNvSpPr txBox="1"/>
          <p:nvPr/>
        </p:nvSpPr>
        <p:spPr>
          <a:xfrm>
            <a:off x="1591056" y="4604918"/>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Don't railroad</a:t>
            </a:r>
          </a:p>
        </p:txBody>
      </p:sp>
      <p:sp>
        <p:nvSpPr>
          <p:cNvPr id="23" name="TextBox 22"/>
          <p:cNvSpPr txBox="1"/>
          <p:nvPr/>
        </p:nvSpPr>
        <p:spPr>
          <a:xfrm>
            <a:off x="4434840" y="4604918"/>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Give goals and constraints, not micromanaged steps.</a:t>
            </a:r>
          </a:p>
        </p:txBody>
      </p:sp>
      <p:sp>
        <p:nvSpPr>
          <p:cNvPr id="24" name="Rounded Rectangle 23"/>
          <p:cNvSpPr/>
          <p:nvPr/>
        </p:nvSpPr>
        <p:spPr>
          <a:xfrm>
            <a:off x="640080" y="5530291"/>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5636361"/>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refresh_2A2A30.png"/>
          <p:cNvPicPr>
            <a:picLocks noChangeAspect="1"/>
          </p:cNvPicPr>
          <p:nvPr/>
        </p:nvPicPr>
        <p:blipFill>
          <a:blip r:embed="rId6"/>
          <a:stretch>
            <a:fillRect/>
          </a:stretch>
        </p:blipFill>
        <p:spPr>
          <a:xfrm>
            <a:off x="1014984" y="5773521"/>
            <a:ext cx="292608" cy="292608"/>
          </a:xfrm>
          <a:prstGeom prst="rect">
            <a:avLst/>
          </a:prstGeom>
        </p:spPr>
      </p:pic>
      <p:sp>
        <p:nvSpPr>
          <p:cNvPr id="27" name="TextBox 26"/>
          <p:cNvSpPr txBox="1"/>
          <p:nvPr/>
        </p:nvSpPr>
        <p:spPr>
          <a:xfrm>
            <a:off x="1591056" y="5530291"/>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Run it 5 times</a:t>
            </a:r>
          </a:p>
        </p:txBody>
      </p:sp>
      <p:sp>
        <p:nvSpPr>
          <p:cNvPr id="28" name="TextBox 27"/>
          <p:cNvSpPr txBox="1"/>
          <p:nvPr/>
        </p:nvSpPr>
        <p:spPr>
          <a:xfrm>
            <a:off x="4434840" y="5530291"/>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Inconsistent output means ambiguous instructions.</a:t>
            </a:r>
          </a:p>
        </p:txBody>
      </p:sp>
      <p:sp>
        <p:nvSpPr>
          <p:cNvPr id="29" name="Rectangle 2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1" name="TextBox 3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PATTERNS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9 skill types in the wild</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Anthropic catalogued hundreds of internal skills - they cluster into three families.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oo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Knowledge</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Library/API reference, domain patterns, docs generation.</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e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Verification</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Output checking, product verification, eval harnesses.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Workflow</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Formatting, automation, review pipelines, reporting.</a:t>
            </a:r>
          </a:p>
        </p:txBody>
      </p:sp>
      <p:sp>
        <p:nvSpPr>
          <p:cNvPr id="20" name="Rounded Rectangle 19"/>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Verification skills repay a full engineering week - they make every other skill's output trustworthy.</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PORTABILITY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One skill, every surface</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SURFACE</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HOW YOUR SKILL LOADS</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Claude Code</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.claude/skills/ scanned automatically at session start</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Claude.ai</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Same SKILL.md format uploaded to the web app</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Agent SDK</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Skills folder wired into your custom agents</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Plugins</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Bundled and installed from a marketplace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PLACEMENT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Where a skill lives matters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Same file, three homes - each with a different blast radius.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r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Personal</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~/.claude/skills - follows YOU into every project.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oc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Project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.claude/skills - in git, the whole team gets it on clone.</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Plugin</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Installed from a marketplace - versioned, read-only, many repos.</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Prototype personal, promote to project when the team needs it, ship as a plugin when many repos do.</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1 - DEBUGGING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When a skill won't load</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_E26B6B.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Description too vague</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No keyword overlap with the prompt - sharpen the triggers.</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oc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Wrong location</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Must be .claude/skills/&lt;name&gt;/SKILL.md - not root, not nested.</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art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Context nearly full</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Skills may not load late in a bloated session - check /context.</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Watch the matching</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 --debug shows which skills were considered and why.</a:t>
            </a:r>
          </a:p>
        </p:txBody>
      </p:sp>
      <p:sp>
        <p:nvSpPr>
          <p:cNvPr id="24" name="Rounded Rectangle 23"/>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46B17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/doctor now flags unused skills - run it to find skills that never fire (v2.1.116+ overhaul).</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Demo: build a skill, watch it fire</a:t>
            </a:r>
          </a:p>
        </p:txBody>
      </p:sp>
      <p:pic>
        <p:nvPicPr>
          <p:cNvPr id="4" name="Picture 3" descr="bg_5.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Create code-review skill via one prompt</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Trigger it: 'review src/routes/tasks.js'</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Break it: vague description, then /doctor</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RECAP</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lines to keep</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If they remember nothing else from Block 1, they remember these.</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A skill is an SOP for an AI agent - process in the body, knowledge in references.</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The description is the trigger. Vague descriptions never fire.</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Encode only what pushes Claude out of its defaults.</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KNOWLEDGE CHECK</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Block 1 review</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QUESTION</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THINK ABOUT...</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Two parts of every SKILL.md?</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Trigger and playbook</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Which field drives auto-invocation?</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Where trigger phrases live</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What stops Claude auto-loading a skill?</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frontmatter field</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State the one-level-deep rule</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nesting breaks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LAB 2A - 30 MINUTES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2A: Build Your First Skill</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Hands-on: your own skill in your toolkit repo.</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code-review skill: SKILL.md + references/ checklist.</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30 minutes - if behind, ship the skill without references.</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Fires on 3 phrasings; /doctor shows it used; committed to git.</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BREAK</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Back in 10 - hooks are next</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7.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2 - 90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Hooks &amp; Human-Invoked Skills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Deterministic enforcement plus explicit, reusable workflows.</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8.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2 -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What hooks actually are</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Deterministic scripts wrapped around Claude's actions.</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ye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Observe</a:t>
            </a:r>
            <a:r>
              <a:rPr sz="1400" b="0">
                <a:solidFill>
                  <a:srgbClr val="ACACB4"/>
                </a:solidFill>
                <a:latin typeface="Instrument Sans"/>
              </a:rPr>
              <a:t>  -  log and audit everything Claude does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ock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Enforce</a:t>
            </a:r>
            <a:r>
              <a:rPr sz="1400" b="0">
                <a:solidFill>
                  <a:srgbClr val="ACACB4"/>
                </a:solidFill>
                <a:latin typeface="Instrument Sans"/>
              </a:rPr>
              <a:t>  -  block dangerous actions before they run</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Automate</a:t>
            </a:r>
            <a:r>
              <a:rPr sz="1400" b="0">
                <a:solidFill>
                  <a:srgbClr val="ACACB4"/>
                </a:solidFill>
                <a:latin typeface="Instrument Sans"/>
              </a:rPr>
              <a:t>  -  format, test, notify after every change</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MECHANICS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How a hook fires</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park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Event</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one of 31 lifecycle points</a:t>
            </a:r>
          </a:p>
        </p:txBody>
      </p:sp>
      <p:sp>
        <p:nvSpPr>
          <p:cNvPr id="8" name="Oval 7"/>
          <p:cNvSpPr/>
          <p:nvPr/>
        </p:nvSpPr>
        <p:spPr>
          <a:xfrm>
            <a:off x="3792626"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rget_F5F5F6.png"/>
          <p:cNvPicPr>
            <a:picLocks noChangeAspect="1"/>
          </p:cNvPicPr>
          <p:nvPr/>
        </p:nvPicPr>
        <p:blipFill>
          <a:blip r:embed="rId3"/>
          <a:stretch>
            <a:fillRect/>
          </a:stretch>
        </p:blipFill>
        <p:spPr>
          <a:xfrm>
            <a:off x="4268114" y="2926080"/>
            <a:ext cx="731520" cy="731520"/>
          </a:xfrm>
          <a:prstGeom prst="rect">
            <a:avLst/>
          </a:prstGeom>
        </p:spPr>
      </p:pic>
      <p:sp>
        <p:nvSpPr>
          <p:cNvPr id="10" name="TextBox 9"/>
          <p:cNvSpPr txBox="1"/>
          <p:nvPr/>
        </p:nvSpPr>
        <p:spPr>
          <a:xfrm>
            <a:off x="3564026"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Matcher</a:t>
            </a:r>
          </a:p>
        </p:txBody>
      </p:sp>
      <p:sp>
        <p:nvSpPr>
          <p:cNvPr id="11" name="TextBox 10"/>
          <p:cNvSpPr txBox="1"/>
          <p:nvPr/>
        </p:nvSpPr>
        <p:spPr>
          <a:xfrm>
            <a:off x="3564026"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regex picks the tool</a:t>
            </a:r>
          </a:p>
        </p:txBody>
      </p:sp>
      <p:sp>
        <p:nvSpPr>
          <p:cNvPr id="12" name="Oval 11"/>
          <p:cNvSpPr/>
          <p:nvPr/>
        </p:nvSpPr>
        <p:spPr>
          <a:xfrm>
            <a:off x="6716572"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pps_F5F5F6.png"/>
          <p:cNvPicPr>
            <a:picLocks noChangeAspect="1"/>
          </p:cNvPicPr>
          <p:nvPr/>
        </p:nvPicPr>
        <p:blipFill>
          <a:blip r:embed="rId4"/>
          <a:stretch>
            <a:fillRect/>
          </a:stretch>
        </p:blipFill>
        <p:spPr>
          <a:xfrm>
            <a:off x="7192060" y="2926080"/>
            <a:ext cx="731520" cy="731520"/>
          </a:xfrm>
          <a:prstGeom prst="rect">
            <a:avLst/>
          </a:prstGeom>
        </p:spPr>
      </p:pic>
      <p:sp>
        <p:nvSpPr>
          <p:cNvPr id="14" name="TextBox 13"/>
          <p:cNvSpPr txBox="1"/>
          <p:nvPr/>
        </p:nvSpPr>
        <p:spPr>
          <a:xfrm>
            <a:off x="6487972"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Handler</a:t>
            </a:r>
          </a:p>
        </p:txBody>
      </p:sp>
      <p:sp>
        <p:nvSpPr>
          <p:cNvPr id="15" name="TextBox 14"/>
          <p:cNvSpPr txBox="1"/>
          <p:nvPr/>
        </p:nvSpPr>
        <p:spPr>
          <a:xfrm>
            <a:off x="6487972"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your script runs</a:t>
            </a:r>
          </a:p>
        </p:txBody>
      </p:sp>
      <p:sp>
        <p:nvSpPr>
          <p:cNvPr id="16" name="Oval 15"/>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F5F5F6.png"/>
          <p:cNvPicPr>
            <a:picLocks noChangeAspect="1"/>
          </p:cNvPicPr>
          <p:nvPr/>
        </p:nvPicPr>
        <p:blipFill>
          <a:blip r:embed="rId5"/>
          <a:stretch>
            <a:fillRect/>
          </a:stretch>
        </p:blipFill>
        <p:spPr>
          <a:xfrm>
            <a:off x="10116007" y="2926080"/>
            <a:ext cx="731520" cy="731520"/>
          </a:xfrm>
          <a:prstGeom prst="rect">
            <a:avLst/>
          </a:prstGeom>
        </p:spPr>
      </p:pic>
      <p:sp>
        <p:nvSpPr>
          <p:cNvPr id="18" name="TextBox 17"/>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Exit code</a:t>
            </a:r>
          </a:p>
        </p:txBody>
      </p:sp>
      <p:sp>
        <p:nvSpPr>
          <p:cNvPr id="19" name="TextBox 18"/>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0 allows, 2 blocks</a:t>
            </a:r>
          </a:p>
        </p:txBody>
      </p:sp>
      <p:sp>
        <p:nvSpPr>
          <p:cNvPr id="20" name="TextBox 19"/>
          <p:cNvSpPr txBox="1"/>
          <p:nvPr/>
        </p:nvSpPr>
        <p:spPr>
          <a:xfrm>
            <a:off x="2760421"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1" name="TextBox 20"/>
          <p:cNvSpPr txBox="1"/>
          <p:nvPr/>
        </p:nvSpPr>
        <p:spPr>
          <a:xfrm>
            <a:off x="568436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2" name="TextBox 21"/>
          <p:cNvSpPr txBox="1"/>
          <p:nvPr/>
        </p:nvSpPr>
        <p:spPr>
          <a:xfrm>
            <a:off x="8608314"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PAYLOAD</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payload: JSON on stdin</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FIELD</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WHAT IT TELLS YOUR SCRIPT</a:t>
            </a:r>
          </a:p>
        </p:txBody>
      </p:sp>
      <p:sp>
        <p:nvSpPr>
          <p:cNvPr id="7" name="Rectangle 6"/>
          <p:cNvSpPr/>
          <p:nvPr/>
        </p:nvSpPr>
        <p:spPr>
          <a:xfrm>
            <a:off x="640080" y="2423160"/>
            <a:ext cx="10908792" cy="64007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64007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session_id / cwd</a:t>
            </a:r>
          </a:p>
        </p:txBody>
      </p:sp>
      <p:sp>
        <p:nvSpPr>
          <p:cNvPr id="10" name="TextBox 9"/>
          <p:cNvSpPr txBox="1"/>
          <p:nvPr/>
        </p:nvSpPr>
        <p:spPr>
          <a:xfrm>
            <a:off x="3383280" y="2423160"/>
            <a:ext cx="7982712" cy="64007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Which session fired, from which working directory</a:t>
            </a:r>
          </a:p>
        </p:txBody>
      </p:sp>
      <p:sp>
        <p:nvSpPr>
          <p:cNvPr id="11" name="Rectangle 10"/>
          <p:cNvSpPr/>
          <p:nvPr/>
        </p:nvSpPr>
        <p:spPr>
          <a:xfrm>
            <a:off x="640080" y="3063239"/>
            <a:ext cx="10908792" cy="64007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06323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63239"/>
            <a:ext cx="2468880" cy="64007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hook_event_name</a:t>
            </a:r>
          </a:p>
        </p:txBody>
      </p:sp>
      <p:sp>
        <p:nvSpPr>
          <p:cNvPr id="14" name="TextBox 13"/>
          <p:cNvSpPr txBox="1"/>
          <p:nvPr/>
        </p:nvSpPr>
        <p:spPr>
          <a:xfrm>
            <a:off x="3383280" y="3063239"/>
            <a:ext cx="7982712" cy="64007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Which lifecycle event triggered the handler</a:t>
            </a:r>
          </a:p>
        </p:txBody>
      </p:sp>
      <p:sp>
        <p:nvSpPr>
          <p:cNvPr id="15" name="Rectangle 14"/>
          <p:cNvSpPr/>
          <p:nvPr/>
        </p:nvSpPr>
        <p:spPr>
          <a:xfrm>
            <a:off x="640080" y="3703320"/>
            <a:ext cx="10908792" cy="64007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70332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703320"/>
            <a:ext cx="2468880" cy="64007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tool_name</a:t>
            </a:r>
          </a:p>
        </p:txBody>
      </p:sp>
      <p:sp>
        <p:nvSpPr>
          <p:cNvPr id="18" name="TextBox 17"/>
          <p:cNvSpPr txBox="1"/>
          <p:nvPr/>
        </p:nvSpPr>
        <p:spPr>
          <a:xfrm>
            <a:off x="3383280" y="3703320"/>
            <a:ext cx="7982712" cy="64007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tool Claude is using - Write, Edit, Bash...</a:t>
            </a:r>
          </a:p>
        </p:txBody>
      </p:sp>
      <p:sp>
        <p:nvSpPr>
          <p:cNvPr id="19" name="Rectangle 18"/>
          <p:cNvSpPr/>
          <p:nvPr/>
        </p:nvSpPr>
        <p:spPr>
          <a:xfrm>
            <a:off x="640080" y="4343400"/>
            <a:ext cx="10908792" cy="64007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343400"/>
            <a:ext cx="2468880" cy="64007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tool_input</a:t>
            </a:r>
          </a:p>
        </p:txBody>
      </p:sp>
      <p:sp>
        <p:nvSpPr>
          <p:cNvPr id="22" name="TextBox 21"/>
          <p:cNvSpPr txBox="1"/>
          <p:nvPr/>
        </p:nvSpPr>
        <p:spPr>
          <a:xfrm>
            <a:off x="3383280" y="4343400"/>
            <a:ext cx="7982712" cy="64007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exact arguments: command, file_path, content</a:t>
            </a:r>
          </a:p>
        </p:txBody>
      </p:sp>
      <p:sp>
        <p:nvSpPr>
          <p:cNvPr id="23" name="Rectangle 22"/>
          <p:cNvSpPr/>
          <p:nvPr/>
        </p:nvSpPr>
        <p:spPr>
          <a:xfrm>
            <a:off x="640080" y="4983479"/>
            <a:ext cx="10908792" cy="64007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9834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83479"/>
            <a:ext cx="2468880" cy="64007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tool_response</a:t>
            </a:r>
          </a:p>
        </p:txBody>
      </p:sp>
      <p:sp>
        <p:nvSpPr>
          <p:cNvPr id="26" name="TextBox 25"/>
          <p:cNvSpPr txBox="1"/>
          <p:nvPr/>
        </p:nvSpPr>
        <p:spPr>
          <a:xfrm>
            <a:off x="3383280" y="4983479"/>
            <a:ext cx="7982712" cy="64007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the tool returned - PostToolUse only</a:t>
            </a:r>
          </a:p>
        </p:txBody>
      </p:sp>
      <p:sp>
        <p:nvSpPr>
          <p:cNvPr id="27" name="Rectangle 26"/>
          <p:cNvSpPr/>
          <p:nvPr/>
        </p:nvSpPr>
        <p:spPr>
          <a:xfrm>
            <a:off x="640080" y="5623559"/>
            <a:ext cx="10908792" cy="64007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562355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3559"/>
            <a:ext cx="2468880" cy="64007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(verify at delivery)</a:t>
            </a:r>
          </a:p>
        </p:txBody>
      </p:sp>
      <p:sp>
        <p:nvSpPr>
          <p:cNvPr id="30" name="TextBox 29"/>
          <p:cNvSpPr txBox="1"/>
          <p:nvPr/>
        </p:nvSpPr>
        <p:spPr>
          <a:xfrm>
            <a:off x="3383280" y="5623559"/>
            <a:ext cx="7982712" cy="64007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Field names re-checked against the hooks reference at the morning-of gate</a:t>
            </a:r>
          </a:p>
        </p:txBody>
      </p:sp>
      <p:sp>
        <p:nvSpPr>
          <p:cNvPr id="31" name="Rectangle 3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3" name="TextBox 3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EVENTS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event map worth knowing</a:t>
            </a:r>
          </a:p>
        </p:txBody>
      </p:sp>
      <p:sp>
        <p:nvSpPr>
          <p:cNvPr id="4" name="Rounded Rectangle 3"/>
          <p:cNvSpPr/>
          <p:nvPr/>
        </p:nvSpPr>
        <p:spPr>
          <a:xfrm>
            <a:off x="640080" y="1828800"/>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79679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_2A2A30.png"/>
          <p:cNvPicPr>
            <a:picLocks noChangeAspect="1"/>
          </p:cNvPicPr>
          <p:nvPr/>
        </p:nvPicPr>
        <p:blipFill>
          <a:blip r:embed="rId2"/>
          <a:stretch>
            <a:fillRect/>
          </a:stretch>
        </p:blipFill>
        <p:spPr>
          <a:xfrm>
            <a:off x="1014984" y="1933955"/>
            <a:ext cx="292608" cy="292608"/>
          </a:xfrm>
          <a:prstGeom prst="rect">
            <a:avLst/>
          </a:prstGeom>
        </p:spPr>
      </p:pic>
      <p:sp>
        <p:nvSpPr>
          <p:cNvPr id="7" name="TextBox 6"/>
          <p:cNvSpPr txBox="1"/>
          <p:nvPr/>
        </p:nvSpPr>
        <p:spPr>
          <a:xfrm>
            <a:off x="1591056" y="1828800"/>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PreToolUse / PostToolUse</a:t>
            </a:r>
          </a:p>
        </p:txBody>
      </p:sp>
      <p:sp>
        <p:nvSpPr>
          <p:cNvPr id="8" name="TextBox 7"/>
          <p:cNvSpPr txBox="1"/>
          <p:nvPr/>
        </p:nvSpPr>
        <p:spPr>
          <a:xfrm>
            <a:off x="4434840" y="1828800"/>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workhorses - validate before, react after. 95% of use cases.</a:t>
            </a:r>
          </a:p>
        </p:txBody>
      </p:sp>
      <p:sp>
        <p:nvSpPr>
          <p:cNvPr id="9" name="Rounded Rectangle 8"/>
          <p:cNvSpPr/>
          <p:nvPr/>
        </p:nvSpPr>
        <p:spPr>
          <a:xfrm>
            <a:off x="640080" y="2478024"/>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44602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eople_2A2A30.png"/>
          <p:cNvPicPr>
            <a:picLocks noChangeAspect="1"/>
          </p:cNvPicPr>
          <p:nvPr/>
        </p:nvPicPr>
        <p:blipFill>
          <a:blip r:embed="rId3"/>
          <a:stretch>
            <a:fillRect/>
          </a:stretch>
        </p:blipFill>
        <p:spPr>
          <a:xfrm>
            <a:off x="1014984" y="2583179"/>
            <a:ext cx="292608" cy="292608"/>
          </a:xfrm>
          <a:prstGeom prst="rect">
            <a:avLst/>
          </a:prstGeom>
        </p:spPr>
      </p:pic>
      <p:sp>
        <p:nvSpPr>
          <p:cNvPr id="12" name="TextBox 11"/>
          <p:cNvSpPr txBox="1"/>
          <p:nvPr/>
        </p:nvSpPr>
        <p:spPr>
          <a:xfrm>
            <a:off x="1591056" y="2478024"/>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SubagentStart / SubagentStop</a:t>
            </a:r>
          </a:p>
        </p:txBody>
      </p:sp>
      <p:sp>
        <p:nvSpPr>
          <p:cNvPr id="13" name="TextBox 12"/>
          <p:cNvSpPr txBox="1"/>
          <p:nvPr/>
        </p:nvSpPr>
        <p:spPr>
          <a:xfrm>
            <a:off x="4434840" y="2478024"/>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Wrap delegated work - scope rules per subagent (Day 3).</a:t>
            </a:r>
          </a:p>
        </p:txBody>
      </p:sp>
      <p:sp>
        <p:nvSpPr>
          <p:cNvPr id="14" name="Rounded Rectangle 13"/>
          <p:cNvSpPr/>
          <p:nvPr/>
        </p:nvSpPr>
        <p:spPr>
          <a:xfrm>
            <a:off x="640080" y="3127248"/>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09524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lock_2A2A30.png"/>
          <p:cNvPicPr>
            <a:picLocks noChangeAspect="1"/>
          </p:cNvPicPr>
          <p:nvPr/>
        </p:nvPicPr>
        <p:blipFill>
          <a:blip r:embed="rId4"/>
          <a:stretch>
            <a:fillRect/>
          </a:stretch>
        </p:blipFill>
        <p:spPr>
          <a:xfrm>
            <a:off x="1014984" y="3232403"/>
            <a:ext cx="292608" cy="292608"/>
          </a:xfrm>
          <a:prstGeom prst="rect">
            <a:avLst/>
          </a:prstGeom>
        </p:spPr>
      </p:pic>
      <p:sp>
        <p:nvSpPr>
          <p:cNvPr id="17" name="TextBox 16"/>
          <p:cNvSpPr txBox="1"/>
          <p:nvPr/>
        </p:nvSpPr>
        <p:spPr>
          <a:xfrm>
            <a:off x="1591056" y="3127248"/>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TeammateIdle / TaskCreated / TaskCompleted</a:t>
            </a:r>
          </a:p>
        </p:txBody>
      </p:sp>
      <p:sp>
        <p:nvSpPr>
          <p:cNvPr id="18" name="TextBox 17"/>
          <p:cNvSpPr txBox="1"/>
          <p:nvPr/>
        </p:nvSpPr>
        <p:spPr>
          <a:xfrm>
            <a:off x="4434840" y="3127248"/>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Team and task lifecycle signals for orchestration.</a:t>
            </a:r>
          </a:p>
        </p:txBody>
      </p:sp>
      <p:sp>
        <p:nvSpPr>
          <p:cNvPr id="19" name="Rounded Rectangle 18"/>
          <p:cNvSpPr/>
          <p:nvPr/>
        </p:nvSpPr>
        <p:spPr>
          <a:xfrm>
            <a:off x="640080" y="3776472"/>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374446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hare_2A2A30.png"/>
          <p:cNvPicPr>
            <a:picLocks noChangeAspect="1"/>
          </p:cNvPicPr>
          <p:nvPr/>
        </p:nvPicPr>
        <p:blipFill>
          <a:blip r:embed="rId5"/>
          <a:stretch>
            <a:fillRect/>
          </a:stretch>
        </p:blipFill>
        <p:spPr>
          <a:xfrm>
            <a:off x="1014984" y="3881628"/>
            <a:ext cx="292608" cy="292608"/>
          </a:xfrm>
          <a:prstGeom prst="rect">
            <a:avLst/>
          </a:prstGeom>
        </p:spPr>
      </p:pic>
      <p:sp>
        <p:nvSpPr>
          <p:cNvPr id="22" name="TextBox 21"/>
          <p:cNvSpPr txBox="1"/>
          <p:nvPr/>
        </p:nvSpPr>
        <p:spPr>
          <a:xfrm>
            <a:off x="1591056" y="3776472"/>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WorktreeCreate / WorktreeRemove</a:t>
            </a:r>
          </a:p>
        </p:txBody>
      </p:sp>
      <p:sp>
        <p:nvSpPr>
          <p:cNvPr id="23" name="TextBox 22"/>
          <p:cNvSpPr txBox="1"/>
          <p:nvPr/>
        </p:nvSpPr>
        <p:spPr>
          <a:xfrm>
            <a:off x="4434840" y="3776472"/>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React when parallel worktrees appear and vanish.</a:t>
            </a:r>
          </a:p>
        </p:txBody>
      </p:sp>
      <p:sp>
        <p:nvSpPr>
          <p:cNvPr id="24" name="Rounded Rectangle 23"/>
          <p:cNvSpPr/>
          <p:nvPr/>
        </p:nvSpPr>
        <p:spPr>
          <a:xfrm>
            <a:off x="640080" y="4425696"/>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39369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refresh_2A2A30.png"/>
          <p:cNvPicPr>
            <a:picLocks noChangeAspect="1"/>
          </p:cNvPicPr>
          <p:nvPr/>
        </p:nvPicPr>
        <p:blipFill>
          <a:blip r:embed="rId6"/>
          <a:stretch>
            <a:fillRect/>
          </a:stretch>
        </p:blipFill>
        <p:spPr>
          <a:xfrm>
            <a:off x="1014984" y="4530852"/>
            <a:ext cx="292608" cy="292608"/>
          </a:xfrm>
          <a:prstGeom prst="rect">
            <a:avLst/>
          </a:prstGeom>
        </p:spPr>
      </p:pic>
      <p:sp>
        <p:nvSpPr>
          <p:cNvPr id="27" name="TextBox 26"/>
          <p:cNvSpPr txBox="1"/>
          <p:nvPr/>
        </p:nvSpPr>
        <p:spPr>
          <a:xfrm>
            <a:off x="1591056" y="4425696"/>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PreCompact / PostCompact</a:t>
            </a:r>
          </a:p>
        </p:txBody>
      </p:sp>
      <p:sp>
        <p:nvSpPr>
          <p:cNvPr id="28" name="TextBox 27"/>
          <p:cNvSpPr txBox="1"/>
          <p:nvPr/>
        </p:nvSpPr>
        <p:spPr>
          <a:xfrm>
            <a:off x="4434840" y="4425696"/>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Save or restore state around context compaction.</a:t>
            </a:r>
          </a:p>
        </p:txBody>
      </p:sp>
      <p:sp>
        <p:nvSpPr>
          <p:cNvPr id="29" name="Rounded Rectangle 28"/>
          <p:cNvSpPr/>
          <p:nvPr/>
        </p:nvSpPr>
        <p:spPr>
          <a:xfrm>
            <a:off x="640080" y="5074920"/>
            <a:ext cx="10908792" cy="502919"/>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1248" y="504291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warn_2A2A30.png"/>
          <p:cNvPicPr>
            <a:picLocks noChangeAspect="1"/>
          </p:cNvPicPr>
          <p:nvPr/>
        </p:nvPicPr>
        <p:blipFill>
          <a:blip r:embed="rId7"/>
          <a:stretch>
            <a:fillRect/>
          </a:stretch>
        </p:blipFill>
        <p:spPr>
          <a:xfrm>
            <a:off x="1014984" y="5180076"/>
            <a:ext cx="292608" cy="292608"/>
          </a:xfrm>
          <a:prstGeom prst="rect">
            <a:avLst/>
          </a:prstGeom>
        </p:spPr>
      </p:pic>
      <p:sp>
        <p:nvSpPr>
          <p:cNvPr id="32" name="TextBox 31"/>
          <p:cNvSpPr txBox="1"/>
          <p:nvPr/>
        </p:nvSpPr>
        <p:spPr>
          <a:xfrm>
            <a:off x="1591056" y="5074920"/>
            <a:ext cx="2743200" cy="502919"/>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PermissionRequest / PermissionDenied</a:t>
            </a:r>
          </a:p>
        </p:txBody>
      </p:sp>
      <p:sp>
        <p:nvSpPr>
          <p:cNvPr id="33" name="TextBox 32"/>
          <p:cNvSpPr txBox="1"/>
          <p:nvPr/>
        </p:nvSpPr>
        <p:spPr>
          <a:xfrm>
            <a:off x="4434840" y="5074920"/>
            <a:ext cx="6903720" cy="5029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Route, log, or auto-triage permission prompts.</a:t>
            </a:r>
          </a:p>
        </p:txBody>
      </p:sp>
      <p:sp>
        <p:nvSpPr>
          <p:cNvPr id="34" name="Rounded Rectangle 33"/>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nfo_4C8DF0.png"/>
          <p:cNvPicPr>
            <a:picLocks noChangeAspect="1"/>
          </p:cNvPicPr>
          <p:nvPr/>
        </p:nvPicPr>
        <p:blipFill>
          <a:blip r:embed="rId8"/>
          <a:stretch>
            <a:fillRect/>
          </a:stretch>
        </p:blipFill>
        <p:spPr>
          <a:xfrm>
            <a:off x="877824" y="5907024"/>
            <a:ext cx="365760" cy="365760"/>
          </a:xfrm>
          <a:prstGeom prst="rect">
            <a:avLst/>
          </a:prstGeom>
        </p:spPr>
      </p:pic>
      <p:sp>
        <p:nvSpPr>
          <p:cNvPr id="36" name="TextBox 3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31 events in the current hook reference; learn the high-value pairs and use the handout for the full map.</a:t>
            </a:r>
          </a:p>
        </p:txBody>
      </p:sp>
      <p:sp>
        <p:nvSpPr>
          <p:cNvPr id="37" name="Rectangle 3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9" name="TextBox 3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HANDLERS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Five handler types</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pps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command</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Shell script - JSON on stdin, exit code decides. The classic.</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are_2A2A30.png"/>
          <p:cNvPicPr>
            <a:picLocks noChangeAspect="1"/>
          </p:cNvPicPr>
          <p:nvPr/>
        </p:nvPicPr>
        <p:blipFill>
          <a:blip r:embed="rId3"/>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HTTP</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POST the event to an endpoint - central team telemetry.</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park_2A2A30.png"/>
          <p:cNvPicPr>
            <a:picLocks noChangeAspect="1"/>
          </p:cNvPicPr>
          <p:nvPr/>
        </p:nvPicPr>
        <p:blipFill>
          <a:blip r:embed="rId4"/>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MCP tool</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Invoke an MCP server tool as the handler.</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at_2A2A30.png"/>
          <p:cNvPicPr>
            <a:picLocks noChangeAspect="1"/>
          </p:cNvPicPr>
          <p:nvPr/>
        </p:nvPicPr>
        <p:blipFill>
          <a:blip r:embed="rId5"/>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prompt</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Ask a model to judge - non-deterministic, use with care.</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ople_2A2A30.png"/>
          <p:cNvPicPr>
            <a:picLocks noChangeAspect="1"/>
          </p:cNvPicPr>
          <p:nvPr/>
        </p:nvPicPr>
        <p:blipFill>
          <a:blip r:embed="rId6"/>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agent</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Run an agentic verifier with tool access for multi-step judgment.</a:t>
            </a:r>
          </a:p>
        </p:txBody>
      </p:sp>
      <p:sp>
        <p:nvSpPr>
          <p:cNvPr id="29" name="Rounded Rectangle 28"/>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warn_E0A93A.png"/>
          <p:cNvPicPr>
            <a:picLocks noChangeAspect="1"/>
          </p:cNvPicPr>
          <p:nvPr/>
        </p:nvPicPr>
        <p:blipFill>
          <a:blip r:embed="rId7"/>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prompt handlers reintroduce model judgment - keep hard security rules in command handlers with exit codes.</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Advisory or blocking?</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ye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Advisory (exit 0)</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Logs, warns, formats - never stops</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Message shown, action proceeds</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Start here: observe before you enforce</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ock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Blocking (exit 2)</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Action stops before it runs</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stderr reason goes back to Claude</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The agent reads it and adjusts course</a:t>
            </a:r>
          </a:p>
        </p:txBody>
      </p:sp>
      <p:sp>
        <p:nvSpPr>
          <p:cNvPr id="22" name="Rounded Rectangle 21"/>
          <p:cNvSpPr/>
          <p:nvPr/>
        </p:nvSpPr>
        <p:spPr>
          <a:xfrm>
            <a:off x="640080" y="5138928"/>
            <a:ext cx="10908792" cy="713232"/>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rn_E0A93A.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Exit semantics (0 allow / 2 block) per current docs - re-verify at the morning-of delivery gate.</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SCOPING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Matchers and where hooks live</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Matcher = tool filter</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Regex on the tool name: Write|Edit. Empty matcher = every tool.</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User-level</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~/.claude/settings.json - follows YOU across all projects.</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oc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Project-level</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.claude/settings.json - travels with the repo via git.</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ocket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Plugin-delivered</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Ships inside an installed plugin - fleet-wide enforcement.</a:t>
            </a:r>
          </a:p>
        </p:txBody>
      </p:sp>
      <p:sp>
        <p:nvSpPr>
          <p:cNvPr id="24" name="Rounded Rectangle 23"/>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nfo_4C8DF0.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Roll out narrow: one matcher, one project. Widen to user or plugin scope only once the hook has earned it.</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QUICK REFERENCE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Pick the right event</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YOU NEED TO...</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USE THIS EVENT</a:t>
            </a:r>
          </a:p>
        </p:txBody>
      </p:sp>
      <p:sp>
        <p:nvSpPr>
          <p:cNvPr id="7" name="Rectangle 6"/>
          <p:cNvSpPr/>
          <p:nvPr/>
        </p:nvSpPr>
        <p:spPr>
          <a:xfrm>
            <a:off x="640080" y="2423160"/>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Block a dangerous command</a:t>
            </a:r>
          </a:p>
        </p:txBody>
      </p:sp>
      <p:sp>
        <p:nvSpPr>
          <p:cNvPr id="10" name="TextBox 9"/>
          <p:cNvSpPr txBox="1"/>
          <p:nvPr/>
        </p:nvSpPr>
        <p:spPr>
          <a:xfrm>
            <a:off x="3383280" y="2423160"/>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PreToolUse (exit 2 blocks)</a:t>
            </a:r>
          </a:p>
        </p:txBody>
      </p:sp>
      <p:sp>
        <p:nvSpPr>
          <p:cNvPr id="11" name="Rectangle 10"/>
          <p:cNvSpPr/>
          <p:nvPr/>
        </p:nvSpPr>
        <p:spPr>
          <a:xfrm>
            <a:off x="640080" y="3191256"/>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191256"/>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91256"/>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Auto-format after edits</a:t>
            </a:r>
          </a:p>
        </p:txBody>
      </p:sp>
      <p:sp>
        <p:nvSpPr>
          <p:cNvPr id="14" name="TextBox 13"/>
          <p:cNvSpPr txBox="1"/>
          <p:nvPr/>
        </p:nvSpPr>
        <p:spPr>
          <a:xfrm>
            <a:off x="3383280" y="3191256"/>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PostToolUse on Write|Edit</a:t>
            </a:r>
          </a:p>
        </p:txBody>
      </p:sp>
      <p:sp>
        <p:nvSpPr>
          <p:cNvPr id="15" name="Rectangle 14"/>
          <p:cNvSpPr/>
          <p:nvPr/>
        </p:nvSpPr>
        <p:spPr>
          <a:xfrm>
            <a:off x="640080" y="3959352"/>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3959352"/>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959352"/>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Load context at session open</a:t>
            </a:r>
          </a:p>
        </p:txBody>
      </p:sp>
      <p:sp>
        <p:nvSpPr>
          <p:cNvPr id="18" name="TextBox 17"/>
          <p:cNvSpPr txBox="1"/>
          <p:nvPr/>
        </p:nvSpPr>
        <p:spPr>
          <a:xfrm>
            <a:off x="3383280" y="3959352"/>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SessionStart</a:t>
            </a:r>
          </a:p>
        </p:txBody>
      </p:sp>
      <p:sp>
        <p:nvSpPr>
          <p:cNvPr id="19" name="Rectangle 18"/>
          <p:cNvSpPr/>
          <p:nvPr/>
        </p:nvSpPr>
        <p:spPr>
          <a:xfrm>
            <a:off x="640080" y="4727448"/>
            <a:ext cx="10908792" cy="768095"/>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4727448"/>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27448"/>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Save a summary at session end</a:t>
            </a:r>
          </a:p>
        </p:txBody>
      </p:sp>
      <p:sp>
        <p:nvSpPr>
          <p:cNvPr id="22" name="TextBox 21"/>
          <p:cNvSpPr txBox="1"/>
          <p:nvPr/>
        </p:nvSpPr>
        <p:spPr>
          <a:xfrm>
            <a:off x="3383280" y="4727448"/>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Stop / SessionEnd</a:t>
            </a:r>
          </a:p>
        </p:txBody>
      </p:sp>
      <p:sp>
        <p:nvSpPr>
          <p:cNvPr id="23" name="Rectangle 22"/>
          <p:cNvSpPr/>
          <p:nvPr/>
        </p:nvSpPr>
        <p:spPr>
          <a:xfrm>
            <a:off x="640080" y="5495544"/>
            <a:ext cx="10908792" cy="768095"/>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5495544"/>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95544"/>
            <a:ext cx="2468880" cy="768095"/>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Audit permission prompts</a:t>
            </a:r>
          </a:p>
        </p:txBody>
      </p:sp>
      <p:sp>
        <p:nvSpPr>
          <p:cNvPr id="26" name="TextBox 25"/>
          <p:cNvSpPr txBox="1"/>
          <p:nvPr/>
        </p:nvSpPr>
        <p:spPr>
          <a:xfrm>
            <a:off x="3383280" y="5495544"/>
            <a:ext cx="7982712" cy="768095"/>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PermissionRequest</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PATTERNS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hooks every team ships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Copy these - they cover audit, hygiene, and visibility.</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ist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Audit log</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PostToolUse, empty matcher - timestamp, tool, file to a log.</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en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Auto-format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PostToolUse on Write|Edit - prettier/black by extension.</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il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Notification</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Bash matcher - webhook to Slack/Teams on deploy or push.</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Handlers read JSON from stdin: json=$(cat), then jq -r '.tool_name' - never env vars.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CRAFT</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Fail-safe hook discipline</a:t>
            </a:r>
          </a:p>
        </p:txBody>
      </p:sp>
      <p:sp>
        <p:nvSpPr>
          <p:cNvPr id="4" name="Rounded Rectangle 3"/>
          <p:cNvSpPr/>
          <p:nvPr/>
        </p:nvSpPr>
        <p:spPr>
          <a:xfrm>
            <a:off x="640080"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Fast</a:t>
            </a:r>
          </a:p>
        </p:txBody>
      </p:sp>
      <p:sp>
        <p:nvSpPr>
          <p:cNvPr id="7" name="TextBox 6"/>
          <p:cNvSpPr txBox="1"/>
          <p:nvPr/>
        </p:nvSpPr>
        <p:spPr>
          <a:xfrm>
            <a:off x="914400"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Under 1 second, always.</a:t>
            </a:r>
          </a:p>
        </p:txBody>
      </p:sp>
      <p:sp>
        <p:nvSpPr>
          <p:cNvPr id="8" name="TextBox 7"/>
          <p:cNvSpPr txBox="1"/>
          <p:nvPr/>
        </p:nvSpPr>
        <p:spPr>
          <a:xfrm>
            <a:off x="3111246"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3458718"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037"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733037"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Focused</a:t>
            </a:r>
          </a:p>
        </p:txBody>
      </p:sp>
      <p:sp>
        <p:nvSpPr>
          <p:cNvPr id="12" name="TextBox 11"/>
          <p:cNvSpPr txBox="1"/>
          <p:nvPr/>
        </p:nvSpPr>
        <p:spPr>
          <a:xfrm>
            <a:off x="3733037"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One hook, one concern.</a:t>
            </a:r>
          </a:p>
        </p:txBody>
      </p:sp>
      <p:sp>
        <p:nvSpPr>
          <p:cNvPr id="13" name="TextBox 12"/>
          <p:cNvSpPr txBox="1"/>
          <p:nvPr/>
        </p:nvSpPr>
        <p:spPr>
          <a:xfrm>
            <a:off x="5929883"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6277356"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6"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6551676"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Fail open</a:t>
            </a:r>
          </a:p>
        </p:txBody>
      </p:sp>
      <p:sp>
        <p:nvSpPr>
          <p:cNvPr id="17" name="TextBox 16"/>
          <p:cNvSpPr txBox="1"/>
          <p:nvPr/>
        </p:nvSpPr>
        <p:spPr>
          <a:xfrm>
            <a:off x="6551676"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Exit 0 on unknown tools.</a:t>
            </a:r>
          </a:p>
        </p:txBody>
      </p:sp>
      <p:sp>
        <p:nvSpPr>
          <p:cNvPr id="18" name="TextBox 17"/>
          <p:cNvSpPr txBox="1"/>
          <p:nvPr/>
        </p:nvSpPr>
        <p:spPr>
          <a:xfrm>
            <a:off x="8748522"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9095994"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0314"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9370314"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stderr only</a:t>
            </a:r>
          </a:p>
        </p:txBody>
      </p:sp>
      <p:sp>
        <p:nvSpPr>
          <p:cNvPr id="22" name="TextBox 21"/>
          <p:cNvSpPr txBox="1"/>
          <p:nvPr/>
        </p:nvSpPr>
        <p:spPr>
          <a:xfrm>
            <a:off x="9370314"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Messages never on stdout.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9.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2 - ARCHITECTURE</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The three-layer stack</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Each layer covers the failure mode of the one above.</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ok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CLAUDE.md</a:t>
            </a:r>
            <a:r>
              <a:rPr sz="1400" b="0">
                <a:solidFill>
                  <a:srgbClr val="ACACB4"/>
                </a:solidFill>
                <a:latin typeface="Instrument Sans"/>
              </a:rPr>
              <a:t>  -  the contract - context and conventions</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oc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Skills</a:t>
            </a:r>
            <a:r>
              <a:rPr sz="1400" b="0">
                <a:solidFill>
                  <a:srgbClr val="ACACB4"/>
                </a:solidFill>
                <a:latin typeface="Instrument Sans"/>
              </a:rPr>
              <a:t>  -  the execution path - how work gets done</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Hooks</a:t>
            </a:r>
            <a:r>
              <a:rPr sz="1400" b="0">
                <a:solidFill>
                  <a:srgbClr val="ACACB4"/>
                </a:solidFill>
                <a:latin typeface="Instrument Sans"/>
              </a:rPr>
              <a:t>  -  the hard boundary - rules that cannot drift</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audit-log hook live</a:t>
            </a:r>
          </a:p>
        </p:txBody>
      </p:sp>
      <p:pic>
        <p:nvPicPr>
          <p:cNvPr id="4" name="Picture 3" descr="bg_10.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Write audit-log.sh, wire settings.json</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Have Claude edit a file - watch the log</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Add a PreToolUse block, trigger it</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SKILLS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Custom commands are skills now</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legacy commands folder still works; skills are the recommended form.</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Recommended</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.claude/skills/review/SKILL.md becomes /review.</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fresh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Legacy compatible</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.claude/commands/review.md still works, but has fewer features.</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Human-only when needed</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disable-model-invocation: true keeps deploy/release skills explicit.</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Paste this: a human-invoked /test-this skill</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SKILL.md with frontmatter</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disable-model-invocation: true</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$ARGUMENTS as the file path</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793748"/>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1354836"/>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.claude/skills/test-this/SKILL.md: name test-this; disable-model-invocation: true; tools Read, Write, Edit, Bash. Body: write and run tests for $ARGUMENTS, covering happy path, edges, and errors.</a:t>
            </a:r>
          </a:p>
        </p:txBody>
      </p:sp>
      <p:sp>
        <p:nvSpPr>
          <p:cNvPr id="17" name="Rounded Rectangle 16"/>
          <p:cNvSpPr/>
          <p:nvPr/>
        </p:nvSpPr>
        <p:spPr>
          <a:xfrm>
            <a:off x="7040880" y="4226051"/>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4390643"/>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437235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610099"/>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/test-this src/utils/helpers.js</a:t>
            </a:r>
          </a:p>
        </p:txBody>
      </p:sp>
      <p:sp>
        <p:nvSpPr>
          <p:cNvPr id="21" name="Rectangle 2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3" name="TextBox 2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COMMANDS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Arguments and injection</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n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$ARGUMENTS</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Everything typed after the /command, as one string.</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$1, $2 positional</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Split parameters: /fix-issue 429 high -&gt; $1=429, $2=high.</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oc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@file references</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Pull a named file's content straight into the prompt.</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apps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!`cmd` injection</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Runs a shell command; its output lands in the prompt first.</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Syntax per 2026-07 docs - re-verify at delivery; treat injected shell output as untrusted input.</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COMMANDS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Command frontmatter controls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Three fields that decide what a command may touch and what it costs.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al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allowed-tools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Least privilege - a /review command gets read-only tools.</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par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model</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Pin a fast, cheap model for mechanical commands.</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Human-only gate</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disable-model-invocation for deploy and release.</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Field names (allowed-tools, model) per 2026-07 skills docs - re-verify at the delivery gate.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PATTERNS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Four human-invoked skills worth stealing</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/test-this</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Generate tests for a file - happy path, edges, errors.</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eye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/review</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Security, performance, and style pass with actionable fixes.</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rocket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/deploy-check</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Pre-deploy checklist: tests, no console.log, changelog.</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ook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/onboard</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Analyze a new codebase - stack, architecture, entry points.</a:t>
            </a:r>
          </a:p>
        </p:txBody>
      </p:sp>
      <p:sp>
        <p:nvSpPr>
          <p:cNvPr id="24" name="Rounded Rectangle 23"/>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eck_46B17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A coordinating skill can invoke specialized skills and compile one report.</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Command or skill?</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n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Stays a command</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One prompt file, no supporting assets</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You always invoke it yourself</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Cheap to write, trivial to read</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oc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Promote to a skill</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Needs scripts, references, templates</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should find it on its own</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Shared, versioned, eval-tested</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.claude/commands/git/pr.md invokes as /git:pr - subfolder namespacing keeps a 30-command library findable (verify at delivery).</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2 -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Human-invoked or model-invoked?</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er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Human-invoked skill</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disable-model-invocation: true</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Explicit /name invocation</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$ARGUMENTS for parameters</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park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Model-invoked skill</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Claude may load it when relevant</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Description matching is critical</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Reusable context or safe workflows</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KNOWLEDGE CHECK</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Block 2 review</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QUESTION</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THINK ABOUT...</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What do exit codes 0 and 2 mean?</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Advisory vs blocking</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How does a hook receive its data?</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Not environment variables</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Name two of the five handler types</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runs when the event fires</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Command vs skill - who decides when?</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Intent and invocation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LAB 2B - 30 MINUTES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Lab 2B: Hooks and Human-Invoked Skills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Hands-on: enforcement wired into your toolkit repo.</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ck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Format hook, advisory-then-blocking secret hook, matcher scoping, /review skill.</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30 minutes - if behind, stop after the blocking hook.</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Blocked write triggers a visible self-correction; matcher gap found and closed; committed.</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1.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LUNCH</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Lunch - back in 45</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2.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3 - 85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Advanced Skill Systems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From skills that exist to skills that are proven.</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MODEL</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skill maturity model</a:t>
            </a:r>
          </a:p>
        </p:txBody>
      </p:sp>
      <p:sp>
        <p:nvSpPr>
          <p:cNvPr id="4" name="Rounded Rectangle 3"/>
          <p:cNvSpPr/>
          <p:nvPr/>
        </p:nvSpPr>
        <p:spPr>
          <a:xfrm>
            <a:off x="640080" y="2651760"/>
            <a:ext cx="3392423"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2843783"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2843783"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L1: Prompt</a:t>
            </a:r>
          </a:p>
        </p:txBody>
      </p:sp>
      <p:sp>
        <p:nvSpPr>
          <p:cNvPr id="7" name="TextBox 6"/>
          <p:cNvSpPr txBox="1"/>
          <p:nvPr/>
        </p:nvSpPr>
        <p:spPr>
          <a:xfrm>
            <a:off x="914400" y="4114800"/>
            <a:ext cx="2843783"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Repeated from memory.</a:t>
            </a:r>
          </a:p>
        </p:txBody>
      </p:sp>
      <p:sp>
        <p:nvSpPr>
          <p:cNvPr id="8" name="TextBox 7"/>
          <p:cNvSpPr txBox="1"/>
          <p:nvPr/>
        </p:nvSpPr>
        <p:spPr>
          <a:xfrm>
            <a:off x="4050791"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4398264" y="2651760"/>
            <a:ext cx="3392423"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72583" y="2907791"/>
            <a:ext cx="2843783"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4672583" y="3566160"/>
            <a:ext cx="2843783"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L2: Skill</a:t>
            </a:r>
          </a:p>
        </p:txBody>
      </p:sp>
      <p:sp>
        <p:nvSpPr>
          <p:cNvPr id="12" name="TextBox 11"/>
          <p:cNvSpPr txBox="1"/>
          <p:nvPr/>
        </p:nvSpPr>
        <p:spPr>
          <a:xfrm>
            <a:off x="4672583" y="4114800"/>
            <a:ext cx="2843783"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SKILL.md + refs, in git.</a:t>
            </a:r>
          </a:p>
        </p:txBody>
      </p:sp>
      <p:sp>
        <p:nvSpPr>
          <p:cNvPr id="13" name="TextBox 12"/>
          <p:cNvSpPr txBox="1"/>
          <p:nvPr/>
        </p:nvSpPr>
        <p:spPr>
          <a:xfrm>
            <a:off x="7808975"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8156447" y="2651760"/>
            <a:ext cx="3392423"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0767" y="2907791"/>
            <a:ext cx="2843783"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8430767" y="3566160"/>
            <a:ext cx="2843783"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L3: System</a:t>
            </a:r>
          </a:p>
        </p:txBody>
      </p:sp>
      <p:sp>
        <p:nvSpPr>
          <p:cNvPr id="17" name="TextBox 16"/>
          <p:cNvSpPr txBox="1"/>
          <p:nvPr/>
        </p:nvSpPr>
        <p:spPr>
          <a:xfrm>
            <a:off x="8430767" y="4114800"/>
            <a:ext cx="2843783"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Evals, hooks, monitoring.</a:t>
            </a:r>
          </a:p>
        </p:txBody>
      </p:sp>
      <p:sp>
        <p:nvSpPr>
          <p:cNvPr id="18" name="Rectangle 1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0" name="TextBox 1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Uplift or encoded preference?</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ocket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Capability uplift</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Teaches Claude something it can't do</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May expire as models improve</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Test: does base model now match it?</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Encoded preference</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YOUR workflow, sequenced YOUR way</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Survives model upgrades</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Test: does it still match your process?</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SYSTEMS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patterns for skill systems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A pile of skills makes YOU the glue. Systems chain them.</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ook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Shared context</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Every skill reads the same CLAUDE.md and rules.</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are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Output as input</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One skill writes structured files, the next reads them.</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Scheduled</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Hooks and CI trigger skill chains automatically.</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Files are the API between skills - loose coupling, inspectable at every step.</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ADVANCED</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Skills that carry hooks</a:t>
            </a:r>
          </a:p>
        </p:txBody>
      </p:sp>
      <p:sp>
        <p:nvSpPr>
          <p:cNvPr id="4" name="Rounded Rectangle 3"/>
          <p:cNvSpPr/>
          <p:nvPr/>
        </p:nvSpPr>
        <p:spPr>
          <a:xfrm>
            <a:off x="640080" y="1828800"/>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212140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arn_2A2A30.png"/>
          <p:cNvPicPr>
            <a:picLocks noChangeAspect="1"/>
          </p:cNvPicPr>
          <p:nvPr/>
        </p:nvPicPr>
        <p:blipFill>
          <a:blip r:embed="rId2"/>
          <a:stretch>
            <a:fillRect/>
          </a:stretch>
        </p:blipFill>
        <p:spPr>
          <a:xfrm>
            <a:off x="1014984" y="2258568"/>
            <a:ext cx="292608" cy="292608"/>
          </a:xfrm>
          <a:prstGeom prst="rect">
            <a:avLst/>
          </a:prstGeom>
        </p:spPr>
      </p:pic>
      <p:sp>
        <p:nvSpPr>
          <p:cNvPr id="7" name="TextBox 6"/>
          <p:cNvSpPr txBox="1"/>
          <p:nvPr/>
        </p:nvSpPr>
        <p:spPr>
          <a:xfrm>
            <a:off x="1591056" y="1828800"/>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/careful</a:t>
            </a:r>
          </a:p>
        </p:txBody>
      </p:sp>
      <p:sp>
        <p:nvSpPr>
          <p:cNvPr id="8" name="TextBox 7"/>
          <p:cNvSpPr txBox="1"/>
          <p:nvPr/>
        </p:nvSpPr>
        <p:spPr>
          <a:xfrm>
            <a:off x="4434840" y="1828800"/>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Invoked skill registers PreToolUse blocks on rm -rf, force-push, DROP.</a:t>
            </a:r>
          </a:p>
        </p:txBody>
      </p:sp>
      <p:sp>
        <p:nvSpPr>
          <p:cNvPr id="9" name="Rounded Rectangle 8"/>
          <p:cNvSpPr/>
          <p:nvPr/>
        </p:nvSpPr>
        <p:spPr>
          <a:xfrm>
            <a:off x="640080" y="3127248"/>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k_2A2A30.png"/>
          <p:cNvPicPr>
            <a:picLocks noChangeAspect="1"/>
          </p:cNvPicPr>
          <p:nvPr/>
        </p:nvPicPr>
        <p:blipFill>
          <a:blip r:embed="rId3"/>
          <a:stretch>
            <a:fillRect/>
          </a:stretch>
        </p:blipFill>
        <p:spPr>
          <a:xfrm>
            <a:off x="1014984" y="3557015"/>
            <a:ext cx="292608" cy="292608"/>
          </a:xfrm>
          <a:prstGeom prst="rect">
            <a:avLst/>
          </a:prstGeom>
        </p:spPr>
      </p:pic>
      <p:sp>
        <p:nvSpPr>
          <p:cNvPr id="12" name="TextBox 11"/>
          <p:cNvSpPr txBox="1"/>
          <p:nvPr/>
        </p:nvSpPr>
        <p:spPr>
          <a:xfrm>
            <a:off x="1591056" y="3127248"/>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/freeze</a:t>
            </a:r>
          </a:p>
        </p:txBody>
      </p:sp>
      <p:sp>
        <p:nvSpPr>
          <p:cNvPr id="13" name="TextBox 12"/>
          <p:cNvSpPr txBox="1"/>
          <p:nvPr/>
        </p:nvSpPr>
        <p:spPr>
          <a:xfrm>
            <a:off x="4434840" y="3127248"/>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Blocks edits outside one directory during focused debugging.</a:t>
            </a:r>
          </a:p>
        </p:txBody>
      </p:sp>
      <p:sp>
        <p:nvSpPr>
          <p:cNvPr id="14" name="Rounded Rectangle 13"/>
          <p:cNvSpPr/>
          <p:nvPr/>
        </p:nvSpPr>
        <p:spPr>
          <a:xfrm>
            <a:off x="640080" y="4425696"/>
            <a:ext cx="10908792" cy="115214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471830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art_2A2A30.png"/>
          <p:cNvPicPr>
            <a:picLocks noChangeAspect="1"/>
          </p:cNvPicPr>
          <p:nvPr/>
        </p:nvPicPr>
        <p:blipFill>
          <a:blip r:embed="rId4"/>
          <a:stretch>
            <a:fillRect/>
          </a:stretch>
        </p:blipFill>
        <p:spPr>
          <a:xfrm>
            <a:off x="1014984" y="4855464"/>
            <a:ext cx="292608" cy="292608"/>
          </a:xfrm>
          <a:prstGeom prst="rect">
            <a:avLst/>
          </a:prstGeom>
        </p:spPr>
      </p:pic>
      <p:sp>
        <p:nvSpPr>
          <p:cNvPr id="17" name="TextBox 16"/>
          <p:cNvSpPr txBox="1"/>
          <p:nvPr/>
        </p:nvSpPr>
        <p:spPr>
          <a:xfrm>
            <a:off x="1591056" y="4425696"/>
            <a:ext cx="2743200" cy="115214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Usage metering</a:t>
            </a:r>
          </a:p>
        </p:txBody>
      </p:sp>
      <p:sp>
        <p:nvSpPr>
          <p:cNvPr id="18" name="TextBox 17"/>
          <p:cNvSpPr txBox="1"/>
          <p:nvPr/>
        </p:nvSpPr>
        <p:spPr>
          <a:xfrm>
            <a:off x="4434840" y="4425696"/>
            <a:ext cx="6903720" cy="115214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 PreToolUse hook logs which skills fire - finds under-triggering.</a:t>
            </a:r>
          </a:p>
        </p:txBody>
      </p:sp>
      <p:sp>
        <p:nvSpPr>
          <p:cNvPr id="19" name="Rounded Rectangle 18"/>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nfo_4C8DF0.png"/>
          <p:cNvPicPr>
            <a:picLocks noChangeAspect="1"/>
          </p:cNvPicPr>
          <p:nvPr/>
        </p:nvPicPr>
        <p:blipFill>
          <a:blip r:embed="rId5"/>
          <a:stretch>
            <a:fillRect/>
          </a:stretch>
        </p:blipFill>
        <p:spPr>
          <a:xfrm>
            <a:off x="877824" y="5907024"/>
            <a:ext cx="365760" cy="365760"/>
          </a:xfrm>
          <a:prstGeom prst="rect">
            <a:avLst/>
          </a:prstGeom>
        </p:spPr>
      </p:pic>
      <p:sp>
        <p:nvSpPr>
          <p:cNvPr id="21" name="TextBox 2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These hooks are session-scoped - they activate when the skill is invoked and vanish at session end.</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TESTING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skill testing loop</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Evaluate</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run test prompts</a:t>
            </a:r>
          </a:p>
        </p:txBody>
      </p:sp>
      <p:sp>
        <p:nvSpPr>
          <p:cNvPr id="8" name="Oval 7"/>
          <p:cNvSpPr/>
          <p:nvPr/>
        </p:nvSpPr>
        <p:spPr>
          <a:xfrm>
            <a:off x="3792626"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_F5F5F6.png"/>
          <p:cNvPicPr>
            <a:picLocks noChangeAspect="1"/>
          </p:cNvPicPr>
          <p:nvPr/>
        </p:nvPicPr>
        <p:blipFill>
          <a:blip r:embed="rId3"/>
          <a:stretch>
            <a:fillRect/>
          </a:stretch>
        </p:blipFill>
        <p:spPr>
          <a:xfrm>
            <a:off x="4268114" y="2926080"/>
            <a:ext cx="731520" cy="731520"/>
          </a:xfrm>
          <a:prstGeom prst="rect">
            <a:avLst/>
          </a:prstGeom>
        </p:spPr>
      </p:pic>
      <p:sp>
        <p:nvSpPr>
          <p:cNvPr id="10" name="TextBox 9"/>
          <p:cNvSpPr txBox="1"/>
          <p:nvPr/>
        </p:nvSpPr>
        <p:spPr>
          <a:xfrm>
            <a:off x="3564026"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Report</a:t>
            </a:r>
          </a:p>
        </p:txBody>
      </p:sp>
      <p:sp>
        <p:nvSpPr>
          <p:cNvPr id="11" name="TextBox 10"/>
          <p:cNvSpPr txBox="1"/>
          <p:nvPr/>
        </p:nvSpPr>
        <p:spPr>
          <a:xfrm>
            <a:off x="3564026"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pass/fail per prompt</a:t>
            </a:r>
          </a:p>
        </p:txBody>
      </p:sp>
      <p:sp>
        <p:nvSpPr>
          <p:cNvPr id="12" name="Oval 11"/>
          <p:cNvSpPr/>
          <p:nvPr/>
        </p:nvSpPr>
        <p:spPr>
          <a:xfrm>
            <a:off x="6716572"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n_F5F5F6.png"/>
          <p:cNvPicPr>
            <a:picLocks noChangeAspect="1"/>
          </p:cNvPicPr>
          <p:nvPr/>
        </p:nvPicPr>
        <p:blipFill>
          <a:blip r:embed="rId4"/>
          <a:stretch>
            <a:fillRect/>
          </a:stretch>
        </p:blipFill>
        <p:spPr>
          <a:xfrm>
            <a:off x="7192060" y="2926080"/>
            <a:ext cx="731520" cy="731520"/>
          </a:xfrm>
          <a:prstGeom prst="rect">
            <a:avLst/>
          </a:prstGeom>
        </p:spPr>
      </p:pic>
      <p:sp>
        <p:nvSpPr>
          <p:cNvPr id="14" name="TextBox 13"/>
          <p:cNvSpPr txBox="1"/>
          <p:nvPr/>
        </p:nvSpPr>
        <p:spPr>
          <a:xfrm>
            <a:off x="6487972"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Fix</a:t>
            </a:r>
          </a:p>
        </p:txBody>
      </p:sp>
      <p:sp>
        <p:nvSpPr>
          <p:cNvPr id="15" name="TextBox 14"/>
          <p:cNvSpPr txBox="1"/>
          <p:nvPr/>
        </p:nvSpPr>
        <p:spPr>
          <a:xfrm>
            <a:off x="6487972"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sharpen the skill</a:t>
            </a:r>
          </a:p>
        </p:txBody>
      </p:sp>
      <p:sp>
        <p:nvSpPr>
          <p:cNvPr id="16" name="Oval 15"/>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_F5F5F6.png"/>
          <p:cNvPicPr>
            <a:picLocks noChangeAspect="1"/>
          </p:cNvPicPr>
          <p:nvPr/>
        </p:nvPicPr>
        <p:blipFill>
          <a:blip r:embed="rId5"/>
          <a:stretch>
            <a:fillRect/>
          </a:stretch>
        </p:blipFill>
        <p:spPr>
          <a:xfrm>
            <a:off x="10116007" y="2926080"/>
            <a:ext cx="731520" cy="731520"/>
          </a:xfrm>
          <a:prstGeom prst="rect">
            <a:avLst/>
          </a:prstGeom>
        </p:spPr>
      </p:pic>
      <p:sp>
        <p:nvSpPr>
          <p:cNvPr id="18" name="TextBox 17"/>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Retest</a:t>
            </a:r>
          </a:p>
        </p:txBody>
      </p:sp>
      <p:sp>
        <p:nvSpPr>
          <p:cNvPr id="19" name="TextBox 18"/>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loop until green</a:t>
            </a:r>
          </a:p>
        </p:txBody>
      </p:sp>
      <p:sp>
        <p:nvSpPr>
          <p:cNvPr id="20" name="TextBox 19"/>
          <p:cNvSpPr txBox="1"/>
          <p:nvPr/>
        </p:nvSpPr>
        <p:spPr>
          <a:xfrm>
            <a:off x="2760421"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1" name="TextBox 20"/>
          <p:cNvSpPr txBox="1"/>
          <p:nvPr/>
        </p:nvSpPr>
        <p:spPr>
          <a:xfrm>
            <a:off x="568436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2" name="TextBox 21"/>
          <p:cNvSpPr txBox="1"/>
          <p:nvPr/>
        </p:nvSpPr>
        <p:spPr>
          <a:xfrm>
            <a:off x="8608314"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DIAGNOSIS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Symptom to fix, fast</a:t>
            </a:r>
          </a:p>
        </p:txBody>
      </p:sp>
      <p:sp>
        <p:nvSpPr>
          <p:cNvPr id="4" name="Rounded Rectangle 3"/>
          <p:cNvSpPr/>
          <p:nvPr/>
        </p:nvSpPr>
        <p:spPr>
          <a:xfrm>
            <a:off x="640080" y="1828800"/>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3487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x_E26B6B.png"/>
          <p:cNvPicPr>
            <a:picLocks noChangeAspect="1"/>
          </p:cNvPicPr>
          <p:nvPr/>
        </p:nvPicPr>
        <p:blipFill>
          <a:blip r:embed="rId2"/>
          <a:stretch>
            <a:fillRect/>
          </a:stretch>
        </p:blipFill>
        <p:spPr>
          <a:xfrm>
            <a:off x="1014984" y="2072030"/>
            <a:ext cx="292608" cy="292608"/>
          </a:xfrm>
          <a:prstGeom prst="rect">
            <a:avLst/>
          </a:prstGeom>
        </p:spPr>
      </p:pic>
      <p:sp>
        <p:nvSpPr>
          <p:cNvPr id="7" name="TextBox 6"/>
          <p:cNvSpPr txBox="1"/>
          <p:nvPr/>
        </p:nvSpPr>
        <p:spPr>
          <a:xfrm>
            <a:off x="1591056" y="1828800"/>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Never activates</a:t>
            </a:r>
          </a:p>
        </p:txBody>
      </p:sp>
      <p:sp>
        <p:nvSpPr>
          <p:cNvPr id="8" name="TextBox 7"/>
          <p:cNvSpPr txBox="1"/>
          <p:nvPr/>
        </p:nvSpPr>
        <p:spPr>
          <a:xfrm>
            <a:off x="4434840" y="1828800"/>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Add 5+ trigger phrases to the description.</a:t>
            </a:r>
          </a:p>
        </p:txBody>
      </p:sp>
      <p:sp>
        <p:nvSpPr>
          <p:cNvPr id="9" name="Rounded Rectangle 8"/>
          <p:cNvSpPr/>
          <p:nvPr/>
        </p:nvSpPr>
        <p:spPr>
          <a:xfrm>
            <a:off x="640080" y="2754172"/>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86024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warn_2A2A30.png"/>
          <p:cNvPicPr>
            <a:picLocks noChangeAspect="1"/>
          </p:cNvPicPr>
          <p:nvPr/>
        </p:nvPicPr>
        <p:blipFill>
          <a:blip r:embed="rId3"/>
          <a:stretch>
            <a:fillRect/>
          </a:stretch>
        </p:blipFill>
        <p:spPr>
          <a:xfrm>
            <a:off x="1014984" y="2997403"/>
            <a:ext cx="292608" cy="292608"/>
          </a:xfrm>
          <a:prstGeom prst="rect">
            <a:avLst/>
          </a:prstGeom>
        </p:spPr>
      </p:pic>
      <p:sp>
        <p:nvSpPr>
          <p:cNvPr id="12" name="TextBox 11"/>
          <p:cNvSpPr txBox="1"/>
          <p:nvPr/>
        </p:nvSpPr>
        <p:spPr>
          <a:xfrm>
            <a:off x="1591056" y="2754172"/>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Wrong skill fires</a:t>
            </a:r>
          </a:p>
        </p:txBody>
      </p:sp>
      <p:sp>
        <p:nvSpPr>
          <p:cNvPr id="13" name="TextBox 12"/>
          <p:cNvSpPr txBox="1"/>
          <p:nvPr/>
        </p:nvSpPr>
        <p:spPr>
          <a:xfrm>
            <a:off x="4434840" y="2754172"/>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Add 'do NOT use for...' boundaries.</a:t>
            </a:r>
          </a:p>
        </p:txBody>
      </p:sp>
      <p:sp>
        <p:nvSpPr>
          <p:cNvPr id="14" name="Rounded Rectangle 13"/>
          <p:cNvSpPr/>
          <p:nvPr/>
        </p:nvSpPr>
        <p:spPr>
          <a:xfrm>
            <a:off x="640080" y="3679545"/>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arget_2A2A30.png"/>
          <p:cNvPicPr>
            <a:picLocks noChangeAspect="1"/>
          </p:cNvPicPr>
          <p:nvPr/>
        </p:nvPicPr>
        <p:blipFill>
          <a:blip r:embed="rId4"/>
          <a:stretch>
            <a:fillRect/>
          </a:stretch>
        </p:blipFill>
        <p:spPr>
          <a:xfrm>
            <a:off x="1014984" y="3922776"/>
            <a:ext cx="292608" cy="292608"/>
          </a:xfrm>
          <a:prstGeom prst="rect">
            <a:avLst/>
          </a:prstGeom>
        </p:spPr>
      </p:pic>
      <p:sp>
        <p:nvSpPr>
          <p:cNvPr id="17" name="TextBox 16"/>
          <p:cNvSpPr txBox="1"/>
          <p:nvPr/>
        </p:nvSpPr>
        <p:spPr>
          <a:xfrm>
            <a:off x="1591056" y="3679545"/>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Close but not right</a:t>
            </a:r>
          </a:p>
        </p:txBody>
      </p:sp>
      <p:sp>
        <p:nvSpPr>
          <p:cNvPr id="18" name="TextBox 17"/>
          <p:cNvSpPr txBox="1"/>
          <p:nvPr/>
        </p:nvSpPr>
        <p:spPr>
          <a:xfrm>
            <a:off x="4434840" y="3679545"/>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Replace vague instructions with testable ones.</a:t>
            </a:r>
          </a:p>
        </p:txBody>
      </p:sp>
      <p:sp>
        <p:nvSpPr>
          <p:cNvPr id="19" name="Rounded Rectangle 18"/>
          <p:cNvSpPr/>
          <p:nvPr/>
        </p:nvSpPr>
        <p:spPr>
          <a:xfrm>
            <a:off x="640080" y="4604918"/>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7109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oc_2A2A30.png"/>
          <p:cNvPicPr>
            <a:picLocks noChangeAspect="1"/>
          </p:cNvPicPr>
          <p:nvPr/>
        </p:nvPicPr>
        <p:blipFill>
          <a:blip r:embed="rId5"/>
          <a:stretch>
            <a:fillRect/>
          </a:stretch>
        </p:blipFill>
        <p:spPr>
          <a:xfrm>
            <a:off x="1014984" y="4848148"/>
            <a:ext cx="292608" cy="292608"/>
          </a:xfrm>
          <a:prstGeom prst="rect">
            <a:avLst/>
          </a:prstGeom>
        </p:spPr>
      </p:pic>
      <p:sp>
        <p:nvSpPr>
          <p:cNvPr id="22" name="TextBox 21"/>
          <p:cNvSpPr txBox="1"/>
          <p:nvPr/>
        </p:nvSpPr>
        <p:spPr>
          <a:xfrm>
            <a:off x="1591056" y="4604918"/>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Fails on real data</a:t>
            </a:r>
          </a:p>
        </p:txBody>
      </p:sp>
      <p:sp>
        <p:nvSpPr>
          <p:cNvPr id="23" name="TextBox 22"/>
          <p:cNvSpPr txBox="1"/>
          <p:nvPr/>
        </p:nvSpPr>
        <p:spPr>
          <a:xfrm>
            <a:off x="4434840" y="4604918"/>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Add edge-case handling for messy input.</a:t>
            </a:r>
          </a:p>
        </p:txBody>
      </p:sp>
      <p:sp>
        <p:nvSpPr>
          <p:cNvPr id="24" name="Rounded Rectangle 23"/>
          <p:cNvSpPr/>
          <p:nvPr/>
        </p:nvSpPr>
        <p:spPr>
          <a:xfrm>
            <a:off x="640080" y="5530291"/>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5636361"/>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hat_2A2A30.png"/>
          <p:cNvPicPr>
            <a:picLocks noChangeAspect="1"/>
          </p:cNvPicPr>
          <p:nvPr/>
        </p:nvPicPr>
        <p:blipFill>
          <a:blip r:embed="rId6"/>
          <a:stretch>
            <a:fillRect/>
          </a:stretch>
        </p:blipFill>
        <p:spPr>
          <a:xfrm>
            <a:off x="1014984" y="5773521"/>
            <a:ext cx="292608" cy="292608"/>
          </a:xfrm>
          <a:prstGeom prst="rect">
            <a:avLst/>
          </a:prstGeom>
        </p:spPr>
      </p:pic>
      <p:sp>
        <p:nvSpPr>
          <p:cNvPr id="27" name="TextBox 26"/>
          <p:cNvSpPr txBox="1"/>
          <p:nvPr/>
        </p:nvSpPr>
        <p:spPr>
          <a:xfrm>
            <a:off x="1591056" y="5530291"/>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Adds extra commentary</a:t>
            </a:r>
          </a:p>
        </p:txBody>
      </p:sp>
      <p:sp>
        <p:nvSpPr>
          <p:cNvPr id="28" name="TextBox 27"/>
          <p:cNvSpPr txBox="1"/>
          <p:nvPr/>
        </p:nvSpPr>
        <p:spPr>
          <a:xfrm>
            <a:off x="4434840" y="5530291"/>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Add an 'output ONLY X' constraint.</a:t>
            </a:r>
          </a:p>
        </p:txBody>
      </p:sp>
      <p:sp>
        <p:nvSpPr>
          <p:cNvPr id="29" name="Rectangle 2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1" name="TextBox 3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BENCHMARKING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A/B: is your skill helping?</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Same prompts, twice - with the skill and without.</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With skill</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Your instructions steer the output.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par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Baseline</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Raw Claude - improves with every model release.</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ale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Blind judge</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separate agent picks the winner, unbiased.</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If baseline wins, retire the skill - an outdated skill can hold a newer model back.</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STATISTICS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One run is an anecdote</a:t>
            </a:r>
          </a:p>
        </p:txBody>
      </p:sp>
      <p:sp>
        <p:nvSpPr>
          <p:cNvPr id="4" name="Rounded Rectangle 3"/>
          <p:cNvSpPr/>
          <p:nvPr/>
        </p:nvSpPr>
        <p:spPr>
          <a:xfrm>
            <a:off x="640080"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Run it 5x</a:t>
            </a:r>
          </a:p>
        </p:txBody>
      </p:sp>
      <p:sp>
        <p:nvSpPr>
          <p:cNvPr id="7" name="TextBox 6"/>
          <p:cNvSpPr txBox="1"/>
          <p:nvPr/>
        </p:nvSpPr>
        <p:spPr>
          <a:xfrm>
            <a:off x="914400"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Same eval, five times.</a:t>
            </a:r>
          </a:p>
        </p:txBody>
      </p:sp>
      <p:sp>
        <p:nvSpPr>
          <p:cNvPr id="8" name="TextBox 7"/>
          <p:cNvSpPr txBox="1"/>
          <p:nvPr/>
        </p:nvSpPr>
        <p:spPr>
          <a:xfrm>
            <a:off x="3111246"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3458718"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037"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733037"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See the spread</a:t>
            </a:r>
          </a:p>
        </p:txBody>
      </p:sp>
      <p:sp>
        <p:nvSpPr>
          <p:cNvPr id="12" name="TextBox 11"/>
          <p:cNvSpPr txBox="1"/>
          <p:nvPr/>
        </p:nvSpPr>
        <p:spPr>
          <a:xfrm>
            <a:off x="3733037"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6/8, 7/8, 5/8 - normal.</a:t>
            </a:r>
          </a:p>
        </p:txBody>
      </p:sp>
      <p:sp>
        <p:nvSpPr>
          <p:cNvPr id="13" name="TextBox 12"/>
          <p:cNvSpPr txBox="1"/>
          <p:nvPr/>
        </p:nvSpPr>
        <p:spPr>
          <a:xfrm>
            <a:off x="5929883"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6277356"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1676"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6551676"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Use the band</a:t>
            </a:r>
          </a:p>
        </p:txBody>
      </p:sp>
      <p:sp>
        <p:nvSpPr>
          <p:cNvPr id="17" name="TextBox 16"/>
          <p:cNvSpPr txBox="1"/>
          <p:nvPr/>
        </p:nvSpPr>
        <p:spPr>
          <a:xfrm>
            <a:off x="6551676"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Report the min-max.</a:t>
            </a:r>
          </a:p>
        </p:txBody>
      </p:sp>
      <p:sp>
        <p:nvSpPr>
          <p:cNvPr id="18" name="TextBox 17"/>
          <p:cNvSpPr txBox="1"/>
          <p:nvPr/>
        </p:nvSpPr>
        <p:spPr>
          <a:xfrm>
            <a:off x="8748522"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9095994" y="2651760"/>
            <a:ext cx="2452878"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0314" y="2907791"/>
            <a:ext cx="1904238"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9370314" y="3566160"/>
            <a:ext cx="1904238"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Then compare</a:t>
            </a:r>
          </a:p>
        </p:txBody>
      </p:sp>
      <p:sp>
        <p:nvSpPr>
          <p:cNvPr id="22" name="TextBox 21"/>
          <p:cNvSpPr txBox="1"/>
          <p:nvPr/>
        </p:nvSpPr>
        <p:spPr>
          <a:xfrm>
            <a:off x="9370314" y="4114800"/>
            <a:ext cx="1904238"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Trust gaps beyond the band.</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3 - TOOLING</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skill-creator: the meta-skill</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Anthropic's official plugin - use AI to build and test AI automation.</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en_2A2A30.png"/>
          <p:cNvPicPr>
            <a:picLocks noChangeAspect="1"/>
          </p:cNvPicPr>
          <p:nvPr/>
        </p:nvPicPr>
        <p:blipFill>
          <a:blip r:embed="rId3"/>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Create</a:t>
            </a:r>
            <a:r>
              <a:rPr sz="1400" b="0">
                <a:solidFill>
                  <a:srgbClr val="ACACB4"/>
                </a:solidFill>
                <a:latin typeface="Instrument Sans"/>
              </a:rPr>
              <a:t>  -  scaffold a well-structured skill</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arget_2A2A30.png"/>
          <p:cNvPicPr>
            <a:picLocks noChangeAspect="1"/>
          </p:cNvPicPr>
          <p:nvPr/>
        </p:nvPicPr>
        <p:blipFill>
          <a:blip r:embed="rId4"/>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Improve</a:t>
            </a:r>
            <a:r>
              <a:rPr sz="1400" b="0">
                <a:solidFill>
                  <a:srgbClr val="ACACB4"/>
                </a:solidFill>
                <a:latin typeface="Instrument Sans"/>
              </a:rPr>
              <a:t>  -  tune descriptions that under-trigger</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5"/>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Evaluate</a:t>
            </a:r>
            <a:r>
              <a:rPr sz="1400" b="0">
                <a:solidFill>
                  <a:srgbClr val="ACACB4"/>
                </a:solidFill>
                <a:latin typeface="Instrument Sans"/>
              </a:rPr>
              <a:t>  -  write and run evals, no code</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art_2A2A30.png"/>
          <p:cNvPicPr>
            <a:picLocks noChangeAspect="1"/>
          </p:cNvPicPr>
          <p:nvPr/>
        </p:nvPicPr>
        <p:blipFill>
          <a:blip r:embed="rId6"/>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Benchmark</a:t>
            </a:r>
            <a:r>
              <a:rPr sz="1400" b="0">
                <a:solidFill>
                  <a:srgbClr val="ACACB4"/>
                </a:solidFill>
                <a:latin typeface="Instrument Sans"/>
              </a:rPr>
              <a:t>  -  pass rate, time, tokens vs baseline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eval your skill</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Should-trigger and should-not lists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Recording pass/fail honestly</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Description fixes from failures</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an eval set for my code-review skill: 5 prompts that SHOULD trigger it and 3 that should NOT. Run each, report which fired correctly as a pass/fail table.</a:t>
            </a:r>
          </a:p>
        </p:txBody>
      </p:sp>
      <p:sp>
        <p:nvSpPr>
          <p:cNvPr id="17" name="Rounded Rectangle 16"/>
          <p:cNvSpPr/>
          <p:nvPr/>
        </p:nvSpPr>
        <p:spPr>
          <a:xfrm>
            <a:off x="7040880" y="3980688"/>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364736"/>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Analyze the failures and propose one improved description. Show old vs new side by side.</a:t>
            </a:r>
          </a:p>
        </p:txBody>
      </p:sp>
      <p:sp>
        <p:nvSpPr>
          <p:cNvPr id="21" name="Rectangle 2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3" name="TextBox 2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3 - HORIZON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Skills become specifications</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Where Anthropic says this is going.</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Today a SKILL.md tells Claude HOW - step-by-step procedure.</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Tomorrow it may only state WHAT - the model finds the how.</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Your evals already describe the what. They are future-proof.</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eval and benchmark live</a:t>
            </a:r>
          </a:p>
        </p:txBody>
      </p:sp>
      <p:pic>
        <p:nvPicPr>
          <p:cNvPr id="4" name="Picture 3" descr="bg_14.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Run the eval set - see pass/fail</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Benchmark: skill vs raw baseline</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Fix the description, rerun, compare</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KNOWLEDGE CHECK</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Block 3 review</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QUESTION</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THINK ABOUT...</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Name the three maturity levels</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Where value compounds</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Uplift vs preference - which expires?</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model releases change</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What makes the A/B judge honest?</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Bias removal</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What are files, in a skill system?</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interface between skills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LAB 2C - 30 MINUTES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2C: Advanced Skill Workflows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Hands-on: prove your skill earns its place.</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Eval set (5+5), a 5-run variance band, benchmark verdict, improved description.</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30 minutes - if behind, run evals and the variance band, skip the benchmark.</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art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Variance band recorded; verdict uses the band, not a single run; all in the repo.</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5.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BREAK</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Back in 10 - then we ship it</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6.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BLOCK 4 - 70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Plugins &amp; Marketplaces</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Package your standards and ship them to the team.</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BLOCK 4 -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A plugin bundles your extension stack</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Everything from today, packaged as one installable unit.</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_2A2A30.png"/>
          <p:cNvPicPr>
            <a:picLocks noChangeAspect="1"/>
          </p:cNvPicPr>
          <p:nvPr/>
        </p:nvPicPr>
        <p:blipFill>
          <a:blip r:embed="rId3"/>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Skills &amp; commands</a:t>
            </a:r>
            <a:r>
              <a:rPr sz="1400" b="0">
                <a:solidFill>
                  <a:srgbClr val="ACACB4"/>
                </a:solidFill>
                <a:latin typeface="Instrument Sans"/>
              </a:rPr>
              <a:t>  -  recommended skills plus legacy commands</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ople_2A2A30.png"/>
          <p:cNvPicPr>
            <a:picLocks noChangeAspect="1"/>
          </p:cNvPicPr>
          <p:nvPr/>
        </p:nvPicPr>
        <p:blipFill>
          <a:blip r:embed="rId4"/>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Agents</a:t>
            </a:r>
            <a:r>
              <a:rPr sz="1400" b="0">
                <a:solidFill>
                  <a:srgbClr val="ACACB4"/>
                </a:solidFill>
                <a:latin typeface="Instrument Sans"/>
              </a:rPr>
              <a:t>  -  specialized subagents, namespaced</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5"/>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Hooks</a:t>
            </a:r>
            <a:r>
              <a:rPr sz="1400" b="0">
                <a:solidFill>
                  <a:srgbClr val="ACACB4"/>
                </a:solidFill>
                <a:latin typeface="Instrument Sans"/>
              </a:rPr>
              <a:t>  -  event-driven enforcement on enable</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hare_2A2A30.png"/>
          <p:cNvPicPr>
            <a:picLocks noChangeAspect="1"/>
          </p:cNvPicPr>
          <p:nvPr/>
        </p:nvPicPr>
        <p:blipFill>
          <a:blip r:embed="rId6"/>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MCP &amp; LSP</a:t>
            </a:r>
            <a:r>
              <a:rPr sz="1400" b="0">
                <a:solidFill>
                  <a:srgbClr val="ACACB4"/>
                </a:solidFill>
                <a:latin typeface="Instrument Sans"/>
              </a:rPr>
              <a:t>  -  external tools and code intelligence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MCP PREVIEW</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MCP in one slide (Day 3 deep)</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The protocol that connects Claude to external tools.</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ar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One standard</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Build one server, any MCP client can use it.</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oc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Config</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.mcp.json at project root; /mcp verifies connection.</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pps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In plugins</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Plugins can ship preconfigured MCP servers.</a:t>
            </a:r>
          </a:p>
        </p:txBody>
      </p:sp>
      <p:sp>
        <p:nvSpPr>
          <p:cNvPr id="20" name="Rounded Rectangle 19"/>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0A93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Tool search defers MCP tool schemas by default; inspect server instructions, data access, and any alwaysLoad exceptions.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EVALUATION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Inspect before you install</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er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Publisher and provenance</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Who owns it, where is the source, and is the release maintained?</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pps_2A2A30.png"/>
          <p:cNvPicPr>
            <a:picLocks noChangeAspect="1"/>
          </p:cNvPicPr>
          <p:nvPr/>
        </p:nvPicPr>
        <p:blipFill>
          <a:blip r:embed="rId3"/>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Components</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List skills, agents, hooks, scripts, MCP/LSP servers, and dependencies.</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ock_2A2A30.png"/>
          <p:cNvPicPr>
            <a:picLocks noChangeAspect="1"/>
          </p:cNvPicPr>
          <p:nvPr/>
        </p:nvPicPr>
        <p:blipFill>
          <a:blip r:embed="rId4"/>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Authority</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can execute, which credentials it inherits, and which files or commands it can touch?</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hare_2A2A30.png"/>
          <p:cNvPicPr>
            <a:picLocks noChangeAspect="1"/>
          </p:cNvPicPr>
          <p:nvPr/>
        </p:nvPicPr>
        <p:blipFill>
          <a:blip r:embed="rId5"/>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Data flow</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leaves the machine, which provider receives it, and where state is stored?</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refresh_2A2A30.png"/>
          <p:cNvPicPr>
            <a:picLocks noChangeAspect="1"/>
          </p:cNvPicPr>
          <p:nvPr/>
        </p:nvPicPr>
        <p:blipFill>
          <a:blip r:embed="rId6"/>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Lifecycle</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Version pinning, auto-update behavior, disable/uninstall path, and rollback.</a:t>
            </a:r>
          </a:p>
        </p:txBody>
      </p:sp>
      <p:sp>
        <p:nvSpPr>
          <p:cNvPr id="29" name="Rounded Rectangle 28"/>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warn_E0A93A.png"/>
          <p:cNvPicPr>
            <a:picLocks noChangeAspect="1"/>
          </p:cNvPicPr>
          <p:nvPr/>
        </p:nvPicPr>
        <p:blipFill>
          <a:blip r:embed="rId7"/>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 marketplace is a catalog, not a security boundary. “Official marketplace” does not make every publisher Anthropic.</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MECHANICS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From browse to running</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ye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Browse</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/plugin Discover tab</a:t>
            </a:r>
          </a:p>
        </p:txBody>
      </p:sp>
      <p:sp>
        <p:nvSpPr>
          <p:cNvPr id="8" name="Oval 7"/>
          <p:cNvSpPr/>
          <p:nvPr/>
        </p:nvSpPr>
        <p:spPr>
          <a:xfrm>
            <a:off x="3792626"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ocket_F5F5F6.png"/>
          <p:cNvPicPr>
            <a:picLocks noChangeAspect="1"/>
          </p:cNvPicPr>
          <p:nvPr/>
        </p:nvPicPr>
        <p:blipFill>
          <a:blip r:embed="rId3"/>
          <a:stretch>
            <a:fillRect/>
          </a:stretch>
        </p:blipFill>
        <p:spPr>
          <a:xfrm>
            <a:off x="4268114" y="2926080"/>
            <a:ext cx="731520" cy="731520"/>
          </a:xfrm>
          <a:prstGeom prst="rect">
            <a:avLst/>
          </a:prstGeom>
        </p:spPr>
      </p:pic>
      <p:sp>
        <p:nvSpPr>
          <p:cNvPr id="10" name="TextBox 9"/>
          <p:cNvSpPr txBox="1"/>
          <p:nvPr/>
        </p:nvSpPr>
        <p:spPr>
          <a:xfrm>
            <a:off x="3564026"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Install</a:t>
            </a:r>
          </a:p>
        </p:txBody>
      </p:sp>
      <p:sp>
        <p:nvSpPr>
          <p:cNvPr id="11" name="TextBox 10"/>
          <p:cNvSpPr txBox="1"/>
          <p:nvPr/>
        </p:nvSpPr>
        <p:spPr>
          <a:xfrm>
            <a:off x="3564026"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name@marketplace</a:t>
            </a:r>
          </a:p>
        </p:txBody>
      </p:sp>
      <p:sp>
        <p:nvSpPr>
          <p:cNvPr id="12" name="Oval 11"/>
          <p:cNvSpPr/>
          <p:nvPr/>
        </p:nvSpPr>
        <p:spPr>
          <a:xfrm>
            <a:off x="6716572"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F5F5F6.png"/>
          <p:cNvPicPr>
            <a:picLocks noChangeAspect="1"/>
          </p:cNvPicPr>
          <p:nvPr/>
        </p:nvPicPr>
        <p:blipFill>
          <a:blip r:embed="rId4"/>
          <a:stretch>
            <a:fillRect/>
          </a:stretch>
        </p:blipFill>
        <p:spPr>
          <a:xfrm>
            <a:off x="7192060" y="2926080"/>
            <a:ext cx="731520" cy="731520"/>
          </a:xfrm>
          <a:prstGeom prst="rect">
            <a:avLst/>
          </a:prstGeom>
        </p:spPr>
      </p:pic>
      <p:sp>
        <p:nvSpPr>
          <p:cNvPr id="14" name="TextBox 13"/>
          <p:cNvSpPr txBox="1"/>
          <p:nvPr/>
        </p:nvSpPr>
        <p:spPr>
          <a:xfrm>
            <a:off x="6487972"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Verify</a:t>
            </a:r>
          </a:p>
        </p:txBody>
      </p:sp>
      <p:sp>
        <p:nvSpPr>
          <p:cNvPr id="15" name="TextBox 14"/>
          <p:cNvSpPr txBox="1"/>
          <p:nvPr/>
        </p:nvSpPr>
        <p:spPr>
          <a:xfrm>
            <a:off x="6487972"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/plugin list or claude plugin list</a:t>
            </a:r>
          </a:p>
        </p:txBody>
      </p:sp>
      <p:sp>
        <p:nvSpPr>
          <p:cNvPr id="16" name="Oval 15"/>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park_F5F5F6.png"/>
          <p:cNvPicPr>
            <a:picLocks noChangeAspect="1"/>
          </p:cNvPicPr>
          <p:nvPr/>
        </p:nvPicPr>
        <p:blipFill>
          <a:blip r:embed="rId5"/>
          <a:stretch>
            <a:fillRect/>
          </a:stretch>
        </p:blipFill>
        <p:spPr>
          <a:xfrm>
            <a:off x="10116007" y="2926080"/>
            <a:ext cx="731520" cy="731520"/>
          </a:xfrm>
          <a:prstGeom prst="rect">
            <a:avLst/>
          </a:prstGeom>
        </p:spPr>
      </p:pic>
      <p:sp>
        <p:nvSpPr>
          <p:cNvPr id="18" name="TextBox 17"/>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Use</a:t>
            </a:r>
          </a:p>
        </p:txBody>
      </p:sp>
      <p:sp>
        <p:nvSpPr>
          <p:cNvPr id="19" name="TextBox 18"/>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namespaced commands</a:t>
            </a:r>
          </a:p>
        </p:txBody>
      </p:sp>
      <p:sp>
        <p:nvSpPr>
          <p:cNvPr id="20" name="TextBox 19"/>
          <p:cNvSpPr txBox="1"/>
          <p:nvPr/>
        </p:nvSpPr>
        <p:spPr>
          <a:xfrm>
            <a:off x="2760421"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1" name="TextBox 20"/>
          <p:cNvSpPr txBox="1"/>
          <p:nvPr/>
        </p:nvSpPr>
        <p:spPr>
          <a:xfrm>
            <a:off x="568436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2" name="TextBox 21"/>
          <p:cNvSpPr txBox="1"/>
          <p:nvPr/>
        </p:nvSpPr>
        <p:spPr>
          <a:xfrm>
            <a:off x="8608314"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AUTHORING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Author a plugin in five steps</a:t>
            </a:r>
          </a:p>
        </p:txBody>
      </p:sp>
      <p:sp>
        <p:nvSpPr>
          <p:cNvPr id="4" name="Oval 3"/>
          <p:cNvSpPr/>
          <p:nvPr/>
        </p:nvSpPr>
        <p:spPr>
          <a:xfrm>
            <a:off x="868680"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eck_F5F5F6.png"/>
          <p:cNvPicPr>
            <a:picLocks noChangeAspect="1"/>
          </p:cNvPicPr>
          <p:nvPr/>
        </p:nvPicPr>
        <p:blipFill>
          <a:blip r:embed="rId2"/>
          <a:stretch>
            <a:fillRect/>
          </a:stretch>
        </p:blipFill>
        <p:spPr>
          <a:xfrm>
            <a:off x="1344168" y="2926080"/>
            <a:ext cx="731520" cy="731520"/>
          </a:xfrm>
          <a:prstGeom prst="rect">
            <a:avLst/>
          </a:prstGeom>
        </p:spPr>
      </p:pic>
      <p:sp>
        <p:nvSpPr>
          <p:cNvPr id="6" name="TextBox 5"/>
          <p:cNvSpPr txBox="1"/>
          <p:nvPr/>
        </p:nvSpPr>
        <p:spPr>
          <a:xfrm>
            <a:off x="640080"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init</a:t>
            </a:r>
          </a:p>
        </p:txBody>
      </p:sp>
      <p:sp>
        <p:nvSpPr>
          <p:cNvPr id="7" name="TextBox 6"/>
          <p:cNvSpPr txBox="1"/>
          <p:nvPr/>
        </p:nvSpPr>
        <p:spPr>
          <a:xfrm>
            <a:off x="640080"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Create a skills-directory scaffold.</a:t>
            </a:r>
          </a:p>
        </p:txBody>
      </p:sp>
      <p:sp>
        <p:nvSpPr>
          <p:cNvPr id="8" name="Oval 7"/>
          <p:cNvSpPr/>
          <p:nvPr/>
        </p:nvSpPr>
        <p:spPr>
          <a:xfrm>
            <a:off x="306163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eck_F5F5F6.png"/>
          <p:cNvPicPr>
            <a:picLocks noChangeAspect="1"/>
          </p:cNvPicPr>
          <p:nvPr/>
        </p:nvPicPr>
        <p:blipFill>
          <a:blip r:embed="rId2"/>
          <a:stretch>
            <a:fillRect/>
          </a:stretch>
        </p:blipFill>
        <p:spPr>
          <a:xfrm>
            <a:off x="3537127" y="2926080"/>
            <a:ext cx="731520" cy="731520"/>
          </a:xfrm>
          <a:prstGeom prst="rect">
            <a:avLst/>
          </a:prstGeom>
        </p:spPr>
      </p:pic>
      <p:sp>
        <p:nvSpPr>
          <p:cNvPr id="10" name="TextBox 9"/>
          <p:cNvSpPr txBox="1"/>
          <p:nvPr/>
        </p:nvSpPr>
        <p:spPr>
          <a:xfrm>
            <a:off x="283303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Add</a:t>
            </a:r>
          </a:p>
        </p:txBody>
      </p:sp>
      <p:sp>
        <p:nvSpPr>
          <p:cNvPr id="11" name="TextBox 10"/>
          <p:cNvSpPr txBox="1"/>
          <p:nvPr/>
        </p:nvSpPr>
        <p:spPr>
          <a:xfrm>
            <a:off x="283303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Add skills, hooks, and agents.</a:t>
            </a:r>
          </a:p>
        </p:txBody>
      </p:sp>
      <p:sp>
        <p:nvSpPr>
          <p:cNvPr id="12" name="Oval 11"/>
          <p:cNvSpPr/>
          <p:nvPr/>
        </p:nvSpPr>
        <p:spPr>
          <a:xfrm>
            <a:off x="525459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F5F5F6.png"/>
          <p:cNvPicPr>
            <a:picLocks noChangeAspect="1"/>
          </p:cNvPicPr>
          <p:nvPr/>
        </p:nvPicPr>
        <p:blipFill>
          <a:blip r:embed="rId2"/>
          <a:stretch>
            <a:fillRect/>
          </a:stretch>
        </p:blipFill>
        <p:spPr>
          <a:xfrm>
            <a:off x="5730087" y="2926080"/>
            <a:ext cx="731520" cy="731520"/>
          </a:xfrm>
          <a:prstGeom prst="rect">
            <a:avLst/>
          </a:prstGeom>
        </p:spPr>
      </p:pic>
      <p:sp>
        <p:nvSpPr>
          <p:cNvPr id="14" name="TextBox 13"/>
          <p:cNvSpPr txBox="1"/>
          <p:nvPr/>
        </p:nvSpPr>
        <p:spPr>
          <a:xfrm>
            <a:off x="502599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Declare</a:t>
            </a:r>
          </a:p>
        </p:txBody>
      </p:sp>
      <p:sp>
        <p:nvSpPr>
          <p:cNvPr id="15" name="TextBox 14"/>
          <p:cNvSpPr txBox="1"/>
          <p:nvPr/>
        </p:nvSpPr>
        <p:spPr>
          <a:xfrm>
            <a:off x="502599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Set manifest name and paths.</a:t>
            </a:r>
          </a:p>
        </p:txBody>
      </p:sp>
      <p:sp>
        <p:nvSpPr>
          <p:cNvPr id="16" name="Oval 15"/>
          <p:cNvSpPr/>
          <p:nvPr/>
        </p:nvSpPr>
        <p:spPr>
          <a:xfrm>
            <a:off x="744755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F5F5F6.png"/>
          <p:cNvPicPr>
            <a:picLocks noChangeAspect="1"/>
          </p:cNvPicPr>
          <p:nvPr/>
        </p:nvPicPr>
        <p:blipFill>
          <a:blip r:embed="rId2"/>
          <a:stretch>
            <a:fillRect/>
          </a:stretch>
        </p:blipFill>
        <p:spPr>
          <a:xfrm>
            <a:off x="7923047" y="2926080"/>
            <a:ext cx="731520" cy="731520"/>
          </a:xfrm>
          <a:prstGeom prst="rect">
            <a:avLst/>
          </a:prstGeom>
        </p:spPr>
      </p:pic>
      <p:sp>
        <p:nvSpPr>
          <p:cNvPr id="18" name="TextBox 17"/>
          <p:cNvSpPr txBox="1"/>
          <p:nvPr/>
        </p:nvSpPr>
        <p:spPr>
          <a:xfrm>
            <a:off x="721895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Test</a:t>
            </a:r>
          </a:p>
        </p:txBody>
      </p:sp>
      <p:sp>
        <p:nvSpPr>
          <p:cNvPr id="19" name="TextBox 18"/>
          <p:cNvSpPr txBox="1"/>
          <p:nvPr/>
        </p:nvSpPr>
        <p:spPr>
          <a:xfrm>
            <a:off x="721895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Validate --strict; test @skills-dir.</a:t>
            </a:r>
          </a:p>
        </p:txBody>
      </p:sp>
      <p:sp>
        <p:nvSpPr>
          <p:cNvPr id="20" name="Oval 19"/>
          <p:cNvSpPr/>
          <p:nvPr/>
        </p:nvSpPr>
        <p:spPr>
          <a:xfrm>
            <a:off x="9640519" y="2542032"/>
            <a:ext cx="1682496" cy="1682496"/>
          </a:xfrm>
          <a:prstGeom prst="ellipse">
            <a:avLst/>
          </a:prstGeom>
          <a:solidFill>
            <a:srgbClr val="303036"/>
          </a:solidFill>
          <a:ln w="2857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F5F5F6.png"/>
          <p:cNvPicPr>
            <a:picLocks noChangeAspect="1"/>
          </p:cNvPicPr>
          <p:nvPr/>
        </p:nvPicPr>
        <p:blipFill>
          <a:blip r:embed="rId2"/>
          <a:stretch>
            <a:fillRect/>
          </a:stretch>
        </p:blipFill>
        <p:spPr>
          <a:xfrm>
            <a:off x="10116007" y="2926080"/>
            <a:ext cx="731520" cy="731520"/>
          </a:xfrm>
          <a:prstGeom prst="rect">
            <a:avLst/>
          </a:prstGeom>
        </p:spPr>
      </p:pic>
      <p:sp>
        <p:nvSpPr>
          <p:cNvPr id="22" name="TextBox 21"/>
          <p:cNvSpPr txBox="1"/>
          <p:nvPr/>
        </p:nvSpPr>
        <p:spPr>
          <a:xfrm>
            <a:off x="9411919" y="4443984"/>
            <a:ext cx="2139696" cy="457200"/>
          </a:xfrm>
          <a:prstGeom prst="rect">
            <a:avLst/>
          </a:prstGeom>
          <a:noFill/>
        </p:spPr>
        <p:txBody>
          <a:bodyPr wrap="square" anchor="t">
            <a:spAutoFit/>
          </a:bodyPr>
          <a:lstStyle/>
          <a:p>
            <a:pPr algn="ctr">
              <a:lnSpc>
                <a:spcPct val="102000"/>
              </a:lnSpc>
              <a:spcBef>
                <a:spcPts val="0"/>
              </a:spcBef>
              <a:spcAft>
                <a:spcPts val="200"/>
              </a:spcAft>
            </a:pPr>
            <a:r>
              <a:rPr sz="1700" b="1">
                <a:solidFill>
                  <a:srgbClr val="F5F5F6"/>
                </a:solidFill>
                <a:latin typeface="Instrument Sans"/>
              </a:rPr>
              <a:t>Publish</a:t>
            </a:r>
          </a:p>
        </p:txBody>
      </p:sp>
      <p:sp>
        <p:nvSpPr>
          <p:cNvPr id="23" name="TextBox 22"/>
          <p:cNvSpPr txBox="1"/>
          <p:nvPr/>
        </p:nvSpPr>
        <p:spPr>
          <a:xfrm>
            <a:off x="9411919" y="4956048"/>
            <a:ext cx="2139696" cy="914400"/>
          </a:xfrm>
          <a:prstGeom prst="rect">
            <a:avLst/>
          </a:prstGeom>
          <a:noFill/>
        </p:spPr>
        <p:txBody>
          <a:bodyPr wrap="square" anchor="t">
            <a:spAutoFit/>
          </a:bodyPr>
          <a:lstStyle/>
          <a:p>
            <a:pPr algn="ctr">
              <a:lnSpc>
                <a:spcPct val="112000"/>
              </a:lnSpc>
              <a:spcBef>
                <a:spcPts val="0"/>
              </a:spcBef>
              <a:spcAft>
                <a:spcPts val="200"/>
              </a:spcAft>
            </a:pPr>
            <a:r>
              <a:rPr sz="1400" b="0">
                <a:solidFill>
                  <a:srgbClr val="ACACB4"/>
                </a:solidFill>
                <a:latin typeface="Instrument Sans"/>
              </a:rPr>
              <a:t>Place under marketplace/plugins and index.</a:t>
            </a:r>
          </a:p>
        </p:txBody>
      </p:sp>
      <p:sp>
        <p:nvSpPr>
          <p:cNvPr id="24" name="TextBox 23"/>
          <p:cNvSpPr txBox="1"/>
          <p:nvPr/>
        </p:nvSpPr>
        <p:spPr>
          <a:xfrm>
            <a:off x="239492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5" name="TextBox 24"/>
          <p:cNvSpPr txBox="1"/>
          <p:nvPr/>
        </p:nvSpPr>
        <p:spPr>
          <a:xfrm>
            <a:off x="458788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6" name="TextBox 25"/>
          <p:cNvSpPr txBox="1"/>
          <p:nvPr/>
        </p:nvSpPr>
        <p:spPr>
          <a:xfrm>
            <a:off x="678084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7" name="TextBox 26"/>
          <p:cNvSpPr txBox="1"/>
          <p:nvPr/>
        </p:nvSpPr>
        <p:spPr>
          <a:xfrm>
            <a:off x="8973807" y="2880360"/>
            <a:ext cx="822960" cy="1005840"/>
          </a:xfrm>
          <a:prstGeom prst="rect">
            <a:avLst/>
          </a:prstGeom>
          <a:noFill/>
        </p:spPr>
        <p:txBody>
          <a:bodyPr wrap="square" anchor="ctr">
            <a:spAutoFit/>
          </a:bodyPr>
          <a:lstStyle/>
          <a:p>
            <a:pPr algn="ctr">
              <a:lnSpc>
                <a:spcPct val="100000"/>
              </a:lnSpc>
              <a:spcBef>
                <a:spcPts val="0"/>
              </a:spcBef>
              <a:spcAft>
                <a:spcPts val="200"/>
              </a:spcAft>
            </a:pPr>
            <a:r>
              <a:rPr sz="4400" b="1">
                <a:solidFill>
                  <a:srgbClr val="4C8DF0"/>
                </a:solidFill>
                <a:latin typeface="Instrument Sans"/>
              </a:rPr>
              <a:t>&gt;</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SECURITY</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The plugin trust hierarchy</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Built-in or Anthropic-maintained</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Highest default confidence, but still confirm the exact component and version.</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k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Approved internal marketplace</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Organization-curated, versioned, and governed for your environment.</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cale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Official marketplace, third-party publisher</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Discoverable through Anthropic; publisher and maintenance can still be external.</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arn_E26B6B.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Any external marketplace or direct source</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Untrusted until source, data flow, permissions, and updates are reviewed.</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Plugins can execute code, hooks, commands, and MCP/LSP servers with your user privileges. Treat them like executable dependencies.</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OPERATIONS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Plugin estate controls</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Inventory, deactivate, and remove without guessing.</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ye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claude plugin list/details</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See installed state, scope, and contributed components.</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/plugin disable</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Stop loading a plugin while preserving the installation.</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x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/plugin uninstall</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Remove it at the intended user, project, or local scope.</a:t>
            </a:r>
          </a:p>
        </p:txBody>
      </p:sp>
      <p:sp>
        <p:nvSpPr>
          <p:cNvPr id="20" name="Rounded Rectangle 19"/>
          <p:cNvSpPr/>
          <p:nvPr/>
        </p:nvSpPr>
        <p:spPr>
          <a:xfrm>
            <a:off x="640080" y="5760720"/>
            <a:ext cx="10908792" cy="658368"/>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fo_4C8DF0.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Refresh catalog metadata with /plugin marketplace update; apply changes with /reload-plugins when the install summary requests it.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Paste this: package your toolkit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What you are practicing</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claude plugin init scaffolding</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Manifest that maps your assets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Local install as the smoke test</a:t>
            </a:r>
          </a:p>
        </p:txBody>
      </p:sp>
      <p:sp>
        <p:nvSpPr>
          <p:cNvPr id="12" name="TextBox 11"/>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3" name="Rounded Rectangle 12"/>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6" name="TextBox 15"/>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Run claude plugin init dashboard-toolkit --with skills hooks. Move the reviewed skills and hooks into the scaffold; update the manifest.</a:t>
            </a:r>
          </a:p>
        </p:txBody>
      </p:sp>
      <p:sp>
        <p:nvSpPr>
          <p:cNvPr id="17" name="Rounded Rectangle 16"/>
          <p:cNvSpPr/>
          <p:nvPr/>
        </p:nvSpPr>
        <p:spPr>
          <a:xfrm>
            <a:off x="7040880" y="3980688"/>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0" name="TextBox 19"/>
          <p:cNvSpPr txBox="1"/>
          <p:nvPr/>
        </p:nvSpPr>
        <p:spPr>
          <a:xfrm>
            <a:off x="7699248" y="4364736"/>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Validate --strict. Show the component inventory, executable code, credentials, network destinations, and rollback path.</a:t>
            </a:r>
          </a:p>
        </p:txBody>
      </p:sp>
      <p:sp>
        <p:nvSpPr>
          <p:cNvPr id="21" name="Rectangle 2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3" name="TextBox 2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DECISION</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Project config or plugin?</a:t>
            </a:r>
          </a:p>
        </p:txBody>
      </p:sp>
      <p:sp>
        <p:nvSpPr>
          <p:cNvPr id="4" name="Rounded Rectangle 3"/>
          <p:cNvSpPr/>
          <p:nvPr/>
        </p:nvSpPr>
        <p:spPr>
          <a:xfrm>
            <a:off x="640080"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oc_ACACB4.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Project config (.claude/)</a:t>
            </a:r>
          </a:p>
        </p:txBody>
      </p:sp>
      <p:sp>
        <p:nvSpPr>
          <p:cNvPr id="7" name="Rectangle 6"/>
          <p:cNvSpPr/>
          <p:nvPr/>
        </p:nvSpPr>
        <p:spPr>
          <a:xfrm>
            <a:off x="932688"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One repo's standards</a:t>
            </a:r>
          </a:p>
        </p:txBody>
      </p:sp>
      <p:sp>
        <p:nvSpPr>
          <p:cNvPr id="9" name="Rectangle 8"/>
          <p:cNvSpPr/>
          <p:nvPr/>
        </p:nvSpPr>
        <p:spPr>
          <a:xfrm>
            <a:off x="932688"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Travels via git clone</a:t>
            </a:r>
          </a:p>
        </p:txBody>
      </p:sp>
      <p:sp>
        <p:nvSpPr>
          <p:cNvPr id="11" name="Rectangle 10"/>
          <p:cNvSpPr/>
          <p:nvPr/>
        </p:nvSpPr>
        <p:spPr>
          <a:xfrm>
            <a:off x="932688"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Editable by the whole team</a:t>
            </a:r>
          </a:p>
        </p:txBody>
      </p:sp>
      <p:sp>
        <p:nvSpPr>
          <p:cNvPr id="13" name="Rounded Rectangle 12"/>
          <p:cNvSpPr/>
          <p:nvPr/>
        </p:nvSpPr>
        <p:spPr>
          <a:xfrm>
            <a:off x="6199632"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rocket_46B17A.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Plugin (.claude-plugin/)</a:t>
            </a:r>
          </a:p>
        </p:txBody>
      </p:sp>
      <p:sp>
        <p:nvSpPr>
          <p:cNvPr id="16" name="Rectangle 15"/>
          <p:cNvSpPr/>
          <p:nvPr/>
        </p:nvSpPr>
        <p:spPr>
          <a:xfrm>
            <a:off x="6492240"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Standards across MANY repos</a:t>
            </a:r>
          </a:p>
        </p:txBody>
      </p:sp>
      <p:sp>
        <p:nvSpPr>
          <p:cNvPr id="18" name="Rectangle 17"/>
          <p:cNvSpPr/>
          <p:nvPr/>
        </p:nvSpPr>
        <p:spPr>
          <a:xfrm>
            <a:off x="6492240"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Installed from a marketplace</a:t>
            </a:r>
          </a:p>
        </p:txBody>
      </p:sp>
      <p:sp>
        <p:nvSpPr>
          <p:cNvPr id="20" name="Rectangle 19"/>
          <p:cNvSpPr/>
          <p:nvPr/>
        </p:nvSpPr>
        <p:spPr>
          <a:xfrm>
            <a:off x="6492240"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Read-only - versioned centrally</a:t>
            </a:r>
          </a:p>
        </p:txBody>
      </p:sp>
      <p:sp>
        <p:nvSpPr>
          <p:cNvPr id="22" name="Rectangle 2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4" name="TextBox 2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VERSIONING</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Safe change or breaking change?</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eck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Safe (minor / patch)</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Add a new skill or command</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Sharpen a description, fix docs</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Bug-fix a hook, same behavior</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arn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Breaking (major)</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Rename or remove a command</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 hook now blocks what it allowed</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New credential or tool scope</a:t>
            </a:r>
          </a:p>
        </p:txBody>
      </p:sp>
      <p:sp>
        <p:nvSpPr>
          <p:cNvPr id="22" name="Rounded Rectangle 21"/>
          <p:cNvSpPr/>
          <p:nvPr/>
        </p:nvSpPr>
        <p:spPr>
          <a:xfrm>
            <a:off x="640080" y="5138928"/>
            <a:ext cx="10908792" cy="713232"/>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rn_E0A93A.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Consumers update on your schedule, not theirs - a renamed command breaks every teammate's scripts overnight.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BLOCK 4 - GOVERNANCE</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Publishing to the internal catalog</a:t>
            </a:r>
          </a:p>
        </p:txBody>
      </p:sp>
      <p:sp>
        <p:nvSpPr>
          <p:cNvPr id="4" name="Rounded Rectangle 3"/>
          <p:cNvSpPr/>
          <p:nvPr/>
        </p:nvSpPr>
        <p:spPr>
          <a:xfrm>
            <a:off x="64008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01</a:t>
            </a:r>
          </a:p>
        </p:txBody>
      </p:sp>
      <p:sp>
        <p:nvSpPr>
          <p:cNvPr id="6" name="TextBox 5"/>
          <p:cNvSpPr txBox="1"/>
          <p:nvPr/>
        </p:nvSpPr>
        <p:spPr>
          <a:xfrm>
            <a:off x="91440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Propose</a:t>
            </a:r>
          </a:p>
        </p:txBody>
      </p:sp>
      <p:sp>
        <p:nvSpPr>
          <p:cNvPr id="7" name="TextBox 6"/>
          <p:cNvSpPr txBox="1"/>
          <p:nvPr/>
        </p:nvSpPr>
        <p:spPr>
          <a:xfrm>
            <a:off x="91440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PR against the marketplace repo.</a:t>
            </a:r>
          </a:p>
        </p:txBody>
      </p:sp>
      <p:sp>
        <p:nvSpPr>
          <p:cNvPr id="8" name="TextBox 7"/>
          <p:cNvSpPr txBox="1"/>
          <p:nvPr/>
        </p:nvSpPr>
        <p:spPr>
          <a:xfrm>
            <a:off x="254751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9" name="Rounded Rectangle 8"/>
          <p:cNvSpPr/>
          <p:nvPr/>
        </p:nvSpPr>
        <p:spPr>
          <a:xfrm>
            <a:off x="289499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6931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02</a:t>
            </a:r>
          </a:p>
        </p:txBody>
      </p:sp>
      <p:sp>
        <p:nvSpPr>
          <p:cNvPr id="11" name="TextBox 10"/>
          <p:cNvSpPr txBox="1"/>
          <p:nvPr/>
        </p:nvSpPr>
        <p:spPr>
          <a:xfrm>
            <a:off x="316931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Review</a:t>
            </a:r>
          </a:p>
        </p:txBody>
      </p:sp>
      <p:sp>
        <p:nvSpPr>
          <p:cNvPr id="12" name="TextBox 11"/>
          <p:cNvSpPr txBox="1"/>
          <p:nvPr/>
        </p:nvSpPr>
        <p:spPr>
          <a:xfrm>
            <a:off x="316931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Security checklist, two eyes.</a:t>
            </a:r>
          </a:p>
        </p:txBody>
      </p:sp>
      <p:sp>
        <p:nvSpPr>
          <p:cNvPr id="13" name="TextBox 12"/>
          <p:cNvSpPr txBox="1"/>
          <p:nvPr/>
        </p:nvSpPr>
        <p:spPr>
          <a:xfrm>
            <a:off x="4802428"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4" name="Rounded Rectangle 13"/>
          <p:cNvSpPr/>
          <p:nvPr/>
        </p:nvSpPr>
        <p:spPr>
          <a:xfrm>
            <a:off x="5149900"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24220"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03</a:t>
            </a:r>
          </a:p>
        </p:txBody>
      </p:sp>
      <p:sp>
        <p:nvSpPr>
          <p:cNvPr id="16" name="TextBox 15"/>
          <p:cNvSpPr txBox="1"/>
          <p:nvPr/>
        </p:nvSpPr>
        <p:spPr>
          <a:xfrm>
            <a:off x="5424220"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Version</a:t>
            </a:r>
          </a:p>
        </p:txBody>
      </p:sp>
      <p:sp>
        <p:nvSpPr>
          <p:cNvPr id="17" name="TextBox 16"/>
          <p:cNvSpPr txBox="1"/>
          <p:nvPr/>
        </p:nvSpPr>
        <p:spPr>
          <a:xfrm>
            <a:off x="5424220"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Semver bump plus changelog.</a:t>
            </a:r>
          </a:p>
        </p:txBody>
      </p:sp>
      <p:sp>
        <p:nvSpPr>
          <p:cNvPr id="18" name="TextBox 17"/>
          <p:cNvSpPr txBox="1"/>
          <p:nvPr/>
        </p:nvSpPr>
        <p:spPr>
          <a:xfrm>
            <a:off x="705733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19" name="Rounded Rectangle 18"/>
          <p:cNvSpPr/>
          <p:nvPr/>
        </p:nvSpPr>
        <p:spPr>
          <a:xfrm>
            <a:off x="740481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7913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04</a:t>
            </a:r>
          </a:p>
        </p:txBody>
      </p:sp>
      <p:sp>
        <p:nvSpPr>
          <p:cNvPr id="21" name="TextBox 20"/>
          <p:cNvSpPr txBox="1"/>
          <p:nvPr/>
        </p:nvSpPr>
        <p:spPr>
          <a:xfrm>
            <a:off x="767913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Announce</a:t>
            </a:r>
          </a:p>
        </p:txBody>
      </p:sp>
      <p:sp>
        <p:nvSpPr>
          <p:cNvPr id="22" name="TextBox 21"/>
          <p:cNvSpPr txBox="1"/>
          <p:nvPr/>
        </p:nvSpPr>
        <p:spPr>
          <a:xfrm>
            <a:off x="767913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Changelog to the team channel.</a:t>
            </a:r>
          </a:p>
        </p:txBody>
      </p:sp>
      <p:sp>
        <p:nvSpPr>
          <p:cNvPr id="23" name="TextBox 22"/>
          <p:cNvSpPr txBox="1"/>
          <p:nvPr/>
        </p:nvSpPr>
        <p:spPr>
          <a:xfrm>
            <a:off x="9312249" y="3611880"/>
            <a:ext cx="329184" cy="457200"/>
          </a:xfrm>
          <a:prstGeom prst="rect">
            <a:avLst/>
          </a:prstGeom>
          <a:noFill/>
        </p:spPr>
        <p:txBody>
          <a:bodyPr wrap="square" anchor="ctr">
            <a:spAutoFit/>
          </a:bodyPr>
          <a:lstStyle/>
          <a:p>
            <a:pPr algn="ctr">
              <a:lnSpc>
                <a:spcPct val="100000"/>
              </a:lnSpc>
              <a:spcBef>
                <a:spcPts val="0"/>
              </a:spcBef>
              <a:spcAft>
                <a:spcPts val="200"/>
              </a:spcAft>
            </a:pPr>
            <a:r>
              <a:rPr sz="2600" b="1">
                <a:solidFill>
                  <a:srgbClr val="7E7E86"/>
                </a:solidFill>
                <a:latin typeface="Instrument Sans"/>
              </a:rPr>
              <a:t>›</a:t>
            </a:r>
          </a:p>
        </p:txBody>
      </p:sp>
      <p:sp>
        <p:nvSpPr>
          <p:cNvPr id="24" name="Rounded Rectangle 23"/>
          <p:cNvSpPr/>
          <p:nvPr/>
        </p:nvSpPr>
        <p:spPr>
          <a:xfrm>
            <a:off x="9659721" y="2651760"/>
            <a:ext cx="1889150" cy="23774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4041" y="2907791"/>
            <a:ext cx="1340510" cy="548640"/>
          </a:xfrm>
          <a:prstGeom prst="rect">
            <a:avLst/>
          </a:prstGeom>
          <a:noFill/>
        </p:spPr>
        <p:txBody>
          <a:bodyPr wrap="square" anchor="t">
            <a:spAutoFit/>
          </a:bodyPr>
          <a:lstStyle/>
          <a:p>
            <a:pPr algn="l">
              <a:lnSpc>
                <a:spcPct val="100000"/>
              </a:lnSpc>
              <a:spcBef>
                <a:spcPts val="0"/>
              </a:spcBef>
              <a:spcAft>
                <a:spcPts val="200"/>
              </a:spcAft>
            </a:pPr>
            <a:r>
              <a:rPr sz="2600" b="1">
                <a:solidFill>
                  <a:srgbClr val="4C8DF0"/>
                </a:solidFill>
                <a:latin typeface="Instrument Sans"/>
              </a:rPr>
              <a:t>05</a:t>
            </a:r>
          </a:p>
        </p:txBody>
      </p:sp>
      <p:sp>
        <p:nvSpPr>
          <p:cNvPr id="26" name="TextBox 25"/>
          <p:cNvSpPr txBox="1"/>
          <p:nvPr/>
        </p:nvSpPr>
        <p:spPr>
          <a:xfrm>
            <a:off x="9934041" y="3566160"/>
            <a:ext cx="1340510" cy="54864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Deprecate</a:t>
            </a:r>
          </a:p>
        </p:txBody>
      </p:sp>
      <p:sp>
        <p:nvSpPr>
          <p:cNvPr id="27" name="TextBox 26"/>
          <p:cNvSpPr txBox="1"/>
          <p:nvPr/>
        </p:nvSpPr>
        <p:spPr>
          <a:xfrm>
            <a:off x="9934041" y="4114800"/>
            <a:ext cx="1340510" cy="1097280"/>
          </a:xfrm>
          <a:prstGeom prst="rect">
            <a:avLst/>
          </a:prstGeom>
          <a:noFill/>
        </p:spPr>
        <p:txBody>
          <a:bodyPr wrap="square" anchor="t">
            <a:spAutoFit/>
          </a:bodyPr>
          <a:lstStyle/>
          <a:p>
            <a:pPr algn="l">
              <a:lnSpc>
                <a:spcPct val="115000"/>
              </a:lnSpc>
              <a:spcBef>
                <a:spcPts val="0"/>
              </a:spcBef>
              <a:spcAft>
                <a:spcPts val="200"/>
              </a:spcAft>
            </a:pPr>
            <a:r>
              <a:rPr sz="1500" b="0">
                <a:solidFill>
                  <a:srgbClr val="ACACB4"/>
                </a:solidFill>
                <a:latin typeface="Instrument Sans"/>
              </a:rPr>
              <a:t>Sunset path - never delete.</a:t>
            </a:r>
          </a:p>
        </p:txBody>
      </p:sp>
      <p:sp>
        <p:nvSpPr>
          <p:cNvPr id="28" name="Rectangle 2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0" name="TextBox 2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LIVE DEMO</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Demo: marketplace to running</a:t>
            </a:r>
          </a:p>
        </p:txBody>
      </p:sp>
      <p:pic>
        <p:nvPicPr>
          <p:cNvPr id="4" name="Picture 3" descr="bg_18.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WHAT WE'LL RUN TOGETHER</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Install skill-creator from the official marketplace</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Inspect with /plugin list and claude plugin details</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Validate and publish dashboard-toolkit to a local team marketplace</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KNOWLEDGE CHECK</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Block 4 review</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QUESTION</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THINK ABOUT...</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What core components can a plugin contribute?</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The day's whole stack</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Where does the manifest live?</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Not the project root</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What makes a git repo a marketplace?</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Less than you think</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Why treat plugins like dependencies?</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What they can run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LAB 2D - 30 MINUTES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Lab 2D: Package and Ship</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Hands-on: your toolkit, on a real team marketplace.</a:t>
            </a:r>
          </a:p>
        </p:txBody>
      </p:sp>
      <p:sp>
        <p:nvSpPr>
          <p:cNvPr id="5" name="Rounded Rectangle 4"/>
          <p:cNvSpPr/>
          <p:nvPr/>
        </p:nvSpPr>
        <p:spPr>
          <a:xfrm>
            <a:off x="640080"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cket_2A2A30.png"/>
          <p:cNvPicPr>
            <a:picLocks noChangeAspect="1"/>
          </p:cNvPicPr>
          <p:nvPr/>
        </p:nvPicPr>
        <p:blipFill>
          <a:blip r:embed="rId2"/>
          <a:stretch>
            <a:fillRect/>
          </a:stretch>
        </p:blipFill>
        <p:spPr>
          <a:xfrm>
            <a:off x="1005840" y="3076956"/>
            <a:ext cx="219456" cy="219456"/>
          </a:xfrm>
          <a:prstGeom prst="rect">
            <a:avLst/>
          </a:prstGeom>
        </p:spPr>
      </p:pic>
      <p:sp>
        <p:nvSpPr>
          <p:cNvPr id="8" name="TextBox 7"/>
          <p:cNvSpPr txBox="1"/>
          <p:nvPr/>
        </p:nvSpPr>
        <p:spPr>
          <a:xfrm>
            <a:off x="877824"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Deliverable</a:t>
            </a:r>
          </a:p>
        </p:txBody>
      </p:sp>
      <p:sp>
        <p:nvSpPr>
          <p:cNvPr id="9" name="TextBox 8"/>
          <p:cNvSpPr txBox="1"/>
          <p:nvPr/>
        </p:nvSpPr>
        <p:spPr>
          <a:xfrm>
            <a:off x="877824"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my-toolkit plugin published to the class marketplace repo, installed by a peer.</a:t>
            </a:r>
          </a:p>
        </p:txBody>
      </p:sp>
      <p:sp>
        <p:nvSpPr>
          <p:cNvPr id="10" name="Rounded Rectangle 9"/>
          <p:cNvSpPr/>
          <p:nvPr/>
        </p:nvSpPr>
        <p:spPr>
          <a:xfrm>
            <a:off x="4367784"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2A2A30.png"/>
          <p:cNvPicPr>
            <a:picLocks noChangeAspect="1"/>
          </p:cNvPicPr>
          <p:nvPr/>
        </p:nvPicPr>
        <p:blipFill>
          <a:blip r:embed="rId3"/>
          <a:stretch>
            <a:fillRect/>
          </a:stretch>
        </p:blipFill>
        <p:spPr>
          <a:xfrm>
            <a:off x="4733544" y="3076956"/>
            <a:ext cx="219456" cy="219456"/>
          </a:xfrm>
          <a:prstGeom prst="rect">
            <a:avLst/>
          </a:prstGeom>
        </p:spPr>
      </p:pic>
      <p:sp>
        <p:nvSpPr>
          <p:cNvPr id="13" name="TextBox 12"/>
          <p:cNvSpPr txBox="1"/>
          <p:nvPr/>
        </p:nvSpPr>
        <p:spPr>
          <a:xfrm>
            <a:off x="4605528"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Timebox</a:t>
            </a:r>
          </a:p>
        </p:txBody>
      </p:sp>
      <p:sp>
        <p:nvSpPr>
          <p:cNvPr id="14" name="TextBox 13"/>
          <p:cNvSpPr txBox="1"/>
          <p:nvPr/>
        </p:nvSpPr>
        <p:spPr>
          <a:xfrm>
            <a:off x="4605528"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30 minutes - if behind, local-path install counts.</a:t>
            </a:r>
          </a:p>
        </p:txBody>
      </p:sp>
      <p:sp>
        <p:nvSpPr>
          <p:cNvPr id="15" name="Rounded Rectangle 14"/>
          <p:cNvSpPr/>
          <p:nvPr/>
        </p:nvSpPr>
        <p:spPr>
          <a:xfrm>
            <a:off x="8095488" y="2766059"/>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948939"/>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4"/>
          <a:stretch>
            <a:fillRect/>
          </a:stretch>
        </p:blipFill>
        <p:spPr>
          <a:xfrm>
            <a:off x="8461248" y="3076956"/>
            <a:ext cx="219456" cy="219456"/>
          </a:xfrm>
          <a:prstGeom prst="rect">
            <a:avLst/>
          </a:prstGeom>
        </p:spPr>
      </p:pic>
      <p:sp>
        <p:nvSpPr>
          <p:cNvPr id="18" name="TextBox 17"/>
          <p:cNvSpPr txBox="1"/>
          <p:nvPr/>
        </p:nvSpPr>
        <p:spPr>
          <a:xfrm>
            <a:off x="8333232" y="357073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Success</a:t>
            </a:r>
          </a:p>
        </p:txBody>
      </p:sp>
      <p:sp>
        <p:nvSpPr>
          <p:cNvPr id="19" name="TextBox 18"/>
          <p:cNvSpPr txBox="1"/>
          <p:nvPr/>
        </p:nvSpPr>
        <p:spPr>
          <a:xfrm>
            <a:off x="8333232" y="421081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classmate installs YOUR plugin and runs your /command.</a:t>
            </a:r>
          </a:p>
        </p:txBody>
      </p:sp>
      <p:sp>
        <p:nvSpPr>
          <p:cNvPr id="20" name="Rectangle 19"/>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2" name="TextBox 21"/>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9.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CLOSE - 20 MINUTES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Close: Your Toolkit</a:t>
            </a:r>
          </a:p>
        </p:txBody>
      </p:sp>
      <p:sp>
        <p:nvSpPr>
          <p:cNvPr id="7" name="TextBox 6"/>
          <p:cNvSpPr txBox="1"/>
          <p:nvPr/>
        </p:nvSpPr>
        <p:spPr>
          <a:xfrm>
            <a:off x="685800" y="4983480"/>
            <a:ext cx="5440680" cy="1005840"/>
          </a:xfrm>
          <a:prstGeom prst="rect">
            <a:avLst/>
          </a:prstGeom>
          <a:noFill/>
        </p:spPr>
        <p:txBody>
          <a:bodyPr wrap="square" anchor="t">
            <a:spAutoFit/>
          </a:bodyPr>
          <a:lstStyle/>
          <a:p>
            <a:pPr algn="l">
              <a:lnSpc>
                <a:spcPct val="115000"/>
              </a:lnSpc>
              <a:spcBef>
                <a:spcPts val="0"/>
              </a:spcBef>
              <a:spcAft>
                <a:spcPts val="200"/>
              </a:spcAft>
            </a:pPr>
            <a:r>
              <a:rPr sz="1750" b="0">
                <a:solidFill>
                  <a:srgbClr val="ACACB4"/>
                </a:solidFill>
                <a:latin typeface="Instrument Sans"/>
              </a:rPr>
              <a:t>What you built, and the bridge to Day 3.</a:t>
            </a:r>
          </a:p>
        </p:txBody>
      </p:sp>
      <p:sp>
        <p:nvSpPr>
          <p:cNvPr id="8" name="Rectangle 7"/>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0" name="TextBox 9"/>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CLOSE - REVIEW</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Your complete extension stack</a:t>
            </a:r>
          </a:p>
        </p:txBody>
      </p:sp>
      <p:sp>
        <p:nvSpPr>
          <p:cNvPr id="4" name="Rounded Rectangle 3"/>
          <p:cNvSpPr/>
          <p:nvPr/>
        </p:nvSpPr>
        <p:spPr>
          <a:xfrm>
            <a:off x="640080" y="1828800"/>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3487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_2A2A30.png"/>
          <p:cNvPicPr>
            <a:picLocks noChangeAspect="1"/>
          </p:cNvPicPr>
          <p:nvPr/>
        </p:nvPicPr>
        <p:blipFill>
          <a:blip r:embed="rId2"/>
          <a:stretch>
            <a:fillRect/>
          </a:stretch>
        </p:blipFill>
        <p:spPr>
          <a:xfrm>
            <a:off x="1014984" y="2072030"/>
            <a:ext cx="292608" cy="292608"/>
          </a:xfrm>
          <a:prstGeom prst="rect">
            <a:avLst/>
          </a:prstGeom>
        </p:spPr>
      </p:pic>
      <p:sp>
        <p:nvSpPr>
          <p:cNvPr id="7" name="TextBox 6"/>
          <p:cNvSpPr txBox="1"/>
          <p:nvPr/>
        </p:nvSpPr>
        <p:spPr>
          <a:xfrm>
            <a:off x="1591056" y="1828800"/>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Skills</a:t>
            </a:r>
          </a:p>
        </p:txBody>
      </p:sp>
      <p:sp>
        <p:nvSpPr>
          <p:cNvPr id="8" name="TextBox 7"/>
          <p:cNvSpPr txBox="1"/>
          <p:nvPr/>
        </p:nvSpPr>
        <p:spPr>
          <a:xfrm>
            <a:off x="4434840" y="1828800"/>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Domain playbooks, tested with evals - Lab 2A + 2C.</a:t>
            </a:r>
          </a:p>
        </p:txBody>
      </p:sp>
      <p:sp>
        <p:nvSpPr>
          <p:cNvPr id="9" name="Rounded Rectangle 8"/>
          <p:cNvSpPr/>
          <p:nvPr/>
        </p:nvSpPr>
        <p:spPr>
          <a:xfrm>
            <a:off x="640080" y="2754172"/>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86024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k_2A2A30.png"/>
          <p:cNvPicPr>
            <a:picLocks noChangeAspect="1"/>
          </p:cNvPicPr>
          <p:nvPr/>
        </p:nvPicPr>
        <p:blipFill>
          <a:blip r:embed="rId3"/>
          <a:stretch>
            <a:fillRect/>
          </a:stretch>
        </p:blipFill>
        <p:spPr>
          <a:xfrm>
            <a:off x="1014984" y="2997403"/>
            <a:ext cx="292608" cy="292608"/>
          </a:xfrm>
          <a:prstGeom prst="rect">
            <a:avLst/>
          </a:prstGeom>
        </p:spPr>
      </p:pic>
      <p:sp>
        <p:nvSpPr>
          <p:cNvPr id="12" name="TextBox 11"/>
          <p:cNvSpPr txBox="1"/>
          <p:nvPr/>
        </p:nvSpPr>
        <p:spPr>
          <a:xfrm>
            <a:off x="1591056" y="2754172"/>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Hooks</a:t>
            </a:r>
          </a:p>
        </p:txBody>
      </p:sp>
      <p:sp>
        <p:nvSpPr>
          <p:cNvPr id="13" name="TextBox 12"/>
          <p:cNvSpPr txBox="1"/>
          <p:nvPr/>
        </p:nvSpPr>
        <p:spPr>
          <a:xfrm>
            <a:off x="4434840" y="2754172"/>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Deterministic enforcement across 31 events - Lab 2B.</a:t>
            </a:r>
          </a:p>
        </p:txBody>
      </p:sp>
      <p:sp>
        <p:nvSpPr>
          <p:cNvPr id="14" name="Rounded Rectangle 13"/>
          <p:cNvSpPr/>
          <p:nvPr/>
        </p:nvSpPr>
        <p:spPr>
          <a:xfrm>
            <a:off x="640080" y="3679545"/>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785615"/>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n_2A2A30.png"/>
          <p:cNvPicPr>
            <a:picLocks noChangeAspect="1"/>
          </p:cNvPicPr>
          <p:nvPr/>
        </p:nvPicPr>
        <p:blipFill>
          <a:blip r:embed="rId4"/>
          <a:stretch>
            <a:fillRect/>
          </a:stretch>
        </p:blipFill>
        <p:spPr>
          <a:xfrm>
            <a:off x="1014984" y="3922776"/>
            <a:ext cx="292608" cy="292608"/>
          </a:xfrm>
          <a:prstGeom prst="rect">
            <a:avLst/>
          </a:prstGeom>
        </p:spPr>
      </p:pic>
      <p:sp>
        <p:nvSpPr>
          <p:cNvPr id="17" name="TextBox 16"/>
          <p:cNvSpPr txBox="1"/>
          <p:nvPr/>
        </p:nvSpPr>
        <p:spPr>
          <a:xfrm>
            <a:off x="1591056" y="3679545"/>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Invocation controls</a:t>
            </a:r>
          </a:p>
        </p:txBody>
      </p:sp>
      <p:sp>
        <p:nvSpPr>
          <p:cNvPr id="18" name="TextBox 17"/>
          <p:cNvSpPr txBox="1"/>
          <p:nvPr/>
        </p:nvSpPr>
        <p:spPr>
          <a:xfrm>
            <a:off x="4434840" y="3679545"/>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Human-invoked skills via /slash - Lab 2B.</a:t>
            </a:r>
          </a:p>
        </p:txBody>
      </p:sp>
      <p:sp>
        <p:nvSpPr>
          <p:cNvPr id="19" name="Rounded Rectangle 18"/>
          <p:cNvSpPr/>
          <p:nvPr/>
        </p:nvSpPr>
        <p:spPr>
          <a:xfrm>
            <a:off x="640080" y="4604918"/>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71098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ocket_2A2A30.png"/>
          <p:cNvPicPr>
            <a:picLocks noChangeAspect="1"/>
          </p:cNvPicPr>
          <p:nvPr/>
        </p:nvPicPr>
        <p:blipFill>
          <a:blip r:embed="rId5"/>
          <a:stretch>
            <a:fillRect/>
          </a:stretch>
        </p:blipFill>
        <p:spPr>
          <a:xfrm>
            <a:off x="1014984" y="4848148"/>
            <a:ext cx="292608" cy="292608"/>
          </a:xfrm>
          <a:prstGeom prst="rect">
            <a:avLst/>
          </a:prstGeom>
        </p:spPr>
      </p:pic>
      <p:sp>
        <p:nvSpPr>
          <p:cNvPr id="22" name="TextBox 21"/>
          <p:cNvSpPr txBox="1"/>
          <p:nvPr/>
        </p:nvSpPr>
        <p:spPr>
          <a:xfrm>
            <a:off x="1591056" y="4604918"/>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Plugins</a:t>
            </a:r>
          </a:p>
        </p:txBody>
      </p:sp>
      <p:sp>
        <p:nvSpPr>
          <p:cNvPr id="23" name="TextBox 22"/>
          <p:cNvSpPr txBox="1"/>
          <p:nvPr/>
        </p:nvSpPr>
        <p:spPr>
          <a:xfrm>
            <a:off x="4434840" y="4604918"/>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All of it packaged, published, peer-installed - Lab 2D.</a:t>
            </a:r>
          </a:p>
        </p:txBody>
      </p:sp>
      <p:sp>
        <p:nvSpPr>
          <p:cNvPr id="24" name="Rounded Rectangle 23"/>
          <p:cNvSpPr/>
          <p:nvPr/>
        </p:nvSpPr>
        <p:spPr>
          <a:xfrm>
            <a:off x="640080" y="5530291"/>
            <a:ext cx="10908792" cy="779068"/>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5636361"/>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hare_2A2A30.png"/>
          <p:cNvPicPr>
            <a:picLocks noChangeAspect="1"/>
          </p:cNvPicPr>
          <p:nvPr/>
        </p:nvPicPr>
        <p:blipFill>
          <a:blip r:embed="rId6"/>
          <a:stretch>
            <a:fillRect/>
          </a:stretch>
        </p:blipFill>
        <p:spPr>
          <a:xfrm>
            <a:off x="1014984" y="5773521"/>
            <a:ext cx="292608" cy="292608"/>
          </a:xfrm>
          <a:prstGeom prst="rect">
            <a:avLst/>
          </a:prstGeom>
        </p:spPr>
      </p:pic>
      <p:sp>
        <p:nvSpPr>
          <p:cNvPr id="27" name="TextBox 26"/>
          <p:cNvSpPr txBox="1"/>
          <p:nvPr/>
        </p:nvSpPr>
        <p:spPr>
          <a:xfrm>
            <a:off x="1591056" y="5530291"/>
            <a:ext cx="2743200" cy="779068"/>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MCP</a:t>
            </a:r>
          </a:p>
        </p:txBody>
      </p:sp>
      <p:sp>
        <p:nvSpPr>
          <p:cNvPr id="28" name="TextBox 27"/>
          <p:cNvSpPr txBox="1"/>
          <p:nvPr/>
        </p:nvSpPr>
        <p:spPr>
          <a:xfrm>
            <a:off x="4434840" y="5530291"/>
            <a:ext cx="6903720" cy="779068"/>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External tools, context-cost aware - Day 3 goes deep.</a:t>
            </a:r>
          </a:p>
        </p:txBody>
      </p:sp>
      <p:sp>
        <p:nvSpPr>
          <p:cNvPr id="29" name="Rectangle 2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31" name="TextBox 3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CLOSE - PRINCIPLES</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Three principles to keep</a:t>
            </a:r>
          </a:p>
        </p:txBody>
      </p:sp>
      <p:sp>
        <p:nvSpPr>
          <p:cNvPr id="4" name="TextBox 3"/>
          <p:cNvSpPr txBox="1"/>
          <p:nvPr/>
        </p:nvSpPr>
        <p:spPr>
          <a:xfrm>
            <a:off x="640080" y="1645920"/>
            <a:ext cx="10241280" cy="457200"/>
          </a:xfrm>
          <a:prstGeom prst="rect">
            <a:avLst/>
          </a:prstGeom>
          <a:noFill/>
        </p:spPr>
        <p:txBody>
          <a:bodyPr wrap="square" anchor="t">
            <a:spAutoFit/>
          </a:bodyPr>
          <a:lstStyle/>
          <a:p>
            <a:pPr algn="l">
              <a:lnSpc>
                <a:spcPct val="100000"/>
              </a:lnSpc>
              <a:spcBef>
                <a:spcPts val="0"/>
              </a:spcBef>
              <a:spcAft>
                <a:spcPts val="200"/>
              </a:spcAft>
            </a:pPr>
            <a:r>
              <a:rPr sz="1800" b="0">
                <a:solidFill>
                  <a:srgbClr val="ACACB4"/>
                </a:solidFill>
                <a:latin typeface="Instrument Sans"/>
              </a:rPr>
              <a:t>The Day 2 engineering mindset in three lines.</a:t>
            </a:r>
          </a:p>
        </p:txBody>
      </p:sp>
      <p:sp>
        <p:nvSpPr>
          <p:cNvPr id="5" name="Rounded Rectangle 4"/>
          <p:cNvSpPr/>
          <p:nvPr/>
        </p:nvSpPr>
        <p:spPr>
          <a:xfrm>
            <a:off x="640080"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7" name="TextBox 6"/>
          <p:cNvSpPr txBox="1"/>
          <p:nvPr/>
        </p:nvSpPr>
        <p:spPr>
          <a:xfrm>
            <a:off x="914400"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Encode, don't repeat - said 3x means CLAUDE.md, did 3x means a command, checked 3x means a hook.</a:t>
            </a:r>
          </a:p>
        </p:txBody>
      </p:sp>
      <p:sp>
        <p:nvSpPr>
          <p:cNvPr id="8" name="Rounded Rectangle 7"/>
          <p:cNvSpPr/>
          <p:nvPr/>
        </p:nvSpPr>
        <p:spPr>
          <a:xfrm>
            <a:off x="4367784"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2104"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0" name="TextBox 9"/>
          <p:cNvSpPr txBox="1"/>
          <p:nvPr/>
        </p:nvSpPr>
        <p:spPr>
          <a:xfrm>
            <a:off x="4642104"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A skill without evals is a hope, not an asset.</a:t>
            </a:r>
          </a:p>
        </p:txBody>
      </p:sp>
      <p:sp>
        <p:nvSpPr>
          <p:cNvPr id="11" name="Rounded Rectangle 10"/>
          <p:cNvSpPr/>
          <p:nvPr/>
        </p:nvSpPr>
        <p:spPr>
          <a:xfrm>
            <a:off x="8095488" y="2468880"/>
            <a:ext cx="3453384" cy="25603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9808" y="2651760"/>
            <a:ext cx="914400" cy="640080"/>
          </a:xfrm>
          <a:prstGeom prst="rect">
            <a:avLst/>
          </a:prstGeom>
          <a:noFill/>
        </p:spPr>
        <p:txBody>
          <a:bodyPr wrap="square" anchor="t">
            <a:spAutoFit/>
          </a:bodyPr>
          <a:lstStyle/>
          <a:p>
            <a:pPr algn="l">
              <a:lnSpc>
                <a:spcPct val="100000"/>
              </a:lnSpc>
              <a:spcBef>
                <a:spcPts val="0"/>
              </a:spcBef>
              <a:spcAft>
                <a:spcPts val="200"/>
              </a:spcAft>
            </a:pPr>
            <a:r>
              <a:rPr sz="4000" b="1">
                <a:solidFill>
                  <a:srgbClr val="4C8DF0"/>
                </a:solidFill>
                <a:latin typeface="Instrument Sans"/>
              </a:rPr>
              <a:t>“</a:t>
            </a:r>
          </a:p>
        </p:txBody>
      </p:sp>
      <p:sp>
        <p:nvSpPr>
          <p:cNvPr id="13" name="TextBox 12"/>
          <p:cNvSpPr txBox="1"/>
          <p:nvPr/>
        </p:nvSpPr>
        <p:spPr>
          <a:xfrm>
            <a:off x="8369808" y="3383280"/>
            <a:ext cx="2904744" cy="1554479"/>
          </a:xfrm>
          <a:prstGeom prst="rect">
            <a:avLst/>
          </a:prstGeom>
          <a:noFill/>
        </p:spPr>
        <p:txBody>
          <a:bodyPr wrap="square" anchor="t">
            <a:spAutoFit/>
          </a:bodyPr>
          <a:lstStyle/>
          <a:p>
            <a:pPr algn="l">
              <a:lnSpc>
                <a:spcPct val="120000"/>
              </a:lnSpc>
              <a:spcBef>
                <a:spcPts val="0"/>
              </a:spcBef>
              <a:spcAft>
                <a:spcPts val="200"/>
              </a:spcAft>
            </a:pPr>
            <a:r>
              <a:rPr sz="1600" b="0">
                <a:solidFill>
                  <a:srgbClr val="C9C9D2"/>
                </a:solidFill>
                <a:latin typeface="Instrument Sans"/>
              </a:rPr>
              <a:t>Systems beat collections - files are the API between skills.</a:t>
            </a:r>
          </a:p>
        </p:txBody>
      </p:sp>
      <p:sp>
        <p:nvSpPr>
          <p:cNvPr id="14" name="Rectangle 13"/>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6" name="TextBox 15"/>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CLOSE - HOMEWORK</a:t>
            </a:r>
          </a:p>
        </p:txBody>
      </p:sp>
      <p:sp>
        <p:nvSpPr>
          <p:cNvPr id="3" name="TextBox 2"/>
          <p:cNvSpPr txBox="1"/>
          <p:nvPr/>
        </p:nvSpPr>
        <p:spPr>
          <a:xfrm>
            <a:off x="621792" y="868680"/>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Homework: extend your toolkit</a:t>
            </a:r>
          </a:p>
        </p:txBody>
      </p:sp>
      <p:sp>
        <p:nvSpPr>
          <p:cNvPr id="4" name="TextBox 3"/>
          <p:cNvSpPr txBox="1"/>
          <p:nvPr/>
        </p:nvSpPr>
        <p:spPr>
          <a:xfrm>
            <a:off x="640080" y="1572768"/>
            <a:ext cx="10424160" cy="548640"/>
          </a:xfrm>
          <a:prstGeom prst="rect">
            <a:avLst/>
          </a:prstGeom>
          <a:noFill/>
        </p:spPr>
        <p:txBody>
          <a:bodyPr wrap="square" anchor="t">
            <a:spAutoFit/>
          </a:bodyPr>
          <a:lstStyle/>
          <a:p>
            <a:pPr algn="l">
              <a:lnSpc>
                <a:spcPct val="120000"/>
              </a:lnSpc>
              <a:spcBef>
                <a:spcPts val="0"/>
              </a:spcBef>
              <a:spcAft>
                <a:spcPts val="200"/>
              </a:spcAft>
            </a:pPr>
            <a:r>
              <a:rPr sz="1800" b="0">
                <a:solidFill>
                  <a:srgbClr val="ACACB4"/>
                </a:solidFill>
                <a:latin typeface="Instrument Sans"/>
              </a:rPr>
              <a:t>Three small artifacts before Day 3 - all in your real work.</a:t>
            </a:r>
          </a:p>
        </p:txBody>
      </p:sp>
      <p:sp>
        <p:nvSpPr>
          <p:cNvPr id="5" name="Rounded Rectangle 4"/>
          <p:cNvSpPr/>
          <p:nvPr/>
        </p:nvSpPr>
        <p:spPr>
          <a:xfrm>
            <a:off x="640080"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7824"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_2A2A30.png"/>
          <p:cNvPicPr>
            <a:picLocks noChangeAspect="1"/>
          </p:cNvPicPr>
          <p:nvPr/>
        </p:nvPicPr>
        <p:blipFill>
          <a:blip r:embed="rId2"/>
          <a:stretch>
            <a:fillRect/>
          </a:stretch>
        </p:blipFill>
        <p:spPr>
          <a:xfrm>
            <a:off x="1005840" y="2756916"/>
            <a:ext cx="219456" cy="219456"/>
          </a:xfrm>
          <a:prstGeom prst="rect">
            <a:avLst/>
          </a:prstGeom>
        </p:spPr>
      </p:pic>
      <p:sp>
        <p:nvSpPr>
          <p:cNvPr id="8" name="TextBox 7"/>
          <p:cNvSpPr txBox="1"/>
          <p:nvPr/>
        </p:nvSpPr>
        <p:spPr>
          <a:xfrm>
            <a:off x="877824"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One skill</a:t>
            </a:r>
          </a:p>
        </p:txBody>
      </p:sp>
      <p:sp>
        <p:nvSpPr>
          <p:cNvPr id="9" name="TextBox 8"/>
          <p:cNvSpPr txBox="1"/>
          <p:nvPr/>
        </p:nvSpPr>
        <p:spPr>
          <a:xfrm>
            <a:off x="877824"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For your actual project, with references, eval-tested.</a:t>
            </a:r>
          </a:p>
        </p:txBody>
      </p:sp>
      <p:sp>
        <p:nvSpPr>
          <p:cNvPr id="10" name="Rounded Rectangle 9"/>
          <p:cNvSpPr/>
          <p:nvPr/>
        </p:nvSpPr>
        <p:spPr>
          <a:xfrm>
            <a:off x="4367784"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05528"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en_2A2A30.png"/>
          <p:cNvPicPr>
            <a:picLocks noChangeAspect="1"/>
          </p:cNvPicPr>
          <p:nvPr/>
        </p:nvPicPr>
        <p:blipFill>
          <a:blip r:embed="rId3"/>
          <a:stretch>
            <a:fillRect/>
          </a:stretch>
        </p:blipFill>
        <p:spPr>
          <a:xfrm>
            <a:off x="4733544" y="2756916"/>
            <a:ext cx="219456" cy="219456"/>
          </a:xfrm>
          <a:prstGeom prst="rect">
            <a:avLst/>
          </a:prstGeom>
        </p:spPr>
      </p:pic>
      <p:sp>
        <p:nvSpPr>
          <p:cNvPr id="13" name="TextBox 12"/>
          <p:cNvSpPr txBox="1"/>
          <p:nvPr/>
        </p:nvSpPr>
        <p:spPr>
          <a:xfrm>
            <a:off x="4605528"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One human-invoked skill</a:t>
            </a:r>
          </a:p>
        </p:txBody>
      </p:sp>
      <p:sp>
        <p:nvSpPr>
          <p:cNvPr id="14" name="TextBox 13"/>
          <p:cNvSpPr txBox="1"/>
          <p:nvPr/>
        </p:nvSpPr>
        <p:spPr>
          <a:xfrm>
            <a:off x="4605528"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daily /workflow with explicit invocation control.</a:t>
            </a:r>
          </a:p>
        </p:txBody>
      </p:sp>
      <p:sp>
        <p:nvSpPr>
          <p:cNvPr id="15" name="Rounded Rectangle 14"/>
          <p:cNvSpPr/>
          <p:nvPr/>
        </p:nvSpPr>
        <p:spPr>
          <a:xfrm>
            <a:off x="8095488" y="2446020"/>
            <a:ext cx="3453384"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3232" y="2628900"/>
            <a:ext cx="475488" cy="47548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ck_2A2A30.png"/>
          <p:cNvPicPr>
            <a:picLocks noChangeAspect="1"/>
          </p:cNvPicPr>
          <p:nvPr/>
        </p:nvPicPr>
        <p:blipFill>
          <a:blip r:embed="rId4"/>
          <a:stretch>
            <a:fillRect/>
          </a:stretch>
        </p:blipFill>
        <p:spPr>
          <a:xfrm>
            <a:off x="8461248" y="2756916"/>
            <a:ext cx="219456" cy="219456"/>
          </a:xfrm>
          <a:prstGeom prst="rect">
            <a:avLst/>
          </a:prstGeom>
        </p:spPr>
      </p:pic>
      <p:sp>
        <p:nvSpPr>
          <p:cNvPr id="18" name="TextBox 17"/>
          <p:cNvSpPr txBox="1"/>
          <p:nvPr/>
        </p:nvSpPr>
        <p:spPr>
          <a:xfrm>
            <a:off x="8333232" y="3250691"/>
            <a:ext cx="2977896" cy="566928"/>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One hook</a:t>
            </a:r>
          </a:p>
        </p:txBody>
      </p:sp>
      <p:sp>
        <p:nvSpPr>
          <p:cNvPr id="19" name="TextBox 18"/>
          <p:cNvSpPr txBox="1"/>
          <p:nvPr/>
        </p:nvSpPr>
        <p:spPr>
          <a:xfrm>
            <a:off x="8333232" y="3890772"/>
            <a:ext cx="2977896" cy="1527048"/>
          </a:xfrm>
          <a:prstGeom prst="rect">
            <a:avLst/>
          </a:prstGeom>
          <a:noFill/>
        </p:spPr>
        <p:txBody>
          <a:bodyPr wrap="square" anchor="t">
            <a:spAutoFit/>
          </a:bodyPr>
          <a:lstStyle/>
          <a:p>
            <a:pPr algn="l">
              <a:lnSpc>
                <a:spcPct val="114000"/>
              </a:lnSpc>
              <a:spcBef>
                <a:spcPts val="0"/>
              </a:spcBef>
              <a:spcAft>
                <a:spcPts val="200"/>
              </a:spcAft>
            </a:pPr>
            <a:r>
              <a:rPr sz="1450" b="0">
                <a:solidFill>
                  <a:srgbClr val="ACACB4"/>
                </a:solidFill>
                <a:latin typeface="Instrument Sans"/>
              </a:rPr>
              <a:t>A safety rule, committed to git.</a:t>
            </a:r>
          </a:p>
        </p:txBody>
      </p:sp>
      <p:sp>
        <p:nvSpPr>
          <p:cNvPr id="20" name="Rounded Rectangle 19"/>
          <p:cNvSpPr/>
          <p:nvPr/>
        </p:nvSpPr>
        <p:spPr>
          <a:xfrm>
            <a:off x="640080" y="5760720"/>
            <a:ext cx="10908792" cy="658368"/>
          </a:xfrm>
          <a:prstGeom prst="roundRect">
            <a:avLst>
              <a:gd name="adj" fmla="val 16000"/>
            </a:avLst>
          </a:prstGeom>
          <a:solidFill>
            <a:srgbClr val="173527"/>
          </a:solidFill>
          <a:ln w="9525">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46B17A.png"/>
          <p:cNvPicPr>
            <a:picLocks noChangeAspect="1"/>
          </p:cNvPicPr>
          <p:nvPr/>
        </p:nvPicPr>
        <p:blipFill>
          <a:blip r:embed="rId5"/>
          <a:stretch>
            <a:fillRect/>
          </a:stretch>
        </p:blipFill>
        <p:spPr>
          <a:xfrm>
            <a:off x="877824" y="5907024"/>
            <a:ext cx="365760" cy="365760"/>
          </a:xfrm>
          <a:prstGeom prst="rect">
            <a:avLst/>
          </a:prstGeom>
        </p:spPr>
      </p:pic>
      <p:sp>
        <p:nvSpPr>
          <p:cNvPr id="22" name="TextBox 21"/>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BFE6D2"/>
                </a:solidFill>
                <a:latin typeface="Instrument Sans"/>
              </a:rPr>
              <a:t>Bring all three tomorrow - Day 3 wires them into subagents and CI.</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8.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CLOSE - DAY 3 BRIDGE</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Skills + subagents: the multiplier</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Tomorrow your standards stop being loaded - they get delegated.</a:t>
            </a:r>
          </a:p>
        </p:txBody>
      </p:sp>
      <p:sp>
        <p:nvSpPr>
          <p:cNvPr id="7" name="Rounded Rectangle 6"/>
          <p:cNvSpPr/>
          <p:nvPr/>
        </p:nvSpPr>
        <p:spPr>
          <a:xfrm>
            <a:off x="5349240" y="3474720"/>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7976"/>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_2A2A30.png"/>
          <p:cNvPicPr>
            <a:picLocks noChangeAspect="1"/>
          </p:cNvPicPr>
          <p:nvPr/>
        </p:nvPicPr>
        <p:blipFill>
          <a:blip r:embed="rId3"/>
          <a:stretch>
            <a:fillRect/>
          </a:stretch>
        </p:blipFill>
        <p:spPr>
          <a:xfrm>
            <a:off x="5776630" y="3771046"/>
            <a:ext cx="260786" cy="260786"/>
          </a:xfrm>
          <a:prstGeom prst="rect">
            <a:avLst/>
          </a:prstGeom>
        </p:spPr>
      </p:pic>
      <p:sp>
        <p:nvSpPr>
          <p:cNvPr id="10" name="TextBox 9"/>
          <p:cNvSpPr txBox="1"/>
          <p:nvPr/>
        </p:nvSpPr>
        <p:spPr>
          <a:xfrm>
            <a:off x="6464807" y="3474720"/>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Today</a:t>
            </a:r>
            <a:r>
              <a:rPr sz="1400" b="0">
                <a:solidFill>
                  <a:srgbClr val="ACACB4"/>
                </a:solidFill>
                <a:latin typeface="Instrument Sans"/>
              </a:rPr>
              <a:t>  -  skills load into one session on demand</a:t>
            </a:r>
          </a:p>
        </p:txBody>
      </p:sp>
      <p:sp>
        <p:nvSpPr>
          <p:cNvPr id="11" name="Rounded Rectangle 10"/>
          <p:cNvSpPr/>
          <p:nvPr/>
        </p:nvSpPr>
        <p:spPr>
          <a:xfrm>
            <a:off x="5349240" y="4474464"/>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617720"/>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ople_2A2A30.png"/>
          <p:cNvPicPr>
            <a:picLocks noChangeAspect="1"/>
          </p:cNvPicPr>
          <p:nvPr/>
        </p:nvPicPr>
        <p:blipFill>
          <a:blip r:embed="rId4"/>
          <a:stretch>
            <a:fillRect/>
          </a:stretch>
        </p:blipFill>
        <p:spPr>
          <a:xfrm>
            <a:off x="5776630" y="4770790"/>
            <a:ext cx="260786" cy="260786"/>
          </a:xfrm>
          <a:prstGeom prst="rect">
            <a:avLst/>
          </a:prstGeom>
        </p:spPr>
      </p:pic>
      <p:sp>
        <p:nvSpPr>
          <p:cNvPr id="14" name="TextBox 13"/>
          <p:cNvSpPr txBox="1"/>
          <p:nvPr/>
        </p:nvSpPr>
        <p:spPr>
          <a:xfrm>
            <a:off x="6464807" y="4474464"/>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Tomorrow</a:t>
            </a:r>
            <a:r>
              <a:rPr sz="1400" b="0">
                <a:solidFill>
                  <a:srgbClr val="ACACB4"/>
                </a:solidFill>
                <a:latin typeface="Instrument Sans"/>
              </a:rPr>
              <a:t>  -  subagents run your skills in parallel, isolated</a:t>
            </a:r>
          </a:p>
        </p:txBody>
      </p:sp>
      <p:sp>
        <p:nvSpPr>
          <p:cNvPr id="15" name="Rounded Rectangle 14"/>
          <p:cNvSpPr/>
          <p:nvPr/>
        </p:nvSpPr>
        <p:spPr>
          <a:xfrm>
            <a:off x="5349240" y="5474208"/>
            <a:ext cx="6385255" cy="8534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617463"/>
            <a:ext cx="566928" cy="566928"/>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ocket_2A2A30.png"/>
          <p:cNvPicPr>
            <a:picLocks noChangeAspect="1"/>
          </p:cNvPicPr>
          <p:nvPr/>
        </p:nvPicPr>
        <p:blipFill>
          <a:blip r:embed="rId5"/>
          <a:stretch>
            <a:fillRect/>
          </a:stretch>
        </p:blipFill>
        <p:spPr>
          <a:xfrm>
            <a:off x="5776630" y="5770534"/>
            <a:ext cx="260786" cy="260786"/>
          </a:xfrm>
          <a:prstGeom prst="rect">
            <a:avLst/>
          </a:prstGeom>
        </p:spPr>
      </p:pic>
      <p:sp>
        <p:nvSpPr>
          <p:cNvPr id="18" name="TextBox 17"/>
          <p:cNvSpPr txBox="1"/>
          <p:nvPr/>
        </p:nvSpPr>
        <p:spPr>
          <a:xfrm>
            <a:off x="6464807" y="5474208"/>
            <a:ext cx="5041087" cy="853440"/>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The payoff</a:t>
            </a:r>
            <a:r>
              <a:rPr sz="1400" b="0">
                <a:solidFill>
                  <a:srgbClr val="ACACB4"/>
                </a:solidFill>
                <a:latin typeface="Instrument Sans"/>
              </a:rPr>
              <a:t>  -  a security-review agent per PR, automatically</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1.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30352"/>
            <a:ext cx="10881360" cy="310896"/>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END OF DAY 2</a:t>
            </a:r>
          </a:p>
        </p:txBody>
      </p:sp>
      <p:sp>
        <p:nvSpPr>
          <p:cNvPr id="5" name="TextBox 4"/>
          <p:cNvSpPr txBox="1"/>
          <p:nvPr/>
        </p:nvSpPr>
        <p:spPr>
          <a:xfrm>
            <a:off x="621792" y="914400"/>
            <a:ext cx="6949440" cy="1280160"/>
          </a:xfrm>
          <a:prstGeom prst="rect">
            <a:avLst/>
          </a:prstGeom>
          <a:noFill/>
        </p:spPr>
        <p:txBody>
          <a:bodyPr wrap="square" anchor="t">
            <a:spAutoFit/>
          </a:bodyPr>
          <a:lstStyle/>
          <a:p>
            <a:pPr algn="l">
              <a:lnSpc>
                <a:spcPct val="100000"/>
              </a:lnSpc>
              <a:spcBef>
                <a:spcPts val="0"/>
              </a:spcBef>
              <a:spcAft>
                <a:spcPts val="200"/>
              </a:spcAft>
            </a:pPr>
            <a:r>
              <a:rPr sz="3800" b="1">
                <a:solidFill>
                  <a:srgbClr val="F5F5F6"/>
                </a:solidFill>
                <a:latin typeface="Instrument Sans"/>
              </a:rPr>
              <a:t>You taught it your standards</a:t>
            </a:r>
          </a:p>
        </p:txBody>
      </p:sp>
      <p:sp>
        <p:nvSpPr>
          <p:cNvPr id="6" name="Rectangle 5"/>
          <p:cNvSpPr/>
          <p:nvPr/>
        </p:nvSpPr>
        <p:spPr>
          <a:xfrm>
            <a:off x="64008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What you shipped</a:t>
            </a:r>
          </a:p>
        </p:txBody>
      </p:sp>
      <p:sp>
        <p:nvSpPr>
          <p:cNvPr id="8" name="TextBox 7"/>
          <p:cNvSpPr txBox="1"/>
          <p:nvPr/>
        </p:nvSpPr>
        <p:spPr>
          <a:xfrm>
            <a:off x="64008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Two tested skills, two hooks, and a validated plugin a classmate installed from a team marketplace. All committed, all portable.</a:t>
            </a:r>
          </a:p>
        </p:txBody>
      </p:sp>
      <p:sp>
        <p:nvSpPr>
          <p:cNvPr id="9" name="Rectangle 8"/>
          <p:cNvSpPr/>
          <p:nvPr/>
        </p:nvSpPr>
        <p:spPr>
          <a:xfrm>
            <a:off x="420624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Tomorrow</a:t>
            </a:r>
          </a:p>
        </p:txBody>
      </p:sp>
      <p:sp>
        <p:nvSpPr>
          <p:cNvPr id="11" name="TextBox 10"/>
          <p:cNvSpPr txBox="1"/>
          <p:nvPr/>
        </p:nvSpPr>
        <p:spPr>
          <a:xfrm>
            <a:off x="420624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Day 3 multiplies it: MCP in depth, subagents and agent teams running your skills in parallel, and headless CI/CD with cost controls.</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822960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AIA Copilot</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AIA Training Factory 2026.06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