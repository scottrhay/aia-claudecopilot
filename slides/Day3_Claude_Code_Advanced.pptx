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problem that hits every production MCP deployment. You've got an agent connected to 20, 30, maybe 50 MCP servers. Each server exposes multiple tools. Every tool definition — what it does, what parameters it accepts, what format it expects, what it returns — gets loaded into your agent's context window upfront. Before your agent does ANYTHING, it's consumed tens of thousands of tokens just loading the instruction manual.</a:t>
            </a:r>
          </a:p>
          <a:p/>
          <a:p>
            <a:r>
              <a:t>KEY POINTS:</a:t>
            </a:r>
          </a:p>
          <a:p>
            <a:r>
              <a:t>   * With direct tool calling, every tool definition gets loaded into context before the agent takes any action. It's like handing someone a 500-page manual before they can make a phone call.</a:t>
            </a:r>
          </a:p>
          <a:p>
            <a:r>
              <a:t>   * Then there's the intermediate results problem. Agent calls Tool A, result flows through context. Agent processes, calls Tool B, another result through context. For complex workflows with 10, 20, 30 tool calls, you're passing massive amounts of data back and forth through the context window.</a:t>
            </a:r>
          </a:p>
          <a:p>
            <a:r>
              <a:t>   * This creates three cascading problems: cost spirals because more tokens mean higher API bills, latency increases because the model processes all those tokens, and you hit context limits fast — burning 150,000 tokens on tool definitions and intermediate results leaves no room for the actual task.</a:t>
            </a:r>
          </a:p>
          <a:p/>
          <a:p>
            <a:r>
              <a:t>TRANSITION:</a:t>
            </a:r>
          </a:p>
          <a:p>
            <a:r>
              <a:t>   Anthropic figured out an elegant solution to this. Instead of making your agent call tools directly, you treat MCP servers as code APIs.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Anthropic's solution flips the model. Instead of the agent calling tools through the API, the agent writes code that imports MCP servers as modules and executes everything in a sandbox.</a:t>
            </a:r>
          </a:p>
          <a:p/>
          <a:p>
            <a:r>
              <a:t>KEY POINTS:</a:t>
            </a:r>
          </a:p>
          <a:p>
            <a:r>
              <a:t>   * The key insight: MCP servers become code APIs. Instead of exposing tools as function calls the model invokes directly, you present them as modules the agent can import and use programmatically — TypeScript modules, Python packages, whatever your execution environment supports.</a:t>
            </a:r>
          </a:p>
          <a:p>
            <a:r>
              <a:t>   * Here's the difference in practice. Say your agent needs to search Salesforce records, filter results, and create a summary. Traditional way: load all Salesforce tool definitions into context — thousands of tokens. Call search — full results come back through context, maybe 50,000 tokens. Call filter — filtered results through context. Call summary — summary back. That's three round trips with massive data flowing through the model each time.</a:t>
            </a:r>
          </a:p>
          <a:p>
            <a:r>
              <a:t>   * Code execution way: the agent writes a script that imports the Salesforce module, searches, filters in-memory, summarizes, and returns ONLY the final summary object. The intermediate data — those 1,000 search results — never touches the model's context. They live and die in the execution environment.</a:t>
            </a:r>
          </a:p>
          <a:p>
            <a:r>
              <a:t>   * Anthropic tested this: workflows that consumed 150,000 tokens dropped to 2,000. That's a 98.7 percent reduction. And it's not just cheaper — it's faster, because you're executing code instead of making sequential round-trip API calls.</a:t>
            </a:r>
          </a:p>
          <a:p/>
          <a:p>
            <a:r>
              <a:t>TRANSITION:</a:t>
            </a:r>
          </a:p>
          <a:p>
            <a:r>
              <a:t>   Let's look at what this looks like in actual code.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 me show you both approaches side by side so you can see the difference.</a:t>
            </a:r>
          </a:p>
          <a:p/>
          <a:p>
            <a:r>
              <a:t>KEY POINTS:</a:t>
            </a:r>
          </a:p>
          <a:p>
            <a:r>
              <a:t>   * In the traditional approach on this slide, every step is a separate tool call. The agent calls search — 1,000 records come back THROUGH the context window. Then it calls filter — passing those records back to another tool, results come back through context again. Then summarize — more data through context. Three round trips, massive token consumption.</a:t>
            </a:r>
          </a:p>
          <a:p>
            <a:r>
              <a:t>   * Now look at the code execution approach. The agent writes a single script that imports the Salesforce MCP server as a module. It searches, filters with a standard array filter — that happens in the execution environment, not in the model's context — then builds a summary object. Only that tiny summary object returns to the model. Maybe 100 tokens instead of 50,000.</a:t>
            </a:r>
          </a:p>
          <a:p>
            <a:r>
              <a:t>   * Notice the agent is writing real code — loops, conditionals, array methods, error handling. This is why Claude Code is particularly well-suited for this pattern. It already thinks in code. Treating MCP servers as code APIs is natural for an agent that writes and executes code all day.</a:t>
            </a:r>
          </a:p>
          <a:p/>
          <a:p>
            <a:r>
              <a:t>TRANSITION:</a:t>
            </a:r>
          </a:p>
          <a:p>
            <a:r>
              <a:t>   This pattern unlocks seven specific benefits for production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the code execution version. The agent writes this script, it runs in a sandboxed environment, and only the return value goes back to the model.</a:t>
            </a:r>
          </a:p>
          <a:p/>
          <a:p>
            <a:r>
              <a:t>KEY POINTS:</a:t>
            </a:r>
          </a:p>
          <a:p>
            <a:r>
              <a:t>   * The import statement pulls in only the Salesforce MCP server — not every tool in your ecosystem. This is progressive tool discovery. The agent loads what it needs, when it needs it.</a:t>
            </a:r>
          </a:p>
          <a:p>
            <a:r>
              <a:t>   * The search returns 1,000 records but they stay in the execution environment. The filter, sort, and aggregation all happen in code. The model never sees those 1,000 records.</a:t>
            </a:r>
          </a:p>
          <a:p>
            <a:r>
              <a:t>   * The return object is maybe 100 tokens. Compare that to passing 1,000 full records through context. This is the 98 percent reduction in action.</a:t>
            </a:r>
          </a:p>
          <a:p/>
          <a:p>
            <a:r>
              <a:t>TRANSITION:</a:t>
            </a:r>
          </a:p>
          <a:p>
            <a:r>
              <a:t>   Let's talk about why this matters beyond just token savings.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token savings alone justify this approach, but there are six more benefits that make it essential for production.</a:t>
            </a:r>
          </a:p>
          <a:p/>
          <a:p>
            <a:r>
              <a:t>KEY POINTS:</a:t>
            </a:r>
          </a:p>
          <a:p>
            <a:r>
              <a:t>   * Token efficiency: 98 percent reduction means the economics change completely. A workflow that cost dollars now costs pennies. You can connect agents to entire ecosystems of tools without worrying about context limits.</a:t>
            </a:r>
          </a:p>
          <a:p>
            <a:r>
              <a:t>   * Progressive tool discovery: your agent can browse available tools, search for specific functionality, or read documentation only when needed. You can implement a search_tools function that finds relevant tools based on the current task. This solves context bloat completely.</a:t>
            </a:r>
          </a:p>
          <a:p>
            <a:r>
              <a:t>   * In-environment data processing: filter, transform, aggregate — all inside the sandbox before it reaches the model. 10,000 spreadsheet rows become 5 relevant rows before the model ever sees them.</a:t>
            </a:r>
          </a:p>
          <a:p>
            <a:r>
              <a:t>   * Better control flow: real code gives you loops, conditionals, error handling, try-catch blocks. Instead of 50 separate tool calls with 50 round-trips, one execution handles all 50 operations.</a:t>
            </a:r>
          </a:p>
          <a:p>
            <a:r>
              <a:t>   * Privacy: sensitive data flows through workflows without entering the model's context. Only explicitly returned values become visible. Process confidential information, make decisions, return only the final result.</a:t>
            </a:r>
          </a:p>
          <a:p>
            <a:r>
              <a:t>   * State persistence: save intermediate results to files, resume later. Long-running tasks can checkpoint progress and pick up where they left off across sessions.</a:t>
            </a:r>
          </a:p>
          <a:p>
            <a:r>
              <a:t>   * Reusable skills: over time you build a library of higher-level capabilities. Complex multi-step operations become single function calls. Anthropic suggests documenting these with SKILL.md files — which we covered earlier in this course.</a:t>
            </a:r>
          </a:p>
          <a:p/>
          <a:p>
            <a:r>
              <a:t>ASK THE CLASS:</a:t>
            </a:r>
          </a:p>
          <a:p>
            <a:r>
              <a:t>   "Think about a workflow in your organization that chains multiple API calls together. How would this pattern change the economics and performance of that workflow?"</a:t>
            </a:r>
          </a:p>
          <a:p>
            <a:r>
              <a:t>   [PAUSE for 30-60 seconds]</a:t>
            </a:r>
          </a:p>
          <a:p/>
          <a:p>
            <a:r>
              <a:t>TRANSITION:</a:t>
            </a:r>
          </a:p>
          <a:p>
            <a:r>
              <a:t>   There is a trade-off, though. This approach adds complexity — you need a secure code execution environment with sandboxing, resource limits, and monitoring. For simple agents with 3 to 5 tools, direct tool calling still works fine. But for production agents at scale, this is the architecture you want.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isn't an either-or decision. Both approaches have their place.</a:t>
            </a:r>
          </a:p>
          <a:p/>
          <a:p>
            <a:r>
              <a:t>KEY POINTS:</a:t>
            </a:r>
          </a:p>
          <a:p>
            <a:r>
              <a:t>   * Direct tool calling is perfectly fine for simple agents with a handful of tools and straightforward workflows. If you're prototyping, building demos, or your agent only needs 3 to 5 tools, the overhead of setting up code execution isn't worth it.</a:t>
            </a:r>
          </a:p>
          <a:p>
            <a:r>
              <a:t>   * Code execution becomes essential when you're building production agents that connect to dozens of services, handle complex multi-step workflows, process large datasets, or deal with sensitive information.</a:t>
            </a:r>
          </a:p>
          <a:p>
            <a:r>
              <a:t>   * The trade-off is implementation complexity. You need a secure sandbox — proper resource limits, monitoring, and isolation. But for production AI applications that need to scale, the benefits in cost, speed, and capability far outweigh the setup cost.</a:t>
            </a:r>
          </a:p>
          <a:p>
            <a:r>
              <a:t>   * One more thing: this connects directly to the Skills pattern we covered earlier. When your agent builds reusable code that interacts with MCP servers, those become Skills — documented, tested, reusable capabilities that make the agent more powerful over time.</a:t>
            </a:r>
          </a:p>
          <a:p/>
          <a:p>
            <a:r>
              <a:t>TRANSITION:</a:t>
            </a:r>
          </a:p>
          <a:p>
            <a:r>
              <a:t>   Let's take a break, and then we'll move into the hands-on lab where you'll build your own MCP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a:t>
            </a:r>
          </a:p>
          <a:p>
            <a:pPr>
              <a:spcBef>
                <a:spcPts val="800"/>
              </a:spcBef>
              <a:spcAft>
                <a:spcPts val="800"/>
              </a:spcAft>
              <a:defRPr sz="2200">
                <a:solidFill>
                  <a:srgbClr val="FFFFFF"/>
                </a:solidFill>
              </a:defRPr>
            </a:pPr>
            <a:r>
              <a:t>  Specialized knowledge goes into skills that activate on demand.</a:t>
            </a:r>
          </a:p>
          <a:p>
            <a:pPr>
              <a:spcBef>
                <a:spcPts val="800"/>
              </a:spcBef>
              <a:spcAft>
                <a:spcPts val="800"/>
              </a:spcAft>
              <a:defRPr sz="2200">
                <a:solidFill>
                  <a:srgbClr val="FFFFFF"/>
                </a:solidFill>
              </a:defRPr>
            </a:pPr>
            <a:r>
              <a:t>  This keeps your base context lean — better performance for routine tasks.</a:t>
            </a:r>
          </a:p>
          <a:p>
            <a:pPr>
              <a:spcBef>
                <a:spcPts val="800"/>
              </a:spcBef>
              <a:spcAft>
                <a:spcPts val="800"/>
              </a:spcAft>
              <a:defRPr sz="2200">
                <a:solidFill>
                  <a:srgbClr val="FFFFFF"/>
                </a:solidFill>
              </a:defRPr>
            </a:pPr>
            <a:r>
              <a:t>  When you need specialized knowledge, the skill brings in exactly the right context.</a:t>
            </a:r>
          </a:p>
          <a:p>
            <a:pPr>
              <a:spcBef>
                <a:spcPts val="800"/>
              </a:spcBef>
              <a:spcAft>
                <a:spcPts val="800"/>
              </a:spcAft>
              <a:defRPr sz="2200">
                <a:solidFill>
                  <a:srgbClr val="FFFFFF"/>
                </a:solidFill>
              </a:defRPr>
            </a:pPr>
            <a:r>
              <a:t>  This is Engineering Principle #9 in action: Keep Categories Painfully Small — even your context categories.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Token Problem:</a:t>
            </a:r>
            <a:br/>
            <a:r>
              <a:t>150,000 tokens for one workflow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with MCP: 98% Token Reduction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Approach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Traditional Tool Calling vs Code Execution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PYTHON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Traditional: 3 tool calls, all data through context</a:t>
            </a:r>
            <a:br/>
            <a:r>
              <a:t>results = agent.call_tool("search_salesforce",</a:t>
            </a:r>
            <a:br/>
            <a:r>
              <a:t>  {"query": "active accounts"})</a:t>
            </a:r>
            <a:br/>
            <a:r>
              <a:t># 1000 records flow through context window</a:t>
            </a:r>
            <a:br/>
            <a:r>
              <a:t>filtered = agent.call_tool("filter_records",</a:t>
            </a:r>
            <a:br/>
            <a:r>
              <a:t>  {"data": results, "condition": "revenue &gt; 1M"})</a:t>
            </a:r>
            <a:br/>
            <a:r>
              <a:t>summary = agent.call_tool("summarize", {"data": filtered})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Approach</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Agent writes this — executes in sandbox</a:t>
            </a:r>
            <a:br/>
            <a:r>
              <a:t>import { salesforce } from 'mcp-servers';</a:t>
            </a:r>
            <a:br/>
            <a:br/>
            <a:r>
              <a:t>const results = await salesforce.search(</a:t>
            </a:r>
            <a:br/>
            <a:r>
              <a:t>  { query: "active accounts" });</a:t>
            </a:r>
            <a:br/>
            <a:r>
              <a:t>// 1000 records stay in execution environment</a:t>
            </a:r>
            <a:br/>
            <a:r>
              <a:t>const filtered = results.filter(</a:t>
            </a:r>
            <a:br/>
            <a:r>
              <a:t>  r =&gt; r.revenue &gt; 1000000);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7 Benefits of Code Execution with MCP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98% Token Reduction</a:t>
            </a:r>
          </a:p>
          <a:p>
            <a:pPr algn="ctr">
              <a:spcBef>
                <a:spcPts val="800"/>
              </a:spcBef>
              <a:defRPr sz="1300">
                <a:solidFill>
                  <a:srgbClr val="8B95A5"/>
                </a:solidFill>
              </a:defRPr>
            </a:pPr>
            <a:r>
              <a:t>150K → 2K tokens per workflow. API costs drop proportionally. Build complex agents without hitting context limits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Progressive Discovery</a:t>
            </a:r>
          </a:p>
          <a:p>
            <a:pPr algn="ctr">
              <a:spcBef>
                <a:spcPts val="800"/>
              </a:spcBef>
              <a:defRPr sz="1300">
                <a:solidFill>
                  <a:srgbClr val="8B95A5"/>
                </a:solidFill>
              </a:defRPr>
            </a:pPr>
            <a:r>
              <a:t>Agent browses and imports only needed tools. No upfront catalog loading. Scales to hundreds of MCP servers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Privacy &amp; Control</a:t>
            </a:r>
          </a:p>
          <a:p>
            <a:pPr algn="ctr">
              <a:spcBef>
                <a:spcPts val="800"/>
              </a:spcBef>
              <a:defRPr sz="1300">
                <a:solidFill>
                  <a:srgbClr val="8B95A5"/>
                </a:solidFill>
              </a:defRPr>
            </a:pPr>
            <a:r>
              <a:t>Sensitive data flows through workflows without entering model context. Only returned values are visible to the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Approach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with MCP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Each sub-agent has a persona-specific system prompt that shapes its review lens.</a:t>
            </a:r>
          </a:p>
          <a:p>
            <a:pPr>
              <a:spcBef>
                <a:spcPts val="800"/>
              </a:spcBef>
              <a:spcAft>
                <a:spcPts val="800"/>
              </a:spcAft>
              <a:defRPr sz="2200">
                <a:solidFill>
                  <a:srgbClr val="FFFFFF"/>
                </a:solidFill>
              </a:defRPr>
            </a:pPr>
            <a:r>
              <a:t>  Engineer focuses on: technical feasibility, performance, security, architecture.</a:t>
            </a:r>
          </a:p>
          <a:p>
            <a:pPr>
              <a:spcBef>
                <a:spcPts val="800"/>
              </a:spcBef>
              <a:spcAft>
                <a:spcPts val="800"/>
              </a:spcAft>
              <a:defRPr sz="2200">
                <a:solidFill>
                  <a:srgbClr val="FFFFFF"/>
                </a:solidFill>
              </a:defRPr>
            </a:pPr>
            <a:r>
              <a:t>  UX focuses on: user flow, accessibility, cognitive load, edge cases.</a:t>
            </a:r>
          </a:p>
          <a:p>
            <a:pPr>
              <a:spcBef>
                <a:spcPts val="800"/>
              </a:spcBef>
              <a:spcAft>
                <a:spcPts val="800"/>
              </a:spcAft>
              <a:defRPr sz="2200">
                <a:solidFill>
                  <a:srgbClr val="FFFFFF"/>
                </a:solidFill>
              </a:defRPr>
            </a:pPr>
            <a:r>
              <a:t>  Business focuses on: market fit, pricing, competitive positioning, ROI.</a:t>
            </a:r>
          </a:p>
          <a:p>
            <a:pPr>
              <a:spcBef>
                <a:spcPts val="800"/>
              </a:spcBef>
              <a:spcAft>
                <a:spcPts val="800"/>
              </a:spcAft>
              <a:defRPr sz="2200">
                <a:solidFill>
                  <a:srgbClr val="FFFFFF"/>
                </a:solidFill>
              </a:defRPr>
            </a:pPr>
            <a:r>
              <a:t>  The synthesis is where the magic happens — agreements validate, conflicts highlight blind spots.</a:t>
            </a:r>
          </a:p>
          <a:p>
            <a:pPr>
              <a:spcBef>
                <a:spcPts val="800"/>
              </a:spcBef>
              <a:spcAft>
                <a:spcPts val="800"/>
              </a:spcAft>
              <a:defRPr sz="2200">
                <a:solidFill>
                  <a:srgbClr val="FFFFFF"/>
                </a:solidFill>
              </a:defRPr>
            </a:pPr>
            <a:r>
              <a:t>  Source: Mohit Aggarwal, Claude Code for Product Managers.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Large changes (&gt;15 files): Context degrades, errors compound across files, Claude loses track of dependencies.</a:t>
            </a:r>
          </a:p>
          <a:p>
            <a:pPr>
              <a:spcBef>
                <a:spcPts val="800"/>
              </a:spcBef>
              <a:spcAft>
                <a:spcPts val="800"/>
              </a:spcAft>
              <a:defRPr sz="2200">
                <a:solidFill>
                  <a:srgbClr val="FFFFFF"/>
                </a:solidFill>
              </a:defRPr>
            </a:pPr>
            <a:r>
              <a:t>  Architecture decisions: Claude optimizes locally — it makes each function great but may miss system-level design issues.</a:t>
            </a:r>
          </a:p>
          <a:p>
            <a:pPr>
              <a:spcBef>
                <a:spcPts val="800"/>
              </a:spcBef>
              <a:spcAft>
                <a:spcPts val="800"/>
              </a:spcAft>
              <a:defRPr sz="2200">
                <a:solidFill>
                  <a:srgbClr val="FFFFFF"/>
                </a:solidFill>
              </a:defRPr>
            </a:pPr>
            <a:r>
              <a:t>  Verification boundary: If you can't review and understand the code, you shouldn't ship it.</a:t>
            </a:r>
          </a:p>
          <a:p>
            <a:pPr>
              <a:spcBef>
                <a:spcPts val="800"/>
              </a:spcBef>
              <a:spcAft>
                <a:spcPts val="800"/>
              </a:spcAft>
              <a:defRPr sz="2200">
                <a:solidFill>
                  <a:srgbClr val="FFFFFF"/>
                </a:solidFill>
              </a:defRPr>
            </a:pPr>
            <a:r>
              <a:t>  Novel work: Claude recombines known patterns brilliantly but doesn't truly invent new algorithms.</a:t>
            </a:r>
          </a:p>
          <a:p>
            <a:pPr>
              <a:spcBef>
                <a:spcPts val="800"/>
              </a:spcBef>
              <a:spcAft>
                <a:spcPts val="800"/>
              </a:spcAft>
              <a:defRPr sz="2200">
                <a:solidFill>
                  <a:srgbClr val="FFFFFF"/>
                </a:solidFill>
              </a:defRPr>
            </a:pPr>
            <a:r>
              <a:t>  The 3 AM test: Could you debug this code at 3 AM without Claude? If not, you need to understand it better before ship...</a:t>
            </a:r>
          </a:p>
          <a:p>
            <a:pPr>
              <a:spcBef>
                <a:spcPts val="800"/>
              </a:spcBef>
              <a:spcAft>
                <a:spcPts val="800"/>
              </a:spcAft>
              <a:defRPr sz="2200">
                <a:solidFill>
                  <a:srgbClr val="FFFFFF"/>
                </a:solidFill>
              </a:defRPr>
            </a:pPr>
            <a:r>
              <a:t>  This is why Plan Mode, decomposition, and verification matter — they keep you in control.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