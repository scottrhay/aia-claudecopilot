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r>
              <a:t>   * Cole Medin's PIV Loop — Plan, Implement, Validate — captures the discipline here. The plan is your spec. Implementation is Claude Code building it. Validation is /review, /test, and browser-based end-to-end checks. The mistake most teams make: they skip the V. They let Claude generate code and immediately ship it. These commands make validation a one-line habit, not a forgotten afterthought.</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r>
              <a:t>   * Here's a real-world validation pattern from Cole Medin: spawn three parallel sub-agents — one analyzes app structure and user journeys, one maps the database schema, one does a code review bug hunt. All three run simultaneously, then their findings feed back to the main session which orchestrates sequential end-to-end testing. That's the power of this pattern — research in parallel, act on the combined intelligence.</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r>
              <a:t>   * One advanced pattern worth calling out: the .claude/rules/ directory. Instead of cramming everything into one CLAUDE.md, you create modular rule files. testing-conventions.md, api-standards.md, python-guidelines.md — each focused on one topic. These load as project rules and get shared with your team via git. Combined with auto memory where Claude writes its own notes about your project, and CLAUDE.local.md for personal overrides that never hit the repo, you have a full knowledge architecture: team rules in .claude/rules/, project context in CLAUDE.md, personal preferences in CLAUDE.local.md, and Claude's own learnings in auto memory. That is the complete picture.</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r>
              <a:t>   * Here is the build checklist I recommend when creating any skill from scratch. Step one: define the name and trigger — when should this skill activate? Step two: define the goal — one sentence on what this skill produces. Step three: specify connectors and tools — which MCPs or APIs does it need? Step four: lay out the step-by-step process. For each step, ask yourself: what does it need to do, when should a human review the output, what reference files should it load at this step, and what should the output look like? Step five: define rules — predict what could go wrong and write it down as a rule. Step six: add progressive updates — instruct the skill to improve itself. For example: when the user approves the final output, save it as a good example. When the user corrects something, add it to the rules section. This is the framework that separates a basic skill from a production-quality one.</a:t>
            </a:r>
          </a:p>
          <a:p>
            <a:r>
              <a:t>   * Pro tip: instruct your skill to present three to five variations at human-in-the-loop steps instead of one output. Let the human pick the best option. This is faster than generating one version, reviewing it, asking for changes, reviewing again. Multiple options with a pick-one interaction pattern saves a surprising amount of time.</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a:p>
            <a:br/>
            <a:br/>
            <a:r>
              <a:t>INDUSTRY VALIDATION: This isn't a Claude-only pattern. Microsoft's Agent Framework just adopted the same architecture — SKILL.md files with progressive disclosure. Sergey Menshykh at Microsoft published the approach: advertise available skills at around 100 tokens, load the right one only when needed at under 5K tokens, pull extra resources on demand. When you learn to build skills here, you're learning an industry pattern that works across Claude, Microsoft Agent Framework, Cursor, and Codex. The mental model is transferable.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r>
              <a:t>   * When a skill needs improvement, here is the decision tree. If the process is wrong — the steps are out of order or missing — update SKILL.md. If it needs more context — background information, examples, style guides — add a reference file. Keep SKILL.md focused on the process. Additional information goes in reference files. If it makes a recurring mistake you never want repeated — add it to the rules section. If it struggles to use a specific tool or MCP — guide it manually through the action once, then ask it to create an MCP reference doc on how to do that task. If it produces a great output — save it as an example so the skill learns what good looks like. This decision tree is how skills become self-improving over time. The skill is never finished. The more you use it, the better it gets.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r>
              <a:t>   * Common troubleshooting when skills don't work as expected. Skill won't trigger: check the description in your frontmatter — Claude matches on description text, not the filename. Make the description specific about when to activate. Priority conflict: if two skills match the same prompt, the more specific description wins. Add disambiguating language to one or both. Reference file not loaded: Claude only loads reference files when the SKILL.md explicitly instructs it to. Double down on 'you MUST read reference-file.md before step 3' language. SKILL.md too bloated: if performance degrades, move detailed context into reference files. Keep SKILL.md under 200 lines focused purely on the process flow.</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problem that hits every production MCP deployment. You've got an agent connected to 20, 30, maybe 50 MCP servers. Each server exposes multiple tools. Every tool definition — what it does, what parameters it accepts, what format it expects, what it returns — gets loaded into your agent's context window upfront. Before your agent does ANYTHING, it's consumed tens of thousands of tokens just loading the instruction manual.</a:t>
            </a:r>
          </a:p>
          <a:p/>
          <a:p>
            <a:r>
              <a:t>KEY POINTS:</a:t>
            </a:r>
          </a:p>
          <a:p>
            <a:r>
              <a:t>   * With direct tool calling, every tool definition gets loaded into context before the agent takes any action. It's like handing someone a 500-page manual before they can make a phone call.</a:t>
            </a:r>
          </a:p>
          <a:p>
            <a:r>
              <a:t>   * Then there's the intermediate results problem. Agent calls Tool A, result flows through context. Agent processes, calls Tool B, another result through context. For complex workflows with 10, 20, 30 tool calls, you're passing massive amounts of data back and forth through the context window.</a:t>
            </a:r>
          </a:p>
          <a:p>
            <a:r>
              <a:t>   * This creates three cascading problems: cost spirals because more tokens mean higher API bills, latency increases because the model processes all those tokens, and you hit context limits fast — burning 150,000 tokens on tool definitions and intermediate results leaves no room for the actual task.</a:t>
            </a:r>
          </a:p>
          <a:p/>
          <a:p>
            <a:r>
              <a:t>TRANSITION:</a:t>
            </a:r>
          </a:p>
          <a:p>
            <a:r>
              <a:t>   Anthropic figured out an elegant solution to this. Instead of making your agent call tools directly, you treat MCP servers as code APIs.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Anthropic's solution flips the model. Instead of the agent calling tools through the API, the agent writes code that imports MCP servers as modules and executes everything in a sandbox.</a:t>
            </a:r>
          </a:p>
          <a:p/>
          <a:p>
            <a:r>
              <a:t>KEY POINTS:</a:t>
            </a:r>
          </a:p>
          <a:p>
            <a:r>
              <a:t>   * The key insight: MCP servers become code APIs. Instead of exposing tools as function calls the model invokes directly, you present them as modules the agent can import and use programmatically — TypeScript modules, Python packages, whatever your execution environment supports.</a:t>
            </a:r>
          </a:p>
          <a:p>
            <a:r>
              <a:t>   * Here's the difference in practice. Say your agent needs to search Salesforce records, filter results, and create a summary. Traditional way: load all Salesforce tool definitions into context — thousands of tokens. Call search — full results come back through context, maybe 50,000 tokens. Call filter — filtered results through context. Call summary — summary back. That's three round trips with massive data flowing through the model each time.</a:t>
            </a:r>
          </a:p>
          <a:p>
            <a:r>
              <a:t>   * Code execution way: the agent writes a script that imports the Salesforce module, searches, filters in-memory, summarizes, and returns ONLY the final summary object. The intermediate data — those 1,000 search results — never touches the model's context. They live and die in the execution environment.</a:t>
            </a:r>
          </a:p>
          <a:p>
            <a:r>
              <a:t>   * Anthropic tested this: workflows that consumed 150,000 tokens dropped to 2,000. That's a 98.7 percent reduction. And it's not just cheaper — it's faster, because you're executing code instead of making sequential round-trip API calls.</a:t>
            </a:r>
          </a:p>
          <a:p/>
          <a:p>
            <a:r>
              <a:t>TRANSITION:</a:t>
            </a:r>
          </a:p>
          <a:p>
            <a:r>
              <a:t>   Let's look at what this looks like in actual code.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 me show you both approaches side by side so you can see the difference.</a:t>
            </a:r>
          </a:p>
          <a:p/>
          <a:p>
            <a:r>
              <a:t>KEY POINTS:</a:t>
            </a:r>
          </a:p>
          <a:p>
            <a:r>
              <a:t>   * In the traditional approach on this slide, every step is a separate tool call. The agent calls search — 1,000 records come back THROUGH the context window. Then it calls filter — passing those records back to another tool, results come back through context again. Then summarize — more data through context. Three round trips, massive token consumption.</a:t>
            </a:r>
          </a:p>
          <a:p>
            <a:r>
              <a:t>   * Now look at the code execution approach. The agent writes a single script that imports the Salesforce MCP server as a module. It searches, filters with a standard array filter — that happens in the execution environment, not in the model's context — then builds a summary object. Only that tiny summary object returns to the model. Maybe 100 tokens instead of 50,000.</a:t>
            </a:r>
          </a:p>
          <a:p>
            <a:r>
              <a:t>   * Notice the agent is writing real code — loops, conditionals, array methods, error handling. This is why Claude Code is particularly well-suited for this pattern. It already thinks in code. Treating MCP servers as code APIs is natural for an agent that writes and executes code all day.</a:t>
            </a:r>
          </a:p>
          <a:p/>
          <a:p>
            <a:r>
              <a:t>TRANSITION:</a:t>
            </a:r>
          </a:p>
          <a:p>
            <a:r>
              <a:t>   This pattern unlocks seven specific benefits for production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the code execution version. The agent writes this script, it runs in a sandboxed environment, and only the return value goes back to the model.</a:t>
            </a:r>
          </a:p>
          <a:p/>
          <a:p>
            <a:r>
              <a:t>KEY POINTS:</a:t>
            </a:r>
          </a:p>
          <a:p>
            <a:r>
              <a:t>   * The import statement pulls in only the Salesforce MCP server — not every tool in your ecosystem. This is progressive tool discovery. The agent loads what it needs, when it needs it.</a:t>
            </a:r>
          </a:p>
          <a:p>
            <a:r>
              <a:t>   * The search returns 1,000 records but they stay in the execution environment. The filter, sort, and aggregation all happen in code. The model never sees those 1,000 records.</a:t>
            </a:r>
          </a:p>
          <a:p>
            <a:r>
              <a:t>   * The return object is maybe 100 tokens. Compare that to passing 1,000 full records through context. This is the 98 percent reduction in action.</a:t>
            </a:r>
          </a:p>
          <a:p/>
          <a:p>
            <a:r>
              <a:t>TRANSITION:</a:t>
            </a:r>
          </a:p>
          <a:p>
            <a:r>
              <a:t>   Let's talk about why this matters beyond just token savings.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token savings alone justify this approach, but there are six more benefits that make it essential for production.</a:t>
            </a:r>
          </a:p>
          <a:p/>
          <a:p>
            <a:r>
              <a:t>KEY POINTS:</a:t>
            </a:r>
          </a:p>
          <a:p>
            <a:r>
              <a:t>   * Token efficiency: 98 percent reduction means the economics change completely. A workflow that cost dollars now costs pennies. You can connect agents to entire ecosystems of tools without worrying about context limits.</a:t>
            </a:r>
          </a:p>
          <a:p>
            <a:r>
              <a:t>   * Progressive tool discovery: your agent can browse available tools, search for specific functionality, or read documentation only when needed. You can implement a search_tools function that finds relevant tools based on the current task. This solves context bloat completely.</a:t>
            </a:r>
          </a:p>
          <a:p>
            <a:r>
              <a:t>   * In-environment data processing: filter, transform, aggregate — all inside the sandbox before it reaches the model. 10,000 spreadsheet rows become 5 relevant rows before the model ever sees them.</a:t>
            </a:r>
          </a:p>
          <a:p>
            <a:r>
              <a:t>   * Better control flow: real code gives you loops, conditionals, error handling, try-catch blocks. Instead of 50 separate tool calls with 50 round-trips, one execution handles all 50 operations.</a:t>
            </a:r>
          </a:p>
          <a:p>
            <a:r>
              <a:t>   * Privacy: sensitive data flows through workflows without entering the model's context. Only explicitly returned values become visible. Process confidential information, make decisions, return only the final result.</a:t>
            </a:r>
          </a:p>
          <a:p>
            <a:r>
              <a:t>   * State persistence: save intermediate results to files, resume later. Long-running tasks can checkpoint progress and pick up where they left off across sessions.</a:t>
            </a:r>
          </a:p>
          <a:p>
            <a:r>
              <a:t>   * Reusable skills: over time you build a library of higher-level capabilities. Complex multi-step operations become single function calls. Anthropic suggests documenting these with SKILL.md files — which we covered earlier in this course.</a:t>
            </a:r>
          </a:p>
          <a:p/>
          <a:p>
            <a:r>
              <a:t>ASK THE CLASS:</a:t>
            </a:r>
          </a:p>
          <a:p>
            <a:r>
              <a:t>   "Think about a workflow in your organization that chains multiple API calls together. How would this pattern change the economics and performance of that workflow?"</a:t>
            </a:r>
          </a:p>
          <a:p>
            <a:r>
              <a:t>   [PAUSE for 30-60 seconds]</a:t>
            </a:r>
          </a:p>
          <a:p/>
          <a:p>
            <a:r>
              <a:t>TRANSITION:</a:t>
            </a:r>
          </a:p>
          <a:p>
            <a:r>
              <a:t>   There is a trade-off, though. This approach adds complexity — you need a secure code execution environment with sandboxing, resource limits, and monitoring. For simple agents with 3 to 5 tools, direct tool calling still works fine. But for production agents at scale, this is the architecture you want.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isn't an either-or decision. Both approaches have their place.</a:t>
            </a:r>
          </a:p>
          <a:p/>
          <a:p>
            <a:r>
              <a:t>KEY POINTS:</a:t>
            </a:r>
          </a:p>
          <a:p>
            <a:r>
              <a:t>   * Direct tool calling is perfectly fine for simple agents with a handful of tools and straightforward workflows. If you're prototyping, building demos, or your agent only needs 3 to 5 tools, the overhead of setting up code execution isn't worth it.</a:t>
            </a:r>
          </a:p>
          <a:p>
            <a:r>
              <a:t>   * Code execution becomes essential when you're building production agents that connect to dozens of services, handle complex multi-step workflows, process large datasets, or deal with sensitive information.</a:t>
            </a:r>
          </a:p>
          <a:p>
            <a:r>
              <a:t>   * The trade-off is implementation complexity. You need a secure sandbox — proper resource limits, monitoring, and isolation. But for production AI applications that need to scale, the benefits in cost, speed, and capability far outweigh the setup cost.</a:t>
            </a:r>
          </a:p>
          <a:p>
            <a:r>
              <a:t>   * One more thing: this connects directly to the Skills pattern we covered earlier. When your agent builds reusable code that interacts with MCP servers, those become Skills — documented, tested, reusable capabilities that make the agent more powerful over time.</a:t>
            </a:r>
          </a:p>
          <a:p/>
          <a:p>
            <a:r>
              <a:t>TRANSITION:</a:t>
            </a:r>
          </a:p>
          <a:p>
            <a:r>
              <a:t>   Let's take a break, and then we'll move into the hands-on lab where you'll build your own MCP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Here is an MCP server that changes what you think Claude Code can do. Chrome DevTools MCP connects Claude Code to a live Chrome browser. Claude can navigate pages, click buttons, fill out forms, take screenshots, and extract data from any website — even ones without APIs.</a:t>
            </a:r>
          </a:p>
          <a:p/>
          <a:p>
            <a:r>
              <a:t>KEY POINTS:</a:t>
            </a:r>
          </a:p>
          <a:p>
            <a:r>
              <a:t>   * The setup is straightforward. You install the Chrome DevTools MCP server, Chrome launches with a remote debugging port, and Claude Code sees the browser as another tool. From that point, you can say 'go to amazon.com and find me the best-rated coffee grinder under 50 dollars' and Claude will open Chrome, navigate, scroll, compare products, and report back.</a:t>
            </a:r>
          </a:p>
          <a:p>
            <a:r>
              <a:t>   * The real power is data extraction from sites without APIs. Think about all the websites you manually check every day — competitor pricing pages, government databases, industry reports behind login walls. Chrome DevTools lets Claude access all of that programmatically.</a:t>
            </a:r>
          </a:p>
          <a:p>
            <a:r>
              <a:t>   * Nick Saraev built an Amazon shopping assistant with this: Claude opens Chrome, browses products matching his criteria, compares options, and asks for purchase approval before buying. All automated, all running locally.</a:t>
            </a:r>
          </a:p>
          <a:p>
            <a:r>
              <a:t>   * There is also a lighter-weight option: Claude's built-in browser extension. Install it in Chrome, and Claude Code can read and interact with whatever tab you have open. Less setup, good for quick page analysis.</a:t>
            </a:r>
          </a:p>
          <a:p>
            <a:r>
              <a:t>   * Word of caution: respect terms of service and rate limits. This is powerful but scraping at scale can get you blocked. Use it for legitimate research and personal automation, not mass data harvesting.</a:t>
            </a:r>
          </a:p>
          <a:p/>
          <a:p>
            <a:r>
              <a:t>TRANSITION:</a:t>
            </a:r>
          </a:p>
          <a:p>
            <a:r>
              <a:t>   Let us take a break, and when we come back we will cover team collaboration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When you run multiple Claude Code sessions on the same codebase, they will eventually step on each other's toes. Two agents editing the same file creates merge conflicts that waste time and break things. Git worktrees solve this completely.</a:t>
            </a:r>
          </a:p>
          <a:p/>
          <a:p>
            <a:r>
              <a:t>KEY POINTS:</a:t>
            </a:r>
          </a:p>
          <a:p>
            <a:r>
              <a:t>   * A Git worktree is an isolated working directory that shares the same Git history as your main repo. Think of it as a parallel universe for your code — same history, different present. You create one with a single command: git worktree add ../feature-name branch-name.</a:t>
            </a:r>
          </a:p>
          <a:p>
            <a:r>
              <a:t>   * The workflow: say you need to build three features — auth, API, and frontend. Create three worktrees, one per feature. Launch Claude Code in each folder. All three instances work simultaneously with zero chance of file conflicts because they are in completely separate directories.</a:t>
            </a:r>
          </a:p>
          <a:p>
            <a:r>
              <a:t>   * This pairs perfectly with Agent Teams. Your orchestrator spawns sub-agents, each working in its own worktree. The orchestrator waits for all three to finish, then merges the branches. Nick Saraev demonstrated this building a website: homepage in one worktree, about page in another, services page in a third. All built simultaneously.</a:t>
            </a:r>
          </a:p>
          <a:p>
            <a:r>
              <a:t>   * The key advantage over just running multiple Claude Code sessions in the same directory: there is zero possibility of two agents editing the same file. Files are not perfect separations of functionality — one file might import from another, and two agents touching shared files creates conflicts that are painful to resolve.</a:t>
            </a:r>
          </a:p>
          <a:p>
            <a:r>
              <a:t>   * Add your worktree workflow to CLAUDE.md so Claude Code knows to use it. Something like: 'We use Git worktrees for parallel development. Every worktree is an isolated working directory sharing the same Git history, allowing multiple Claude Code instances to work on different tasks simultaneously without interference.'</a:t>
            </a:r>
          </a:p>
          <a:p/>
          <a:p>
            <a:r>
              <a:t>TRANSITION:</a:t>
            </a:r>
          </a:p>
          <a:p>
            <a:r>
              <a:t>   Let us move on to the lab where you will put all of these advanced patterns into practice.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just dropped — Anthropic announced Remote Control for Claude Code. It's exactly what it sounds like: start a session on your laptop, then continue it from your phone.</a:t>
            </a:r>
          </a:p>
          <a:p/>
          <a:p>
            <a:r>
              <a:t>KEY POINTS:</a:t>
            </a:r>
          </a:p>
          <a:p>
            <a:r>
              <a:t>   * Here's the scenario that makes this click. You kick off a big refactoring task — Claude is rewriting 15 files, running tests, fixing issues. That's going to take a while. Before Remote Control, you'd sit there watching the terminal, or you'd walk away and hope nothing needed your approval. Now you type /remote-control, get a secure link, and open it on your phone. You can walk your dog, grab lunch, sit in a meeting — and when Claude needs you to approve a file deletion or confirm an approach, you tap approve on your phone.</a:t>
            </a:r>
          </a:p>
          <a:p>
            <a:r>
              <a:t>   * The technical implementation is straightforward. Your local Claude Code session stays running on your machine where it has access to your codebase and tools. The remote link gives you a lightweight interface to the same session — you can read Claude's output, send messages, and approve or reject tool uses. The compute stays local, only the interaction layer is remote.</a:t>
            </a:r>
          </a:p>
          <a:p>
            <a:r>
              <a:t>   * This solves a real pain point the community has been hacking around. People were setting up SSH tunnels, using tools like Happy, or running Claude Code on remote servers just to get mobile access. Now it's built in, no infrastructure required.</a:t>
            </a:r>
          </a:p>
          <a:p>
            <a:r>
              <a:t>   * Important caveats: this is Research Preview, currently rolling out to Max plan users. It's not on Pro, Team, or Enterprise yet. And there are some early bugs — the error messages for unsupported plans aren't great yet. But the direction is clear: Claude Code is becoming a tool you can supervise from anywhere, not just from your terminal.</a:t>
            </a:r>
          </a:p>
          <a:p/>
          <a:p>
            <a:r>
              <a:t>ASK THE CLASS:</a:t>
            </a:r>
          </a:p>
          <a:p>
            <a:r>
              <a:t>   "Think about your longest-running Claude Code tasks. How would your workflow change if you could supervise them from your phone?"</a:t>
            </a:r>
          </a:p>
          <a:p>
            <a:r>
              <a:t>   [PAUSE for 30-60 seconds]</a:t>
            </a:r>
          </a:p>
          <a:p/>
          <a:p>
            <a:r>
              <a:t>TRANSITION:</a:t>
            </a:r>
          </a:p>
          <a:p>
            <a:r>
              <a:t>   Between GitHub Agentic Workflows and Remote Control, you can see where this is headed — Claude Code as a continuously running development partner, not just an interactive chat session.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Everything we have covered runs on your laptop. But what happens when you want your Claude Code automations running 24/7, triggered by events, or accessible to your whole team? Three deployment patterns.</a:t>
            </a:r>
          </a:p>
          <a:p/>
          <a:p>
            <a:r>
              <a:t>KEY POINTS:</a:t>
            </a:r>
          </a:p>
          <a:p>
            <a:r>
              <a:t>   * Modal and similar serverless platforms let you deploy Claude Code automations as API endpoints. You write a webhook that triggers a Claude Code workflow, and anyone — or any system — can call it. Nick Saraev demonstrated building a birthday checker: a single URL that runs Claude Code logic and returns a response. This integrates directly with no-code platforms like n8n, Make.com, and Zapier.</a:t>
            </a:r>
          </a:p>
          <a:p>
            <a:r>
              <a:t>   * GitHub Actions is the most production-ready path. Claude Code can run in your CI/CD pipeline, triggered by pushes, pull requests, schedules, or webhooks. It can auto-review PRs for security vulnerabilities, fix failing tests, update documentation, and post inline fix suggestions. This requires Team or Enterprise accounts with org-scoped repository tokens.</a:t>
            </a:r>
          </a:p>
          <a:p>
            <a:r>
              <a:t>   * Claude Code on the web means running in cloud environments without needing a local machine. Combined with /remote-control, you can start a session in the cloud and manage it from your phone. Useful for teams where not everyone has a dev machine set up.</a:t>
            </a:r>
          </a:p>
          <a:p>
            <a:r>
              <a:t>   * The key decision: if your automation needs to run unattended or be triggered by external events, deploy it. If it is interactive work you are guiding, keep it local. Most teams start local and deploy only the workflows that prove their value.</a:t>
            </a:r>
          </a:p>
          <a:p/>
          <a:p>
            <a:r>
              <a:t>TRANSITION:</a:t>
            </a:r>
          </a:p>
          <a:p>
            <a:r>
              <a:t>   Now let us talk about managing costs as you scale up your usage.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Yesterday we talked about spec quality being the differentiator. Today I want to show you what a full spec-driven process looks like when you're running Claude Code in production.</a:t>
            </a:r>
          </a:p>
          <a:p/>
          <a:p>
            <a:r>
              <a:t>KEY POINTS:</a:t>
            </a:r>
          </a:p>
          <a:p>
            <a:r>
              <a:t>   * This is a 4-phase process we use in real client work. Phase 1 is pure intent — WHAT you want and WHY, with no technical decisions. User scenarios written as stories, acceptance criteria in Given/When/Then format. This is the phase most teams skip, and it's why most AI-assisted development produces mediocre results.</a:t>
            </a:r>
          </a:p>
          <a:p>
            <a:r>
              <a:t>   * Phase 2 translates intent into architecture. NOW you make technical decisions — stack, API contracts, data models. But these decisions are constrained by the spec. You're not guessing what to build; you're deciding how to build what's already defined.</a:t>
            </a:r>
          </a:p>
          <a:p>
            <a:r>
              <a:t>   * Phase 3 is where it gets powerful for AI. You break the plan into small, independently testable tasks. And critically — you write test cases BEFORE any code. This means Claude Code has acceptance criteria to build against AND tests to validate its output. Shift-left testing isn't just for humans.</a:t>
            </a:r>
          </a:p>
          <a:p>
            <a:r>
              <a:t>   * Phase 4 is where Claude Code shines. Give it a task with a spec, a plan, and pre-written test cases. It builds to spec, runs the tests, fixes failures. The spec is the source of truth, not Claude's interpretation of a vague prompt.</a:t>
            </a:r>
          </a:p>
          <a:p>
            <a:r>
              <a:t>   * The numbers: teams using this process report near-zero rework. Teams without specs? Average 3 rounds of revision per feature. At 2 hours per round, specs save 4 to 6 hours per feature — and they take 30 minutes to write.</a:t>
            </a:r>
          </a:p>
          <a:p>
            <a:r>
              <a:t>   * One addition to Phase 4 that's worth calling out: build validation INTO your spec. Don't just tell Claude Code what to build — tell it how to verify its own work. Some teams add a fifth implicit phase: after implementation, the agent runs a self-healing validation loop. It tests each user journey, fixes blockers, documents remaining issues, and hands you a structured report. The agent isn't just a builder — it's a builder that checks its own work before handing it back. That mindset shift — from 'generate code' to 'generate code and prove it works' — is what separates production-grade AI coding from vibe coding.</a:t>
            </a:r>
          </a:p>
          <a:p/>
          <a:p>
            <a:r>
              <a:t>TRANSITION:</a:t>
            </a:r>
          </a:p>
          <a:p>
            <a:r>
              <a:t>   Let's look at how you structure spec files in a real project.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file structure. Every feature gets its own folder under specs with four files that map to the four phases.</a:t>
            </a:r>
          </a:p>
          <a:p/>
          <a:p>
            <a:r>
              <a:t>KEY POINTS:</a:t>
            </a:r>
          </a:p>
          <a:p>
            <a:r>
              <a:t>   * The spec file is pure intent — problem statement, user scenarios, acceptance criteria, what's out of scope. No code, no architecture. Just what and why.</a:t>
            </a:r>
          </a:p>
          <a:p>
            <a:r>
              <a:t>   * The plan file is the technical translation — architecture decisions, API contracts, data models, constraints. This is where you make stack choices.</a:t>
            </a:r>
          </a:p>
          <a:p>
            <a:r>
              <a:t>   * Tasks break the plan into small, independently testable chunks. Each task references specific acceptance criteria from the spec. And tests are written against those criteria BEFORE code starts.</a:t>
            </a:r>
          </a:p>
          <a:p>
            <a:r>
              <a:t>   * The CLAUDE.md integration is critical. You add a rule: for any feature work, always read the spec first, build to the acceptance criteria, and run the tests after every change. This means every Claude Code session starts grounded in intent, not guessing.</a:t>
            </a:r>
          </a:p>
          <a:p>
            <a:r>
              <a:t>   * This pattern scales. One feature? One folder. Twenty features? Twenty folders. New team member joins? They read the spec and understand what was built and why. The spec is documentation that actually stays current because it's the source of truth.</a:t>
            </a:r>
          </a:p>
          <a:p/>
          <a:p>
            <a:r>
              <a:t>TRANSITION:</a:t>
            </a:r>
          </a:p>
          <a:p>
            <a:r>
              <a:t>   Now let's put this into practice with the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a:t>
            </a:r>
          </a:p>
          <a:p>
            <a:pPr>
              <a:spcBef>
                <a:spcPts val="800"/>
              </a:spcBef>
              <a:spcAft>
                <a:spcPts val="800"/>
              </a:spcAft>
              <a:defRPr sz="2200">
                <a:solidFill>
                  <a:srgbClr val="FFFFFF"/>
                </a:solidFill>
              </a:defRPr>
            </a:pPr>
            <a:r>
              <a:t>  Specialized knowledge goes into skills that activate on demand.</a:t>
            </a:r>
          </a:p>
          <a:p>
            <a:pPr>
              <a:spcBef>
                <a:spcPts val="800"/>
              </a:spcBef>
              <a:spcAft>
                <a:spcPts val="800"/>
              </a:spcAft>
              <a:defRPr sz="2200">
                <a:solidFill>
                  <a:srgbClr val="FFFFFF"/>
                </a:solidFill>
              </a:defRPr>
            </a:pPr>
            <a:r>
              <a:t>  This keeps your base context lean — better performance for routine tasks.</a:t>
            </a:r>
          </a:p>
          <a:p>
            <a:pPr>
              <a:spcBef>
                <a:spcPts val="800"/>
              </a:spcBef>
              <a:spcAft>
                <a:spcPts val="800"/>
              </a:spcAft>
              <a:defRPr sz="2200">
                <a:solidFill>
                  <a:srgbClr val="FFFFFF"/>
                </a:solidFill>
              </a:defRPr>
            </a:pPr>
            <a:r>
              <a:t>  When you need specialized knowledge, the skill brings in exactly the right context.</a:t>
            </a:r>
          </a:p>
          <a:p>
            <a:pPr>
              <a:spcBef>
                <a:spcPts val="800"/>
              </a:spcBef>
              <a:spcAft>
                <a:spcPts val="800"/>
              </a:spcAft>
              <a:defRPr sz="2200">
                <a:solidFill>
                  <a:srgbClr val="FFFFFF"/>
                </a:solidFill>
              </a:defRPr>
            </a:pPr>
            <a:r>
              <a:t>  This is Engineering Principle #9 in action: Keep Categories Painfully Small — even your context categories.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Token Problem:</a:t>
            </a:r>
            <a:br/>
            <a:r>
              <a:t>150,000 tokens for one workflow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with MCP: 98% Token Reduction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Approach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Traditional Tool Calling vs Code Execution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PYTHON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Traditional: 3 tool calls, all data through context</a:t>
            </a:r>
            <a:br/>
            <a:r>
              <a:t>results = agent.call_tool("search_salesforce",</a:t>
            </a:r>
            <a:br/>
            <a:r>
              <a:t>  {"query": "active accounts"})</a:t>
            </a:r>
            <a:br/>
            <a:r>
              <a:t># 1000 records flow through context window</a:t>
            </a:r>
            <a:br/>
            <a:r>
              <a:t>filtered = agent.call_tool("filter_records",</a:t>
            </a:r>
            <a:br/>
            <a:r>
              <a:t>  {"data": results, "condition": "revenue &gt; 1M"})</a:t>
            </a:r>
            <a:br/>
            <a:r>
              <a:t>summary = agent.call_tool("summarize", {"data": filtered})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Approach</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Agent writes this — executes in sandbox</a:t>
            </a:r>
            <a:br/>
            <a:r>
              <a:t>import { salesforce } from 'mcp-servers';</a:t>
            </a:r>
            <a:br/>
            <a:br/>
            <a:r>
              <a:t>const results = await salesforce.search(</a:t>
            </a:r>
            <a:br/>
            <a:r>
              <a:t>  { query: "active accounts" });</a:t>
            </a:r>
            <a:br/>
            <a:r>
              <a:t>// 1000 records stay in execution environment</a:t>
            </a:r>
            <a:br/>
            <a:r>
              <a:t>const filtered = results.filter(</a:t>
            </a:r>
            <a:br/>
            <a:r>
              <a:t>  r =&gt; r.revenue &gt; 1000000);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7 Benefits of Code Execution with MCP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98% Token Reduction</a:t>
            </a:r>
          </a:p>
          <a:p>
            <a:pPr algn="ctr">
              <a:spcBef>
                <a:spcPts val="800"/>
              </a:spcBef>
              <a:defRPr sz="1300">
                <a:solidFill>
                  <a:srgbClr val="8B95A5"/>
                </a:solidFill>
              </a:defRPr>
            </a:pPr>
            <a:r>
              <a:t>150K → 2K tokens per workflow. API costs drop proportionally. Build complex agents without hitting context limits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Progressive Discovery</a:t>
            </a:r>
          </a:p>
          <a:p>
            <a:pPr algn="ctr">
              <a:spcBef>
                <a:spcPts val="800"/>
              </a:spcBef>
              <a:defRPr sz="1300">
                <a:solidFill>
                  <a:srgbClr val="8B95A5"/>
                </a:solidFill>
              </a:defRPr>
            </a:pPr>
            <a:r>
              <a:t>Agent browses and imports only needed tools. No upfront catalog loading. Scales to hundreds of MCP servers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Privacy &amp; Control</a:t>
            </a:r>
          </a:p>
          <a:p>
            <a:pPr algn="ctr">
              <a:spcBef>
                <a:spcPts val="800"/>
              </a:spcBef>
              <a:defRPr sz="1300">
                <a:solidFill>
                  <a:srgbClr val="8B95A5"/>
                </a:solidFill>
              </a:defRPr>
            </a:pPr>
            <a:r>
              <a:t>Sensitive data flows through workflows without entering model context. Only returned values are visible to the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Approach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with MCP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Chrome DevTools MCP: Claude Meets Your Browser</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It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Code connects to a live Chrome browser via CDP (Chrome DevTools Protocol)</a:t>
            </a:r>
          </a:p>
          <a:p>
            <a:pPr>
              <a:spcAft>
                <a:spcPts val="1200"/>
              </a:spcAft>
              <a:defRPr sz="1800">
                <a:solidFill>
                  <a:srgbClr val="FFFFFF"/>
                </a:solidFill>
              </a:defRPr>
            </a:pPr>
            <a:r>
              <a:t>  Navigate pages, click elements, fill forms, take screenshots</a:t>
            </a:r>
          </a:p>
          <a:p>
            <a:pPr>
              <a:spcAft>
                <a:spcPts val="1200"/>
              </a:spcAft>
              <a:defRPr sz="1800">
                <a:solidFill>
                  <a:srgbClr val="FFFFFF"/>
                </a:solidFill>
              </a:defRPr>
            </a:pPr>
            <a:r>
              <a:t>  Extract data from sites that have NO API</a:t>
            </a:r>
          </a:p>
          <a:p>
            <a:pPr>
              <a:spcAft>
                <a:spcPts val="1200"/>
              </a:spcAft>
              <a:defRPr sz="1800">
                <a:solidFill>
                  <a:srgbClr val="FFFFFF"/>
                </a:solidFill>
              </a:defRPr>
            </a:pPr>
            <a:r>
              <a:t>  Automate browser workflows: research, purchasing, form submission</a:t>
            </a:r>
          </a:p>
          <a:p>
            <a:pPr>
              <a:spcAft>
                <a:spcPts val="1200"/>
              </a:spcAft>
              <a:defRPr sz="1800">
                <a:solidFill>
                  <a:srgbClr val="FFFFFF"/>
                </a:solidFill>
              </a:defRPr>
            </a:pPr>
            <a:r>
              <a:t>  Read page content, analyze screenshots, interact with web apps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Setup</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Install: @anthropic/chrome-devtools MCP server</a:t>
            </a:r>
          </a:p>
          <a:p>
            <a:pPr>
              <a:spcAft>
                <a:spcPts val="1200"/>
              </a:spcAft>
              <a:defRPr sz="1800">
                <a:solidFill>
                  <a:srgbClr val="FFFFFF"/>
                </a:solidFill>
              </a:defRPr>
            </a:pPr>
            <a:r>
              <a:t>  Chrome launches with --remote-debugging-port</a:t>
            </a:r>
          </a:p>
          <a:p>
            <a:pPr>
              <a:spcAft>
                <a:spcPts val="1200"/>
              </a:spcAft>
              <a:defRPr sz="1800">
                <a:solidFill>
                  <a:srgbClr val="FFFFFF"/>
                </a:solidFill>
              </a:defRPr>
            </a:pPr>
            <a:r>
              <a:t>  Claude Code sees browser as a tool in its toolkit</a:t>
            </a:r>
          </a:p>
          <a:p>
            <a:pPr>
              <a:spcAft>
                <a:spcPts val="1200"/>
              </a:spcAft>
              <a:defRPr sz="1800">
                <a:solidFill>
                  <a:srgbClr val="FFFFFF"/>
                </a:solidFill>
              </a:defRPr>
            </a:pPr>
            <a:r>
              <a:t>  Alternative: Claude's built-in browser extension (lighter weight)</a:t>
            </a:r>
          </a:p>
          <a:p>
            <a:pPr>
              <a:spcAft>
                <a:spcPts val="1200"/>
              </a:spcAft>
              <a:defRPr sz="1800">
                <a:solidFill>
                  <a:srgbClr val="FFFFFF"/>
                </a:solidFill>
              </a:defRPr>
            </a:pPr>
            <a:r>
              <a:t>  Use cases: web scraping, data collection, testing, monitoring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Each sub-agent has a persona-specific system prompt that shapes its review lens.</a:t>
            </a:r>
          </a:p>
          <a:p>
            <a:pPr>
              <a:spcBef>
                <a:spcPts val="800"/>
              </a:spcBef>
              <a:spcAft>
                <a:spcPts val="800"/>
              </a:spcAft>
              <a:defRPr sz="2200">
                <a:solidFill>
                  <a:srgbClr val="FFFFFF"/>
                </a:solidFill>
              </a:defRPr>
            </a:pPr>
            <a:r>
              <a:t>  Engineer focuses on: technical feasibility, performance, security, architecture.</a:t>
            </a:r>
          </a:p>
          <a:p>
            <a:pPr>
              <a:spcBef>
                <a:spcPts val="800"/>
              </a:spcBef>
              <a:spcAft>
                <a:spcPts val="800"/>
              </a:spcAft>
              <a:defRPr sz="2200">
                <a:solidFill>
                  <a:srgbClr val="FFFFFF"/>
                </a:solidFill>
              </a:defRPr>
            </a:pPr>
            <a:r>
              <a:t>  UX focuses on: user flow, accessibility, cognitive load, edge cases.</a:t>
            </a:r>
          </a:p>
          <a:p>
            <a:pPr>
              <a:spcBef>
                <a:spcPts val="800"/>
              </a:spcBef>
              <a:spcAft>
                <a:spcPts val="800"/>
              </a:spcAft>
              <a:defRPr sz="2200">
                <a:solidFill>
                  <a:srgbClr val="FFFFFF"/>
                </a:solidFill>
              </a:defRPr>
            </a:pPr>
            <a:r>
              <a:t>  Business focuses on: market fit, pricing, competitive positioning, ROI.</a:t>
            </a:r>
          </a:p>
          <a:p>
            <a:pPr>
              <a:spcBef>
                <a:spcPts val="800"/>
              </a:spcBef>
              <a:spcAft>
                <a:spcPts val="800"/>
              </a:spcAft>
              <a:defRPr sz="2200">
                <a:solidFill>
                  <a:srgbClr val="FFFFFF"/>
                </a:solidFill>
              </a:defRPr>
            </a:pPr>
            <a:r>
              <a:t>  The synthesis is where the magic happens — agreements validate, conflicts highlight blind spots.</a:t>
            </a:r>
          </a:p>
          <a:p>
            <a:pPr>
              <a:spcBef>
                <a:spcPts val="800"/>
              </a:spcBef>
              <a:spcAft>
                <a:spcPts val="800"/>
              </a:spcAft>
              <a:defRPr sz="2200">
                <a:solidFill>
                  <a:srgbClr val="FFFFFF"/>
                </a:solidFill>
              </a:defRPr>
            </a:pPr>
            <a:r>
              <a:t>  Source: Mohit Aggarwal, Claude Code for Product Managers.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Git Worktrees: Parallel Sessions Without Conflicts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What Are Worktrees?</a:t>
            </a:r>
          </a:p>
          <a:p>
            <a:pPr algn="ctr">
              <a:spcBef>
                <a:spcPts val="800"/>
              </a:spcBef>
              <a:defRPr sz="1300">
                <a:solidFill>
                  <a:srgbClr val="8B95A5"/>
                </a:solidFill>
              </a:defRPr>
            </a:pPr>
            <a:r>
              <a:t>Isolated working directories sharing the same Git history.</a:t>
            </a:r>
            <a:br/>
            <a:br/>
            <a:r>
              <a:t>Each worktree = separate branch + separate folder.</a:t>
            </a:r>
            <a:br/>
            <a:br/>
            <a:r>
              <a:t>Multiple Claude Code instances work simultaneously without stepping on each other's files.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The Workflow</a:t>
            </a:r>
          </a:p>
          <a:p>
            <a:pPr algn="ctr">
              <a:spcBef>
                <a:spcPts val="800"/>
              </a:spcBef>
              <a:defRPr sz="1300">
                <a:solidFill>
                  <a:srgbClr val="8B95A5"/>
                </a:solidFill>
              </a:defRPr>
            </a:pPr>
            <a:r>
              <a:t>1. git worktree add ../feature-auth auth-branch</a:t>
            </a:r>
            <a:br/>
            <a:r>
              <a:t>2. git worktree add ../feature-api api-branch</a:t>
            </a:r>
            <a:br/>
            <a:r>
              <a:t>3. Run Claude Code in each worktree folder</a:t>
            </a:r>
            <a:br/>
            <a:r>
              <a:t>4. Each instance has full isolation</a:t>
            </a:r>
            <a:br/>
            <a:r>
              <a:t>5. Merge branches when complete</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When to Use</a:t>
            </a:r>
          </a:p>
          <a:p>
            <a:pPr algn="ctr">
              <a:spcBef>
                <a:spcPts val="800"/>
              </a:spcBef>
              <a:defRPr sz="1300">
                <a:solidFill>
                  <a:srgbClr val="8B95A5"/>
                </a:solidFill>
              </a:defRPr>
            </a:pPr>
            <a:r>
              <a:t>• Multiple features in parallel</a:t>
            </a:r>
            <a:br/>
            <a:r>
              <a:t>• Agent Teams across branches</a:t>
            </a:r>
            <a:br/>
            <a:r>
              <a:t>• Avoid merge conflicts from concurrent AI edits</a:t>
            </a:r>
            <a:br/>
            <a:r>
              <a:t>• Testing different approaches simultaneously</a:t>
            </a:r>
            <a:br/>
            <a:r>
              <a:t>• Keep main branch clean while experimenting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Remote Control: Claude Code from Your Phone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Matters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Production Deployment: Claude Code Beyond Your Laptop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Modal / Serverless</a:t>
            </a:r>
          </a:p>
          <a:p>
            <a:pPr algn="ctr">
              <a:spcBef>
                <a:spcPts val="800"/>
              </a:spcBef>
              <a:defRPr sz="1300">
                <a:solidFill>
                  <a:srgbClr val="8B95A5"/>
                </a:solidFill>
              </a:defRPr>
            </a:pPr>
            <a:r>
              <a:t>Deploy Claude Code automations as API endpoints.</a:t>
            </a:r>
            <a:br/>
            <a:br/>
            <a:r>
              <a:t>Create webhooks that trigger Claude Code workflows.</a:t>
            </a:r>
            <a:br/>
            <a:br/>
            <a:r>
              <a:t>Integrate with no-code platforms: n8n, Make.com, Zapier.</a:t>
            </a:r>
            <a:br/>
            <a:br/>
            <a:r>
              <a:t>Pay per execution — scales to zero when idle.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GitHub Actions</a:t>
            </a:r>
          </a:p>
          <a:p>
            <a:pPr algn="ctr">
              <a:spcBef>
                <a:spcPts val="800"/>
              </a:spcBef>
              <a:defRPr sz="1300">
                <a:solidFill>
                  <a:srgbClr val="8B95A5"/>
                </a:solidFill>
              </a:defRPr>
            </a:pPr>
            <a:r>
              <a:t>Claude Code runs in CI/CD pipelines.</a:t>
            </a:r>
            <a:br/>
            <a:br/>
            <a:r>
              <a:t>Auto-review PRs, fix failing tests, update docs.</a:t>
            </a:r>
            <a:br/>
            <a:br/>
            <a:r>
              <a:t>Triggered by push, PR, schedule, or webhook.</a:t>
            </a:r>
            <a:br/>
            <a:br/>
            <a:r>
              <a:t>Org-scoped tokens for Team/Enterprise accounts.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Claude Code on the Web</a:t>
            </a:r>
          </a:p>
          <a:p>
            <a:pPr algn="ctr">
              <a:spcBef>
                <a:spcPts val="800"/>
              </a:spcBef>
              <a:defRPr sz="1300">
                <a:solidFill>
                  <a:srgbClr val="8B95A5"/>
                </a:solidFill>
              </a:defRPr>
            </a:pPr>
            <a:r>
              <a:t>Run Claude Code in cloud environments.</a:t>
            </a:r>
            <a:br/>
            <a:br/>
            <a:r>
              <a:t>No local machine required.</a:t>
            </a:r>
            <a:br/>
            <a:br/>
            <a:r>
              <a:t>Useful for teams without dev machine setup.</a:t>
            </a:r>
            <a:br/>
            <a:br/>
            <a:r>
              <a:t>Combine with /remote-control for mobile access to cloud sessions.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Spec-Driven AI Development: The 4-Phase Process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Phases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Order Matters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Spec Structure: Feature Folder Pattern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specs/</a:t>
            </a:r>
            <a:br/>
            <a:r>
              <a:t>├── PRODUCT.md              # Overall product spec</a:t>
            </a:r>
            <a:br/>
            <a:r>
              <a:t>└── features/</a:t>
            </a:r>
            <a:br/>
            <a:r>
              <a:t>    └── 042-user-dashboard/</a:t>
            </a:r>
            <a:br/>
            <a:r>
              <a:t>        ├── spec.md           # Phase 1: What &amp; Why</a:t>
            </a:r>
            <a:br/>
            <a:r>
              <a:t>        ├── plan.md           # Phase 2: Architecture</a:t>
            </a:r>
            <a:br/>
            <a:r>
              <a:t>        ├── tasks.md          # Phase 3: Work breakdown</a:t>
            </a:r>
            <a:br/>
            <a:r>
              <a:t>        └── tests.md          # Phase 3: Test cases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Large changes (&gt;15 files): Context degrades, errors compound across files, Claude loses track of dependencies.</a:t>
            </a:r>
          </a:p>
          <a:p>
            <a:pPr>
              <a:spcBef>
                <a:spcPts val="800"/>
              </a:spcBef>
              <a:spcAft>
                <a:spcPts val="800"/>
              </a:spcAft>
              <a:defRPr sz="2200">
                <a:solidFill>
                  <a:srgbClr val="FFFFFF"/>
                </a:solidFill>
              </a:defRPr>
            </a:pPr>
            <a:r>
              <a:t>  Architecture decisions: Claude optimizes locally — it makes each function great but may miss system-level design issues.</a:t>
            </a:r>
          </a:p>
          <a:p>
            <a:pPr>
              <a:spcBef>
                <a:spcPts val="800"/>
              </a:spcBef>
              <a:spcAft>
                <a:spcPts val="800"/>
              </a:spcAft>
              <a:defRPr sz="2200">
                <a:solidFill>
                  <a:srgbClr val="FFFFFF"/>
                </a:solidFill>
              </a:defRPr>
            </a:pPr>
            <a:r>
              <a:t>  Verification boundary: If you can't review and understand the code, you shouldn't ship it.</a:t>
            </a:r>
          </a:p>
          <a:p>
            <a:pPr>
              <a:spcBef>
                <a:spcPts val="800"/>
              </a:spcBef>
              <a:spcAft>
                <a:spcPts val="800"/>
              </a:spcAft>
              <a:defRPr sz="2200">
                <a:solidFill>
                  <a:srgbClr val="FFFFFF"/>
                </a:solidFill>
              </a:defRPr>
            </a:pPr>
            <a:r>
              <a:t>  Novel work: Claude recombines known patterns brilliantly but doesn't truly invent new algorithms.</a:t>
            </a:r>
          </a:p>
          <a:p>
            <a:pPr>
              <a:spcBef>
                <a:spcPts val="800"/>
              </a:spcBef>
              <a:spcAft>
                <a:spcPts val="800"/>
              </a:spcAft>
              <a:defRPr sz="2200">
                <a:solidFill>
                  <a:srgbClr val="FFFFFF"/>
                </a:solidFill>
              </a:defRPr>
            </a:pPr>
            <a:r>
              <a:t>  The 3 AM test: Could you debug this code at 3 AM without Claude? If not, you need to understand it better before ship...</a:t>
            </a:r>
          </a:p>
          <a:p>
            <a:pPr>
              <a:spcBef>
                <a:spcPts val="800"/>
              </a:spcBef>
              <a:spcAft>
                <a:spcPts val="800"/>
              </a:spcAft>
              <a:defRPr sz="2200">
                <a:solidFill>
                  <a:srgbClr val="FFFFFF"/>
                </a:solidFill>
              </a:defRPr>
            </a:pPr>
            <a:r>
              <a:t>  This is why Plan Mode, decomposition, and verification matter — they keep you in control.</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