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Welcome to Day 3! Yesterday you learned the fundamentals - today we're going deep into advanced patterns that will make you a Claude Code power user.</a:t>
            </a:r>
          </a:p>
          <a:p/>
          <a:p>
            <a:r>
              <a:t>KEY POINTS:</a:t>
            </a:r>
          </a:p>
          <a:p>
            <a:r>
              <a:t>   * Day 3 builds on Day 2 foundations - we assume you're comfortable with basics</a:t>
            </a:r>
          </a:p>
          <a:p>
            <a:r>
              <a:t>   * 7-8 hours covering: Custom commands, subagents, hooks, MCP, agent teams</a:t>
            </a:r>
          </a:p>
          <a:p>
            <a:r>
              <a:t>   * Two hands-on labs with production-ready deliverables</a:t>
            </a:r>
          </a:p>
          <a:p>
            <a:r>
              <a:t>   * This is where Claude Code becomes truly powerful for complex workflows</a:t>
            </a:r>
          </a:p>
          <a:p/>
          <a:p>
            <a:r>
              <a:t>TRANSITION:</a:t>
            </a:r>
          </a:p>
          <a:p>
            <a:r>
              <a:t>   Let's see what we're covering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KEY POINTS:</a:t>
            </a:r>
          </a:p>
          <a:p>
            <a:r>
              <a:t>   * Morning: Extensibility - custom commands, subagents, hooks</a:t>
            </a:r>
          </a:p>
          <a:p>
            <a:r>
              <a:t>   * Afternoon: Integration - MCP servers, agent teams, production patterns</a:t>
            </a:r>
          </a:p>
          <a:p>
            <a:r>
              <a:t>   * Two comprehensive labs with real production deliverables</a:t>
            </a:r>
          </a:p>
          <a:p>
            <a:r>
              <a:t>   * Breaks every 90-120 minutes plus lunch</a:t>
            </a:r>
          </a:p>
          <a:p/>
          <a:p>
            <a:r>
              <a:t>TRANSITION:</a:t>
            </a:r>
          </a:p>
          <a:p>
            <a:r>
              <a:t>   What you'll be able to do by end of 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KEY POINTS:</a:t>
            </a:r>
          </a:p>
          <a:p>
            <a:r>
              <a:t>   * These are advanced, production-ready patterns</a:t>
            </a:r>
          </a:p>
          <a:p>
            <a:r>
              <a:t>   * By EOD you'll have working examples of each</a:t>
            </a:r>
          </a:p>
          <a:p>
            <a:r>
              <a:t>   * Focus is on real-world application at scale</a:t>
            </a:r>
          </a:p>
          <a:p>
            <a:r>
              <a:t>   * Everything you build today can be deployed Monday</a:t>
            </a:r>
          </a:p>
          <a:p/>
          <a:p>
            <a:r>
              <a:t>ASK THE CLASS:</a:t>
            </a:r>
          </a:p>
          <a:p>
            <a:r>
              <a:t>   "Quick poll: How many of you have created custom slash commands? Used MCP servers?"</a:t>
            </a:r>
          </a:p>
          <a:p>
            <a:r>
              <a:t>   [PAUSE for 30-60 seconds]</a:t>
            </a:r>
          </a:p>
          <a:p/>
          <a:p>
            <a:r>
              <a:t>TRANSITION:</a:t>
            </a:r>
          </a:p>
          <a:p>
            <a:r>
              <a:t>   Let's start with custom commands - the easiest way to extend Claude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You know slash commands like /init and /commit - you can create your own!</a:t>
            </a:r>
          </a:p>
          <a:p/>
          <a:p>
            <a:r>
              <a:t>KEY POINTS:</a:t>
            </a:r>
          </a:p>
          <a:p>
            <a:r>
              <a:t>   * Custom commands are Markdown files that define new slash commands</a:t>
            </a:r>
          </a:p>
          <a:p>
            <a:r>
              <a:t>   * They're prompt templates with placeholders for arguments</a:t>
            </a:r>
          </a:p>
          <a:p>
            <a:r>
              <a:t>   * Perfect for repetitive tasks your team does daily</a:t>
            </a:r>
          </a:p>
          <a:p>
            <a:r>
              <a:t>   * Share via git so whole team benefits</a:t>
            </a:r>
          </a:p>
          <a:p>
            <a:r>
              <a:t>   * Examples: /api-doc, /test-this, /refactor, /pr-review</a:t>
            </a:r>
          </a:p>
          <a:p/>
          <a:p>
            <a:r>
              <a:t>REAL-WORLD EXAMPLE:</a:t>
            </a:r>
          </a:p>
          <a:p>
            <a:r>
              <a:t>   Your team writes API docs for every endpoint. Instead of explaining what you need each time, create /api-doc that generates comprehensive docs in your standard format.</a:t>
            </a:r>
          </a:p>
          <a:p/>
          <a:p>
            <a:r>
              <a:t>TRANSITION:</a:t>
            </a:r>
          </a:p>
          <a:p>
            <a:r>
              <a:t>   Let's see the 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Commands go in .claude/commands/ directory</a:t>
            </a:r>
          </a:p>
          <a:p>
            <a:r>
              <a:t>   * File name becomes the command: api-doc.md → /api-doc</a:t>
            </a:r>
          </a:p>
          <a:p>
            <a:r>
              <a:t>   * Hyphenated names work best: test-this.md not test_this.md</a:t>
            </a:r>
          </a:p>
          <a:p>
            <a:r>
              <a:t>   * Commands appear in /help automatically</a:t>
            </a:r>
          </a:p>
          <a:p>
            <a:r>
              <a:t>   * Checked into git for team sharing</a:t>
            </a:r>
          </a:p>
          <a:p/>
          <a:p>
            <a:r>
              <a:t>REAL-WORLD EXAMPLE:</a:t>
            </a:r>
          </a:p>
          <a:p>
            <a:r>
              <a:t>   Create commands/ directory once, add files as team discovers repetitive patterns. After 2 weeks you'll have 5-10 commands saving hours daily.</a:t>
            </a:r>
          </a:p>
          <a:p/>
          <a:p>
            <a:r>
              <a:t>TRANSITION:</a:t>
            </a:r>
          </a:p>
          <a:p>
            <a:r>
              <a:t>   What goes inside a command file?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KEY POINTS:</a:t>
            </a:r>
          </a:p>
          <a:p>
            <a:r>
              <a:t>   * YAML frontmatter with description (shown in /help)</a:t>
            </a:r>
          </a:p>
          <a:p>
            <a:r>
              <a:t>   * $ARGUMENTS placeholder gets replaced with what user types</a:t>
            </a:r>
          </a:p>
          <a:p>
            <a:r>
              <a:t>   * Rest is the prompt Claude receives</a:t>
            </a:r>
          </a:p>
          <a:p>
            <a:r>
              <a:t>   * Be specific about format and sections wanted</a:t>
            </a:r>
          </a:p>
          <a:p>
            <a:r>
              <a:t>   * The more detail in template, better the output</a:t>
            </a:r>
          </a:p>
          <a:p/>
          <a:p>
            <a:r>
              <a:t>REAL-WORLD EXAMPLE:</a:t>
            </a:r>
          </a:p>
          <a:p>
            <a:r>
              <a:t>   Team uses /api-doc daily for new endpoints. Standard sections ensure consistency. New developers get proper docs from day 1.</a:t>
            </a:r>
          </a:p>
          <a:p/>
          <a:p>
            <a:r>
              <a:t>TRANSITION:</a:t>
            </a:r>
          </a:p>
          <a:p>
            <a:r>
              <a:t>   Let's look at parameterized commands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$ARGUMENTS is literal text replacement</a:t>
            </a:r>
          </a:p>
          <a:p>
            <a:r>
              <a:t>   * Everything after command becomes $ARGUMENTS</a:t>
            </a:r>
          </a:p>
          <a:p>
            <a:r>
              <a:t>   * Multiple files work: /test-this file1.js file2.js</a:t>
            </a:r>
          </a:p>
          <a:p>
            <a:r>
              <a:t>   * Claude sees the full prompt with arguments substituted</a:t>
            </a:r>
          </a:p>
          <a:p>
            <a:r>
              <a:t>   * For complex args, better to prompt Claude to ask follow-up questions</a:t>
            </a:r>
          </a:p>
          <a:p/>
          <a:p>
            <a:r>
              <a:t>DEMO:</a:t>
            </a:r>
          </a:p>
          <a:p>
            <a:r>
              <a:t>   Show /test-this command in action with a real file</a:t>
            </a:r>
          </a:p>
          <a:p/>
          <a:p>
            <a:r>
              <a:t>TRANSITION:</a:t>
            </a:r>
          </a:p>
          <a:p>
            <a:r>
              <a:t>   Real examples you can steal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/test-this: Comprehensive test generation following project conventions</a:t>
            </a:r>
          </a:p>
          <a:p>
            <a:r>
              <a:t>   * /pr-review: Automated code review before submitting PR</a:t>
            </a:r>
          </a:p>
          <a:p>
            <a:r>
              <a:t>   * /explain-like-5: Documentation for junior developers</a:t>
            </a:r>
          </a:p>
          <a:p>
            <a:r>
              <a:t>   * /refactor: Suggests improvements with examples</a:t>
            </a:r>
          </a:p>
          <a:p>
            <a:r>
              <a:t>   * Each saves 10-15 minutes per use, compounds across team</a:t>
            </a:r>
          </a:p>
          <a:p/>
          <a:p>
            <a:r>
              <a:t>REAL-WORLD EXAMPLE:</a:t>
            </a:r>
          </a:p>
          <a:p>
            <a:r>
              <a:t>   Engineering team mandates /pr-review before opening PRs. Catches 70% of issues before human review, saves senior devs hours weekly.</a:t>
            </a:r>
          </a:p>
          <a:p/>
          <a:p>
            <a:r>
              <a:t>TRANSITION:</a:t>
            </a:r>
          </a:p>
          <a:p>
            <a:r>
              <a:t>   Best practices for command creation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Two commands that every team should have. /review runs your team's code review checklist automatically — security, error handling, test coverage, naming. It reads the checklist from CLAUDE.md and outputs a structured REVIEW.md with pass/fail per item. /test generates tests targeting 80% coverage with happy path, edge cases, and error states. Both enforce your team standards without you remembering every rule.</a:t>
            </a:r>
          </a:p>
          <a:p/>
          <a:p>
            <a:r>
              <a:t>KEY POINTS:</a:t>
            </a:r>
          </a:p>
          <a:p>
            <a:r>
              <a:t>   * /review: Automated code review against team checklist in CLAUDE.md</a:t>
            </a:r>
          </a:p>
          <a:p>
            <a:r>
              <a:t>   * /test: Generate tests with coverage targets and specific test categories</a:t>
            </a:r>
          </a:p>
          <a:p>
            <a:r>
              <a:t>   * Both use $ARGUMENTS for flexibility — /test auth.js or /review --branch feature/login</a:t>
            </a:r>
          </a:p>
          <a:p>
            <a:r>
              <a:t>   * The power: team standards are enforced even when senior devs aren't reviewing</a:t>
            </a:r>
          </a:p>
          <a:p>
            <a:r>
              <a:t>   * Source: Reza Rezvani — reusable commands eliminated 'did we check for X?' anxiety</a:t>
            </a:r>
          </a:p>
          <a:p>
            <a:r>
              <a:t>   * Cole Medin's PIV Loop — Plan, Implement, Validate — captures the discipline here. The plan is your spec. Implementation is Claude Code building it. Validation is /review, /test, and browser-based end-to-end checks. The mistake most teams make: they skip the V. They let Claude generate code and immediately ship it. These commands make validation a one-line habit, not a forgotten afterthought.</a:t>
            </a:r>
          </a:p>
          <a:p/>
          <a:p>
            <a:r>
              <a:t>TRANSITION:</a:t>
            </a:r>
          </a:p>
          <a:p>
            <a:r>
              <a:t>   Now let's look at a more advanced pattern — sub-agents with specialized roles.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Here's a command that PMs tell me saves them more time than anything else. A /prd command that auto-generates PRDs using your template, product context from CLAUDE.md, and parameterized input.</a:t>
            </a:r>
          </a:p>
          <a:p/>
          <a:p>
            <a:r>
              <a:t>KEY POINTS:</a:t>
            </a:r>
          </a:p>
          <a:p>
            <a:r>
              <a:t>   * Type: /prd shopping cart redesign → get a complete PRD in your preferred format</a:t>
            </a:r>
          </a:p>
          <a:p>
            <a:r>
              <a:t>   * It reads CLAUDE.md for product context automatically — knows your product, competitors, tech stack</a:t>
            </a:r>
          </a:p>
          <a:p>
            <a:r>
              <a:t>   * Output goes to a dated, slugified file in docs/prds/ — instant version control</a:t>
            </a:r>
          </a:p>
          <a:p>
            <a:r>
              <a:t>   * Customize the template to match your org's PRD format exactly</a:t>
            </a:r>
          </a:p>
          <a:p>
            <a:r>
              <a:t>   * Source: Mohit Aggarwal — reusable skills that turn Claude Code into your personal PM toolkit</a:t>
            </a:r>
          </a:p>
          <a:p/>
          <a:p>
            <a:r>
              <a:t>TRANSITION:</a:t>
            </a:r>
          </a:p>
          <a:p>
            <a:r>
              <a:t>   That's the power of custom commands — turning repeated workflows into one-line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Focused commands work better than multi-purpose ones</a:t>
            </a:r>
          </a:p>
          <a:p>
            <a:r>
              <a:t>   * Be explicit about output format - prevents surprises</a:t>
            </a:r>
          </a:p>
          <a:p>
            <a:r>
              <a:t>   * Tell Claude to match existing project style</a:t>
            </a:r>
          </a:p>
          <a:p>
            <a:r>
              <a:t>   * Start with 2-3 commands, add more as patterns emerge</a:t>
            </a:r>
          </a:p>
          <a:p>
            <a:r>
              <a:t>   * README listing of commands helps discoverability</a:t>
            </a:r>
          </a:p>
          <a:p>
            <a:r>
              <a:t>   * Git + commands = whole team gets updates automatically</a:t>
            </a:r>
          </a:p>
          <a:p/>
          <a:p>
            <a:r>
              <a:t>ASK THE CLASS:</a:t>
            </a:r>
          </a:p>
          <a:p>
            <a:r>
              <a:t>   "What's a task YOUR team does repeatedly that could be a custom command?"</a:t>
            </a:r>
          </a:p>
          <a:p>
            <a:r>
              <a:t>   [PAUSE for 30-60 seconds]</a:t>
            </a:r>
          </a:p>
          <a:p/>
          <a:p>
            <a:r>
              <a:t>TRANSITION:</a:t>
            </a:r>
          </a:p>
          <a:p>
            <a:r>
              <a:t>   Demo time - let's see custom commands in 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a:t>
            </a:r>
          </a:p>
          <a:p/>
          <a:p>
            <a:r>
              <a:t>KEY POINTS:</a:t>
            </a:r>
          </a:p>
          <a:p>
            <a:r>
              <a:t>   * mkdir -p .claude/commands/</a:t>
            </a:r>
          </a:p>
          <a:p>
            <a:r>
              <a:t>   * Create api-doc.md with frontmatter + template</a:t>
            </a:r>
          </a:p>
          <a:p>
            <a:r>
              <a:t>   * Restart Claude (or /reload if available)</a:t>
            </a:r>
          </a:p>
          <a:p>
            <a:r>
              <a:t>   * Verify with /help</a:t>
            </a:r>
          </a:p>
          <a:p>
            <a:r>
              <a:t>   * Test on real file: /api-doc src/routes/users.js</a:t>
            </a:r>
          </a:p>
          <a:p>
            <a:r>
              <a:t>   * Show output matches template sections</a:t>
            </a:r>
          </a:p>
          <a:p/>
          <a:p>
            <a:r>
              <a:t>REAL-WORLD EXAMPLE:</a:t>
            </a:r>
          </a:p>
          <a:p>
            <a:r>
              <a:t>   This exact command is used at multiple companies for API documentation consistency.</a:t>
            </a:r>
          </a:p>
          <a:p/>
          <a:p>
            <a:r>
              <a:t>DEMO:</a:t>
            </a:r>
          </a:p>
          <a:p>
            <a:r>
              <a:t>   1) Create .claude/commands/ directory. 2) Create api-doc.md with full template (show on screen). 3) Restart Claude to load it. 4) Run /help - show it appears. 5) Use /api-doc on sample route file. 6) Show the comprehensive output. Emphasize: This is now reusable for every endpoint forever.</a:t>
            </a:r>
          </a:p>
          <a:p/>
          <a:p>
            <a:r>
              <a:t>TRANSITION:</a:t>
            </a:r>
          </a:p>
          <a:p>
            <a:r>
              <a:t>   Commands extend capability - next let's talk about extending compute with subagents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Think of your main Claude session as a project manager. Subagents are the specialist team members it can delegate to.</a:t>
            </a:r>
          </a:p>
          <a:p/>
          <a:p>
            <a:r>
              <a:t>KEY POINTS:</a:t>
            </a:r>
          </a:p>
          <a:p>
            <a:r>
              <a:t>   * Subagent = separate Claude session with specific role</a:t>
            </a:r>
          </a:p>
          <a:p>
            <a:r>
              <a:t>   * Spawned from main session, works independently, reports back</a:t>
            </a:r>
          </a:p>
          <a:p>
            <a:r>
              <a:t>   * Can use different models (Haiku for speed, Opus for quality)</a:t>
            </a:r>
          </a:p>
          <a:p>
            <a:r>
              <a:t>   * Limited tool access for security</a:t>
            </a:r>
          </a:p>
          <a:p>
            <a:r>
              <a:t>   * Built-in subagents: explore (fast codebase search), plan (research mode)</a:t>
            </a:r>
          </a:p>
          <a:p>
            <a:r>
              <a:t>   * You can create custom subagents for any specialized task</a:t>
            </a:r>
          </a:p>
          <a:p/>
          <a:p>
            <a:r>
              <a:t>REAL-WORLD EXAMPLE:</a:t>
            </a:r>
          </a:p>
          <a:p>
            <a:r>
              <a:t>   Main session asks: 'Find all security issues in this codebase.' Spawns security-auditor subagent that reads code, runs scanners, reports findings back. Main session synthesizes results.</a:t>
            </a:r>
          </a:p>
          <a:p/>
          <a:p>
            <a:r>
              <a:t>TRANSITION:</a:t>
            </a:r>
          </a:p>
          <a:p>
            <a:r>
              <a:t>   When should you use subagents vs main session?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Subagents excel at focused, isolated tasks</a:t>
            </a:r>
          </a:p>
          <a:p>
            <a:r>
              <a:t>   * Main session better for work requiring full context</a:t>
            </a:r>
          </a:p>
          <a:p>
            <a:r>
              <a:t>   * Cost benefit: Haiku subagent 10× cheaper than Opus main</a:t>
            </a:r>
          </a:p>
          <a:p>
            <a:r>
              <a:t>   * Token efficiency: Subagent summary vs full context bloat</a:t>
            </a:r>
          </a:p>
          <a:p>
            <a:r>
              <a:t>   * Pattern: Research with subagent → Act with main session</a:t>
            </a:r>
          </a:p>
          <a:p/>
          <a:p>
            <a:r>
              <a:t>ASK THE CLASS:</a:t>
            </a:r>
          </a:p>
          <a:p>
            <a:r>
              <a:t>   "What research tasks in your workflow could be delegated to a fast subagent?"</a:t>
            </a:r>
          </a:p>
          <a:p>
            <a:r>
              <a:t>   [PAUSE for 30-60 seconds]</a:t>
            </a:r>
          </a:p>
          <a:p/>
          <a:p>
            <a:r>
              <a:t>TRANSITION:</a:t>
            </a:r>
          </a:p>
          <a:p>
            <a:r>
              <a:t>   Let's see the built-in subagents first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a:t>
            </a:r>
          </a:p>
          <a:p/>
          <a:p>
            <a:r>
              <a:t>KEY POINTS:</a:t>
            </a:r>
          </a:p>
          <a:p>
            <a:r>
              <a:t>   * /agents lists available subagents</a:t>
            </a:r>
          </a:p>
          <a:p>
            <a:r>
              <a:t>   * @explore uses Haiku for fast codebase searches</a:t>
            </a:r>
          </a:p>
          <a:p>
            <a:r>
              <a:t>   * @plan used during plan mode for research</a:t>
            </a:r>
          </a:p>
          <a:p>
            <a:r>
              <a:t>   * Invoke with @agentname question</a:t>
            </a:r>
          </a:p>
          <a:p>
            <a:r>
              <a:t>   * Results return to main session</a:t>
            </a:r>
          </a:p>
          <a:p>
            <a:r>
              <a:t>   * Main session continues with subagent findings</a:t>
            </a:r>
          </a:p>
          <a:p/>
          <a:p>
            <a:r>
              <a:t>REAL-WORLD EXAMPLE:</a:t>
            </a:r>
          </a:p>
          <a:p>
            <a:r>
              <a:t>   Instead of asking main session to search entire codebase (expensive), @explore does it with Haiku (cheap and fast). Use savings on main session for actual work.</a:t>
            </a:r>
          </a:p>
          <a:p/>
          <a:p>
            <a:r>
              <a:t>DEMO:</a:t>
            </a:r>
          </a:p>
          <a:p>
            <a:r>
              <a:t>   1) In Claude Code, run /agents to list built-in subagents. 2) Use @explore to ask 'What testing framework does this project use?' - show it uses Haiku (fast). 3) Ask @explore 'Trace the auth flow from login endpoint to token validation' - show it can read multiple files. 4) Compare: Ask same question in main session - show difference in model/approach. 5) Emphasize: explore uses Haiku, read-only, perfect for quick searches.</a:t>
            </a:r>
          </a:p>
          <a:p/>
          <a:p>
            <a:r>
              <a:t>TRANSITION:</a:t>
            </a:r>
          </a:p>
          <a:p>
            <a:r>
              <a:t>   Built-in subagents are great, but you can create custom ones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KEY POINTS:</a:t>
            </a:r>
          </a:p>
          <a:p>
            <a:r>
              <a:t>   * Custom subagents go in .claude/agents/ directory</a:t>
            </a:r>
          </a:p>
          <a:p>
            <a:r>
              <a:t>   * Frontmatter defines: name, description, tools, model</a:t>
            </a:r>
          </a:p>
          <a:p>
            <a:r>
              <a:t>   * tools field restricts what agent can do (security!)</a:t>
            </a:r>
          </a:p>
          <a:p>
            <a:r>
              <a:t>   * Body is the agent's system prompt</a:t>
            </a:r>
          </a:p>
          <a:p>
            <a:r>
              <a:t>   * Restart Claude to load new agents</a:t>
            </a:r>
          </a:p>
          <a:p/>
          <a:p>
            <a:r>
              <a:t>REAL-WORLD EXAMPLE:</a:t>
            </a:r>
          </a:p>
          <a:p>
            <a:r>
              <a:t>   Security team creates security-auditor subagent. Developers run @security-auditor before opening PRs. Catches issues early, reduces security review burden.</a:t>
            </a:r>
          </a:p>
          <a:p/>
          <a:p>
            <a:r>
              <a:t>TRANSITION:</a:t>
            </a:r>
          </a:p>
          <a:p>
            <a:r>
              <a:t>   Tool restrictions are critical for security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Security principle: Least privilege</a:t>
            </a:r>
          </a:p>
          <a:p>
            <a:r>
              <a:t>   * Subagents should only have tools needed for their role</a:t>
            </a:r>
          </a:p>
          <a:p>
            <a:r>
              <a:t>   * Read-only agents (docs, security, analysis) can't accidentally break things</a:t>
            </a:r>
          </a:p>
          <a:p>
            <a:r>
              <a:t>   * Bash() with specific commands: npm audit:* allows 'npm audit' but not arbitrary bash</a:t>
            </a:r>
          </a:p>
          <a:p>
            <a:r>
              <a:t>   * Missing Write/Edit means agent physically cannot modify files</a:t>
            </a:r>
          </a:p>
          <a:p/>
          <a:p>
            <a:r>
              <a:t>REAL-WORLD EXAMPLE:</a:t>
            </a:r>
          </a:p>
          <a:p>
            <a:r>
              <a:t>   Security auditor can inspect code and run npm audit, but cannot fix issues. This prevents accidental changes during inspection.</a:t>
            </a:r>
          </a:p>
          <a:p/>
          <a:p>
            <a:r>
              <a:t>TRANSITION:</a:t>
            </a:r>
          </a:p>
          <a:p>
            <a:r>
              <a:t>   Orchestrating multiple subagents for complex workflows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KEY POINTS:</a:t>
            </a:r>
          </a:p>
          <a:p>
            <a:r>
              <a:t>   * Main session acts as orchestrator</a:t>
            </a:r>
          </a:p>
          <a:p>
            <a:r>
              <a:t>   * Delegates focused work to specialized subagents</a:t>
            </a:r>
          </a:p>
          <a:p>
            <a:r>
              <a:t>   * Subagents can work in parallel (faster)</a:t>
            </a:r>
          </a:p>
          <a:p>
            <a:r>
              <a:t>   * Each reports summary, not full context</a:t>
            </a:r>
          </a:p>
          <a:p>
            <a:r>
              <a:t>   * Main session has complete picture for decision</a:t>
            </a:r>
          </a:p>
          <a:p>
            <a:r>
              <a:t>   * This is how complex analysis gets done efficiently</a:t>
            </a:r>
          </a:p>
          <a:p>
            <a:r>
              <a:t>   * Here's a real-world validation pattern from Cole Medin: spawn three parallel sub-agents — one analyzes app structure and user journeys, one maps the database schema, one does a code review bug hunt. All three run simultaneously, then their findings feed back to the main session which orchestrates sequential end-to-end testing. That's the power of this pattern — research in parallel, act on the combined intelligence.</a:t>
            </a:r>
          </a:p>
          <a:p/>
          <a:p>
            <a:r>
              <a:t>REAL-WORLD EXAMPLE:</a:t>
            </a:r>
          </a:p>
          <a:p>
            <a:r>
              <a:t>   Task: Prepare codebase for production. Main spawns: 1) Security auditor, 2) Performance analyzer, 3) Test coverage checker. All three run in parallel. Main session reviews findings, creates prioritized fix list.</a:t>
            </a:r>
          </a:p>
          <a:p/>
          <a:p>
            <a:r>
              <a:t>TRANSITION:</a:t>
            </a:r>
          </a:p>
          <a:p>
            <a:r>
              <a:t>   Best practices for subagent orchestration</a:t>
            </a:r>
          </a:p>
          <a:p>
            <a:br/>
            <a:br/>
            <a:r>
              <a:t>SUBAGENT BEST PRACTICE FROM ANTHROPIC: Boris Cherny's team mandates "use subagents liberally to keep the main context window clean." Each subagent handles one task, reports back, and its context is discarded. The main agent stays focused. Combined with a tasks/todo.md checklist and lessons.md feedback file, this creates a self-managing development workflow where Claude plans first, delegates to subagents, verifies results, and learns from mistakes — all autonomously.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Model selection matters: Match model to task complexity</a:t>
            </a:r>
          </a:p>
          <a:p>
            <a:r>
              <a:t>   * Haiku for searches, Sonnet for analysis, Opus for critical decisions</a:t>
            </a:r>
          </a:p>
          <a:p>
            <a:r>
              <a:t>   * Agent prompt should define role, mission, output format</a:t>
            </a:r>
          </a:p>
          <a:p>
            <a:r>
              <a:t>   * Structured output makes synthesis easier</a:t>
            </a:r>
          </a:p>
          <a:p>
            <a:r>
              <a:t>   * Subagents for focused work, not back-and-forth iteration</a:t>
            </a:r>
          </a:p>
          <a:p>
            <a:r>
              <a:t>   * This approach optimizes for both quality and cost</a:t>
            </a:r>
          </a:p>
          <a:p/>
          <a:p>
            <a:r>
              <a:t>ASK THE CLASS:</a:t>
            </a:r>
          </a:p>
          <a:p>
            <a:r>
              <a:t>   "What specialized inspectors would help YOUR codebase? (Security? Performance? Dependencies?)"</a:t>
            </a:r>
          </a:p>
          <a:p>
            <a:r>
              <a:t>   [PAUSE for 30-60 seconds]</a:t>
            </a:r>
          </a:p>
          <a:p/>
          <a:p>
            <a:r>
              <a:t>TRANSITION:</a:t>
            </a:r>
          </a:p>
          <a:p>
            <a:r>
              <a:t>   Demo: Creating and using custom subagents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a:t>
            </a:r>
          </a:p>
          <a:p/>
          <a:p>
            <a:r>
              <a:t>KEY POINTS:</a:t>
            </a:r>
          </a:p>
          <a:p>
            <a:r>
              <a:t>   * mkdir -p .claude/agents/</a:t>
            </a:r>
          </a:p>
          <a:p>
            <a:r>
              <a:t>   * Create security-auditor.md with role definition</a:t>
            </a:r>
          </a:p>
          <a:p>
            <a:r>
              <a:t>   * tools: Read, Grep, Bash(npm audit:*) only</a:t>
            </a:r>
          </a:p>
          <a:p>
            <a:r>
              <a:t>   * Restart Claude to load agent</a:t>
            </a:r>
          </a:p>
          <a:p>
            <a:r>
              <a:t>   * Invoke: @security-auditor audit this project</a:t>
            </a:r>
          </a:p>
          <a:p>
            <a:r>
              <a:t>   * Review findings - categorized by severity</a:t>
            </a:r>
          </a:p>
          <a:p/>
          <a:p>
            <a:r>
              <a:t>REAL-WORLD EXAMPLE:</a:t>
            </a:r>
          </a:p>
          <a:p>
            <a:r>
              <a:t>   This agent is now part of pre-deployment checklist. Catches security issues before production.</a:t>
            </a:r>
          </a:p>
          <a:p/>
          <a:p>
            <a:r>
              <a:t>DEMO:</a:t>
            </a:r>
          </a:p>
          <a:p>
            <a:r>
              <a:t>   1) Create .claude/agents/security-auditor.md with full config (show on screen). 2) Restart Claude, verify with /agents. 3) Invoke @security-auditor audit this project. 4) Show it runs npm audit, searches for secrets, checks for injection vulnerabilities. 5) Point out tool restrictions - try asking it to fix an issue (should refuse). 6) Emphasize: Inspection only, reports findings, main session decides what to do.</a:t>
            </a:r>
          </a:p>
          <a:p/>
          <a:p>
            <a:r>
              <a:t>TRANSITION:</a:t>
            </a:r>
          </a:p>
          <a:p>
            <a:r>
              <a:t>   Subagents handle research - next let's talk about controlling actions with hooks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Hooks are your safety net. They can validate, log, block, or enhance every action Claude takes.</a:t>
            </a:r>
          </a:p>
          <a:p/>
          <a:p>
            <a:r>
              <a:t>KEY POINTS:</a:t>
            </a:r>
          </a:p>
          <a:p>
            <a:r>
              <a:t>   * Hooks = scripts triggered by specific events</a:t>
            </a:r>
          </a:p>
          <a:p>
            <a:r>
              <a:t>   * PreToolUse: Runs BEFORE tool execution (can block)</a:t>
            </a:r>
          </a:p>
          <a:p>
            <a:r>
              <a:t>   * PostToolUse: Runs AFTER tool completes (for logging)</a:t>
            </a:r>
          </a:p>
          <a:p>
            <a:r>
              <a:t>   * 8 hook events total (UserPromptSubmit, SessionStart, etc.)</a:t>
            </a:r>
          </a:p>
          <a:p>
            <a:r>
              <a:t>   * Written in any language (Bash, Python, JavaScript, etc.)</a:t>
            </a:r>
          </a:p>
          <a:p>
            <a:r>
              <a:t>   * Critical for enterprise: audit logs, compliance, safety</a:t>
            </a:r>
          </a:p>
          <a:p/>
          <a:p>
            <a:r>
              <a:t>REAL-WORLD EXAMPLE:</a:t>
            </a:r>
          </a:p>
          <a:p>
            <a:r>
              <a:t>   PreToolUse hook blocks git commits containing hardcoded API keys. Saves your team from credential leaks.</a:t>
            </a:r>
          </a:p>
          <a:p/>
          <a:p>
            <a:r>
              <a:t>TRANSITION:</a:t>
            </a:r>
          </a:p>
          <a:p>
            <a:r>
              <a:t>   Let's see the hook event types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8 events total, focus on PreToolUse and PostToolUse for most value</a:t>
            </a:r>
          </a:p>
          <a:p>
            <a:r>
              <a:t>   * PreToolUse can BLOCK actions (exit code 2)</a:t>
            </a:r>
          </a:p>
          <a:p>
            <a:r>
              <a:t>   * PostToolUse cannot block (action already happened)</a:t>
            </a:r>
          </a:p>
          <a:p>
            <a:r>
              <a:t>   * PostToolUse perfect for logging, notifications, metrics</a:t>
            </a:r>
          </a:p>
          <a:p>
            <a:r>
              <a:t>   * Hooks receive context via environment variables</a:t>
            </a:r>
          </a:p>
          <a:p/>
          <a:p>
            <a:r>
              <a:t>TRANSITION:</a:t>
            </a:r>
          </a:p>
          <a:p>
            <a:r>
              <a:t>   Pre-tool hooks are your safety guardrails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Pre-tool: Prevention (blocks bad actions)</a:t>
            </a:r>
          </a:p>
          <a:p>
            <a:r>
              <a:t>   * Post-tool: Detection (logs what happened)</a:t>
            </a:r>
          </a:p>
          <a:p>
            <a:r>
              <a:t>   * Defense in depth: Use both together</a:t>
            </a:r>
          </a:p>
          <a:p>
            <a:r>
              <a:t>   * Exit 0 = allow, exit 2 = block (pre-tool only)</a:t>
            </a:r>
          </a:p>
          <a:p>
            <a:r>
              <a:t>   * Hooks run synchronously - keep them fast (&lt;1 second)</a:t>
            </a:r>
          </a:p>
          <a:p/>
          <a:p>
            <a:r>
              <a:t>REAL-WORLD EXAMPLE:</a:t>
            </a:r>
          </a:p>
          <a:p>
            <a:r>
              <a:t>   Pre-tool blocks commits with secrets. Post-tool logs all file modifications for audit. Together: prevent issues AND track all changes.</a:t>
            </a:r>
          </a:p>
          <a:p/>
          <a:p>
            <a:r>
              <a:t>TRANSITION:</a:t>
            </a:r>
          </a:p>
          <a:p>
            <a:r>
              <a:t>   Let's see hook directory structure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Hooks in .claude/hooks/pre-tool/ and post-tool/</a:t>
            </a:r>
          </a:p>
          <a:p>
            <a:r>
              <a:t>   * Multiple hooks can exist, all run in sequence</a:t>
            </a:r>
          </a:p>
          <a:p>
            <a:r>
              <a:t>   * ANY pre-tool hook can block (first blocker wins)</a:t>
            </a:r>
          </a:p>
          <a:p>
            <a:r>
              <a:t>   * Post-tool hooks all run regardless</a:t>
            </a:r>
          </a:p>
          <a:p>
            <a:r>
              <a:t>   * Make scripts executable (chmod +x on Unix)</a:t>
            </a:r>
          </a:p>
          <a:p>
            <a:r>
              <a:t>   * Any language works (Bash, Python, Node, PowerShell)</a:t>
            </a:r>
          </a:p>
          <a:p/>
          <a:p>
            <a:r>
              <a:t>TRANSITION:</a:t>
            </a:r>
          </a:p>
          <a:p>
            <a:r>
              <a:t>   What data do hooks receive?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CLAUDE_TOOL: Which tool is being called</a:t>
            </a:r>
          </a:p>
          <a:p>
            <a:r>
              <a:t>   * CLAUDE_TOOL_INPUT: JSON with parameters</a:t>
            </a:r>
          </a:p>
          <a:p>
            <a:r>
              <a:t>   * PostToolUse also gets OUTPUT and SUCCESS</a:t>
            </a:r>
          </a:p>
          <a:p>
            <a:r>
              <a:t>   * Exit 0 = continue, exit 2 = block (pre-tool)</a:t>
            </a:r>
          </a:p>
          <a:p>
            <a:r>
              <a:t>   * Hook can output text - goes to Claude's context</a:t>
            </a:r>
          </a:p>
          <a:p/>
          <a:p>
            <a:r>
              <a:t>TRANSITION:</a:t>
            </a:r>
          </a:p>
          <a:p>
            <a:r>
              <a:t>   Real example: Blocking hardcoded secrets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KEY POINTS:</a:t>
            </a:r>
          </a:p>
          <a:p>
            <a:r>
              <a:t>   * Checks if tool is Bash and command is git commit</a:t>
            </a:r>
          </a:p>
          <a:p>
            <a:r>
              <a:t>   * Scans staged changes for secret patterns</a:t>
            </a:r>
          </a:p>
          <a:p>
            <a:r>
              <a:t>   * Patterns: api_key, password, secret, token, etc.</a:t>
            </a:r>
          </a:p>
          <a:p>
            <a:r>
              <a:t>   * If found: outputs warning, exits 2 (blocks)</a:t>
            </a:r>
          </a:p>
          <a:p>
            <a:r>
              <a:t>   * If clean: exits 0 (allows commit)</a:t>
            </a:r>
          </a:p>
          <a:p>
            <a:r>
              <a:t>   * Runs every time Claude tries to commit</a:t>
            </a:r>
          </a:p>
          <a:p/>
          <a:p>
            <a:r>
              <a:t>REAL-WORLD EXAMPLE:</a:t>
            </a:r>
          </a:p>
          <a:p>
            <a:r>
              <a:t>   This hook has prevented multiple API key leaks at production companies. Saved thousands in credential rotation costs.</a:t>
            </a:r>
          </a:p>
          <a:p/>
          <a:p>
            <a:r>
              <a:t>TRANSITION:</a:t>
            </a:r>
          </a:p>
          <a:p>
            <a:r>
              <a:t>   Post-tool example: Audit logging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PostToolUse hook (runs after action completes)</a:t>
            </a:r>
          </a:p>
          <a:p>
            <a:r>
              <a:t>   * Logs all Write, Edit, Bash operations</a:t>
            </a:r>
          </a:p>
          <a:p>
            <a:r>
              <a:t>   * Records: timestamp, tool, file, success, session</a:t>
            </a:r>
          </a:p>
          <a:p>
            <a:r>
              <a:t>   * Appends to .claude/audit.log (JSON lines)</a:t>
            </a:r>
          </a:p>
          <a:p>
            <a:r>
              <a:t>   * Perfect for compliance: who changed what when</a:t>
            </a:r>
          </a:p>
          <a:p>
            <a:r>
              <a:t>   * Cannot block (action already happened)</a:t>
            </a:r>
          </a:p>
          <a:p/>
          <a:p>
            <a:r>
              <a:t>REAL-WORLD EXAMPLE:</a:t>
            </a:r>
          </a:p>
          <a:p>
            <a:r>
              <a:t>   Compliance requirement: audit trail of all AI-generated changes. This hook provides complete log for security review.</a:t>
            </a:r>
          </a:p>
          <a:p/>
          <a:p>
            <a:r>
              <a:t>TRANSITION:</a:t>
            </a:r>
          </a:p>
          <a:p>
            <a:r>
              <a:t>   Hook best practices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Speed matters: Hooks add latency to every action</a:t>
            </a:r>
          </a:p>
          <a:p>
            <a:r>
              <a:t>   * stdout = context injection (Claude sees it)</a:t>
            </a:r>
          </a:p>
          <a:p>
            <a:r>
              <a:t>   * stderr = debug logging (you see it, Claude doesn't)</a:t>
            </a:r>
          </a:p>
          <a:p>
            <a:r>
              <a:t>   * Decide fail-open vs fail-closed per hook</a:t>
            </a:r>
          </a:p>
          <a:p>
            <a:r>
              <a:t>   * Bad hooks can make Claude unusable - test first</a:t>
            </a:r>
          </a:p>
          <a:p>
            <a:r>
              <a:t>   * Git commit hooks so team benefits</a:t>
            </a:r>
          </a:p>
          <a:p>
            <a:r>
              <a:t>   * Document what hooks do and why they exist</a:t>
            </a:r>
          </a:p>
          <a:p/>
          <a:p>
            <a:r>
              <a:t>ASK THE CLASS:</a:t>
            </a:r>
          </a:p>
          <a:p>
            <a:r>
              <a:t>   "What safety checks or audit requirements does YOUR org have that hooks could enforce?"</a:t>
            </a:r>
          </a:p>
          <a:p>
            <a:r>
              <a:t>   [PAUSE for 30-60 seconds]</a:t>
            </a:r>
          </a:p>
          <a:p/>
          <a:p>
            <a:r>
              <a:t>TRANSITION:</a:t>
            </a:r>
          </a:p>
          <a:p>
            <a:r>
              <a:t>   Demo: Implementing hooks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a:t>
            </a:r>
          </a:p>
          <a:p/>
          <a:p>
            <a:r>
              <a:t>KEY POINTS:</a:t>
            </a:r>
          </a:p>
          <a:p>
            <a:r>
              <a:t>   * Hook prevents credential leaks automatically</a:t>
            </a:r>
          </a:p>
          <a:p>
            <a:r>
              <a:t>   * No manual checking needed</a:t>
            </a:r>
          </a:p>
          <a:p>
            <a:r>
              <a:t>   * Blocks action before damage done</a:t>
            </a:r>
          </a:p>
          <a:p>
            <a:r>
              <a:t>   * Clear warning explains what was found</a:t>
            </a:r>
          </a:p>
          <a:p>
            <a:r>
              <a:t>   * Remove secret, retry, works fine</a:t>
            </a:r>
          </a:p>
          <a:p>
            <a:r>
              <a:t>   * This is production safety at work</a:t>
            </a:r>
          </a:p>
          <a:p/>
          <a:p>
            <a:r>
              <a:t>REAL-WORLD EXAMPLE:</a:t>
            </a:r>
          </a:p>
          <a:p>
            <a:r>
              <a:t>   Multiple companies have this exact hook preventing AWS key leaks. Saved thousands in incident response.</a:t>
            </a:r>
          </a:p>
          <a:p/>
          <a:p>
            <a:r>
              <a:t>DEMO:</a:t>
            </a:r>
          </a:p>
          <a:p>
            <a:r>
              <a:t>   1) Create .claude/hooks/pre-tool/no-secrets.sh with secret detection logic. 2) chmod +x the script. 3) Create test file with fake API key: const API_KEY = 'sk-12345-secret'. 4) git add the file. 5) In Claude: 'Commit this with message test'. 6) SHOW THE BLOCK with warning message. 7) Remove the secret, try again - show it works. 8) Emphasize: This runs automatically on every commit attempt.</a:t>
            </a:r>
          </a:p>
          <a:p/>
          <a:p>
            <a:r>
              <a:t>TRANSITION:</a:t>
            </a:r>
          </a:p>
          <a:p>
            <a:r>
              <a:t>   Break time - when we return, plan mode and thinking levels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Sometimes you want to see what Claude PLANS to do before it actually does it. That's plan mode.</a:t>
            </a:r>
          </a:p>
          <a:p/>
          <a:p>
            <a:r>
              <a:t>KEY POINTS:</a:t>
            </a:r>
          </a:p>
          <a:p>
            <a:r>
              <a:t>   * Plan mode: Claude shows its plan, waits for approval</a:t>
            </a:r>
          </a:p>
          <a:p>
            <a:r>
              <a:t>   * You review, can ask for changes, then approve or reject</a:t>
            </a:r>
          </a:p>
          <a:p>
            <a:r>
              <a:t>   * Perfect for complex or risky operations</a:t>
            </a:r>
          </a:p>
          <a:p>
            <a:r>
              <a:t>   * Uses @plan subagent for research phase</a:t>
            </a:r>
          </a:p>
          <a:p>
            <a:r>
              <a:t>   * Prevents expensive mistakes before they happen</a:t>
            </a:r>
          </a:p>
          <a:p>
            <a:r>
              <a:t>   * Enable per-session or per-request</a:t>
            </a:r>
          </a:p>
          <a:p/>
          <a:p>
            <a:r>
              <a:t>REAL-WORLD EXAMPLE:</a:t>
            </a:r>
          </a:p>
          <a:p>
            <a:r>
              <a:t>   Large refactor across 20 files. Plan mode shows the full plan first. You spot a logic error in step 3, fix it, then approve. Saves hours of cleanup.</a:t>
            </a:r>
          </a:p>
          <a:p/>
          <a:p>
            <a:r>
              <a:t>TRANSITION:</a:t>
            </a:r>
          </a:p>
          <a:p>
            <a:r>
              <a:t>   When to use plan mode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KEY POINTS:</a:t>
            </a:r>
          </a:p>
          <a:p>
            <a:r>
              <a:t>   * Plan mode adds overhead - use when benefit justifies cost</a:t>
            </a:r>
          </a:p>
          <a:p>
            <a:r>
              <a:t>   * Complex operations: Plan helps spot issues early</a:t>
            </a:r>
          </a:p>
          <a:p>
            <a:r>
              <a:t>   * Simple operations: Plan mode slows you down unnecessarily</a:t>
            </a:r>
          </a:p>
          <a:p>
            <a:r>
              <a:t>   * Learning mode: Plan shows you Claude's reasoning</a:t>
            </a:r>
          </a:p>
          <a:p>
            <a:r>
              <a:t>   * Production: Plan for risky operations, skip for routine</a:t>
            </a:r>
          </a:p>
          <a:p/>
          <a:p>
            <a:r>
              <a:t>TRANSITION:</a:t>
            </a:r>
          </a:p>
          <a:p>
            <a:r>
              <a:t>   Related: Thinking levels control reasoning depth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Claude can think fast or think deep. Thinking levels let you control that tradeoff.</a:t>
            </a:r>
          </a:p>
          <a:p/>
          <a:p>
            <a:r>
              <a:t>KEY POINTS:</a:t>
            </a:r>
          </a:p>
          <a:p>
            <a:r>
              <a:t>   * Four levels: off, low, medium, high</a:t>
            </a:r>
          </a:p>
          <a:p>
            <a:r>
              <a:t>   * Higher thinking = slower, better, more expensive</a:t>
            </a:r>
          </a:p>
          <a:p>
            <a:r>
              <a:t>   * Lower thinking = faster, cheaper, good enough for many tasks</a:t>
            </a:r>
          </a:p>
          <a:p>
            <a:r>
              <a:t>   * Set per session or per request</a:t>
            </a:r>
          </a:p>
          <a:p>
            <a:r>
              <a:t>   * Default: low (good balance for most work)</a:t>
            </a:r>
          </a:p>
          <a:p>
            <a:r>
              <a:t>   * High thinking shows reasoning process (like Extended Thinking)</a:t>
            </a:r>
          </a:p>
          <a:p/>
          <a:p>
            <a:r>
              <a:t>REAL-WORLD EXAMPLE:</a:t>
            </a:r>
          </a:p>
          <a:p>
            <a:r>
              <a:t>   Simple function? Low thinking, done in 5 seconds. Complex algorithm? High thinking, 30 seconds but much better quality.</a:t>
            </a:r>
          </a:p>
          <a:p/>
          <a:p>
            <a:r>
              <a:t>TRANSITION:</a:t>
            </a:r>
          </a:p>
          <a:p>
            <a:r>
              <a:t>   Let's see the spectrum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OFF: Fastest, cheapest, minimal reasoning</a:t>
            </a:r>
          </a:p>
          <a:p>
            <a:r>
              <a:t>   * LOW: Default, good balance (use this most)</a:t>
            </a:r>
          </a:p>
          <a:p>
            <a:r>
              <a:t>   * MEDIUM: Deeper reasoning, moderate speed</a:t>
            </a:r>
          </a:p>
          <a:p>
            <a:r>
              <a:t>   * HIGH: Maximum reasoning, shows work, slowest</a:t>
            </a:r>
          </a:p>
          <a:p>
            <a:r>
              <a:t>   * Cost scales: LOW is baseline, HIGH is 3-5× cost</a:t>
            </a:r>
          </a:p>
          <a:p>
            <a:r>
              <a:t>   * Match level to task importance</a:t>
            </a:r>
          </a:p>
          <a:p/>
          <a:p>
            <a:r>
              <a:t>REAL-WORLD EXAMPLE:</a:t>
            </a:r>
          </a:p>
          <a:p>
            <a:r>
              <a:t>   Boilerplate code generation? LOW. Complex algorithm with edge cases? HIGH. Let thinking match stakes.</a:t>
            </a:r>
          </a:p>
          <a:p/>
          <a:p>
            <a:r>
              <a:t>TRANSITION:</a:t>
            </a:r>
          </a:p>
          <a:p>
            <a:r>
              <a:t>   How to set thinking levels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KEY POINTS:</a:t>
            </a:r>
          </a:p>
          <a:p>
            <a:r>
              <a:t>   * Multiple ways to control thinking level</a:t>
            </a:r>
          </a:p>
          <a:p>
            <a:r>
              <a:t>   * /thinking command sets for current session</a:t>
            </a:r>
          </a:p>
          <a:p>
            <a:r>
              <a:t>   * Natural language works: 'think harder about this'</a:t>
            </a:r>
          </a:p>
          <a:p>
            <a:r>
              <a:t>   * CLAUDE.md sets project default</a:t>
            </a:r>
          </a:p>
          <a:p>
            <a:r>
              <a:t>   * High thinking = visible reasoning process</a:t>
            </a:r>
          </a:p>
          <a:p>
            <a:r>
              <a:t>   * Adjust dynamically based on task complexity</a:t>
            </a:r>
          </a:p>
          <a:p/>
          <a:p>
            <a:r>
              <a:t>TRANSITION:</a:t>
            </a:r>
          </a:p>
          <a:p>
            <a:r>
              <a:t>   Combining plan mode and thinking levels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KEY POINTS:</a:t>
            </a:r>
          </a:p>
          <a:p>
            <a:r>
              <a:t>   * The nuclear option: Maximum care and reasoning</a:t>
            </a:r>
          </a:p>
          <a:p>
            <a:r>
              <a:t>   * Claude thinks deeply about plan before executing</a:t>
            </a:r>
          </a:p>
          <a:p>
            <a:r>
              <a:t>   * You see all reasoning, review plan, approve/modify</a:t>
            </a:r>
          </a:p>
          <a:p>
            <a:r>
              <a:t>   * Expensive in time and tokens</a:t>
            </a:r>
          </a:p>
          <a:p>
            <a:r>
              <a:t>   * Prevents multi-hour mistakes with 5 min of planning</a:t>
            </a:r>
          </a:p>
          <a:p>
            <a:r>
              <a:t>   * Reserve for genuinely complex/risky operations</a:t>
            </a:r>
          </a:p>
          <a:p/>
          <a:p>
            <a:r>
              <a:t>REAL-WORLD EXAMPLE:</a:t>
            </a:r>
          </a:p>
          <a:p>
            <a:r>
              <a:t>   Database migration affecting 50 tables. Plan mode + high thinking catches schema dependency you missed. 10 minutes planning saves 3 days of rollback work.</a:t>
            </a:r>
          </a:p>
          <a:p/>
          <a:p>
            <a:r>
              <a:t>TRANSITION:</a:t>
            </a:r>
          </a:p>
          <a:p>
            <a:r>
              <a:t>   Demo time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a:t>
            </a:r>
          </a:p>
          <a:p/>
          <a:p>
            <a:r>
              <a:t>KEY POINTS:</a:t>
            </a:r>
          </a:p>
          <a:p>
            <a:r>
              <a:t>   * /thinking high for maximum reasoning</a:t>
            </a:r>
          </a:p>
          <a:p>
            <a:r>
              <a:t>   * Plan mode shows full approach before execution</a:t>
            </a:r>
          </a:p>
          <a:p>
            <a:r>
              <a:t>   * @plan subagent researches the codebase</a:t>
            </a:r>
          </a:p>
          <a:p>
            <a:r>
              <a:t>   * Review plan for logic errors or missing steps</a:t>
            </a:r>
          </a:p>
          <a:p>
            <a:r>
              <a:t>   * Approve or request modifications</a:t>
            </a:r>
          </a:p>
          <a:p>
            <a:r>
              <a:t>   * Then Claude executes the approved plan</a:t>
            </a:r>
          </a:p>
          <a:p/>
          <a:p>
            <a:r>
              <a:t>REAL-WORLD EXAMPLE:</a:t>
            </a:r>
          </a:p>
          <a:p>
            <a:r>
              <a:t>   This exact workflow saved a team from breaking auth in production. Plan caught missing error handling in step 4.</a:t>
            </a:r>
          </a:p>
          <a:p/>
          <a:p>
            <a:r>
              <a:t>DEMO:</a:t>
            </a:r>
          </a:p>
          <a:p>
            <a:r>
              <a:t>   1) Start Claude with /thinking high. 2) Enable plan mode (if not default). 3) Request complex refactor: 'Refactor authentication system to use JWT instead of sessions across all 5 files'. 4) Show Claude researching (using @plan subagent). 5) Show plan output with all steps. 6) Review plan together, point out details. 7) Approve plan, watch execution. 8) Emphasize: Preview prevented mistakes.</a:t>
            </a:r>
          </a:p>
          <a:p/>
          <a:p>
            <a:r>
              <a:t>TRANSITION:</a:t>
            </a:r>
          </a:p>
          <a:p>
            <a:r>
              <a:t>   Time for Lab 1 - you'll build custom commands and hooks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KEY POINTS:</a:t>
            </a:r>
          </a:p>
          <a:p>
            <a:r>
              <a:t>   * Lab guide has step-by-step instructions</a:t>
            </a:r>
          </a:p>
          <a:p>
            <a:r>
              <a:t>   * Start with commands (easier), then hooks</a:t>
            </a:r>
          </a:p>
          <a:p>
            <a:r>
              <a:t>   * Test thoroughly before moving to next exercise</a:t>
            </a:r>
          </a:p>
          <a:p>
            <a:r>
              <a:t>   * Validation checkpoints ensure you're on track</a:t>
            </a:r>
          </a:p>
          <a:p>
            <a:r>
              <a:t>   * Deliverables can be used in real projects Monday</a:t>
            </a:r>
          </a:p>
          <a:p/>
          <a:p>
            <a:r>
              <a:t>TRANSITION:</a:t>
            </a:r>
          </a:p>
          <a:p>
            <a:r>
              <a:t>   Lab materials are in your repo - let's begin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Yesterday we covered CLAUDE.md basics. Today: Advanced patterns for team collaboration and skill configuration.</a:t>
            </a:r>
          </a:p>
          <a:p/>
          <a:p>
            <a:r>
              <a:t>KEY POINTS:</a:t>
            </a:r>
          </a:p>
          <a:p>
            <a:r>
              <a:t>   * Skills are specialized capabilities Claude Code provides</a:t>
            </a:r>
          </a:p>
          <a:p>
            <a:r>
              <a:t>   * Built-in skills: commit (git commits), pr (pull requests), review (code review)</a:t>
            </a:r>
          </a:p>
          <a:p>
            <a:r>
              <a:t>   * Skills can be enabled/disabled per project</a:t>
            </a:r>
          </a:p>
          <a:p>
            <a:r>
              <a:t>   * Skills configured via CLAUDE.md</a:t>
            </a:r>
          </a:p>
          <a:p>
            <a:r>
              <a:t>   * Custom skills are possible (advanced, check docs)</a:t>
            </a:r>
          </a:p>
          <a:p>
            <a:r>
              <a:t>   * The wrapper pattern achieves a 64% reduction in startup tokens (93 vs 2,087 tokens) — skills load only their frontmatter until triggered, keeping your base context lean and responsive.</a:t>
            </a:r>
          </a:p>
          <a:p>
            <a:r>
              <a:t>   * Auto skill hot-reload (v2.1.0+) means you can edit SKILL.md files and see changes immediately without restarting Claude Code.</a:t>
            </a:r>
          </a:p>
          <a:p/>
          <a:p>
            <a:r>
              <a:t>REAL-WORLD EXAMPLE:</a:t>
            </a:r>
          </a:p>
          <a:p>
            <a:r>
              <a:t>   Enable 'commit' skill in CLAUDE.md. Claude automatically generates conventional commit messages when you ask to commit changes.</a:t>
            </a:r>
          </a:p>
          <a:p/>
          <a:p>
            <a:r>
              <a:t>TRANSITION:</a:t>
            </a:r>
          </a:p>
          <a:p>
            <a:r>
              <a:t>   Configuring skills in CLAUDE.md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CLAUDE.md is where you configure skills for project</a:t>
            </a:r>
          </a:p>
          <a:p>
            <a:r>
              <a:t>   * List skills to enable in Skills Configuration section</a:t>
            </a:r>
          </a:p>
          <a:p>
            <a:r>
              <a:t>   * Each skill can have custom settings</a:t>
            </a:r>
          </a:p>
          <a:p>
            <a:r>
              <a:t>   * Settings adapt skill behavior to your workflow</a:t>
            </a:r>
          </a:p>
          <a:p>
            <a:r>
              <a:t>   * Example: commit skill follows your commit conventions</a:t>
            </a:r>
          </a:p>
          <a:p>
            <a:r>
              <a:t>   * Team shares CLAUDE.md via git</a:t>
            </a:r>
          </a:p>
          <a:p/>
          <a:p>
            <a:r>
              <a:t>REAL-WORLD EXAMPLE:</a:t>
            </a:r>
          </a:p>
          <a:p>
            <a:r>
              <a:t>   Team uses Conventional Commits with Jira tickets. Configure commit skill to include ticket number from branch name automatically. Saves time, ensures consistency.</a:t>
            </a:r>
          </a:p>
          <a:p/>
          <a:p>
            <a:r>
              <a:t>TRANSITION:</a:t>
            </a:r>
          </a:p>
          <a:p>
            <a:r>
              <a:t>   Advanced CLAUDE.md patterns for teams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CLAUDE.md can be sophisticated team configuration</a:t>
            </a:r>
          </a:p>
          <a:p>
            <a:r>
              <a:t>   * Multi-repo: Symlink to shared CLAUDE.md + local additions</a:t>
            </a:r>
          </a:p>
          <a:p>
            <a:r>
              <a:t>   * Style guides codify team preferences (async/await, error handling)</a:t>
            </a:r>
          </a:p>
          <a:p>
            <a:r>
              <a:t>   * Security: List sensitive patterns, off-limits directories</a:t>
            </a:r>
          </a:p>
          <a:p>
            <a:r>
              <a:t>   * Tool preferences guide Claude's choices</a:t>
            </a:r>
          </a:p>
          <a:p>
            <a:r>
              <a:t>   * These patterns scale from 1 dev to 100-person teams</a:t>
            </a:r>
          </a:p>
          <a:p>
            <a:r>
              <a:t>   * One advanced pattern worth calling out: the .claude/rules/ directory. Instead of cramming everything into one CLAUDE.md, you create modular rule files. testing-conventions.md, api-standards.md, python-guidelines.md — each focused on one topic. These load as project rules and get shared with your team via git. Combined with auto memory where Claude writes its own notes about your project, and CLAUDE.local.md for personal overrides that never hit the repo, you have a full knowledge architecture: team rules in .claude/rules/, project context in CLAUDE.md, personal preferences in CLAUDE.local.md, and Claude's own learnings in auto memory. That is the complete picture.</a:t>
            </a:r>
          </a:p>
          <a:p/>
          <a:p>
            <a:r>
              <a:t>REAL-WORLD EXAMPLE:</a:t>
            </a:r>
          </a:p>
          <a:p>
            <a:r>
              <a:t>   Organization has 50 repos. Shared CLAUDE-base.md defines company standards. Each repo symlinks it and adds project-specific context.</a:t>
            </a:r>
          </a:p>
          <a:p/>
          <a:p>
            <a:r>
              <a:t>TRANSITION:</a:t>
            </a:r>
          </a:p>
          <a:p>
            <a:r>
              <a:t>   Real examples you can adapt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Remember what we said about context being finite? Skills solve a critical problem: they load domain knowledge only when you need it. Your security review guidelines, OWASP checklist, and vulnerability patterns don't need to be in every session — they just need to be available when you're doing a security review.</a:t>
            </a:r>
          </a:p>
          <a:p/>
          <a:p>
            <a:r>
              <a:t>KEY POINTS:</a:t>
            </a:r>
          </a:p>
          <a:p>
            <a:r>
              <a:t>   * CLAUDE.md should contain general project conventions that apply to every task</a:t>
            </a:r>
          </a:p>
          <a:p>
            <a:r>
              <a:t>   * Specialized knowledge goes into skills that activate on demand</a:t>
            </a:r>
          </a:p>
          <a:p>
            <a:r>
              <a:t>   * This keeps your base context lean — better performance for routine tasks</a:t>
            </a:r>
          </a:p>
          <a:p>
            <a:r>
              <a:t>   * When you need specialized knowledge, the skill brings in exactly the right context</a:t>
            </a:r>
          </a:p>
          <a:p>
            <a:r>
              <a:t>   * This is Engineering Principle #9 in action: Keep Categories Painfully Small — even your context categories</a:t>
            </a:r>
          </a:p>
          <a:p/>
          <a:p>
            <a:r>
              <a:t>TRANSITION:</a:t>
            </a:r>
          </a:p>
          <a:p>
            <a:r>
              <a:t>   Now let's look at MCP — the protocol that connects Claude to external tools and data.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Here's what a skill actually looks like on disk. It's deceptively simple — a SKILL.md file with YAML frontmatter and markdown instructions, plus optional directories for scripts, reference docs, and templates.</a:t>
            </a:r>
          </a:p>
          <a:p/>
          <a:p>
            <a:r>
              <a:t>KEY POINTS:</a:t>
            </a:r>
          </a:p>
          <a:p>
            <a:r>
              <a:t>   * SKILL.md is the only required file — everything else is optional</a:t>
            </a:r>
          </a:p>
          <a:p>
            <a:r>
              <a:t>   * The description field is CRITICAL — it's what Claude uses to decide when to load the skill</a:t>
            </a:r>
          </a:p>
          <a:p>
            <a:r>
              <a:t>   * Good descriptions include trigger phrases users would actually say and relevant file types</a:t>
            </a:r>
          </a:p>
          <a:p>
            <a:r>
              <a:t>   * Bad descriptions like 'Helps with projects' will either never trigger or trigger on everything</a:t>
            </a:r>
          </a:p>
          <a:p>
            <a:r>
              <a:t>   * allowed-tools restricts what the skill can access — essential for enterprise security</a:t>
            </a:r>
          </a:p>
          <a:p>
            <a:r>
              <a:t>   * This is now an open standard — same format works with Claude Code, Cursor, Codex, Windsurf, and 35+ other agents</a:t>
            </a:r>
          </a:p>
          <a:p>
            <a:r>
              <a:t>   * The wrapper pattern is key to efficiency: frontmatter (~50 tokens) always in system prompt, full body loads only when relevant. This 64% reduction in startup tokens (93 vs 2,087) means faster responses for routine tasks.</a:t>
            </a:r>
          </a:p>
          <a:p>
            <a:r>
              <a:t>   * Here is the build checklist I recommend when creating any skill from scratch. Step one: define the name and trigger — when should this skill activate? Step two: define the goal — one sentence on what this skill produces. Step three: specify connectors and tools — which MCPs or APIs does it need? Step four: lay out the step-by-step process. For each step, ask yourself: what does it need to do, when should a human review the output, what reference files should it load at this step, and what should the output look like? Step five: define rules — predict what could go wrong and write it down as a rule. Step six: add progressive updates — instruct the skill to improve itself. For example: when the user approves the final output, save it as a good example. When the user corrects something, add it to the rules section. This is the framework that separates a basic skill from a production-quality one.</a:t>
            </a:r>
          </a:p>
          <a:p>
            <a:r>
              <a:t>   * Pro tip: instruct your skill to present three to five variations at human-in-the-loop steps instead of one output. Let the human pick the best option. This is faster than generating one version, reviewing it, asking for changes, reviewing again. Multiple options with a pick-one interaction pattern saves a surprising amount of time.</a:t>
            </a:r>
          </a:p>
          <a:p/>
          <a:p>
            <a:r>
              <a:t>TRANSITION:</a:t>
            </a:r>
          </a:p>
          <a:p>
            <a:r>
              <a:t>   Now let's talk about how skills load without bloating your context.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This is the technical insight that makes skills context-efficient. Skills use a three-level progressive disclosure system. Level 1 is just the name and description — maybe 50 tokens — sitting in the system prompt permanently. Claude uses this to decide relevance. Level 2 is the full instructions, loaded only when the skill is triggered. Level 3 is linked resources — scripts, reference docs, templates — pulled in only when specifically needed during execution.</a:t>
            </a:r>
          </a:p>
          <a:p/>
          <a:p>
            <a:r>
              <a:t>KEY POINTS:</a:t>
            </a:r>
          </a:p>
          <a:p>
            <a:r>
              <a:t>   * Compare this to stuffing everything into CLAUDE.md — where every line competes for context on every task</a:t>
            </a:r>
          </a:p>
          <a:p>
            <a:r>
              <a:t>   * A security skill can contain thousands of words of OWASP guidelines without costing a single token until you're actually reviewing auth code</a:t>
            </a:r>
          </a:p>
          <a:p>
            <a:r>
              <a:t>   * This is why selective skills beat a bloated CLAUDE.md — context efficiency</a:t>
            </a:r>
          </a:p>
          <a:p>
            <a:r>
              <a:t>   * The two-message pattern: when a skill activates, Claude sends meta messages (full instructions) that users never see, keeping the chat clean</a:t>
            </a:r>
          </a:p>
          <a:p>
            <a:r>
              <a:t>   * This solves the UX problem: users get transparency about which skills are running without seeing thousands of words of technical instructions</a:t>
            </a:r>
          </a:p>
          <a:p>
            <a:r>
              <a:t>   * Progressive disclosure isn't just a UX pattern — it's a context efficiency strategy. Main CLAUDE.md stays small (general conventions), helper skill files contain specialized knowledge loaded on demand.</a:t>
            </a:r>
          </a:p>
          <a:p>
            <a:r>
              <a:t>   * Think of it as main + helper files: CLAUDE.md is the main file everyone sees, skills are helpers that activate only when relevant.</a:t>
            </a:r>
          </a:p>
          <a:p/>
          <a:p>
            <a:r>
              <a:t>TRANSITION:</a:t>
            </a:r>
          </a:p>
          <a:p>
            <a:r>
              <a:t>   Let's look at the skills ecosystem and how to install them.</a:t>
            </a:r>
          </a:p>
          <a:p>
            <a:br/>
            <a:br/>
            <a:r>
              <a:t>INDUSTRY VALIDATION: This isn't a Claude-only pattern. Microsoft's Agent Framework just adopted the same architecture — SKILL.md files with progressive disclosure. Sergey Menshykh at Microsoft published the approach: advertise available skills at around 100 tokens, load the right one only when needed at under 5K tokens, pull extra resources on demand. When you learn to build skills here, you're learning an industry pattern that works across Claude, Microsoft Agent Framework, Cursor, and Codex. The mental model is transferable.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Vercel released skills.sh in early 2026 — think of it as npm for AI agents. One command installs a skill from the marketplace. It auto-detects which AI coding agents you have installed and configures skills appropriately.</a:t>
            </a:r>
          </a:p>
          <a:p/>
          <a:p>
            <a:r>
              <a:t>KEY POINTS:</a:t>
            </a:r>
          </a:p>
          <a:p>
            <a:r>
              <a:t>   * This is strategic: skills are now an OPEN STANDARD — not Anthropic proprietary. OpenAI and Microsoft adopted the same spec.</a:t>
            </a:r>
          </a:p>
          <a:p>
            <a:r>
              <a:t>   * A skill you build for Claude Code works with Cursor, Codex, Windsurf — write once, use everywhere</a:t>
            </a:r>
          </a:p>
          <a:p>
            <a:r>
              <a:t>   * The marketplace has popularity rankings, categorized browsing, and search</a:t>
            </a:r>
          </a:p>
          <a:p>
            <a:r>
              <a:t>   * Example: the frontend-design skill transforms Claude's output from generic AI slop to professionally designed interfaces</a:t>
            </a:r>
          </a:p>
          <a:p>
            <a:r>
              <a:t>   * Enterprise Anthropic skills for PowerPoint, Excel, Word, PDF — tasks that took 30+ minutes now complete in under 3 minutes</a:t>
            </a:r>
          </a:p>
          <a:p>
            <a:r>
              <a:t>   * Companies building internal skill repositories as strategic assets — early movers have a productivity advantage</a:t>
            </a:r>
          </a:p>
          <a:p/>
          <a:p>
            <a:r>
              <a:t>DEMO:</a:t>
            </a:r>
          </a:p>
          <a:p>
            <a:r>
              <a:t>   Show npx skills list, browse the marketplace, install a skill live. Show before/after output quality.</a:t>
            </a:r>
          </a:p>
          <a:p/>
          <a:p>
            <a:r>
              <a:t>TRANSITION:</a:t>
            </a:r>
          </a:p>
          <a:p>
            <a:r>
              <a:t>   Now let's look at MCP — the protocol that connects Claude to external data and tools.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By default, both you and Claude can invoke any skill. But that's not always what you want. You don't want Claude deciding to deploy your app because the code looks ready. And users don't need to type /legacy-system-context — that's background knowledge Claude should just know when relevant.</a:t>
            </a:r>
          </a:p>
          <a:p/>
          <a:p>
            <a:r>
              <a:t>KEY POINTS:</a:t>
            </a:r>
          </a:p>
          <a:p>
            <a:r>
              <a:t>   * disable-model-invocation: true — only YOU can trigger it with /name. Critical for deploy, commit, send-message, anything with side effects.</a:t>
            </a:r>
          </a:p>
          <a:p>
            <a:r>
              <a:t>   * user-invocable: false — only CLAUDE can load it. Use for domain knowledge that shouldn't clutter the / menu. Claude loads it automatically when relevant.</a:t>
            </a:r>
          </a:p>
          <a:p>
            <a:r>
              <a:t>   * You can also restrict which TOOLS a skill can use: allowed-tools: Read, Grep, Glob creates a read-only skill that can't modify files.</a:t>
            </a:r>
          </a:p>
          <a:p>
            <a:r>
              <a:t>   * Enterprise teams use these controls to deploy skills workspace-wide with confidence — users get capabilities without risk of accidental deployments or data modifications.</a:t>
            </a:r>
          </a:p>
          <a:p>
            <a:r>
              <a:t>   * Skill location also matters: Enterprise scope (managed settings) &gt; Personal (~/.claude/skills/) &gt; Project (.claude/skills/). Higher priority wins when skills share names.</a:t>
            </a:r>
          </a:p>
          <a:p>
            <a:r>
              <a:t>   * When a skill needs improvement, here is the decision tree. If the process is wrong — the steps are out of order or missing — update SKILL.md. If it needs more context — background information, examples, style guides — add a reference file. Keep SKILL.md focused on the process. Additional information goes in reference files. If it makes a recurring mistake you never want repeated — add it to the rules section. If it struggles to use a specific tool or MCP — guide it manually through the action once, then ask it to create an MCP reference doc on how to do that task. If it produces a great output — save it as an example so the skill learns what good looks like. This decision tree is how skills become self-improving over time. The skill is never finished. The more you use it, the better it gets.</a:t>
            </a:r>
          </a:p>
          <a:p/>
          <a:p>
            <a:r>
              <a:t>REAL-WORLD EXAMPLE:</a:t>
            </a:r>
          </a:p>
          <a:p>
            <a:r>
              <a:t>   A financial compliance skill with user-invocable: false silently checks transactions against sanctions lists whenever Claude processes payment code. The team doesn't need to remember to invoke it — it's always active when relevant.</a:t>
            </a:r>
          </a:p>
          <a:p/>
          <a:p>
            <a:r>
              <a:t>TRANSITION:</a:t>
            </a:r>
          </a:p>
          <a:p>
            <a:r>
              <a:t>   Let's see one of the most powerful advanced patterns — injecting live data into skills.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This is where skills get really powerful. The exclamation-backtick syntax runs shell commands BEFORE the skill content reaches Claude. The output replaces the placeholder. So Claude receives the actual PR diff, the actual comments, the actual file list — not a command to run.</a:t>
            </a:r>
          </a:p>
          <a:p/>
          <a:p>
            <a:r>
              <a:t>KEY POINTS:</a:t>
            </a:r>
          </a:p>
          <a:p>
            <a:r>
              <a:t>   * !`command` is PREPROCESSING — runs before Claude sees anything. Claude only gets the final rendered content.</a:t>
            </a:r>
          </a:p>
          <a:p>
            <a:r>
              <a:t>   * context: fork runs the skill in an isolated subagent — it won't see your conversation history, keeping the context clean</a:t>
            </a:r>
          </a:p>
          <a:p>
            <a:r>
              <a:t>   * agent: Explore gives the subagent read-only tools optimized for codebase exploration</a:t>
            </a:r>
          </a:p>
          <a:p>
            <a:r>
              <a:t>   * Other agent types: Plan (for planning tasks), or custom subagents from .claude/agents/</a:t>
            </a:r>
          </a:p>
          <a:p>
            <a:r>
              <a:t>   * You can install Anthropic's official skills as plugins: /plugin marketplace add anthropics/skills</a:t>
            </a:r>
          </a:p>
          <a:p>
            <a:r>
              <a:t>   * Anthropic publishes production skills for docx, pdf, pptx, xlsx — these power Claude's document creation capabilities</a:t>
            </a:r>
          </a:p>
          <a:p>
            <a:r>
              <a:t>   * The official skills repo on GitHub (anthropics/skills) is open source — browse for patterns and inspiration</a:t>
            </a:r>
          </a:p>
          <a:p>
            <a:r>
              <a:t>   * Context forking (context: fork) runs skills in isolated subagents — critical for heavy operations that would bloat your main session's context window.</a:t>
            </a:r>
          </a:p>
          <a:p>
            <a:r>
              <a:t>   * This pattern is especially valuable for operations like PR summarization, security audits, or dependency analysis that need lots of context but shouldn't pollute your working session.</a:t>
            </a:r>
          </a:p>
          <a:p>
            <a:r>
              <a:t>   * Common troubleshooting when skills don't work as expected. Skill won't trigger: check the description in your frontmatter — Claude matches on description text, not the filename. Make the description specific about when to activate. Priority conflict: if two skills match the same prompt, the more specific description wins. Add disambiguating language to one or both. Reference file not loaded: Claude only loads reference files when the SKILL.md explicitly instructs it to. Double down on 'you MUST read reference-file.md before step 3' language. SKILL.md too bloated: if performance degrades, move detailed context into reference files. Keep SKILL.md under 200 lines focused purely on the process flow.</a:t>
            </a:r>
          </a:p>
          <a:p/>
          <a:p>
            <a:r>
              <a:t>DEMO:</a:t>
            </a:r>
          </a:p>
          <a:p>
            <a:r>
              <a:t>   Show a skill with !`git log --oneline -5` that injects recent commit history. Demonstrate context: fork running in isolation.</a:t>
            </a:r>
          </a:p>
          <a:p/>
          <a:p>
            <a:r>
              <a:t>TRANSITION:</a:t>
            </a:r>
          </a:p>
          <a:p>
            <a:r>
              <a:t>   Now let's move to MCP — the protocol that connects skills to external data and services.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Perfect systems fail when they crash. Restart-ready systems survive reality. This principle from Nate B Jones' Second Brain methodology transforms how we build with AI.</a:t>
            </a:r>
          </a:p>
          <a:p/>
          <a:p>
            <a:r>
              <a:t>KEY POINTS:</a:t>
            </a:r>
          </a:p>
          <a:p>
            <a:r>
              <a:t>   * CLAUDE.md + memory files = every session picks up where you left off</a:t>
            </a:r>
          </a:p>
          <a:p>
            <a:r>
              <a:t>   * Document state, not just code - context persistence across restarts</a:t>
            </a:r>
          </a:p>
          <a:p>
            <a:r>
              <a:t>   * Kill your session mid-task, restart, Claude continues seamlessly</a:t>
            </a:r>
          </a:p>
          <a:p>
            <a:r>
              <a:t>   * Stop chasing perfection - build systems that resume gracefully</a:t>
            </a:r>
          </a:p>
          <a:p>
            <a:r>
              <a:t>   * Session death is not failure, it's opportunity to validate resilience</a:t>
            </a:r>
          </a:p>
          <a:p/>
          <a:p>
            <a:r>
              <a:t>ASK THE CLASS:</a:t>
            </a:r>
          </a:p>
          <a:p>
            <a:r>
              <a:t>   "How many times have you lost context when your dev environment crashed?"</a:t>
            </a:r>
          </a:p>
          <a:p>
            <a:r>
              <a:t>   [PAUSE for 30-60 seconds]</a:t>
            </a:r>
          </a:p>
          <a:p/>
          <a:p>
            <a:r>
              <a:t>REAL-WORLD EXAMPLE:</a:t>
            </a:r>
          </a:p>
          <a:p>
            <a:r>
              <a:t>   Developer working on multi-file refactor. Session crashes at step 3 of 10. CLAUDE.md has clear state documentation. New session reads it, asks 'I see we completed steps 1-3, should I continue with step 4?' Zero rework.</a:t>
            </a:r>
          </a:p>
          <a:p/>
          <a:p>
            <a:r>
              <a:t>DEMO:</a:t>
            </a:r>
          </a:p>
          <a:p>
            <a:r>
              <a:t>   Live demo: Start complex task, document state in CLAUDE.md, kill Claude mid-task (Ctrl+C), restart, show Claude picks up exactly where it left off by reading CLAUDE.md. Emphasize: This is the Nate B Jones 'capture everything' principle applied to AI development.</a:t>
            </a:r>
          </a:p>
          <a:p/>
          <a:p>
            <a:r>
              <a:t>TRANSITION:</a:t>
            </a:r>
          </a:p>
          <a:p>
            <a:r>
              <a:t>   This principle connects directly to Skills and CLAUDE.md configuration we just covered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Each tech stack has specific conventions</a:t>
            </a:r>
          </a:p>
          <a:p>
            <a:r>
              <a:t>   * CLAUDE.md codifies these so Claude follows them</a:t>
            </a:r>
          </a:p>
          <a:p>
            <a:r>
              <a:t>   * Python example: Type hints, pytest patterns, SQLAlchemy idioms</a:t>
            </a:r>
          </a:p>
          <a:p>
            <a:r>
              <a:t>   * TypeScript example: Hooks over classes, RTL patterns, bundle optimization</a:t>
            </a:r>
          </a:p>
          <a:p>
            <a:r>
              <a:t>   * New team members clone repo, get instant Claude configuration</a:t>
            </a:r>
          </a:p>
          <a:p>
            <a:r>
              <a:t>   * Consistency across team without manual prompting</a:t>
            </a:r>
          </a:p>
          <a:p/>
          <a:p>
            <a:r>
              <a:t>ASK THE CLASS:</a:t>
            </a:r>
          </a:p>
          <a:p>
            <a:r>
              <a:t>   "What conventions does YOUR team enforce that Claude should know?"</a:t>
            </a:r>
          </a:p>
          <a:p>
            <a:r>
              <a:t>   [PAUSE for 30-60 seconds]</a:t>
            </a:r>
          </a:p>
          <a:p/>
          <a:p>
            <a:r>
              <a:t>TRANSITION:</a:t>
            </a:r>
          </a:p>
          <a:p>
            <a:r>
              <a:t>   With Skills and CLAUDE.md mastered, next: MCP for external integrations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MCP is like USB for AI - a standard way to connect Claude to any tool, database, or API.</a:t>
            </a:r>
          </a:p>
          <a:p/>
          <a:p>
            <a:r>
              <a:t>KEY POINTS:</a:t>
            </a:r>
          </a:p>
          <a:p>
            <a:r>
              <a:t>   * MCP = Model Context Protocol</a:t>
            </a:r>
          </a:p>
          <a:p>
            <a:r>
              <a:t>   * Open standard from Anthropic</a:t>
            </a:r>
          </a:p>
          <a:p>
            <a:r>
              <a:t>   * Connects Claude to external systems</a:t>
            </a:r>
          </a:p>
          <a:p>
            <a:r>
              <a:t>   * Pre-built servers for common tools (GitHub, databases, Slack)</a:t>
            </a:r>
          </a:p>
          <a:p>
            <a:r>
              <a:t>   * You can build custom MCP servers for your systems</a:t>
            </a:r>
          </a:p>
          <a:p>
            <a:r>
              <a:t>   * Think: Plugin architecture for Claude Code</a:t>
            </a:r>
          </a:p>
          <a:p>
            <a:r>
              <a:t>   * Advanced pattern: The Sequential Thinking MCP server enables explicit reasoning chains — Claude breaks complex problems into discrete thinking steps, improving accuracy on multi-step tasks.</a:t>
            </a:r>
          </a:p>
          <a:p>
            <a:r>
              <a:t>   * Research shows programmatic tool calling improved accuracy from 46.5% to 51.2% on complex benchmarks — structured tool use beats ad-hoc prompting.</a:t>
            </a:r>
          </a:p>
          <a:p/>
          <a:p>
            <a:r>
              <a:t>REAL-WORLD EXAMPLE:</a:t>
            </a:r>
          </a:p>
          <a:p>
            <a:r>
              <a:t>   Install GitHub MCP server. Now Claude can list PRs, create issues, review code - all directly from chat.</a:t>
            </a:r>
          </a:p>
          <a:p/>
          <a:p>
            <a:r>
              <a:t>TRANSITION:</a:t>
            </a:r>
          </a:p>
          <a:p>
            <a:r>
              <a:t>   How MCP works under the hood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KEY POINTS:</a:t>
            </a:r>
          </a:p>
          <a:p>
            <a:r>
              <a:t>   * Client (Claude) requests capabilities via MCP</a:t>
            </a:r>
          </a:p>
          <a:p>
            <a:r>
              <a:t>   * Server exposes tools, resources, prompts</a:t>
            </a:r>
          </a:p>
          <a:p>
            <a:r>
              <a:t>   * Communication via JSON-RPC (standard protocol)</a:t>
            </a:r>
          </a:p>
          <a:p>
            <a:r>
              <a:t>   * Multiple servers can run simultaneously</a:t>
            </a:r>
          </a:p>
          <a:p>
            <a:r>
              <a:t>   * Servers are local processes, not cloud services</a:t>
            </a:r>
          </a:p>
          <a:p>
            <a:r>
              <a:t>   * You control what data Claude can access</a:t>
            </a:r>
          </a:p>
          <a:p/>
          <a:p>
            <a:r>
              <a:t>REAL-WORLD EXAMPLE:</a:t>
            </a:r>
          </a:p>
          <a:p>
            <a:r>
              <a:t>   You have 3 MCP servers running: GitHub (for repos), PostgreSQL (for database), Custom (for internal CRM). Claude can use all three in one conversation.</a:t>
            </a:r>
          </a:p>
          <a:p/>
          <a:p>
            <a:r>
              <a:t>TRANSITION:</a:t>
            </a:r>
          </a:p>
          <a:p>
            <a:r>
              <a:t>   MCP primitives: tools, resources, prompts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Tools: Functions Claude calls (create_issue, search_code, send_email)</a:t>
            </a:r>
          </a:p>
          <a:p>
            <a:r>
              <a:t>   * Resources: Data Claude accesses (files, database schemas, API docs)</a:t>
            </a:r>
          </a:p>
          <a:p>
            <a:r>
              <a:t>   * Prompts: Task templates (analyze this PR, debug this error)</a:t>
            </a:r>
          </a:p>
          <a:p>
            <a:r>
              <a:t>   * Servers define which primitives they provide</a:t>
            </a:r>
          </a:p>
          <a:p>
            <a:r>
              <a:t>   * Claude discovers capabilities when server connects</a:t>
            </a:r>
          </a:p>
          <a:p/>
          <a:p>
            <a:r>
              <a:t>REAL-WORLD EXAMPLE:</a:t>
            </a:r>
          </a:p>
          <a:p>
            <a:r>
              <a:t>   GitHub MCP server provides: Tools (create_issue, create_pr), Resources (repo files, issues list), Prompts (review_pr template).</a:t>
            </a:r>
          </a:p>
          <a:p/>
          <a:p>
            <a:r>
              <a:t>TRANSITION:</a:t>
            </a:r>
          </a:p>
          <a:p>
            <a:r>
              <a:t>   Available MCP servers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Nate B Jones discovered the hard way: Every field you add to a system is a promise to maintain it forever. Start with the absolute minimum.</a:t>
            </a:r>
          </a:p>
          <a:p/>
          <a:p>
            <a:r>
              <a:t>KEY POINTS:</a:t>
            </a:r>
          </a:p>
          <a:p>
            <a:r>
              <a:t>   * MCP schema design: Start with 3-4 fields maximum, add ONLY when pain demands</a:t>
            </a:r>
          </a:p>
          <a:p>
            <a:r>
              <a:t>   * Schema bloat kills systems - every field is technical debt</a:t>
            </a:r>
          </a:p>
          <a:p>
            <a:r>
              <a:t>   * Pain-driven design: If you're not hurting without it, don't add it</a:t>
            </a:r>
          </a:p>
          <a:p>
            <a:r>
              <a:t>   * Database design, API contracts, data models - minimize everywhere</a:t>
            </a:r>
          </a:p>
          <a:p>
            <a:r>
              <a:t>   * Resist the urge to build for hypothetical future needs</a:t>
            </a:r>
          </a:p>
          <a:p/>
          <a:p>
            <a:r>
              <a:t>ASK THE CLASS:</a:t>
            </a:r>
          </a:p>
          <a:p>
            <a:r>
              <a:t>   "What's a field you added to a schema that you've literally never used?"</a:t>
            </a:r>
          </a:p>
          <a:p>
            <a:r>
              <a:t>   [PAUSE for 30-60 seconds]</a:t>
            </a:r>
          </a:p>
          <a:p/>
          <a:p>
            <a:r>
              <a:t>REAL-WORLD EXAMPLE:</a:t>
            </a:r>
          </a:p>
          <a:p>
            <a:r>
              <a:t>   Team designs MCP tool for customer data. Initial spec: 15 fields. Apply this principle: Start with 4 (id, name, email, status). Build it. Use it for a week. Discover they actually need 'created_date' too. Add that ONE field. Final: 5 fields, not 15. Zero unused fields.</a:t>
            </a:r>
          </a:p>
          <a:p/>
          <a:p>
            <a:r>
              <a:t>DEMO:</a:t>
            </a:r>
          </a:p>
          <a:p>
            <a:r>
              <a:t>   Show two MCP schema examples side by side: 1) Over-engineered with 15 fields (predict everything), 2) Minimal with 4 fields (pain-driven). Build the minimal one in 5 minutes. Point out: The 15-field version would take 30 minutes and create maintenance burden. Reference Nate B Jones: 'Your future self will thank you for keeping it simple.'</a:t>
            </a:r>
          </a:p>
          <a:p/>
          <a:p>
            <a:r>
              <a:t>TRANSITION:</a:t>
            </a:r>
          </a:p>
          <a:p>
            <a:r>
              <a:t>   This minimal design philosophy applies to every MCP tool we build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Dozens of pre-built MCP servers available</a:t>
            </a:r>
          </a:p>
          <a:p>
            <a:r>
              <a:t>   * GitHub server most popular for development</a:t>
            </a:r>
          </a:p>
          <a:p>
            <a:r>
              <a:t>   * Database servers enable data analysis</a:t>
            </a:r>
          </a:p>
          <a:p>
            <a:r>
              <a:t>   * Filesystem extends beyond project directory</a:t>
            </a:r>
          </a:p>
          <a:p>
            <a:r>
              <a:t>   * Communication tools (Slack) for notifications</a:t>
            </a:r>
          </a:p>
          <a:p>
            <a:r>
              <a:t>   * Custom servers for your proprietary systems</a:t>
            </a:r>
          </a:p>
          <a:p>
            <a:r>
              <a:t>   * Notable addition: Sequential Thinking MCP server for explicit reasoning chains on complex, multi-step problems. Particularly valuable for debugging and architectural decisions.</a:t>
            </a:r>
          </a:p>
          <a:p>
            <a:r>
              <a:t>   * Research insight: Programmatic tool calling (structured tool invocation) improved task accuracy from 46.5% to 51.2% — this is why MCP's structured approach outperforms ad-hoc tool use.</a:t>
            </a:r>
          </a:p>
          <a:p/>
          <a:p>
            <a:r>
              <a:t>REAL-WORLD EXAMPLE:</a:t>
            </a:r>
          </a:p>
          <a:p>
            <a:r>
              <a:t>   Team uses GitHub + PostgreSQL + Custom CRM server. Claude can: review code, query customer data, update CRM records - all in one conversation.</a:t>
            </a:r>
          </a:p>
          <a:p/>
          <a:p>
            <a:r>
              <a:t>TRANSITION:</a:t>
            </a:r>
          </a:p>
          <a:p>
            <a:r>
              <a:t>   How to install MCP servers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KEY POINTS:</a:t>
            </a:r>
          </a:p>
          <a:p>
            <a:r>
              <a:t>   * Most MCP servers distributed via npm</a:t>
            </a:r>
          </a:p>
          <a:p>
            <a:r>
              <a:t>   * Install globally or per-project</a:t>
            </a:r>
          </a:p>
          <a:p>
            <a:r>
              <a:t>   * Configure in Claude config file (or CLAUDE.md)</a:t>
            </a:r>
          </a:p>
          <a:p>
            <a:r>
              <a:t>   * Provide credentials via env vars</a:t>
            </a:r>
          </a:p>
          <a:p>
            <a:r>
              <a:t>   * Restart Claude to load servers</a:t>
            </a:r>
          </a:p>
          <a:p>
            <a:r>
              <a:t>   * Servers auto-start when Claude launches</a:t>
            </a:r>
          </a:p>
          <a:p/>
          <a:p>
            <a:r>
              <a:t>REAL-WORLD EXAMPLE:</a:t>
            </a:r>
          </a:p>
          <a:p>
            <a:r>
              <a:t>   Install GitHub server once, works for all projects. Claude can now list your PRs, create issues, search code across all repos you have access to.</a:t>
            </a:r>
          </a:p>
          <a:p/>
          <a:p>
            <a:r>
              <a:t>TRANSITION:</a:t>
            </a:r>
          </a:p>
          <a:p>
            <a:r>
              <a:t>   Security considerations for MCP</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Local execution = you control security posture</a:t>
            </a:r>
          </a:p>
          <a:p>
            <a:r>
              <a:t>   * Don't give database WRITE access unless necessary</a:t>
            </a:r>
          </a:p>
          <a:p>
            <a:r>
              <a:t>   * Read-only GitHub token for most development work</a:t>
            </a:r>
          </a:p>
          <a:p>
            <a:r>
              <a:t>   * Combine with hooks for audit trail</a:t>
            </a:r>
          </a:p>
          <a:p>
            <a:r>
              <a:t>   * Review MCP server source (most are &lt;500 lines)</a:t>
            </a:r>
          </a:p>
          <a:p>
            <a:r>
              <a:t>   * Teams should approve servers before deployment</a:t>
            </a:r>
          </a:p>
          <a:p>
            <a:r>
              <a:t>   * Never commit tokens to git</a:t>
            </a:r>
          </a:p>
          <a:p/>
          <a:p>
            <a:r>
              <a:t>REAL-WORLD EXAMPLE:</a:t>
            </a:r>
          </a:p>
          <a:p>
            <a:r>
              <a:t>   Database MCP server gets read-only credentials. Can query for analysis but cannot modify production data. Defense in depth.</a:t>
            </a:r>
          </a:p>
          <a:p/>
          <a:p>
            <a:r>
              <a:t>TRANSITION:</a:t>
            </a:r>
          </a:p>
          <a:p>
            <a:r>
              <a:t>   Demo: GitHub MCP in action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a:t>
            </a:r>
          </a:p>
          <a:p/>
          <a:p>
            <a:r>
              <a:t>KEY POINTS:</a:t>
            </a:r>
          </a:p>
          <a:p>
            <a:r>
              <a:t>   * GitHub MCP connects Claude to your repos</a:t>
            </a:r>
          </a:p>
          <a:p>
            <a:r>
              <a:t>   * List PRs, issues, commits via natural language</a:t>
            </a:r>
          </a:p>
          <a:p>
            <a:r>
              <a:t>   * Create issues and PRs from Claude chat</a:t>
            </a:r>
          </a:p>
          <a:p>
            <a:r>
              <a:t>   * Search code across all your repositories</a:t>
            </a:r>
          </a:p>
          <a:p>
            <a:r>
              <a:t>   * Combines with Claude Code for seamless workflow</a:t>
            </a:r>
          </a:p>
          <a:p>
            <a:r>
              <a:t>   * No context switching to GitHub web UI</a:t>
            </a:r>
          </a:p>
          <a:p/>
          <a:p>
            <a:r>
              <a:t>REAL-WORLD EXAMPLE:</a:t>
            </a:r>
          </a:p>
          <a:p>
            <a:r>
              <a:t>   During code review, Claude finds security issue. Immediately creates GitHub issue with details, assigns to security team. 30 seconds instead of 3 minutes of UI clicking.</a:t>
            </a:r>
          </a:p>
          <a:p/>
          <a:p>
            <a:r>
              <a:t>DEMO:</a:t>
            </a:r>
          </a:p>
          <a:p>
            <a:r>
              <a:t>   1) Show GitHub MCP server config in settings. 2) Start Claude Code. 3) Ask: 'List my open PRs across all repos'. 4) Ask: 'Create an issue in project X for the bug we just found'. 5) Ask: 'Show me recent commits on main branch'. 6) Emphasize: All of this via Claude chat, no switching to GitHub. 7) Show how it combines with code work: Find bug, create issue, all in one flow.</a:t>
            </a:r>
          </a:p>
          <a:p/>
          <a:p>
            <a:r>
              <a:t>TRANSITION:</a:t>
            </a:r>
          </a:p>
          <a:p>
            <a:r>
              <a:t>   Building custom MCP servers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TypeScript and Python SDKs available</a:t>
            </a:r>
          </a:p>
          <a:p>
            <a:r>
              <a:t>   * Protocol is simple: JSON-RPC over stdio or HTTP</a:t>
            </a:r>
          </a:p>
          <a:p>
            <a:r>
              <a:t>   * Most MCP servers are &lt;500 lines of code</a:t>
            </a:r>
          </a:p>
          <a:p>
            <a:r>
              <a:t>   * Example: Build MCP for internal CRM, ticketing, monitoring</a:t>
            </a:r>
          </a:p>
          <a:p>
            <a:r>
              <a:t>   * Documentation at modelcontextprotocol.io</a:t>
            </a:r>
          </a:p>
          <a:p>
            <a:r>
              <a:t>   * Community examples on GitHub</a:t>
            </a:r>
          </a:p>
          <a:p/>
          <a:p>
            <a:r>
              <a:t>REAL-WORLD EXAMPLE:</a:t>
            </a:r>
          </a:p>
          <a:p>
            <a:r>
              <a:t>   Company builds MCP server for internal ticketing system. Developers can create tickets, check status, update priorities - all from Claude chat during development.</a:t>
            </a:r>
          </a:p>
          <a:p/>
          <a:p>
            <a:r>
              <a:t>TRANSITION:</a:t>
            </a:r>
          </a:p>
          <a:p>
            <a:r>
              <a:t>   Simple MCP server example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KEY POINTS:</a:t>
            </a:r>
          </a:p>
          <a:p>
            <a:r>
              <a:t>   * SDK handles protocol complexity</a:t>
            </a:r>
          </a:p>
          <a:p>
            <a:r>
              <a:t>   * You define tools and their logic</a:t>
            </a:r>
          </a:p>
          <a:p>
            <a:r>
              <a:t>   * tools/list: Advertise capabilities</a:t>
            </a:r>
          </a:p>
          <a:p>
            <a:r>
              <a:t>   * tools/call: Execute requested tool</a:t>
            </a:r>
          </a:p>
          <a:p>
            <a:r>
              <a:t>   * Input/output schemas define contracts</a:t>
            </a:r>
          </a:p>
          <a:p>
            <a:r>
              <a:t>   * Full example in MCP docs</a:t>
            </a:r>
          </a:p>
          <a:p/>
          <a:p>
            <a:r>
              <a:t>TRANSITION:</a:t>
            </a:r>
          </a:p>
          <a:p>
            <a:r>
              <a:t>   Break time - afternoon we'll do agent teams and production workflows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Here's a problem that hits every production MCP deployment. You've got an agent connected to 20, 30, maybe 50 MCP servers. Each server exposes multiple tools. Every tool definition — what it does, what parameters it accepts, what format it expects, what it returns — gets loaded into your agent's context window upfront. Before your agent does ANYTHING, it's consumed tens of thousands of tokens just loading the instruction manual.</a:t>
            </a:r>
          </a:p>
          <a:p/>
          <a:p>
            <a:r>
              <a:t>KEY POINTS:</a:t>
            </a:r>
          </a:p>
          <a:p>
            <a:r>
              <a:t>   * With direct tool calling, every tool definition gets loaded into context before the agent takes any action. It's like handing someone a 500-page manual before they can make a phone call.</a:t>
            </a:r>
          </a:p>
          <a:p>
            <a:r>
              <a:t>   * Then there's the intermediate results problem. Agent calls Tool A, result flows through context. Agent processes, calls Tool B, another result through context. For complex workflows with 10, 20, 30 tool calls, you're passing massive amounts of data back and forth through the context window.</a:t>
            </a:r>
          </a:p>
          <a:p>
            <a:r>
              <a:t>   * This creates three cascading problems: cost spirals because more tokens mean higher API bills, latency increases because the model processes all those tokens, and you hit context limits fast — burning 150,000 tokens on tool definitions and intermediate results leaves no room for the actual task.</a:t>
            </a:r>
          </a:p>
          <a:p/>
          <a:p>
            <a:r>
              <a:t>TRANSITION:</a:t>
            </a:r>
          </a:p>
          <a:p>
            <a:r>
              <a:t>   Anthropic figured out an elegant solution to this. Instead of making your agent call tools directly, you treat MCP servers as code APIs.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Anthropic's solution flips the model. Instead of the agent calling tools through the API, the agent writes code that imports MCP servers as modules and executes everything in a sandbox.</a:t>
            </a:r>
          </a:p>
          <a:p/>
          <a:p>
            <a:r>
              <a:t>KEY POINTS:</a:t>
            </a:r>
          </a:p>
          <a:p>
            <a:r>
              <a:t>   * The key insight: MCP servers become code APIs. Instead of exposing tools as function calls the model invokes directly, you present them as modules the agent can import and use programmatically — TypeScript modules, Python packages, whatever your execution environment supports.</a:t>
            </a:r>
          </a:p>
          <a:p>
            <a:r>
              <a:t>   * Here's the difference in practice. Say your agent needs to search Salesforce records, filter results, and create a summary. Traditional way: load all Salesforce tool definitions into context — thousands of tokens. Call search — full results come back through context, maybe 50,000 tokens. Call filter — filtered results through context. Call summary — summary back. That's three round trips with massive data flowing through the model each time.</a:t>
            </a:r>
          </a:p>
          <a:p>
            <a:r>
              <a:t>   * Code execution way: the agent writes a script that imports the Salesforce module, searches, filters in-memory, summarizes, and returns ONLY the final summary object. The intermediate data — those 1,000 search results — never touches the model's context. They live and die in the execution environment.</a:t>
            </a:r>
          </a:p>
          <a:p>
            <a:r>
              <a:t>   * Anthropic tested this: workflows that consumed 150,000 tokens dropped to 2,000. That's a 98.7 percent reduction. And it's not just cheaper — it's faster, because you're executing code instead of making sequential round-trip API calls.</a:t>
            </a:r>
          </a:p>
          <a:p/>
          <a:p>
            <a:r>
              <a:t>TRANSITION:</a:t>
            </a:r>
          </a:p>
          <a:p>
            <a:r>
              <a:t>   Let's look at what this looks like in actual code.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Let me show you both approaches side by side so you can see the difference.</a:t>
            </a:r>
          </a:p>
          <a:p/>
          <a:p>
            <a:r>
              <a:t>KEY POINTS:</a:t>
            </a:r>
          </a:p>
          <a:p>
            <a:r>
              <a:t>   * In the traditional approach on this slide, every step is a separate tool call. The agent calls search — 1,000 records come back THROUGH the context window. Then it calls filter — passing those records back to another tool, results come back through context again. Then summarize — more data through context. Three round trips, massive token consumption.</a:t>
            </a:r>
          </a:p>
          <a:p>
            <a:r>
              <a:t>   * Now look at the code execution approach. The agent writes a single script that imports the Salesforce MCP server as a module. It searches, filters with a standard array filter — that happens in the execution environment, not in the model's context — then builds a summary object. Only that tiny summary object returns to the model. Maybe 100 tokens instead of 50,000.</a:t>
            </a:r>
          </a:p>
          <a:p>
            <a:r>
              <a:t>   * Notice the agent is writing real code — loops, conditionals, array methods, error handling. This is why Claude Code is particularly well-suited for this pattern. It already thinks in code. Treating MCP servers as code APIs is natural for an agent that writes and executes code all day.</a:t>
            </a:r>
          </a:p>
          <a:p/>
          <a:p>
            <a:r>
              <a:t>TRANSITION:</a:t>
            </a:r>
          </a:p>
          <a:p>
            <a:r>
              <a:t>   This pattern unlocks seven specific benefits for production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Here's the code execution version. The agent writes this script, it runs in a sandboxed environment, and only the return value goes back to the model.</a:t>
            </a:r>
          </a:p>
          <a:p/>
          <a:p>
            <a:r>
              <a:t>KEY POINTS:</a:t>
            </a:r>
          </a:p>
          <a:p>
            <a:r>
              <a:t>   * The import statement pulls in only the Salesforce MCP server — not every tool in your ecosystem. This is progressive tool discovery. The agent loads what it needs, when it needs it.</a:t>
            </a:r>
          </a:p>
          <a:p>
            <a:r>
              <a:t>   * The search returns 1,000 records but they stay in the execution environment. The filter, sort, and aggregation all happen in code. The model never sees those 1,000 records.</a:t>
            </a:r>
          </a:p>
          <a:p>
            <a:r>
              <a:t>   * The return object is maybe 100 tokens. Compare that to passing 1,000 full records through context. This is the 98 percent reduction in action.</a:t>
            </a:r>
          </a:p>
          <a:p/>
          <a:p>
            <a:r>
              <a:t>TRANSITION:</a:t>
            </a:r>
          </a:p>
          <a:p>
            <a:r>
              <a:t>   Let's talk about why this matters beyond just token savings.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The token savings alone justify this approach, but there are six more benefits that make it essential for production.</a:t>
            </a:r>
          </a:p>
          <a:p/>
          <a:p>
            <a:r>
              <a:t>KEY POINTS:</a:t>
            </a:r>
          </a:p>
          <a:p>
            <a:r>
              <a:t>   * Token efficiency: 98 percent reduction means the economics change completely. A workflow that cost dollars now costs pennies. You can connect agents to entire ecosystems of tools without worrying about context limits.</a:t>
            </a:r>
          </a:p>
          <a:p>
            <a:r>
              <a:t>   * Progressive tool discovery: your agent can browse available tools, search for specific functionality, or read documentation only when needed. You can implement a search_tools function that finds relevant tools based on the current task. This solves context bloat completely.</a:t>
            </a:r>
          </a:p>
          <a:p>
            <a:r>
              <a:t>   * In-environment data processing: filter, transform, aggregate — all inside the sandbox before it reaches the model. 10,000 spreadsheet rows become 5 relevant rows before the model ever sees them.</a:t>
            </a:r>
          </a:p>
          <a:p>
            <a:r>
              <a:t>   * Better control flow: real code gives you loops, conditionals, error handling, try-catch blocks. Instead of 50 separate tool calls with 50 round-trips, one execution handles all 50 operations.</a:t>
            </a:r>
          </a:p>
          <a:p>
            <a:r>
              <a:t>   * Privacy: sensitive data flows through workflows without entering the model's context. Only explicitly returned values become visible. Process confidential information, make decisions, return only the final result.</a:t>
            </a:r>
          </a:p>
          <a:p>
            <a:r>
              <a:t>   * State persistence: save intermediate results to files, resume later. Long-running tasks can checkpoint progress and pick up where they left off across sessions.</a:t>
            </a:r>
          </a:p>
          <a:p>
            <a:r>
              <a:t>   * Reusable skills: over time you build a library of higher-level capabilities. Complex multi-step operations become single function calls. Anthropic suggests documenting these with SKILL.md files — which we covered earlier in this course.</a:t>
            </a:r>
          </a:p>
          <a:p/>
          <a:p>
            <a:r>
              <a:t>ASK THE CLASS:</a:t>
            </a:r>
          </a:p>
          <a:p>
            <a:r>
              <a:t>   "Think about a workflow in your organization that chains multiple API calls together. How would this pattern change the economics and performance of that workflow?"</a:t>
            </a:r>
          </a:p>
          <a:p>
            <a:r>
              <a:t>   [PAUSE for 30-60 seconds]</a:t>
            </a:r>
          </a:p>
          <a:p/>
          <a:p>
            <a:r>
              <a:t>TRANSITION:</a:t>
            </a:r>
          </a:p>
          <a:p>
            <a:r>
              <a:t>   There is a trade-off, though. This approach adds complexity — you need a secure code execution environment with sandboxing, resource limits, and monitoring. For simple agents with 3 to 5 tools, direct tool calling still works fine. But for production agents at scale, this is the architecture you want.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This isn't an either-or decision. Both approaches have their place.</a:t>
            </a:r>
          </a:p>
          <a:p/>
          <a:p>
            <a:r>
              <a:t>KEY POINTS:</a:t>
            </a:r>
          </a:p>
          <a:p>
            <a:r>
              <a:t>   * Direct tool calling is perfectly fine for simple agents with a handful of tools and straightforward workflows. If you're prototyping, building demos, or your agent only needs 3 to 5 tools, the overhead of setting up code execution isn't worth it.</a:t>
            </a:r>
          </a:p>
          <a:p>
            <a:r>
              <a:t>   * Code execution becomes essential when you're building production agents that connect to dozens of services, handle complex multi-step workflows, process large datasets, or deal with sensitive information.</a:t>
            </a:r>
          </a:p>
          <a:p>
            <a:r>
              <a:t>   * The trade-off is implementation complexity. You need a secure sandbox — proper resource limits, monitoring, and isolation. But for production AI applications that need to scale, the benefits in cost, speed, and capability far outweigh the setup cost.</a:t>
            </a:r>
          </a:p>
          <a:p>
            <a:r>
              <a:t>   * One more thing: this connects directly to the Skills pattern we covered earlier. When your agent builds reusable code that interacts with MCP servers, those become Skills — documented, tested, reusable capabilities that make the agent more powerful over time.</a:t>
            </a:r>
          </a:p>
          <a:p/>
          <a:p>
            <a:r>
              <a:t>TRANSITION:</a:t>
            </a:r>
          </a:p>
          <a:p>
            <a:r>
              <a:t>   Let's take a break, and then we'll move into the hands-on lab where you'll build your own MCP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Here is an MCP server that changes what you think Claude Code can do. Chrome DevTools MCP connects Claude Code to a live Chrome browser. Claude can navigate pages, click buttons, fill out forms, take screenshots, and extract data from any website — even ones without APIs.</a:t>
            </a:r>
          </a:p>
          <a:p/>
          <a:p>
            <a:r>
              <a:t>KEY POINTS:</a:t>
            </a:r>
          </a:p>
          <a:p>
            <a:r>
              <a:t>   * The setup is straightforward. You install the Chrome DevTools MCP server, Chrome launches with a remote debugging port, and Claude Code sees the browser as another tool. From that point, you can say 'go to amazon.com and find me the best-rated coffee grinder under 50 dollars' and Claude will open Chrome, navigate, scroll, compare products, and report back.</a:t>
            </a:r>
          </a:p>
          <a:p>
            <a:r>
              <a:t>   * The real power is data extraction from sites without APIs. Think about all the websites you manually check every day — competitor pricing pages, government databases, industry reports behind login walls. Chrome DevTools lets Claude access all of that programmatically.</a:t>
            </a:r>
          </a:p>
          <a:p>
            <a:r>
              <a:t>   * Nick Saraev built an Amazon shopping assistant with this: Claude opens Chrome, browses products matching his criteria, compares options, and asks for purchase approval before buying. All automated, all running locally.</a:t>
            </a:r>
          </a:p>
          <a:p>
            <a:r>
              <a:t>   * There is also a lighter-weight option: Claude's built-in browser extension. Install it in Chrome, and Claude Code can read and interact with whatever tab you have open. Less setup, good for quick page analysis.</a:t>
            </a:r>
          </a:p>
          <a:p>
            <a:r>
              <a:t>   * Word of caution: respect terms of service and rate limits. This is powerful but scraping at scale can get you blocked. Use it for legitimate research and personal automation, not mass data harvesting.</a:t>
            </a:r>
          </a:p>
          <a:p/>
          <a:p>
            <a:r>
              <a:t>TRANSITION:</a:t>
            </a:r>
          </a:p>
          <a:p>
            <a:r>
              <a:t>   Let us take a break, and when we come back we will cover team collaboration workflows.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Remember Day 1 when we talked about Claude Desktop App's autonomous features? This is that, but for developers.</a:t>
            </a:r>
          </a:p>
          <a:p/>
          <a:p>
            <a:r>
              <a:t>KEY POINTS:</a:t>
            </a:r>
          </a:p>
          <a:p>
            <a:r>
              <a:t>   * Cowork tab in Claude Desktop App</a:t>
            </a:r>
          </a:p>
          <a:p>
            <a:r>
              <a:t>   * Set goal, choose directory, select model, start</a:t>
            </a:r>
          </a:p>
          <a:p>
            <a:r>
              <a:t>   * Claude works autonomously while you do other things</a:t>
            </a:r>
          </a:p>
          <a:p>
            <a:r>
              <a:t>   * Check back when ready - progress saved</a:t>
            </a:r>
          </a:p>
          <a:p>
            <a:r>
              <a:t>   * Task presets: Optimize codebase, Find bugs, Generate tests</a:t>
            </a:r>
          </a:p>
          <a:p>
            <a:r>
              <a:t>   * Windows/Mac desktop app - in preview for Pro/Team users</a:t>
            </a:r>
          </a:p>
          <a:p/>
          <a:p>
            <a:r>
              <a:t>REAL-WORLD EXAMPLE:</a:t>
            </a:r>
          </a:p>
          <a:p>
            <a:r>
              <a:t>   Friday afternoon: Tell Cowork 'Audit entire codebase for security issues, generate report'. Go to meeting. Come back Monday, comprehensive security audit is done.</a:t>
            </a:r>
          </a:p>
          <a:p/>
          <a:p>
            <a:r>
              <a:t>TRANSITION:</a:t>
            </a:r>
          </a:p>
          <a:p>
            <a:r>
              <a:t>   When to use Cowork vs interactive Claude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Interactive: You're actively collaborating (most work)</a:t>
            </a:r>
          </a:p>
          <a:p>
            <a:r>
              <a:t>   * Cowork: Delegate and forget (specific use cases)</a:t>
            </a:r>
          </a:p>
          <a:p>
            <a:r>
              <a:t>   * Decision: Would you block 2+ hours calendar time? → Cowork</a:t>
            </a:r>
          </a:p>
          <a:p>
            <a:r>
              <a:t>   * Quick task or learning? → Interactive</a:t>
            </a:r>
          </a:p>
          <a:p>
            <a:r>
              <a:t>   * Cowork perfect for: Security audits, test generation, documentation, dependency analysis</a:t>
            </a:r>
          </a:p>
          <a:p>
            <a:r>
              <a:t>   * Not for: Quick questions, pair programming, debugging</a:t>
            </a:r>
          </a:p>
          <a:p/>
          <a:p>
            <a:r>
              <a:t>ASK THE CLASS:</a:t>
            </a:r>
          </a:p>
          <a:p>
            <a:r>
              <a:t>   "What monthly task takes 2+ hours you'd delegate to Cowork?"</a:t>
            </a:r>
          </a:p>
          <a:p>
            <a:r>
              <a:t>   [PAUSE for 30-60 seconds]</a:t>
            </a:r>
          </a:p>
          <a:p/>
          <a:p>
            <a:r>
              <a:t>TRANSITION:</a:t>
            </a:r>
          </a:p>
          <a:p>
            <a:r>
              <a:t>   Task presets make Cowork easy to use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KEY POINTS:</a:t>
            </a:r>
          </a:p>
          <a:p>
            <a:r>
              <a:t>   * Presets are one-click delegation</a:t>
            </a:r>
          </a:p>
          <a:p>
            <a:r>
              <a:t>   * Each preset is a comprehensive task template</a:t>
            </a:r>
          </a:p>
          <a:p>
            <a:r>
              <a:t>   * Customize detail level: Overview, MVP, Detailed spec</a:t>
            </a:r>
          </a:p>
          <a:p>
            <a:r>
              <a:t>   * Results saved, can review anytime</a:t>
            </a:r>
          </a:p>
          <a:p>
            <a:r>
              <a:t>   * These replace hours of manual work</a:t>
            </a:r>
          </a:p>
          <a:p>
            <a:r>
              <a:t>   * Custom presets for your team's recurring needs</a:t>
            </a:r>
          </a:p>
          <a:p/>
          <a:p>
            <a:r>
              <a:t>REAL-WORLD EXAMPLE:</a:t>
            </a:r>
          </a:p>
          <a:p>
            <a:r>
              <a:t>   Monthly security audit used to take 4 hours. Now: Click Security Audit preset Friday morning, review results Monday. Same thoroughness, 10× time savings.</a:t>
            </a:r>
          </a:p>
          <a:p/>
          <a:p>
            <a:r>
              <a:t>TRANSITION:</a:t>
            </a:r>
          </a:p>
          <a:p>
            <a:r>
              <a:t>   From solo autonomous work to team coordination: Agent Teams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Hot off the press: Anthropic just shipped Agent Teams with Opus 4.6. This is the cutting edge of AI development.</a:t>
            </a:r>
          </a:p>
          <a:p/>
          <a:p>
            <a:r>
              <a:t>KEY POINTS:</a:t>
            </a:r>
          </a:p>
          <a:p>
            <a:r>
              <a:t>   * Agent Teams = multiple Claude Code instances coordinating</a:t>
            </a:r>
          </a:p>
          <a:p>
            <a:r>
              <a:t>   * One lead agent, multiple teammates working in parallel</a:t>
            </a:r>
          </a:p>
          <a:p>
            <a:r>
              <a:t>   * Shared task list + inter-agent messaging</a:t>
            </a:r>
          </a:p>
          <a:p>
            <a:r>
              <a:t>   * Teammates can communicate with EACH OTHER (not just lead)</a:t>
            </a:r>
          </a:p>
          <a:p>
            <a:r>
              <a:t>   * Real example: 16 agents built C compiler in 2000 sessions, $20k</a:t>
            </a:r>
          </a:p>
          <a:p>
            <a:r>
              <a:t>   * Built bootable Linux kernel compiler - this is production-ready</a:t>
            </a:r>
          </a:p>
          <a:p/>
          <a:p>
            <a:r>
              <a:t>REAL-WORLD EXAMPLE:</a:t>
            </a:r>
          </a:p>
          <a:p>
            <a:r>
              <a:t>   Cole Medin's team built complete C compiler for x86, ARM, RISC-V. Cost &lt;$20k, would have taken months of human dev time.</a:t>
            </a:r>
          </a:p>
          <a:p/>
          <a:p>
            <a:r>
              <a:t>TRANSITION:</a:t>
            </a:r>
          </a:p>
          <a:p>
            <a:r>
              <a:t>   How Agent Teams differ from what we've learned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KEY POINTS:</a:t>
            </a:r>
          </a:p>
          <a:p>
            <a:r>
              <a:t>   * Single session: 95% of work, fast, cheap</a:t>
            </a:r>
          </a:p>
          <a:p>
            <a:r>
              <a:t>   * Sub-agents: Research that feeds back, isolated context</a:t>
            </a:r>
          </a:p>
          <a:p>
            <a:r>
              <a:t>   * Agent Teams: Coordination needed, teammates discuss with each other</a:t>
            </a:r>
          </a:p>
          <a:p>
            <a:r>
              <a:t>   * Key difference: Sub-agents report to caller only, Agent Teams talk amongst themselves</a:t>
            </a:r>
          </a:p>
          <a:p>
            <a:r>
              <a:t>   * Token cost: Single &lt; Sub-agents &lt; Agent Teams</a:t>
            </a:r>
          </a:p>
          <a:p>
            <a:r>
              <a:t>   * Choose based on coordination needs, not task size</a:t>
            </a:r>
          </a:p>
          <a:p/>
          <a:p>
            <a:r>
              <a:t>REAL-WORLD EXAMPLE:</a:t>
            </a:r>
          </a:p>
          <a:p>
            <a:r>
              <a:t>   Sub-agent: 'Research auth implementation' → reports findings. Agent Team: Database agent defines schema, Backend agent uses it to build API, Frontend agent consumes API. They coordinate contracts.</a:t>
            </a:r>
          </a:p>
          <a:p/>
          <a:p>
            <a:r>
              <a:t>TRANSITION:</a:t>
            </a:r>
          </a:p>
          <a:p>
            <a:r>
              <a:t>   Setting up Agent Teams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Experimental flag: CLAUDE_CODE_EXPERIMENTAL_AGENT_TEAMS=1</a:t>
            </a:r>
          </a:p>
          <a:p>
            <a:r>
              <a:t>   * Add to settings.json env section</a:t>
            </a:r>
          </a:p>
          <a:p>
            <a:r>
              <a:t>   * TMux required for split-pane view (see all agents at once)</a:t>
            </a:r>
          </a:p>
          <a:p>
            <a:r>
              <a:t>   * Without TMux: in-process mode (switch agents with Shift+Up/Down)</a:t>
            </a:r>
          </a:p>
          <a:p>
            <a:r>
              <a:t>   * Windows: Install WSL first, then TMux inside WSL</a:t>
            </a:r>
          </a:p>
          <a:p>
            <a:r>
              <a:t>   * One-time setup, works for all projects after</a:t>
            </a:r>
          </a:p>
          <a:p/>
          <a:p>
            <a:r>
              <a:t>DEMO:</a:t>
            </a:r>
          </a:p>
          <a:p>
            <a:r>
              <a:t>   Show settings.json with flag. Show TMux session with multiple agent panes.</a:t>
            </a:r>
          </a:p>
          <a:p/>
          <a:p>
            <a:r>
              <a:t>TRANSITION:</a:t>
            </a:r>
          </a:p>
          <a:p>
            <a:r>
              <a:t>   Creating agent teams with specific roles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a:t>
            </a:r>
          </a:p>
          <a:p/>
          <a:p>
            <a:r>
              <a:t>KEY POINTS:</a:t>
            </a:r>
          </a:p>
          <a:p>
            <a:r>
              <a:t>   * Lead creates team with specific roles</a:t>
            </a:r>
          </a:p>
          <a:p>
            <a:r>
              <a:t>   * Each teammate has own context, works independently</a:t>
            </a:r>
          </a:p>
          <a:p>
            <a:r>
              <a:t>   * Teammates can message each other for coordination</a:t>
            </a:r>
          </a:p>
          <a:p>
            <a:r>
              <a:t>   * Parallel execution 3× faster than sequential reviews</a:t>
            </a:r>
          </a:p>
          <a:p>
            <a:r>
              <a:t>   * Lead synthesizes all findings into coherent report</a:t>
            </a:r>
          </a:p>
          <a:p>
            <a:r>
              <a:t>   * High token cost but massive time savings for complex work</a:t>
            </a:r>
          </a:p>
          <a:p/>
          <a:p>
            <a:r>
              <a:t>REAL-WORLD EXAMPLE:</a:t>
            </a:r>
          </a:p>
          <a:p>
            <a:r>
              <a:t>   PR review that would take 90 min sequentially (security, then performance, then tests) → done in 30 min parallel with agent team. Same thoroughness, 3× faster.</a:t>
            </a:r>
          </a:p>
          <a:p/>
          <a:p>
            <a:r>
              <a:t>DEMO:</a:t>
            </a:r>
          </a:p>
          <a:p>
            <a:r>
              <a:t>   1) Start Claude with Agent Teams enabled. 2) Request: 'Create agent team to review this PR. One security reviewer, one performance reviewer, one test coverage reviewer.' 3) Show split-pane mode with 3 teammates working in parallel. 4) Show agents messaging each other: 'Backend teammate, what's the API response format?' 5) Show lead agent synthesizing findings. 6) Emphasize: Parallel work 3× faster than sequential.</a:t>
            </a:r>
          </a:p>
          <a:p/>
          <a:p>
            <a:r>
              <a:t>TRANSITION:</a:t>
            </a:r>
          </a:p>
          <a:p>
            <a:r>
              <a:t>   When to use Agent Teams (decision framework)</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Here's where agent teams become transformative. Imagine you have 10 user interview transcripts to analyze. Sequential processing takes 3 hours. With parallel agents, you spawn 10 instances — one per transcript — and they all run simultaneously. Five minutes later, you have structured analysis of all 10 interviews with themes auto-synthesized.</a:t>
            </a:r>
          </a:p>
          <a:p/>
          <a:p>
            <a:r>
              <a:t>KEY POINTS:</a:t>
            </a:r>
          </a:p>
          <a:p>
            <a:r>
              <a:t>   * Parallel agents are not just faster — they're qualitatively different. Each agent gets full context on one interview without token dilution.</a:t>
            </a:r>
          </a:p>
          <a:p>
            <a:r>
              <a:t>   * The coordinator agent merges findings: common themes, contradictions, priority insights.</a:t>
            </a:r>
          </a:p>
          <a:p>
            <a:r>
              <a:t>   * Real example from Mohit Aggarwal: PM processes 10 user interviews in 5 minutes vs 3 hours manually.</a:t>
            </a:r>
          </a:p>
          <a:p>
            <a:r>
              <a:t>   * This changes what's feasible. You can now analyze ALL customer feedback, not just a sample.</a:t>
            </a:r>
          </a:p>
          <a:p>
            <a:r>
              <a:t>   * Cost: ~$2-3 for all 10 parallel runs vs 3 hours of your time.</a:t>
            </a:r>
          </a:p>
          <a:p/>
          <a:p>
            <a:r>
              <a:t>ASK THE CLASS:</a:t>
            </a:r>
          </a:p>
          <a:p>
            <a:r>
              <a:t>   "What repetitive analysis tasks do you currently do sequentially that could be parallelized?"</a:t>
            </a:r>
          </a:p>
          <a:p>
            <a:r>
              <a:t>   [PAUSE for 30-60 seconds]</a:t>
            </a:r>
          </a:p>
          <a:p/>
          <a:p>
            <a:r>
              <a:t>REAL-WORLD EXAMPLE:</a:t>
            </a:r>
          </a:p>
          <a:p>
            <a:r>
              <a:t>   A PM receives 10 user interview recordings after a research sprint. Transcripts are ready. Instead of spending a full afternoon reading them one by one, they spawn 10 parallel agents with the same analysis template. Five minutes later: structured insights, common themes, and a prioritized list of user needs.</a:t>
            </a:r>
          </a:p>
          <a:p/>
          <a:p>
            <a:r>
              <a:t>TRANSITION:</a:t>
            </a:r>
          </a:p>
          <a:p>
            <a:r>
              <a:t>   Let's look at another powerful pattern — having multiple personas review the same document.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Here's a pattern that's incredibly powerful for PMs: have multiple sub-agents review the same document from different perspectives. Create an engineer persona, a UX persona, and a business persona. Run all three against your spec. You get three expert reviews in minutes instead of scheduling three separate meetings.</a:t>
            </a:r>
          </a:p>
          <a:p/>
          <a:p>
            <a:r>
              <a:t>KEY POINTS:</a:t>
            </a:r>
          </a:p>
          <a:p>
            <a:r>
              <a:t>   * Each sub-agent has a persona-specific system prompt that shapes its review lens</a:t>
            </a:r>
          </a:p>
          <a:p>
            <a:r>
              <a:t>   * Engineer focuses on: technical feasibility, performance, security, architecture</a:t>
            </a:r>
          </a:p>
          <a:p>
            <a:r>
              <a:t>   * UX focuses on: user flow, accessibility, cognitive load, edge cases</a:t>
            </a:r>
          </a:p>
          <a:p>
            <a:r>
              <a:t>   * Business focuses on: market fit, pricing, competitive positioning, ROI</a:t>
            </a:r>
          </a:p>
          <a:p>
            <a:r>
              <a:t>   * The synthesis is where the magic happens — agreements validate, conflicts highlight blind spots</a:t>
            </a:r>
          </a:p>
          <a:p>
            <a:r>
              <a:t>   * Source: Mohit Aggarwal, Claude Code for Product Managers</a:t>
            </a:r>
          </a:p>
          <a:p/>
          <a:p>
            <a:r>
              <a:t>DEMO:</a:t>
            </a:r>
          </a:p>
          <a:p>
            <a:r>
              <a:t>   Show .claude/agents/ with engineer.md, ux.md, business.md. Run each against a sample PRD. Compare outputs.</a:t>
            </a:r>
          </a:p>
          <a:p/>
          <a:p>
            <a:r>
              <a:t>TRANSITION:</a:t>
            </a:r>
          </a:p>
          <a:p>
            <a:r>
              <a:t>   And you can make these patterns reusable with custom slash commands.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KEY POINTS:</a:t>
            </a:r>
          </a:p>
          <a:p>
            <a:r>
              <a:t>   * Rule: Sub-agents for research, Agent Teams for implementation</a:t>
            </a:r>
          </a:p>
          <a:p>
            <a:r>
              <a:t>   * Agent Teams when agents need to discuss with EACH OTHER</a:t>
            </a:r>
          </a:p>
          <a:p>
            <a:r>
              <a:t>   * Cost: Agent Teams 2-4× more expensive (but 3× faster)</a:t>
            </a:r>
          </a:p>
          <a:p>
            <a:r>
              <a:t>   * Time-critical complex work → Agent Teams</a:t>
            </a:r>
          </a:p>
          <a:p>
            <a:r>
              <a:t>   * Cost-sensitive analysis → Sub-agents</a:t>
            </a:r>
          </a:p>
          <a:p>
            <a:r>
              <a:t>   * Don't use Agent Teams for simple tasks - coordination overhead exceeds benefit</a:t>
            </a:r>
          </a:p>
          <a:p/>
          <a:p>
            <a:r>
              <a:t>ASK THE CLASS:</a:t>
            </a:r>
          </a:p>
          <a:p>
            <a:r>
              <a:t>   "What project would benefit from agents coordinating on database, backend, and frontend layers?"</a:t>
            </a:r>
          </a:p>
          <a:p>
            <a:r>
              <a:t>   [PAUSE for 30-60 seconds]</a:t>
            </a:r>
          </a:p>
          <a:p/>
          <a:p>
            <a:r>
              <a:t>TRANSITION:</a:t>
            </a:r>
          </a:p>
          <a:p>
            <a:r>
              <a:t>   Best practices and common pitfalls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KEY POINTS:</a:t>
            </a:r>
          </a:p>
          <a:p>
            <a:r>
              <a:t>   * Specificity matters: Vague roles lead to confusion</a:t>
            </a:r>
          </a:p>
          <a:p>
            <a:r>
              <a:t>   * Contract-first prevents rework (covered next slide)</a:t>
            </a:r>
          </a:p>
          <a:p>
            <a:r>
              <a:t>   * TMux essential for monitoring parallel work</a:t>
            </a:r>
          </a:p>
          <a:p>
            <a:r>
              <a:t>   * Agents can work on wrong assumptions if not guided</a:t>
            </a:r>
          </a:p>
          <a:p>
            <a:r>
              <a:t>   * High token cost justifies results but needs budgeting</a:t>
            </a:r>
          </a:p>
          <a:p>
            <a:r>
              <a:t>   * Learn with small teams before 10+ agent projects</a:t>
            </a:r>
          </a:p>
          <a:p/>
          <a:p>
            <a:r>
              <a:t>REAL-WORLD EXAMPLE:</a:t>
            </a:r>
          </a:p>
          <a:p>
            <a:r>
              <a:t>   First attempt: All agents start at once. Backend uses wrong database schema, has to redo work. Second attempt: Database first, defines contract, THEN backend. No rework.</a:t>
            </a:r>
          </a:p>
          <a:p/>
          <a:p>
            <a:r>
              <a:t>TRANSITION:</a:t>
            </a:r>
          </a:p>
          <a:p>
            <a:r>
              <a:t>   Contract-first spawning pattern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a:t>
            </a:r>
          </a:p>
          <a:p/>
          <a:p>
            <a:r>
              <a:t>KEY POINTS:</a:t>
            </a:r>
          </a:p>
          <a:p>
            <a:r>
              <a:t>   * Problem: Full parallelism causes mismatches</a:t>
            </a:r>
          </a:p>
          <a:p>
            <a:r>
              <a:t>   * Solution: Sequential contracts, then parallel work</a:t>
            </a:r>
          </a:p>
          <a:p>
            <a:r>
              <a:t>   * Each upstream agent defines interface first</a:t>
            </a:r>
          </a:p>
          <a:p>
            <a:r>
              <a:t>   * Downstream agents use correct contract from start</a:t>
            </a:r>
          </a:p>
          <a:p>
            <a:r>
              <a:t>   * After contracts defined, true parallelism begins</a:t>
            </a:r>
          </a:p>
          <a:p>
            <a:r>
              <a:t>   * Custom skills can automate this pattern</a:t>
            </a:r>
          </a:p>
          <a:p/>
          <a:p>
            <a:r>
              <a:t>REAL-WORLD EXAMPLE:</a:t>
            </a:r>
          </a:p>
          <a:p>
            <a:r>
              <a:t>   Payment system: Database defines schema (contract). Backend builds API using schema (contract). Frontend consumes API. No rework because contracts were clear.</a:t>
            </a:r>
          </a:p>
          <a:p/>
          <a:p>
            <a:r>
              <a:t>TRANSITION:</a:t>
            </a:r>
          </a:p>
          <a:p>
            <a:r>
              <a:t>   Lab 2 will let you practice these patterns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When you run multiple Claude Code sessions on the same codebase, they will eventually step on each other's toes. Two agents editing the same file creates merge conflicts that waste time and break things. Git worktrees solve this completely.</a:t>
            </a:r>
          </a:p>
          <a:p/>
          <a:p>
            <a:r>
              <a:t>KEY POINTS:</a:t>
            </a:r>
          </a:p>
          <a:p>
            <a:r>
              <a:t>   * A Git worktree is an isolated working directory that shares the same Git history as your main repo. Think of it as a parallel universe for your code — same history, different present. You create one with a single command: git worktree add ../feature-name branch-name.</a:t>
            </a:r>
          </a:p>
          <a:p>
            <a:r>
              <a:t>   * The workflow: say you need to build three features — auth, API, and frontend. Create three worktrees, one per feature. Launch Claude Code in each folder. All three instances work simultaneously with zero chance of file conflicts because they are in completely separate directories.</a:t>
            </a:r>
          </a:p>
          <a:p>
            <a:r>
              <a:t>   * This pairs perfectly with Agent Teams. Your orchestrator spawns sub-agents, each working in its own worktree. The orchestrator waits for all three to finish, then merges the branches. Nick Saraev demonstrated this building a website: homepage in one worktree, about page in another, services page in a third. All built simultaneously.</a:t>
            </a:r>
          </a:p>
          <a:p>
            <a:r>
              <a:t>   * The key advantage over just running multiple Claude Code sessions in the same directory: there is zero possibility of two agents editing the same file. Files are not perfect separations of functionality — one file might import from another, and two agents touching shared files creates conflicts that are painful to resolve.</a:t>
            </a:r>
          </a:p>
          <a:p>
            <a:r>
              <a:t>   * Add your worktree workflow to CLAUDE.md so Claude Code knows to use it. Something like: 'We use Git worktrees for parallel development. Every worktree is an isolated working directory sharing the same Git history, allowing multiple Claude Code instances to work on different tasks simultaneously without interference.'</a:t>
            </a:r>
          </a:p>
          <a:p/>
          <a:p>
            <a:r>
              <a:t>TRANSITION:</a:t>
            </a:r>
          </a:p>
          <a:p>
            <a:r>
              <a:t>   Let us move on to the lab where you will put all of these advanced patterns into practice.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Nate B Jones teaches: Don't design the whole system upfront. Build the simplest thing that works, then bolt on features as needed. This is modular composition.</a:t>
            </a:r>
          </a:p>
          <a:p/>
          <a:p>
            <a:r>
              <a:t>KEY POINTS:</a:t>
            </a:r>
          </a:p>
          <a:p>
            <a:r>
              <a:t>   * Core loop first: Get one thing working end-to-end</a:t>
            </a:r>
          </a:p>
          <a:p>
            <a:r>
              <a:t>   * Then attach: logging hook, test subagent, MCP tool - one at a time</a:t>
            </a:r>
          </a:p>
          <a:p>
            <a:r>
              <a:t>   * Each module is independent, can be added/removed without breaking core</a:t>
            </a:r>
          </a:p>
          <a:p>
            <a:r>
              <a:t>   * Contract-first spawning is this principle in action for agent teams</a:t>
            </a:r>
          </a:p>
          <a:p>
            <a:r>
              <a:t>   * Stop trying to architect everything - build, attach, iterate</a:t>
            </a:r>
          </a:p>
          <a:p/>
          <a:p>
            <a:r>
              <a:t>ASK THE CLASS:</a:t>
            </a:r>
          </a:p>
          <a:p>
            <a:r>
              <a:t>   "How often do you build features you end up not needing?"</a:t>
            </a:r>
          </a:p>
          <a:p>
            <a:r>
              <a:t>   [PAUSE for 30-60 seconds]</a:t>
            </a:r>
          </a:p>
          <a:p/>
          <a:p>
            <a:r>
              <a:t>REAL-WORLD EXAMPLE:</a:t>
            </a:r>
          </a:p>
          <a:p>
            <a:r>
              <a:t>   Building API endpoint: 1) Core: Basic POST handler that returns 200. Works. 2) Attach logging hook. Test. 3) Attach validation subagent. Test. 4) Attach MCP database tool. Test. Each step is verified working before adding next module. Result: Composable, testable, maintainable.</a:t>
            </a:r>
          </a:p>
          <a:p/>
          <a:p>
            <a:r>
              <a:t>DEMO:</a:t>
            </a:r>
          </a:p>
          <a:p>
            <a:r>
              <a:t>   Live build: Start with absolute minimal API endpoint (10 lines, returns 'hello'). Show it works. Then attach logging hook - still works. Then attach validation - still works. Then attach database MCP tool - still works. Each addition is a module, not a rewrite. Emphasize Nate B Jones insight: 'Composability beats complexity.'</a:t>
            </a:r>
          </a:p>
          <a:p/>
          <a:p>
            <a:r>
              <a:t>TRANSITION:</a:t>
            </a:r>
          </a:p>
          <a:p>
            <a:r>
              <a:t>   This modular approach perfectly complements the contract-first spawning pattern we just learned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KEY POINTS:</a:t>
            </a:r>
          </a:p>
          <a:p>
            <a:r>
              <a:t>   * Lab covers MCP installation and custom server basics</a:t>
            </a:r>
          </a:p>
          <a:p>
            <a:r>
              <a:t>   * Multi-subagent exercise shows orchestration patterns</a:t>
            </a:r>
          </a:p>
          <a:p>
            <a:r>
              <a:t>   * Agent Teams optional (experimental feature, setup required)</a:t>
            </a:r>
          </a:p>
          <a:p>
            <a:r>
              <a:t>   * Step-by-step instructions in lab guide</a:t>
            </a:r>
          </a:p>
          <a:p>
            <a:r>
              <a:t>   * Deliverables are production-ready patterns</a:t>
            </a:r>
          </a:p>
          <a:p/>
          <a:p>
            <a:r>
              <a:t>TRANSITION:</a:t>
            </a:r>
          </a:p>
          <a:p>
            <a:r>
              <a:t>   Lab materials in your repo - let's begin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Large codebases challenge context limits</a:t>
            </a:r>
          </a:p>
          <a:p>
            <a:r>
              <a:t>   * @explore finds what you need without bloating context</a:t>
            </a:r>
          </a:p>
          <a:p>
            <a:r>
              <a:t>   * .claudeignore critical for performance</a:t>
            </a:r>
          </a:p>
          <a:p>
            <a:r>
              <a:t>   * Work incrementally: one module, test, move to next</a:t>
            </a:r>
          </a:p>
          <a:p>
            <a:r>
              <a:t>   * Git context helps Claude understand change patterns</a:t>
            </a:r>
          </a:p>
          <a:p>
            <a:r>
              <a:t>   * CLAUDE.md architecture section provides orientation</a:t>
            </a:r>
          </a:p>
          <a:p/>
          <a:p>
            <a:r>
              <a:t>REAL-WORLD EXAMPLE:</a:t>
            </a:r>
          </a:p>
          <a:p>
            <a:r>
              <a:t>   500K line codebase: Use @explore to find auth code, work only on auth module, deploy, then move to next module. Bite-sized chunks prevent context overload.</a:t>
            </a:r>
          </a:p>
          <a:p/>
          <a:p>
            <a:r>
              <a:t>TRANSITION:</a:t>
            </a:r>
          </a:p>
          <a:p>
            <a:r>
              <a:t>   Multi-file refactoring at scale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Plan mode essential for multi-file coordination</a:t>
            </a:r>
          </a:p>
          <a:p>
            <a:r>
              <a:t>   * High thinking prevents logic errors across files</a:t>
            </a:r>
          </a:p>
          <a:p>
            <a:r>
              <a:t>   * Review diffs in chunks, not all at once</a:t>
            </a:r>
          </a:p>
          <a:p>
            <a:r>
              <a:t>   * Test incrementally to catch issues early</a:t>
            </a:r>
          </a:p>
          <a:p>
            <a:r>
              <a:t>   * Git branches provide safety net</a:t>
            </a:r>
          </a:p>
          <a:p>
            <a:r>
              <a:t>   * Batch commits: logical groups, not file-by-file</a:t>
            </a:r>
          </a:p>
          <a:p/>
          <a:p>
            <a:r>
              <a:t>REAL-WORLD EXAMPLE:</a:t>
            </a:r>
          </a:p>
          <a:p>
            <a:r>
              <a:t>   Rename function used in 30 files. Plan mode catches indirect references. Execute in batches of 10 files, test after each batch. Catches breaking change in batch 2 before it spreads.</a:t>
            </a:r>
          </a:p>
          <a:p/>
          <a:p>
            <a:r>
              <a:t>TRANSITION:</a:t>
            </a:r>
          </a:p>
          <a:p>
            <a:r>
              <a:t>   CI/CD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Claude Code can be scripted in CI/CD</a:t>
            </a:r>
          </a:p>
          <a:p>
            <a:r>
              <a:t>   * Pre-commit: Run custom commands as git hooks</a:t>
            </a:r>
          </a:p>
          <a:p>
            <a:r>
              <a:t>   * CI triggers: Coverage check, security scan, test generation</a:t>
            </a:r>
          </a:p>
          <a:p>
            <a:r>
              <a:t>   * GitHub Actions + Claude = automated code review</a:t>
            </a:r>
          </a:p>
          <a:p>
            <a:r>
              <a:t>   * Changelog generation from conventional commits</a:t>
            </a:r>
          </a:p>
          <a:p>
            <a:r>
              <a:t>   * Failed test analysis: Claude explains why tests failed</a:t>
            </a:r>
          </a:p>
          <a:p/>
          <a:p>
            <a:r>
              <a:t>REAL-WORLD EXAMPLE:</a:t>
            </a:r>
          </a:p>
          <a:p>
            <a:r>
              <a:t>   Team's CI: On PR, Claude reviews code, runs security scan, generates missing tests. PR author gets feedback in 2 minutes instead of waiting for human review.</a:t>
            </a:r>
          </a:p>
          <a:p/>
          <a:p>
            <a:r>
              <a:t>TRANSITION:</a:t>
            </a:r>
          </a:p>
          <a:p>
            <a:r>
              <a:t>   Cost management and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This dropped four days ago and it's a big deal. GitHub just launched Agentic Workflows in technical preview. Here's why you should care.</a:t>
            </a:r>
          </a:p>
          <a:p/>
          <a:p>
            <a:r>
              <a:t>KEY POINTS:</a:t>
            </a:r>
          </a:p>
          <a:p>
            <a:r>
              <a:t>   * Instead of writing complex YAML for CI/CD pipelines, you write plain Markdown describing what you want. An AI agent — Claude Code, Copilot, or Codex — figures out how to execute it.</a:t>
            </a:r>
          </a:p>
          <a:p>
            <a:r>
              <a:t>   * You drop a markdown file in .github/workflows/, run the gh aw CLI to compile it, and it becomes a standard GitHub Actions workflow. But instead of static steps, an AI agent handles the reasoning.</a:t>
            </a:r>
          </a:p>
          <a:p>
            <a:r>
              <a:t>   * Use cases: automatic issue triage, PR code reviews, CI failure root cause analysis, documentation maintenance, test coverage improvements. All running autonomously on every push or PR.</a:t>
            </a:r>
          </a:p>
          <a:p>
            <a:r>
              <a:t>   * The big story here isn't the feature — it's the signal. GitHub, owned by Microsoft, built their automation platform to explicitly support Claude Code as a first-class agent alongside their own Copilot. That's Microsoft validating everything we've been teaching.</a:t>
            </a:r>
          </a:p>
          <a:p>
            <a:r>
              <a:t>   * It uses the GitHub MCP Server under the hood — the same MCP protocol we covered earlier today. Your MCP knowledge transfers directly.</a:t>
            </a:r>
          </a:p>
          <a:p>
            <a:r>
              <a:t>   * Security model is solid: read-only by default, sandboxed execution, network isolation, SHA-pinned dependencies. Enterprise-ready design from day one.</a:t>
            </a:r>
          </a:p>
          <a:p/>
          <a:p>
            <a:r>
              <a:t>REAL-WORLD EXAMPLE:</a:t>
            </a:r>
          </a:p>
          <a:p>
            <a:r>
              <a:t>   Imagine: a developer opens a PR, and Claude Code automatically reviews the code, checks for security issues, validates test coverage, and posts a detailed review — all before a human looks at it. That's not future state. That's available now in technical preview.</a:t>
            </a:r>
          </a:p>
          <a:p/>
          <a:p>
            <a:r>
              <a:t>TRANSITION:</a:t>
            </a:r>
          </a:p>
          <a:p>
            <a:r>
              <a:t>   This is where the industry is heading — AI agents as part of your development infrastructure, not just your IDE. Let's look at the rest of the advanced workflow patterns.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This just dropped — Anthropic announced Remote Control for Claude Code. It's exactly what it sounds like: start a session on your laptop, then continue it from your phone.</a:t>
            </a:r>
          </a:p>
          <a:p/>
          <a:p>
            <a:r>
              <a:t>KEY POINTS:</a:t>
            </a:r>
          </a:p>
          <a:p>
            <a:r>
              <a:t>   * Here's the scenario that makes this click. You kick off a big refactoring task — Claude is rewriting 15 files, running tests, fixing issues. That's going to take a while. Before Remote Control, you'd sit there watching the terminal, or you'd walk away and hope nothing needed your approval. Now you type /remote-control, get a secure link, and open it on your phone. You can walk your dog, grab lunch, sit in a meeting — and when Claude needs you to approve a file deletion or confirm an approach, you tap approve on your phone.</a:t>
            </a:r>
          </a:p>
          <a:p>
            <a:r>
              <a:t>   * The technical implementation is straightforward. Your local Claude Code session stays running on your machine where it has access to your codebase and tools. The remote link gives you a lightweight interface to the same session — you can read Claude's output, send messages, and approve or reject tool uses. The compute stays local, only the interaction layer is remote.</a:t>
            </a:r>
          </a:p>
          <a:p>
            <a:r>
              <a:t>   * This solves a real pain point the community has been hacking around. People were setting up SSH tunnels, using tools like Happy, or running Claude Code on remote servers just to get mobile access. Now it's built in, no infrastructure required.</a:t>
            </a:r>
          </a:p>
          <a:p>
            <a:r>
              <a:t>   * Important caveats: this is Research Preview, currently rolling out to Max plan users. It's not on Pro, Team, or Enterprise yet. And there are some early bugs — the error messages for unsupported plans aren't great yet. But the direction is clear: Claude Code is becoming a tool you can supervise from anywhere, not just from your terminal.</a:t>
            </a:r>
          </a:p>
          <a:p/>
          <a:p>
            <a:r>
              <a:t>ASK THE CLASS:</a:t>
            </a:r>
          </a:p>
          <a:p>
            <a:r>
              <a:t>   "Think about your longest-running Claude Code tasks. How would your workflow change if you could supervise them from your phone?"</a:t>
            </a:r>
          </a:p>
          <a:p>
            <a:r>
              <a:t>   [PAUSE for 30-60 seconds]</a:t>
            </a:r>
          </a:p>
          <a:p/>
          <a:p>
            <a:r>
              <a:t>TRANSITION:</a:t>
            </a:r>
          </a:p>
          <a:p>
            <a:r>
              <a:t>   Between GitHub Agentic Workflows and Remote Control, you can see where this is headed — Claude Code as a continuously running development partner, not just an interactive chat session.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Everything we have covered runs on your laptop. But what happens when you want your Claude Code automations running 24/7, triggered by events, or accessible to your whole team? Three deployment patterns.</a:t>
            </a:r>
          </a:p>
          <a:p/>
          <a:p>
            <a:r>
              <a:t>KEY POINTS:</a:t>
            </a:r>
          </a:p>
          <a:p>
            <a:r>
              <a:t>   * Modal and similar serverless platforms let you deploy Claude Code automations as API endpoints. You write a webhook that triggers a Claude Code workflow, and anyone — or any system — can call it. Nick Saraev demonstrated building a birthday checker: a single URL that runs Claude Code logic and returns a response. This integrates directly with no-code platforms like n8n, Make.com, and Zapier.</a:t>
            </a:r>
          </a:p>
          <a:p>
            <a:r>
              <a:t>   * GitHub Actions is the most production-ready path. Claude Code can run in your CI/CD pipeline, triggered by pushes, pull requests, schedules, or webhooks. It can auto-review PRs for security vulnerabilities, fix failing tests, update documentation, and post inline fix suggestions. This requires Team or Enterprise accounts with org-scoped repository tokens.</a:t>
            </a:r>
          </a:p>
          <a:p>
            <a:r>
              <a:t>   * Claude Code on the web means running in cloud environments without needing a local machine. Combined with /remote-control, you can start a session in the cloud and manage it from your phone. Useful for teams where not everyone has a dev machine set up.</a:t>
            </a:r>
          </a:p>
          <a:p>
            <a:r>
              <a:t>   * The key decision: if your automation needs to run unattended or be triggered by external events, deploy it. If it is interactive work you are guiding, keep it local. Most teams start local and deploy only the workflows that prove their value.</a:t>
            </a:r>
          </a:p>
          <a:p/>
          <a:p>
            <a:r>
              <a:t>TRANSITION:</a:t>
            </a:r>
          </a:p>
          <a:p>
            <a:r>
              <a:t>   Now let us talk about managing costs as you scale up your usage.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Cost is sum of: model × thinking × context × frequency</a:t>
            </a:r>
          </a:p>
          <a:p>
            <a:r>
              <a:t>   * Biggest saver: Haiku for research tasks</a:t>
            </a:r>
          </a:p>
          <a:p>
            <a:r>
              <a:t>   * Second biggest: Low thinking for routine work</a:t>
            </a:r>
          </a:p>
          <a:p>
            <a:r>
              <a:t>   * Context bloat from node_modules = wasted tokens</a:t>
            </a:r>
          </a:p>
          <a:p>
            <a:r>
              <a:t>   * Batching 10 fixes in one session cheaper than 10 sessions</a:t>
            </a:r>
          </a:p>
          <a:p>
            <a:r>
              <a:t>   * Measure to optimize: What tasks burn most tokens?</a:t>
            </a:r>
          </a:p>
          <a:p/>
          <a:p>
            <a:r>
              <a:t>REAL-WORLD EXAMPLE:</a:t>
            </a:r>
          </a:p>
          <a:p>
            <a:r>
              <a:t>   Team audit: 60% of tokens on simple test generation (was using Sonnet). Switched to Haiku subagent for tests. 70% cost reduction on that workflow.</a:t>
            </a:r>
          </a:p>
          <a:p/>
          <a:p>
            <a:r>
              <a:t>TRANSITION:</a:t>
            </a:r>
          </a:p>
          <a:p>
            <a:r>
              <a:t>   Token efficiency techniques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/compact condenses long conversations, preserves key points</a:t>
            </a:r>
          </a:p>
          <a:p>
            <a:r>
              <a:t>   * Fresh conversations prevent context bloat tax</a:t>
            </a:r>
          </a:p>
          <a:p>
            <a:r>
              <a:t>   * .claudeignore can save 50-80% tokens on large projects</a:t>
            </a:r>
          </a:p>
          <a:p>
            <a:r>
              <a:t>   * Periodic summaries compress history</a:t>
            </a:r>
          </a:p>
          <a:p>
            <a:r>
              <a:t>   * @ mention 3 files, not 30 (be selective)</a:t>
            </a:r>
          </a:p>
          <a:p>
            <a:r>
              <a:t>   * Plan mode offloads research to cheaper subagent</a:t>
            </a:r>
          </a:p>
          <a:p/>
          <a:p>
            <a:r>
              <a:t>REAL-WORLD EXAMPLE:</a:t>
            </a:r>
          </a:p>
          <a:p>
            <a:r>
              <a:t>   Project with 50 files. Mentioning all 50 = 200K tokens. Using @explore to find relevant 3 files = 20K tokens. 90% savings.</a:t>
            </a:r>
          </a:p>
          <a:p/>
          <a:p>
            <a:r>
              <a:t>TRANSITION:</a:t>
            </a:r>
          </a:p>
          <a:p>
            <a:r>
              <a:t>   Production deployment checklist</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Nate B Jones: 'The smartest code you write today becomes the dumbest code someone else has to debug tomorrow.' Choose boring, readable solutions.</a:t>
            </a:r>
          </a:p>
          <a:p/>
          <a:p>
            <a:r>
              <a:t>KEY POINTS:</a:t>
            </a:r>
          </a:p>
          <a:p>
            <a:r>
              <a:t>   * Clever one-liner that saves 3 lines vs readable 10-line version a junior dev understands</a:t>
            </a:r>
          </a:p>
          <a:p>
            <a:r>
              <a:t>   * Token efficiency matters, but not at the cost of team understanding</a:t>
            </a:r>
          </a:p>
          <a:p>
            <a:r>
              <a:t>   * Future you (6 months later) is 'someone else' - be kind to them</a:t>
            </a:r>
          </a:p>
          <a:p>
            <a:r>
              <a:t>   * Boring code is predictable, debuggable, maintainable</a:t>
            </a:r>
          </a:p>
          <a:p>
            <a:r>
              <a:t>   * Ask: 'Can a junior developer maintain this?' If no, simplify</a:t>
            </a:r>
          </a:p>
          <a:p/>
          <a:p>
            <a:r>
              <a:t>ASK THE CLASS:</a:t>
            </a:r>
          </a:p>
          <a:p>
            <a:r>
              <a:t>   "What's the cleverest code you wrote that you later regretted?"</a:t>
            </a:r>
          </a:p>
          <a:p>
            <a:r>
              <a:t>   [PAUSE for 30-60 seconds]</a:t>
            </a:r>
          </a:p>
          <a:p/>
          <a:p>
            <a:r>
              <a:t>REAL-WORLD EXAMPLE:</a:t>
            </a:r>
          </a:p>
          <a:p>
            <a:r>
              <a:t>   Code review: Developer submits elegant regex one-liner that validates email format. Senior dev suggests 10-line version with clear steps (split @ check parts, validate domain, check TLD). Clever version: 1 line, impossible to debug. Boring version: 10 lines, obvious what each step does. Team chooses boring. Six months later, junior dev fixes bug in 5 minutes instead of 2 hours.</a:t>
            </a:r>
          </a:p>
          <a:p/>
          <a:p>
            <a:r>
              <a:t>DEMO:</a:t>
            </a:r>
          </a:p>
          <a:p>
            <a:r>
              <a:t>   Show two solutions to same problem: 1) Clever: Nested ternary, regex, one-liner magic. 2) Boring: Named variables, clear conditionals, comments explaining why. Ask Claude (in demo) to evaluate both: 'Which would you rather debug at 3am?' Claude picks boring version. Emphasize Nate B Jones wisdom: 'Clever is a liability, boring is an asset.'</a:t>
            </a:r>
          </a:p>
          <a:p/>
          <a:p>
            <a:r>
              <a:t>TRANSITION:</a:t>
            </a:r>
          </a:p>
          <a:p>
            <a:r>
              <a:t>   This maintainability mindset is the perfect conclusion to our advanced patterns - build for the team, not for ego</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Yesterday we talked about spec quality being the differentiator. Today I want to show you what a full spec-driven process looks like when you're running Claude Code in production.</a:t>
            </a:r>
          </a:p>
          <a:p/>
          <a:p>
            <a:r>
              <a:t>KEY POINTS:</a:t>
            </a:r>
          </a:p>
          <a:p>
            <a:r>
              <a:t>   * This is a 4-phase process we use in real client work. Phase 1 is pure intent — WHAT you want and WHY, with no technical decisions. User scenarios written as stories, acceptance criteria in Given/When/Then format. This is the phase most teams skip, and it's why most AI-assisted development produces mediocre results.</a:t>
            </a:r>
          </a:p>
          <a:p>
            <a:r>
              <a:t>   * Phase 2 translates intent into architecture. NOW you make technical decisions — stack, API contracts, data models. But these decisions are constrained by the spec. You're not guessing what to build; you're deciding how to build what's already defined.</a:t>
            </a:r>
          </a:p>
          <a:p>
            <a:r>
              <a:t>   * Phase 3 is where it gets powerful for AI. You break the plan into small, independently testable tasks. And critically — you write test cases BEFORE any code. This means Claude Code has acceptance criteria to build against AND tests to validate its output. Shift-left testing isn't just for humans.</a:t>
            </a:r>
          </a:p>
          <a:p>
            <a:r>
              <a:t>   * Phase 4 is where Claude Code shines. Give it a task with a spec, a plan, and pre-written test cases. It builds to spec, runs the tests, fixes failures. The spec is the source of truth, not Claude's interpretation of a vague prompt.</a:t>
            </a:r>
          </a:p>
          <a:p>
            <a:r>
              <a:t>   * The numbers: teams using this process report near-zero rework. Teams without specs? Average 3 rounds of revision per feature. At 2 hours per round, specs save 4 to 6 hours per feature — and they take 30 minutes to write.</a:t>
            </a:r>
          </a:p>
          <a:p>
            <a:r>
              <a:t>   * One addition to Phase 4 that's worth calling out: build validation INTO your spec. Don't just tell Claude Code what to build — tell it how to verify its own work. Some teams add a fifth implicit phase: after implementation, the agent runs a self-healing validation loop. It tests each user journey, fixes blockers, documents remaining issues, and hands you a structured report. The agent isn't just a builder — it's a builder that checks its own work before handing it back. That mindset shift — from 'generate code' to 'generate code and prove it works' — is what separates production-grade AI coding from vibe coding.</a:t>
            </a:r>
          </a:p>
          <a:p/>
          <a:p>
            <a:r>
              <a:t>TRANSITION:</a:t>
            </a:r>
          </a:p>
          <a:p>
            <a:r>
              <a:t>   Let's look at how you structure spec files in a real project.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Here's the file structure. Every feature gets its own folder under specs with four files that map to the four phases.</a:t>
            </a:r>
          </a:p>
          <a:p/>
          <a:p>
            <a:r>
              <a:t>KEY POINTS:</a:t>
            </a:r>
          </a:p>
          <a:p>
            <a:r>
              <a:t>   * The spec file is pure intent — problem statement, user scenarios, acceptance criteria, what's out of scope. No code, no architecture. Just what and why.</a:t>
            </a:r>
          </a:p>
          <a:p>
            <a:r>
              <a:t>   * The plan file is the technical translation — architecture decisions, API contracts, data models, constraints. This is where you make stack choices.</a:t>
            </a:r>
          </a:p>
          <a:p>
            <a:r>
              <a:t>   * Tasks break the plan into small, independently testable chunks. Each task references specific acceptance criteria from the spec. And tests are written against those criteria BEFORE code starts.</a:t>
            </a:r>
          </a:p>
          <a:p>
            <a:r>
              <a:t>   * The CLAUDE.md integration is critical. You add a rule: for any feature work, always read the spec first, build to the acceptance criteria, and run the tests after every change. This means every Claude Code session starts grounded in intent, not guessing.</a:t>
            </a:r>
          </a:p>
          <a:p>
            <a:r>
              <a:t>   * This pattern scales. One feature? One folder. Twenty features? Twenty folders. New team member joins? They read the spec and understand what was built and why. The spec is documentation that actually stays current because it's the source of truth.</a:t>
            </a:r>
          </a:p>
          <a:p/>
          <a:p>
            <a:r>
              <a:t>TRANSITION:</a:t>
            </a:r>
          </a:p>
          <a:p>
            <a:r>
              <a:t>   Now let's put this into practice with the production deployment checklist.</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KEY POINTS:</a:t>
            </a:r>
          </a:p>
          <a:p>
            <a:r>
              <a:t>   * CLAUDE.md: Team source of truth for Claude behavior</a:t>
            </a:r>
          </a:p>
          <a:p>
            <a:r>
              <a:t>   * Commands: Shared via git, documented in README</a:t>
            </a:r>
          </a:p>
          <a:p>
            <a:r>
              <a:t>   * Hooks: Safety and compliance from day 1</a:t>
            </a:r>
          </a:p>
          <a:p>
            <a:r>
              <a:t>   * Audit logs: Required for enterprise compliance</a:t>
            </a:r>
          </a:p>
          <a:p>
            <a:r>
              <a:t>   * .claudeignore: Performance and cost optimization</a:t>
            </a:r>
          </a:p>
          <a:p>
            <a:r>
              <a:t>   * MCP: Security review before deployment</a:t>
            </a:r>
          </a:p>
          <a:p>
            <a:r>
              <a:t>   * Training: Team knows how to use custom workflows</a:t>
            </a:r>
          </a:p>
          <a:p>
            <a:r>
              <a:t>   * Budget: Monitor and optimize based on usage</a:t>
            </a:r>
          </a:p>
          <a:p/>
          <a:p>
            <a:r>
              <a:t>TRANSITION:</a:t>
            </a:r>
          </a:p>
          <a:p>
            <a:r>
              <a:t>   Final section: Wrap-up and resources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I want to end with honesty about where Claude Code still struggles. This isn't pessimism — it's professionalism. Knowing the boundaries makes you more effective, not less. Reza Rezvani's quote: 'Vibecoding without metacognition is quite dangerous.' Meaning: if you're just accepting Claude's output without understanding it, you're building on sand.</a:t>
            </a:r>
          </a:p>
          <a:p/>
          <a:p>
            <a:r>
              <a:t>KEY POINTS:</a:t>
            </a:r>
          </a:p>
          <a:p>
            <a:r>
              <a:t>   * Large changes (&gt;15 files): Context degrades, errors compound across files, Claude loses track of dependencies</a:t>
            </a:r>
          </a:p>
          <a:p>
            <a:r>
              <a:t>   * Architecture decisions: Claude optimizes locally — it makes each function great but may miss system-level design issues</a:t>
            </a:r>
          </a:p>
          <a:p>
            <a:r>
              <a:t>   * Verification boundary: If you can't review and understand the code, you shouldn't ship it. Period.</a:t>
            </a:r>
          </a:p>
          <a:p>
            <a:r>
              <a:t>   * Novel work: Claude recombines known patterns brilliantly but doesn't truly invent new algorithms</a:t>
            </a:r>
          </a:p>
          <a:p>
            <a:r>
              <a:t>   * The 3 AM test: Could you debug this code at 3 AM without Claude? If not, you need to understand it better before shipping.</a:t>
            </a:r>
          </a:p>
          <a:p>
            <a:r>
              <a:t>   * This is why Plan Mode, decomposition, and verification matter — they keep you in control</a:t>
            </a:r>
          </a:p>
          <a:p>
            <a:r>
              <a:t>   * Community feedback highlights real gaps: no team collaboration features, pricing confusion, and developer isolation. Each person's Claude Code session is independent — there's no shared workspace or context.</a:t>
            </a:r>
          </a:p>
          <a:p>
            <a:r>
              <a:t>   * The practical fix today: shared CLAUDE.md committed to git, team conventions documented as custom commands, and skills versioned alongside your codebase. This creates de facto team collaboration until native features arrive.</a:t>
            </a:r>
          </a:p>
          <a:p/>
          <a:p>
            <a:r>
              <a:t>ASK THE CLASS:</a:t>
            </a:r>
          </a:p>
          <a:p>
            <a:r>
              <a:t>   "What's the most complex task you've delegated to AI without fully understanding the output? What happened?"</a:t>
            </a:r>
          </a:p>
          <a:p>
            <a:r>
              <a:t>   [PAUSE for 30-60 seconds]</a:t>
            </a:r>
          </a:p>
          <a:p/>
          <a:p>
            <a:r>
              <a:t>TRANSITION:</a:t>
            </a:r>
          </a:p>
          <a:p>
            <a:r>
              <a:t>   With those boundaries clear, let's recap what you've learned and preview tomorrow.</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You now have advanced patterns for production Claude Code use</a:t>
            </a:r>
          </a:p>
          <a:p>
            <a:r>
              <a:t>   * Custom commands save hours daily on repetitive tasks</a:t>
            </a:r>
          </a:p>
          <a:p>
            <a:r>
              <a:t>   * Hooks provide safety and compliance</a:t>
            </a:r>
          </a:p>
          <a:p>
            <a:r>
              <a:t>   * MCP unlocks integration with any tool or database</a:t>
            </a:r>
          </a:p>
          <a:p>
            <a:r>
              <a:t>   * Agent Teams enable work that would take days to complete in hours</a:t>
            </a:r>
          </a:p>
          <a:p>
            <a:r>
              <a:t>   * These patterns scale from 1 developer to enterprise teams</a:t>
            </a:r>
          </a:p>
          <a:p>
            <a:r>
              <a:t>   * Remember: Claude Code's current limitation is team isolation — but shared CLAUDE.md via git, versioned custom commands, and team conventions bridge that gap until native collaboration features arrive.</a:t>
            </a:r>
          </a:p>
          <a:p/>
          <a:p>
            <a:r>
              <a:t>TRANSITION:</a:t>
            </a:r>
          </a:p>
          <a:p>
            <a:r>
              <a:t>   Getting started roadmap</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Don't try everything at once</a:t>
            </a:r>
          </a:p>
          <a:p>
            <a:r>
              <a:t>   * Start with custom commands (easiest, high value)</a:t>
            </a:r>
          </a:p>
          <a:p>
            <a:r>
              <a:t>   * Add security hooks early (build good habits)</a:t>
            </a:r>
          </a:p>
          <a:p>
            <a:r>
              <a:t>   * MCP integration provides immediate workflow improvement</a:t>
            </a:r>
          </a:p>
          <a:p>
            <a:r>
              <a:t>   * Advanced patterns (Agent Teams) after basics are solid</a:t>
            </a:r>
          </a:p>
          <a:p>
            <a:r>
              <a:t>   * Measure value at each stage, celebrate wins</a:t>
            </a:r>
          </a:p>
          <a:p/>
          <a:p>
            <a:r>
              <a:t>REAL-WORLD EXAMPLE:</a:t>
            </a:r>
          </a:p>
          <a:p>
            <a:r>
              <a:t>   Team followed this roadmap. After month 1: saving 5 hours/week with commands and hooks. After month 3: Agent Teams cutting complex feature time in half.</a:t>
            </a:r>
          </a:p>
          <a:p/>
          <a:p>
            <a:r>
              <a:t>TRANSITION:</a:t>
            </a:r>
          </a:p>
          <a:p>
            <a:r>
              <a:t>   Resources and community</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KEY POINTS:</a:t>
            </a:r>
          </a:p>
          <a:p>
            <a:r>
              <a:t>   * Official docs are comprehensive and up-to-date</a:t>
            </a:r>
          </a:p>
          <a:p>
            <a:r>
              <a:t>   * MCP ecosystem growing rapidly</a:t>
            </a:r>
          </a:p>
          <a:p>
            <a:r>
              <a:t>   * Community shares custom commands and patterns</a:t>
            </a:r>
          </a:p>
          <a:p>
            <a:r>
              <a:t>   * Discord active for questions and troubleshooting</a:t>
            </a:r>
          </a:p>
          <a:p>
            <a:r>
              <a:t>   * Learn from others' Agent Teams examples</a:t>
            </a:r>
          </a:p>
          <a:p>
            <a:r>
              <a:t>   * Internal team knowledge sharing multiplies value</a:t>
            </a:r>
          </a:p>
          <a:p/>
          <a:p>
            <a:r>
              <a:t>TRANSITION:</a:t>
            </a:r>
          </a:p>
          <a:p>
            <a:r>
              <a:t>   Thank you and Q&amp;A</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Congratulations! You've completed Claude Code Advanced training. You now have patterns most developers won't learn for months.</a:t>
            </a:r>
          </a:p>
          <a:p/>
          <a:p>
            <a:r>
              <a:t>KEY POINTS:</a:t>
            </a:r>
          </a:p>
          <a:p>
            <a:r>
              <a:t>   * You've gone from basics to production-ready advanced patterns</a:t>
            </a:r>
          </a:p>
          <a:p>
            <a:r>
              <a:t>   * Custom commands, hooks, MCP, and Agent Teams are your competitive advantage</a:t>
            </a:r>
          </a:p>
          <a:p>
            <a:r>
              <a:t>   * Start small, iterate, measure value</a:t>
            </a:r>
          </a:p>
          <a:p>
            <a:r>
              <a:t>   * Share learnings with your team</a:t>
            </a:r>
          </a:p>
          <a:p>
            <a:r>
              <a:t>   * We're here to support as you deploy these patterns</a:t>
            </a:r>
          </a:p>
          <a:p/>
          <a:p>
            <a:r>
              <a:t>ASK THE CLASS:</a:t>
            </a:r>
          </a:p>
          <a:p>
            <a:r>
              <a:t>   "Final question: What's the FIRST thing you'll build with these advanced patterns?"</a:t>
            </a:r>
          </a:p>
          <a:p>
            <a:r>
              <a:t>   [PAUSE for 30-60 seconds]</a:t>
            </a:r>
          </a:p>
          <a:p/>
          <a:p>
            <a:r>
              <a:t>TRANSITION:</a:t>
            </a:r>
          </a:p>
          <a:p>
            <a:r>
              <a:t>   Q&amp;A time - ask anything!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00D4AA"/>
                </a:solidFill>
              </a:defRPr>
            </a:pPr>
            <a:r>
              <a:t>Advanced Patterns &amp; Agent Teams</a:t>
            </a:r>
          </a:p>
        </p:txBody>
      </p:sp>
      <p:sp>
        <p:nvSpPr>
          <p:cNvPr id="3" name="Rectangle 2"/>
          <p:cNvSpPr/>
          <p:nvPr/>
        </p:nvSpPr>
        <p:spPr>
          <a:xfrm>
            <a:off x="0" y="4754880"/>
            <a:ext cx="12191695"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Day 3 Agenda</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0"/>
            <a:ext cx="5135727" cy="640080"/>
          </a:xfrm>
          <a:prstGeom prst="rect">
            <a:avLst/>
          </a:prstGeom>
          <a:noFill/>
        </p:spPr>
        <p:txBody>
          <a:bodyPr wrap="none" anchor="ctr">
            <a:spAutoFit/>
          </a:bodyPr>
          <a:lstStyle/>
          <a:p>
            <a:pPr>
              <a:defRPr sz="1800" b="1">
                <a:solidFill>
                  <a:srgbClr val="0B0F1A"/>
                </a:solidFill>
              </a:defRPr>
            </a:pPr>
            <a:r>
              <a:t>Morning  (9:00 AM - 12:00 PM)</a:t>
            </a:r>
          </a:p>
        </p:txBody>
      </p:sp>
      <p:sp>
        <p:nvSpPr>
          <p:cNvPr id="6" name="Rectangle 5"/>
          <p:cNvSpPr/>
          <p:nvPr/>
        </p:nvSpPr>
        <p:spPr>
          <a:xfrm>
            <a:off x="457200"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468880"/>
            <a:ext cx="4221327" cy="502920"/>
          </a:xfrm>
          <a:prstGeom prst="rect">
            <a:avLst/>
          </a:prstGeom>
          <a:noFill/>
        </p:spPr>
        <p:txBody>
          <a:bodyPr wrap="square" anchor="ctr">
            <a:spAutoFit/>
          </a:bodyPr>
          <a:lstStyle/>
          <a:p>
            <a:pPr>
              <a:defRPr sz="1600">
                <a:solidFill>
                  <a:srgbClr val="FFFFFF"/>
                </a:solidFill>
              </a:defRPr>
            </a:pPr>
            <a:r>
              <a:t>Custom Commands</a:t>
            </a:r>
          </a:p>
        </p:txBody>
      </p:sp>
      <p:sp>
        <p:nvSpPr>
          <p:cNvPr id="8" name="Rounded Rectangle 7"/>
          <p:cNvSpPr/>
          <p:nvPr/>
        </p:nvSpPr>
        <p:spPr>
          <a:xfrm>
            <a:off x="4815687"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15687" y="256032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10" name="TextBox 9"/>
          <p:cNvSpPr txBox="1"/>
          <p:nvPr/>
        </p:nvSpPr>
        <p:spPr>
          <a:xfrm>
            <a:off x="594360" y="2971800"/>
            <a:ext cx="4221327" cy="502920"/>
          </a:xfrm>
          <a:prstGeom prst="rect">
            <a:avLst/>
          </a:prstGeom>
          <a:noFill/>
        </p:spPr>
        <p:txBody>
          <a:bodyPr wrap="square" anchor="ctr">
            <a:spAutoFit/>
          </a:bodyPr>
          <a:lstStyle/>
          <a:p>
            <a:pPr>
              <a:defRPr sz="1600">
                <a:solidFill>
                  <a:srgbClr val="FFFFFF"/>
                </a:solidFill>
              </a:defRPr>
            </a:pPr>
            <a:r>
              <a:t>Lab 3A: Custom Commands</a:t>
            </a:r>
          </a:p>
        </p:txBody>
      </p:sp>
      <p:sp>
        <p:nvSpPr>
          <p:cNvPr id="11" name="Rounded Rectangle 10"/>
          <p:cNvSpPr/>
          <p:nvPr/>
        </p:nvSpPr>
        <p:spPr>
          <a:xfrm>
            <a:off x="4815687"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5687" y="306324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13" name="Rectangle 12"/>
          <p:cNvSpPr/>
          <p:nvPr/>
        </p:nvSpPr>
        <p:spPr>
          <a:xfrm>
            <a:off x="457200"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474720"/>
            <a:ext cx="4221327" cy="502920"/>
          </a:xfrm>
          <a:prstGeom prst="rect">
            <a:avLst/>
          </a:prstGeom>
          <a:noFill/>
        </p:spPr>
        <p:txBody>
          <a:bodyPr wrap="square" anchor="ctr">
            <a:spAutoFit/>
          </a:bodyPr>
          <a:lstStyle/>
          <a:p>
            <a:pPr>
              <a:defRPr sz="1600">
                <a:solidFill>
                  <a:srgbClr val="FFFFFF"/>
                </a:solidFill>
              </a:defRPr>
            </a:pPr>
            <a:r>
              <a:t>Hooks &amp; Safety Guardrails</a:t>
            </a:r>
          </a:p>
        </p:txBody>
      </p:sp>
      <p:sp>
        <p:nvSpPr>
          <p:cNvPr id="15" name="Rounded Rectangle 14"/>
          <p:cNvSpPr/>
          <p:nvPr/>
        </p:nvSpPr>
        <p:spPr>
          <a:xfrm>
            <a:off x="4815687" y="356616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5687" y="356616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17" name="TextBox 16"/>
          <p:cNvSpPr txBox="1"/>
          <p:nvPr/>
        </p:nvSpPr>
        <p:spPr>
          <a:xfrm>
            <a:off x="594360" y="397764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18" name="Rounded Rectangle 17"/>
          <p:cNvSpPr/>
          <p:nvPr/>
        </p:nvSpPr>
        <p:spPr>
          <a:xfrm>
            <a:off x="4815687" y="406908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15687" y="406908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20" name="Rectangle 19"/>
          <p:cNvSpPr/>
          <p:nvPr/>
        </p:nvSpPr>
        <p:spPr>
          <a:xfrm>
            <a:off x="457200" y="448056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4480560"/>
            <a:ext cx="4221327" cy="502920"/>
          </a:xfrm>
          <a:prstGeom prst="rect">
            <a:avLst/>
          </a:prstGeom>
          <a:noFill/>
        </p:spPr>
        <p:txBody>
          <a:bodyPr wrap="square" anchor="ctr">
            <a:spAutoFit/>
          </a:bodyPr>
          <a:lstStyle/>
          <a:p>
            <a:pPr>
              <a:defRPr sz="1600">
                <a:solidFill>
                  <a:srgbClr val="FFFFFF"/>
                </a:solidFill>
              </a:defRPr>
            </a:pPr>
            <a:r>
              <a:t>Lab 3B: Hooks</a:t>
            </a:r>
          </a:p>
        </p:txBody>
      </p:sp>
      <p:sp>
        <p:nvSpPr>
          <p:cNvPr id="22" name="Rounded Rectangle 21"/>
          <p:cNvSpPr/>
          <p:nvPr/>
        </p:nvSpPr>
        <p:spPr>
          <a:xfrm>
            <a:off x="4815687" y="457200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15687" y="457200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24" name="TextBox 23"/>
          <p:cNvSpPr txBox="1"/>
          <p:nvPr/>
        </p:nvSpPr>
        <p:spPr>
          <a:xfrm>
            <a:off x="594360" y="4983480"/>
            <a:ext cx="4221327" cy="502920"/>
          </a:xfrm>
          <a:prstGeom prst="rect">
            <a:avLst/>
          </a:prstGeom>
          <a:noFill/>
        </p:spPr>
        <p:txBody>
          <a:bodyPr wrap="square" anchor="ctr">
            <a:spAutoFit/>
          </a:bodyPr>
          <a:lstStyle/>
          <a:p>
            <a:pPr>
              <a:defRPr sz="1600">
                <a:solidFill>
                  <a:srgbClr val="FFFFFF"/>
                </a:solidFill>
              </a:defRPr>
            </a:pPr>
            <a:r>
              <a:t>MCP Fundamentals</a:t>
            </a:r>
          </a:p>
        </p:txBody>
      </p:sp>
      <p:sp>
        <p:nvSpPr>
          <p:cNvPr id="25" name="Rounded Rectangle 24"/>
          <p:cNvSpPr/>
          <p:nvPr/>
        </p:nvSpPr>
        <p:spPr>
          <a:xfrm>
            <a:off x="4815687" y="50749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5687" y="507492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27" name="Rounded Rectangle 26"/>
          <p:cNvSpPr/>
          <p:nvPr/>
        </p:nvSpPr>
        <p:spPr>
          <a:xfrm>
            <a:off x="6324447"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1607" y="1645920"/>
            <a:ext cx="5135727" cy="640080"/>
          </a:xfrm>
          <a:prstGeom prst="rect">
            <a:avLst/>
          </a:prstGeom>
          <a:noFill/>
        </p:spPr>
        <p:txBody>
          <a:bodyPr wrap="none" anchor="ctr">
            <a:spAutoFit/>
          </a:bodyPr>
          <a:lstStyle/>
          <a:p>
            <a:pPr>
              <a:defRPr sz="1800" b="1">
                <a:solidFill>
                  <a:srgbClr val="0B0F1A"/>
                </a:solidFill>
              </a:defRPr>
            </a:pPr>
            <a:r>
              <a:t>Afternoon  (1:00 PM - 4:00 PM)</a:t>
            </a:r>
          </a:p>
        </p:txBody>
      </p:sp>
      <p:sp>
        <p:nvSpPr>
          <p:cNvPr id="29" name="Rectangle 28"/>
          <p:cNvSpPr/>
          <p:nvPr/>
        </p:nvSpPr>
        <p:spPr>
          <a:xfrm>
            <a:off x="6324447"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2468880"/>
            <a:ext cx="4221327" cy="502920"/>
          </a:xfrm>
          <a:prstGeom prst="rect">
            <a:avLst/>
          </a:prstGeom>
          <a:noFill/>
        </p:spPr>
        <p:txBody>
          <a:bodyPr wrap="square" anchor="ctr">
            <a:spAutoFit/>
          </a:bodyPr>
          <a:lstStyle/>
          <a:p>
            <a:pPr>
              <a:defRPr sz="1600">
                <a:solidFill>
                  <a:srgbClr val="FFFFFF"/>
                </a:solidFill>
              </a:defRPr>
            </a:pPr>
            <a:r>
              <a:t>Lab 3C: MCP</a:t>
            </a:r>
          </a:p>
        </p:txBody>
      </p:sp>
      <p:sp>
        <p:nvSpPr>
          <p:cNvPr id="31" name="Rounded Rectangle 30"/>
          <p:cNvSpPr/>
          <p:nvPr/>
        </p:nvSpPr>
        <p:spPr>
          <a:xfrm>
            <a:off x="10682935"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82935" y="256032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33" name="TextBox 32"/>
          <p:cNvSpPr txBox="1"/>
          <p:nvPr/>
        </p:nvSpPr>
        <p:spPr>
          <a:xfrm>
            <a:off x="6461607" y="2971800"/>
            <a:ext cx="4221327" cy="502920"/>
          </a:xfrm>
          <a:prstGeom prst="rect">
            <a:avLst/>
          </a:prstGeom>
          <a:noFill/>
        </p:spPr>
        <p:txBody>
          <a:bodyPr wrap="square" anchor="ctr">
            <a:spAutoFit/>
          </a:bodyPr>
          <a:lstStyle/>
          <a:p>
            <a:pPr>
              <a:defRPr sz="1600">
                <a:solidFill>
                  <a:srgbClr val="FFFFFF"/>
                </a:solidFill>
              </a:defRPr>
            </a:pPr>
            <a:r>
              <a:t>Subagents &amp; Agent Teams</a:t>
            </a:r>
          </a:p>
        </p:txBody>
      </p:sp>
      <p:sp>
        <p:nvSpPr>
          <p:cNvPr id="34" name="Rounded Rectangle 33"/>
          <p:cNvSpPr/>
          <p:nvPr/>
        </p:nvSpPr>
        <p:spPr>
          <a:xfrm>
            <a:off x="10682935"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82935" y="306324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36" name="Rectangle 35"/>
          <p:cNvSpPr/>
          <p:nvPr/>
        </p:nvSpPr>
        <p:spPr>
          <a:xfrm>
            <a:off x="6324447"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1607" y="3474720"/>
            <a:ext cx="4221327" cy="502920"/>
          </a:xfrm>
          <a:prstGeom prst="rect">
            <a:avLst/>
          </a:prstGeom>
          <a:noFill/>
        </p:spPr>
        <p:txBody>
          <a:bodyPr wrap="square" anchor="ctr">
            <a:spAutoFit/>
          </a:bodyPr>
          <a:lstStyle/>
          <a:p>
            <a:pPr>
              <a:defRPr sz="1600">
                <a:solidFill>
                  <a:srgbClr val="FFFFFF"/>
                </a:solidFill>
              </a:defRPr>
            </a:pPr>
            <a:r>
              <a:t>Lab 3D: Subagents</a:t>
            </a:r>
          </a:p>
        </p:txBody>
      </p:sp>
      <p:sp>
        <p:nvSpPr>
          <p:cNvPr id="38" name="Rounded Rectangle 37"/>
          <p:cNvSpPr/>
          <p:nvPr/>
        </p:nvSpPr>
        <p:spPr>
          <a:xfrm>
            <a:off x="10682935" y="356616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82935" y="356616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40" name="TextBox 39"/>
          <p:cNvSpPr txBox="1"/>
          <p:nvPr/>
        </p:nvSpPr>
        <p:spPr>
          <a:xfrm>
            <a:off x="6461607" y="397764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41" name="Rounded Rectangle 40"/>
          <p:cNvSpPr/>
          <p:nvPr/>
        </p:nvSpPr>
        <p:spPr>
          <a:xfrm>
            <a:off x="10682935" y="406908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682935" y="406908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43" name="Rectangle 42"/>
          <p:cNvSpPr/>
          <p:nvPr/>
        </p:nvSpPr>
        <p:spPr>
          <a:xfrm>
            <a:off x="6324447" y="448056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61607" y="4480560"/>
            <a:ext cx="4221327" cy="502920"/>
          </a:xfrm>
          <a:prstGeom prst="rect">
            <a:avLst/>
          </a:prstGeom>
          <a:noFill/>
        </p:spPr>
        <p:txBody>
          <a:bodyPr wrap="square" anchor="ctr">
            <a:spAutoFit/>
          </a:bodyPr>
          <a:lstStyle/>
          <a:p>
            <a:pPr>
              <a:defRPr sz="1600">
                <a:solidFill>
                  <a:srgbClr val="FFFFFF"/>
                </a:solidFill>
              </a:defRPr>
            </a:pPr>
            <a:r>
              <a:t>Lab 3E: Production (Optional)</a:t>
            </a:r>
          </a:p>
        </p:txBody>
      </p:sp>
      <p:sp>
        <p:nvSpPr>
          <p:cNvPr id="45" name="Rounded Rectangle 44"/>
          <p:cNvSpPr/>
          <p:nvPr/>
        </p:nvSpPr>
        <p:spPr>
          <a:xfrm>
            <a:off x="10682935" y="457200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682935" y="457200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47" name="TextBox 46"/>
          <p:cNvSpPr txBox="1"/>
          <p:nvPr/>
        </p:nvSpPr>
        <p:spPr>
          <a:xfrm>
            <a:off x="6461607" y="4983480"/>
            <a:ext cx="4221327" cy="502920"/>
          </a:xfrm>
          <a:prstGeom prst="rect">
            <a:avLst/>
          </a:prstGeom>
          <a:noFill/>
        </p:spPr>
        <p:txBody>
          <a:bodyPr wrap="square" anchor="ctr">
            <a:spAutoFit/>
          </a:bodyPr>
          <a:lstStyle/>
          <a:p>
            <a:pPr>
              <a:defRPr sz="1600">
                <a:solidFill>
                  <a:srgbClr val="FFFFFF"/>
                </a:solidFill>
              </a:defRPr>
            </a:pPr>
            <a:r>
              <a:t>Advanced Workflows</a:t>
            </a:r>
          </a:p>
        </p:txBody>
      </p:sp>
      <p:sp>
        <p:nvSpPr>
          <p:cNvPr id="48" name="Rounded Rectangle 47"/>
          <p:cNvSpPr/>
          <p:nvPr/>
        </p:nvSpPr>
        <p:spPr>
          <a:xfrm>
            <a:off x="10682935" y="50749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682935" y="507492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50" name="Rectangle 49"/>
          <p:cNvSpPr/>
          <p:nvPr/>
        </p:nvSpPr>
        <p:spPr>
          <a:xfrm>
            <a:off x="6324447" y="548640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61607" y="5486400"/>
            <a:ext cx="4221327" cy="502920"/>
          </a:xfrm>
          <a:prstGeom prst="rect">
            <a:avLst/>
          </a:prstGeom>
          <a:noFill/>
        </p:spPr>
        <p:txBody>
          <a:bodyPr wrap="square" anchor="ctr">
            <a:spAutoFit/>
          </a:bodyPr>
          <a:lstStyle/>
          <a:p>
            <a:pPr>
              <a:defRPr sz="1600">
                <a:solidFill>
                  <a:srgbClr val="FFFFFF"/>
                </a:solidFill>
              </a:defRPr>
            </a:pPr>
            <a:r>
              <a:t>Wrap-up &amp; Next Steps</a:t>
            </a:r>
          </a:p>
        </p:txBody>
      </p:sp>
      <p:sp>
        <p:nvSpPr>
          <p:cNvPr id="52" name="Rounded Rectangle 51"/>
          <p:cNvSpPr/>
          <p:nvPr/>
        </p:nvSpPr>
        <p:spPr>
          <a:xfrm>
            <a:off x="10682935" y="55778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82935" y="557784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54" name="TextBox 53"/>
          <p:cNvSpPr txBox="1"/>
          <p:nvPr/>
        </p:nvSpPr>
        <p:spPr>
          <a:xfrm>
            <a:off x="6461607" y="5989320"/>
            <a:ext cx="4221327" cy="502920"/>
          </a:xfrm>
          <a:prstGeom prst="rect">
            <a:avLst/>
          </a:prstGeom>
          <a:noFill/>
        </p:spPr>
        <p:txBody>
          <a:bodyPr wrap="square" anchor="ctr">
            <a:spAutoFit/>
          </a:bodyPr>
          <a:lstStyle/>
          <a:p>
            <a:pPr>
              <a:defRPr sz="1600">
                <a:solidFill>
                  <a:srgbClr val="FFFFFF"/>
                </a:solidFill>
              </a:defRPr>
            </a:pPr>
            <a:r>
              <a:t/>
            </a:r>
          </a:p>
        </p:txBody>
      </p:sp>
      <p:sp>
        <p:nvSpPr>
          <p:cNvPr id="55" name="Rounded Rectangle 54"/>
          <p:cNvSpPr/>
          <p:nvPr/>
        </p:nvSpPr>
        <p:spPr>
          <a:xfrm>
            <a:off x="10682935" y="608076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682935" y="6080760"/>
            <a:ext cx="914400" cy="320040"/>
          </a:xfrm>
          <a:prstGeom prst="rect">
            <a:avLst/>
          </a:prstGeom>
          <a:noFill/>
        </p:spPr>
        <p:txBody>
          <a:bodyPr wrap="none" anchor="ctr">
            <a:spAutoFit/>
          </a:bodyPr>
          <a:lstStyle/>
          <a:p>
            <a:pPr algn="ctr">
              <a:defRPr sz="1300" b="1">
                <a:solidFill>
                  <a:srgbClr val="00D4AA"/>
                </a:solidFill>
              </a:defRPr>
            </a:pPr>
            <a: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Learning Objectives</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6" name="TextBox 5"/>
          <p:cNvSpPr txBox="1"/>
          <p:nvPr/>
        </p:nvSpPr>
        <p:spPr>
          <a:xfrm>
            <a:off x="1005840" y="1417320"/>
            <a:ext cx="10728655" cy="731520"/>
          </a:xfrm>
          <a:prstGeom prst="rect">
            <a:avLst/>
          </a:prstGeom>
          <a:noFill/>
        </p:spPr>
        <p:txBody>
          <a:bodyPr wrap="square">
            <a:spAutoFit/>
          </a:bodyPr>
          <a:lstStyle/>
          <a:p>
            <a:pPr>
              <a:defRPr sz="2200">
                <a:solidFill>
                  <a:srgbClr val="FFFFFF"/>
                </a:solidFill>
              </a:defRPr>
            </a:pPr>
            <a:r>
              <a:t>Create custom commands for team workflows</a:t>
            </a:r>
          </a:p>
        </p:txBody>
      </p:sp>
      <p:sp>
        <p:nvSpPr>
          <p:cNvPr id="7" name="Oval 6"/>
          <p:cNvSpPr/>
          <p:nvPr/>
        </p:nvSpPr>
        <p:spPr>
          <a:xfrm>
            <a:off x="457200" y="21945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9456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9" name="TextBox 8"/>
          <p:cNvSpPr txBox="1"/>
          <p:nvPr/>
        </p:nvSpPr>
        <p:spPr>
          <a:xfrm>
            <a:off x="1005840" y="2240280"/>
            <a:ext cx="10728655" cy="731520"/>
          </a:xfrm>
          <a:prstGeom prst="rect">
            <a:avLst/>
          </a:prstGeom>
          <a:noFill/>
        </p:spPr>
        <p:txBody>
          <a:bodyPr wrap="square">
            <a:spAutoFit/>
          </a:bodyPr>
          <a:lstStyle/>
          <a:p>
            <a:pPr>
              <a:defRPr sz="2200">
                <a:solidFill>
                  <a:srgbClr val="FFFFFF"/>
                </a:solidFill>
              </a:defRPr>
            </a:pPr>
            <a:r>
              <a:t>Build and orchestrate subagents for complex tasks</a:t>
            </a:r>
          </a:p>
        </p:txBody>
      </p:sp>
      <p:sp>
        <p:nvSpPr>
          <p:cNvPr id="10" name="Oval 9"/>
          <p:cNvSpPr/>
          <p:nvPr/>
        </p:nvSpPr>
        <p:spPr>
          <a:xfrm>
            <a:off x="457200" y="30175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01752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2" name="TextBox 11"/>
          <p:cNvSpPr txBox="1"/>
          <p:nvPr/>
        </p:nvSpPr>
        <p:spPr>
          <a:xfrm>
            <a:off x="1005840" y="3063240"/>
            <a:ext cx="10728655" cy="731520"/>
          </a:xfrm>
          <a:prstGeom prst="rect">
            <a:avLst/>
          </a:prstGeom>
          <a:noFill/>
        </p:spPr>
        <p:txBody>
          <a:bodyPr wrap="square">
            <a:spAutoFit/>
          </a:bodyPr>
          <a:lstStyle/>
          <a:p>
            <a:pPr>
              <a:defRPr sz="2200">
                <a:solidFill>
                  <a:srgbClr val="FFFFFF"/>
                </a:solidFill>
              </a:defRPr>
            </a:pPr>
            <a:r>
              <a:t>Implement hooks for safety and auditing</a:t>
            </a:r>
          </a:p>
        </p:txBody>
      </p:sp>
      <p:sp>
        <p:nvSpPr>
          <p:cNvPr id="13" name="Oval 12"/>
          <p:cNvSpPr/>
          <p:nvPr/>
        </p:nvSpPr>
        <p:spPr>
          <a:xfrm>
            <a:off x="457200" y="384048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4048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5" name="TextBox 14"/>
          <p:cNvSpPr txBox="1"/>
          <p:nvPr/>
        </p:nvSpPr>
        <p:spPr>
          <a:xfrm>
            <a:off x="1005840" y="3886200"/>
            <a:ext cx="10728655" cy="731520"/>
          </a:xfrm>
          <a:prstGeom prst="rect">
            <a:avLst/>
          </a:prstGeom>
          <a:noFill/>
        </p:spPr>
        <p:txBody>
          <a:bodyPr wrap="square">
            <a:spAutoFit/>
          </a:bodyPr>
          <a:lstStyle/>
          <a:p>
            <a:pPr>
              <a:defRPr sz="2200">
                <a:solidFill>
                  <a:srgbClr val="FFFFFF"/>
                </a:solidFill>
              </a:defRPr>
            </a:pPr>
            <a:r>
              <a:t>Use plan mode and thinking levels effectively</a:t>
            </a:r>
          </a:p>
        </p:txBody>
      </p:sp>
      <p:sp>
        <p:nvSpPr>
          <p:cNvPr id="16" name="Oval 15"/>
          <p:cNvSpPr/>
          <p:nvPr/>
        </p:nvSpPr>
        <p:spPr>
          <a:xfrm>
            <a:off x="457200" y="466344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66344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8" name="TextBox 17"/>
          <p:cNvSpPr txBox="1"/>
          <p:nvPr/>
        </p:nvSpPr>
        <p:spPr>
          <a:xfrm>
            <a:off x="1005840" y="4709160"/>
            <a:ext cx="10728655" cy="731520"/>
          </a:xfrm>
          <a:prstGeom prst="rect">
            <a:avLst/>
          </a:prstGeom>
          <a:noFill/>
        </p:spPr>
        <p:txBody>
          <a:bodyPr wrap="square">
            <a:spAutoFit/>
          </a:bodyPr>
          <a:lstStyle/>
          <a:p>
            <a:pPr>
              <a:defRPr sz="2200">
                <a:solidFill>
                  <a:srgbClr val="FFFFFF"/>
                </a:solidFill>
              </a:defRPr>
            </a:pPr>
            <a:r>
              <a:t>Install and configure MCP servers</a:t>
            </a:r>
          </a:p>
        </p:txBody>
      </p:sp>
      <p:sp>
        <p:nvSpPr>
          <p:cNvPr id="19" name="Oval 18"/>
          <p:cNvSpPr/>
          <p:nvPr/>
        </p:nvSpPr>
        <p:spPr>
          <a:xfrm>
            <a:off x="457200" y="54864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4864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21" name="TextBox 20"/>
          <p:cNvSpPr txBox="1"/>
          <p:nvPr/>
        </p:nvSpPr>
        <p:spPr>
          <a:xfrm>
            <a:off x="1005840" y="5532120"/>
            <a:ext cx="10728655" cy="731520"/>
          </a:xfrm>
          <a:prstGeom prst="rect">
            <a:avLst/>
          </a:prstGeom>
          <a:noFill/>
        </p:spPr>
        <p:txBody>
          <a:bodyPr wrap="square">
            <a:spAutoFit/>
          </a:bodyPr>
          <a:lstStyle/>
          <a:p>
            <a:pPr>
              <a:defRPr sz="2200">
                <a:solidFill>
                  <a:srgbClr val="FFFFFF"/>
                </a:solidFill>
              </a:defRPr>
            </a:pPr>
            <a:r>
              <a:t>Build agent teams for parallel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Custom Commands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Extending Claude Code with reusable workflows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Are Custom Commands?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Reusable prompt templates with arguments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.claude/commands/ Directory Structure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Directory Layout</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my-project/</a:t>
            </a:r>
          </a:p>
          <a:p>
            <a:pPr>
              <a:spcAft>
                <a:spcPts val="1200"/>
              </a:spcAft>
              <a:defRPr sz="1800">
                <a:solidFill>
                  <a:srgbClr val="FFFFFF"/>
                </a:solidFill>
              </a:defRPr>
            </a:pPr>
            <a:r>
              <a:t>    .claude/</a:t>
            </a:r>
          </a:p>
          <a:p>
            <a:pPr>
              <a:spcAft>
                <a:spcPts val="1200"/>
              </a:spcAft>
              <a:defRPr sz="1800">
                <a:solidFill>
                  <a:srgbClr val="FFFFFF"/>
                </a:solidFill>
              </a:defRPr>
            </a:pPr>
            <a:r>
              <a:t>      commands/</a:t>
            </a:r>
          </a:p>
          <a:p>
            <a:pPr>
              <a:spcAft>
                <a:spcPts val="1200"/>
              </a:spcAft>
              <a:defRPr sz="1800">
                <a:solidFill>
                  <a:srgbClr val="FFFFFF"/>
                </a:solidFill>
              </a:defRPr>
            </a:pPr>
            <a:r>
              <a:t>        api-doc.md</a:t>
            </a:r>
          </a:p>
          <a:p>
            <a:pPr>
              <a:spcAft>
                <a:spcPts val="1200"/>
              </a:spcAft>
              <a:defRPr sz="1800">
                <a:solidFill>
                  <a:srgbClr val="FFFFFF"/>
                </a:solidFill>
              </a:defRPr>
            </a:pPr>
            <a:r>
              <a:t>        test-this.md</a:t>
            </a:r>
          </a:p>
          <a:p>
            <a:pPr>
              <a:spcAft>
                <a:spcPts val="1200"/>
              </a:spcAft>
              <a:defRPr sz="1800">
                <a:solidFill>
                  <a:srgbClr val="FFFFFF"/>
                </a:solidFill>
              </a:defRPr>
            </a:pPr>
            <a:r>
              <a:t>        refactor.md</a:t>
            </a:r>
          </a:p>
          <a:p>
            <a:pPr>
              <a:spcAft>
                <a:spcPts val="1200"/>
              </a:spcAft>
              <a:defRPr sz="1800">
                <a:solidFill>
                  <a:srgbClr val="FFFFFF"/>
                </a:solidFill>
              </a:defRPr>
            </a:pPr>
            <a:r>
              <a:t>        pr-review.md</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10B981"/>
                </a:solidFill>
              </a:defRPr>
            </a:pPr>
            <a:r>
              <a:t>Usage</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/api-doc src/routes/users.js</a:t>
            </a:r>
          </a:p>
          <a:p>
            <a:pPr>
              <a:spcAft>
                <a:spcPts val="1200"/>
              </a:spcAft>
              <a:defRPr sz="1800">
                <a:solidFill>
                  <a:srgbClr val="FFFFFF"/>
                </a:solidFill>
              </a:defRPr>
            </a:pPr>
            <a:r>
              <a:t>  /test-this src/models/user.js</a:t>
            </a:r>
          </a:p>
          <a:p>
            <a:pPr>
              <a:spcAft>
                <a:spcPts val="1200"/>
              </a:spcAft>
              <a:defRPr sz="1800">
                <a:solidFill>
                  <a:srgbClr val="FFFFFF"/>
                </a:solidFill>
              </a:defRPr>
            </a:pPr>
            <a:r>
              <a:t>  /refactor src/legacy/payment.js</a:t>
            </a:r>
          </a:p>
          <a:p>
            <a:pPr>
              <a:spcAft>
                <a:spcPts val="1200"/>
              </a:spcAft>
              <a:defRPr sz="1800">
                <a:solidFill>
                  <a:srgbClr val="FFFFFF"/>
                </a:solidFill>
              </a:defRPr>
            </a:pPr>
            <a:r>
              <a:t>  /pr-review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Command File Format</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MARKDOWN</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a:t>
            </a:r>
            <a:br/>
            <a:r>
              <a:t>description: Generate API documentation for an endpoint</a:t>
            </a:r>
            <a:br/>
            <a:r>
              <a:t>---</a:t>
            </a:r>
            <a:br/>
            <a:br/>
            <a:r>
              <a:t>Analyze the endpoint or route file at $ARGUMENTS and generate comprehensive API documentation.</a:t>
            </a:r>
            <a:br/>
            <a:br/>
            <a:r>
              <a:t>Include the following sections:</a:t>
            </a:r>
            <a:b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Parameterized Commands with $ARGUMENTS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$ARGUMENTS is replaced with everything after the command name</a:t>
            </a:r>
          </a:p>
          <a:p>
            <a:pPr>
              <a:spcBef>
                <a:spcPts val="800"/>
              </a:spcBef>
              <a:spcAft>
                <a:spcPts val="800"/>
              </a:spcAft>
              <a:defRPr sz="2200">
                <a:solidFill>
                  <a:srgbClr val="FFFFFF"/>
                </a:solidFill>
              </a:defRPr>
            </a:pPr>
            <a:r>
              <a:t>  Example: /test-this src/auth.js → $ARGUMENTS = 'src/auth.js'</a:t>
            </a:r>
          </a:p>
          <a:p>
            <a:pPr>
              <a:spcBef>
                <a:spcPts val="800"/>
              </a:spcBef>
              <a:spcAft>
                <a:spcPts val="800"/>
              </a:spcAft>
              <a:defRPr sz="2200">
                <a:solidFill>
                  <a:srgbClr val="FFFFFF"/>
                </a:solidFill>
              </a:defRPr>
            </a:pPr>
            <a:r>
              <a:t>  Can include multiple words: /refactor src/auth.js src/db.js</a:t>
            </a:r>
          </a:p>
          <a:p>
            <a:pPr>
              <a:spcBef>
                <a:spcPts val="800"/>
              </a:spcBef>
              <a:spcAft>
                <a:spcPts val="800"/>
              </a:spcAft>
              <a:defRPr sz="2200">
                <a:solidFill>
                  <a:srgbClr val="FFFFFF"/>
                </a:solidFill>
              </a:defRPr>
            </a:pPr>
            <a:r>
              <a:t>  Commands can parse arguments if needed (advanced)</a:t>
            </a:r>
          </a:p>
          <a:p>
            <a:pPr>
              <a:spcBef>
                <a:spcPts val="800"/>
              </a:spcBef>
              <a:spcAft>
                <a:spcPts val="800"/>
              </a:spcAft>
              <a:defRPr sz="2200">
                <a:solidFill>
                  <a:srgbClr val="FFFFFF"/>
                </a:solidFill>
              </a:defRPr>
            </a:pPr>
            <a:r>
              <a:t>  Keep it simple: most commands need just one file path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Production-Ready Command Examples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/test-this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Generate Jest tests</a:t>
            </a:r>
          </a:p>
          <a:p>
            <a:pPr>
              <a:spcAft>
                <a:spcPts val="1200"/>
              </a:spcAft>
              <a:defRPr sz="1800">
                <a:solidFill>
                  <a:srgbClr val="FFFFFF"/>
                </a:solidFill>
              </a:defRPr>
            </a:pPr>
            <a:r>
              <a:t>  Happy path coverage</a:t>
            </a:r>
          </a:p>
          <a:p>
            <a:pPr>
              <a:spcAft>
                <a:spcPts val="1200"/>
              </a:spcAft>
              <a:defRPr sz="1800">
                <a:solidFill>
                  <a:srgbClr val="FFFFFF"/>
                </a:solidFill>
              </a:defRPr>
            </a:pPr>
            <a:r>
              <a:t>  Edge cases</a:t>
            </a:r>
          </a:p>
          <a:p>
            <a:pPr>
              <a:spcAft>
                <a:spcPts val="1200"/>
              </a:spcAft>
              <a:defRPr sz="1800">
                <a:solidFill>
                  <a:srgbClr val="FFFFFF"/>
                </a:solidFill>
              </a:defRPr>
            </a:pPr>
            <a:r>
              <a:t>  Error handling</a:t>
            </a:r>
          </a:p>
          <a:p>
            <a:pPr>
              <a:spcAft>
                <a:spcPts val="1200"/>
              </a:spcAft>
              <a:defRPr sz="1800">
                <a:solidFill>
                  <a:srgbClr val="FFFFFF"/>
                </a:solidFill>
              </a:defRPr>
            </a:pPr>
            <a:r>
              <a:t>  Follows project patterns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10B981"/>
                </a:solidFill>
              </a:defRPr>
            </a:pPr>
            <a:r>
              <a:t>/pr-review</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Code quality check</a:t>
            </a:r>
          </a:p>
          <a:p>
            <a:pPr>
              <a:spcAft>
                <a:spcPts val="1200"/>
              </a:spcAft>
              <a:defRPr sz="1800">
                <a:solidFill>
                  <a:srgbClr val="FFFFFF"/>
                </a:solidFill>
              </a:defRPr>
            </a:pPr>
            <a:r>
              <a:t>  Security scan</a:t>
            </a:r>
          </a:p>
          <a:p>
            <a:pPr>
              <a:spcAft>
                <a:spcPts val="1200"/>
              </a:spcAft>
              <a:defRPr sz="1800">
                <a:solidFill>
                  <a:srgbClr val="FFFFFF"/>
                </a:solidFill>
              </a:defRPr>
            </a:pPr>
            <a:r>
              <a:t>  Performance review</a:t>
            </a:r>
          </a:p>
          <a:p>
            <a:pPr>
              <a:spcAft>
                <a:spcPts val="1200"/>
              </a:spcAft>
              <a:defRPr sz="1800">
                <a:solidFill>
                  <a:srgbClr val="FFFFFF"/>
                </a:solidFill>
              </a:defRPr>
            </a:pPr>
            <a:r>
              <a:t>  Style compliance</a:t>
            </a:r>
          </a:p>
          <a:p>
            <a:pPr>
              <a:spcAft>
                <a:spcPts val="1200"/>
              </a:spcAft>
              <a:defRPr sz="1800">
                <a:solidFill>
                  <a:srgbClr val="FFFFFF"/>
                </a:solidFill>
              </a:defRPr>
            </a:pPr>
            <a:r>
              <a:t>  Suggests improvements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Production Commands: /review and /test</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CODE</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Real Example: /prd Auto-Generator</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CODE</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Command Best Practices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One command = one clear purpose (don't make swiss army knife)</a:t>
            </a:r>
          </a:p>
          <a:p>
            <a:pPr>
              <a:spcBef>
                <a:spcPts val="800"/>
              </a:spcBef>
              <a:spcAft>
                <a:spcPts val="800"/>
              </a:spcAft>
              <a:defRPr sz="2200">
                <a:solidFill>
                  <a:srgbClr val="FFFFFF"/>
                </a:solidFill>
              </a:defRPr>
            </a:pPr>
            <a:r>
              <a:t>  Include expected format in template (JSON, Markdown, code, etc.)</a:t>
            </a:r>
          </a:p>
          <a:p>
            <a:pPr>
              <a:spcBef>
                <a:spcPts val="800"/>
              </a:spcBef>
              <a:spcAft>
                <a:spcPts val="800"/>
              </a:spcAft>
              <a:defRPr sz="2200">
                <a:solidFill>
                  <a:srgbClr val="FFFFFF"/>
                </a:solidFill>
              </a:defRPr>
            </a:pPr>
            <a:r>
              <a:t>  Reference project conventions: 'Follow existing test patterns'</a:t>
            </a:r>
          </a:p>
          <a:p>
            <a:pPr>
              <a:spcBef>
                <a:spcPts val="800"/>
              </a:spcBef>
              <a:spcAft>
                <a:spcPts val="800"/>
              </a:spcAft>
              <a:defRPr sz="2200">
                <a:solidFill>
                  <a:srgbClr val="FFFFFF"/>
                </a:solidFill>
              </a:defRPr>
            </a:pPr>
            <a:r>
              <a:t>  Start small, iterate based on team feedback</a:t>
            </a:r>
          </a:p>
          <a:p>
            <a:pPr>
              <a:spcBef>
                <a:spcPts val="800"/>
              </a:spcBef>
              <a:spcAft>
                <a:spcPts val="800"/>
              </a:spcAft>
              <a:defRPr sz="2200">
                <a:solidFill>
                  <a:srgbClr val="FFFFFF"/>
                </a:solidFill>
              </a:defRPr>
            </a:pPr>
            <a:r>
              <a:t>  Document commands in team README</a:t>
            </a:r>
          </a:p>
          <a:p>
            <a:pPr>
              <a:spcBef>
                <a:spcPts val="800"/>
              </a:spcBef>
              <a:spcAft>
                <a:spcPts val="800"/>
              </a:spcAft>
              <a:defRPr sz="2200">
                <a:solidFill>
                  <a:srgbClr val="FFFFFF"/>
                </a:solidFill>
              </a:defRPr>
            </a:pPr>
            <a:r>
              <a:t>  Version control: commit to .claude/commands/ in git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Creating and Using Custom Commands</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Build /api-doc command live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Subagents &amp; Orchestration</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Parallel AI workers for complex tasks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Are Subagents?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Specialized Claude sessions spawned for focused work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When to Use Subagents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Use Subagents For</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Focused research tasks</a:t>
            </a:r>
          </a:p>
          <a:p>
            <a:pPr>
              <a:spcAft>
                <a:spcPts val="1200"/>
              </a:spcAft>
              <a:defRPr sz="1800">
                <a:solidFill>
                  <a:srgbClr val="FFFFFF"/>
                </a:solidFill>
              </a:defRPr>
            </a:pPr>
            <a:r>
              <a:t>  Read-only exploration</a:t>
            </a:r>
          </a:p>
          <a:p>
            <a:pPr>
              <a:spcAft>
                <a:spcPts val="1200"/>
              </a:spcAft>
              <a:defRPr sz="1800">
                <a:solidFill>
                  <a:srgbClr val="FFFFFF"/>
                </a:solidFill>
              </a:defRPr>
            </a:pPr>
            <a:r>
              <a:t>  Parallel analysis</a:t>
            </a:r>
          </a:p>
          <a:p>
            <a:pPr>
              <a:spcAft>
                <a:spcPts val="1200"/>
              </a:spcAft>
              <a:defRPr sz="1800">
                <a:solidFill>
                  <a:srgbClr val="FFFFFF"/>
                </a:solidFill>
              </a:defRPr>
            </a:pPr>
            <a:r>
              <a:t>  Different model needed</a:t>
            </a:r>
          </a:p>
          <a:p>
            <a:pPr>
              <a:spcAft>
                <a:spcPts val="1200"/>
              </a:spcAft>
              <a:defRPr sz="1800">
                <a:solidFill>
                  <a:srgbClr val="FFFFFF"/>
                </a:solidFill>
              </a:defRPr>
            </a:pPr>
            <a:r>
              <a:t>  Context isolation wanted</a:t>
            </a:r>
          </a:p>
          <a:p>
            <a:pPr>
              <a:spcAft>
                <a:spcPts val="1200"/>
              </a:spcAft>
              <a:defRPr sz="1800">
                <a:solidFill>
                  <a:srgbClr val="FFFFFF"/>
                </a:solidFill>
              </a:defRPr>
            </a:pPr>
            <a:r>
              <a:t>  Cost optimization (use Haiku)</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10B981"/>
                </a:solidFill>
              </a:defRPr>
            </a:pPr>
            <a:r>
              <a:t>Use Main Session For</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Sequential reasoning</a:t>
            </a:r>
          </a:p>
          <a:p>
            <a:pPr>
              <a:spcAft>
                <a:spcPts val="1200"/>
              </a:spcAft>
              <a:defRPr sz="1800">
                <a:solidFill>
                  <a:srgbClr val="FFFFFF"/>
                </a:solidFill>
              </a:defRPr>
            </a:pPr>
            <a:r>
              <a:t>  File modifications</a:t>
            </a:r>
          </a:p>
          <a:p>
            <a:pPr>
              <a:spcAft>
                <a:spcPts val="1200"/>
              </a:spcAft>
              <a:defRPr sz="1800">
                <a:solidFill>
                  <a:srgbClr val="FFFFFF"/>
                </a:solidFill>
              </a:defRPr>
            </a:pPr>
            <a:r>
              <a:t>  Full context needed</a:t>
            </a:r>
          </a:p>
          <a:p>
            <a:pPr>
              <a:spcAft>
                <a:spcPts val="1200"/>
              </a:spcAft>
              <a:defRPr sz="1800">
                <a:solidFill>
                  <a:srgbClr val="FFFFFF"/>
                </a:solidFill>
              </a:defRPr>
            </a:pPr>
            <a:r>
              <a:t>  Interactive iteration</a:t>
            </a:r>
          </a:p>
          <a:p>
            <a:pPr>
              <a:spcAft>
                <a:spcPts val="1200"/>
              </a:spcAft>
              <a:defRPr sz="1800">
                <a:solidFill>
                  <a:srgbClr val="FFFFFF"/>
                </a:solidFill>
              </a:defRPr>
            </a:pPr>
            <a:r>
              <a:t>  Git operations</a:t>
            </a:r>
          </a:p>
          <a:p>
            <a:pPr>
              <a:spcAft>
                <a:spcPts val="1200"/>
              </a:spcAft>
              <a:defRPr sz="1800">
                <a:solidFill>
                  <a:srgbClr val="FFFFFF"/>
                </a:solidFill>
              </a:defRPr>
            </a:pPr>
            <a:r>
              <a:t>  Complex multi-step work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Built-in Subagents (explore, plan)</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Fast codebase exploration with @explore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Creating Custom Subagents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MARKDOWN</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a:t>
            </a:r>
            <a:br/>
            <a:r>
              <a:t>name: security-auditor</a:t>
            </a:r>
            <a:br/>
            <a:r>
              <a:t>description: Security-focused code reviewer</a:t>
            </a:r>
            <a:br/>
            <a:r>
              <a:t>tools: Read, Grep, Glob, Bash(npm audit:*)</a:t>
            </a:r>
            <a:br/>
            <a:r>
              <a:t>model: sonnet</a:t>
            </a:r>
            <a:br/>
            <a:r>
              <a:t>---</a:t>
            </a:r>
            <a:br/>
            <a:br/>
            <a:r>
              <a:t>You are a security auditor examining code for vulnerabilities.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Subagent Tool Restrictions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tools field controls what subagent can access</a:t>
            </a:r>
          </a:p>
          <a:p>
            <a:pPr>
              <a:spcBef>
                <a:spcPts val="800"/>
              </a:spcBef>
              <a:spcAft>
                <a:spcPts val="800"/>
              </a:spcAft>
              <a:defRPr sz="2200">
                <a:solidFill>
                  <a:srgbClr val="FFFFFF"/>
                </a:solidFill>
              </a:defRPr>
            </a:pPr>
            <a:r>
              <a:t>  Read, Grep, Glob: Safe read-only operations</a:t>
            </a:r>
          </a:p>
          <a:p>
            <a:pPr>
              <a:spcBef>
                <a:spcPts val="800"/>
              </a:spcBef>
              <a:spcAft>
                <a:spcPts val="800"/>
              </a:spcAft>
              <a:defRPr sz="2200">
                <a:solidFill>
                  <a:srgbClr val="FFFFFF"/>
                </a:solidFill>
              </a:defRPr>
            </a:pPr>
            <a:r>
              <a:t>  Bash(npm audit:*): Only specific commands allowed</a:t>
            </a:r>
          </a:p>
          <a:p>
            <a:pPr>
              <a:spcBef>
                <a:spcPts val="800"/>
              </a:spcBef>
              <a:spcAft>
                <a:spcPts val="800"/>
              </a:spcAft>
              <a:defRPr sz="2200">
                <a:solidFill>
                  <a:srgbClr val="FFFFFF"/>
                </a:solidFill>
              </a:defRPr>
            </a:pPr>
            <a:r>
              <a:t>  Omit Write/Edit for inspection-only agents</a:t>
            </a:r>
          </a:p>
          <a:p>
            <a:pPr>
              <a:spcBef>
                <a:spcPts val="800"/>
              </a:spcBef>
              <a:spcAft>
                <a:spcPts val="800"/>
              </a:spcAft>
              <a:defRPr sz="2200">
                <a:solidFill>
                  <a:srgbClr val="FFFFFF"/>
                </a:solidFill>
              </a:defRPr>
            </a:pPr>
            <a:r>
              <a:t>  Least privilege: Give only tools needed for the job</a:t>
            </a:r>
          </a:p>
          <a:p>
            <a:pPr>
              <a:spcBef>
                <a:spcPts val="800"/>
              </a:spcBef>
              <a:spcAft>
                <a:spcPts val="800"/>
              </a:spcAft>
              <a:defRPr sz="2200">
                <a:solidFill>
                  <a:srgbClr val="FFFFFF"/>
                </a:solidFill>
              </a:defRPr>
            </a:pPr>
            <a:r>
              <a:t>  Example: doc-checker gets Read only, cannot modify code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Subagent Orchestration Pattern</a:t>
            </a:r>
          </a:p>
        </p:txBody>
      </p:sp>
      <p:sp>
        <p:nvSpPr>
          <p:cNvPr id="3" name="Rounded Rectangle 2"/>
          <p:cNvSpPr/>
          <p:nvPr/>
        </p:nvSpPr>
        <p:spPr>
          <a:xfrm>
            <a:off x="2255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18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183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TextBox 5"/>
          <p:cNvSpPr txBox="1"/>
          <p:nvPr/>
        </p:nvSpPr>
        <p:spPr>
          <a:xfrm>
            <a:off x="2255367" y="1371600"/>
            <a:ext cx="822960" cy="822960"/>
          </a:xfrm>
          <a:prstGeom prst="rect">
            <a:avLst/>
          </a:prstGeom>
          <a:noFill/>
        </p:spPr>
        <p:txBody>
          <a:bodyPr wrap="none" anchor="ctr">
            <a:spAutoFit/>
          </a:bodyPr>
          <a:lstStyle/>
          <a:p>
            <a:pPr algn="ctr">
              <a:defRPr sz="2800" b="1">
                <a:solidFill>
                  <a:srgbClr val="00D4AA"/>
                </a:solidFill>
              </a:defRPr>
            </a:pPr>
            <a:r>
              <a:t>1</a:t>
            </a:r>
          </a:p>
        </p:txBody>
      </p:sp>
      <p:sp>
        <p:nvSpPr>
          <p:cNvPr id="7" name="Right Arrow 6"/>
          <p:cNvSpPr/>
          <p:nvPr/>
        </p:nvSpPr>
        <p:spPr>
          <a:xfrm>
            <a:off x="31697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26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89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899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1" name="TextBox 10"/>
          <p:cNvSpPr txBox="1"/>
          <p:nvPr/>
        </p:nvSpPr>
        <p:spPr>
          <a:xfrm>
            <a:off x="3626967" y="1371600"/>
            <a:ext cx="822960" cy="822960"/>
          </a:xfrm>
          <a:prstGeom prst="rect">
            <a:avLst/>
          </a:prstGeom>
          <a:noFill/>
        </p:spPr>
        <p:txBody>
          <a:bodyPr wrap="none" anchor="ctr">
            <a:spAutoFit/>
          </a:bodyPr>
          <a:lstStyle/>
          <a:p>
            <a:pPr algn="ctr">
              <a:defRPr sz="2800" b="1">
                <a:solidFill>
                  <a:srgbClr val="00D4AA"/>
                </a:solidFill>
              </a:defRPr>
            </a:pPr>
            <a:r>
              <a:t>2</a:t>
            </a:r>
          </a:p>
        </p:txBody>
      </p:sp>
      <p:sp>
        <p:nvSpPr>
          <p:cNvPr id="12" name="Right Arrow 11"/>
          <p:cNvSpPr/>
          <p:nvPr/>
        </p:nvSpPr>
        <p:spPr>
          <a:xfrm>
            <a:off x="45413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9985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615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15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6" name="TextBox 15"/>
          <p:cNvSpPr txBox="1"/>
          <p:nvPr/>
        </p:nvSpPr>
        <p:spPr>
          <a:xfrm>
            <a:off x="4998567" y="1371600"/>
            <a:ext cx="822960" cy="822960"/>
          </a:xfrm>
          <a:prstGeom prst="rect">
            <a:avLst/>
          </a:prstGeom>
          <a:noFill/>
        </p:spPr>
        <p:txBody>
          <a:bodyPr wrap="none" anchor="ctr">
            <a:spAutoFit/>
          </a:bodyPr>
          <a:lstStyle/>
          <a:p>
            <a:pPr algn="ctr">
              <a:defRPr sz="2800" b="1">
                <a:solidFill>
                  <a:srgbClr val="00D4AA"/>
                </a:solidFill>
              </a:defRPr>
            </a:pPr>
            <a:r>
              <a:t>3</a:t>
            </a:r>
          </a:p>
        </p:txBody>
      </p:sp>
      <p:sp>
        <p:nvSpPr>
          <p:cNvPr id="17" name="Right Arrow 16"/>
          <p:cNvSpPr/>
          <p:nvPr/>
        </p:nvSpPr>
        <p:spPr>
          <a:xfrm>
            <a:off x="59129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701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331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33107" y="1211580"/>
            <a:ext cx="320040" cy="320040"/>
          </a:xfrm>
          <a:prstGeom prst="rect">
            <a:avLst/>
          </a:prstGeom>
          <a:noFill/>
        </p:spPr>
        <p:txBody>
          <a:bodyPr wrap="none" anchor="ctr">
            <a:spAutoFit/>
          </a:bodyPr>
          <a:lstStyle/>
          <a:p>
            <a:pPr algn="ctr">
              <a:defRPr sz="1400" b="1">
                <a:solidFill>
                  <a:srgbClr val="0B0F1A"/>
                </a:solidFill>
              </a:defRPr>
            </a:pPr>
            <a:r>
              <a:t>4</a:t>
            </a:r>
          </a:p>
        </p:txBody>
      </p:sp>
      <p:sp>
        <p:nvSpPr>
          <p:cNvPr id="21" name="TextBox 20"/>
          <p:cNvSpPr txBox="1"/>
          <p:nvPr/>
        </p:nvSpPr>
        <p:spPr>
          <a:xfrm>
            <a:off x="6370167" y="1371600"/>
            <a:ext cx="822960" cy="822960"/>
          </a:xfrm>
          <a:prstGeom prst="rect">
            <a:avLst/>
          </a:prstGeom>
          <a:noFill/>
        </p:spPr>
        <p:txBody>
          <a:bodyPr wrap="none" anchor="ctr">
            <a:spAutoFit/>
          </a:bodyPr>
          <a:lstStyle/>
          <a:p>
            <a:pPr algn="ctr">
              <a:defRPr sz="2800" b="1">
                <a:solidFill>
                  <a:srgbClr val="00D4AA"/>
                </a:solidFill>
              </a:defRPr>
            </a:pPr>
            <a:r>
              <a:t>4</a:t>
            </a:r>
          </a:p>
        </p:txBody>
      </p:sp>
      <p:sp>
        <p:nvSpPr>
          <p:cNvPr id="22" name="Right Arrow 21"/>
          <p:cNvSpPr/>
          <p:nvPr/>
        </p:nvSpPr>
        <p:spPr>
          <a:xfrm>
            <a:off x="72845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41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404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04707" y="1211580"/>
            <a:ext cx="320040" cy="320040"/>
          </a:xfrm>
          <a:prstGeom prst="rect">
            <a:avLst/>
          </a:prstGeom>
          <a:noFill/>
        </p:spPr>
        <p:txBody>
          <a:bodyPr wrap="none" anchor="ctr">
            <a:spAutoFit/>
          </a:bodyPr>
          <a:lstStyle/>
          <a:p>
            <a:pPr algn="ctr">
              <a:defRPr sz="1400" b="1">
                <a:solidFill>
                  <a:srgbClr val="0B0F1A"/>
                </a:solidFill>
              </a:defRPr>
            </a:pPr>
            <a:r>
              <a:t>5</a:t>
            </a:r>
          </a:p>
        </p:txBody>
      </p:sp>
      <p:sp>
        <p:nvSpPr>
          <p:cNvPr id="26" name="TextBox 25"/>
          <p:cNvSpPr txBox="1"/>
          <p:nvPr/>
        </p:nvSpPr>
        <p:spPr>
          <a:xfrm>
            <a:off x="7741767" y="1371600"/>
            <a:ext cx="822960" cy="822960"/>
          </a:xfrm>
          <a:prstGeom prst="rect">
            <a:avLst/>
          </a:prstGeom>
          <a:noFill/>
        </p:spPr>
        <p:txBody>
          <a:bodyPr wrap="none" anchor="ctr">
            <a:spAutoFit/>
          </a:bodyPr>
          <a:lstStyle/>
          <a:p>
            <a:pPr algn="ctr">
              <a:defRPr sz="2800" b="1">
                <a:solidFill>
                  <a:srgbClr val="00D4AA"/>
                </a:solidFill>
              </a:defRPr>
            </a:pPr>
            <a:r>
              <a:t>5</a:t>
            </a:r>
          </a:p>
        </p:txBody>
      </p:sp>
      <p:sp>
        <p:nvSpPr>
          <p:cNvPr id="27" name="Right Arrow 26"/>
          <p:cNvSpPr/>
          <p:nvPr/>
        </p:nvSpPr>
        <p:spPr>
          <a:xfrm>
            <a:off x="86561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113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776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76307" y="1211580"/>
            <a:ext cx="320040" cy="320040"/>
          </a:xfrm>
          <a:prstGeom prst="rect">
            <a:avLst/>
          </a:prstGeom>
          <a:noFill/>
        </p:spPr>
        <p:txBody>
          <a:bodyPr wrap="none" anchor="ctr">
            <a:spAutoFit/>
          </a:bodyPr>
          <a:lstStyle/>
          <a:p>
            <a:pPr algn="ctr">
              <a:defRPr sz="1400" b="1">
                <a:solidFill>
                  <a:srgbClr val="0B0F1A"/>
                </a:solidFill>
              </a:defRPr>
            </a:pPr>
            <a:r>
              <a:t>6</a:t>
            </a:r>
          </a:p>
        </p:txBody>
      </p:sp>
      <p:sp>
        <p:nvSpPr>
          <p:cNvPr id="31" name="TextBox 30"/>
          <p:cNvSpPr txBox="1"/>
          <p:nvPr/>
        </p:nvSpPr>
        <p:spPr>
          <a:xfrm>
            <a:off x="9113367" y="1371600"/>
            <a:ext cx="822960" cy="822960"/>
          </a:xfrm>
          <a:prstGeom prst="rect">
            <a:avLst/>
          </a:prstGeom>
          <a:noFill/>
        </p:spPr>
        <p:txBody>
          <a:bodyPr wrap="none" anchor="ctr">
            <a:spAutoFit/>
          </a:bodyPr>
          <a:lstStyle/>
          <a:p>
            <a:pPr algn="ctr">
              <a:defRPr sz="2800" b="1">
                <a:solidFill>
                  <a:srgbClr val="00D4AA"/>
                </a:solidFill>
              </a:defRPr>
            </a:pPr>
            <a:r>
              <a:t>6</a:t>
            </a:r>
          </a:p>
        </p:txBody>
      </p:sp>
      <p:sp>
        <p:nvSpPr>
          <p:cNvPr id="32" name="TextBox 31"/>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33" name="TextBox 32"/>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Main session receives complex task</a:t>
            </a:r>
          </a:p>
        </p:txBody>
      </p:sp>
      <p:sp>
        <p:nvSpPr>
          <p:cNvPr id="34" name="TextBox 33"/>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35" name="TextBox 34"/>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Spawn specialized subagents (parallel)</a:t>
            </a:r>
          </a:p>
        </p:txBody>
      </p:sp>
      <p:sp>
        <p:nvSpPr>
          <p:cNvPr id="36" name="TextBox 35"/>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37" name="TextBox 36"/>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Subagents work independently</a:t>
            </a:r>
          </a:p>
        </p:txBody>
      </p:sp>
      <p:sp>
        <p:nvSpPr>
          <p:cNvPr id="38" name="TextBox 37"/>
          <p:cNvSpPr txBox="1"/>
          <p:nvPr/>
        </p:nvSpPr>
        <p:spPr>
          <a:xfrm>
            <a:off x="1371600" y="4663440"/>
            <a:ext cx="457200" cy="457200"/>
          </a:xfrm>
          <a:prstGeom prst="rect">
            <a:avLst/>
          </a:prstGeom>
          <a:noFill/>
        </p:spPr>
        <p:txBody>
          <a:bodyPr wrap="none">
            <a:spAutoFit/>
          </a:bodyPr>
          <a:lstStyle/>
          <a:p>
            <a:pPr>
              <a:defRPr sz="2000" b="1">
                <a:solidFill>
                  <a:srgbClr val="00D4AA"/>
                </a:solidFill>
              </a:defRPr>
            </a:pPr>
            <a:r>
              <a:t>4</a:t>
            </a:r>
          </a:p>
        </p:txBody>
      </p:sp>
      <p:sp>
        <p:nvSpPr>
          <p:cNvPr id="39" name="TextBox 38"/>
          <p:cNvSpPr txBox="1"/>
          <p:nvPr/>
        </p:nvSpPr>
        <p:spPr>
          <a:xfrm>
            <a:off x="1828800" y="4663440"/>
            <a:ext cx="8991295" cy="548640"/>
          </a:xfrm>
          <a:prstGeom prst="rect">
            <a:avLst/>
          </a:prstGeom>
          <a:noFill/>
        </p:spPr>
        <p:txBody>
          <a:bodyPr wrap="square">
            <a:spAutoFit/>
          </a:bodyPr>
          <a:lstStyle/>
          <a:p>
            <a:pPr>
              <a:defRPr sz="1800">
                <a:solidFill>
                  <a:srgbClr val="FFFFFF"/>
                </a:solidFill>
              </a:defRPr>
            </a:pPr>
            <a:r>
              <a:t>Results aggregate back to main</a:t>
            </a:r>
          </a:p>
        </p:txBody>
      </p:sp>
      <p:sp>
        <p:nvSpPr>
          <p:cNvPr id="40" name="TextBox 39"/>
          <p:cNvSpPr txBox="1"/>
          <p:nvPr/>
        </p:nvSpPr>
        <p:spPr>
          <a:xfrm>
            <a:off x="1371600" y="5303520"/>
            <a:ext cx="457200" cy="457200"/>
          </a:xfrm>
          <a:prstGeom prst="rect">
            <a:avLst/>
          </a:prstGeom>
          <a:noFill/>
        </p:spPr>
        <p:txBody>
          <a:bodyPr wrap="none">
            <a:spAutoFit/>
          </a:bodyPr>
          <a:lstStyle/>
          <a:p>
            <a:pPr>
              <a:defRPr sz="2000" b="1">
                <a:solidFill>
                  <a:srgbClr val="00D4AA"/>
                </a:solidFill>
              </a:defRPr>
            </a:pPr>
            <a:r>
              <a:t>5</a:t>
            </a:r>
          </a:p>
        </p:txBody>
      </p:sp>
      <p:sp>
        <p:nvSpPr>
          <p:cNvPr id="41" name="TextBox 40"/>
          <p:cNvSpPr txBox="1"/>
          <p:nvPr/>
        </p:nvSpPr>
        <p:spPr>
          <a:xfrm>
            <a:off x="1828800" y="5303520"/>
            <a:ext cx="8991295" cy="548640"/>
          </a:xfrm>
          <a:prstGeom prst="rect">
            <a:avLst/>
          </a:prstGeom>
          <a:noFill/>
        </p:spPr>
        <p:txBody>
          <a:bodyPr wrap="square">
            <a:spAutoFit/>
          </a:bodyPr>
          <a:lstStyle/>
          <a:p>
            <a:pPr>
              <a:defRPr sz="1800">
                <a:solidFill>
                  <a:srgbClr val="FFFFFF"/>
                </a:solidFill>
              </a:defRPr>
            </a:pPr>
            <a:r>
              <a:t>Main session synthesizes findings</a:t>
            </a:r>
          </a:p>
        </p:txBody>
      </p:sp>
      <p:sp>
        <p:nvSpPr>
          <p:cNvPr id="42" name="TextBox 41"/>
          <p:cNvSpPr txBox="1"/>
          <p:nvPr/>
        </p:nvSpPr>
        <p:spPr>
          <a:xfrm>
            <a:off x="1371600" y="5943600"/>
            <a:ext cx="457200" cy="457200"/>
          </a:xfrm>
          <a:prstGeom prst="rect">
            <a:avLst/>
          </a:prstGeom>
          <a:noFill/>
        </p:spPr>
        <p:txBody>
          <a:bodyPr wrap="none">
            <a:spAutoFit/>
          </a:bodyPr>
          <a:lstStyle/>
          <a:p>
            <a:pPr>
              <a:defRPr sz="2000" b="1">
                <a:solidFill>
                  <a:srgbClr val="00D4AA"/>
                </a:solidFill>
              </a:defRPr>
            </a:pPr>
            <a:r>
              <a:t>6</a:t>
            </a:r>
          </a:p>
        </p:txBody>
      </p:sp>
      <p:sp>
        <p:nvSpPr>
          <p:cNvPr id="43" name="TextBox 42"/>
          <p:cNvSpPr txBox="1"/>
          <p:nvPr/>
        </p:nvSpPr>
        <p:spPr>
          <a:xfrm>
            <a:off x="1828800" y="5943600"/>
            <a:ext cx="8991295" cy="548640"/>
          </a:xfrm>
          <a:prstGeom prst="rect">
            <a:avLst/>
          </a:prstGeom>
          <a:noFill/>
        </p:spPr>
        <p:txBody>
          <a:bodyPr wrap="square">
            <a:spAutoFit/>
          </a:bodyPr>
          <a:lstStyle/>
          <a:p>
            <a:pPr>
              <a:defRPr sz="1800">
                <a:solidFill>
                  <a:srgbClr val="FFFFFF"/>
                </a:solidFill>
              </a:defRPr>
            </a:pPr>
            <a:r>
              <a:t>Main session takes action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Subagent Best Practices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Use Haiku for simple tasks (10× cheaper, 3× faster)</a:t>
            </a:r>
          </a:p>
          <a:p>
            <a:pPr>
              <a:spcBef>
                <a:spcPts val="800"/>
              </a:spcBef>
              <a:spcAft>
                <a:spcPts val="800"/>
              </a:spcAft>
              <a:defRPr sz="2200">
                <a:solidFill>
                  <a:srgbClr val="FFFFFF"/>
                </a:solidFill>
              </a:defRPr>
            </a:pPr>
            <a:r>
              <a:t>  Use Sonnet for analysis requiring reasoning</a:t>
            </a:r>
          </a:p>
          <a:p>
            <a:pPr>
              <a:spcBef>
                <a:spcPts val="800"/>
              </a:spcBef>
              <a:spcAft>
                <a:spcPts val="800"/>
              </a:spcAft>
              <a:defRPr sz="2200">
                <a:solidFill>
                  <a:srgbClr val="FFFFFF"/>
                </a:solidFill>
              </a:defRPr>
            </a:pPr>
            <a:r>
              <a:t>  Use Opus only when quality is critical</a:t>
            </a:r>
          </a:p>
          <a:p>
            <a:pPr>
              <a:spcBef>
                <a:spcPts val="800"/>
              </a:spcBef>
              <a:spcAft>
                <a:spcPts val="800"/>
              </a:spcAft>
              <a:defRPr sz="2200">
                <a:solidFill>
                  <a:srgbClr val="FFFFFF"/>
                </a:solidFill>
              </a:defRPr>
            </a:pPr>
            <a:r>
              <a:t>  Clear role definition in agent prompt</a:t>
            </a:r>
          </a:p>
          <a:p>
            <a:pPr>
              <a:spcBef>
                <a:spcPts val="800"/>
              </a:spcBef>
              <a:spcAft>
                <a:spcPts val="800"/>
              </a:spcAft>
              <a:defRPr sz="2200">
                <a:solidFill>
                  <a:srgbClr val="FFFFFF"/>
                </a:solidFill>
              </a:defRPr>
            </a:pPr>
            <a:r>
              <a:t>  Specific output format (helps main session parse)</a:t>
            </a:r>
          </a:p>
          <a:p>
            <a:pPr>
              <a:spcBef>
                <a:spcPts val="800"/>
              </a:spcBef>
              <a:spcAft>
                <a:spcPts val="800"/>
              </a:spcAft>
              <a:defRPr sz="2200">
                <a:solidFill>
                  <a:srgbClr val="FFFFFF"/>
                </a:solidFill>
              </a:defRPr>
            </a:pPr>
            <a:r>
              <a:t>  Don't spawn subagents for interactive work</a:t>
            </a:r>
          </a:p>
          <a:p>
            <a:pPr>
              <a:spcBef>
                <a:spcPts val="800"/>
              </a:spcBef>
              <a:spcAft>
                <a:spcPts val="800"/>
              </a:spcAft>
              <a:defRPr sz="2200">
                <a:solidFill>
                  <a:srgbClr val="FFFFFF"/>
                </a:solidFill>
              </a:defRPr>
            </a:pPr>
            <a:r>
              <a:t>  Pattern: Many subagents researching → Main session deciding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Custom Security Auditor Subagent</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Build and invoke @security-auditor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Hooks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Safety guardrails and automation triggers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Are Hooks?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Scripts that run before/after Claude's actions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Hook Events Reference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UserPromptSubmit: User sends prompt (can block)</a:t>
            </a:r>
          </a:p>
          <a:p>
            <a:pPr>
              <a:spcBef>
                <a:spcPts val="800"/>
              </a:spcBef>
              <a:spcAft>
                <a:spcPts val="800"/>
              </a:spcAft>
              <a:defRPr sz="2200">
                <a:solidFill>
                  <a:srgbClr val="FFFFFF"/>
                </a:solidFill>
              </a:defRPr>
            </a:pPr>
            <a:r>
              <a:t>  PreToolUse: Before tool runs (can block) ← Most useful</a:t>
            </a:r>
          </a:p>
          <a:p>
            <a:pPr>
              <a:spcBef>
                <a:spcPts val="800"/>
              </a:spcBef>
              <a:spcAft>
                <a:spcPts val="800"/>
              </a:spcAft>
              <a:defRPr sz="2200">
                <a:solidFill>
                  <a:srgbClr val="FFFFFF"/>
                </a:solidFill>
              </a:defRPr>
            </a:pPr>
            <a:r>
              <a:t>  PostToolUse: After tool completes (for logging) ← Second most useful</a:t>
            </a:r>
          </a:p>
          <a:p>
            <a:pPr>
              <a:spcBef>
                <a:spcPts val="800"/>
              </a:spcBef>
              <a:spcAft>
                <a:spcPts val="800"/>
              </a:spcAft>
              <a:defRPr sz="2200">
                <a:solidFill>
                  <a:srgbClr val="FFFFFF"/>
                </a:solidFill>
              </a:defRPr>
            </a:pPr>
            <a:r>
              <a:t>  SubagentStop: Subagent finishes (can block)</a:t>
            </a:r>
          </a:p>
          <a:p>
            <a:pPr>
              <a:spcBef>
                <a:spcPts val="800"/>
              </a:spcBef>
              <a:spcAft>
                <a:spcPts val="800"/>
              </a:spcAft>
              <a:defRPr sz="2200">
                <a:solidFill>
                  <a:srgbClr val="FFFFFF"/>
                </a:solidFill>
              </a:defRPr>
            </a:pPr>
            <a:r>
              <a:t>  PreCompact / PostCompact: Context management</a:t>
            </a:r>
          </a:p>
          <a:p>
            <a:pPr>
              <a:spcBef>
                <a:spcPts val="800"/>
              </a:spcBef>
              <a:spcAft>
                <a:spcPts val="800"/>
              </a:spcAft>
              <a:defRPr sz="2200">
                <a:solidFill>
                  <a:srgbClr val="FFFFFF"/>
                </a:solidFill>
              </a:defRPr>
            </a:pPr>
            <a:r>
              <a:t>  SessionStart / Shutdown: Lifecycle events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Pre-Tool vs Post-Tool Hooks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Pre-Tool Hooks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Run BEFORE action</a:t>
            </a:r>
          </a:p>
          <a:p>
            <a:pPr>
              <a:spcAft>
                <a:spcPts val="1200"/>
              </a:spcAft>
              <a:defRPr sz="1800">
                <a:solidFill>
                  <a:srgbClr val="FFFFFF"/>
                </a:solidFill>
              </a:defRPr>
            </a:pPr>
            <a:r>
              <a:t>  Can block (exit 2)</a:t>
            </a:r>
          </a:p>
          <a:p>
            <a:pPr>
              <a:spcAft>
                <a:spcPts val="1200"/>
              </a:spcAft>
              <a:defRPr sz="1800">
                <a:solidFill>
                  <a:srgbClr val="FFFFFF"/>
                </a:solidFill>
              </a:defRPr>
            </a:pPr>
            <a:r>
              <a:t>  Validation use cases</a:t>
            </a:r>
          </a:p>
          <a:p>
            <a:pPr>
              <a:spcAft>
                <a:spcPts val="1200"/>
              </a:spcAft>
              <a:defRPr sz="1800">
                <a:solidFill>
                  <a:srgbClr val="FFFFFF"/>
                </a:solidFill>
              </a:defRPr>
            </a:pPr>
            <a:r>
              <a:t>  Security checks</a:t>
            </a:r>
          </a:p>
          <a:p>
            <a:pPr>
              <a:spcAft>
                <a:spcPts val="1200"/>
              </a:spcAft>
              <a:defRPr sz="1800">
                <a:solidFill>
                  <a:srgbClr val="FFFFFF"/>
                </a:solidFill>
              </a:defRPr>
            </a:pPr>
            <a:r>
              <a:t>  Policy enforcement</a:t>
            </a:r>
          </a:p>
          <a:p>
            <a:pPr>
              <a:spcAft>
                <a:spcPts val="1200"/>
              </a:spcAft>
              <a:defRPr sz="1800">
                <a:solidFill>
                  <a:srgbClr val="FFFFFF"/>
                </a:solidFill>
              </a:defRPr>
            </a:pPr>
            <a:r>
              <a:t>  Example: Block secrets in commits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Post-Tool Hooks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Run AFTER action</a:t>
            </a:r>
          </a:p>
          <a:p>
            <a:pPr>
              <a:spcAft>
                <a:spcPts val="1200"/>
              </a:spcAft>
              <a:defRPr sz="1800">
                <a:solidFill>
                  <a:srgbClr val="FFFFFF"/>
                </a:solidFill>
              </a:defRPr>
            </a:pPr>
            <a:r>
              <a:t>  Cannot block</a:t>
            </a:r>
          </a:p>
          <a:p>
            <a:pPr>
              <a:spcAft>
                <a:spcPts val="1200"/>
              </a:spcAft>
              <a:defRPr sz="1800">
                <a:solidFill>
                  <a:srgbClr val="FFFFFF"/>
                </a:solidFill>
              </a:defRPr>
            </a:pPr>
            <a:r>
              <a:t>  Logging use cases</a:t>
            </a:r>
          </a:p>
          <a:p>
            <a:pPr>
              <a:spcAft>
                <a:spcPts val="1200"/>
              </a:spcAft>
              <a:defRPr sz="1800">
                <a:solidFill>
                  <a:srgbClr val="FFFFFF"/>
                </a:solidFill>
              </a:defRPr>
            </a:pPr>
            <a:r>
              <a:t>  Notifications</a:t>
            </a:r>
          </a:p>
          <a:p>
            <a:pPr>
              <a:spcAft>
                <a:spcPts val="1200"/>
              </a:spcAft>
              <a:defRPr sz="1800">
                <a:solidFill>
                  <a:srgbClr val="FFFFFF"/>
                </a:solidFill>
              </a:defRPr>
            </a:pPr>
            <a:r>
              <a:t>  Metrics collection</a:t>
            </a:r>
          </a:p>
          <a:p>
            <a:pPr>
              <a:spcAft>
                <a:spcPts val="1200"/>
              </a:spcAft>
              <a:defRPr sz="1800">
                <a:solidFill>
                  <a:srgbClr val="FFFFFF"/>
                </a:solidFill>
              </a:defRPr>
            </a:pPr>
            <a:r>
              <a:t>  Example: Audit log all changes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Hook Directory Structure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Layout</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my-project/</a:t>
            </a:r>
          </a:p>
          <a:p>
            <a:pPr>
              <a:spcAft>
                <a:spcPts val="1200"/>
              </a:spcAft>
              <a:defRPr sz="1800">
                <a:solidFill>
                  <a:srgbClr val="FFFFFF"/>
                </a:solidFill>
              </a:defRPr>
            </a:pPr>
            <a:r>
              <a:t>    .claude/</a:t>
            </a:r>
          </a:p>
          <a:p>
            <a:pPr>
              <a:spcAft>
                <a:spcPts val="1200"/>
              </a:spcAft>
              <a:defRPr sz="1800">
                <a:solidFill>
                  <a:srgbClr val="FFFFFF"/>
                </a:solidFill>
              </a:defRPr>
            </a:pPr>
            <a:r>
              <a:t>      hooks/</a:t>
            </a:r>
          </a:p>
          <a:p>
            <a:pPr>
              <a:spcAft>
                <a:spcPts val="1200"/>
              </a:spcAft>
              <a:defRPr sz="1800">
                <a:solidFill>
                  <a:srgbClr val="FFFFFF"/>
                </a:solidFill>
              </a:defRPr>
            </a:pPr>
            <a:r>
              <a:t>        pre-tool/</a:t>
            </a:r>
          </a:p>
          <a:p>
            <a:pPr>
              <a:spcAft>
                <a:spcPts val="1200"/>
              </a:spcAft>
              <a:defRPr sz="1800">
                <a:solidFill>
                  <a:srgbClr val="FFFFFF"/>
                </a:solidFill>
              </a:defRPr>
            </a:pPr>
            <a:r>
              <a:t>          no-secrets.sh</a:t>
            </a:r>
          </a:p>
          <a:p>
            <a:pPr>
              <a:spcAft>
                <a:spcPts val="1200"/>
              </a:spcAft>
              <a:defRPr sz="1800">
                <a:solidFill>
                  <a:srgbClr val="FFFFFF"/>
                </a:solidFill>
              </a:defRPr>
            </a:pPr>
            <a:r>
              <a:t>          safe-commands.sh</a:t>
            </a:r>
          </a:p>
          <a:p>
            <a:pPr>
              <a:spcAft>
                <a:spcPts val="1200"/>
              </a:spcAft>
              <a:defRPr sz="1800">
                <a:solidFill>
                  <a:srgbClr val="FFFFFF"/>
                </a:solidFill>
              </a:defRPr>
            </a:pPr>
            <a:r>
              <a:t>        post-tool/</a:t>
            </a:r>
          </a:p>
          <a:p>
            <a:pPr>
              <a:spcAft>
                <a:spcPts val="1200"/>
              </a:spcAft>
              <a:defRPr sz="1800">
                <a:solidFill>
                  <a:srgbClr val="FFFFFF"/>
                </a:solidFill>
              </a:defRPr>
            </a:pPr>
            <a:r>
              <a:t>          audit-log.js</a:t>
            </a:r>
          </a:p>
          <a:p>
            <a:pPr>
              <a:spcAft>
                <a:spcPts val="1200"/>
              </a:spcAft>
              <a:defRPr sz="1800">
                <a:solidFill>
                  <a:srgbClr val="FFFFFF"/>
                </a:solidFill>
              </a:defRPr>
            </a:pPr>
            <a:r>
              <a:t>          notify.py</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10B981"/>
                </a:solidFill>
              </a:defRPr>
            </a:pPr>
            <a:r>
              <a:t>Execution</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All pre-tool hooks run before action</a:t>
            </a:r>
          </a:p>
          <a:p>
            <a:pPr>
              <a:spcAft>
                <a:spcPts val="1200"/>
              </a:spcAft>
              <a:defRPr sz="1800">
                <a:solidFill>
                  <a:srgbClr val="FFFFFF"/>
                </a:solidFill>
              </a:defRPr>
            </a:pPr>
            <a:r>
              <a:t>  If ANY exits 2, action blocked</a:t>
            </a:r>
          </a:p>
          <a:p>
            <a:pPr>
              <a:spcAft>
                <a:spcPts val="1200"/>
              </a:spcAft>
              <a:defRPr sz="1800">
                <a:solidFill>
                  <a:srgbClr val="FFFFFF"/>
                </a:solidFill>
              </a:defRPr>
            </a:pPr>
            <a:r>
              <a:t>  All post-tool hooks run after</a:t>
            </a:r>
          </a:p>
          <a:p>
            <a:pPr>
              <a:spcAft>
                <a:spcPts val="1200"/>
              </a:spcAft>
              <a:defRPr sz="1800">
                <a:solidFill>
                  <a:srgbClr val="FFFFFF"/>
                </a:solidFill>
              </a:defRPr>
            </a:pPr>
            <a:r>
              <a:t>  Hooks get env vars with context</a:t>
            </a:r>
          </a:p>
          <a:p>
            <a:pPr>
              <a:spcAft>
                <a:spcPts val="1200"/>
              </a:spcAft>
              <a:defRPr sz="1800">
                <a:solidFill>
                  <a:srgbClr val="FFFFFF"/>
                </a:solidFill>
              </a:defRPr>
            </a:pPr>
            <a:r>
              <a:t>  Output goes to Claude's context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Hook Environment Variables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BASH</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#!/bin/bash</a:t>
            </a:r>
            <a:br/>
            <a:r>
              <a:t># Environment variables available to hooks:</a:t>
            </a:r>
            <a:br/>
            <a:br/>
            <a:r>
              <a:t>echo "Tool: $CLAUDE_TOOL"              # Bash, Write, Edit, etc.</a:t>
            </a:r>
            <a:br/>
            <a:r>
              <a:t>echo "Input: $CLAUDE_TOOL_INPUT"       # JSON of tool parameters</a:t>
            </a:r>
            <a:br/>
            <a:r>
              <a:t>echo "Session: $CLAUDE_SESSION_ID"     # Current session ID</a:t>
            </a:r>
            <a:br/>
            <a:r>
              <a:t>echo "Hook Data: $CLAUDE_HOOK_DATA"    # Full hook context (JSON)</a:t>
            </a:r>
            <a:b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Example: Secret Detection Hook</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BASH</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#!/bin/bash</a:t>
            </a:r>
            <a:br/>
            <a:r>
              <a:t># Block commits containing hardcoded secrets</a:t>
            </a:r>
            <a:br/>
            <a:br/>
            <a:r>
              <a:t>if [ "$CLAUDE_TOOL" = "Bash" ]; then</a:t>
            </a:r>
            <a:br/>
            <a:r>
              <a:t>  if echo "$CLAUDE_TOOL_INPUT" | grep -q "git commit"; then</a:t>
            </a:r>
            <a:br/>
            <a:r>
              <a:t>    </a:t>
            </a:r>
            <a:br/>
            <a:r>
              <a:t>    # Check staged files for secret patterns</a:t>
            </a:r>
            <a:br/>
            <a:r>
              <a:t>    PATTERNS='(api[_-]?key|password|secret|token)\s*[:=]\s*["\x27]'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Example: Audit Log Hook</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JAVASCRIPT</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#!/usr/bin/env node</a:t>
            </a:r>
            <a:br/>
            <a:r>
              <a:t>// Log all file modifications for compliance</a:t>
            </a:r>
            <a:br/>
            <a:br/>
            <a:r>
              <a:t>const fs = require('fs');</a:t>
            </a:r>
            <a:br/>
            <a:r>
              <a:t>const hookData = JSON.parse(process.env.CLAUDE_HOOK_DATA || '{}');</a:t>
            </a:r>
            <a:br/>
            <a:br/>
            <a:r>
              <a:t>const MODIFYING_TOOLS = ['Write', 'Edit', 'Bash'];</a:t>
            </a:r>
            <a:b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Hook Best Practices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Keep hooks FAST (&lt;1 second) - they run synchronously</a:t>
            </a:r>
          </a:p>
          <a:p>
            <a:pPr>
              <a:spcBef>
                <a:spcPts val="800"/>
              </a:spcBef>
              <a:spcAft>
                <a:spcPts val="800"/>
              </a:spcAft>
              <a:defRPr sz="2200">
                <a:solidFill>
                  <a:srgbClr val="FFFFFF"/>
                </a:solidFill>
              </a:defRPr>
            </a:pPr>
            <a:r>
              <a:t>  Use stderr for debug (stdout goes to Claude's context)</a:t>
            </a:r>
          </a:p>
          <a:p>
            <a:pPr>
              <a:spcBef>
                <a:spcPts val="800"/>
              </a:spcBef>
              <a:spcAft>
                <a:spcPts val="800"/>
              </a:spcAft>
              <a:defRPr sz="2200">
                <a:solidFill>
                  <a:srgbClr val="FFFFFF"/>
                </a:solidFill>
              </a:defRPr>
            </a:pPr>
            <a:r>
              <a:t>  Fail safely: Exit 0 on errors unless you want to block everything</a:t>
            </a:r>
          </a:p>
          <a:p>
            <a:pPr>
              <a:spcBef>
                <a:spcPts val="800"/>
              </a:spcBef>
              <a:spcAft>
                <a:spcPts val="800"/>
              </a:spcAft>
              <a:defRPr sz="2200">
                <a:solidFill>
                  <a:srgbClr val="FFFFFF"/>
                </a:solidFill>
              </a:defRPr>
            </a:pPr>
            <a:r>
              <a:t>  Test thoroughly: Buggy hooks break your workflow</a:t>
            </a:r>
          </a:p>
          <a:p>
            <a:pPr>
              <a:spcBef>
                <a:spcPts val="800"/>
              </a:spcBef>
              <a:spcAft>
                <a:spcPts val="800"/>
              </a:spcAft>
              <a:defRPr sz="2200">
                <a:solidFill>
                  <a:srgbClr val="FFFFFF"/>
                </a:solidFill>
              </a:defRPr>
            </a:pPr>
            <a:r>
              <a:t>  Log hook activity for debugging</a:t>
            </a:r>
          </a:p>
          <a:p>
            <a:pPr>
              <a:spcBef>
                <a:spcPts val="800"/>
              </a:spcBef>
              <a:spcAft>
                <a:spcPts val="800"/>
              </a:spcAft>
              <a:defRPr sz="2200">
                <a:solidFill>
                  <a:srgbClr val="FFFFFF"/>
                </a:solidFill>
              </a:defRPr>
            </a:pPr>
            <a:r>
              <a:t>  Version control hooks with your project</a:t>
            </a:r>
          </a:p>
          <a:p>
            <a:pPr>
              <a:spcBef>
                <a:spcPts val="800"/>
              </a:spcBef>
              <a:spcAft>
                <a:spcPts val="800"/>
              </a:spcAft>
              <a:defRPr sz="2200">
                <a:solidFill>
                  <a:srgbClr val="FFFFFF"/>
                </a:solidFill>
              </a:defRPr>
            </a:pPr>
            <a:r>
              <a:t>  Document hook behavior in team README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Secret Detection Hook in Action</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Live hook blocking a commit with secrets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Break</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15 minutes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Plan Mode &amp; Thinking Levels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Controlling Claude's reasoning process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is Plan Mode?</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Review Claude's plan before execution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When to Use Plan Mode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Use Plan Mode For</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Large multi-file refactors</a:t>
            </a:r>
          </a:p>
          <a:p>
            <a:pPr>
              <a:spcAft>
                <a:spcPts val="1200"/>
              </a:spcAft>
              <a:defRPr sz="1800">
                <a:solidFill>
                  <a:srgbClr val="FFFFFF"/>
                </a:solidFill>
              </a:defRPr>
            </a:pPr>
            <a:r>
              <a:t>  Complex migrations</a:t>
            </a:r>
          </a:p>
          <a:p>
            <a:pPr>
              <a:spcAft>
                <a:spcPts val="1200"/>
              </a:spcAft>
              <a:defRPr sz="1800">
                <a:solidFill>
                  <a:srgbClr val="FFFFFF"/>
                </a:solidFill>
              </a:defRPr>
            </a:pPr>
            <a:r>
              <a:t>  Risky operations</a:t>
            </a:r>
          </a:p>
          <a:p>
            <a:pPr>
              <a:spcAft>
                <a:spcPts val="1200"/>
              </a:spcAft>
              <a:defRPr sz="1800">
                <a:solidFill>
                  <a:srgbClr val="FFFFFF"/>
                </a:solidFill>
              </a:defRPr>
            </a:pPr>
            <a:r>
              <a:t>  Expensive tasks</a:t>
            </a:r>
          </a:p>
          <a:p>
            <a:pPr>
              <a:spcAft>
                <a:spcPts val="1200"/>
              </a:spcAft>
              <a:defRPr sz="1800">
                <a:solidFill>
                  <a:srgbClr val="FFFFFF"/>
                </a:solidFill>
              </a:defRPr>
            </a:pPr>
            <a:r>
              <a:t>  Learning/exploration</a:t>
            </a:r>
          </a:p>
          <a:p>
            <a:pPr>
              <a:spcAft>
                <a:spcPts val="1200"/>
              </a:spcAft>
              <a:defRPr sz="1800">
                <a:solidFill>
                  <a:srgbClr val="FFFFFF"/>
                </a:solidFill>
              </a:defRPr>
            </a:pPr>
            <a:r>
              <a:t>  First time with new codebase</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8B95A5"/>
                </a:solidFill>
              </a:defRPr>
            </a:pPr>
            <a:r>
              <a:t>Skip Plan Mode For</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Simple, obvious tasks</a:t>
            </a:r>
          </a:p>
          <a:p>
            <a:pPr>
              <a:spcAft>
                <a:spcPts val="1200"/>
              </a:spcAft>
              <a:defRPr sz="1800">
                <a:solidFill>
                  <a:srgbClr val="FFFFFF"/>
                </a:solidFill>
              </a:defRPr>
            </a:pPr>
            <a:r>
              <a:t>  Single file changes</a:t>
            </a:r>
          </a:p>
          <a:p>
            <a:pPr>
              <a:spcAft>
                <a:spcPts val="1200"/>
              </a:spcAft>
              <a:defRPr sz="1800">
                <a:solidFill>
                  <a:srgbClr val="FFFFFF"/>
                </a:solidFill>
              </a:defRPr>
            </a:pPr>
            <a:r>
              <a:t>  Low-risk operations</a:t>
            </a:r>
          </a:p>
          <a:p>
            <a:pPr>
              <a:spcAft>
                <a:spcPts val="1200"/>
              </a:spcAft>
              <a:defRPr sz="1800">
                <a:solidFill>
                  <a:srgbClr val="FFFFFF"/>
                </a:solidFill>
              </a:defRPr>
            </a:pPr>
            <a:r>
              <a:t>  Speed critical</a:t>
            </a:r>
          </a:p>
          <a:p>
            <a:pPr>
              <a:spcAft>
                <a:spcPts val="1200"/>
              </a:spcAft>
              <a:defRPr sz="1800">
                <a:solidFill>
                  <a:srgbClr val="FFFFFF"/>
                </a:solidFill>
              </a:defRPr>
            </a:pPr>
            <a:r>
              <a:t>  Trusted patterns</a:t>
            </a:r>
          </a:p>
          <a:p>
            <a:pPr>
              <a:spcAft>
                <a:spcPts val="1200"/>
              </a:spcAft>
              <a:defRPr sz="1800">
                <a:solidFill>
                  <a:srgbClr val="FFFFFF"/>
                </a:solidFill>
              </a:defRPr>
            </a:pPr>
            <a:r>
              <a:t>  Iterative refinement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Thinking Levels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Speed vs Quality vs Cost tradeoffs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Thinking Levels Comparison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10B981"/>
                </a:solidFill>
              </a:defRPr>
            </a:pPr>
            <a:r>
              <a:t>OFF / LOW</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Fast responses (seconds)</a:t>
            </a:r>
          </a:p>
          <a:p>
            <a:pPr>
              <a:spcAft>
                <a:spcPts val="1200"/>
              </a:spcAft>
              <a:defRPr sz="1800">
                <a:solidFill>
                  <a:srgbClr val="FFFFFF"/>
                </a:solidFill>
              </a:defRPr>
            </a:pPr>
            <a:r>
              <a:t>  Lower token cost</a:t>
            </a:r>
          </a:p>
          <a:p>
            <a:pPr>
              <a:spcAft>
                <a:spcPts val="1200"/>
              </a:spcAft>
              <a:defRPr sz="1800">
                <a:solidFill>
                  <a:srgbClr val="FFFFFF"/>
                </a:solidFill>
              </a:defRPr>
            </a:pPr>
            <a:r>
              <a:t>  Good for routine tasks</a:t>
            </a:r>
          </a:p>
          <a:p>
            <a:pPr>
              <a:spcAft>
                <a:spcPts val="1200"/>
              </a:spcAft>
              <a:defRPr sz="1800">
                <a:solidFill>
                  <a:srgbClr val="FFFFFF"/>
                </a:solidFill>
              </a:defRPr>
            </a:pPr>
            <a:r>
              <a:t>  Simple prompts</a:t>
            </a:r>
          </a:p>
          <a:p>
            <a:pPr>
              <a:spcAft>
                <a:spcPts val="1200"/>
              </a:spcAft>
              <a:defRPr sz="1800">
                <a:solidFill>
                  <a:srgbClr val="FFFFFF"/>
                </a:solidFill>
              </a:defRPr>
            </a:pPr>
            <a:r>
              <a:t>  Iterative work</a:t>
            </a:r>
          </a:p>
          <a:p>
            <a:pPr>
              <a:spcAft>
                <a:spcPts val="1200"/>
              </a:spcAft>
              <a:defRPr sz="1800">
                <a:solidFill>
                  <a:srgbClr val="FFFFFF"/>
                </a:solidFill>
              </a:defRPr>
            </a:pPr>
            <a:r>
              <a:t>  Use: 80% of daily coding</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MEDIUM / HIGH</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Slower responses (30+ sec)</a:t>
            </a:r>
          </a:p>
          <a:p>
            <a:pPr>
              <a:spcAft>
                <a:spcPts val="1200"/>
              </a:spcAft>
              <a:defRPr sz="1800">
                <a:solidFill>
                  <a:srgbClr val="FFFFFF"/>
                </a:solidFill>
              </a:defRPr>
            </a:pPr>
            <a:r>
              <a:t>  Higher token cost</a:t>
            </a:r>
          </a:p>
          <a:p>
            <a:pPr>
              <a:spcAft>
                <a:spcPts val="1200"/>
              </a:spcAft>
              <a:defRPr sz="1800">
                <a:solidFill>
                  <a:srgbClr val="FFFFFF"/>
                </a:solidFill>
              </a:defRPr>
            </a:pPr>
            <a:r>
              <a:t>  Better quality output</a:t>
            </a:r>
          </a:p>
          <a:p>
            <a:pPr>
              <a:spcAft>
                <a:spcPts val="1200"/>
              </a:spcAft>
              <a:defRPr sz="1800">
                <a:solidFill>
                  <a:srgbClr val="FFFFFF"/>
                </a:solidFill>
              </a:defRPr>
            </a:pPr>
            <a:r>
              <a:t>  Shows reasoning</a:t>
            </a:r>
          </a:p>
          <a:p>
            <a:pPr>
              <a:spcAft>
                <a:spcPts val="1200"/>
              </a:spcAft>
              <a:defRPr sz="1800">
                <a:solidFill>
                  <a:srgbClr val="FFFFFF"/>
                </a:solidFill>
              </a:defRPr>
            </a:pPr>
            <a:r>
              <a:t>  Complex problems</a:t>
            </a:r>
          </a:p>
          <a:p>
            <a:pPr>
              <a:spcAft>
                <a:spcPts val="1200"/>
              </a:spcAft>
              <a:defRPr sz="1800">
                <a:solidFill>
                  <a:srgbClr val="FFFFFF"/>
                </a:solidFill>
              </a:defRPr>
            </a:pPr>
            <a:r>
              <a:t>  Use: Critical decisions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Setting Thinking Levels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Session-wide: /thinking low|medium|high|off</a:t>
            </a:r>
          </a:p>
          <a:p>
            <a:pPr>
              <a:spcBef>
                <a:spcPts val="800"/>
              </a:spcBef>
              <a:spcAft>
                <a:spcPts val="800"/>
              </a:spcAft>
              <a:defRPr sz="2200">
                <a:solidFill>
                  <a:srgbClr val="FFFFFF"/>
                </a:solidFill>
              </a:defRPr>
            </a:pPr>
            <a:r>
              <a:t>  Per-request: 'Use high thinking for this complex refactor'</a:t>
            </a:r>
          </a:p>
          <a:p>
            <a:pPr>
              <a:spcBef>
                <a:spcPts val="800"/>
              </a:spcBef>
              <a:spcAft>
                <a:spcPts val="800"/>
              </a:spcAft>
              <a:defRPr sz="2200">
                <a:solidFill>
                  <a:srgbClr val="FFFFFF"/>
                </a:solidFill>
              </a:defRPr>
            </a:pPr>
            <a:r>
              <a:t>  In CLAUDE.md: default_thinking_level: medium</a:t>
            </a:r>
          </a:p>
          <a:p>
            <a:pPr>
              <a:spcBef>
                <a:spcPts val="800"/>
              </a:spcBef>
              <a:spcAft>
                <a:spcPts val="800"/>
              </a:spcAft>
              <a:defRPr sz="2200">
                <a:solidFill>
                  <a:srgbClr val="FFFFFF"/>
                </a:solidFill>
              </a:defRPr>
            </a:pPr>
            <a:r>
              <a:t>  CLI flag: claude --thinking high</a:t>
            </a:r>
          </a:p>
          <a:p>
            <a:pPr>
              <a:spcBef>
                <a:spcPts val="800"/>
              </a:spcBef>
              <a:spcAft>
                <a:spcPts val="800"/>
              </a:spcAft>
              <a:defRPr sz="2200">
                <a:solidFill>
                  <a:srgbClr val="FFFFFF"/>
                </a:solidFill>
              </a:defRPr>
            </a:pPr>
            <a:r>
              <a:t>  High thinking shows reasoning in separate panel</a:t>
            </a:r>
          </a:p>
          <a:p>
            <a:pPr>
              <a:spcBef>
                <a:spcPts val="800"/>
              </a:spcBef>
              <a:spcAft>
                <a:spcPts val="800"/>
              </a:spcAft>
              <a:defRPr sz="2200">
                <a:solidFill>
                  <a:srgbClr val="FFFFFF"/>
                </a:solidFill>
              </a:defRPr>
            </a:pPr>
            <a:r>
              <a:t>  Can change mid-conversation as needs change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Combining Plan Mode + High Thinking</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Ultimate quality: plan mode + high thinking</a:t>
            </a:r>
          </a:p>
          <a:p>
            <a:pPr>
              <a:spcBef>
                <a:spcPts val="800"/>
              </a:spcBef>
              <a:spcAft>
                <a:spcPts val="800"/>
              </a:spcAft>
              <a:defRPr sz="2200">
                <a:solidFill>
                  <a:srgbClr val="FFFFFF"/>
                </a:solidFill>
              </a:defRPr>
            </a:pPr>
            <a:r>
              <a:t>  Claude plans deeply, shows reasoning, waits for approval</a:t>
            </a:r>
          </a:p>
          <a:p>
            <a:pPr>
              <a:spcBef>
                <a:spcPts val="800"/>
              </a:spcBef>
              <a:spcAft>
                <a:spcPts val="800"/>
              </a:spcAft>
              <a:defRPr sz="2200">
                <a:solidFill>
                  <a:srgbClr val="FFFFFF"/>
                </a:solidFill>
              </a:defRPr>
            </a:pPr>
            <a:r>
              <a:t>  Perfect for: Critical refactors, architecture decisions, migrations</a:t>
            </a:r>
          </a:p>
          <a:p>
            <a:pPr>
              <a:spcBef>
                <a:spcPts val="800"/>
              </a:spcBef>
              <a:spcAft>
                <a:spcPts val="800"/>
              </a:spcAft>
              <a:defRPr sz="2200">
                <a:solidFill>
                  <a:srgbClr val="FFFFFF"/>
                </a:solidFill>
              </a:defRPr>
            </a:pPr>
            <a:r>
              <a:t>  Cost: Highest (but worth it for important work)</a:t>
            </a:r>
          </a:p>
          <a:p>
            <a:pPr>
              <a:spcBef>
                <a:spcPts val="800"/>
              </a:spcBef>
              <a:spcAft>
                <a:spcPts val="800"/>
              </a:spcAft>
              <a:defRPr sz="2200">
                <a:solidFill>
                  <a:srgbClr val="FFFFFF"/>
                </a:solidFill>
              </a:defRPr>
            </a:pPr>
            <a:r>
              <a:t>  Time: Slowest (but prevents expensive mistakes)</a:t>
            </a:r>
          </a:p>
          <a:p>
            <a:pPr>
              <a:spcBef>
                <a:spcPts val="800"/>
              </a:spcBef>
              <a:spcAft>
                <a:spcPts val="800"/>
              </a:spcAft>
              <a:defRPr sz="2200">
                <a:solidFill>
                  <a:srgbClr val="FFFFFF"/>
                </a:solidFill>
              </a:defRPr>
            </a:pPr>
            <a:r>
              <a:t>  Use sparingly: 1-2% of tasks, save for what matters most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Plan Mode + Thinking Levels</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Complex refactor with review-before-execute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Lab 1: Custom Commands &amp; Hooks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45 minutes hands-on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457200" y="365760"/>
            <a:ext cx="1097280" cy="45720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29768"/>
            <a:ext cx="1097280" cy="365760"/>
          </a:xfrm>
          <a:prstGeom prst="rect">
            <a:avLst/>
          </a:prstGeom>
          <a:noFill/>
        </p:spPr>
        <p:txBody>
          <a:bodyPr wrap="none">
            <a:spAutoFit/>
          </a:bodyPr>
          <a:lstStyle/>
          <a:p>
            <a:pPr algn="ctr">
              <a:defRPr sz="1800" b="1">
                <a:solidFill>
                  <a:srgbClr val="0B0F1A"/>
                </a:solidFill>
              </a:defRPr>
            </a:pPr>
            <a:r>
              <a:t>LAB</a:t>
            </a:r>
          </a:p>
        </p:txBody>
      </p:sp>
      <p:sp>
        <p:nvSpPr>
          <p:cNvPr id="4" name="Rounded Rectangle 3"/>
          <p:cNvSpPr/>
          <p:nvPr/>
        </p:nvSpPr>
        <p:spPr>
          <a:xfrm>
            <a:off x="10362895" y="365760"/>
            <a:ext cx="1371600" cy="457200"/>
          </a:xfrm>
          <a:prstGeom prst="roundRect">
            <a:avLst/>
          </a:prstGeom>
          <a:solidFill>
            <a:srgbClr val="141A26"/>
          </a:solidFill>
          <a:ln>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62895" y="429768"/>
            <a:ext cx="1371600" cy="365760"/>
          </a:xfrm>
          <a:prstGeom prst="rect">
            <a:avLst/>
          </a:prstGeom>
          <a:noFill/>
        </p:spPr>
        <p:txBody>
          <a:bodyPr wrap="none">
            <a:spAutoFit/>
          </a:bodyPr>
          <a:lstStyle/>
          <a:p>
            <a:pPr algn="ctr">
              <a:defRPr sz="1400" b="1">
                <a:solidFill>
                  <a:srgbClr val="00D4AA"/>
                </a:solidFill>
              </a:defRPr>
            </a:pPr>
            <a:r>
              <a:t>5 minutes</a:t>
            </a:r>
          </a:p>
        </p:txBody>
      </p:sp>
      <p:sp>
        <p:nvSpPr>
          <p:cNvPr id="6" name="TextBox 5"/>
          <p:cNvSpPr txBox="1"/>
          <p:nvPr/>
        </p:nvSpPr>
        <p:spPr>
          <a:xfrm>
            <a:off x="457200" y="1005840"/>
            <a:ext cx="11277295" cy="731520"/>
          </a:xfrm>
          <a:prstGeom prst="rect">
            <a:avLst/>
          </a:prstGeom>
          <a:noFill/>
        </p:spPr>
        <p:txBody>
          <a:bodyPr wrap="none">
            <a:spAutoFit/>
          </a:bodyPr>
          <a:lstStyle/>
          <a:p>
            <a:pPr>
              <a:defRPr sz="3200" b="1">
                <a:solidFill>
                  <a:srgbClr val="FFFFFF"/>
                </a:solidFill>
              </a:defRPr>
            </a:pPr>
            <a:r>
              <a:t>Lab 1 Objectives</a:t>
            </a:r>
          </a:p>
        </p:txBody>
      </p:sp>
      <p:sp>
        <p:nvSpPr>
          <p:cNvPr id="7" name="Rectangle 6"/>
          <p:cNvSpPr/>
          <p:nvPr/>
        </p:nvSpPr>
        <p:spPr>
          <a:xfrm>
            <a:off x="457200" y="1737360"/>
            <a:ext cx="27432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57200" y="2011680"/>
            <a:ext cx="457200" cy="4572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11680"/>
            <a:ext cx="457200" cy="457200"/>
          </a:xfrm>
          <a:prstGeom prst="rect">
            <a:avLst/>
          </a:prstGeom>
          <a:noFill/>
        </p:spPr>
        <p:txBody>
          <a:bodyPr wrap="none" anchor="ctr">
            <a:spAutoFit/>
          </a:bodyPr>
          <a:lstStyle/>
          <a:p>
            <a:pPr algn="ctr">
              <a:defRPr sz="1800" b="1">
                <a:solidFill>
                  <a:srgbClr val="0B0F1A"/>
                </a:solidFill>
              </a:defRPr>
            </a:pPr>
            <a:r>
              <a:t>1</a:t>
            </a:r>
          </a:p>
        </p:txBody>
      </p:sp>
      <p:sp>
        <p:nvSpPr>
          <p:cNvPr id="10" name="TextBox 9"/>
          <p:cNvSpPr txBox="1"/>
          <p:nvPr/>
        </p:nvSpPr>
        <p:spPr>
          <a:xfrm>
            <a:off x="1097280" y="2084832"/>
            <a:ext cx="10637215" cy="640080"/>
          </a:xfrm>
          <a:prstGeom prst="rect">
            <a:avLst/>
          </a:prstGeom>
          <a:noFill/>
        </p:spPr>
        <p:txBody>
          <a:bodyPr wrap="square">
            <a:normAutofit/>
          </a:bodyPr>
          <a:lstStyle/>
          <a:p>
            <a:pPr>
              <a:defRPr sz="1800">
                <a:solidFill>
                  <a:srgbClr val="FFFFFF"/>
                </a:solidFill>
              </a:defRPr>
            </a:pPr>
            <a:r>
              <a:t>Create 3 custom commands: /api-doc, /test-this, /explain-like-5</a:t>
            </a:r>
          </a:p>
        </p:txBody>
      </p:sp>
      <p:sp>
        <p:nvSpPr>
          <p:cNvPr id="11" name="Oval 10"/>
          <p:cNvSpPr/>
          <p:nvPr/>
        </p:nvSpPr>
        <p:spPr>
          <a:xfrm>
            <a:off x="457200" y="2788920"/>
            <a:ext cx="457200" cy="4572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788920"/>
            <a:ext cx="457200" cy="457200"/>
          </a:xfrm>
          <a:prstGeom prst="rect">
            <a:avLst/>
          </a:prstGeom>
          <a:noFill/>
        </p:spPr>
        <p:txBody>
          <a:bodyPr wrap="none" anchor="ctr">
            <a:spAutoFit/>
          </a:bodyPr>
          <a:lstStyle/>
          <a:p>
            <a:pPr algn="ctr">
              <a:defRPr sz="1800" b="1">
                <a:solidFill>
                  <a:srgbClr val="0B0F1A"/>
                </a:solidFill>
              </a:defRPr>
            </a:pPr>
            <a:r>
              <a:t>2</a:t>
            </a:r>
          </a:p>
        </p:txBody>
      </p:sp>
      <p:sp>
        <p:nvSpPr>
          <p:cNvPr id="13" name="TextBox 12"/>
          <p:cNvSpPr txBox="1"/>
          <p:nvPr/>
        </p:nvSpPr>
        <p:spPr>
          <a:xfrm>
            <a:off x="1097280" y="2862072"/>
            <a:ext cx="10637215" cy="640080"/>
          </a:xfrm>
          <a:prstGeom prst="rect">
            <a:avLst/>
          </a:prstGeom>
          <a:noFill/>
        </p:spPr>
        <p:txBody>
          <a:bodyPr wrap="square">
            <a:normAutofit/>
          </a:bodyPr>
          <a:lstStyle/>
          <a:p>
            <a:pPr>
              <a:defRPr sz="1800">
                <a:solidFill>
                  <a:srgbClr val="FFFFFF"/>
                </a:solidFill>
              </a:defRPr>
            </a:pPr>
            <a:r>
              <a:t>Implement pre-tool hook to block secrets in commits</a:t>
            </a:r>
          </a:p>
        </p:txBody>
      </p:sp>
      <p:sp>
        <p:nvSpPr>
          <p:cNvPr id="14" name="Oval 13"/>
          <p:cNvSpPr/>
          <p:nvPr/>
        </p:nvSpPr>
        <p:spPr>
          <a:xfrm>
            <a:off x="457200" y="3566160"/>
            <a:ext cx="457200" cy="4572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566160"/>
            <a:ext cx="457200" cy="457200"/>
          </a:xfrm>
          <a:prstGeom prst="rect">
            <a:avLst/>
          </a:prstGeom>
          <a:noFill/>
        </p:spPr>
        <p:txBody>
          <a:bodyPr wrap="none" anchor="ctr">
            <a:spAutoFit/>
          </a:bodyPr>
          <a:lstStyle/>
          <a:p>
            <a:pPr algn="ctr">
              <a:defRPr sz="1800" b="1">
                <a:solidFill>
                  <a:srgbClr val="0B0F1A"/>
                </a:solidFill>
              </a:defRPr>
            </a:pPr>
            <a:r>
              <a:t>3</a:t>
            </a:r>
          </a:p>
        </p:txBody>
      </p:sp>
      <p:sp>
        <p:nvSpPr>
          <p:cNvPr id="16" name="TextBox 15"/>
          <p:cNvSpPr txBox="1"/>
          <p:nvPr/>
        </p:nvSpPr>
        <p:spPr>
          <a:xfrm>
            <a:off x="1097280" y="3639312"/>
            <a:ext cx="10637215" cy="640080"/>
          </a:xfrm>
          <a:prstGeom prst="rect">
            <a:avLst/>
          </a:prstGeom>
          <a:noFill/>
        </p:spPr>
        <p:txBody>
          <a:bodyPr wrap="square">
            <a:normAutofit/>
          </a:bodyPr>
          <a:lstStyle/>
          <a:p>
            <a:pPr>
              <a:defRPr sz="1800">
                <a:solidFill>
                  <a:srgbClr val="FFFFFF"/>
                </a:solidFill>
              </a:defRPr>
            </a:pPr>
            <a:r>
              <a:t>Implement post-tool hook for audit logging</a:t>
            </a:r>
          </a:p>
        </p:txBody>
      </p:sp>
      <p:sp>
        <p:nvSpPr>
          <p:cNvPr id="17" name="Oval 16"/>
          <p:cNvSpPr/>
          <p:nvPr/>
        </p:nvSpPr>
        <p:spPr>
          <a:xfrm>
            <a:off x="457200" y="4343400"/>
            <a:ext cx="457200" cy="4572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343400"/>
            <a:ext cx="457200" cy="457200"/>
          </a:xfrm>
          <a:prstGeom prst="rect">
            <a:avLst/>
          </a:prstGeom>
          <a:noFill/>
        </p:spPr>
        <p:txBody>
          <a:bodyPr wrap="none" anchor="ctr">
            <a:spAutoFit/>
          </a:bodyPr>
          <a:lstStyle/>
          <a:p>
            <a:pPr algn="ctr">
              <a:defRPr sz="1800" b="1">
                <a:solidFill>
                  <a:srgbClr val="0B0F1A"/>
                </a:solidFill>
              </a:defRPr>
            </a:pPr>
            <a:r>
              <a:t>4</a:t>
            </a:r>
          </a:p>
        </p:txBody>
      </p:sp>
      <p:sp>
        <p:nvSpPr>
          <p:cNvPr id="19" name="TextBox 18"/>
          <p:cNvSpPr txBox="1"/>
          <p:nvPr/>
        </p:nvSpPr>
        <p:spPr>
          <a:xfrm>
            <a:off x="1097280" y="4416552"/>
            <a:ext cx="10637215" cy="640080"/>
          </a:xfrm>
          <a:prstGeom prst="rect">
            <a:avLst/>
          </a:prstGeom>
          <a:noFill/>
        </p:spPr>
        <p:txBody>
          <a:bodyPr wrap="square">
            <a:normAutofit/>
          </a:bodyPr>
          <a:lstStyle/>
          <a:p>
            <a:pPr>
              <a:defRPr sz="1800">
                <a:solidFill>
                  <a:srgbClr val="FFFFFF"/>
                </a:solidFill>
              </a:defRPr>
            </a:pPr>
            <a:r>
              <a:t>Test commands and hooks with real files</a:t>
            </a:r>
          </a:p>
        </p:txBody>
      </p:sp>
      <p:sp>
        <p:nvSpPr>
          <p:cNvPr id="20" name="Oval 19"/>
          <p:cNvSpPr/>
          <p:nvPr/>
        </p:nvSpPr>
        <p:spPr>
          <a:xfrm>
            <a:off x="457200" y="5120640"/>
            <a:ext cx="457200" cy="4572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120640"/>
            <a:ext cx="457200" cy="457200"/>
          </a:xfrm>
          <a:prstGeom prst="rect">
            <a:avLst/>
          </a:prstGeom>
          <a:noFill/>
        </p:spPr>
        <p:txBody>
          <a:bodyPr wrap="none" anchor="ctr">
            <a:spAutoFit/>
          </a:bodyPr>
          <a:lstStyle/>
          <a:p>
            <a:pPr algn="ctr">
              <a:defRPr sz="1800" b="1">
                <a:solidFill>
                  <a:srgbClr val="0B0F1A"/>
                </a:solidFill>
              </a:defRPr>
            </a:pPr>
            <a:r>
              <a:t>5</a:t>
            </a:r>
          </a:p>
        </p:txBody>
      </p:sp>
      <p:sp>
        <p:nvSpPr>
          <p:cNvPr id="22" name="TextBox 21"/>
          <p:cNvSpPr txBox="1"/>
          <p:nvPr/>
        </p:nvSpPr>
        <p:spPr>
          <a:xfrm>
            <a:off x="1097280" y="5193792"/>
            <a:ext cx="10637215" cy="640080"/>
          </a:xfrm>
          <a:prstGeom prst="rect">
            <a:avLst/>
          </a:prstGeom>
          <a:noFill/>
        </p:spPr>
        <p:txBody>
          <a:bodyPr wrap="square">
            <a:normAutofit/>
          </a:bodyPr>
          <a:lstStyle/>
          <a:p>
            <a:pPr>
              <a:defRPr sz="1800">
                <a:solidFill>
                  <a:srgbClr val="FFFFFF"/>
                </a:solidFill>
              </a:defRPr>
            </a:pPr>
            <a:r>
              <a:t>Deliverable: Production-ready command library and safety hooks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Skills &amp; Advanced CLAUDE.md</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Project configuration patterns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Built-in Skills Overview</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Pre-packaged capabilities in Claude Code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Enabling &amp; Configuring Skills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MARKDOWN</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 In CLAUDE.md:</a:t>
            </a:r>
            <a:br/>
            <a:br/>
            <a:r>
              <a:t>## Skills Configuration</a:t>
            </a:r>
            <a:br/>
            <a:br/>
            <a:r>
              <a:t>Enable the following skills:</a:t>
            </a:r>
            <a:br/>
            <a:r>
              <a:t>- commit: Automatic conventional commit messages</a:t>
            </a:r>
            <a:br/>
            <a:r>
              <a:t>- pr: Generate PR descriptions from commits</a:t>
            </a:r>
            <a:br/>
            <a:r>
              <a:t>- review: Pre-commit code quality checks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Advanced CLAUDE.md Patterns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Multi-repo configurations: Shared base + repo-specific overrides</a:t>
            </a:r>
          </a:p>
          <a:p>
            <a:pPr>
              <a:spcBef>
                <a:spcPts val="800"/>
              </a:spcBef>
              <a:spcAft>
                <a:spcPts val="800"/>
              </a:spcAft>
              <a:defRPr sz="2200">
                <a:solidFill>
                  <a:srgbClr val="FFFFFF"/>
                </a:solidFill>
              </a:defRPr>
            </a:pPr>
            <a:r>
              <a:t>  Team style guides: Coding conventions as instructions</a:t>
            </a:r>
          </a:p>
          <a:p>
            <a:pPr>
              <a:spcBef>
                <a:spcPts val="800"/>
              </a:spcBef>
              <a:spcAft>
                <a:spcPts val="800"/>
              </a:spcAft>
              <a:defRPr sz="2200">
                <a:solidFill>
                  <a:srgbClr val="FFFFFF"/>
                </a:solidFill>
              </a:defRPr>
            </a:pPr>
            <a:r>
              <a:t>  Security policies: Sensitive files, allowed operations</a:t>
            </a:r>
          </a:p>
          <a:p>
            <a:pPr>
              <a:spcBef>
                <a:spcPts val="800"/>
              </a:spcBef>
              <a:spcAft>
                <a:spcPts val="800"/>
              </a:spcAft>
              <a:defRPr sz="2200">
                <a:solidFill>
                  <a:srgbClr val="FFFFFF"/>
                </a:solidFill>
              </a:defRPr>
            </a:pPr>
            <a:r>
              <a:t>  Tool preferences: Which tools Claude should prefer</a:t>
            </a:r>
          </a:p>
          <a:p>
            <a:pPr>
              <a:spcBef>
                <a:spcPts val="800"/>
              </a:spcBef>
              <a:spcAft>
                <a:spcPts val="800"/>
              </a:spcAft>
              <a:defRPr sz="2200">
                <a:solidFill>
                  <a:srgbClr val="FFFFFF"/>
                </a:solidFill>
              </a:defRPr>
            </a:pPr>
            <a:r>
              <a:t>  Model defaults: Set thinking level, default model per project</a:t>
            </a:r>
          </a:p>
          <a:p>
            <a:pPr>
              <a:spcBef>
                <a:spcPts val="800"/>
              </a:spcBef>
              <a:spcAft>
                <a:spcPts val="800"/>
              </a:spcAft>
              <a:defRPr sz="2200">
                <a:solidFill>
                  <a:srgbClr val="FFFFFF"/>
                </a:solidFill>
              </a:defRPr>
            </a:pPr>
            <a:r>
              <a:t>  Integration configs: GitHub, Jira, Slack webhooks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Selective Skills: Load Knowledge on Demand</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CLAUDE.</a:t>
            </a:r>
          </a:p>
          <a:p>
            <a:pPr>
              <a:spcBef>
                <a:spcPts val="800"/>
              </a:spcBef>
              <a:spcAft>
                <a:spcPts val="800"/>
              </a:spcAft>
              <a:defRPr sz="2200">
                <a:solidFill>
                  <a:srgbClr val="FFFFFF"/>
                </a:solidFill>
              </a:defRPr>
            </a:pPr>
            <a:r>
              <a:t>  Specialized knowledge goes into skills that activate on demand.</a:t>
            </a:r>
          </a:p>
          <a:p>
            <a:pPr>
              <a:spcBef>
                <a:spcPts val="800"/>
              </a:spcBef>
              <a:spcAft>
                <a:spcPts val="800"/>
              </a:spcAft>
              <a:defRPr sz="2200">
                <a:solidFill>
                  <a:srgbClr val="FFFFFF"/>
                </a:solidFill>
              </a:defRPr>
            </a:pPr>
            <a:r>
              <a:t>  This keeps your base context lean — better performance for routine tasks.</a:t>
            </a:r>
          </a:p>
          <a:p>
            <a:pPr>
              <a:spcBef>
                <a:spcPts val="800"/>
              </a:spcBef>
              <a:spcAft>
                <a:spcPts val="800"/>
              </a:spcAft>
              <a:defRPr sz="2200">
                <a:solidFill>
                  <a:srgbClr val="FFFFFF"/>
                </a:solidFill>
              </a:defRPr>
            </a:pPr>
            <a:r>
              <a:t>  When you need specialized knowledge, the skill brings in exactly the right context.</a:t>
            </a:r>
          </a:p>
          <a:p>
            <a:pPr>
              <a:spcBef>
                <a:spcPts val="800"/>
              </a:spcBef>
              <a:spcAft>
                <a:spcPts val="800"/>
              </a:spcAft>
              <a:defRPr sz="2200">
                <a:solidFill>
                  <a:srgbClr val="FFFFFF"/>
                </a:solidFill>
              </a:defRPr>
            </a:pPr>
            <a:r>
              <a:t>  This is Engineering Principle #9 in action: Keep Categories Painfully Small — even your context categories.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SKILL.md File Structure</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CODE</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How Skills Load: Progressive Disclosure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skills.sh: The npm for AI Agents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CODE</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Skill Invocation Control</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Before</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After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Advanced: Dynamic Context &amp; Subagent Skills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CODE</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Engineering Principle: Build for Restart, Not Perfection</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Source: Nate B Jones, 'Second Brain' video</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Example CLAUDE.md Configurations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Python FastAPI Project</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Style: Type hints required</a:t>
            </a:r>
          </a:p>
          <a:p>
            <a:pPr>
              <a:spcAft>
                <a:spcPts val="1200"/>
              </a:spcAft>
              <a:defRPr sz="1800">
                <a:solidFill>
                  <a:srgbClr val="FFFFFF"/>
                </a:solidFill>
              </a:defRPr>
            </a:pPr>
            <a:r>
              <a:t>  Testing: pytest, 80% coverage</a:t>
            </a:r>
          </a:p>
          <a:p>
            <a:pPr>
              <a:spcAft>
                <a:spcPts val="1200"/>
              </a:spcAft>
              <a:defRPr sz="1800">
                <a:solidFill>
                  <a:srgbClr val="FFFFFF"/>
                </a:solidFill>
              </a:defRPr>
            </a:pPr>
            <a:r>
              <a:t>  DB: SQLAlchemy, migrations via Alembic</a:t>
            </a:r>
          </a:p>
          <a:p>
            <a:pPr>
              <a:spcAft>
                <a:spcPts val="1200"/>
              </a:spcAft>
              <a:defRPr sz="1800">
                <a:solidFill>
                  <a:srgbClr val="FFFFFF"/>
                </a:solidFill>
              </a:defRPr>
            </a:pPr>
            <a:r>
              <a:t>  Docs: Docstrings in Google format</a:t>
            </a:r>
          </a:p>
          <a:p>
            <a:pPr>
              <a:spcAft>
                <a:spcPts val="1200"/>
              </a:spcAft>
              <a:defRPr sz="1800">
                <a:solidFill>
                  <a:srgbClr val="FFFFFF"/>
                </a:solidFill>
              </a:defRPr>
            </a:pPr>
            <a:r>
              <a:t>  Security: No secrets, validate all input</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78D4"/>
                </a:solidFill>
              </a:defRPr>
            </a:pPr>
            <a:r>
              <a:t>TypeScript React Project</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Style: Functional components, hooks</a:t>
            </a:r>
          </a:p>
          <a:p>
            <a:pPr>
              <a:spcAft>
                <a:spcPts val="1200"/>
              </a:spcAft>
              <a:defRPr sz="1800">
                <a:solidFill>
                  <a:srgbClr val="FFFFFF"/>
                </a:solidFill>
              </a:defRPr>
            </a:pPr>
            <a:r>
              <a:t>  Testing: Jest + RTL, snapshot tests</a:t>
            </a:r>
          </a:p>
          <a:p>
            <a:pPr>
              <a:spcAft>
                <a:spcPts val="1200"/>
              </a:spcAft>
              <a:defRPr sz="1800">
                <a:solidFill>
                  <a:srgbClr val="FFFFFF"/>
                </a:solidFill>
              </a:defRPr>
            </a:pPr>
            <a:r>
              <a:t>  State: Redux Toolkit patterns</a:t>
            </a:r>
          </a:p>
          <a:p>
            <a:pPr>
              <a:spcAft>
                <a:spcPts val="1200"/>
              </a:spcAft>
              <a:defRPr sz="1800">
                <a:solidFill>
                  <a:srgbClr val="FFFFFF"/>
                </a:solidFill>
              </a:defRPr>
            </a:pPr>
            <a:r>
              <a:t>  Docs: JSDoc for exported functions</a:t>
            </a:r>
          </a:p>
          <a:p>
            <a:pPr>
              <a:spcAft>
                <a:spcPts val="1200"/>
              </a:spcAft>
              <a:defRPr sz="1800">
                <a:solidFill>
                  <a:srgbClr val="FFFFFF"/>
                </a:solidFill>
              </a:defRPr>
            </a:pPr>
            <a:r>
              <a:t>  Build: Optimize for production bundle size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Model Context Protocol (MCP)</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Connecting Claude to external systems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is MCP?</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Open protocol for AI-to-tool communication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MCP Architecture</a:t>
            </a:r>
          </a:p>
        </p:txBody>
      </p:sp>
      <p:sp>
        <p:nvSpPr>
          <p:cNvPr id="3" name="Rounded Rectangle 2"/>
          <p:cNvSpPr/>
          <p:nvPr/>
        </p:nvSpPr>
        <p:spPr>
          <a:xfrm>
            <a:off x="3626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289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899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TextBox 5"/>
          <p:cNvSpPr txBox="1"/>
          <p:nvPr/>
        </p:nvSpPr>
        <p:spPr>
          <a:xfrm>
            <a:off x="3626967" y="1371600"/>
            <a:ext cx="822960" cy="822960"/>
          </a:xfrm>
          <a:prstGeom prst="rect">
            <a:avLst/>
          </a:prstGeom>
          <a:noFill/>
        </p:spPr>
        <p:txBody>
          <a:bodyPr wrap="none" anchor="ctr">
            <a:spAutoFit/>
          </a:bodyPr>
          <a:lstStyle/>
          <a:p>
            <a:pPr algn="ctr">
              <a:defRPr sz="2800" b="1">
                <a:solidFill>
                  <a:srgbClr val="00D4AA"/>
                </a:solidFill>
              </a:defRPr>
            </a:pPr>
            <a:r>
              <a:t>1</a:t>
            </a:r>
          </a:p>
        </p:txBody>
      </p:sp>
      <p:sp>
        <p:nvSpPr>
          <p:cNvPr id="7" name="Right Arrow 6"/>
          <p:cNvSpPr/>
          <p:nvPr/>
        </p:nvSpPr>
        <p:spPr>
          <a:xfrm>
            <a:off x="45413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985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6615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15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1" name="TextBox 10"/>
          <p:cNvSpPr txBox="1"/>
          <p:nvPr/>
        </p:nvSpPr>
        <p:spPr>
          <a:xfrm>
            <a:off x="4998567" y="1371600"/>
            <a:ext cx="822960" cy="822960"/>
          </a:xfrm>
          <a:prstGeom prst="rect">
            <a:avLst/>
          </a:prstGeom>
          <a:noFill/>
        </p:spPr>
        <p:txBody>
          <a:bodyPr wrap="none" anchor="ctr">
            <a:spAutoFit/>
          </a:bodyPr>
          <a:lstStyle/>
          <a:p>
            <a:pPr algn="ctr">
              <a:defRPr sz="2800" b="1">
                <a:solidFill>
                  <a:srgbClr val="00D4AA"/>
                </a:solidFill>
              </a:defRPr>
            </a:pPr>
            <a:r>
              <a:t>2</a:t>
            </a:r>
          </a:p>
        </p:txBody>
      </p:sp>
      <p:sp>
        <p:nvSpPr>
          <p:cNvPr id="12" name="Right Arrow 11"/>
          <p:cNvSpPr/>
          <p:nvPr/>
        </p:nvSpPr>
        <p:spPr>
          <a:xfrm>
            <a:off x="59129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01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331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331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6" name="TextBox 15"/>
          <p:cNvSpPr txBox="1"/>
          <p:nvPr/>
        </p:nvSpPr>
        <p:spPr>
          <a:xfrm>
            <a:off x="6370167" y="1371600"/>
            <a:ext cx="822960" cy="822960"/>
          </a:xfrm>
          <a:prstGeom prst="rect">
            <a:avLst/>
          </a:prstGeom>
          <a:noFill/>
        </p:spPr>
        <p:txBody>
          <a:bodyPr wrap="none" anchor="ctr">
            <a:spAutoFit/>
          </a:bodyPr>
          <a:lstStyle/>
          <a:p>
            <a:pPr algn="ctr">
              <a:defRPr sz="2800" b="1">
                <a:solidFill>
                  <a:srgbClr val="00D4AA"/>
                </a:solidFill>
              </a:defRPr>
            </a:pPr>
            <a:r>
              <a:t>3</a:t>
            </a:r>
          </a:p>
        </p:txBody>
      </p:sp>
      <p:sp>
        <p:nvSpPr>
          <p:cNvPr id="17" name="Right Arrow 16"/>
          <p:cNvSpPr/>
          <p:nvPr/>
        </p:nvSpPr>
        <p:spPr>
          <a:xfrm>
            <a:off x="72845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41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404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04707" y="1211580"/>
            <a:ext cx="320040" cy="320040"/>
          </a:xfrm>
          <a:prstGeom prst="rect">
            <a:avLst/>
          </a:prstGeom>
          <a:noFill/>
        </p:spPr>
        <p:txBody>
          <a:bodyPr wrap="none" anchor="ctr">
            <a:spAutoFit/>
          </a:bodyPr>
          <a:lstStyle/>
          <a:p>
            <a:pPr algn="ctr">
              <a:defRPr sz="1400" b="1">
                <a:solidFill>
                  <a:srgbClr val="0B0F1A"/>
                </a:solidFill>
              </a:defRPr>
            </a:pPr>
            <a:r>
              <a:t>4</a:t>
            </a:r>
          </a:p>
        </p:txBody>
      </p:sp>
      <p:sp>
        <p:nvSpPr>
          <p:cNvPr id="21" name="TextBox 20"/>
          <p:cNvSpPr txBox="1"/>
          <p:nvPr/>
        </p:nvSpPr>
        <p:spPr>
          <a:xfrm>
            <a:off x="7741767" y="1371600"/>
            <a:ext cx="822960" cy="822960"/>
          </a:xfrm>
          <a:prstGeom prst="rect">
            <a:avLst/>
          </a:prstGeom>
          <a:noFill/>
        </p:spPr>
        <p:txBody>
          <a:bodyPr wrap="none" anchor="ctr">
            <a:spAutoFit/>
          </a:bodyPr>
          <a:lstStyle/>
          <a:p>
            <a:pPr algn="ctr">
              <a:defRPr sz="2800" b="1">
                <a:solidFill>
                  <a:srgbClr val="00D4AA"/>
                </a:solidFill>
              </a:defRPr>
            </a:pPr>
            <a:r>
              <a:t>4</a:t>
            </a:r>
          </a:p>
        </p:txBody>
      </p:sp>
      <p:sp>
        <p:nvSpPr>
          <p:cNvPr id="22" name="TextBox 21"/>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23" name="TextBox 22"/>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Claude Code (Client)</a:t>
            </a:r>
          </a:p>
        </p:txBody>
      </p:sp>
      <p:sp>
        <p:nvSpPr>
          <p:cNvPr id="24" name="TextBox 23"/>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25" name="TextBox 24"/>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MCP Protocol (JSON-RPC)</a:t>
            </a:r>
          </a:p>
        </p:txBody>
      </p:sp>
      <p:sp>
        <p:nvSpPr>
          <p:cNvPr id="26" name="TextBox 25"/>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27" name="TextBox 26"/>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MCP Server (GitHub, DB, Custom)</a:t>
            </a:r>
          </a:p>
        </p:txBody>
      </p:sp>
      <p:sp>
        <p:nvSpPr>
          <p:cNvPr id="28" name="TextBox 27"/>
          <p:cNvSpPr txBox="1"/>
          <p:nvPr/>
        </p:nvSpPr>
        <p:spPr>
          <a:xfrm>
            <a:off x="1371600" y="4663440"/>
            <a:ext cx="457200" cy="457200"/>
          </a:xfrm>
          <a:prstGeom prst="rect">
            <a:avLst/>
          </a:prstGeom>
          <a:noFill/>
        </p:spPr>
        <p:txBody>
          <a:bodyPr wrap="none">
            <a:spAutoFit/>
          </a:bodyPr>
          <a:lstStyle/>
          <a:p>
            <a:pPr>
              <a:defRPr sz="2000" b="1">
                <a:solidFill>
                  <a:srgbClr val="00D4AA"/>
                </a:solidFill>
              </a:defRPr>
            </a:pPr>
            <a:r>
              <a:t>4</a:t>
            </a:r>
          </a:p>
        </p:txBody>
      </p:sp>
      <p:sp>
        <p:nvSpPr>
          <p:cNvPr id="29" name="TextBox 28"/>
          <p:cNvSpPr txBox="1"/>
          <p:nvPr/>
        </p:nvSpPr>
        <p:spPr>
          <a:xfrm>
            <a:off x="1828800" y="4663440"/>
            <a:ext cx="8991295" cy="548640"/>
          </a:xfrm>
          <a:prstGeom prst="rect">
            <a:avLst/>
          </a:prstGeom>
          <a:noFill/>
        </p:spPr>
        <p:txBody>
          <a:bodyPr wrap="square">
            <a:spAutoFit/>
          </a:bodyPr>
          <a:lstStyle/>
          <a:p>
            <a:pPr>
              <a:defRPr sz="1800">
                <a:solidFill>
                  <a:srgbClr val="FFFFFF"/>
                </a:solidFill>
              </a:defRPr>
            </a:pPr>
            <a:r>
              <a:t>External System (API, Database, Files)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MCP Primitives</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1800" b="1">
                <a:solidFill>
                  <a:srgbClr val="FFFFFF"/>
                </a:solidFill>
              </a:defRPr>
            </a:pPr>
            <a:r>
              <a:t>Tools</a:t>
            </a:r>
            <a:br/>
            <a:r>
              <a:t>Actions Claude can invoke</a:t>
            </a:r>
            <a:br/>
            <a:r>
              <a:t>(search_db, create_issue)</a:t>
            </a:r>
          </a:p>
        </p:txBody>
      </p:sp>
      <p:sp>
        <p:nvSpPr>
          <p:cNvPr id="7" name="Rounded Rectangle 6"/>
          <p:cNvSpPr/>
          <p:nvPr/>
        </p:nvSpPr>
        <p:spPr>
          <a:xfrm>
            <a:off x="4952847" y="2011680"/>
            <a:ext cx="2286000" cy="3200400"/>
          </a:xfrm>
          <a:prstGeom prst="roundRect">
            <a:avLst/>
          </a:prstGeom>
          <a:solidFill>
            <a:srgbClr val="141A26"/>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R</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1800" b="1">
                <a:solidFill>
                  <a:srgbClr val="FFFFFF"/>
                </a:solidFill>
              </a:defRPr>
            </a:pPr>
            <a:r>
              <a:t>Resources</a:t>
            </a:r>
            <a:br/>
            <a:r>
              <a:t>Data Claude can read</a:t>
            </a:r>
            <a:br/>
            <a:r>
              <a:t>(files, database tables)</a:t>
            </a:r>
          </a:p>
        </p:txBody>
      </p:sp>
      <p:sp>
        <p:nvSpPr>
          <p:cNvPr id="11" name="Rounded Rectangle 10"/>
          <p:cNvSpPr/>
          <p:nvPr/>
        </p:nvSpPr>
        <p:spPr>
          <a:xfrm>
            <a:off x="7604607" y="2011680"/>
            <a:ext cx="2286000" cy="3200400"/>
          </a:xfrm>
          <a:prstGeom prst="roundRect">
            <a:avLst/>
          </a:prstGeom>
          <a:solidFill>
            <a:srgbClr val="141A26"/>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P</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1800" b="1">
                <a:solidFill>
                  <a:srgbClr val="FFFFFF"/>
                </a:solidFill>
              </a:defRPr>
            </a:pPr>
            <a:r>
              <a:t>Prompts</a:t>
            </a:r>
            <a:br/>
            <a:r>
              <a:t>Templates for tasks</a:t>
            </a:r>
            <a:br/>
            <a:r>
              <a:t>(analyze_pr, debug_error)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Engineering Principle: Keep Categories Painfully Small</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Source: Nate B Jones, 'Second Brain' video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Available MCP Servers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GitHub: Repos, PRs, issues, code search</a:t>
            </a:r>
          </a:p>
          <a:p>
            <a:pPr>
              <a:spcBef>
                <a:spcPts val="800"/>
              </a:spcBef>
              <a:spcAft>
                <a:spcPts val="800"/>
              </a:spcAft>
              <a:defRPr sz="2200">
                <a:solidFill>
                  <a:srgbClr val="FFFFFF"/>
                </a:solidFill>
              </a:defRPr>
            </a:pPr>
            <a:r>
              <a:t>  PostgreSQL / MySQL: Database queries, schema inspection</a:t>
            </a:r>
          </a:p>
          <a:p>
            <a:pPr>
              <a:spcBef>
                <a:spcPts val="800"/>
              </a:spcBef>
              <a:spcAft>
                <a:spcPts val="800"/>
              </a:spcAft>
              <a:defRPr sz="2200">
                <a:solidFill>
                  <a:srgbClr val="FFFFFF"/>
                </a:solidFill>
              </a:defRPr>
            </a:pPr>
            <a:r>
              <a:t>  Filesystem: Read/write local files (beyond workspace)</a:t>
            </a:r>
          </a:p>
          <a:p>
            <a:pPr>
              <a:spcBef>
                <a:spcPts val="800"/>
              </a:spcBef>
              <a:spcAft>
                <a:spcPts val="800"/>
              </a:spcAft>
              <a:defRPr sz="2200">
                <a:solidFill>
                  <a:srgbClr val="FFFFFF"/>
                </a:solidFill>
              </a:defRPr>
            </a:pPr>
            <a:r>
              <a:t>  Slack: Send messages, read channels</a:t>
            </a:r>
          </a:p>
          <a:p>
            <a:pPr>
              <a:spcBef>
                <a:spcPts val="800"/>
              </a:spcBef>
              <a:spcAft>
                <a:spcPts val="800"/>
              </a:spcAft>
              <a:defRPr sz="2200">
                <a:solidFill>
                  <a:srgbClr val="FFFFFF"/>
                </a:solidFill>
              </a:defRPr>
            </a:pPr>
            <a:r>
              <a:t>  Google Drive: Access docs, sheets</a:t>
            </a:r>
          </a:p>
          <a:p>
            <a:pPr>
              <a:spcBef>
                <a:spcPts val="800"/>
              </a:spcBef>
              <a:spcAft>
                <a:spcPts val="800"/>
              </a:spcAft>
              <a:defRPr sz="2200">
                <a:solidFill>
                  <a:srgbClr val="FFFFFF"/>
                </a:solidFill>
              </a:defRPr>
            </a:pPr>
            <a:r>
              <a:t>  Brave Search: Web search integration</a:t>
            </a:r>
          </a:p>
          <a:p>
            <a:pPr>
              <a:spcBef>
                <a:spcPts val="800"/>
              </a:spcBef>
              <a:spcAft>
                <a:spcPts val="800"/>
              </a:spcAft>
              <a:defRPr sz="2200">
                <a:solidFill>
                  <a:srgbClr val="FFFFFF"/>
                </a:solidFill>
              </a:defRPr>
            </a:pPr>
            <a:r>
              <a:t>  Custom: Build your own for internal systems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Installing MCP Servers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BASH</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 1. Install MCP server (usually via npm)</a:t>
            </a:r>
            <a:br/>
            <a:r>
              <a:t>npm install -g @modelcontextprotocol/server-github</a:t>
            </a:r>
            <a:br/>
            <a:br/>
            <a:r>
              <a:t># 2. Configure in Claude settings (~/.config/claude/config.json)</a:t>
            </a:r>
            <a:br/>
            <a:r>
              <a:t>{</a:t>
            </a:r>
            <a:br/>
            <a:r>
              <a:t>  "mcpServers": {</a:t>
            </a:r>
            <a:br/>
            <a:r>
              <a:t>    "github": {</a:t>
            </a:r>
            <a:br/>
            <a:r>
              <a:t>      "command": "npx",</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MCP Security Considerations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MCP servers run LOCALLY (not in cloud)</a:t>
            </a:r>
          </a:p>
          <a:p>
            <a:pPr>
              <a:spcBef>
                <a:spcPts val="800"/>
              </a:spcBef>
              <a:spcAft>
                <a:spcPts val="800"/>
              </a:spcAft>
              <a:defRPr sz="2200">
                <a:solidFill>
                  <a:srgbClr val="FFFFFF"/>
                </a:solidFill>
              </a:defRPr>
            </a:pPr>
            <a:r>
              <a:t>  You control what data/systems are exposed</a:t>
            </a:r>
          </a:p>
          <a:p>
            <a:pPr>
              <a:spcBef>
                <a:spcPts val="800"/>
              </a:spcBef>
              <a:spcAft>
                <a:spcPts val="800"/>
              </a:spcAft>
              <a:defRPr sz="2200">
                <a:solidFill>
                  <a:srgbClr val="FFFFFF"/>
                </a:solidFill>
              </a:defRPr>
            </a:pPr>
            <a:r>
              <a:t>  Use least-privilege credentials (read-only when possible)</a:t>
            </a:r>
          </a:p>
          <a:p>
            <a:pPr>
              <a:spcBef>
                <a:spcPts val="800"/>
              </a:spcBef>
              <a:spcAft>
                <a:spcPts val="800"/>
              </a:spcAft>
              <a:defRPr sz="2200">
                <a:solidFill>
                  <a:srgbClr val="FFFFFF"/>
                </a:solidFill>
              </a:defRPr>
            </a:pPr>
            <a:r>
              <a:t>  Audit tool calls via logging (post-tool hooks!)</a:t>
            </a:r>
          </a:p>
          <a:p>
            <a:pPr>
              <a:spcBef>
                <a:spcPts val="800"/>
              </a:spcBef>
              <a:spcAft>
                <a:spcPts val="800"/>
              </a:spcAft>
              <a:defRPr sz="2200">
                <a:solidFill>
                  <a:srgbClr val="FFFFFF"/>
                </a:solidFill>
              </a:defRPr>
            </a:pPr>
            <a:r>
              <a:t>  Review server code before running (open source)</a:t>
            </a:r>
          </a:p>
          <a:p>
            <a:pPr>
              <a:spcBef>
                <a:spcPts val="800"/>
              </a:spcBef>
              <a:spcAft>
                <a:spcPts val="800"/>
              </a:spcAft>
              <a:defRPr sz="2200">
                <a:solidFill>
                  <a:srgbClr val="FFFFFF"/>
                </a:solidFill>
              </a:defRPr>
            </a:pPr>
            <a:r>
              <a:t>  Enterprise: Centrally manage approved servers</a:t>
            </a:r>
          </a:p>
          <a:p>
            <a:pPr>
              <a:spcBef>
                <a:spcPts val="800"/>
              </a:spcBef>
              <a:spcAft>
                <a:spcPts val="800"/>
              </a:spcAft>
              <a:defRPr sz="2200">
                <a:solidFill>
                  <a:srgbClr val="FFFFFF"/>
                </a:solidFill>
              </a:defRPr>
            </a:pPr>
            <a:r>
              <a:t>  Credentials in env vars, never in code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GitHub MCP Server</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Repository operations from Claude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Building Custom MCP Servers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1. Define tools your system needs to expose</a:t>
            </a:r>
          </a:p>
          <a:p>
            <a:pPr>
              <a:spcBef>
                <a:spcPts val="800"/>
              </a:spcBef>
              <a:spcAft>
                <a:spcPts val="800"/>
              </a:spcAft>
              <a:defRPr sz="2200">
                <a:solidFill>
                  <a:srgbClr val="FFFFFF"/>
                </a:solidFill>
              </a:defRPr>
            </a:pPr>
            <a:r>
              <a:t>  2. Implement MCP protocol (SDK available)</a:t>
            </a:r>
          </a:p>
          <a:p>
            <a:pPr>
              <a:spcBef>
                <a:spcPts val="800"/>
              </a:spcBef>
              <a:spcAft>
                <a:spcPts val="800"/>
              </a:spcAft>
              <a:defRPr sz="2200">
                <a:solidFill>
                  <a:srgbClr val="FFFFFF"/>
                </a:solidFill>
              </a:defRPr>
            </a:pPr>
            <a:r>
              <a:t>  3. Handle authentication and permissions</a:t>
            </a:r>
          </a:p>
          <a:p>
            <a:pPr>
              <a:spcBef>
                <a:spcPts val="800"/>
              </a:spcBef>
              <a:spcAft>
                <a:spcPts val="800"/>
              </a:spcAft>
              <a:defRPr sz="2200">
                <a:solidFill>
                  <a:srgbClr val="FFFFFF"/>
                </a:solidFill>
              </a:defRPr>
            </a:pPr>
            <a:r>
              <a:t>  4. Package as npm module or standalone binary</a:t>
            </a:r>
          </a:p>
          <a:p>
            <a:pPr>
              <a:spcBef>
                <a:spcPts val="800"/>
              </a:spcBef>
              <a:spcAft>
                <a:spcPts val="800"/>
              </a:spcAft>
              <a:defRPr sz="2200">
                <a:solidFill>
                  <a:srgbClr val="FFFFFF"/>
                </a:solidFill>
              </a:defRPr>
            </a:pPr>
            <a:r>
              <a:t>  5. Publish internally or to community</a:t>
            </a:r>
          </a:p>
          <a:p>
            <a:pPr>
              <a:spcBef>
                <a:spcPts val="800"/>
              </a:spcBef>
              <a:spcAft>
                <a:spcPts val="800"/>
              </a:spcAft>
              <a:defRPr sz="2200">
                <a:solidFill>
                  <a:srgbClr val="FFFFFF"/>
                </a:solidFill>
              </a:defRPr>
            </a:pPr>
            <a:r>
              <a:t>  SDK available: TypeScript, Python</a:t>
            </a:r>
          </a:p>
          <a:p>
            <a:pPr>
              <a:spcBef>
                <a:spcPts val="800"/>
              </a:spcBef>
              <a:spcAft>
                <a:spcPts val="800"/>
              </a:spcAft>
              <a:defRPr sz="2200">
                <a:solidFill>
                  <a:srgbClr val="FFFFFF"/>
                </a:solidFill>
              </a:defRPr>
            </a:pPr>
            <a:r>
              <a:t>  Protocol is straightforward (JSON-RPC over stdio/HTTP)</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Simple MCP Server Example</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TYPESCRIPT</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import { Server } from '@modelcontextprotocol/sdk/server';</a:t>
            </a:r>
            <a:br/>
            <a:br/>
            <a:r>
              <a:t>const server = new Server({</a:t>
            </a:r>
            <a:br/>
            <a:r>
              <a:t>  name: 'my-system',</a:t>
            </a:r>
            <a:br/>
            <a:r>
              <a:t>  version: '1.0.0'</a:t>
            </a:r>
            <a:br/>
            <a:r>
              <a:t>});</a:t>
            </a:r>
            <a:br/>
            <a:br/>
            <a:r>
              <a:t>// Define available tools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The Token Problem:</a:t>
            </a:r>
            <a:br/>
            <a:r>
              <a:t>150,000 tokens for one workflow</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Code Execution with MCP: 98% Token Reduction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Direct Tool Calling</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Code Execution Approach</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Traditional Tool Calling vs Code Execution</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PYTHON</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 Traditional: 3 tool calls, all data through context</a:t>
            </a:r>
            <a:br/>
            <a:r>
              <a:t>results = agent.call_tool("search_salesforce",</a:t>
            </a:r>
            <a:br/>
            <a:r>
              <a:t>  {"query": "active accounts"})</a:t>
            </a:r>
            <a:br/>
            <a:r>
              <a:t># 1000 records flow through context window</a:t>
            </a:r>
            <a:br/>
            <a:r>
              <a:t>filtered = agent.call_tool("filter_records",</a:t>
            </a:r>
            <a:br/>
            <a:r>
              <a:t>  {"data": results, "condition": "revenue &gt; 1M"})</a:t>
            </a:r>
            <a:br/>
            <a:r>
              <a:t>summary = agent.call_tool("summarize", {"data": filtered})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Code Execution Approach</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JAVASCRIPT</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 Agent writes this — executes in sandbox</a:t>
            </a:r>
            <a:br/>
            <a:r>
              <a:t>import { salesforce } from 'mcp-servers';</a:t>
            </a:r>
            <a:br/>
            <a:br/>
            <a:r>
              <a:t>const results = await salesforce.search(</a:t>
            </a:r>
            <a:br/>
            <a:r>
              <a:t>  { query: "active accounts" });</a:t>
            </a:r>
            <a:br/>
            <a:r>
              <a:t>// 1000 records stay in execution environment</a:t>
            </a:r>
            <a:br/>
            <a:r>
              <a:t>const filtered = results.filter(</a:t>
            </a:r>
            <a:br/>
            <a:r>
              <a:t>  r =&gt; r.revenue &gt; 1000000);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7 Benefits of Code Execution with MCP</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1800" b="1">
                <a:solidFill>
                  <a:srgbClr val="FFFFFF"/>
                </a:solidFill>
              </a:defRPr>
            </a:pPr>
            <a:r>
              <a:t>98% Token Reduction</a:t>
            </a:r>
          </a:p>
          <a:p>
            <a:pPr algn="ctr">
              <a:spcBef>
                <a:spcPts val="800"/>
              </a:spcBef>
              <a:defRPr sz="1300">
                <a:solidFill>
                  <a:srgbClr val="8B95A5"/>
                </a:solidFill>
              </a:defRPr>
            </a:pPr>
            <a:r>
              <a:t>150K → 2K tokens per workflow. API costs drop proportionally. Build complex agents without hitting context limits</a:t>
            </a: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1800" b="1">
                <a:solidFill>
                  <a:srgbClr val="FFFFFF"/>
                </a:solidFill>
              </a:defRPr>
            </a:pPr>
            <a:r>
              <a:t>Progressive Discovery</a:t>
            </a:r>
          </a:p>
          <a:p>
            <a:pPr algn="ctr">
              <a:spcBef>
                <a:spcPts val="800"/>
              </a:spcBef>
              <a:defRPr sz="1300">
                <a:solidFill>
                  <a:srgbClr val="8B95A5"/>
                </a:solidFill>
              </a:defRPr>
            </a:pPr>
            <a:r>
              <a:t>Agent browses and imports only needed tools. No upfront catalog loading. Scales to hundreds of MCP servers</a:t>
            </a: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1800" b="1">
                <a:solidFill>
                  <a:srgbClr val="FFFFFF"/>
                </a:solidFill>
              </a:defRPr>
            </a:pPr>
            <a:r>
              <a:t>Privacy &amp; Control</a:t>
            </a:r>
          </a:p>
          <a:p>
            <a:pPr algn="ctr">
              <a:spcBef>
                <a:spcPts val="800"/>
              </a:spcBef>
              <a:defRPr sz="1300">
                <a:solidFill>
                  <a:srgbClr val="8B95A5"/>
                </a:solidFill>
              </a:defRPr>
            </a:pPr>
            <a:r>
              <a:t>Sensitive data flows through workflows without entering model context. Only returned values are visible to the model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When to Use Each Approach</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Direct Tool Calling</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Code Execution with MCP</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Chrome DevTools MCP: Claude Meets Your Browser</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What It Does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Claude Code connects to a live Chrome browser via CDP (Chrome DevTools Protocol)</a:t>
            </a:r>
          </a:p>
          <a:p>
            <a:pPr>
              <a:spcAft>
                <a:spcPts val="1200"/>
              </a:spcAft>
              <a:defRPr sz="1800">
                <a:solidFill>
                  <a:srgbClr val="FFFFFF"/>
                </a:solidFill>
              </a:defRPr>
            </a:pPr>
            <a:r>
              <a:t>  Navigate pages, click elements, fill forms, take screenshots</a:t>
            </a:r>
          </a:p>
          <a:p>
            <a:pPr>
              <a:spcAft>
                <a:spcPts val="1200"/>
              </a:spcAft>
              <a:defRPr sz="1800">
                <a:solidFill>
                  <a:srgbClr val="FFFFFF"/>
                </a:solidFill>
              </a:defRPr>
            </a:pPr>
            <a:r>
              <a:t>  Extract data from sites that have NO API</a:t>
            </a:r>
          </a:p>
          <a:p>
            <a:pPr>
              <a:spcAft>
                <a:spcPts val="1200"/>
              </a:spcAft>
              <a:defRPr sz="1800">
                <a:solidFill>
                  <a:srgbClr val="FFFFFF"/>
                </a:solidFill>
              </a:defRPr>
            </a:pPr>
            <a:r>
              <a:t>  Automate browser workflows: research, purchasing, form submission</a:t>
            </a:r>
          </a:p>
          <a:p>
            <a:pPr>
              <a:spcAft>
                <a:spcPts val="1200"/>
              </a:spcAft>
              <a:defRPr sz="1800">
                <a:solidFill>
                  <a:srgbClr val="FFFFFF"/>
                </a:solidFill>
              </a:defRPr>
            </a:pPr>
            <a:r>
              <a:t>  Read page content, analyze screenshots, interact with web apps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Setup</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Install: @anthropic/chrome-devtools MCP server</a:t>
            </a:r>
          </a:p>
          <a:p>
            <a:pPr>
              <a:spcAft>
                <a:spcPts val="1200"/>
              </a:spcAft>
              <a:defRPr sz="1800">
                <a:solidFill>
                  <a:srgbClr val="FFFFFF"/>
                </a:solidFill>
              </a:defRPr>
            </a:pPr>
            <a:r>
              <a:t>  Chrome launches with --remote-debugging-port</a:t>
            </a:r>
          </a:p>
          <a:p>
            <a:pPr>
              <a:spcAft>
                <a:spcPts val="1200"/>
              </a:spcAft>
              <a:defRPr sz="1800">
                <a:solidFill>
                  <a:srgbClr val="FFFFFF"/>
                </a:solidFill>
              </a:defRPr>
            </a:pPr>
            <a:r>
              <a:t>  Claude Code sees browser as a tool in its toolkit</a:t>
            </a:r>
          </a:p>
          <a:p>
            <a:pPr>
              <a:spcAft>
                <a:spcPts val="1200"/>
              </a:spcAft>
              <a:defRPr sz="1800">
                <a:solidFill>
                  <a:srgbClr val="FFFFFF"/>
                </a:solidFill>
              </a:defRPr>
            </a:pPr>
            <a:r>
              <a:t>  Alternative: Claude's built-in browser extension (lighter weight)</a:t>
            </a:r>
          </a:p>
          <a:p>
            <a:pPr>
              <a:spcAft>
                <a:spcPts val="1200"/>
              </a:spcAft>
              <a:defRPr sz="1800">
                <a:solidFill>
                  <a:srgbClr val="FFFFFF"/>
                </a:solidFill>
              </a:defRPr>
            </a:pPr>
            <a:r>
              <a:t>  Use cases: web scraping, data collection, testing, monitoring</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Break</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15 minutes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Cowork &amp; Agent Teams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Autonomous work and multi-agent coordination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Claude for Work: Autonomous Mode</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Set goal, walk away, come back to results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Interactive vs Cowork Mode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Interactive Mode (Standard)</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Back-and-forth conversation</a:t>
            </a:r>
          </a:p>
          <a:p>
            <a:pPr>
              <a:spcAft>
                <a:spcPts val="1200"/>
              </a:spcAft>
              <a:defRPr sz="1800">
                <a:solidFill>
                  <a:srgbClr val="FFFFFF"/>
                </a:solidFill>
              </a:defRPr>
            </a:pPr>
            <a:r>
              <a:t>  Immediate feedback</a:t>
            </a:r>
          </a:p>
          <a:p>
            <a:pPr>
              <a:spcAft>
                <a:spcPts val="1200"/>
              </a:spcAft>
              <a:defRPr sz="1800">
                <a:solidFill>
                  <a:srgbClr val="FFFFFF"/>
                </a:solidFill>
              </a:defRPr>
            </a:pPr>
            <a:r>
              <a:t>  Quick iterations</a:t>
            </a:r>
          </a:p>
          <a:p>
            <a:pPr>
              <a:spcAft>
                <a:spcPts val="1200"/>
              </a:spcAft>
              <a:defRPr sz="1800">
                <a:solidFill>
                  <a:srgbClr val="FFFFFF"/>
                </a:solidFill>
              </a:defRPr>
            </a:pPr>
            <a:r>
              <a:t>  Learning/exploring</a:t>
            </a:r>
          </a:p>
          <a:p>
            <a:pPr>
              <a:spcAft>
                <a:spcPts val="1200"/>
              </a:spcAft>
              <a:defRPr sz="1800">
                <a:solidFill>
                  <a:srgbClr val="FFFFFF"/>
                </a:solidFill>
              </a:defRPr>
            </a:pPr>
            <a:r>
              <a:t>  You stay present</a:t>
            </a:r>
          </a:p>
          <a:p>
            <a:pPr>
              <a:spcAft>
                <a:spcPts val="1200"/>
              </a:spcAft>
              <a:defRPr sz="1800">
                <a:solidFill>
                  <a:srgbClr val="FFFFFF"/>
                </a:solidFill>
              </a:defRPr>
            </a:pPr>
            <a:r>
              <a:t>  Best for: Active development</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Cowork Mode (Autonomous)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Set goal and walk away</a:t>
            </a:r>
          </a:p>
          <a:p>
            <a:pPr>
              <a:spcAft>
                <a:spcPts val="1200"/>
              </a:spcAft>
              <a:defRPr sz="1800">
                <a:solidFill>
                  <a:srgbClr val="FFFFFF"/>
                </a:solidFill>
              </a:defRPr>
            </a:pPr>
            <a:r>
              <a:t>  Background execution</a:t>
            </a:r>
          </a:p>
          <a:p>
            <a:pPr>
              <a:spcAft>
                <a:spcPts val="1200"/>
              </a:spcAft>
              <a:defRPr sz="1800">
                <a:solidFill>
                  <a:srgbClr val="FFFFFF"/>
                </a:solidFill>
              </a:defRPr>
            </a:pPr>
            <a:r>
              <a:t>  Long-running tasks</a:t>
            </a:r>
          </a:p>
          <a:p>
            <a:pPr>
              <a:spcAft>
                <a:spcPts val="1200"/>
              </a:spcAft>
              <a:defRPr sz="1800">
                <a:solidFill>
                  <a:srgbClr val="FFFFFF"/>
                </a:solidFill>
              </a:defRPr>
            </a:pPr>
            <a:r>
              <a:t>  Multi-hour work</a:t>
            </a:r>
          </a:p>
          <a:p>
            <a:pPr>
              <a:spcAft>
                <a:spcPts val="1200"/>
              </a:spcAft>
              <a:defRPr sz="1800">
                <a:solidFill>
                  <a:srgbClr val="FFFFFF"/>
                </a:solidFill>
              </a:defRPr>
            </a:pPr>
            <a:r>
              <a:t>  Check in when ready</a:t>
            </a:r>
          </a:p>
          <a:p>
            <a:pPr>
              <a:spcAft>
                <a:spcPts val="1200"/>
              </a:spcAft>
              <a:defRPr sz="1800">
                <a:solidFill>
                  <a:srgbClr val="FFFFFF"/>
                </a:solidFill>
              </a:defRPr>
            </a:pPr>
            <a:r>
              <a:t>  Best for: Comprehensive analysis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Cowork Task Presets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Security Audit: Scan for vulnerabilities across codebase</a:t>
            </a:r>
          </a:p>
          <a:p>
            <a:pPr>
              <a:spcBef>
                <a:spcPts val="800"/>
              </a:spcBef>
              <a:spcAft>
                <a:spcPts val="800"/>
              </a:spcAft>
              <a:defRPr sz="2200">
                <a:solidFill>
                  <a:srgbClr val="FFFFFF"/>
                </a:solidFill>
              </a:defRPr>
            </a:pPr>
            <a:r>
              <a:t>  Test Coverage: Generate tests for uncovered code</a:t>
            </a:r>
          </a:p>
          <a:p>
            <a:pPr>
              <a:spcBef>
                <a:spcPts val="800"/>
              </a:spcBef>
              <a:spcAft>
                <a:spcPts val="800"/>
              </a:spcAft>
              <a:defRPr sz="2200">
                <a:solidFill>
                  <a:srgbClr val="FFFFFF"/>
                </a:solidFill>
              </a:defRPr>
            </a:pPr>
            <a:r>
              <a:t>  Documentation: Create/update README, API docs, comments</a:t>
            </a:r>
          </a:p>
          <a:p>
            <a:pPr>
              <a:spcBef>
                <a:spcPts val="800"/>
              </a:spcBef>
              <a:spcAft>
                <a:spcPts val="800"/>
              </a:spcAft>
              <a:defRPr sz="2200">
                <a:solidFill>
                  <a:srgbClr val="FFFFFF"/>
                </a:solidFill>
              </a:defRPr>
            </a:pPr>
            <a:r>
              <a:t>  Dependency Analysis: Check outdated packages, security issues</a:t>
            </a:r>
          </a:p>
          <a:p>
            <a:pPr>
              <a:spcBef>
                <a:spcPts val="800"/>
              </a:spcBef>
              <a:spcAft>
                <a:spcPts val="800"/>
              </a:spcAft>
              <a:defRPr sz="2200">
                <a:solidFill>
                  <a:srgbClr val="FFFFFF"/>
                </a:solidFill>
              </a:defRPr>
            </a:pPr>
            <a:r>
              <a:t>  Performance Optimization: Find inefficient patterns</a:t>
            </a:r>
          </a:p>
          <a:p>
            <a:pPr>
              <a:spcBef>
                <a:spcPts val="800"/>
              </a:spcBef>
              <a:spcAft>
                <a:spcPts val="800"/>
              </a:spcAft>
              <a:defRPr sz="2200">
                <a:solidFill>
                  <a:srgbClr val="FFFFFF"/>
                </a:solidFill>
              </a:defRPr>
            </a:pPr>
            <a:r>
              <a:t>  Custom: Define your own long-running workflows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Agent Teams (Feb 2026)</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Native multi-agent orchestration in Claude Code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Agent Teams vs Sub-agents vs Single Session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78D4"/>
                </a:solidFill>
              </a:defRPr>
            </a:pPr>
            <a:r>
              <a:t>Sub-agents (Already Covered)</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Helper reports back to caller</a:t>
            </a:r>
          </a:p>
          <a:p>
            <a:pPr>
              <a:spcAft>
                <a:spcPts val="1200"/>
              </a:spcAft>
              <a:defRPr sz="1800">
                <a:solidFill>
                  <a:srgbClr val="FFFFFF"/>
                </a:solidFill>
              </a:defRPr>
            </a:pPr>
            <a:r>
              <a:t>  Context isolation</a:t>
            </a:r>
          </a:p>
          <a:p>
            <a:pPr>
              <a:spcAft>
                <a:spcPts val="1200"/>
              </a:spcAft>
              <a:defRPr sz="1800">
                <a:solidFill>
                  <a:srgbClr val="FFFFFF"/>
                </a:solidFill>
              </a:defRPr>
            </a:pPr>
            <a:r>
              <a:t>  Research tasks</a:t>
            </a:r>
          </a:p>
          <a:p>
            <a:pPr>
              <a:spcAft>
                <a:spcPts val="1200"/>
              </a:spcAft>
              <a:defRPr sz="1800">
                <a:solidFill>
                  <a:srgbClr val="FFFFFF"/>
                </a:solidFill>
              </a:defRPr>
            </a:pPr>
            <a:r>
              <a:t>  Results return to main</a:t>
            </a:r>
          </a:p>
          <a:p>
            <a:pPr>
              <a:spcAft>
                <a:spcPts val="1200"/>
              </a:spcAft>
              <a:defRPr sz="1800">
                <a:solidFill>
                  <a:srgbClr val="FFFFFF"/>
                </a:solidFill>
              </a:defRPr>
            </a:pPr>
            <a:r>
              <a:t>  No peer communication</a:t>
            </a:r>
          </a:p>
          <a:p>
            <a:pPr>
              <a:spcAft>
                <a:spcPts val="1200"/>
              </a:spcAft>
              <a:defRPr sz="1800">
                <a:solidFill>
                  <a:srgbClr val="FFFFFF"/>
                </a:solidFill>
              </a:defRPr>
            </a:pPr>
            <a:r>
              <a:t>  Medium token cost</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Agent Teams (NEW)</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Teammates coordinate together</a:t>
            </a:r>
          </a:p>
          <a:p>
            <a:pPr>
              <a:spcAft>
                <a:spcPts val="1200"/>
              </a:spcAft>
              <a:defRPr sz="1800">
                <a:solidFill>
                  <a:srgbClr val="FFFFFF"/>
                </a:solidFill>
              </a:defRPr>
            </a:pPr>
            <a:r>
              <a:t>  Shared task list</a:t>
            </a:r>
          </a:p>
          <a:p>
            <a:pPr>
              <a:spcAft>
                <a:spcPts val="1200"/>
              </a:spcAft>
              <a:defRPr sz="1800">
                <a:solidFill>
                  <a:srgbClr val="FFFFFF"/>
                </a:solidFill>
              </a:defRPr>
            </a:pPr>
            <a:r>
              <a:t>  Peer-to-peer messaging</a:t>
            </a:r>
          </a:p>
          <a:p>
            <a:pPr>
              <a:spcAft>
                <a:spcPts val="1200"/>
              </a:spcAft>
              <a:defRPr sz="1800">
                <a:solidFill>
                  <a:srgbClr val="FFFFFF"/>
                </a:solidFill>
              </a:defRPr>
            </a:pPr>
            <a:r>
              <a:t>  Implementation tasks</a:t>
            </a:r>
          </a:p>
          <a:p>
            <a:pPr>
              <a:spcAft>
                <a:spcPts val="1200"/>
              </a:spcAft>
              <a:defRPr sz="1800">
                <a:solidFill>
                  <a:srgbClr val="FFFFFF"/>
                </a:solidFill>
              </a:defRPr>
            </a:pPr>
            <a:r>
              <a:t>  Multi-layer features</a:t>
            </a:r>
          </a:p>
          <a:p>
            <a:pPr>
              <a:spcAft>
                <a:spcPts val="1200"/>
              </a:spcAft>
              <a:defRPr sz="1800">
                <a:solidFill>
                  <a:srgbClr val="FFFFFF"/>
                </a:solidFill>
              </a:defRPr>
            </a:pPr>
            <a:r>
              <a:t>  High token cost (2-4×)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Agent Teams Setup</a:t>
            </a:r>
          </a:p>
        </p:txBody>
      </p:sp>
      <p:sp>
        <p:nvSpPr>
          <p:cNvPr id="3" name="Rectangle 2"/>
          <p:cNvSpPr/>
          <p:nvPr/>
        </p:nvSpPr>
        <p:spPr>
          <a:xfrm>
            <a:off x="1280160" y="3273552"/>
            <a:ext cx="8290316" cy="36576"/>
          </a:xfrm>
          <a:prstGeom prst="rect">
            <a:avLst/>
          </a:prstGeom>
          <a:solidFill>
            <a:srgbClr val="2D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26080"/>
            <a:ext cx="731520" cy="731520"/>
          </a:xfrm>
          <a:prstGeom prst="rect">
            <a:avLst/>
          </a:prstGeom>
          <a:noFill/>
        </p:spPr>
        <p:txBody>
          <a:bodyPr wrap="none" anchor="ctr">
            <a:spAutoFit/>
          </a:bodyPr>
          <a:lstStyle/>
          <a:p>
            <a:pPr algn="ctr">
              <a:defRPr sz="2800" b="1">
                <a:solidFill>
                  <a:srgbClr val="0B0F1A"/>
                </a:solidFill>
              </a:defRPr>
            </a:pPr>
            <a:r>
              <a:t>1</a:t>
            </a:r>
          </a:p>
        </p:txBody>
      </p:sp>
      <p:sp>
        <p:nvSpPr>
          <p:cNvPr id="6" name="TextBox 5"/>
          <p:cNvSpPr txBox="1"/>
          <p:nvPr/>
        </p:nvSpPr>
        <p:spPr>
          <a:xfrm>
            <a:off x="457200" y="3840480"/>
            <a:ext cx="1645920" cy="1371600"/>
          </a:xfrm>
          <a:prstGeom prst="rect">
            <a:avLst/>
          </a:prstGeom>
          <a:noFill/>
        </p:spPr>
        <p:txBody>
          <a:bodyPr wrap="square">
            <a:normAutofit/>
          </a:bodyPr>
          <a:lstStyle/>
          <a:p>
            <a:pPr algn="ctr">
              <a:defRPr sz="1800" b="1">
                <a:solidFill>
                  <a:srgbClr val="FFFFFF"/>
                </a:solidFill>
              </a:defRPr>
            </a:pPr>
            <a:r>
              <a:t>Enable experimental flag in settings</a:t>
            </a:r>
          </a:p>
        </p:txBody>
      </p:sp>
      <p:sp>
        <p:nvSpPr>
          <p:cNvPr id="7" name="Oval 6"/>
          <p:cNvSpPr/>
          <p:nvPr/>
        </p:nvSpPr>
        <p:spPr>
          <a:xfrm>
            <a:off x="2986979"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86979" y="2926080"/>
            <a:ext cx="731520" cy="731520"/>
          </a:xfrm>
          <a:prstGeom prst="rect">
            <a:avLst/>
          </a:prstGeom>
          <a:noFill/>
        </p:spPr>
        <p:txBody>
          <a:bodyPr wrap="none" anchor="ctr">
            <a:spAutoFit/>
          </a:bodyPr>
          <a:lstStyle/>
          <a:p>
            <a:pPr algn="ctr">
              <a:defRPr sz="2800" b="1">
                <a:solidFill>
                  <a:srgbClr val="0B0F1A"/>
                </a:solidFill>
              </a:defRPr>
            </a:pPr>
            <a:r>
              <a:t>2</a:t>
            </a:r>
          </a:p>
        </p:txBody>
      </p:sp>
      <p:sp>
        <p:nvSpPr>
          <p:cNvPr id="9" name="TextBox 8"/>
          <p:cNvSpPr txBox="1"/>
          <p:nvPr/>
        </p:nvSpPr>
        <p:spPr>
          <a:xfrm>
            <a:off x="2529779" y="3840480"/>
            <a:ext cx="1645920" cy="1371600"/>
          </a:xfrm>
          <a:prstGeom prst="rect">
            <a:avLst/>
          </a:prstGeom>
          <a:noFill/>
        </p:spPr>
        <p:txBody>
          <a:bodyPr wrap="square">
            <a:normAutofit/>
          </a:bodyPr>
          <a:lstStyle/>
          <a:p>
            <a:pPr algn="ctr">
              <a:defRPr sz="1800" b="1">
                <a:solidFill>
                  <a:srgbClr val="FFFFFF"/>
                </a:solidFill>
              </a:defRPr>
            </a:pPr>
            <a:r>
              <a:t>Install TMux (Linux/Mac) or WSL (Windows)</a:t>
            </a:r>
          </a:p>
        </p:txBody>
      </p:sp>
      <p:sp>
        <p:nvSpPr>
          <p:cNvPr id="10" name="Oval 9"/>
          <p:cNvSpPr/>
          <p:nvPr/>
        </p:nvSpPr>
        <p:spPr>
          <a:xfrm>
            <a:off x="5059558"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59558" y="2926080"/>
            <a:ext cx="731520" cy="731520"/>
          </a:xfrm>
          <a:prstGeom prst="rect">
            <a:avLst/>
          </a:prstGeom>
          <a:noFill/>
        </p:spPr>
        <p:txBody>
          <a:bodyPr wrap="none" anchor="ctr">
            <a:spAutoFit/>
          </a:bodyPr>
          <a:lstStyle/>
          <a:p>
            <a:pPr algn="ctr">
              <a:defRPr sz="2800" b="1">
                <a:solidFill>
                  <a:srgbClr val="0B0F1A"/>
                </a:solidFill>
              </a:defRPr>
            </a:pPr>
            <a:r>
              <a:t>3</a:t>
            </a:r>
          </a:p>
        </p:txBody>
      </p:sp>
      <p:sp>
        <p:nvSpPr>
          <p:cNvPr id="12" name="TextBox 11"/>
          <p:cNvSpPr txBox="1"/>
          <p:nvPr/>
        </p:nvSpPr>
        <p:spPr>
          <a:xfrm>
            <a:off x="4602358" y="3840480"/>
            <a:ext cx="1645920" cy="1371600"/>
          </a:xfrm>
          <a:prstGeom prst="rect">
            <a:avLst/>
          </a:prstGeom>
          <a:noFill/>
        </p:spPr>
        <p:txBody>
          <a:bodyPr wrap="square">
            <a:normAutofit/>
          </a:bodyPr>
          <a:lstStyle/>
          <a:p>
            <a:pPr algn="ctr">
              <a:defRPr sz="1800" b="1">
                <a:solidFill>
                  <a:srgbClr val="FFFFFF"/>
                </a:solidFill>
              </a:defRPr>
            </a:pPr>
            <a:r>
              <a:t>Start Claude Code</a:t>
            </a:r>
          </a:p>
        </p:txBody>
      </p:sp>
      <p:sp>
        <p:nvSpPr>
          <p:cNvPr id="13" name="Oval 12"/>
          <p:cNvSpPr/>
          <p:nvPr/>
        </p:nvSpPr>
        <p:spPr>
          <a:xfrm>
            <a:off x="7132137"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137" y="2926080"/>
            <a:ext cx="731520" cy="731520"/>
          </a:xfrm>
          <a:prstGeom prst="rect">
            <a:avLst/>
          </a:prstGeom>
          <a:noFill/>
        </p:spPr>
        <p:txBody>
          <a:bodyPr wrap="none" anchor="ctr">
            <a:spAutoFit/>
          </a:bodyPr>
          <a:lstStyle/>
          <a:p>
            <a:pPr algn="ctr">
              <a:defRPr sz="2800" b="1">
                <a:solidFill>
                  <a:srgbClr val="0B0F1A"/>
                </a:solidFill>
              </a:defRPr>
            </a:pPr>
            <a:r>
              <a:t>4</a:t>
            </a:r>
          </a:p>
        </p:txBody>
      </p:sp>
      <p:sp>
        <p:nvSpPr>
          <p:cNvPr id="15" name="TextBox 14"/>
          <p:cNvSpPr txBox="1"/>
          <p:nvPr/>
        </p:nvSpPr>
        <p:spPr>
          <a:xfrm>
            <a:off x="6674937" y="3840480"/>
            <a:ext cx="1645920" cy="1371600"/>
          </a:xfrm>
          <a:prstGeom prst="rect">
            <a:avLst/>
          </a:prstGeom>
          <a:noFill/>
        </p:spPr>
        <p:txBody>
          <a:bodyPr wrap="square">
            <a:normAutofit/>
          </a:bodyPr>
          <a:lstStyle/>
          <a:p>
            <a:pPr algn="ctr">
              <a:defRPr sz="1800" b="1">
                <a:solidFill>
                  <a:srgbClr val="FFFFFF"/>
                </a:solidFill>
              </a:defRPr>
            </a:pPr>
            <a:r>
              <a:t>Request agent team</a:t>
            </a:r>
          </a:p>
        </p:txBody>
      </p:sp>
      <p:sp>
        <p:nvSpPr>
          <p:cNvPr id="16" name="Oval 15"/>
          <p:cNvSpPr/>
          <p:nvPr/>
        </p:nvSpPr>
        <p:spPr>
          <a:xfrm>
            <a:off x="9204716" y="2926080"/>
            <a:ext cx="731520" cy="73152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04716" y="2926080"/>
            <a:ext cx="731520" cy="731520"/>
          </a:xfrm>
          <a:prstGeom prst="rect">
            <a:avLst/>
          </a:prstGeom>
          <a:noFill/>
        </p:spPr>
        <p:txBody>
          <a:bodyPr wrap="none" anchor="ctr">
            <a:spAutoFit/>
          </a:bodyPr>
          <a:lstStyle/>
          <a:p>
            <a:pPr algn="ctr">
              <a:defRPr sz="2800" b="1">
                <a:solidFill>
                  <a:srgbClr val="0B0F1A"/>
                </a:solidFill>
              </a:defRPr>
            </a:pPr>
            <a:r>
              <a:t>5</a:t>
            </a:r>
          </a:p>
        </p:txBody>
      </p:sp>
      <p:sp>
        <p:nvSpPr>
          <p:cNvPr id="18" name="TextBox 17"/>
          <p:cNvSpPr txBox="1"/>
          <p:nvPr/>
        </p:nvSpPr>
        <p:spPr>
          <a:xfrm>
            <a:off x="8747516" y="3840480"/>
            <a:ext cx="1645920" cy="1371600"/>
          </a:xfrm>
          <a:prstGeom prst="rect">
            <a:avLst/>
          </a:prstGeom>
          <a:noFill/>
        </p:spPr>
        <p:txBody>
          <a:bodyPr wrap="square">
            <a:normAutofit/>
          </a:bodyPr>
          <a:lstStyle/>
          <a:p>
            <a:pPr algn="ctr">
              <a:defRPr sz="1800" b="1">
                <a:solidFill>
                  <a:srgbClr val="FFFFFF"/>
                </a:solidFill>
              </a:defRPr>
            </a:pPr>
            <a:r>
              <a:t>Agents spawn in split panes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Agent Teams in Action</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Parallel code review with specialized agents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Real-World: Parallel Agent Processing</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Before</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After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Custom Sub-Agents: Multi-Persona Review</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Each sub-agent has a persona-specific system prompt that shapes its review lens.</a:t>
            </a:r>
          </a:p>
          <a:p>
            <a:pPr>
              <a:spcBef>
                <a:spcPts val="800"/>
              </a:spcBef>
              <a:spcAft>
                <a:spcPts val="800"/>
              </a:spcAft>
              <a:defRPr sz="2200">
                <a:solidFill>
                  <a:srgbClr val="FFFFFF"/>
                </a:solidFill>
              </a:defRPr>
            </a:pPr>
            <a:r>
              <a:t>  Engineer focuses on: technical feasibility, performance, security, architecture.</a:t>
            </a:r>
          </a:p>
          <a:p>
            <a:pPr>
              <a:spcBef>
                <a:spcPts val="800"/>
              </a:spcBef>
              <a:spcAft>
                <a:spcPts val="800"/>
              </a:spcAft>
              <a:defRPr sz="2200">
                <a:solidFill>
                  <a:srgbClr val="FFFFFF"/>
                </a:solidFill>
              </a:defRPr>
            </a:pPr>
            <a:r>
              <a:t>  UX focuses on: user flow, accessibility, cognitive load, edge cases.</a:t>
            </a:r>
          </a:p>
          <a:p>
            <a:pPr>
              <a:spcBef>
                <a:spcPts val="800"/>
              </a:spcBef>
              <a:spcAft>
                <a:spcPts val="800"/>
              </a:spcAft>
              <a:defRPr sz="2200">
                <a:solidFill>
                  <a:srgbClr val="FFFFFF"/>
                </a:solidFill>
              </a:defRPr>
            </a:pPr>
            <a:r>
              <a:t>  Business focuses on: market fit, pricing, competitive positioning, ROI.</a:t>
            </a:r>
          </a:p>
          <a:p>
            <a:pPr>
              <a:spcBef>
                <a:spcPts val="800"/>
              </a:spcBef>
              <a:spcAft>
                <a:spcPts val="800"/>
              </a:spcAft>
              <a:defRPr sz="2200">
                <a:solidFill>
                  <a:srgbClr val="FFFFFF"/>
                </a:solidFill>
              </a:defRPr>
            </a:pPr>
            <a:r>
              <a:t>  The synthesis is where the magic happens — agreements validate, conflicts highlight blind spots.</a:t>
            </a:r>
          </a:p>
          <a:p>
            <a:pPr>
              <a:spcBef>
                <a:spcPts val="800"/>
              </a:spcBef>
              <a:spcAft>
                <a:spcPts val="800"/>
              </a:spcAft>
              <a:defRPr sz="2200">
                <a:solidFill>
                  <a:srgbClr val="FFFFFF"/>
                </a:solidFill>
              </a:defRPr>
            </a:pPr>
            <a:r>
              <a:t>  Source: Mohit Aggarwal, Claude Code for Product Managers.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Decision Framework: When to Use Agent Teams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Use Agent Teams For</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Multi-layer features (DB + API + UI)</a:t>
            </a:r>
          </a:p>
          <a:p>
            <a:pPr>
              <a:spcAft>
                <a:spcPts val="1200"/>
              </a:spcAft>
              <a:defRPr sz="1800">
                <a:solidFill>
                  <a:srgbClr val="FFFFFF"/>
                </a:solidFill>
              </a:defRPr>
            </a:pPr>
            <a:r>
              <a:t>  Agents need to coordinate</a:t>
            </a:r>
          </a:p>
          <a:p>
            <a:pPr>
              <a:spcAft>
                <a:spcPts val="1200"/>
              </a:spcAft>
              <a:defRPr sz="1800">
                <a:solidFill>
                  <a:srgbClr val="FFFFFF"/>
                </a:solidFill>
              </a:defRPr>
            </a:pPr>
            <a:r>
              <a:t>  Parallel implementation</a:t>
            </a:r>
          </a:p>
          <a:p>
            <a:pPr>
              <a:spcAft>
                <a:spcPts val="1200"/>
              </a:spcAft>
              <a:defRPr sz="1800">
                <a:solidFill>
                  <a:srgbClr val="FFFFFF"/>
                </a:solidFill>
              </a:defRPr>
            </a:pPr>
            <a:r>
              <a:t>  Competing hypotheses debugging</a:t>
            </a:r>
          </a:p>
          <a:p>
            <a:pPr>
              <a:spcAft>
                <a:spcPts val="1200"/>
              </a:spcAft>
              <a:defRPr sz="1800">
                <a:solidFill>
                  <a:srgbClr val="FFFFFF"/>
                </a:solidFill>
              </a:defRPr>
            </a:pPr>
            <a:r>
              <a:t>  Complex architecture decisions</a:t>
            </a:r>
          </a:p>
          <a:p>
            <a:pPr>
              <a:spcAft>
                <a:spcPts val="1200"/>
              </a:spcAft>
              <a:defRPr sz="1800">
                <a:solidFill>
                  <a:srgbClr val="FFFFFF"/>
                </a:solidFill>
              </a:defRPr>
            </a:pPr>
            <a:r>
              <a:t>  When time &gt; cost</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78D4"/>
                </a:solidFill>
              </a:defRPr>
            </a:pPr>
            <a:r>
              <a:t>Use Sub-agents For</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Focused research</a:t>
            </a:r>
          </a:p>
          <a:p>
            <a:pPr>
              <a:spcAft>
                <a:spcPts val="1200"/>
              </a:spcAft>
              <a:defRPr sz="1800">
                <a:solidFill>
                  <a:srgbClr val="FFFFFF"/>
                </a:solidFill>
              </a:defRPr>
            </a:pPr>
            <a:r>
              <a:t>  Context isolation wanted</a:t>
            </a:r>
          </a:p>
          <a:p>
            <a:pPr>
              <a:spcAft>
                <a:spcPts val="1200"/>
              </a:spcAft>
              <a:defRPr sz="1800">
                <a:solidFill>
                  <a:srgbClr val="FFFFFF"/>
                </a:solidFill>
              </a:defRPr>
            </a:pPr>
            <a:r>
              <a:t>  Summary sufficient</a:t>
            </a:r>
          </a:p>
          <a:p>
            <a:pPr>
              <a:spcAft>
                <a:spcPts val="1200"/>
              </a:spcAft>
              <a:defRPr sz="1800">
                <a:solidFill>
                  <a:srgbClr val="FFFFFF"/>
                </a:solidFill>
              </a:defRPr>
            </a:pPr>
            <a:r>
              <a:t>  No coordination needed</a:t>
            </a:r>
          </a:p>
          <a:p>
            <a:pPr>
              <a:spcAft>
                <a:spcPts val="1200"/>
              </a:spcAft>
              <a:defRPr sz="1800">
                <a:solidFill>
                  <a:srgbClr val="FFFFFF"/>
                </a:solidFill>
              </a:defRPr>
            </a:pPr>
            <a:r>
              <a:t>  Cost optimization priority</a:t>
            </a:r>
          </a:p>
          <a:p>
            <a:pPr>
              <a:spcAft>
                <a:spcPts val="1200"/>
              </a:spcAft>
              <a:defRPr sz="1800">
                <a:solidFill>
                  <a:srgbClr val="FFFFFF"/>
                </a:solidFill>
              </a:defRPr>
            </a:pPr>
            <a:r>
              <a:t>  Simple analysis tasks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Agent Teams Best Practices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Be specific about roles: 'database, backend, frontend, testing'</a:t>
            </a:r>
          </a:p>
          <a:p>
            <a:pPr>
              <a:spcBef>
                <a:spcPts val="800"/>
              </a:spcBef>
              <a:spcAft>
                <a:spcPts val="800"/>
              </a:spcAft>
              <a:defRPr sz="2200">
                <a:solidFill>
                  <a:srgbClr val="FFFFFF"/>
                </a:solidFill>
              </a:defRPr>
            </a:pPr>
            <a:r>
              <a:t>  Contract-first spawning: Database defines schema BEFORE backend starts</a:t>
            </a:r>
          </a:p>
          <a:p>
            <a:pPr>
              <a:spcBef>
                <a:spcPts val="800"/>
              </a:spcBef>
              <a:spcAft>
                <a:spcPts val="800"/>
              </a:spcAft>
              <a:defRPr sz="2200">
                <a:solidFill>
                  <a:srgbClr val="FFFFFF"/>
                </a:solidFill>
              </a:defRPr>
            </a:pPr>
            <a:r>
              <a:t>  Use TMux split panes for visibility</a:t>
            </a:r>
          </a:p>
          <a:p>
            <a:pPr>
              <a:spcBef>
                <a:spcPts val="800"/>
              </a:spcBef>
              <a:spcAft>
                <a:spcPts val="800"/>
              </a:spcAft>
              <a:defRPr sz="2200">
                <a:solidFill>
                  <a:srgbClr val="FFFFFF"/>
                </a:solidFill>
              </a:defRPr>
            </a:pPr>
            <a:r>
              <a:t>  Monitor closely - agents can go off-track</a:t>
            </a:r>
          </a:p>
          <a:p>
            <a:pPr>
              <a:spcBef>
                <a:spcPts val="800"/>
              </a:spcBef>
              <a:spcAft>
                <a:spcPts val="800"/>
              </a:spcAft>
              <a:defRPr sz="2200">
                <a:solidFill>
                  <a:srgbClr val="FFFFFF"/>
                </a:solidFill>
              </a:defRPr>
            </a:pPr>
            <a:r>
              <a:t>  Budget tokens: 2-4× normal Claude Code usage</a:t>
            </a:r>
          </a:p>
          <a:p>
            <a:pPr>
              <a:spcBef>
                <a:spcPts val="800"/>
              </a:spcBef>
              <a:spcAft>
                <a:spcPts val="800"/>
              </a:spcAft>
              <a:defRPr sz="2200">
                <a:solidFill>
                  <a:srgbClr val="FFFFFF"/>
                </a:solidFill>
              </a:defRPr>
            </a:pPr>
            <a:r>
              <a:t>  Start small: 2-3 agents before scaling to larger teams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Contract-First Spawning Pattern</a:t>
            </a:r>
          </a:p>
        </p:txBody>
      </p:sp>
      <p:sp>
        <p:nvSpPr>
          <p:cNvPr id="3" name="Rounded Rectangle 2"/>
          <p:cNvSpPr/>
          <p:nvPr/>
        </p:nvSpPr>
        <p:spPr>
          <a:xfrm>
            <a:off x="2255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18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183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TextBox 5"/>
          <p:cNvSpPr txBox="1"/>
          <p:nvPr/>
        </p:nvSpPr>
        <p:spPr>
          <a:xfrm>
            <a:off x="2255367" y="1371600"/>
            <a:ext cx="822960" cy="822960"/>
          </a:xfrm>
          <a:prstGeom prst="rect">
            <a:avLst/>
          </a:prstGeom>
          <a:noFill/>
        </p:spPr>
        <p:txBody>
          <a:bodyPr wrap="none" anchor="ctr">
            <a:spAutoFit/>
          </a:bodyPr>
          <a:lstStyle/>
          <a:p>
            <a:pPr algn="ctr">
              <a:defRPr sz="2800" b="1">
                <a:solidFill>
                  <a:srgbClr val="00D4AA"/>
                </a:solidFill>
              </a:defRPr>
            </a:pPr>
            <a:r>
              <a:t>1</a:t>
            </a:r>
          </a:p>
        </p:txBody>
      </p:sp>
      <p:sp>
        <p:nvSpPr>
          <p:cNvPr id="7" name="Right Arrow 6"/>
          <p:cNvSpPr/>
          <p:nvPr/>
        </p:nvSpPr>
        <p:spPr>
          <a:xfrm>
            <a:off x="31697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26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89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899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1" name="TextBox 10"/>
          <p:cNvSpPr txBox="1"/>
          <p:nvPr/>
        </p:nvSpPr>
        <p:spPr>
          <a:xfrm>
            <a:off x="3626967" y="1371600"/>
            <a:ext cx="822960" cy="822960"/>
          </a:xfrm>
          <a:prstGeom prst="rect">
            <a:avLst/>
          </a:prstGeom>
          <a:noFill/>
        </p:spPr>
        <p:txBody>
          <a:bodyPr wrap="none" anchor="ctr">
            <a:spAutoFit/>
          </a:bodyPr>
          <a:lstStyle/>
          <a:p>
            <a:pPr algn="ctr">
              <a:defRPr sz="2800" b="1">
                <a:solidFill>
                  <a:srgbClr val="00D4AA"/>
                </a:solidFill>
              </a:defRPr>
            </a:pPr>
            <a:r>
              <a:t>2</a:t>
            </a:r>
          </a:p>
        </p:txBody>
      </p:sp>
      <p:sp>
        <p:nvSpPr>
          <p:cNvPr id="12" name="Right Arrow 11"/>
          <p:cNvSpPr/>
          <p:nvPr/>
        </p:nvSpPr>
        <p:spPr>
          <a:xfrm>
            <a:off x="45413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9985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615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15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6" name="TextBox 15"/>
          <p:cNvSpPr txBox="1"/>
          <p:nvPr/>
        </p:nvSpPr>
        <p:spPr>
          <a:xfrm>
            <a:off x="4998567" y="1371600"/>
            <a:ext cx="822960" cy="822960"/>
          </a:xfrm>
          <a:prstGeom prst="rect">
            <a:avLst/>
          </a:prstGeom>
          <a:noFill/>
        </p:spPr>
        <p:txBody>
          <a:bodyPr wrap="none" anchor="ctr">
            <a:spAutoFit/>
          </a:bodyPr>
          <a:lstStyle/>
          <a:p>
            <a:pPr algn="ctr">
              <a:defRPr sz="2800" b="1">
                <a:solidFill>
                  <a:srgbClr val="00D4AA"/>
                </a:solidFill>
              </a:defRPr>
            </a:pPr>
            <a:r>
              <a:t>3</a:t>
            </a:r>
          </a:p>
        </p:txBody>
      </p:sp>
      <p:sp>
        <p:nvSpPr>
          <p:cNvPr id="17" name="Right Arrow 16"/>
          <p:cNvSpPr/>
          <p:nvPr/>
        </p:nvSpPr>
        <p:spPr>
          <a:xfrm>
            <a:off x="59129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701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331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33107" y="1211580"/>
            <a:ext cx="320040" cy="320040"/>
          </a:xfrm>
          <a:prstGeom prst="rect">
            <a:avLst/>
          </a:prstGeom>
          <a:noFill/>
        </p:spPr>
        <p:txBody>
          <a:bodyPr wrap="none" anchor="ctr">
            <a:spAutoFit/>
          </a:bodyPr>
          <a:lstStyle/>
          <a:p>
            <a:pPr algn="ctr">
              <a:defRPr sz="1400" b="1">
                <a:solidFill>
                  <a:srgbClr val="0B0F1A"/>
                </a:solidFill>
              </a:defRPr>
            </a:pPr>
            <a:r>
              <a:t>4</a:t>
            </a:r>
          </a:p>
        </p:txBody>
      </p:sp>
      <p:sp>
        <p:nvSpPr>
          <p:cNvPr id="21" name="TextBox 20"/>
          <p:cNvSpPr txBox="1"/>
          <p:nvPr/>
        </p:nvSpPr>
        <p:spPr>
          <a:xfrm>
            <a:off x="6370167" y="1371600"/>
            <a:ext cx="822960" cy="822960"/>
          </a:xfrm>
          <a:prstGeom prst="rect">
            <a:avLst/>
          </a:prstGeom>
          <a:noFill/>
        </p:spPr>
        <p:txBody>
          <a:bodyPr wrap="none" anchor="ctr">
            <a:spAutoFit/>
          </a:bodyPr>
          <a:lstStyle/>
          <a:p>
            <a:pPr algn="ctr">
              <a:defRPr sz="2800" b="1">
                <a:solidFill>
                  <a:srgbClr val="00D4AA"/>
                </a:solidFill>
              </a:defRPr>
            </a:pPr>
            <a:r>
              <a:t>4</a:t>
            </a:r>
          </a:p>
        </p:txBody>
      </p:sp>
      <p:sp>
        <p:nvSpPr>
          <p:cNvPr id="22" name="Right Arrow 21"/>
          <p:cNvSpPr/>
          <p:nvPr/>
        </p:nvSpPr>
        <p:spPr>
          <a:xfrm>
            <a:off x="72845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41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404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04707" y="1211580"/>
            <a:ext cx="320040" cy="320040"/>
          </a:xfrm>
          <a:prstGeom prst="rect">
            <a:avLst/>
          </a:prstGeom>
          <a:noFill/>
        </p:spPr>
        <p:txBody>
          <a:bodyPr wrap="none" anchor="ctr">
            <a:spAutoFit/>
          </a:bodyPr>
          <a:lstStyle/>
          <a:p>
            <a:pPr algn="ctr">
              <a:defRPr sz="1400" b="1">
                <a:solidFill>
                  <a:srgbClr val="0B0F1A"/>
                </a:solidFill>
              </a:defRPr>
            </a:pPr>
            <a:r>
              <a:t>5</a:t>
            </a:r>
          </a:p>
        </p:txBody>
      </p:sp>
      <p:sp>
        <p:nvSpPr>
          <p:cNvPr id="26" name="TextBox 25"/>
          <p:cNvSpPr txBox="1"/>
          <p:nvPr/>
        </p:nvSpPr>
        <p:spPr>
          <a:xfrm>
            <a:off x="7741767" y="1371600"/>
            <a:ext cx="822960" cy="822960"/>
          </a:xfrm>
          <a:prstGeom prst="rect">
            <a:avLst/>
          </a:prstGeom>
          <a:noFill/>
        </p:spPr>
        <p:txBody>
          <a:bodyPr wrap="none" anchor="ctr">
            <a:spAutoFit/>
          </a:bodyPr>
          <a:lstStyle/>
          <a:p>
            <a:pPr algn="ctr">
              <a:defRPr sz="2800" b="1">
                <a:solidFill>
                  <a:srgbClr val="00D4AA"/>
                </a:solidFill>
              </a:defRPr>
            </a:pPr>
            <a:r>
              <a:t>5</a:t>
            </a:r>
          </a:p>
        </p:txBody>
      </p:sp>
      <p:sp>
        <p:nvSpPr>
          <p:cNvPr id="27" name="Right Arrow 26"/>
          <p:cNvSpPr/>
          <p:nvPr/>
        </p:nvSpPr>
        <p:spPr>
          <a:xfrm>
            <a:off x="86561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113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776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76307" y="1211580"/>
            <a:ext cx="320040" cy="320040"/>
          </a:xfrm>
          <a:prstGeom prst="rect">
            <a:avLst/>
          </a:prstGeom>
          <a:noFill/>
        </p:spPr>
        <p:txBody>
          <a:bodyPr wrap="none" anchor="ctr">
            <a:spAutoFit/>
          </a:bodyPr>
          <a:lstStyle/>
          <a:p>
            <a:pPr algn="ctr">
              <a:defRPr sz="1400" b="1">
                <a:solidFill>
                  <a:srgbClr val="0B0F1A"/>
                </a:solidFill>
              </a:defRPr>
            </a:pPr>
            <a:r>
              <a:t>6</a:t>
            </a:r>
          </a:p>
        </p:txBody>
      </p:sp>
      <p:sp>
        <p:nvSpPr>
          <p:cNvPr id="31" name="TextBox 30"/>
          <p:cNvSpPr txBox="1"/>
          <p:nvPr/>
        </p:nvSpPr>
        <p:spPr>
          <a:xfrm>
            <a:off x="9113367" y="1371600"/>
            <a:ext cx="822960" cy="822960"/>
          </a:xfrm>
          <a:prstGeom prst="rect">
            <a:avLst/>
          </a:prstGeom>
          <a:noFill/>
        </p:spPr>
        <p:txBody>
          <a:bodyPr wrap="none" anchor="ctr">
            <a:spAutoFit/>
          </a:bodyPr>
          <a:lstStyle/>
          <a:p>
            <a:pPr algn="ctr">
              <a:defRPr sz="2800" b="1">
                <a:solidFill>
                  <a:srgbClr val="00D4AA"/>
                </a:solidFill>
              </a:defRPr>
            </a:pPr>
            <a:r>
              <a:t>6</a:t>
            </a:r>
          </a:p>
        </p:txBody>
      </p:sp>
      <p:sp>
        <p:nvSpPr>
          <p:cNvPr id="32" name="TextBox 31"/>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33" name="TextBox 32"/>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Spawn database agent → Define schema</a:t>
            </a:r>
          </a:p>
        </p:txBody>
      </p:sp>
      <p:sp>
        <p:nvSpPr>
          <p:cNvPr id="34" name="TextBox 33"/>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35" name="TextBox 34"/>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Database sends contract to lead</a:t>
            </a:r>
          </a:p>
        </p:txBody>
      </p:sp>
      <p:sp>
        <p:nvSpPr>
          <p:cNvPr id="36" name="TextBox 35"/>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37" name="TextBox 36"/>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Spawn backend agent → Use schema contract</a:t>
            </a:r>
          </a:p>
        </p:txBody>
      </p:sp>
      <p:sp>
        <p:nvSpPr>
          <p:cNvPr id="38" name="TextBox 37"/>
          <p:cNvSpPr txBox="1"/>
          <p:nvPr/>
        </p:nvSpPr>
        <p:spPr>
          <a:xfrm>
            <a:off x="1371600" y="4663440"/>
            <a:ext cx="457200" cy="457200"/>
          </a:xfrm>
          <a:prstGeom prst="rect">
            <a:avLst/>
          </a:prstGeom>
          <a:noFill/>
        </p:spPr>
        <p:txBody>
          <a:bodyPr wrap="none">
            <a:spAutoFit/>
          </a:bodyPr>
          <a:lstStyle/>
          <a:p>
            <a:pPr>
              <a:defRPr sz="2000" b="1">
                <a:solidFill>
                  <a:srgbClr val="00D4AA"/>
                </a:solidFill>
              </a:defRPr>
            </a:pPr>
            <a:r>
              <a:t>4</a:t>
            </a:r>
          </a:p>
        </p:txBody>
      </p:sp>
      <p:sp>
        <p:nvSpPr>
          <p:cNvPr id="39" name="TextBox 38"/>
          <p:cNvSpPr txBox="1"/>
          <p:nvPr/>
        </p:nvSpPr>
        <p:spPr>
          <a:xfrm>
            <a:off x="1828800" y="4663440"/>
            <a:ext cx="8991295" cy="548640"/>
          </a:xfrm>
          <a:prstGeom prst="rect">
            <a:avLst/>
          </a:prstGeom>
          <a:noFill/>
        </p:spPr>
        <p:txBody>
          <a:bodyPr wrap="square">
            <a:spAutoFit/>
          </a:bodyPr>
          <a:lstStyle/>
          <a:p>
            <a:pPr>
              <a:defRPr sz="1800">
                <a:solidFill>
                  <a:srgbClr val="FFFFFF"/>
                </a:solidFill>
              </a:defRPr>
            </a:pPr>
            <a:r>
              <a:t>Backend sends API contract to lead</a:t>
            </a:r>
          </a:p>
        </p:txBody>
      </p:sp>
      <p:sp>
        <p:nvSpPr>
          <p:cNvPr id="40" name="TextBox 39"/>
          <p:cNvSpPr txBox="1"/>
          <p:nvPr/>
        </p:nvSpPr>
        <p:spPr>
          <a:xfrm>
            <a:off x="1371600" y="5303520"/>
            <a:ext cx="457200" cy="457200"/>
          </a:xfrm>
          <a:prstGeom prst="rect">
            <a:avLst/>
          </a:prstGeom>
          <a:noFill/>
        </p:spPr>
        <p:txBody>
          <a:bodyPr wrap="none">
            <a:spAutoFit/>
          </a:bodyPr>
          <a:lstStyle/>
          <a:p>
            <a:pPr>
              <a:defRPr sz="2000" b="1">
                <a:solidFill>
                  <a:srgbClr val="00D4AA"/>
                </a:solidFill>
              </a:defRPr>
            </a:pPr>
            <a:r>
              <a:t>5</a:t>
            </a:r>
          </a:p>
        </p:txBody>
      </p:sp>
      <p:sp>
        <p:nvSpPr>
          <p:cNvPr id="41" name="TextBox 40"/>
          <p:cNvSpPr txBox="1"/>
          <p:nvPr/>
        </p:nvSpPr>
        <p:spPr>
          <a:xfrm>
            <a:off x="1828800" y="5303520"/>
            <a:ext cx="8991295" cy="548640"/>
          </a:xfrm>
          <a:prstGeom prst="rect">
            <a:avLst/>
          </a:prstGeom>
          <a:noFill/>
        </p:spPr>
        <p:txBody>
          <a:bodyPr wrap="square">
            <a:spAutoFit/>
          </a:bodyPr>
          <a:lstStyle/>
          <a:p>
            <a:pPr>
              <a:defRPr sz="1800">
                <a:solidFill>
                  <a:srgbClr val="FFFFFF"/>
                </a:solidFill>
              </a:defRPr>
            </a:pPr>
            <a:r>
              <a:t>Spawn frontend agent → Use API contract</a:t>
            </a:r>
          </a:p>
        </p:txBody>
      </p:sp>
      <p:sp>
        <p:nvSpPr>
          <p:cNvPr id="42" name="TextBox 41"/>
          <p:cNvSpPr txBox="1"/>
          <p:nvPr/>
        </p:nvSpPr>
        <p:spPr>
          <a:xfrm>
            <a:off x="1371600" y="5943600"/>
            <a:ext cx="457200" cy="457200"/>
          </a:xfrm>
          <a:prstGeom prst="rect">
            <a:avLst/>
          </a:prstGeom>
          <a:noFill/>
        </p:spPr>
        <p:txBody>
          <a:bodyPr wrap="none">
            <a:spAutoFit/>
          </a:bodyPr>
          <a:lstStyle/>
          <a:p>
            <a:pPr>
              <a:defRPr sz="2000" b="1">
                <a:solidFill>
                  <a:srgbClr val="00D4AA"/>
                </a:solidFill>
              </a:defRPr>
            </a:pPr>
            <a:r>
              <a:t>6</a:t>
            </a:r>
          </a:p>
        </p:txBody>
      </p:sp>
      <p:sp>
        <p:nvSpPr>
          <p:cNvPr id="43" name="TextBox 42"/>
          <p:cNvSpPr txBox="1"/>
          <p:nvPr/>
        </p:nvSpPr>
        <p:spPr>
          <a:xfrm>
            <a:off x="1828800" y="5943600"/>
            <a:ext cx="8991295" cy="548640"/>
          </a:xfrm>
          <a:prstGeom prst="rect">
            <a:avLst/>
          </a:prstGeom>
          <a:noFill/>
        </p:spPr>
        <p:txBody>
          <a:bodyPr wrap="square">
            <a:spAutoFit/>
          </a:bodyPr>
          <a:lstStyle/>
          <a:p>
            <a:pPr>
              <a:defRPr sz="1800">
                <a:solidFill>
                  <a:srgbClr val="FFFFFF"/>
                </a:solidFill>
              </a:defRPr>
            </a:pPr>
            <a:r>
              <a:t>All agents continue in parallel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Git Worktrees: Parallel Sessions Without Conflicts</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1800" b="1">
                <a:solidFill>
                  <a:srgbClr val="FFFFFF"/>
                </a:solidFill>
              </a:defRPr>
            </a:pPr>
            <a:r>
              <a:t>What Are Worktrees?</a:t>
            </a:r>
          </a:p>
          <a:p>
            <a:pPr algn="ctr">
              <a:spcBef>
                <a:spcPts val="800"/>
              </a:spcBef>
              <a:defRPr sz="1300">
                <a:solidFill>
                  <a:srgbClr val="8B95A5"/>
                </a:solidFill>
              </a:defRPr>
            </a:pPr>
            <a:r>
              <a:t>Isolated working directories sharing the same Git history.</a:t>
            </a:r>
            <a:br/>
            <a:br/>
            <a:r>
              <a:t>Each worktree = separate branch + separate folder.</a:t>
            </a:r>
            <a:br/>
            <a:br/>
            <a:r>
              <a:t>Multiple Claude Code instances work simultaneously without stepping on each other's files.</a:t>
            </a: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1800" b="1">
                <a:solidFill>
                  <a:srgbClr val="FFFFFF"/>
                </a:solidFill>
              </a:defRPr>
            </a:pPr>
            <a:r>
              <a:t>The Workflow</a:t>
            </a:r>
          </a:p>
          <a:p>
            <a:pPr algn="ctr">
              <a:spcBef>
                <a:spcPts val="800"/>
              </a:spcBef>
              <a:defRPr sz="1300">
                <a:solidFill>
                  <a:srgbClr val="8B95A5"/>
                </a:solidFill>
              </a:defRPr>
            </a:pPr>
            <a:r>
              <a:t>1. git worktree add ../feature-auth auth-branch</a:t>
            </a:r>
            <a:br/>
            <a:r>
              <a:t>2. git worktree add ../feature-api api-branch</a:t>
            </a:r>
            <a:br/>
            <a:r>
              <a:t>3. Run Claude Code in each worktree folder</a:t>
            </a:r>
            <a:br/>
            <a:r>
              <a:t>4. Each instance has full isolation</a:t>
            </a:r>
            <a:br/>
            <a:r>
              <a:t>5. Merge branches when complete</a:t>
            </a: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1800" b="1">
                <a:solidFill>
                  <a:srgbClr val="FFFFFF"/>
                </a:solidFill>
              </a:defRPr>
            </a:pPr>
            <a:r>
              <a:t>When to Use</a:t>
            </a:r>
          </a:p>
          <a:p>
            <a:pPr algn="ctr">
              <a:spcBef>
                <a:spcPts val="800"/>
              </a:spcBef>
              <a:defRPr sz="1300">
                <a:solidFill>
                  <a:srgbClr val="8B95A5"/>
                </a:solidFill>
              </a:defRPr>
            </a:pPr>
            <a:r>
              <a:t>• Multiple features in parallel</a:t>
            </a:r>
            <a:br/>
            <a:r>
              <a:t>• Agent Teams across branches</a:t>
            </a:r>
            <a:br/>
            <a:r>
              <a:t>• Avoid merge conflicts from concurrent AI edits</a:t>
            </a:r>
            <a:br/>
            <a:r>
              <a:t>• Testing different approaches simultaneously</a:t>
            </a:r>
            <a:br/>
            <a:r>
              <a:t>• Keep main branch clean while experimenting</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Engineering Principle: Build One Workflow, Then Attach Modules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Source: Nate B Jones, 'Second Brain' video</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Lab 2: MCP &amp; Advanced Patterns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45 minutes hands-on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457200" y="365760"/>
            <a:ext cx="1097280" cy="45720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29768"/>
            <a:ext cx="1097280" cy="365760"/>
          </a:xfrm>
          <a:prstGeom prst="rect">
            <a:avLst/>
          </a:prstGeom>
          <a:noFill/>
        </p:spPr>
        <p:txBody>
          <a:bodyPr wrap="none">
            <a:spAutoFit/>
          </a:bodyPr>
          <a:lstStyle/>
          <a:p>
            <a:pPr algn="ctr">
              <a:defRPr sz="1800" b="1">
                <a:solidFill>
                  <a:srgbClr val="0B0F1A"/>
                </a:solidFill>
              </a:defRPr>
            </a:pPr>
            <a:r>
              <a:t>LAB</a:t>
            </a:r>
          </a:p>
        </p:txBody>
      </p:sp>
      <p:sp>
        <p:nvSpPr>
          <p:cNvPr id="4" name="Rounded Rectangle 3"/>
          <p:cNvSpPr/>
          <p:nvPr/>
        </p:nvSpPr>
        <p:spPr>
          <a:xfrm>
            <a:off x="10362895" y="365760"/>
            <a:ext cx="1371600" cy="457200"/>
          </a:xfrm>
          <a:prstGeom prst="roundRect">
            <a:avLst/>
          </a:prstGeom>
          <a:solidFill>
            <a:srgbClr val="141A26"/>
          </a:solidFill>
          <a:ln>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62895" y="429768"/>
            <a:ext cx="1371600" cy="365760"/>
          </a:xfrm>
          <a:prstGeom prst="rect">
            <a:avLst/>
          </a:prstGeom>
          <a:noFill/>
        </p:spPr>
        <p:txBody>
          <a:bodyPr wrap="none">
            <a:spAutoFit/>
          </a:bodyPr>
          <a:lstStyle/>
          <a:p>
            <a:pPr algn="ctr">
              <a:defRPr sz="1400" b="1">
                <a:solidFill>
                  <a:srgbClr val="00D4AA"/>
                </a:solidFill>
              </a:defRPr>
            </a:pPr>
            <a:r>
              <a:t>5 minutes</a:t>
            </a:r>
          </a:p>
        </p:txBody>
      </p:sp>
      <p:sp>
        <p:nvSpPr>
          <p:cNvPr id="6" name="TextBox 5"/>
          <p:cNvSpPr txBox="1"/>
          <p:nvPr/>
        </p:nvSpPr>
        <p:spPr>
          <a:xfrm>
            <a:off x="457200" y="1005840"/>
            <a:ext cx="11277295" cy="731520"/>
          </a:xfrm>
          <a:prstGeom prst="rect">
            <a:avLst/>
          </a:prstGeom>
          <a:noFill/>
        </p:spPr>
        <p:txBody>
          <a:bodyPr wrap="none">
            <a:spAutoFit/>
          </a:bodyPr>
          <a:lstStyle/>
          <a:p>
            <a:pPr>
              <a:defRPr sz="3200" b="1">
                <a:solidFill>
                  <a:srgbClr val="FFFFFF"/>
                </a:solidFill>
              </a:defRPr>
            </a:pPr>
            <a:r>
              <a:t>Lab 2 Objectives</a:t>
            </a:r>
          </a:p>
        </p:txBody>
      </p:sp>
      <p:sp>
        <p:nvSpPr>
          <p:cNvPr id="7" name="Rectangle 6"/>
          <p:cNvSpPr/>
          <p:nvPr/>
        </p:nvSpPr>
        <p:spPr>
          <a:xfrm>
            <a:off x="457200" y="1737360"/>
            <a:ext cx="27432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57200" y="2011680"/>
            <a:ext cx="457200" cy="4572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11680"/>
            <a:ext cx="457200" cy="457200"/>
          </a:xfrm>
          <a:prstGeom prst="rect">
            <a:avLst/>
          </a:prstGeom>
          <a:noFill/>
        </p:spPr>
        <p:txBody>
          <a:bodyPr wrap="none" anchor="ctr">
            <a:spAutoFit/>
          </a:bodyPr>
          <a:lstStyle/>
          <a:p>
            <a:pPr algn="ctr">
              <a:defRPr sz="1800" b="1">
                <a:solidFill>
                  <a:srgbClr val="0B0F1A"/>
                </a:solidFill>
              </a:defRPr>
            </a:pPr>
            <a:r>
              <a:t>1</a:t>
            </a:r>
          </a:p>
        </p:txBody>
      </p:sp>
      <p:sp>
        <p:nvSpPr>
          <p:cNvPr id="10" name="TextBox 9"/>
          <p:cNvSpPr txBox="1"/>
          <p:nvPr/>
        </p:nvSpPr>
        <p:spPr>
          <a:xfrm>
            <a:off x="1097280" y="2084832"/>
            <a:ext cx="10637215" cy="640080"/>
          </a:xfrm>
          <a:prstGeom prst="rect">
            <a:avLst/>
          </a:prstGeom>
          <a:noFill/>
        </p:spPr>
        <p:txBody>
          <a:bodyPr wrap="square">
            <a:normAutofit/>
          </a:bodyPr>
          <a:lstStyle/>
          <a:p>
            <a:pPr>
              <a:defRPr sz="1800">
                <a:solidFill>
                  <a:srgbClr val="FFFFFF"/>
                </a:solidFill>
              </a:defRPr>
            </a:pPr>
            <a:r>
              <a:t>Install and configure GitHub MCP server</a:t>
            </a:r>
          </a:p>
        </p:txBody>
      </p:sp>
      <p:sp>
        <p:nvSpPr>
          <p:cNvPr id="11" name="Oval 10"/>
          <p:cNvSpPr/>
          <p:nvPr/>
        </p:nvSpPr>
        <p:spPr>
          <a:xfrm>
            <a:off x="457200" y="2788920"/>
            <a:ext cx="457200" cy="4572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788920"/>
            <a:ext cx="457200" cy="457200"/>
          </a:xfrm>
          <a:prstGeom prst="rect">
            <a:avLst/>
          </a:prstGeom>
          <a:noFill/>
        </p:spPr>
        <p:txBody>
          <a:bodyPr wrap="none" anchor="ctr">
            <a:spAutoFit/>
          </a:bodyPr>
          <a:lstStyle/>
          <a:p>
            <a:pPr algn="ctr">
              <a:defRPr sz="1800" b="1">
                <a:solidFill>
                  <a:srgbClr val="0B0F1A"/>
                </a:solidFill>
              </a:defRPr>
            </a:pPr>
            <a:r>
              <a:t>2</a:t>
            </a:r>
          </a:p>
        </p:txBody>
      </p:sp>
      <p:sp>
        <p:nvSpPr>
          <p:cNvPr id="13" name="TextBox 12"/>
          <p:cNvSpPr txBox="1"/>
          <p:nvPr/>
        </p:nvSpPr>
        <p:spPr>
          <a:xfrm>
            <a:off x="1097280" y="2862072"/>
            <a:ext cx="10637215" cy="640080"/>
          </a:xfrm>
          <a:prstGeom prst="rect">
            <a:avLst/>
          </a:prstGeom>
          <a:noFill/>
        </p:spPr>
        <p:txBody>
          <a:bodyPr wrap="square">
            <a:normAutofit/>
          </a:bodyPr>
          <a:lstStyle/>
          <a:p>
            <a:pPr>
              <a:defRPr sz="1800">
                <a:solidFill>
                  <a:srgbClr val="FFFFFF"/>
                </a:solidFill>
              </a:defRPr>
            </a:pPr>
            <a:r>
              <a:t>Build a custom MCP server for your workflow</a:t>
            </a:r>
          </a:p>
        </p:txBody>
      </p:sp>
      <p:sp>
        <p:nvSpPr>
          <p:cNvPr id="14" name="Oval 13"/>
          <p:cNvSpPr/>
          <p:nvPr/>
        </p:nvSpPr>
        <p:spPr>
          <a:xfrm>
            <a:off x="457200" y="3566160"/>
            <a:ext cx="457200" cy="4572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566160"/>
            <a:ext cx="457200" cy="457200"/>
          </a:xfrm>
          <a:prstGeom prst="rect">
            <a:avLst/>
          </a:prstGeom>
          <a:noFill/>
        </p:spPr>
        <p:txBody>
          <a:bodyPr wrap="none" anchor="ctr">
            <a:spAutoFit/>
          </a:bodyPr>
          <a:lstStyle/>
          <a:p>
            <a:pPr algn="ctr">
              <a:defRPr sz="1800" b="1">
                <a:solidFill>
                  <a:srgbClr val="0B0F1A"/>
                </a:solidFill>
              </a:defRPr>
            </a:pPr>
            <a:r>
              <a:t>3</a:t>
            </a:r>
          </a:p>
        </p:txBody>
      </p:sp>
      <p:sp>
        <p:nvSpPr>
          <p:cNvPr id="16" name="TextBox 15"/>
          <p:cNvSpPr txBox="1"/>
          <p:nvPr/>
        </p:nvSpPr>
        <p:spPr>
          <a:xfrm>
            <a:off x="1097280" y="3639312"/>
            <a:ext cx="10637215" cy="640080"/>
          </a:xfrm>
          <a:prstGeom prst="rect">
            <a:avLst/>
          </a:prstGeom>
          <a:noFill/>
        </p:spPr>
        <p:txBody>
          <a:bodyPr wrap="square">
            <a:normAutofit/>
          </a:bodyPr>
          <a:lstStyle/>
          <a:p>
            <a:pPr>
              <a:defRPr sz="1800">
                <a:solidFill>
                  <a:srgbClr val="FFFFFF"/>
                </a:solidFill>
              </a:defRPr>
            </a:pPr>
            <a:r>
              <a:t>Create a multi-subagent workflow (security + docs + deps)</a:t>
            </a:r>
          </a:p>
        </p:txBody>
      </p:sp>
      <p:sp>
        <p:nvSpPr>
          <p:cNvPr id="17" name="Oval 16"/>
          <p:cNvSpPr/>
          <p:nvPr/>
        </p:nvSpPr>
        <p:spPr>
          <a:xfrm>
            <a:off x="457200" y="4343400"/>
            <a:ext cx="457200" cy="4572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343400"/>
            <a:ext cx="457200" cy="457200"/>
          </a:xfrm>
          <a:prstGeom prst="rect">
            <a:avLst/>
          </a:prstGeom>
          <a:noFill/>
        </p:spPr>
        <p:txBody>
          <a:bodyPr wrap="none" anchor="ctr">
            <a:spAutoFit/>
          </a:bodyPr>
          <a:lstStyle/>
          <a:p>
            <a:pPr algn="ctr">
              <a:defRPr sz="1800" b="1">
                <a:solidFill>
                  <a:srgbClr val="0B0F1A"/>
                </a:solidFill>
              </a:defRPr>
            </a:pPr>
            <a:r>
              <a:t>4</a:t>
            </a:r>
          </a:p>
        </p:txBody>
      </p:sp>
      <p:sp>
        <p:nvSpPr>
          <p:cNvPr id="19" name="TextBox 18"/>
          <p:cNvSpPr txBox="1"/>
          <p:nvPr/>
        </p:nvSpPr>
        <p:spPr>
          <a:xfrm>
            <a:off x="1097280" y="4416552"/>
            <a:ext cx="10637215" cy="640080"/>
          </a:xfrm>
          <a:prstGeom prst="rect">
            <a:avLst/>
          </a:prstGeom>
          <a:noFill/>
        </p:spPr>
        <p:txBody>
          <a:bodyPr wrap="square">
            <a:normAutofit/>
          </a:bodyPr>
          <a:lstStyle/>
          <a:p>
            <a:pPr>
              <a:defRPr sz="1800">
                <a:solidFill>
                  <a:srgbClr val="FFFFFF"/>
                </a:solidFill>
              </a:defRPr>
            </a:pPr>
            <a:r>
              <a:t>Experiment with Agent Teams (if setup complete)</a:t>
            </a:r>
          </a:p>
        </p:txBody>
      </p:sp>
      <p:sp>
        <p:nvSpPr>
          <p:cNvPr id="20" name="Oval 19"/>
          <p:cNvSpPr/>
          <p:nvPr/>
        </p:nvSpPr>
        <p:spPr>
          <a:xfrm>
            <a:off x="457200" y="5120640"/>
            <a:ext cx="457200" cy="4572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120640"/>
            <a:ext cx="457200" cy="457200"/>
          </a:xfrm>
          <a:prstGeom prst="rect">
            <a:avLst/>
          </a:prstGeom>
          <a:noFill/>
        </p:spPr>
        <p:txBody>
          <a:bodyPr wrap="none" anchor="ctr">
            <a:spAutoFit/>
          </a:bodyPr>
          <a:lstStyle/>
          <a:p>
            <a:pPr algn="ctr">
              <a:defRPr sz="1800" b="1">
                <a:solidFill>
                  <a:srgbClr val="0B0F1A"/>
                </a:solidFill>
              </a:defRPr>
            </a:pPr>
            <a:r>
              <a:t>5</a:t>
            </a:r>
          </a:p>
        </p:txBody>
      </p:sp>
      <p:sp>
        <p:nvSpPr>
          <p:cNvPr id="22" name="TextBox 21"/>
          <p:cNvSpPr txBox="1"/>
          <p:nvPr/>
        </p:nvSpPr>
        <p:spPr>
          <a:xfrm>
            <a:off x="1097280" y="5193792"/>
            <a:ext cx="10637215" cy="640080"/>
          </a:xfrm>
          <a:prstGeom prst="rect">
            <a:avLst/>
          </a:prstGeom>
          <a:noFill/>
        </p:spPr>
        <p:txBody>
          <a:bodyPr wrap="square">
            <a:normAutofit/>
          </a:bodyPr>
          <a:lstStyle/>
          <a:p>
            <a:pPr>
              <a:defRPr sz="1800">
                <a:solidFill>
                  <a:srgbClr val="FFFFFF"/>
                </a:solidFill>
              </a:defRPr>
            </a:pPr>
            <a:r>
              <a:t>Deliverable: Working MCP integration + multi-agent pattern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Advanced Workflows &amp; Optimization</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Production deployment patterns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Large Codebase Navigation Strategies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Use @explore subagent for fast searches (Haiku)</a:t>
            </a:r>
          </a:p>
          <a:p>
            <a:pPr>
              <a:spcBef>
                <a:spcPts val="800"/>
              </a:spcBef>
              <a:spcAft>
                <a:spcPts val="800"/>
              </a:spcAft>
              <a:defRPr sz="2200">
                <a:solidFill>
                  <a:srgbClr val="FFFFFF"/>
                </a:solidFill>
              </a:defRPr>
            </a:pPr>
            <a:r>
              <a:t>  Leverage .claudeignore to exclude noise (node_modules, build artifacts)</a:t>
            </a:r>
          </a:p>
          <a:p>
            <a:pPr>
              <a:spcBef>
                <a:spcPts val="800"/>
              </a:spcBef>
              <a:spcAft>
                <a:spcPts val="800"/>
              </a:spcAft>
              <a:defRPr sz="2200">
                <a:solidFill>
                  <a:srgbClr val="FFFFFF"/>
                </a:solidFill>
              </a:defRPr>
            </a:pPr>
            <a:r>
              <a:t>  Break work into focused sessions (one module at a time)</a:t>
            </a:r>
          </a:p>
          <a:p>
            <a:pPr>
              <a:spcBef>
                <a:spcPts val="800"/>
              </a:spcBef>
              <a:spcAft>
                <a:spcPts val="800"/>
              </a:spcAft>
              <a:defRPr sz="2200">
                <a:solidFill>
                  <a:srgbClr val="FFFFFF"/>
                </a:solidFill>
              </a:defRPr>
            </a:pPr>
            <a:r>
              <a:t>  Use git history context: 'What changed in last 10 commits?'</a:t>
            </a:r>
          </a:p>
          <a:p>
            <a:pPr>
              <a:spcBef>
                <a:spcPts val="800"/>
              </a:spcBef>
              <a:spcAft>
                <a:spcPts val="800"/>
              </a:spcAft>
              <a:defRPr sz="2200">
                <a:solidFill>
                  <a:srgbClr val="FFFFFF"/>
                </a:solidFill>
              </a:defRPr>
            </a:pPr>
            <a:r>
              <a:t>  Create codebase map in CLAUDE.md (architecture overview)</a:t>
            </a:r>
          </a:p>
          <a:p>
            <a:pPr>
              <a:spcBef>
                <a:spcPts val="800"/>
              </a:spcBef>
              <a:spcAft>
                <a:spcPts val="800"/>
              </a:spcAft>
              <a:defRPr sz="2200">
                <a:solidFill>
                  <a:srgbClr val="FFFFFF"/>
                </a:solidFill>
              </a:defRPr>
            </a:pPr>
            <a:r>
              <a:t>  Pattern: Explore → Plan → Execute on subset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Multi-File Refactoring at Scale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Use plan mode for &gt;5 file changes</a:t>
            </a:r>
          </a:p>
          <a:p>
            <a:pPr>
              <a:spcBef>
                <a:spcPts val="800"/>
              </a:spcBef>
              <a:spcAft>
                <a:spcPts val="800"/>
              </a:spcAft>
              <a:defRPr sz="2200">
                <a:solidFill>
                  <a:srgbClr val="FFFFFF"/>
                </a:solidFill>
              </a:defRPr>
            </a:pPr>
            <a:r>
              <a:t>  High thinking level for complex refactors</a:t>
            </a:r>
          </a:p>
          <a:p>
            <a:pPr>
              <a:spcBef>
                <a:spcPts val="800"/>
              </a:spcBef>
              <a:spcAft>
                <a:spcPts val="800"/>
              </a:spcAft>
              <a:defRPr sz="2200">
                <a:solidFill>
                  <a:srgbClr val="FFFFFF"/>
                </a:solidFill>
              </a:defRPr>
            </a:pPr>
            <a:r>
              <a:t>  Preview diffs before applying all changes</a:t>
            </a:r>
          </a:p>
          <a:p>
            <a:pPr>
              <a:spcBef>
                <a:spcPts val="800"/>
              </a:spcBef>
              <a:spcAft>
                <a:spcPts val="800"/>
              </a:spcAft>
              <a:defRPr sz="2200">
                <a:solidFill>
                  <a:srgbClr val="FFFFFF"/>
                </a:solidFill>
              </a:defRPr>
            </a:pPr>
            <a:r>
              <a:t>  Test after each logical group of changes</a:t>
            </a:r>
          </a:p>
          <a:p>
            <a:pPr>
              <a:spcBef>
                <a:spcPts val="800"/>
              </a:spcBef>
              <a:spcAft>
                <a:spcPts val="800"/>
              </a:spcAft>
              <a:defRPr sz="2200">
                <a:solidFill>
                  <a:srgbClr val="FFFFFF"/>
                </a:solidFill>
              </a:defRPr>
            </a:pPr>
            <a:r>
              <a:t>  Git branch per refactor (easy rollback)</a:t>
            </a:r>
          </a:p>
          <a:p>
            <a:pPr>
              <a:spcBef>
                <a:spcPts val="800"/>
              </a:spcBef>
              <a:spcAft>
                <a:spcPts val="800"/>
              </a:spcAft>
              <a:defRPr sz="2200">
                <a:solidFill>
                  <a:srgbClr val="FFFFFF"/>
                </a:solidFill>
              </a:defRPr>
            </a:pPr>
            <a:r>
              <a:t>  Pattern: Plan → Review → Execute in batches → Test → Commit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CI/CD Integration Patterns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Pre-commit hooks run Claude Code checks</a:t>
            </a:r>
          </a:p>
          <a:p>
            <a:pPr>
              <a:spcBef>
                <a:spcPts val="800"/>
              </a:spcBef>
              <a:spcAft>
                <a:spcPts val="800"/>
              </a:spcAft>
              <a:defRPr sz="2200">
                <a:solidFill>
                  <a:srgbClr val="FFFFFF"/>
                </a:solidFill>
              </a:defRPr>
            </a:pPr>
            <a:r>
              <a:t>  CI pipeline: Claude generates tests if coverage drops</a:t>
            </a:r>
          </a:p>
          <a:p>
            <a:pPr>
              <a:spcBef>
                <a:spcPts val="800"/>
              </a:spcBef>
              <a:spcAft>
                <a:spcPts val="800"/>
              </a:spcAft>
              <a:defRPr sz="2200">
                <a:solidFill>
                  <a:srgbClr val="FFFFFF"/>
                </a:solidFill>
              </a:defRPr>
            </a:pPr>
            <a:r>
              <a:t>  PR bots: Claude reviews new PRs, comments on issues</a:t>
            </a:r>
          </a:p>
          <a:p>
            <a:pPr>
              <a:spcBef>
                <a:spcPts val="800"/>
              </a:spcBef>
              <a:spcAft>
                <a:spcPts val="800"/>
              </a:spcAft>
              <a:defRPr sz="2200">
                <a:solidFill>
                  <a:srgbClr val="FFFFFF"/>
                </a:solidFill>
              </a:defRPr>
            </a:pPr>
            <a:r>
              <a:t>  Release automation: Claude updates changelog from commits</a:t>
            </a:r>
          </a:p>
          <a:p>
            <a:pPr>
              <a:spcBef>
                <a:spcPts val="800"/>
              </a:spcBef>
              <a:spcAft>
                <a:spcPts val="800"/>
              </a:spcAft>
              <a:defRPr sz="2200">
                <a:solidFill>
                  <a:srgbClr val="FFFFFF"/>
                </a:solidFill>
              </a:defRPr>
            </a:pPr>
            <a:r>
              <a:t>  Monitoring: Claude analyzes failed test logs</a:t>
            </a:r>
          </a:p>
          <a:p>
            <a:pPr>
              <a:spcBef>
                <a:spcPts val="800"/>
              </a:spcBef>
              <a:spcAft>
                <a:spcPts val="800"/>
              </a:spcAft>
              <a:defRPr sz="2200">
                <a:solidFill>
                  <a:srgbClr val="FFFFFF"/>
                </a:solidFill>
              </a:defRPr>
            </a:pPr>
            <a:r>
              <a:t>  Pattern: Trigger Claude workflows from CI events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GitHub Agentic Workflows (Technical Preview)</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Before</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After</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Remote Control: Claude Code from Your Phone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How It Works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Why This Matters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Production Deployment: Claude Code Beyond Your Laptop</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1800" b="1">
                <a:solidFill>
                  <a:srgbClr val="FFFFFF"/>
                </a:solidFill>
              </a:defRPr>
            </a:pPr>
            <a:r>
              <a:t>Modal / Serverless</a:t>
            </a:r>
          </a:p>
          <a:p>
            <a:pPr algn="ctr">
              <a:spcBef>
                <a:spcPts val="800"/>
              </a:spcBef>
              <a:defRPr sz="1300">
                <a:solidFill>
                  <a:srgbClr val="8B95A5"/>
                </a:solidFill>
              </a:defRPr>
            </a:pPr>
            <a:r>
              <a:t>Deploy Claude Code automations as API endpoints.</a:t>
            </a:r>
            <a:br/>
            <a:br/>
            <a:r>
              <a:t>Create webhooks that trigger Claude Code workflows.</a:t>
            </a:r>
            <a:br/>
            <a:br/>
            <a:r>
              <a:t>Integrate with no-code platforms: n8n, Make.com, Zapier.</a:t>
            </a:r>
            <a:br/>
            <a:br/>
            <a:r>
              <a:t>Pay per execution — scales to zero when idle.</a:t>
            </a: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1800" b="1">
                <a:solidFill>
                  <a:srgbClr val="FFFFFF"/>
                </a:solidFill>
              </a:defRPr>
            </a:pPr>
            <a:r>
              <a:t>GitHub Actions</a:t>
            </a:r>
          </a:p>
          <a:p>
            <a:pPr algn="ctr">
              <a:spcBef>
                <a:spcPts val="800"/>
              </a:spcBef>
              <a:defRPr sz="1300">
                <a:solidFill>
                  <a:srgbClr val="8B95A5"/>
                </a:solidFill>
              </a:defRPr>
            </a:pPr>
            <a:r>
              <a:t>Claude Code runs in CI/CD pipelines.</a:t>
            </a:r>
            <a:br/>
            <a:br/>
            <a:r>
              <a:t>Auto-review PRs, fix failing tests, update docs.</a:t>
            </a:r>
            <a:br/>
            <a:br/>
            <a:r>
              <a:t>Triggered by push, PR, schedule, or webhook.</a:t>
            </a:r>
            <a:br/>
            <a:br/>
            <a:r>
              <a:t>Org-scoped tokens for Team/Enterprise accounts.</a:t>
            </a: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1800" b="1">
                <a:solidFill>
                  <a:srgbClr val="FFFFFF"/>
                </a:solidFill>
              </a:defRPr>
            </a:pPr>
            <a:r>
              <a:t>Claude Code on the Web</a:t>
            </a:r>
          </a:p>
          <a:p>
            <a:pPr algn="ctr">
              <a:spcBef>
                <a:spcPts val="800"/>
              </a:spcBef>
              <a:defRPr sz="1300">
                <a:solidFill>
                  <a:srgbClr val="8B95A5"/>
                </a:solidFill>
              </a:defRPr>
            </a:pPr>
            <a:r>
              <a:t>Run Claude Code in cloud environments.</a:t>
            </a:r>
            <a:br/>
            <a:br/>
            <a:r>
              <a:t>No local machine required.</a:t>
            </a:r>
            <a:br/>
            <a:br/>
            <a:r>
              <a:t>Useful for teams without dev machine setup.</a:t>
            </a:r>
            <a:br/>
            <a:br/>
            <a:r>
              <a:t>Combine with /remote-control for mobile access to cloud sessions.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Cost Management &amp; Optimization</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Model selection: Haiku for simple tasks, Sonnet default, Opus for critical</a:t>
            </a:r>
          </a:p>
          <a:p>
            <a:pPr>
              <a:spcBef>
                <a:spcPts val="800"/>
              </a:spcBef>
              <a:spcAft>
                <a:spcPts val="800"/>
              </a:spcAft>
              <a:defRPr sz="2200">
                <a:solidFill>
                  <a:srgbClr val="FFFFFF"/>
                </a:solidFill>
              </a:defRPr>
            </a:pPr>
            <a:r>
              <a:t>  Thinking levels: Low for routine, High for complex (3-5× cost difference)</a:t>
            </a:r>
          </a:p>
          <a:p>
            <a:pPr>
              <a:spcBef>
                <a:spcPts val="800"/>
              </a:spcBef>
              <a:spcAft>
                <a:spcPts val="800"/>
              </a:spcAft>
              <a:defRPr sz="2200">
                <a:solidFill>
                  <a:srgbClr val="FFFFFF"/>
                </a:solidFill>
              </a:defRPr>
            </a:pPr>
            <a:r>
              <a:t>  Subagents: Use Haiku subagents for research (10× cheaper)</a:t>
            </a:r>
          </a:p>
          <a:p>
            <a:pPr>
              <a:spcBef>
                <a:spcPts val="800"/>
              </a:spcBef>
              <a:spcAft>
                <a:spcPts val="800"/>
              </a:spcAft>
              <a:defRPr sz="2200">
                <a:solidFill>
                  <a:srgbClr val="FFFFFF"/>
                </a:solidFill>
              </a:defRPr>
            </a:pPr>
            <a:r>
              <a:t>  Context management: .claudeignore reduces unnecessary tokens</a:t>
            </a:r>
          </a:p>
          <a:p>
            <a:pPr>
              <a:spcBef>
                <a:spcPts val="800"/>
              </a:spcBef>
              <a:spcAft>
                <a:spcPts val="800"/>
              </a:spcAft>
              <a:defRPr sz="2200">
                <a:solidFill>
                  <a:srgbClr val="FFFFFF"/>
                </a:solidFill>
              </a:defRPr>
            </a:pPr>
            <a:r>
              <a:t>  Batch work: Multiple small changes in one session vs many sessions</a:t>
            </a:r>
          </a:p>
          <a:p>
            <a:pPr>
              <a:spcBef>
                <a:spcPts val="800"/>
              </a:spcBef>
              <a:spcAft>
                <a:spcPts val="800"/>
              </a:spcAft>
              <a:defRPr sz="2200">
                <a:solidFill>
                  <a:srgbClr val="FFFFFF"/>
                </a:solidFill>
              </a:defRPr>
            </a:pPr>
            <a:r>
              <a:t>  Monitor usage: Track tokens per task type, optimize high-volume patterns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Token Efficiency Techniques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Use /compact to compress context mid-conversation</a:t>
            </a:r>
          </a:p>
          <a:p>
            <a:pPr>
              <a:spcBef>
                <a:spcPts val="800"/>
              </a:spcBef>
              <a:spcAft>
                <a:spcPts val="800"/>
              </a:spcAft>
              <a:defRPr sz="2200">
                <a:solidFill>
                  <a:srgbClr val="FFFFFF"/>
                </a:solidFill>
              </a:defRPr>
            </a:pPr>
            <a:r>
              <a:t>  Start fresh conversation for unrelated tasks (don't bloat context)</a:t>
            </a:r>
          </a:p>
          <a:p>
            <a:pPr>
              <a:spcBef>
                <a:spcPts val="800"/>
              </a:spcBef>
              <a:spcAft>
                <a:spcPts val="800"/>
              </a:spcAft>
              <a:defRPr sz="2200">
                <a:solidFill>
                  <a:srgbClr val="FFFFFF"/>
                </a:solidFill>
              </a:defRPr>
            </a:pPr>
            <a:r>
              <a:t>  .claudeignore aggressively: build/, dist/, node_modules/, .git/</a:t>
            </a:r>
          </a:p>
          <a:p>
            <a:pPr>
              <a:spcBef>
                <a:spcPts val="800"/>
              </a:spcBef>
              <a:spcAft>
                <a:spcPts val="800"/>
              </a:spcAft>
              <a:defRPr sz="2200">
                <a:solidFill>
                  <a:srgbClr val="FFFFFF"/>
                </a:solidFill>
              </a:defRPr>
            </a:pPr>
            <a:r>
              <a:t>  Summarize long discussions: 'Summarize what we've accomplished'</a:t>
            </a:r>
          </a:p>
          <a:p>
            <a:pPr>
              <a:spcBef>
                <a:spcPts val="800"/>
              </a:spcBef>
              <a:spcAft>
                <a:spcPts val="800"/>
              </a:spcAft>
              <a:defRPr sz="2200">
                <a:solidFill>
                  <a:srgbClr val="FFFFFF"/>
                </a:solidFill>
              </a:defRPr>
            </a:pPr>
            <a:r>
              <a:t>  Avoid unnecessary file attachments (@mention only what's needed)</a:t>
            </a:r>
          </a:p>
          <a:p>
            <a:pPr>
              <a:spcBef>
                <a:spcPts val="800"/>
              </a:spcBef>
              <a:spcAft>
                <a:spcPts val="800"/>
              </a:spcAft>
              <a:defRPr sz="2200">
                <a:solidFill>
                  <a:srgbClr val="FFFFFF"/>
                </a:solidFill>
              </a:defRPr>
            </a:pPr>
            <a:r>
              <a:t>  Plan mode research uses @plan subagent (saves main context)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Engineering Principle: Optimize for Maintainability Over Cleverness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Source: Nate B Jones, 'Second Brain' video</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Spec-Driven AI Development: The 4-Phase Process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The Phases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Why This Order Matters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Real Spec Structure: Feature Folder Pattern</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TEXT</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specs/</a:t>
            </a:r>
            <a:br/>
            <a:r>
              <a:t>├── PRODUCT.md              # Overall product spec</a:t>
            </a:r>
            <a:br/>
            <a:r>
              <a:t>└── features/</a:t>
            </a:r>
            <a:br/>
            <a:r>
              <a:t>    └── 042-user-dashboard/</a:t>
            </a:r>
            <a:br/>
            <a:r>
              <a:t>        ├── spec.md           # Phase 1: What &amp; Why</a:t>
            </a:r>
            <a:br/>
            <a:r>
              <a:t>        ├── plan.md           # Phase 2: Architecture</a:t>
            </a:r>
            <a:br/>
            <a:r>
              <a:t>        ├── tasks.md          # Phase 3: Work breakdown</a:t>
            </a:r>
            <a:br/>
            <a:r>
              <a:t>        └── tests.md          # Phase 3: Test cases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Production Deployment Checklist</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 CLAUDE.md configured with team standards</a:t>
            </a:r>
          </a:p>
          <a:p>
            <a:pPr>
              <a:spcBef>
                <a:spcPts val="800"/>
              </a:spcBef>
              <a:spcAft>
                <a:spcPts val="800"/>
              </a:spcAft>
              <a:defRPr sz="2200">
                <a:solidFill>
                  <a:srgbClr val="FFFFFF"/>
                </a:solidFill>
              </a:defRPr>
            </a:pPr>
            <a:r>
              <a:t>  ✅ Custom commands in .claude/commands/ (versioned in git)</a:t>
            </a:r>
          </a:p>
          <a:p>
            <a:pPr>
              <a:spcBef>
                <a:spcPts val="800"/>
              </a:spcBef>
              <a:spcAft>
                <a:spcPts val="800"/>
              </a:spcAft>
              <a:defRPr sz="2200">
                <a:solidFill>
                  <a:srgbClr val="FFFFFF"/>
                </a:solidFill>
              </a:defRPr>
            </a:pPr>
            <a:r>
              <a:t>  ✅ Pre-tool hooks for security (no secrets, safe commands)</a:t>
            </a:r>
          </a:p>
          <a:p>
            <a:pPr>
              <a:spcBef>
                <a:spcPts val="800"/>
              </a:spcBef>
              <a:spcAft>
                <a:spcPts val="800"/>
              </a:spcAft>
              <a:defRPr sz="2200">
                <a:solidFill>
                  <a:srgbClr val="FFFFFF"/>
                </a:solidFill>
              </a:defRPr>
            </a:pPr>
            <a:r>
              <a:t>  ✅ Post-tool hooks for audit logging</a:t>
            </a:r>
          </a:p>
          <a:p>
            <a:pPr>
              <a:spcBef>
                <a:spcPts val="800"/>
              </a:spcBef>
              <a:spcAft>
                <a:spcPts val="800"/>
              </a:spcAft>
              <a:defRPr sz="2200">
                <a:solidFill>
                  <a:srgbClr val="FFFFFF"/>
                </a:solidFill>
              </a:defRPr>
            </a:pPr>
            <a:r>
              <a:t>  ✅ .claudeignore optimized for project</a:t>
            </a:r>
          </a:p>
          <a:p>
            <a:pPr>
              <a:spcBef>
                <a:spcPts val="800"/>
              </a:spcBef>
              <a:spcAft>
                <a:spcPts val="800"/>
              </a:spcAft>
              <a:defRPr sz="2200">
                <a:solidFill>
                  <a:srgbClr val="FFFFFF"/>
                </a:solidFill>
              </a:defRPr>
            </a:pPr>
            <a:r>
              <a:t>  ✅ MCP servers approved and configured</a:t>
            </a:r>
          </a:p>
          <a:p>
            <a:pPr>
              <a:spcBef>
                <a:spcPts val="800"/>
              </a:spcBef>
              <a:spcAft>
                <a:spcPts val="800"/>
              </a:spcAft>
              <a:defRPr sz="2200">
                <a:solidFill>
                  <a:srgbClr val="FFFFFF"/>
                </a:solidFill>
              </a:defRPr>
            </a:pPr>
            <a:r>
              <a:t>  ✅ Team training on custom commands and workflows</a:t>
            </a:r>
          </a:p>
          <a:p>
            <a:pPr>
              <a:spcBef>
                <a:spcPts val="800"/>
              </a:spcBef>
              <a:spcAft>
                <a:spcPts val="800"/>
              </a:spcAft>
              <a:defRPr sz="2200">
                <a:solidFill>
                  <a:srgbClr val="FFFFFF"/>
                </a:solidFill>
              </a:defRPr>
            </a:pPr>
            <a:r>
              <a:t>  ✅ Cost monitoring and budgets in place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Wrap-up</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Key takeaways and next steps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Where Claude Code Still Struggles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Large changes (&gt;15 files): Context degrades, errors compound across files, Claude loses track of dependencies.</a:t>
            </a:r>
          </a:p>
          <a:p>
            <a:pPr>
              <a:spcBef>
                <a:spcPts val="800"/>
              </a:spcBef>
              <a:spcAft>
                <a:spcPts val="800"/>
              </a:spcAft>
              <a:defRPr sz="2200">
                <a:solidFill>
                  <a:srgbClr val="FFFFFF"/>
                </a:solidFill>
              </a:defRPr>
            </a:pPr>
            <a:r>
              <a:t>  Architecture decisions: Claude optimizes locally — it makes each function great but may miss system-level design issues.</a:t>
            </a:r>
          </a:p>
          <a:p>
            <a:pPr>
              <a:spcBef>
                <a:spcPts val="800"/>
              </a:spcBef>
              <a:spcAft>
                <a:spcPts val="800"/>
              </a:spcAft>
              <a:defRPr sz="2200">
                <a:solidFill>
                  <a:srgbClr val="FFFFFF"/>
                </a:solidFill>
              </a:defRPr>
            </a:pPr>
            <a:r>
              <a:t>  Verification boundary: If you can't review and understand the code, you shouldn't ship it.</a:t>
            </a:r>
          </a:p>
          <a:p>
            <a:pPr>
              <a:spcBef>
                <a:spcPts val="800"/>
              </a:spcBef>
              <a:spcAft>
                <a:spcPts val="800"/>
              </a:spcAft>
              <a:defRPr sz="2200">
                <a:solidFill>
                  <a:srgbClr val="FFFFFF"/>
                </a:solidFill>
              </a:defRPr>
            </a:pPr>
            <a:r>
              <a:t>  Novel work: Claude recombines known patterns brilliantly but doesn't truly invent new algorithms.</a:t>
            </a:r>
          </a:p>
          <a:p>
            <a:pPr>
              <a:spcBef>
                <a:spcPts val="800"/>
              </a:spcBef>
              <a:spcAft>
                <a:spcPts val="800"/>
              </a:spcAft>
              <a:defRPr sz="2200">
                <a:solidFill>
                  <a:srgbClr val="FFFFFF"/>
                </a:solidFill>
              </a:defRPr>
            </a:pPr>
            <a:r>
              <a:t>  The 3 AM test: Could you debug this code at 3 AM without Claude? If not, you need to understand it better before ship...</a:t>
            </a:r>
          </a:p>
          <a:p>
            <a:pPr>
              <a:spcBef>
                <a:spcPts val="800"/>
              </a:spcBef>
              <a:spcAft>
                <a:spcPts val="800"/>
              </a:spcAft>
              <a:defRPr sz="2200">
                <a:solidFill>
                  <a:srgbClr val="FFFFFF"/>
                </a:solidFill>
              </a:defRPr>
            </a:pPr>
            <a:r>
              <a:t>  This is why Plan Mode, decomposition, and verification matter — they keep you in control.</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Day 3 Key Takeaways</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6" name="TextBox 5"/>
          <p:cNvSpPr txBox="1"/>
          <p:nvPr/>
        </p:nvSpPr>
        <p:spPr>
          <a:xfrm>
            <a:off x="1005840" y="1417320"/>
            <a:ext cx="10728655" cy="731520"/>
          </a:xfrm>
          <a:prstGeom prst="rect">
            <a:avLst/>
          </a:prstGeom>
          <a:noFill/>
        </p:spPr>
        <p:txBody>
          <a:bodyPr wrap="square">
            <a:spAutoFit/>
          </a:bodyPr>
          <a:lstStyle/>
          <a:p>
            <a:pPr>
              <a:defRPr sz="2200">
                <a:solidFill>
                  <a:srgbClr val="FFFFFF"/>
                </a:solidFill>
              </a:defRPr>
            </a:pPr>
            <a:r>
              <a:t>Custom commands: Reusable workflows in .claude/commands/</a:t>
            </a:r>
          </a:p>
        </p:txBody>
      </p:sp>
      <p:sp>
        <p:nvSpPr>
          <p:cNvPr id="7" name="Oval 6"/>
          <p:cNvSpPr/>
          <p:nvPr/>
        </p:nvSpPr>
        <p:spPr>
          <a:xfrm>
            <a:off x="457200" y="21945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9456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9" name="TextBox 8"/>
          <p:cNvSpPr txBox="1"/>
          <p:nvPr/>
        </p:nvSpPr>
        <p:spPr>
          <a:xfrm>
            <a:off x="1005840" y="2240280"/>
            <a:ext cx="10728655" cy="731520"/>
          </a:xfrm>
          <a:prstGeom prst="rect">
            <a:avLst/>
          </a:prstGeom>
          <a:noFill/>
        </p:spPr>
        <p:txBody>
          <a:bodyPr wrap="square">
            <a:spAutoFit/>
          </a:bodyPr>
          <a:lstStyle/>
          <a:p>
            <a:pPr>
              <a:defRPr sz="2200">
                <a:solidFill>
                  <a:srgbClr val="FFFFFF"/>
                </a:solidFill>
              </a:defRPr>
            </a:pPr>
            <a:r>
              <a:t>Subagents: Specialized AI workers for focused tasks</a:t>
            </a:r>
          </a:p>
        </p:txBody>
      </p:sp>
      <p:sp>
        <p:nvSpPr>
          <p:cNvPr id="10" name="Oval 9"/>
          <p:cNvSpPr/>
          <p:nvPr/>
        </p:nvSpPr>
        <p:spPr>
          <a:xfrm>
            <a:off x="457200" y="30175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01752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2" name="TextBox 11"/>
          <p:cNvSpPr txBox="1"/>
          <p:nvPr/>
        </p:nvSpPr>
        <p:spPr>
          <a:xfrm>
            <a:off x="1005840" y="3063240"/>
            <a:ext cx="10728655" cy="731520"/>
          </a:xfrm>
          <a:prstGeom prst="rect">
            <a:avLst/>
          </a:prstGeom>
          <a:noFill/>
        </p:spPr>
        <p:txBody>
          <a:bodyPr wrap="square">
            <a:spAutoFit/>
          </a:bodyPr>
          <a:lstStyle/>
          <a:p>
            <a:pPr>
              <a:defRPr sz="2200">
                <a:solidFill>
                  <a:srgbClr val="FFFFFF"/>
                </a:solidFill>
              </a:defRPr>
            </a:pPr>
            <a:r>
              <a:t>Hooks: Safety guardrails and audit logging</a:t>
            </a:r>
          </a:p>
        </p:txBody>
      </p:sp>
      <p:sp>
        <p:nvSpPr>
          <p:cNvPr id="13" name="Oval 12"/>
          <p:cNvSpPr/>
          <p:nvPr/>
        </p:nvSpPr>
        <p:spPr>
          <a:xfrm>
            <a:off x="457200" y="384048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4048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5" name="TextBox 14"/>
          <p:cNvSpPr txBox="1"/>
          <p:nvPr/>
        </p:nvSpPr>
        <p:spPr>
          <a:xfrm>
            <a:off x="1005840" y="3886200"/>
            <a:ext cx="10728655" cy="731520"/>
          </a:xfrm>
          <a:prstGeom prst="rect">
            <a:avLst/>
          </a:prstGeom>
          <a:noFill/>
        </p:spPr>
        <p:txBody>
          <a:bodyPr wrap="square">
            <a:spAutoFit/>
          </a:bodyPr>
          <a:lstStyle/>
          <a:p>
            <a:pPr>
              <a:defRPr sz="2200">
                <a:solidFill>
                  <a:srgbClr val="FFFFFF"/>
                </a:solidFill>
              </a:defRPr>
            </a:pPr>
            <a:r>
              <a:t>Plan mode + thinking levels: Control quality/speed/cost tradeoffs</a:t>
            </a:r>
          </a:p>
        </p:txBody>
      </p:sp>
      <p:sp>
        <p:nvSpPr>
          <p:cNvPr id="16" name="Oval 15"/>
          <p:cNvSpPr/>
          <p:nvPr/>
        </p:nvSpPr>
        <p:spPr>
          <a:xfrm>
            <a:off x="457200" y="466344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66344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8" name="TextBox 17"/>
          <p:cNvSpPr txBox="1"/>
          <p:nvPr/>
        </p:nvSpPr>
        <p:spPr>
          <a:xfrm>
            <a:off x="1005840" y="4709160"/>
            <a:ext cx="10728655" cy="731520"/>
          </a:xfrm>
          <a:prstGeom prst="rect">
            <a:avLst/>
          </a:prstGeom>
          <a:noFill/>
        </p:spPr>
        <p:txBody>
          <a:bodyPr wrap="square">
            <a:spAutoFit/>
          </a:bodyPr>
          <a:lstStyle/>
          <a:p>
            <a:pPr>
              <a:defRPr sz="2200">
                <a:solidFill>
                  <a:srgbClr val="FFFFFF"/>
                </a:solidFill>
              </a:defRPr>
            </a:pPr>
            <a:r>
              <a:t>MCP: Connect Claude to any external system</a:t>
            </a:r>
          </a:p>
        </p:txBody>
      </p:sp>
      <p:sp>
        <p:nvSpPr>
          <p:cNvPr id="19" name="Oval 18"/>
          <p:cNvSpPr/>
          <p:nvPr/>
        </p:nvSpPr>
        <p:spPr>
          <a:xfrm>
            <a:off x="457200" y="54864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4864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21" name="TextBox 20"/>
          <p:cNvSpPr txBox="1"/>
          <p:nvPr/>
        </p:nvSpPr>
        <p:spPr>
          <a:xfrm>
            <a:off x="1005840" y="5532120"/>
            <a:ext cx="10728655" cy="731520"/>
          </a:xfrm>
          <a:prstGeom prst="rect">
            <a:avLst/>
          </a:prstGeom>
          <a:noFill/>
        </p:spPr>
        <p:txBody>
          <a:bodyPr wrap="square">
            <a:spAutoFit/>
          </a:bodyPr>
          <a:lstStyle/>
          <a:p>
            <a:pPr>
              <a:defRPr sz="2200">
                <a:solidFill>
                  <a:srgbClr val="FFFFFF"/>
                </a:solidFill>
              </a:defRPr>
            </a:pPr>
            <a:r>
              <a:t>Agent Teams: Parallel coordination for complex work</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Getting Started Roadmap</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Week 1: Create 2-3 custom commands for your daily workflows</a:t>
            </a:r>
          </a:p>
          <a:p>
            <a:pPr>
              <a:spcBef>
                <a:spcPts val="800"/>
              </a:spcBef>
              <a:spcAft>
                <a:spcPts val="800"/>
              </a:spcAft>
              <a:defRPr sz="2200">
                <a:solidFill>
                  <a:srgbClr val="FFFFFF"/>
                </a:solidFill>
              </a:defRPr>
            </a:pPr>
            <a:r>
              <a:t>  Week 2: Implement pre-tool hook for security (no secrets)</a:t>
            </a:r>
          </a:p>
          <a:p>
            <a:pPr>
              <a:spcBef>
                <a:spcPts val="800"/>
              </a:spcBef>
              <a:spcAft>
                <a:spcPts val="800"/>
              </a:spcAft>
              <a:defRPr sz="2200">
                <a:solidFill>
                  <a:srgbClr val="FFFFFF"/>
                </a:solidFill>
              </a:defRPr>
            </a:pPr>
            <a:r>
              <a:t>  Week 3: Install 1 MCP server (GitHub or your most-used tool)</a:t>
            </a:r>
          </a:p>
          <a:p>
            <a:pPr>
              <a:spcBef>
                <a:spcPts val="800"/>
              </a:spcBef>
              <a:spcAft>
                <a:spcPts val="800"/>
              </a:spcAft>
              <a:defRPr sz="2200">
                <a:solidFill>
                  <a:srgbClr val="FFFFFF"/>
                </a:solidFill>
              </a:defRPr>
            </a:pPr>
            <a:r>
              <a:t>  Week 4: Create custom subagent for your domain</a:t>
            </a:r>
          </a:p>
          <a:p>
            <a:pPr>
              <a:spcBef>
                <a:spcPts val="800"/>
              </a:spcBef>
              <a:spcAft>
                <a:spcPts val="800"/>
              </a:spcAft>
              <a:defRPr sz="2200">
                <a:solidFill>
                  <a:srgbClr val="FFFFFF"/>
                </a:solidFill>
              </a:defRPr>
            </a:pPr>
            <a:r>
              <a:t>  Month 2: Optimize CLAUDE.md with team conventions</a:t>
            </a:r>
          </a:p>
          <a:p>
            <a:pPr>
              <a:spcBef>
                <a:spcPts val="800"/>
              </a:spcBef>
              <a:spcAft>
                <a:spcPts val="800"/>
              </a:spcAft>
              <a:defRPr sz="2200">
                <a:solidFill>
                  <a:srgbClr val="FFFFFF"/>
                </a:solidFill>
              </a:defRPr>
            </a:pPr>
            <a:r>
              <a:t>  Month 3: Pilot Agent Teams on complex project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Resources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Claude Code Docs: docs.anthropic.com/claude-code</a:t>
            </a:r>
          </a:p>
          <a:p>
            <a:pPr>
              <a:spcBef>
                <a:spcPts val="800"/>
              </a:spcBef>
              <a:spcAft>
                <a:spcPts val="800"/>
              </a:spcAft>
              <a:defRPr sz="2200">
                <a:solidFill>
                  <a:srgbClr val="FFFFFF"/>
                </a:solidFill>
              </a:defRPr>
            </a:pPr>
            <a:r>
              <a:t>  MCP Protocol: modelcontextprotocol.io</a:t>
            </a:r>
          </a:p>
          <a:p>
            <a:pPr>
              <a:spcBef>
                <a:spcPts val="800"/>
              </a:spcBef>
              <a:spcAft>
                <a:spcPts val="800"/>
              </a:spcAft>
              <a:defRPr sz="2200">
                <a:solidFill>
                  <a:srgbClr val="FFFFFF"/>
                </a:solidFill>
              </a:defRPr>
            </a:pPr>
            <a:r>
              <a:t>  MCP Servers: github.com/modelcontextprotocol/servers</a:t>
            </a:r>
          </a:p>
          <a:p>
            <a:pPr>
              <a:spcBef>
                <a:spcPts val="800"/>
              </a:spcBef>
              <a:spcAft>
                <a:spcPts val="800"/>
              </a:spcAft>
              <a:defRPr sz="2200">
                <a:solidFill>
                  <a:srgbClr val="FFFFFF"/>
                </a:solidFill>
              </a:defRPr>
            </a:pPr>
            <a:r>
              <a:t>  Community Commands: github.com/hesreallyhim/awesome-claude-code</a:t>
            </a:r>
          </a:p>
          <a:p>
            <a:pPr>
              <a:spcBef>
                <a:spcPts val="800"/>
              </a:spcBef>
              <a:spcAft>
                <a:spcPts val="800"/>
              </a:spcAft>
              <a:defRPr sz="2200">
                <a:solidFill>
                  <a:srgbClr val="FFFFFF"/>
                </a:solidFill>
              </a:defRPr>
            </a:pPr>
            <a:r>
              <a:t>  Agent Teams Examples: github.com/ColeMedin/AgentTeamsExamples</a:t>
            </a:r>
          </a:p>
          <a:p>
            <a:pPr>
              <a:spcBef>
                <a:spcPts val="800"/>
              </a:spcBef>
              <a:spcAft>
                <a:spcPts val="800"/>
              </a:spcAft>
              <a:defRPr sz="2200">
                <a:solidFill>
                  <a:srgbClr val="FFFFFF"/>
                </a:solidFill>
              </a:defRPr>
            </a:pPr>
            <a:r>
              <a:t>  Discord: discord.gg/anthropic-community</a:t>
            </a:r>
          </a:p>
          <a:p>
            <a:pPr>
              <a:spcBef>
                <a:spcPts val="800"/>
              </a:spcBef>
              <a:spcAft>
                <a:spcPts val="800"/>
              </a:spcAft>
              <a:defRPr sz="2200">
                <a:solidFill>
                  <a:srgbClr val="FFFFFF"/>
                </a:solidFill>
              </a:defRPr>
            </a:pPr>
            <a:r>
              <a:t>  Your team: Schedule follow-up in 2 weeks to share learnings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00D4AA"/>
                </a:solidFill>
              </a:defRPr>
            </a:pPr>
            <a:r>
              <a:t>Build Something Amazing with Claude Code</a:t>
            </a:r>
          </a:p>
        </p:txBody>
      </p:sp>
      <p:sp>
        <p:nvSpPr>
          <p:cNvPr id="3" name="Rectangle 2"/>
          <p:cNvSpPr/>
          <p:nvPr/>
        </p:nvSpPr>
        <p:spPr>
          <a:xfrm>
            <a:off x="0" y="4754880"/>
            <a:ext cx="12191695"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