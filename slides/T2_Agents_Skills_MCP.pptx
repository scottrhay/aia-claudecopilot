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Yesterday: How to USE Claude Code</a:t>
            </a:r>
          </a:p>
          <a:p>
            <a:r>
              <a:t>   * Today: How it WORKS and how to extend it</a:t>
            </a:r>
          </a:p>
          <a:p>
            <a:r>
              <a:t>   * By end: Understand how to build custom integrations</a:t>
            </a:r>
          </a:p>
          <a:p/>
          <a:p>
            <a:r>
              <a:t>ASK THE CLASS:</a:t>
            </a:r>
          </a:p>
          <a:p>
            <a:r>
              <a:t>   "After using Claude Code yesterday, what 'magic' did you want to understand?"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This is the 'under the hood' session</a:t>
            </a:r>
          </a:p>
          <a:p>
            <a:r>
              <a:t>   * Three concepts: Agents, Skills, MCP</a:t>
            </a:r>
          </a:p>
          <a:p>
            <a:r>
              <a:t>   * Understanding these lets you extend and customize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Agents DO things, chatbots RESPOND to things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Claude Code yesterday: Read files, proposed changes, ran tests - that's agentic</a:t>
            </a:r>
          </a:p>
          <a:p>
            <a:r>
              <a:t>   * The loop is what makes it powerful</a:t>
            </a:r>
          </a:p>
          <a:p>
            <a:r>
              <a:t>   * Keeps going until goal achieved</a:t>
            </a:r>
          </a:p>
          <a:p/>
          <a:p>
            <a:r>
              <a:t>ASK THE CLASS:</a:t>
            </a:r>
          </a:p>
          <a:p>
            <a:r>
              <a:t>   "What's a task you wish AI could figure out all the steps for?"</a:t>
            </a:r>
          </a:p>
          <a:p>
            <a:r>
              <a:t>   [PAUSE for 30-60 seconds]</a:t>
            </a:r>
          </a:p>
          <a:p/>
          <a:p>
            <a:r>
              <a:t>REAL-WORLD EXAMPLE:</a:t>
            </a:r>
          </a:p>
          <a:p>
            <a:r>
              <a:t>   When you asked 'add input validation' - it figured out WHICH files, WHAT validation, HOW to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5 minutes</a:t>
            </a:r>
          </a:p>
          <a:p/>
          <a:p>
            <a:r>
              <a:t>KEY POINTS:</a:t>
            </a:r>
          </a:p>
          <a:p>
            <a:r>
              <a:t>   * Claude Code runs this loop dozens of times per task</a:t>
            </a:r>
          </a:p>
          <a:p>
            <a:r>
              <a:t>   * Example: 'Fix login bug' → Plan (find auth code) → Act (read files) → Observe (found issue) → Act (write fix) → Observe (tests pass)</a:t>
            </a:r>
          </a:p>
          <a:p>
            <a:r>
              <a:t>   * If tests fail, Claude adjusts and tries again</a:t>
            </a:r>
          </a:p>
          <a:p/>
          <a:p>
            <a:r>
              <a:t>ASK THE CLASS:</a:t>
            </a:r>
          </a:p>
          <a:p>
            <a:r>
              <a:t>   "When you rejected Claude's changes yesterday, it adjusted - that's this loop"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Claude Code internally has Research agent, Code agent, Test agent</a:t>
            </a:r>
          </a:p>
          <a:p>
            <a:r>
              <a:t>   * Complex tasks need orchestration</a:t>
            </a:r>
          </a:p>
          <a:p>
            <a:r>
              <a:t>   * Same pattern as GitHub Copilot Workspace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Agents use more tokens - cost consideration</a:t>
            </a:r>
          </a:p>
          <a:p>
            <a:r>
              <a:t>   * For simple Q&amp;A, single response is fine</a:t>
            </a:r>
          </a:p>
          <a:p>
            <a:r>
              <a:t>   * Rule of thumb: If it takes a human multiple steps, use an agent</a:t>
            </a:r>
          </a:p>
          <a:p/>
          <a:p>
            <a:r>
              <a:t>REAL-WORLD EXAMPLE:</a:t>
            </a:r>
          </a:p>
          <a:p>
            <a:r>
              <a:t>   Anthropic uses simple Claude for writing, agentic Claude for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Key word: ITERATE - agents keep going until goal is met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If agents are workers, skills are their tools</a:t>
            </a:r>
          </a:p>
          <a:p>
            <a:r>
              <a:t>   * Yesterday's /commit and /pr - those are skills</a:t>
            </a:r>
          </a:p>
          <a:p/>
          <a:p>
            <a:r>
              <a:t>ASK THE CLASS:</a:t>
            </a:r>
          </a:p>
          <a:p>
            <a:r>
              <a:t>   "What slash commands did you use yesterday?"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/commit = git add + analyze changes + write message + commit</a:t>
            </a:r>
          </a:p>
          <a:p>
            <a:r>
              <a:t>   * They're intelligent: /commit writes GOOD messages</a:t>
            </a:r>
          </a:p>
          <a:p>
            <a:r>
              <a:t>   * Think of them as 'best practice workflows' packaged up</a:t>
            </a:r>
          </a:p>
          <a:p/>
          <a:p>
            <a:r>
              <a:t>ASK THE CLASS:</a:t>
            </a:r>
          </a:p>
          <a:p>
            <a:r>
              <a:t>   "What multi-step task do you do repeatedly that could be a skill?"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/commit: Stage changes + generate semantic message</a:t>
            </a:r>
          </a:p>
          <a:p>
            <a:r>
              <a:t>   * /pr: Create pull request with description</a:t>
            </a:r>
          </a:p>
          <a:p>
            <a:r>
              <a:t>   * /review: Analyze code for issues</a:t>
            </a:r>
          </a:p>
          <a:p>
            <a:r>
              <a:t>   * Also: /test, /docs, /help</a:t>
            </a:r>
          </a:p>
          <a:p/>
          <a:p>
            <a:r>
              <a:t>REAL-WORLD EXAMPLE:</a:t>
            </a:r>
          </a:p>
          <a:p>
            <a:r>
              <a:t>   Teams report 80% fewer 'fix bug' and 'update code' commits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5 minutes</a:t>
            </a:r>
          </a:p>
          <a:p/>
          <a:p>
            <a:r>
              <a:t>KEY POINTS:</a:t>
            </a:r>
          </a:p>
          <a:p>
            <a:r>
              <a:t>   * DEMO: Show /commit with staged changes</a:t>
            </a:r>
          </a:p>
          <a:p>
            <a:r>
              <a:t>   * Watch: Runs git status, git diff, analyzes semantically</a:t>
            </a:r>
          </a:p>
          <a:p>
            <a:r>
              <a:t>   * Generates: Conventional commit message</a:t>
            </a:r>
          </a:p>
          <a:p>
            <a:r>
              <a:t>   * Asks: For approval before executing</a:t>
            </a:r>
          </a:p>
          <a:p/>
          <a:p>
            <a:r>
              <a:t>ASK THE CLASS:</a:t>
            </a:r>
          </a:p>
          <a:p>
            <a:r>
              <a:t>   "How would this change your commit message quality?"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 minutes</a:t>
            </a:r>
          </a:p>
          <a:p/>
          <a:p>
            <a:r>
              <a:t>KEY POINTS:</a:t>
            </a:r>
          </a:p>
          <a:p>
            <a:r>
              <a:t>   * Skills read CLAUDE.md for project-specific behavior</a:t>
            </a:r>
          </a:p>
          <a:p>
            <a:r>
              <a:t>   * Team alignment: Everyone's /commit produces consistent messages</a:t>
            </a:r>
          </a:p>
          <a:p>
            <a:r>
              <a:t>   * Configuration in same file as other project rules</a:t>
            </a:r>
          </a:p>
          <a:p/>
          <a:p>
            <a:r>
              <a:t>REAL-WORLD EXAMPLE:</a:t>
            </a:r>
          </a:p>
          <a:p>
            <a:r>
              <a:t>   One team's CLAUDE.md requires Jira ticket numbers - /commit extracts them automatically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 minutes</a:t>
            </a:r>
          </a:p>
          <a:p/>
          <a:p>
            <a:r>
              <a:t>KEY POINTS:</a:t>
            </a:r>
          </a:p>
          <a:p>
            <a:r>
              <a:t>   * What if you want /deploy that knows YOUR infrastructure?</a:t>
            </a:r>
          </a:p>
          <a:p>
            <a:r>
              <a:t>   * Custom skills package your runbooks</a:t>
            </a:r>
          </a:p>
          <a:p>
            <a:r>
              <a:t>   * Example: /release that updates version, generates changelog, creates tag</a:t>
            </a:r>
          </a:p>
          <a:p/>
          <a:p>
            <a:r>
              <a:t>ASK THE CLASS:</a:t>
            </a:r>
          </a:p>
          <a:p>
            <a:r>
              <a:t>   "What workflow would you package as a skill?"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Start with built-in skills - they cover most needs</a:t>
            </a:r>
          </a:p>
          <a:p>
            <a:r>
              <a:t>   * Customize via CLAUDE.md before creating new</a:t>
            </a:r>
          </a:p>
          <a:p>
            <a:r>
              <a:t>   * Same review standards for skill outputs</a:t>
            </a:r>
          </a:p>
          <a:p>
            <a:r>
              <a:t>   * Most teams get 90% of value from built-ins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MCP = Model Context Protocol</a:t>
            </a:r>
          </a:p>
          <a:p>
            <a:r>
              <a:t>   * How Claude reads files, runs commands, connects to systems</a:t>
            </a:r>
          </a:p>
          <a:p>
            <a:r>
              <a:t>   * Open standard for AI-tool integration</a:t>
            </a:r>
          </a:p>
          <a:p/>
          <a:p>
            <a:r>
              <a:t>ASK THE CLASS:</a:t>
            </a:r>
          </a:p>
          <a:p>
            <a:r>
              <a:t>   "What systems would you want Claude to connect to?"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Like USB standardized peripherals</a:t>
            </a:r>
          </a:p>
          <a:p>
            <a:r>
              <a:t>   * Open source - anyone can build MCP servers</a:t>
            </a:r>
          </a:p>
          <a:p>
            <a:r>
              <a:t>   * Build connector once, works with any MCP-compatible AI</a:t>
            </a:r>
          </a:p>
          <a:p/>
          <a:p>
            <a:r>
              <a:t>REAL-WORLD EXAMPLE:</a:t>
            </a:r>
          </a:p>
          <a:p>
            <a:r>
              <a:t>   GitHub MCP connector works with Claude and any future MCP-compatible 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 minutes</a:t>
            </a:r>
          </a:p>
          <a:p/>
          <a:p>
            <a:r>
              <a:t>KEY POINTS:</a:t>
            </a:r>
          </a:p>
          <a:p>
            <a:r>
              <a:t>   * Tools = actions Claude can take: send_email, create_ticket</a:t>
            </a:r>
          </a:p>
          <a:p>
            <a:r>
              <a:t>   * Resources = data Claude can read: files, databases</a:t>
            </a:r>
          </a:p>
          <a:p>
            <a:r>
              <a:t>   * Prompts = reusable templates: code_review format</a:t>
            </a:r>
          </a:p>
          <a:p>
            <a:r>
              <a:t>   * Once you understand these, you understand MCP</a:t>
            </a:r>
          </a:p>
          <a:p/>
          <a:p>
            <a:r>
              <a:t>ASK THE CLASS:</a:t>
            </a:r>
          </a:p>
          <a:p>
            <a:r>
              <a:t>   "For your systems, what would be tools vs resources?"</a:t>
            </a:r>
          </a:p>
          <a:p>
            <a:r>
              <a:t>   [PAUSE for 30-60 seconds]</a:t>
            </a:r>
          </a:p>
          <a:p/>
          <a:p>
            <a:r>
              <a:t>REAL-WORLD EXAMPLE:</a:t>
            </a:r>
          </a:p>
          <a:p>
            <a:r>
              <a:t>   Jira connector: Tools = create_ticket. Resources = jira://project/issues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 minutes</a:t>
            </a:r>
          </a:p>
          <a:p/>
          <a:p>
            <a:r>
              <a:t>KEY POINTS:</a:t>
            </a:r>
          </a:p>
          <a:p>
            <a:r>
              <a:t>   * This JSON teaches Claude how to create Jira tickets</a:t>
            </a:r>
          </a:p>
          <a:p>
            <a:r>
              <a:t>   * Name tells Claude what it does</a:t>
            </a:r>
          </a:p>
          <a:p>
            <a:r>
              <a:t>   * Description helps it decide when to use it</a:t>
            </a:r>
          </a:p>
          <a:p>
            <a:r>
              <a:t>   * Parameters: What info Claude needs to provide</a:t>
            </a:r>
          </a:p>
          <a:p/>
          <a:p>
            <a:r>
              <a:t>ASK THE CLASS:</a:t>
            </a:r>
          </a:p>
          <a:p>
            <a:r>
              <a:t>   "What tools would you define for your internal systems?"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URI pattern: scheme://path - familiar and intuitive</a:t>
            </a:r>
          </a:p>
          <a:p>
            <a:r>
              <a:t>   * Resources are READ operations - they don't change anything</a:t>
            </a:r>
          </a:p>
          <a:p>
            <a:r>
              <a:t>   * Claude references resources to get context</a:t>
            </a:r>
          </a:p>
          <a:p/>
          <a:p>
            <a:r>
              <a:t>ASK THE CLASS:</a:t>
            </a:r>
          </a:p>
          <a:p>
            <a:r>
              <a:t>   "What data would Claude need to read in your org?"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Resource access is safer than Tool access</a:t>
            </a:r>
          </a:p>
          <a:p>
            <a:r>
              <a:t>   * You might grant read but not write</a:t>
            </a:r>
          </a:p>
          <a:p>
            <a:r>
              <a:t>   * Tools = verbs, Resources = nouns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Also: Jira, Notion, PostgreSQL, and more</a:t>
            </a:r>
          </a:p>
          <a:p>
            <a:r>
              <a:t>   * Check modelcontextprotocol.io/servers for the list</a:t>
            </a:r>
          </a:p>
          <a:p>
            <a:r>
              <a:t>   * Installation: Usually npm install + config</a:t>
            </a:r>
          </a:p>
          <a:p>
            <a:r>
              <a:t>   * Community is growing - new connectors weekly</a:t>
            </a:r>
          </a:p>
          <a:p/>
          <a:p>
            <a:r>
              <a:t>ASK THE CLASS:</a:t>
            </a:r>
          </a:p>
          <a:p>
            <a:r>
              <a:t>   "Which connector would be most valuable for your team?"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 minutes</a:t>
            </a:r>
          </a:p>
          <a:p/>
          <a:p>
            <a:r>
              <a:t>KEY POINTS:</a:t>
            </a:r>
          </a:p>
          <a:p>
            <a:r>
              <a:t>   * Microsoft Graph connector: Access M365 data</a:t>
            </a:r>
          </a:p>
          <a:p>
            <a:r>
              <a:t>   * Email, Calendar, SharePoint, Teams</a:t>
            </a:r>
          </a:p>
          <a:p>
            <a:r>
              <a:t>   * OAuth: Claude only accesses what you authorize</a:t>
            </a:r>
          </a:p>
          <a:p>
            <a:r>
              <a:t>   * Use cases: 'Find emails about the budget', 'What meetings tomorrow?'</a:t>
            </a:r>
          </a:p>
          <a:p/>
          <a:p>
            <a:r>
              <a:t>ASK THE CLASS:</a:t>
            </a:r>
          </a:p>
          <a:p>
            <a:r>
              <a:t>   "What M365 data would be useful for Claude?"</a:t>
            </a:r>
          </a:p>
          <a:p>
            <a:r>
              <a:t>   [PAUSE for 30-60 seconds]</a:t>
            </a:r>
          </a:p>
          <a:p/>
          <a:p>
            <a:r>
              <a:t>REAL-WORLD EXAMPLE:</a:t>
            </a:r>
          </a:p>
          <a:p>
            <a:r>
              <a:t>   Support team searches SharePoint for docs when answering customers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Memory device: Tools = verbs, Resources = nouns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We'll connect GitHub and interact with repos</a:t>
            </a:r>
          </a:p>
          <a:p>
            <a:r>
              <a:t>   * This is the pattern for any connector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8 minutes</a:t>
            </a:r>
          </a:p>
          <a:p/>
          <a:p>
            <a:r>
              <a:t>KEY POINTS:</a:t>
            </a:r>
          </a:p>
          <a:p>
            <a:r>
              <a:t>   * DEMO: claude mcp add github</a:t>
            </a:r>
          </a:p>
          <a:p>
            <a:r>
              <a:t>   * DEMO: OAuth flow - grant repo access</a:t>
            </a:r>
          </a:p>
          <a:p>
            <a:r>
              <a:t>   * DEMO: 'List my open PRs', 'Summarize PR #42'</a:t>
            </a:r>
          </a:p>
          <a:p>
            <a:r>
              <a:t>   * Natural language queries to GitHub</a:t>
            </a:r>
          </a:p>
          <a:p/>
          <a:p>
            <a:r>
              <a:t>ASK THE CLASS:</a:t>
            </a:r>
          </a:p>
          <a:p>
            <a:r>
              <a:t>   "How would this change PR management?"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Natural language → GitHub API calls</a:t>
            </a:r>
          </a:p>
          <a:p>
            <a:r>
              <a:t>   * MCP abstracts the complexity</a:t>
            </a:r>
          </a:p>
          <a:p>
            <a:r>
              <a:t>   * You don't need to learn GitHub API</a:t>
            </a:r>
          </a:p>
          <a:p/>
          <a:p>
            <a:r>
              <a:t>REAL-WORLD EXAMPLE:</a:t>
            </a:r>
          </a:p>
          <a:p>
            <a:r>
              <a:t>   Teams use this for automated PR summaries before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What if your most valuable system is custom?</a:t>
            </a:r>
          </a:p>
          <a:p>
            <a:r>
              <a:t>   * MCP SDK: Build a connector for ANY system</a:t>
            </a:r>
          </a:p>
          <a:p/>
          <a:p>
            <a:r>
              <a:t>ASK THE CLASS:</a:t>
            </a:r>
          </a:p>
          <a:p>
            <a:r>
              <a:t>   "What internal system needs a Claude connection?"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 minutes</a:t>
            </a:r>
          </a:p>
          <a:p/>
          <a:p>
            <a:r>
              <a:t>KEY POINTS:</a:t>
            </a:r>
          </a:p>
          <a:p>
            <a:r>
              <a:t>   * Your MCP server wraps internal systems</a:t>
            </a:r>
          </a:p>
          <a:p>
            <a:r>
              <a:t>   * SDK available in Python and TypeScript</a:t>
            </a:r>
          </a:p>
          <a:p>
            <a:r>
              <a:t>   * Basic servers can be built in a day</a:t>
            </a:r>
          </a:p>
          <a:p/>
          <a:p>
            <a:r>
              <a:t>REAL-WORLD EXAMPLE:</a:t>
            </a:r>
          </a:p>
          <a:p>
            <a:r>
              <a:t>   Logistics company: Dispatchers ask Claude about inventory levels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5 minutes</a:t>
            </a:r>
          </a:p>
          <a:p/>
          <a:p>
            <a:r>
              <a:t>KEY POINTS:</a:t>
            </a:r>
          </a:p>
          <a:p>
            <a:r>
              <a:t>   * About 25 lines for a complete server</a:t>
            </a:r>
          </a:p>
          <a:p>
            <a:r>
              <a:t>   * @server.tool = what Claude can DO</a:t>
            </a:r>
          </a:p>
          <a:p>
            <a:r>
              <a:t>   * @server.resource = what Claude can READ</a:t>
            </a:r>
          </a:p>
          <a:p>
            <a:r>
              <a:t>   * Docstrings become descriptions Claude sees</a:t>
            </a:r>
          </a:p>
          <a:p/>
          <a:p>
            <a:r>
              <a:t>ASK THE CLASS:</a:t>
            </a:r>
          </a:p>
          <a:p>
            <a:r>
              <a:t>   "What tools would you add for your systems?"</a:t>
            </a:r>
          </a:p>
          <a:p>
            <a:r>
              <a:t>   [PAUSE for 30-60 seconds]</a:t>
            </a:r>
          </a:p>
          <a:p/>
          <a:p>
            <a:r>
              <a:t>REAL-WORLD EXAMPLE:</a:t>
            </a:r>
          </a:p>
          <a:p>
            <a:r>
              <a:t>   Fintech company: 12 tools, one engineer, two days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MCP gives Claude access to your systems - do it safely</a:t>
            </a:r>
          </a:p>
          <a:p/>
          <a:p>
            <a:r>
              <a:t>ASK THE CLASS:</a:t>
            </a:r>
          </a:p>
          <a:p>
            <a:r>
              <a:t>   "What security concerns came to mind?"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OAuth: User explicitly grants access</a:t>
            </a:r>
          </a:p>
          <a:p>
            <a:r>
              <a:t>   * Scoped: GitHub connector can't access Slack</a:t>
            </a:r>
          </a:p>
          <a:p>
            <a:r>
              <a:t>   * Logged: Every tool call is auditable</a:t>
            </a:r>
          </a:p>
          <a:p/>
          <a:p>
            <a:r>
              <a:t>REAL-WORLD EXAMPLE:</a:t>
            </a:r>
          </a:p>
          <a:p>
            <a:r>
              <a:t>   In audit, show exactly what Claude accessed, when, and what it did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 minutes</a:t>
            </a:r>
          </a:p>
          <a:p/>
          <a:p>
            <a:r>
              <a:t>KEY POINTS:</a:t>
            </a:r>
          </a:p>
          <a:p>
            <a:r>
              <a:t>   * These are real risks, not theoretical</a:t>
            </a:r>
          </a:p>
          <a:p>
            <a:r>
              <a:t>   * Prompt injection: Malicious content tricks Claude</a:t>
            </a:r>
          </a:p>
          <a:p>
            <a:r>
              <a:t>   * Over-permissioning: Admin when read would suffice</a:t>
            </a:r>
          </a:p>
          <a:p>
            <a:r>
              <a:t>   * All mitigatable with proper design</a:t>
            </a:r>
          </a:p>
          <a:p/>
          <a:p>
            <a:r>
              <a:t>ASK THE CLASS:</a:t>
            </a:r>
          </a:p>
          <a:p>
            <a:r>
              <a:t>   "Which risk concerns your org most?"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If Claude only needs read, don't grant write</a:t>
            </a:r>
          </a:p>
          <a:p>
            <a:r>
              <a:t>   * For risky operations, require approval</a:t>
            </a:r>
          </a:p>
          <a:p>
            <a:r>
              <a:t>   * Log and monitor all activity</a:t>
            </a:r>
          </a:p>
          <a:p>
            <a:r>
              <a:t>   * Same principles you already use</a:t>
            </a:r>
          </a:p>
          <a:p/>
          <a:p>
            <a:r>
              <a:t>REAL-WORLD EXAMPLE:</a:t>
            </a:r>
          </a:p>
          <a:p>
            <a:r>
              <a:t>   Bank's MCP can read transactions but not initiate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Let's recap what we covered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You understand HOW Claude Code works</a:t>
            </a:r>
          </a:p>
          <a:p>
            <a:r>
              <a:t>   * MCP opens integration possibilities</a:t>
            </a:r>
          </a:p>
          <a:p>
            <a:r>
              <a:t>   * Security principles keep it safe</a:t>
            </a:r>
          </a:p>
          <a:p/>
          <a:p>
            <a:r>
              <a:t>ASK THE CLASS:</a:t>
            </a:r>
          </a:p>
          <a:p>
            <a:r>
              <a:t>   "What's the most valuable thing you learned?"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MCP ecosystem growing rapidly</a:t>
            </a:r>
          </a:p>
          <a:p>
            <a:r>
              <a:t>   * New connectors appear weekly</a:t>
            </a:r>
          </a:p>
          <a:p>
            <a:r>
              <a:t>   * Custom skill authoring improving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Start with built-in connector (GitHub, Slack)</a:t>
            </a:r>
          </a:p>
          <a:p>
            <a:r>
              <a:t>   * Identify internal system for custom connector</a:t>
            </a:r>
          </a:p>
          <a:p>
            <a:r>
              <a:t>   * Create security policies before rollout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All links in follow-up email</a:t>
            </a:r>
          </a:p>
          <a:p>
            <a:r>
              <a:t>   * MCP spec site has tutorials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5 minutes</a:t>
            </a:r>
          </a:p>
          <a:p/>
          <a:p>
            <a:r>
              <a:t>KEY POINTS:</a:t>
            </a:r>
          </a:p>
          <a:p>
            <a:r>
              <a:t>   * Common questions: Pricing, timeline, integration effort</a:t>
            </a:r>
          </a:p>
          <a:p>
            <a:r>
              <a:t>   * Thank everyone for two days of engagement</a:t>
            </a:r>
          </a:p>
          <a:p>
            <a:r>
              <a:t>   * Good luck with your Claude deployments</a:t>
            </a:r>
          </a:p>
          <a:p/>
          <a:p>
            <a:r>
              <a:t>ASK THE CLASS:</a:t>
            </a:r>
          </a:p>
          <a:p>
            <a:r>
              <a:t>   "Any questions?"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T2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From user to architect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How agents think • What skills are • How MCP connects everything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🤖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Chatbot vs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77559" y="1371600"/>
            <a:ext cx="36576" cy="4572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64327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6B4A"/>
                </a:solidFill>
              </a:defRPr>
            </a:pPr>
            <a: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0167" y="1463040"/>
            <a:ext cx="5364327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After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The Agentic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269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899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899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69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413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85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15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15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85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⚡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29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01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331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31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👁️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845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417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47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47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17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74320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38328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02336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Observe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63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66344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Adjust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00D4AA"/>
                </a:solidFill>
              </a:defRPr>
            </a:pPr>
            <a: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i="1">
                <a:solidFill>
                  <a:srgbClr val="FFFFFF"/>
                </a:solidFill>
              </a:defRPr>
            </a:pPr>
            <a:r>
              <a:t>Like a manager with a team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When Agents Make Sense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0108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8688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8688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252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Multi-Step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84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3864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864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428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Tool Access Needed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460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9040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040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04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Needs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0F1A"/>
                </a:solidFill>
              </a:defRPr>
            </a:pPr>
            <a:r>
              <a:t>Knowledge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distinguishes an AI agent from a chatbot?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1277295" cy="731520"/>
          </a:xfrm>
          <a:prstGeom prst="roundRect">
            <a:avLst/>
          </a:prstGeom>
          <a:solidFill>
            <a:srgbClr val="141A26"/>
          </a:solidFill>
          <a:ln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72491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A) Agents use more advanced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29000"/>
            <a:ext cx="11277295" cy="731520"/>
          </a:xfrm>
          <a:prstGeom prst="roundRect">
            <a:avLst/>
          </a:prstGeom>
          <a:solidFill>
            <a:srgbClr val="141A26"/>
          </a:solidFill>
          <a:ln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9359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B) Agents can take actions and iterate toward a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11277295" cy="731520"/>
          </a:xfrm>
          <a:prstGeom prst="roundRect">
            <a:avLst/>
          </a:prstGeom>
          <a:solidFill>
            <a:srgbClr val="141A26"/>
          </a:solidFill>
          <a:ln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6227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C) Agents require human approval for every 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66360"/>
            <a:ext cx="11277295" cy="731520"/>
          </a:xfrm>
          <a:prstGeom prst="roundRect">
            <a:avLst/>
          </a:prstGeom>
          <a:solidFill>
            <a:srgbClr val="141A26"/>
          </a:solidFill>
          <a:ln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530352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3095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D) Agents only work with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🛠️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Intelligent macros with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Predefined capabilities • Multi-step workflows • Context-aware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Built-in Skills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0108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8688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8688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252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/commit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84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3864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864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428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/pr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460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9040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040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04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/review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00D4AA"/>
                </a:solidFill>
              </a:defRPr>
            </a:pPr>
            <a: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474720"/>
            <a:ext cx="27432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/commit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B95A5"/>
                </a:solidFill>
              </a:defRPr>
            </a:pPr>
            <a:r>
              <a:t>Live: Watch Claude analyze and commit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Configuring Skills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MARKDOWN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97135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# In CLAUDE.md</a:t>
            </a:r>
            <a:br/>
            <a:br/>
            <a:r>
              <a:t>## Commit Skill Configuration</a:t>
            </a:r>
            <a:br/>
            <a:r>
              <a:t>- Use conventional commits format</a:t>
            </a:r>
            <a:br/>
            <a:r>
              <a:t>- Include ticket number from branch</a:t>
            </a:r>
            <a:br/>
            <a:r>
              <a:t>- Max subject: 72 characters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Custom /deploy Skill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269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899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899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69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🧪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413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85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15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15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85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🔨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29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01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331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31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📦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845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417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47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47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17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74320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38328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02336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Push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63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66344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Notify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Skills Best Practices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0160" y="3273552"/>
            <a:ext cx="7772171" cy="36576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292608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Use Built-in</a:t>
            </a:r>
          </a:p>
        </p:txBody>
      </p:sp>
      <p:sp>
        <p:nvSpPr>
          <p:cNvPr id="7" name="Oval 6"/>
          <p:cNvSpPr/>
          <p:nvPr/>
        </p:nvSpPr>
        <p:spPr>
          <a:xfrm>
            <a:off x="3505123" y="292608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5123" y="3063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7923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Configure</a:t>
            </a:r>
          </a:p>
        </p:txBody>
      </p:sp>
      <p:sp>
        <p:nvSpPr>
          <p:cNvPr id="10" name="Oval 9"/>
          <p:cNvSpPr/>
          <p:nvPr/>
        </p:nvSpPr>
        <p:spPr>
          <a:xfrm>
            <a:off x="6095847" y="292608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5847" y="3063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8647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Test Safe</a:t>
            </a:r>
          </a:p>
        </p:txBody>
      </p:sp>
      <p:sp>
        <p:nvSpPr>
          <p:cNvPr id="13" name="Oval 12"/>
          <p:cNvSpPr/>
          <p:nvPr/>
        </p:nvSpPr>
        <p:spPr>
          <a:xfrm>
            <a:off x="8686571" y="292608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571" y="3063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371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Document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Build once, works everywhere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Before MCP: Every integration was custom. With MCP: Standard protocol.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Three Primitives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0108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8688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8688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252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Tools (Verbs)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84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3864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864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428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Resources (Nouns)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460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9040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040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04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Prompts (Templates)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Defining a Tool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97135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{</a:t>
            </a:r>
            <a:br/>
            <a:r>
              <a:t>  "name": "create_jira_ticket",</a:t>
            </a:r>
            <a:br/>
            <a:r>
              <a:t>  "description": "Create a Jira ticket",</a:t>
            </a:r>
            <a:br/>
            <a:r>
              <a:t>  "parameters": {</a:t>
            </a:r>
            <a:br/>
            <a:r>
              <a:t>    "project": "string",</a:t>
            </a:r>
            <a:br/>
            <a:r>
              <a:t>    "title": "string",</a:t>
            </a:r>
            <a:br/>
            <a:r>
              <a:t>    "priority": ["high", "medium", "low"]</a:t>
            </a:r>
            <a:br/>
            <a:r>
              <a:t>  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Resource URIs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97135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file://./docs/architecture.md</a:t>
            </a:r>
            <a:br/>
            <a:r>
              <a:t>db://users/active</a:t>
            </a:r>
            <a:br/>
            <a:r>
              <a:t>api://salesforce/contacts</a:t>
            </a:r>
            <a:br/>
            <a:r>
              <a:t>jira://ENG/issues?status=open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00D4AA"/>
                </a:solidFill>
              </a:defRPr>
            </a:pPr>
            <a: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i="1">
                <a:solidFill>
                  <a:srgbClr val="FFFFFF"/>
                </a:solidFill>
              </a:defRPr>
            </a:pPr>
            <a:r>
              <a:t>Tools DO things. Resources PROVIDE context.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Pre-built Connectors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0108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8688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8688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252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84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3864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864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428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Slack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460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9040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040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04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Google Drive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M365 via MCP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269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899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899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69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🤖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413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85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15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15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85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🔌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29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01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331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31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☁️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845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417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47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47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17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74320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Claude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38328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02336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63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66344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M365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0F1A"/>
                </a:solidFill>
              </a:defRPr>
            </a:pPr>
            <a:r>
              <a:t>Knowledge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is the difference between a Tool and a Resource in MCP?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1277295" cy="731520"/>
          </a:xfrm>
          <a:prstGeom prst="roundRect">
            <a:avLst/>
          </a:prstGeom>
          <a:solidFill>
            <a:srgbClr val="141A26"/>
          </a:solidFill>
          <a:ln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72491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A) Tools read data, Resources execute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29000"/>
            <a:ext cx="11277295" cy="731520"/>
          </a:xfrm>
          <a:prstGeom prst="roundRect">
            <a:avLst/>
          </a:prstGeom>
          <a:solidFill>
            <a:srgbClr val="141A26"/>
          </a:solidFill>
          <a:ln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9359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B) Tools execute actions, Resources provide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11277295" cy="731520"/>
          </a:xfrm>
          <a:prstGeom prst="roundRect">
            <a:avLst/>
          </a:prstGeom>
          <a:solidFill>
            <a:srgbClr val="141A26"/>
          </a:solidFill>
          <a:ln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6227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C) They are the same with different names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66360"/>
            <a:ext cx="11277295" cy="731520"/>
          </a:xfrm>
          <a:prstGeom prst="roundRect">
            <a:avLst/>
          </a:prstGeom>
          <a:solidFill>
            <a:srgbClr val="141A26"/>
          </a:solidFill>
          <a:ln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530352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3095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D) Tools are built-in, Resources are custom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00D4AA"/>
                </a:solidFill>
              </a:defRPr>
            </a:pPr>
            <a: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474720"/>
            <a:ext cx="27432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GitHub Connector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B95A5"/>
                </a:solidFill>
              </a:defRPr>
            </a:pPr>
            <a:r>
              <a:t>Live: From zero to repo access in 2 minutes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Using the Connector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BASH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97135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# Add GitHub connector</a:t>
            </a:r>
            <a:br/>
            <a:r>
              <a:t>claude mcp add github</a:t>
            </a:r>
            <a:br/>
            <a:br/>
            <a:r>
              <a:t># In Claude Code:</a:t>
            </a:r>
            <a:br/>
            <a:r>
              <a:t>&gt; List my open pull requests</a:t>
            </a:r>
            <a:br/>
            <a:r>
              <a:t>&gt; Summarize PR #42</a:t>
            </a:r>
            <a:br/>
            <a:r>
              <a:t>&gt; What issues closed this week?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🔧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Custom MCP Server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269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899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899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69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🤖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413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85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15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15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85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🖥️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29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01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331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31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🔗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845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417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47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47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17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74320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Claude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38328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Your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02336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Internal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63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66344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Your Data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MCP Server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97135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from mcp.server import Server</a:t>
            </a:r>
            <a:br/>
            <a:br/>
            <a:r>
              <a:t>server = Server("my-company")</a:t>
            </a:r>
            <a:br/>
            <a:br/>
            <a:r>
              <a:t>@server.tool()</a:t>
            </a:r>
            <a:br/>
            <a:r>
              <a:t>def get_employee(id: str) -&gt; dict:</a:t>
            </a:r>
            <a:br/>
            <a:r>
              <a:t>    return hr_api.get(id)</a:t>
            </a:r>
            <a:b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🔒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Security Built-in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0108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8688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8688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252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OAuth 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84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3864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864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428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Scoped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460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9040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040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04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Full Audit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Threat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077559" y="1371600"/>
            <a:ext cx="36576" cy="4572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64327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6B4A"/>
                </a:solidFill>
              </a:defRPr>
            </a:pPr>
            <a: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0167" y="1463040"/>
            <a:ext cx="5364327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After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Security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0160" y="3273552"/>
            <a:ext cx="7772171" cy="36576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292608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Least Privilege</a:t>
            </a:r>
          </a:p>
        </p:txBody>
      </p:sp>
      <p:sp>
        <p:nvSpPr>
          <p:cNvPr id="7" name="Oval 6"/>
          <p:cNvSpPr/>
          <p:nvPr/>
        </p:nvSpPr>
        <p:spPr>
          <a:xfrm>
            <a:off x="3505123" y="292608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5123" y="3063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7923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Approval</a:t>
            </a:r>
          </a:p>
        </p:txBody>
      </p:sp>
      <p:sp>
        <p:nvSpPr>
          <p:cNvPr id="10" name="Oval 9"/>
          <p:cNvSpPr/>
          <p:nvPr/>
        </p:nvSpPr>
        <p:spPr>
          <a:xfrm>
            <a:off x="6095847" y="292608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5847" y="3063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8647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Monitor</a:t>
            </a:r>
          </a:p>
        </p:txBody>
      </p:sp>
      <p:sp>
        <p:nvSpPr>
          <p:cNvPr id="13" name="Oval 12"/>
          <p:cNvSpPr/>
          <p:nvPr/>
        </p:nvSpPr>
        <p:spPr>
          <a:xfrm>
            <a:off x="8686571" y="292608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571" y="3063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371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Audit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88720"/>
            <a:ext cx="91440" cy="5029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You Learned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What's Coming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0108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8688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8688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252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More Connectors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84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3864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864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428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Better 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460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9040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040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☁️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04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Deeper M365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Your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0108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8688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8688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252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Try a Connector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84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3864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864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428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Plan Custom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460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9040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040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04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Define Security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MCP Spec: modelcontextprotocol.io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Connectors: github.com/modelcontextprotocol/servers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Claude Docs: docs.anthropic.com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Python SDK: mcp-python.readthedocs.io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❓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