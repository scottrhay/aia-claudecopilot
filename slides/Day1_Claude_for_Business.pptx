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8"/>
  </p:notesMasterIdLst>
  <p:sldIdLst>
    <p:sldId id="256" r:id="rId2"/>
    <p:sldId id="257" r:id="rId3"/>
    <p:sldId id="258" r:id="rId4"/>
    <p:sldId id="346" r:id="rId5"/>
    <p:sldId id="264" r:id="rId6"/>
    <p:sldId id="268" r:id="rId7"/>
    <p:sldId id="269" r:id="rId8"/>
    <p:sldId id="281" r:id="rId9"/>
    <p:sldId id="282" r:id="rId10"/>
    <p:sldId id="283" r:id="rId11"/>
    <p:sldId id="284" r:id="rId12"/>
    <p:sldId id="285" r:id="rId13"/>
    <p:sldId id="286" r:id="rId14"/>
    <p:sldId id="287" r:id="rId15"/>
    <p:sldId id="296" r:id="rId16"/>
    <p:sldId id="288" r:id="rId17"/>
    <p:sldId id="289" r:id="rId18"/>
    <p:sldId id="290" r:id="rId19"/>
    <p:sldId id="291" r:id="rId20"/>
    <p:sldId id="292" r:id="rId21"/>
    <p:sldId id="294" r:id="rId22"/>
    <p:sldId id="295" r:id="rId23"/>
    <p:sldId id="297" r:id="rId24"/>
    <p:sldId id="293" r:id="rId25"/>
    <p:sldId id="280" r:id="rId26"/>
    <p:sldId id="347" r:id="rId27"/>
    <p:sldId id="259" r:id="rId28"/>
    <p:sldId id="260" r:id="rId29"/>
    <p:sldId id="261" r:id="rId30"/>
    <p:sldId id="262" r:id="rId31"/>
    <p:sldId id="271" r:id="rId32"/>
    <p:sldId id="335" r:id="rId33"/>
    <p:sldId id="336" r:id="rId34"/>
    <p:sldId id="337" r:id="rId35"/>
    <p:sldId id="351" r:id="rId95"/>
    <p:sldId id="352" r:id="rId96"/>
    <p:sldId id="267" r:id="rId37"/>
    <p:sldId id="272" r:id="rId39"/>
    <p:sldId id="273" r:id="rId40"/>
    <p:sldId id="274" r:id="rId41"/>
    <p:sldId id="275" r:id="rId42"/>
    <p:sldId id="276" r:id="rId43"/>
    <p:sldId id="343" r:id="rId44"/>
    <p:sldId id="298" r:id="rId45"/>
    <p:sldId id="348" r:id="rId46"/>
    <p:sldId id="277" r:id="rId47"/>
    <p:sldId id="315" r:id="rId48"/>
    <p:sldId id="279" r:id="rId49"/>
    <p:sldId id="299" r:id="rId50"/>
    <p:sldId id="300" r:id="rId51"/>
    <p:sldId id="301" r:id="rId52"/>
    <p:sldId id="302" r:id="rId53"/>
    <p:sldId id="303" r:id="rId54"/>
    <p:sldId id="304" r:id="rId55"/>
    <p:sldId id="305" r:id="rId56"/>
    <p:sldId id="306" r:id="rId57"/>
    <p:sldId id="307" r:id="rId58"/>
    <p:sldId id="278" r:id="rId59"/>
    <p:sldId id="344" r:id="rId60"/>
    <p:sldId id="309" r:id="rId61"/>
    <p:sldId id="349" r:id="rId62"/>
    <p:sldId id="310" r:id="rId63"/>
    <p:sldId id="311" r:id="rId64"/>
    <p:sldId id="312" r:id="rId65"/>
    <p:sldId id="313" r:id="rId66"/>
    <p:sldId id="314" r:id="rId67"/>
    <p:sldId id="317" r:id="rId68"/>
    <p:sldId id="318" r:id="rId69"/>
    <p:sldId id="316" r:id="rId70"/>
    <p:sldId id="319" r:id="rId71"/>
    <p:sldId id="320" r:id="rId72"/>
    <p:sldId id="321" r:id="rId73"/>
    <p:sldId id="322" r:id="rId74"/>
    <p:sldId id="323" r:id="rId75"/>
    <p:sldId id="350" r:id="rId76"/>
    <p:sldId id="353" r:id="rId97"/>
    <p:sldId id="354" r:id="rId98"/>
    <p:sldId id="325" r:id="rId77"/>
    <p:sldId id="326" r:id="rId78"/>
    <p:sldId id="327" r:id="rId79"/>
    <p:sldId id="345" r:id="rId80"/>
    <p:sldId id="328" r:id="rId81"/>
    <p:sldId id="329" r:id="rId82"/>
    <p:sldId id="330" r:id="rId83"/>
    <p:sldId id="331" r:id="rId84"/>
    <p:sldId id="332" r:id="rId85"/>
    <p:sldId id="333" r:id="rId86"/>
    <p:sldId id="355" r:id="rId9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8C2843-E5FF-413E-AF65-23AFCC76FC85}" v="23" dt="2026-02-16T14:30:33.999"/>
    <p1510:client id="{8A2C6AB8-6D9A-4FFF-AEDA-02DF086C3C35}" v="10" dt="2026-02-16T06:24:02.7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320" autoAdjust="0"/>
  </p:normalViewPr>
  <p:slideViewPr>
    <p:cSldViewPr snapToGrid="0" snapToObjects="1">
      <p:cViewPr varScale="1">
        <p:scale>
          <a:sx n="64" d="100"/>
          <a:sy n="64" d="100"/>
        </p:scale>
        <p:origin x="470"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slide" Target="slides/slide37.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50.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2" Type="http://schemas.openxmlformats.org/officeDocument/2006/relationships/slide" Target="slides/slide62.xml"/><Relationship Id="rId63" Type="http://schemas.openxmlformats.org/officeDocument/2006/relationships/slide" Target="slides/slide63.xml"/><Relationship Id="rId64" Type="http://schemas.openxmlformats.org/officeDocument/2006/relationships/slide" Target="slides/slide64.xml"/><Relationship Id="rId65" Type="http://schemas.openxmlformats.org/officeDocument/2006/relationships/slide" Target="slides/slide65.xml"/><Relationship Id="rId66"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0" Type="http://schemas.openxmlformats.org/officeDocument/2006/relationships/slide" Target="slides/slide70.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slide" Target="slides/slide73.xml"/><Relationship Id="rId74" Type="http://schemas.openxmlformats.org/officeDocument/2006/relationships/slide" Target="slides/slide74.xml"/><Relationship Id="rId75" Type="http://schemas.openxmlformats.org/officeDocument/2006/relationships/slide" Target="slides/slide75.xml"/><Relationship Id="rId76" Type="http://schemas.openxmlformats.org/officeDocument/2006/relationships/slide" Target="slides/slide76.xml"/><Relationship Id="rId77" Type="http://schemas.openxmlformats.org/officeDocument/2006/relationships/slide" Target="slides/slide79.xml"/><Relationship Id="rId78" Type="http://schemas.openxmlformats.org/officeDocument/2006/relationships/slide" Target="slides/slide80.xml"/><Relationship Id="rId79" Type="http://schemas.openxmlformats.org/officeDocument/2006/relationships/slide" Target="slides/slide81.xml"/><Relationship Id="rId80" Type="http://schemas.openxmlformats.org/officeDocument/2006/relationships/slide" Target="slides/slide82.xml"/><Relationship Id="rId81" Type="http://schemas.openxmlformats.org/officeDocument/2006/relationships/slide" Target="slides/slide83.xml"/><Relationship Id="rId82" Type="http://schemas.openxmlformats.org/officeDocument/2006/relationships/slide" Target="slides/slide84.xml"/><Relationship Id="rId83" Type="http://schemas.openxmlformats.org/officeDocument/2006/relationships/slide" Target="slides/slide85.xml"/><Relationship Id="rId84" Type="http://schemas.openxmlformats.org/officeDocument/2006/relationships/slide" Target="slides/slide86.xml"/><Relationship Id="rId85" Type="http://schemas.openxmlformats.org/officeDocument/2006/relationships/slide" Target="slides/slide87.xml"/><Relationship Id="rId86" Type="http://schemas.openxmlformats.org/officeDocument/2006/relationships/slide" Target="slides/slide88.xml"/><Relationship Id="rId87" Type="http://schemas.openxmlformats.org/officeDocument/2006/relationships/slide" Target="slides/slide35.xml"/><Relationship Id="rId88" Type="http://schemas.openxmlformats.org/officeDocument/2006/relationships/notesMaster" Target="notesMasters/notesMaster1.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 Id="rId93" Type="http://schemas.microsoft.com/office/2016/11/relationships/changesInfo" Target="changesInfos/changesInfo1.xml"/><Relationship Id="rId94" Type="http://schemas.microsoft.com/office/2015/10/relationships/revisionInfo" Target="revisionInfo.xml"/><Relationship Id="rId95" Type="http://schemas.openxmlformats.org/officeDocument/2006/relationships/slide" Target="slides/slide35.xml"/><Relationship Id="rId96" Type="http://schemas.openxmlformats.org/officeDocument/2006/relationships/slide" Target="slides/slide36.xml"/><Relationship Id="rId97" Type="http://schemas.openxmlformats.org/officeDocument/2006/relationships/slide" Target="slides/slide77.xml"/><Relationship Id="rId98" Type="http://schemas.openxmlformats.org/officeDocument/2006/relationships/slide" Target="slides/slide78.xml"/><Relationship Id="rId99"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Hay" userId="e95d3f44-f6c0-414c-b281-41a9346c1b81" providerId="ADAL" clId="{4D76341F-F64C-4A8E-A4EF-1A11730F38E9}"/>
    <pc:docChg chg="undo custSel addSld delSld modSld sldOrd">
      <pc:chgData name="Scott Hay" userId="e95d3f44-f6c0-414c-b281-41a9346c1b81" providerId="ADAL" clId="{4D76341F-F64C-4A8E-A4EF-1A11730F38E9}" dt="2026-02-16T06:47:36.069" v="171" actId="403"/>
      <pc:docMkLst>
        <pc:docMk/>
      </pc:docMkLst>
      <pc:sldChg chg="del">
        <pc:chgData name="Scott Hay" userId="e95d3f44-f6c0-414c-b281-41a9346c1b81" providerId="ADAL" clId="{4D76341F-F64C-4A8E-A4EF-1A11730F38E9}" dt="2026-02-16T00:13:51.846" v="97" actId="2696"/>
        <pc:sldMkLst>
          <pc:docMk/>
          <pc:sldMk cId="0" sldId="259"/>
        </pc:sldMkLst>
      </pc:sldChg>
      <pc:sldChg chg="add">
        <pc:chgData name="Scott Hay" userId="e95d3f44-f6c0-414c-b281-41a9346c1b81" providerId="ADAL" clId="{4D76341F-F64C-4A8E-A4EF-1A11730F38E9}" dt="2026-02-16T06:47:07.243" v="168"/>
        <pc:sldMkLst>
          <pc:docMk/>
          <pc:sldMk cId="3747382653" sldId="259"/>
        </pc:sldMkLst>
      </pc:sldChg>
      <pc:sldChg chg="add del">
        <pc:chgData name="Scott Hay" userId="e95d3f44-f6c0-414c-b281-41a9346c1b81" providerId="ADAL" clId="{4D76341F-F64C-4A8E-A4EF-1A11730F38E9}" dt="2026-02-16T06:46:52.762" v="167" actId="2696"/>
        <pc:sldMkLst>
          <pc:docMk/>
          <pc:sldMk cId="3926669599" sldId="259"/>
        </pc:sldMkLst>
      </pc:sldChg>
      <pc:sldChg chg="del">
        <pc:chgData name="Scott Hay" userId="e95d3f44-f6c0-414c-b281-41a9346c1b81" providerId="ADAL" clId="{4D76341F-F64C-4A8E-A4EF-1A11730F38E9}" dt="2026-02-16T00:13:51.846" v="97" actId="2696"/>
        <pc:sldMkLst>
          <pc:docMk/>
          <pc:sldMk cId="0" sldId="260"/>
        </pc:sldMkLst>
      </pc:sldChg>
      <pc:sldChg chg="add del">
        <pc:chgData name="Scott Hay" userId="e95d3f44-f6c0-414c-b281-41a9346c1b81" providerId="ADAL" clId="{4D76341F-F64C-4A8E-A4EF-1A11730F38E9}" dt="2026-02-16T06:46:52.762" v="167" actId="2696"/>
        <pc:sldMkLst>
          <pc:docMk/>
          <pc:sldMk cId="1144083189" sldId="260"/>
        </pc:sldMkLst>
      </pc:sldChg>
      <pc:sldChg chg="add">
        <pc:chgData name="Scott Hay" userId="e95d3f44-f6c0-414c-b281-41a9346c1b81" providerId="ADAL" clId="{4D76341F-F64C-4A8E-A4EF-1A11730F38E9}" dt="2026-02-16T06:47:07.243" v="168"/>
        <pc:sldMkLst>
          <pc:docMk/>
          <pc:sldMk cId="2209087286" sldId="260"/>
        </pc:sldMkLst>
      </pc:sldChg>
      <pc:sldChg chg="addSp modSp del mod modNotesTx">
        <pc:chgData name="Scott Hay" userId="e95d3f44-f6c0-414c-b281-41a9346c1b81" providerId="ADAL" clId="{4D76341F-F64C-4A8E-A4EF-1A11730F38E9}" dt="2026-02-16T00:13:51.846" v="97" actId="2696"/>
        <pc:sldMkLst>
          <pc:docMk/>
          <pc:sldMk cId="0" sldId="261"/>
        </pc:sldMkLst>
        <pc:picChg chg="add mod">
          <ac:chgData name="Scott Hay" userId="e95d3f44-f6c0-414c-b281-41a9346c1b81" providerId="ADAL" clId="{4D76341F-F64C-4A8E-A4EF-1A11730F38E9}" dt="2026-02-15T23:58:10.300" v="23" actId="1076"/>
          <ac:picMkLst>
            <pc:docMk/>
            <pc:sldMk cId="0" sldId="261"/>
            <ac:picMk id="5" creationId="{ED40630E-5EFE-2DDC-31BA-D0ADD91A91EC}"/>
          </ac:picMkLst>
        </pc:picChg>
      </pc:sldChg>
      <pc:sldChg chg="add">
        <pc:chgData name="Scott Hay" userId="e95d3f44-f6c0-414c-b281-41a9346c1b81" providerId="ADAL" clId="{4D76341F-F64C-4A8E-A4EF-1A11730F38E9}" dt="2026-02-16T06:47:07.243" v="168"/>
        <pc:sldMkLst>
          <pc:docMk/>
          <pc:sldMk cId="1142427686" sldId="261"/>
        </pc:sldMkLst>
      </pc:sldChg>
      <pc:sldChg chg="add del">
        <pc:chgData name="Scott Hay" userId="e95d3f44-f6c0-414c-b281-41a9346c1b81" providerId="ADAL" clId="{4D76341F-F64C-4A8E-A4EF-1A11730F38E9}" dt="2026-02-16T06:46:52.762" v="167" actId="2696"/>
        <pc:sldMkLst>
          <pc:docMk/>
          <pc:sldMk cId="1472014220" sldId="261"/>
        </pc:sldMkLst>
      </pc:sldChg>
      <pc:sldChg chg="del">
        <pc:chgData name="Scott Hay" userId="e95d3f44-f6c0-414c-b281-41a9346c1b81" providerId="ADAL" clId="{4D76341F-F64C-4A8E-A4EF-1A11730F38E9}" dt="2026-02-16T00:13:51.846" v="97" actId="2696"/>
        <pc:sldMkLst>
          <pc:docMk/>
          <pc:sldMk cId="0" sldId="262"/>
        </pc:sldMkLst>
      </pc:sldChg>
      <pc:sldChg chg="add">
        <pc:chgData name="Scott Hay" userId="e95d3f44-f6c0-414c-b281-41a9346c1b81" providerId="ADAL" clId="{4D76341F-F64C-4A8E-A4EF-1A11730F38E9}" dt="2026-02-16T06:47:07.243" v="168"/>
        <pc:sldMkLst>
          <pc:docMk/>
          <pc:sldMk cId="1742965713" sldId="262"/>
        </pc:sldMkLst>
      </pc:sldChg>
      <pc:sldChg chg="add del">
        <pc:chgData name="Scott Hay" userId="e95d3f44-f6c0-414c-b281-41a9346c1b81" providerId="ADAL" clId="{4D76341F-F64C-4A8E-A4EF-1A11730F38E9}" dt="2026-02-16T06:46:52.762" v="167" actId="2696"/>
        <pc:sldMkLst>
          <pc:docMk/>
          <pc:sldMk cId="2492605623" sldId="262"/>
        </pc:sldMkLst>
      </pc:sldChg>
      <pc:sldChg chg="del">
        <pc:chgData name="Scott Hay" userId="e95d3f44-f6c0-414c-b281-41a9346c1b81" providerId="ADAL" clId="{4D76341F-F64C-4A8E-A4EF-1A11730F38E9}" dt="2026-02-16T00:03:04.302" v="24" actId="47"/>
        <pc:sldMkLst>
          <pc:docMk/>
          <pc:sldMk cId="0" sldId="263"/>
        </pc:sldMkLst>
      </pc:sldChg>
      <pc:sldChg chg="modSp mod">
        <pc:chgData name="Scott Hay" userId="e95d3f44-f6c0-414c-b281-41a9346c1b81" providerId="ADAL" clId="{4D76341F-F64C-4A8E-A4EF-1A11730F38E9}" dt="2026-02-15T23:39:28.478" v="9" actId="14100"/>
        <pc:sldMkLst>
          <pc:docMk/>
          <pc:sldMk cId="0" sldId="264"/>
        </pc:sldMkLst>
        <pc:picChg chg="mod">
          <ac:chgData name="Scott Hay" userId="e95d3f44-f6c0-414c-b281-41a9346c1b81" providerId="ADAL" clId="{4D76341F-F64C-4A8E-A4EF-1A11730F38E9}" dt="2026-02-15T23:39:28.478" v="9" actId="14100"/>
          <ac:picMkLst>
            <pc:docMk/>
            <pc:sldMk cId="0" sldId="264"/>
            <ac:picMk id="3" creationId="{00000000-0000-0000-0000-000000000000}"/>
          </ac:picMkLst>
        </pc:picChg>
      </pc:sldChg>
      <pc:sldChg chg="del">
        <pc:chgData name="Scott Hay" userId="e95d3f44-f6c0-414c-b281-41a9346c1b81" providerId="ADAL" clId="{4D76341F-F64C-4A8E-A4EF-1A11730F38E9}" dt="2026-02-15T23:32:53.781" v="5" actId="47"/>
        <pc:sldMkLst>
          <pc:docMk/>
          <pc:sldMk cId="0" sldId="265"/>
        </pc:sldMkLst>
      </pc:sldChg>
      <pc:sldChg chg="del">
        <pc:chgData name="Scott Hay" userId="e95d3f44-f6c0-414c-b281-41a9346c1b81" providerId="ADAL" clId="{4D76341F-F64C-4A8E-A4EF-1A11730F38E9}" dt="2026-02-16T00:09:57.552" v="91" actId="2696"/>
        <pc:sldMkLst>
          <pc:docMk/>
          <pc:sldMk cId="0" sldId="266"/>
        </pc:sldMkLst>
      </pc:sldChg>
      <pc:sldChg chg="add">
        <pc:chgData name="Scott Hay" userId="e95d3f44-f6c0-414c-b281-41a9346c1b81" providerId="ADAL" clId="{4D76341F-F64C-4A8E-A4EF-1A11730F38E9}" dt="2026-02-16T00:11:01.500" v="96"/>
        <pc:sldMkLst>
          <pc:docMk/>
          <pc:sldMk cId="850379057" sldId="266"/>
        </pc:sldMkLst>
      </pc:sldChg>
      <pc:sldChg chg="add del setBg">
        <pc:chgData name="Scott Hay" userId="e95d3f44-f6c0-414c-b281-41a9346c1b81" providerId="ADAL" clId="{4D76341F-F64C-4A8E-A4EF-1A11730F38E9}" dt="2026-02-16T00:10:43.057" v="93"/>
        <pc:sldMkLst>
          <pc:docMk/>
          <pc:sldMk cId="2918238191" sldId="266"/>
        </pc:sldMkLst>
      </pc:sldChg>
      <pc:sldChg chg="add del setBg">
        <pc:chgData name="Scott Hay" userId="e95d3f44-f6c0-414c-b281-41a9346c1b81" providerId="ADAL" clId="{4D76341F-F64C-4A8E-A4EF-1A11730F38E9}" dt="2026-02-16T00:10:55.933" v="95"/>
        <pc:sldMkLst>
          <pc:docMk/>
          <pc:sldMk cId="2990663366" sldId="266"/>
        </pc:sldMkLst>
      </pc:sldChg>
      <pc:sldChg chg="del">
        <pc:chgData name="Scott Hay" userId="e95d3f44-f6c0-414c-b281-41a9346c1b81" providerId="ADAL" clId="{4D76341F-F64C-4A8E-A4EF-1A11730F38E9}" dt="2026-02-16T00:09:57.552" v="91" actId="2696"/>
        <pc:sldMkLst>
          <pc:docMk/>
          <pc:sldMk cId="0" sldId="267"/>
        </pc:sldMkLst>
      </pc:sldChg>
      <pc:sldChg chg="add del setBg">
        <pc:chgData name="Scott Hay" userId="e95d3f44-f6c0-414c-b281-41a9346c1b81" providerId="ADAL" clId="{4D76341F-F64C-4A8E-A4EF-1A11730F38E9}" dt="2026-02-16T00:10:43.057" v="93"/>
        <pc:sldMkLst>
          <pc:docMk/>
          <pc:sldMk cId="926414627" sldId="267"/>
        </pc:sldMkLst>
      </pc:sldChg>
      <pc:sldChg chg="add del setBg">
        <pc:chgData name="Scott Hay" userId="e95d3f44-f6c0-414c-b281-41a9346c1b81" providerId="ADAL" clId="{4D76341F-F64C-4A8E-A4EF-1A11730F38E9}" dt="2026-02-16T00:10:55.933" v="95"/>
        <pc:sldMkLst>
          <pc:docMk/>
          <pc:sldMk cId="2757433383" sldId="267"/>
        </pc:sldMkLst>
      </pc:sldChg>
      <pc:sldChg chg="add">
        <pc:chgData name="Scott Hay" userId="e95d3f44-f6c0-414c-b281-41a9346c1b81" providerId="ADAL" clId="{4D76341F-F64C-4A8E-A4EF-1A11730F38E9}" dt="2026-02-16T00:11:01.500" v="96"/>
        <pc:sldMkLst>
          <pc:docMk/>
          <pc:sldMk cId="2759189787" sldId="267"/>
        </pc:sldMkLst>
      </pc:sldChg>
      <pc:sldChg chg="del">
        <pc:chgData name="Scott Hay" userId="e95d3f44-f6c0-414c-b281-41a9346c1b81" providerId="ADAL" clId="{4D76341F-F64C-4A8E-A4EF-1A11730F38E9}" dt="2026-02-16T00:30:50.198" v="99" actId="47"/>
        <pc:sldMkLst>
          <pc:docMk/>
          <pc:sldMk cId="0" sldId="270"/>
        </pc:sldMkLst>
      </pc:sldChg>
      <pc:sldChg chg="modSp mod">
        <pc:chgData name="Scott Hay" userId="e95d3f44-f6c0-414c-b281-41a9346c1b81" providerId="ADAL" clId="{4D76341F-F64C-4A8E-A4EF-1A11730F38E9}" dt="2026-02-16T06:47:36.069" v="171" actId="403"/>
        <pc:sldMkLst>
          <pc:docMk/>
          <pc:sldMk cId="0" sldId="271"/>
        </pc:sldMkLst>
        <pc:spChg chg="mod">
          <ac:chgData name="Scott Hay" userId="e95d3f44-f6c0-414c-b281-41a9346c1b81" providerId="ADAL" clId="{4D76341F-F64C-4A8E-A4EF-1A11730F38E9}" dt="2026-02-16T06:47:36.069" v="171" actId="403"/>
          <ac:spMkLst>
            <pc:docMk/>
            <pc:sldMk cId="0" sldId="271"/>
            <ac:spMk id="2" creationId="{00000000-0000-0000-0000-000000000000}"/>
          </ac:spMkLst>
        </pc:spChg>
      </pc:sldChg>
      <pc:sldChg chg="ord">
        <pc:chgData name="Scott Hay" userId="e95d3f44-f6c0-414c-b281-41a9346c1b81" providerId="ADAL" clId="{4D76341F-F64C-4A8E-A4EF-1A11730F38E9}" dt="2026-02-16T06:41:50.352" v="165"/>
        <pc:sldMkLst>
          <pc:docMk/>
          <pc:sldMk cId="0" sldId="278"/>
        </pc:sldMkLst>
      </pc:sldChg>
      <pc:sldChg chg="ord">
        <pc:chgData name="Scott Hay" userId="e95d3f44-f6c0-414c-b281-41a9346c1b81" providerId="ADAL" clId="{4D76341F-F64C-4A8E-A4EF-1A11730F38E9}" dt="2026-02-16T06:39:50.362" v="157"/>
        <pc:sldMkLst>
          <pc:docMk/>
          <pc:sldMk cId="0" sldId="279"/>
        </pc:sldMkLst>
      </pc:sldChg>
      <pc:sldChg chg="modSp mod">
        <pc:chgData name="Scott Hay" userId="e95d3f44-f6c0-414c-b281-41a9346c1b81" providerId="ADAL" clId="{4D76341F-F64C-4A8E-A4EF-1A11730F38E9}" dt="2026-02-16T00:06:21.030" v="86" actId="1037"/>
        <pc:sldMkLst>
          <pc:docMk/>
          <pc:sldMk cId="0" sldId="283"/>
        </pc:sldMkLst>
        <pc:picChg chg="mod modCrop">
          <ac:chgData name="Scott Hay" userId="e95d3f44-f6c0-414c-b281-41a9346c1b81" providerId="ADAL" clId="{4D76341F-F64C-4A8E-A4EF-1A11730F38E9}" dt="2026-02-16T00:06:21.030" v="86" actId="1037"/>
          <ac:picMkLst>
            <pc:docMk/>
            <pc:sldMk cId="0" sldId="283"/>
            <ac:picMk id="3" creationId="{00000000-0000-0000-0000-000000000000}"/>
          </ac:picMkLst>
        </pc:picChg>
      </pc:sldChg>
      <pc:sldChg chg="modSp mod">
        <pc:chgData name="Scott Hay" userId="e95d3f44-f6c0-414c-b281-41a9346c1b81" providerId="ADAL" clId="{4D76341F-F64C-4A8E-A4EF-1A11730F38E9}" dt="2026-02-16T00:07:22.698" v="89" actId="14100"/>
        <pc:sldMkLst>
          <pc:docMk/>
          <pc:sldMk cId="0" sldId="290"/>
        </pc:sldMkLst>
        <pc:picChg chg="mod">
          <ac:chgData name="Scott Hay" userId="e95d3f44-f6c0-414c-b281-41a9346c1b81" providerId="ADAL" clId="{4D76341F-F64C-4A8E-A4EF-1A11730F38E9}" dt="2026-02-16T00:07:22.698" v="89" actId="14100"/>
          <ac:picMkLst>
            <pc:docMk/>
            <pc:sldMk cId="0" sldId="290"/>
            <ac:picMk id="3" creationId="{00000000-0000-0000-0000-000000000000}"/>
          </ac:picMkLst>
        </pc:picChg>
      </pc:sldChg>
      <pc:sldChg chg="modSp mod">
        <pc:chgData name="Scott Hay" userId="e95d3f44-f6c0-414c-b281-41a9346c1b81" providerId="ADAL" clId="{4D76341F-F64C-4A8E-A4EF-1A11730F38E9}" dt="2026-02-16T05:45:17.159" v="118" actId="1036"/>
        <pc:sldMkLst>
          <pc:docMk/>
          <pc:sldMk cId="0" sldId="295"/>
        </pc:sldMkLst>
        <pc:spChg chg="mod">
          <ac:chgData name="Scott Hay" userId="e95d3f44-f6c0-414c-b281-41a9346c1b81" providerId="ADAL" clId="{4D76341F-F64C-4A8E-A4EF-1A11730F38E9}" dt="2026-02-16T05:45:17.159" v="118" actId="1036"/>
          <ac:spMkLst>
            <pc:docMk/>
            <pc:sldMk cId="0" sldId="295"/>
            <ac:spMk id="6" creationId="{00000000-0000-0000-0000-000000000000}"/>
          </ac:spMkLst>
        </pc:spChg>
      </pc:sldChg>
      <pc:sldChg chg="modSp mod">
        <pc:chgData name="Scott Hay" userId="e95d3f44-f6c0-414c-b281-41a9346c1b81" providerId="ADAL" clId="{4D76341F-F64C-4A8E-A4EF-1A11730F38E9}" dt="2026-02-16T00:32:16.053" v="111" actId="20577"/>
        <pc:sldMkLst>
          <pc:docMk/>
          <pc:sldMk cId="0" sldId="297"/>
        </pc:sldMkLst>
        <pc:spChg chg="mod">
          <ac:chgData name="Scott Hay" userId="e95d3f44-f6c0-414c-b281-41a9346c1b81" providerId="ADAL" clId="{4D76341F-F64C-4A8E-A4EF-1A11730F38E9}" dt="2026-02-16T00:32:16.053" v="111" actId="20577"/>
          <ac:spMkLst>
            <pc:docMk/>
            <pc:sldMk cId="0" sldId="297"/>
            <ac:spMk id="2" creationId="{00000000-0000-0000-0000-000000000000}"/>
          </ac:spMkLst>
        </pc:spChg>
      </pc:sldChg>
      <pc:sldChg chg="del">
        <pc:chgData name="Scott Hay" userId="e95d3f44-f6c0-414c-b281-41a9346c1b81" providerId="ADAL" clId="{4D76341F-F64C-4A8E-A4EF-1A11730F38E9}" dt="2026-02-16T06:43:42.960" v="166" actId="47"/>
        <pc:sldMkLst>
          <pc:docMk/>
          <pc:sldMk cId="0" sldId="308"/>
        </pc:sldMkLst>
      </pc:sldChg>
      <pc:sldChg chg="del">
        <pc:chgData name="Scott Hay" userId="e95d3f44-f6c0-414c-b281-41a9346c1b81" providerId="ADAL" clId="{4D76341F-F64C-4A8E-A4EF-1A11730F38E9}" dt="2026-02-16T06:38:38.977" v="152" actId="2696"/>
        <pc:sldMkLst>
          <pc:docMk/>
          <pc:sldMk cId="0" sldId="315"/>
        </pc:sldMkLst>
      </pc:sldChg>
      <pc:sldChg chg="add">
        <pc:chgData name="Scott Hay" userId="e95d3f44-f6c0-414c-b281-41a9346c1b81" providerId="ADAL" clId="{4D76341F-F64C-4A8E-A4EF-1A11730F38E9}" dt="2026-02-16T06:39:00.009" v="153"/>
        <pc:sldMkLst>
          <pc:docMk/>
          <pc:sldMk cId="3518451082" sldId="315"/>
        </pc:sldMkLst>
      </pc:sldChg>
      <pc:sldChg chg="ord">
        <pc:chgData name="Scott Hay" userId="e95d3f44-f6c0-414c-b281-41a9346c1b81" providerId="ADAL" clId="{4D76341F-F64C-4A8E-A4EF-1A11730F38E9}" dt="2026-02-16T00:33:08.420" v="114" actId="20578"/>
        <pc:sldMkLst>
          <pc:docMk/>
          <pc:sldMk cId="0" sldId="337"/>
        </pc:sldMkLst>
      </pc:sldChg>
      <pc:sldChg chg="del modNotes">
        <pc:chgData name="Scott Hay" userId="e95d3f44-f6c0-414c-b281-41a9346c1b81" providerId="ADAL" clId="{4D76341F-F64C-4A8E-A4EF-1A11730F38E9}" dt="2026-02-15T23:25:05.102" v="1" actId="47"/>
        <pc:sldMkLst>
          <pc:docMk/>
          <pc:sldMk cId="0" sldId="338"/>
        </pc:sldMkLst>
      </pc:sldChg>
      <pc:sldChg chg="add del">
        <pc:chgData name="Scott Hay" userId="e95d3f44-f6c0-414c-b281-41a9346c1b81" providerId="ADAL" clId="{4D76341F-F64C-4A8E-A4EF-1A11730F38E9}" dt="2026-02-16T00:04:40.493" v="25" actId="47"/>
        <pc:sldMkLst>
          <pc:docMk/>
          <pc:sldMk cId="0" sldId="339"/>
        </pc:sldMkLst>
      </pc:sldChg>
      <pc:sldChg chg="del">
        <pc:chgData name="Scott Hay" userId="e95d3f44-f6c0-414c-b281-41a9346c1b81" providerId="ADAL" clId="{4D76341F-F64C-4A8E-A4EF-1A11730F38E9}" dt="2026-02-16T00:07:04.760" v="87" actId="47"/>
        <pc:sldMkLst>
          <pc:docMk/>
          <pc:sldMk cId="0" sldId="340"/>
        </pc:sldMkLst>
      </pc:sldChg>
      <pc:sldChg chg="del">
        <pc:chgData name="Scott Hay" userId="e95d3f44-f6c0-414c-b281-41a9346c1b81" providerId="ADAL" clId="{4D76341F-F64C-4A8E-A4EF-1A11730F38E9}" dt="2026-02-16T00:08:55.773" v="90" actId="47"/>
        <pc:sldMkLst>
          <pc:docMk/>
          <pc:sldMk cId="0" sldId="341"/>
        </pc:sldMkLst>
      </pc:sldChg>
      <pc:sldChg chg="del ord">
        <pc:chgData name="Scott Hay" userId="e95d3f44-f6c0-414c-b281-41a9346c1b81" providerId="ADAL" clId="{4D76341F-F64C-4A8E-A4EF-1A11730F38E9}" dt="2026-02-16T00:09:57.552" v="91" actId="2696"/>
        <pc:sldMkLst>
          <pc:docMk/>
          <pc:sldMk cId="0" sldId="342"/>
        </pc:sldMkLst>
      </pc:sldChg>
      <pc:sldChg chg="add del setBg">
        <pc:chgData name="Scott Hay" userId="e95d3f44-f6c0-414c-b281-41a9346c1b81" providerId="ADAL" clId="{4D76341F-F64C-4A8E-A4EF-1A11730F38E9}" dt="2026-02-16T00:10:43.057" v="93"/>
        <pc:sldMkLst>
          <pc:docMk/>
          <pc:sldMk cId="1044156836" sldId="342"/>
        </pc:sldMkLst>
      </pc:sldChg>
      <pc:sldChg chg="add del setBg">
        <pc:chgData name="Scott Hay" userId="e95d3f44-f6c0-414c-b281-41a9346c1b81" providerId="ADAL" clId="{4D76341F-F64C-4A8E-A4EF-1A11730F38E9}" dt="2026-02-16T00:10:55.933" v="95"/>
        <pc:sldMkLst>
          <pc:docMk/>
          <pc:sldMk cId="2971214577" sldId="342"/>
        </pc:sldMkLst>
      </pc:sldChg>
      <pc:sldChg chg="add">
        <pc:chgData name="Scott Hay" userId="e95d3f44-f6c0-414c-b281-41a9346c1b81" providerId="ADAL" clId="{4D76341F-F64C-4A8E-A4EF-1A11730F38E9}" dt="2026-02-16T00:11:01.500" v="96"/>
        <pc:sldMkLst>
          <pc:docMk/>
          <pc:sldMk cId="4130797633" sldId="342"/>
        </pc:sldMkLst>
      </pc:sldChg>
      <pc:sldChg chg="modSp mod">
        <pc:chgData name="Scott Hay" userId="e95d3f44-f6c0-414c-b281-41a9346c1b81" providerId="ADAL" clId="{4D76341F-F64C-4A8E-A4EF-1A11730F38E9}" dt="2026-02-16T05:45:36.269" v="130" actId="403"/>
        <pc:sldMkLst>
          <pc:docMk/>
          <pc:sldMk cId="0" sldId="343"/>
        </pc:sldMkLst>
        <pc:spChg chg="mod">
          <ac:chgData name="Scott Hay" userId="e95d3f44-f6c0-414c-b281-41a9346c1b81" providerId="ADAL" clId="{4D76341F-F64C-4A8E-A4EF-1A11730F38E9}" dt="2026-02-16T05:45:36.269" v="130" actId="403"/>
          <ac:spMkLst>
            <pc:docMk/>
            <pc:sldMk cId="0" sldId="343"/>
            <ac:spMk id="2" creationId="{00000000-0000-0000-0000-000000000000}"/>
          </ac:spMkLst>
        </pc:spChg>
        <pc:spChg chg="mod">
          <ac:chgData name="Scott Hay" userId="e95d3f44-f6c0-414c-b281-41a9346c1b81" providerId="ADAL" clId="{4D76341F-F64C-4A8E-A4EF-1A11730F38E9}" dt="2026-02-16T05:45:27.349" v="125" actId="20577"/>
          <ac:spMkLst>
            <pc:docMk/>
            <pc:sldMk cId="0" sldId="343"/>
            <ac:spMk id="3" creationId="{00000000-0000-0000-0000-000000000000}"/>
          </ac:spMkLst>
        </pc:spChg>
      </pc:sldChg>
      <pc:sldChg chg="modSp mod">
        <pc:chgData name="Scott Hay" userId="e95d3f44-f6c0-414c-b281-41a9346c1b81" providerId="ADAL" clId="{4D76341F-F64C-4A8E-A4EF-1A11730F38E9}" dt="2026-02-16T05:46:34.889" v="141" actId="403"/>
        <pc:sldMkLst>
          <pc:docMk/>
          <pc:sldMk cId="0" sldId="344"/>
        </pc:sldMkLst>
        <pc:spChg chg="mod">
          <ac:chgData name="Scott Hay" userId="e95d3f44-f6c0-414c-b281-41a9346c1b81" providerId="ADAL" clId="{4D76341F-F64C-4A8E-A4EF-1A11730F38E9}" dt="2026-02-16T05:46:34.889" v="141" actId="403"/>
          <ac:spMkLst>
            <pc:docMk/>
            <pc:sldMk cId="0" sldId="344"/>
            <ac:spMk id="2" creationId="{00000000-0000-0000-0000-000000000000}"/>
          </ac:spMkLst>
        </pc:spChg>
        <pc:spChg chg="mod">
          <ac:chgData name="Scott Hay" userId="e95d3f44-f6c0-414c-b281-41a9346c1b81" providerId="ADAL" clId="{4D76341F-F64C-4A8E-A4EF-1A11730F38E9}" dt="2026-02-16T05:46:26.193" v="137" actId="20577"/>
          <ac:spMkLst>
            <pc:docMk/>
            <pc:sldMk cId="0" sldId="344"/>
            <ac:spMk id="3" creationId="{00000000-0000-0000-0000-000000000000}"/>
          </ac:spMkLst>
        </pc:spChg>
      </pc:sldChg>
      <pc:sldChg chg="modSp mod">
        <pc:chgData name="Scott Hay" userId="e95d3f44-f6c0-414c-b281-41a9346c1b81" providerId="ADAL" clId="{4D76341F-F64C-4A8E-A4EF-1A11730F38E9}" dt="2026-02-16T05:46:54.708" v="151" actId="403"/>
        <pc:sldMkLst>
          <pc:docMk/>
          <pc:sldMk cId="0" sldId="345"/>
        </pc:sldMkLst>
        <pc:spChg chg="mod">
          <ac:chgData name="Scott Hay" userId="e95d3f44-f6c0-414c-b281-41a9346c1b81" providerId="ADAL" clId="{4D76341F-F64C-4A8E-A4EF-1A11730F38E9}" dt="2026-02-16T05:46:54.708" v="151" actId="403"/>
          <ac:spMkLst>
            <pc:docMk/>
            <pc:sldMk cId="0" sldId="345"/>
            <ac:spMk id="2" creationId="{00000000-0000-0000-0000-000000000000}"/>
          </ac:spMkLst>
        </pc:spChg>
        <pc:spChg chg="mod">
          <ac:chgData name="Scott Hay" userId="e95d3f44-f6c0-414c-b281-41a9346c1b81" providerId="ADAL" clId="{4D76341F-F64C-4A8E-A4EF-1A11730F38E9}" dt="2026-02-16T05:46:49.353" v="148" actId="20577"/>
          <ac:spMkLst>
            <pc:docMk/>
            <pc:sldMk cId="0" sldId="345"/>
            <ac:spMk id="3" creationId="{00000000-0000-0000-0000-000000000000}"/>
          </ac:spMkLst>
        </pc:spChg>
      </pc:sldChg>
    </pc:docChg>
  </pc:docChgLst>
  <pc:docChgLst>
    <pc:chgData name="Scott Hay" userId="e95d3f44-f6c0-414c-b281-41a9346c1b81" providerId="ADAL" clId="{844FE0EC-1ACE-457A-A062-606521DBE677}"/>
    <pc:docChg chg="undo redo custSel modSld sldOrd">
      <pc:chgData name="Scott Hay" userId="e95d3f44-f6c0-414c-b281-41a9346c1b81" providerId="ADAL" clId="{844FE0EC-1ACE-457A-A062-606521DBE677}" dt="2026-02-16T06:24:02.729" v="346" actId="20577"/>
      <pc:docMkLst>
        <pc:docMk/>
      </pc:docMkLst>
      <pc:sldChg chg="modSp mod">
        <pc:chgData name="Scott Hay" userId="e95d3f44-f6c0-414c-b281-41a9346c1b81" providerId="ADAL" clId="{844FE0EC-1ACE-457A-A062-606521DBE677}" dt="2026-02-16T05:33:03.771" v="336" actId="20577"/>
        <pc:sldMkLst>
          <pc:docMk/>
          <pc:sldMk cId="0" sldId="257"/>
        </pc:sldMkLst>
        <pc:spChg chg="mod">
          <ac:chgData name="Scott Hay" userId="e95d3f44-f6c0-414c-b281-41a9346c1b81" providerId="ADAL" clId="{844FE0EC-1ACE-457A-A062-606521DBE677}" dt="2026-02-16T05:26:16.054" v="138" actId="20577"/>
          <ac:spMkLst>
            <pc:docMk/>
            <pc:sldMk cId="0" sldId="257"/>
            <ac:spMk id="7" creationId="{00000000-0000-0000-0000-000000000000}"/>
          </ac:spMkLst>
        </pc:spChg>
        <pc:spChg chg="mod">
          <ac:chgData name="Scott Hay" userId="e95d3f44-f6c0-414c-b281-41a9346c1b81" providerId="ADAL" clId="{844FE0EC-1ACE-457A-A062-606521DBE677}" dt="2026-02-16T05:28:51.105" v="178" actId="20577"/>
          <ac:spMkLst>
            <pc:docMk/>
            <pc:sldMk cId="0" sldId="257"/>
            <ac:spMk id="10" creationId="{00000000-0000-0000-0000-000000000000}"/>
          </ac:spMkLst>
        </pc:spChg>
        <pc:spChg chg="mod">
          <ac:chgData name="Scott Hay" userId="e95d3f44-f6c0-414c-b281-41a9346c1b81" providerId="ADAL" clId="{844FE0EC-1ACE-457A-A062-606521DBE677}" dt="2026-02-16T05:28:59.390" v="188" actId="20577"/>
          <ac:spMkLst>
            <pc:docMk/>
            <pc:sldMk cId="0" sldId="257"/>
            <ac:spMk id="12" creationId="{00000000-0000-0000-0000-000000000000}"/>
          </ac:spMkLst>
        </pc:spChg>
        <pc:spChg chg="mod">
          <ac:chgData name="Scott Hay" userId="e95d3f44-f6c0-414c-b281-41a9346c1b81" providerId="ADAL" clId="{844FE0EC-1ACE-457A-A062-606521DBE677}" dt="2026-02-16T05:32:24.568" v="295" actId="20577"/>
          <ac:spMkLst>
            <pc:docMk/>
            <pc:sldMk cId="0" sldId="257"/>
            <ac:spMk id="17" creationId="{00000000-0000-0000-0000-000000000000}"/>
          </ac:spMkLst>
        </pc:spChg>
        <pc:spChg chg="mod">
          <ac:chgData name="Scott Hay" userId="e95d3f44-f6c0-414c-b281-41a9346c1b81" providerId="ADAL" clId="{844FE0EC-1ACE-457A-A062-606521DBE677}" dt="2026-02-16T05:29:27.484" v="201" actId="20577"/>
          <ac:spMkLst>
            <pc:docMk/>
            <pc:sldMk cId="0" sldId="257"/>
            <ac:spMk id="21" creationId="{00000000-0000-0000-0000-000000000000}"/>
          </ac:spMkLst>
        </pc:spChg>
        <pc:spChg chg="mod">
          <ac:chgData name="Scott Hay" userId="e95d3f44-f6c0-414c-b281-41a9346c1b81" providerId="ADAL" clId="{844FE0EC-1ACE-457A-A062-606521DBE677}" dt="2026-02-16T05:32:31.807" v="314" actId="20577"/>
          <ac:spMkLst>
            <pc:docMk/>
            <pc:sldMk cId="0" sldId="257"/>
            <ac:spMk id="27" creationId="{00000000-0000-0000-0000-000000000000}"/>
          </ac:spMkLst>
        </pc:spChg>
        <pc:spChg chg="mod">
          <ac:chgData name="Scott Hay" userId="e95d3f44-f6c0-414c-b281-41a9346c1b81" providerId="ADAL" clId="{844FE0EC-1ACE-457A-A062-606521DBE677}" dt="2026-02-16T05:32:49.952" v="320" actId="20577"/>
          <ac:spMkLst>
            <pc:docMk/>
            <pc:sldMk cId="0" sldId="257"/>
            <ac:spMk id="30" creationId="{00000000-0000-0000-0000-000000000000}"/>
          </ac:spMkLst>
        </pc:spChg>
        <pc:spChg chg="mod">
          <ac:chgData name="Scott Hay" userId="e95d3f44-f6c0-414c-b281-41a9346c1b81" providerId="ADAL" clId="{844FE0EC-1ACE-457A-A062-606521DBE677}" dt="2026-02-16T05:32:56.445" v="327" actId="20577"/>
          <ac:spMkLst>
            <pc:docMk/>
            <pc:sldMk cId="0" sldId="257"/>
            <ac:spMk id="37" creationId="{00000000-0000-0000-0000-000000000000}"/>
          </ac:spMkLst>
        </pc:spChg>
        <pc:spChg chg="mod">
          <ac:chgData name="Scott Hay" userId="e95d3f44-f6c0-414c-b281-41a9346c1b81" providerId="ADAL" clId="{844FE0EC-1ACE-457A-A062-606521DBE677}" dt="2026-02-16T05:33:03.771" v="336" actId="20577"/>
          <ac:spMkLst>
            <pc:docMk/>
            <pc:sldMk cId="0" sldId="257"/>
            <ac:spMk id="41" creationId="{00000000-0000-0000-0000-000000000000}"/>
          </ac:spMkLst>
        </pc:spChg>
      </pc:sldChg>
      <pc:sldChg chg="modSp mod">
        <pc:chgData name="Scott Hay" userId="e95d3f44-f6c0-414c-b281-41a9346c1b81" providerId="ADAL" clId="{844FE0EC-1ACE-457A-A062-606521DBE677}" dt="2026-02-13T19:36:24.797" v="8" actId="1076"/>
        <pc:sldMkLst>
          <pc:docMk/>
          <pc:sldMk cId="0" sldId="264"/>
        </pc:sldMkLst>
        <pc:spChg chg="mod">
          <ac:chgData name="Scott Hay" userId="e95d3f44-f6c0-414c-b281-41a9346c1b81" providerId="ADAL" clId="{844FE0EC-1ACE-457A-A062-606521DBE677}" dt="2026-02-13T19:36:24.797" v="8" actId="1076"/>
          <ac:spMkLst>
            <pc:docMk/>
            <pc:sldMk cId="0" sldId="264"/>
            <ac:spMk id="2" creationId="{00000000-0000-0000-0000-000000000000}"/>
          </ac:spMkLst>
        </pc:spChg>
        <pc:picChg chg="mod modCrop">
          <ac:chgData name="Scott Hay" userId="e95d3f44-f6c0-414c-b281-41a9346c1b81" providerId="ADAL" clId="{844FE0EC-1ACE-457A-A062-606521DBE677}" dt="2026-02-13T19:36:17.917" v="7" actId="732"/>
          <ac:picMkLst>
            <pc:docMk/>
            <pc:sldMk cId="0" sldId="264"/>
            <ac:picMk id="3" creationId="{00000000-0000-0000-0000-000000000000}"/>
          </ac:picMkLst>
        </pc:picChg>
      </pc:sldChg>
      <pc:sldChg chg="modSp mod">
        <pc:chgData name="Scott Hay" userId="e95d3f44-f6c0-414c-b281-41a9346c1b81" providerId="ADAL" clId="{844FE0EC-1ACE-457A-A062-606521DBE677}" dt="2026-02-13T19:36:34.759" v="9" actId="14100"/>
        <pc:sldMkLst>
          <pc:docMk/>
          <pc:sldMk cId="0" sldId="269"/>
        </pc:sldMkLst>
        <pc:picChg chg="mod">
          <ac:chgData name="Scott Hay" userId="e95d3f44-f6c0-414c-b281-41a9346c1b81" providerId="ADAL" clId="{844FE0EC-1ACE-457A-A062-606521DBE677}" dt="2026-02-13T19:36:34.759" v="9" actId="14100"/>
          <ac:picMkLst>
            <pc:docMk/>
            <pc:sldMk cId="0" sldId="269"/>
            <ac:picMk id="3" creationId="{00000000-0000-0000-0000-000000000000}"/>
          </ac:picMkLst>
        </pc:picChg>
      </pc:sldChg>
      <pc:sldChg chg="modSp mod">
        <pc:chgData name="Scott Hay" userId="e95d3f44-f6c0-414c-b281-41a9346c1b81" providerId="ADAL" clId="{844FE0EC-1ACE-457A-A062-606521DBE677}" dt="2026-02-13T19:37:17.061" v="34" actId="1038"/>
        <pc:sldMkLst>
          <pc:docMk/>
          <pc:sldMk cId="0" sldId="290"/>
        </pc:sldMkLst>
        <pc:spChg chg="mod">
          <ac:chgData name="Scott Hay" userId="e95d3f44-f6c0-414c-b281-41a9346c1b81" providerId="ADAL" clId="{844FE0EC-1ACE-457A-A062-606521DBE677}" dt="2026-02-13T19:37:07.954" v="13" actId="1076"/>
          <ac:spMkLst>
            <pc:docMk/>
            <pc:sldMk cId="0" sldId="290"/>
            <ac:spMk id="2" creationId="{00000000-0000-0000-0000-000000000000}"/>
          </ac:spMkLst>
        </pc:spChg>
        <pc:picChg chg="mod modCrop">
          <ac:chgData name="Scott Hay" userId="e95d3f44-f6c0-414c-b281-41a9346c1b81" providerId="ADAL" clId="{844FE0EC-1ACE-457A-A062-606521DBE677}" dt="2026-02-13T19:37:17.061" v="34" actId="1038"/>
          <ac:picMkLst>
            <pc:docMk/>
            <pc:sldMk cId="0" sldId="290"/>
            <ac:picMk id="3" creationId="{00000000-0000-0000-0000-000000000000}"/>
          </ac:picMkLst>
        </pc:picChg>
      </pc:sldChg>
      <pc:sldChg chg="modSp mod">
        <pc:chgData name="Scott Hay" userId="e95d3f44-f6c0-414c-b281-41a9346c1b81" providerId="ADAL" clId="{844FE0EC-1ACE-457A-A062-606521DBE677}" dt="2026-02-13T19:40:22.844" v="66" actId="1037"/>
        <pc:sldMkLst>
          <pc:docMk/>
          <pc:sldMk cId="0" sldId="301"/>
        </pc:sldMkLst>
        <pc:spChg chg="mod">
          <ac:chgData name="Scott Hay" userId="e95d3f44-f6c0-414c-b281-41a9346c1b81" providerId="ADAL" clId="{844FE0EC-1ACE-457A-A062-606521DBE677}" dt="2026-02-13T19:40:22.844" v="66" actId="1037"/>
          <ac:spMkLst>
            <pc:docMk/>
            <pc:sldMk cId="0" sldId="301"/>
            <ac:spMk id="4" creationId="{00000000-0000-0000-0000-000000000000}"/>
          </ac:spMkLst>
        </pc:spChg>
        <pc:spChg chg="mod">
          <ac:chgData name="Scott Hay" userId="e95d3f44-f6c0-414c-b281-41a9346c1b81" providerId="ADAL" clId="{844FE0EC-1ACE-457A-A062-606521DBE677}" dt="2026-02-13T19:40:22.844" v="66" actId="1037"/>
          <ac:spMkLst>
            <pc:docMk/>
            <pc:sldMk cId="0" sldId="301"/>
            <ac:spMk id="6" creationId="{00000000-0000-0000-0000-000000000000}"/>
          </ac:spMkLst>
        </pc:spChg>
        <pc:spChg chg="mod">
          <ac:chgData name="Scott Hay" userId="e95d3f44-f6c0-414c-b281-41a9346c1b81" providerId="ADAL" clId="{844FE0EC-1ACE-457A-A062-606521DBE677}" dt="2026-02-13T19:40:22.844" v="66" actId="1037"/>
          <ac:spMkLst>
            <pc:docMk/>
            <pc:sldMk cId="0" sldId="301"/>
            <ac:spMk id="7" creationId="{00000000-0000-0000-0000-000000000000}"/>
          </ac:spMkLst>
        </pc:spChg>
        <pc:spChg chg="mod">
          <ac:chgData name="Scott Hay" userId="e95d3f44-f6c0-414c-b281-41a9346c1b81" providerId="ADAL" clId="{844FE0EC-1ACE-457A-A062-606521DBE677}" dt="2026-02-13T19:40:22.844" v="66" actId="1037"/>
          <ac:spMkLst>
            <pc:docMk/>
            <pc:sldMk cId="0" sldId="301"/>
            <ac:spMk id="10" creationId="{00000000-0000-0000-0000-000000000000}"/>
          </ac:spMkLst>
        </pc:spChg>
        <pc:spChg chg="mod">
          <ac:chgData name="Scott Hay" userId="e95d3f44-f6c0-414c-b281-41a9346c1b81" providerId="ADAL" clId="{844FE0EC-1ACE-457A-A062-606521DBE677}" dt="2026-02-13T19:40:22.844" v="66" actId="1037"/>
          <ac:spMkLst>
            <pc:docMk/>
            <pc:sldMk cId="0" sldId="301"/>
            <ac:spMk id="11" creationId="{00000000-0000-0000-0000-000000000000}"/>
          </ac:spMkLst>
        </pc:spChg>
        <pc:spChg chg="mod">
          <ac:chgData name="Scott Hay" userId="e95d3f44-f6c0-414c-b281-41a9346c1b81" providerId="ADAL" clId="{844FE0EC-1ACE-457A-A062-606521DBE677}" dt="2026-02-13T19:40:22.844" v="66" actId="1037"/>
          <ac:spMkLst>
            <pc:docMk/>
            <pc:sldMk cId="0" sldId="301"/>
            <ac:spMk id="13" creationId="{00000000-0000-0000-0000-000000000000}"/>
          </ac:spMkLst>
        </pc:spChg>
        <pc:spChg chg="mod">
          <ac:chgData name="Scott Hay" userId="e95d3f44-f6c0-414c-b281-41a9346c1b81" providerId="ADAL" clId="{844FE0EC-1ACE-457A-A062-606521DBE677}" dt="2026-02-13T19:40:22.844" v="66" actId="1037"/>
          <ac:spMkLst>
            <pc:docMk/>
            <pc:sldMk cId="0" sldId="301"/>
            <ac:spMk id="18" creationId="{00000000-0000-0000-0000-000000000000}"/>
          </ac:spMkLst>
        </pc:spChg>
        <pc:spChg chg="mod">
          <ac:chgData name="Scott Hay" userId="e95d3f44-f6c0-414c-b281-41a9346c1b81" providerId="ADAL" clId="{844FE0EC-1ACE-457A-A062-606521DBE677}" dt="2026-02-13T19:40:22.844" v="66" actId="1037"/>
          <ac:spMkLst>
            <pc:docMk/>
            <pc:sldMk cId="0" sldId="301"/>
            <ac:spMk id="19" creationId="{00000000-0000-0000-0000-000000000000}"/>
          </ac:spMkLst>
        </pc:spChg>
        <pc:spChg chg="mod">
          <ac:chgData name="Scott Hay" userId="e95d3f44-f6c0-414c-b281-41a9346c1b81" providerId="ADAL" clId="{844FE0EC-1ACE-457A-A062-606521DBE677}" dt="2026-02-13T19:40:22.844" v="66" actId="1037"/>
          <ac:spMkLst>
            <pc:docMk/>
            <pc:sldMk cId="0" sldId="301"/>
            <ac:spMk id="20" creationId="{00000000-0000-0000-0000-000000000000}"/>
          </ac:spMkLst>
        </pc:spChg>
        <pc:spChg chg="mod">
          <ac:chgData name="Scott Hay" userId="e95d3f44-f6c0-414c-b281-41a9346c1b81" providerId="ADAL" clId="{844FE0EC-1ACE-457A-A062-606521DBE677}" dt="2026-02-13T19:40:22.844" v="66" actId="1037"/>
          <ac:spMkLst>
            <pc:docMk/>
            <pc:sldMk cId="0" sldId="301"/>
            <ac:spMk id="21" creationId="{00000000-0000-0000-0000-000000000000}"/>
          </ac:spMkLst>
        </pc:spChg>
      </pc:sldChg>
      <pc:sldChg chg="delSp modSp mod ord">
        <pc:chgData name="Scott Hay" userId="e95d3f44-f6c0-414c-b281-41a9346c1b81" providerId="ADAL" clId="{844FE0EC-1ACE-457A-A062-606521DBE677}" dt="2026-02-16T06:24:02.729" v="346" actId="20577"/>
        <pc:sldMkLst>
          <pc:docMk/>
          <pc:sldMk cId="0" sldId="316"/>
        </pc:sldMkLst>
        <pc:spChg chg="mod">
          <ac:chgData name="Scott Hay" userId="e95d3f44-f6c0-414c-b281-41a9346c1b81" providerId="ADAL" clId="{844FE0EC-1ACE-457A-A062-606521DBE677}" dt="2026-02-16T06:24:02.729" v="346" actId="20577"/>
          <ac:spMkLst>
            <pc:docMk/>
            <pc:sldMk cId="0" sldId="316"/>
            <ac:spMk id="2" creationId="{00000000-0000-0000-0000-000000000000}"/>
          </ac:spMkLst>
        </pc:spChg>
        <pc:picChg chg="mod">
          <ac:chgData name="Scott Hay" userId="e95d3f44-f6c0-414c-b281-41a9346c1b81" providerId="ADAL" clId="{844FE0EC-1ACE-457A-A062-606521DBE677}" dt="2026-02-13T19:38:40.257" v="42" actId="1440"/>
          <ac:picMkLst>
            <pc:docMk/>
            <pc:sldMk cId="0" sldId="316"/>
            <ac:picMk id="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4640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Welcome! Today we're diving deep into Claude AI - by the end you'll be confidently using AI for daily work.</a:t>
            </a:r>
          </a:p>
          <a:p>
            <a:endParaRPr/>
          </a:p>
          <a:p>
            <a:r>
              <a:t>KEY POINTS:</a:t>
            </a:r>
          </a:p>
          <a:p>
            <a:r>
              <a:t>   * 6.5 hours total: Morning (Claude basics + prompting), Afternoon (Excel + files)</a:t>
            </a:r>
          </a:p>
          <a:p>
            <a:r>
              <a:t>   * Two hands-on labs today</a:t>
            </a:r>
          </a:p>
          <a:p>
            <a:r>
              <a:t>   * Tomorrow: Technical track (Claude Code CLI) - optional for business users</a:t>
            </a:r>
          </a:p>
          <a:p>
            <a:endParaRPr/>
          </a:p>
          <a:p>
            <a:r>
              <a:t>TRANSITION:</a:t>
            </a:r>
          </a:p>
          <a:p>
            <a:r>
              <a:t>   Let's start with the agenda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 2 min</a:t>
            </a:r>
          </a:p>
          <a:p>
            <a:endParaRPr dirty="0"/>
          </a:p>
          <a:p>
            <a:r>
              <a:rPr dirty="0"/>
              <a:t>KEY POINTS:</a:t>
            </a:r>
          </a:p>
          <a:p>
            <a:r>
              <a:rPr dirty="0"/>
              <a:t>   * Morning: Understanding Claude and how to talk to it effectively</a:t>
            </a:r>
          </a:p>
          <a:p>
            <a:r>
              <a:t>   * Afternoon: Practical tools - Excel add-in and working with files</a:t>
            </a:r>
          </a:p>
          <a:p>
            <a:r>
              <a:rPr dirty="0"/>
              <a:t>   * Two 15-minute breaks plus 1-hour lunch</a:t>
            </a:r>
          </a:p>
          <a:p>
            <a:r>
              <a:rPr dirty="0"/>
              <a:t>   * Hands-on practice twice today</a:t>
            </a:r>
          </a:p>
          <a:p>
            <a:endParaRPr dirty="0"/>
          </a:p>
          <a:p>
            <a:r>
              <a:rPr dirty="0"/>
              <a:t>TRANSITION:</a:t>
            </a:r>
          </a:p>
          <a:p>
            <a:r>
              <a:rPr dirty="0"/>
              <a:t>   Let's see what you'll be able to do by end of day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These are measurable - by EOD you WILL be able to do each of these</a:t>
            </a:r>
          </a:p>
          <a:p>
            <a:r>
              <a:t>   * Not just theory - you'll practice each skill in labs</a:t>
            </a:r>
          </a:p>
          <a:p>
            <a:r>
              <a:t>   * Focus is practical application, not AI theory</a:t>
            </a:r>
          </a:p>
          <a:p>
            <a:endParaRPr/>
          </a:p>
          <a:p>
            <a:r>
              <a:t>ASK THE CLASS:</a:t>
            </a:r>
          </a:p>
          <a:p>
            <a:r>
              <a:t>   "Quick poll: How many have used Claude before? How many used ChatGPT or other AI?"</a:t>
            </a:r>
          </a:p>
          <a:p>
            <a:r>
              <a:t>   [PAUSE for 30-60 seconds]</a:t>
            </a:r>
          </a:p>
          <a:p>
            <a:endParaRPr/>
          </a:p>
          <a:p>
            <a:r>
              <a:t>TRANSITION:</a:t>
            </a:r>
          </a:p>
          <a:p>
            <a:r>
              <a:t>   Let's start with the basics - what IS Claude?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Today: Focus on #1 (claude.ai web) and #5 (Excel add-in)</a:t>
            </a:r>
          </a:p>
          <a:p>
            <a:r>
              <a:t>   * Tomorrow: Deep dive on #4 (Claude Code CLI) for technical users</a:t>
            </a:r>
          </a:p>
          <a:p>
            <a:r>
              <a:t>   * Desktop app: Chat (real-time), Cowork (autonomous agent), Code (developer mode)</a:t>
            </a:r>
          </a:p>
          <a:p>
            <a:r>
              <a:t>   * Claude in Chrome: Browser automation agent - currently in beta preview</a:t>
            </a:r>
          </a:p>
          <a:p>
            <a:r>
              <a:t>   * API: For developers building Claude into their own apps</a:t>
            </a:r>
          </a:p>
          <a:p>
            <a:endParaRPr/>
          </a:p>
          <a:p>
            <a:r>
              <a:t>TRANSITION:</a:t>
            </a:r>
          </a:p>
          <a:p>
            <a:r>
              <a:t>   Let's explore the claude.ai interface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7 min</a:t>
            </a:r>
          </a:p>
          <a:p>
            <a:endParaRPr/>
          </a:p>
          <a:p>
            <a:r>
              <a:t>KEY POINTS:</a:t>
            </a:r>
          </a:p>
          <a:p>
            <a:r>
              <a:t>   * Left sidebar: New chat starts fresh conversation, Search finds old chats, Code mode optimizes workspace for coding</a:t>
            </a:r>
          </a:p>
          <a:p>
            <a:r>
              <a:t>   * Starred conversations: Pin important chats for quick access</a:t>
            </a:r>
          </a:p>
          <a:p>
            <a:r>
              <a:t>   * Prompt area: Type or paste questions, click + to attach files (CSV, PDF, images, docs)</a:t>
            </a:r>
          </a:p>
          <a:p>
            <a:r>
              <a:t>   * Style buttons: Quick presets for response tone - Write (polished), Learn (educational), Code (technical), Life stuff (casual), Claude's choice (automatic)</a:t>
            </a:r>
          </a:p>
          <a:p>
            <a:r>
              <a:t>   * Voice mode button (microphone, top right): GAME CHANGER - speak instead of type, 3× faster for complex prompts</a:t>
            </a:r>
          </a:p>
          <a:p>
            <a:r>
              <a:t>   * Model selector: Switch Haiku/Sonnet/Opus mid-conversation based on task complexity</a:t>
            </a:r>
          </a:p>
          <a:p>
            <a:r>
              <a:t>   * Artifacts panel: Appears when Claude generates code, documents, diagrams - you can edit inline</a:t>
            </a:r>
          </a:p>
          <a:p>
            <a:endParaRPr/>
          </a:p>
          <a:p>
            <a:r>
              <a:t>ASK THE CLASS:</a:t>
            </a:r>
          </a:p>
          <a:p>
            <a:r>
              <a:t>   "How many of you knew about the voice mode button?"</a:t>
            </a:r>
          </a:p>
          <a:p>
            <a:r>
              <a:t>   [PAUSE for 30-60 seconds]</a:t>
            </a:r>
          </a:p>
          <a:p>
            <a:endParaRPr/>
          </a:p>
          <a:p>
            <a:r>
              <a:t>REAL-WORLD EXAMPLE:</a:t>
            </a:r>
          </a:p>
          <a:p>
            <a:r>
              <a:t>   Voice mode example: Instead of typing 'Analyze this sales data, find top 3 trends compared to last quarter, flag any products declining over 15%, create a chart' (takes 30+ seconds to type) - just speak it in 5 seconds. Huge time saver for complex prompts.</a:t>
            </a:r>
          </a:p>
          <a:p>
            <a:endParaRPr/>
          </a:p>
          <a:p>
            <a:r>
              <a:t>DEMO:</a:t>
            </a:r>
          </a:p>
          <a:p>
            <a:r>
              <a:t>   LIVE DEMO: Comprehensive UI walkthrough. Open claude.ai, systematically show every UI element students will use: (1) Left sidebar - New chat, Search, Code mode dropdown, Starred/Recents; (2) Chat window - Prompt area, Attachment button (+), Style buttons (Write/Learn/Code/Life stuff/Claude's choice); (3) Top right - Model selector, Voice mode button (microphone icon - emphasize this!); (4) Response area - Artifacts panel. Spend 2 minutes on Voice mode showing the mic button.</a:t>
            </a:r>
          </a:p>
          <a:p>
            <a:endParaRPr/>
          </a:p>
          <a:p>
            <a:r>
              <a:t>TRANSITION:</a:t>
            </a:r>
          </a:p>
          <a:p>
            <a:r>
              <a:t>   Voice mode is so powerful it deserves its own demo - let's dive deeper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Now we're getting to what I consider the most important skill you'll learn today — prompt engineering. And I know that term sounds technical, but really it's just the art of communicating clearly with AI.</a:t>
            </a:r>
          </a:p>
          <a:p/>
          <a:p>
            <a:r>
              <a:t>Here's why this matters so much: the difference between a mediocre AI response and an exceptional one almost always comes down to how you asked the question. I've seen people dismiss Claude as "not that useful" simply because they were giving it vague, one-line prompts. Then when we restructure their prompt with a bit more context and specificity, they're blown away by the results.</a:t>
            </a:r>
          </a:p>
          <a:p/>
          <a:p>
            <a:r>
              <a:t>Think of it this way — if you hired a brilliant new employee and said "write me a report," you'd get something generic. But if you said "write a two-page executive summary of our Q4 sales performance, focusing on the three regions that exceeded targets, written for our board of directors who are non-technical," you'd get something much more useful. Same principle applies to Claude.</a:t>
            </a:r>
          </a:p>
          <a:p/>
          <a:p>
            <a:r>
              <a:t>Research from Anthropic shows that well-structured prompts can improve output quality by 40 to 60 percent compared to basic prompts. That's not a small difference — that's the difference between AI being a novelty and AI being a genuine productivity multiplier.</a:t>
            </a:r>
          </a:p>
          <a:p/>
          <a:p>
            <a:r>
              <a:t>Over the next several slides, we're going to cover the core techniques: giving Claude a role, providing context, being specific about format and length, using examples, and iterating on your prompts. These aren't abstract concepts — each one comes with concrete templates you can adapt for your own work.</a:t>
            </a:r>
          </a:p>
          <a:p/>
          <a:p>
            <a:r>
              <a:t>The best part? These skills transfer across every AI tool you'll ever use. Whether it's Claude, ChatGPT, Gemini, or whatever comes next — good prompting is good prompting. So let's dig into the specifics.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Claude is brilliant but LITERAL. It doesn't know what you know. The better you describe what you want, the better the output.</a:t>
            </a:r>
          </a:p>
          <a:p>
            <a:endParaRPr/>
          </a:p>
          <a:p>
            <a:r>
              <a:t>KEY POINTS:</a:t>
            </a:r>
          </a:p>
          <a:p>
            <a:r>
              <a:t>   * Prompt = your instruction to the AI</a:t>
            </a:r>
          </a:p>
          <a:p>
            <a:r>
              <a:t>   * Claude now has memory and user preferences, so it knows some context about you automatically</a:t>
            </a:r>
          </a:p>
          <a:p>
            <a:r>
              <a:t>   * For specialized work, Projects add domain-specific context (documents, instructions)</a:t>
            </a:r>
          </a:p>
          <a:p>
            <a:r>
              <a:t>   * Specificity matters: Vague prompts = vague outputs</a:t>
            </a:r>
          </a:p>
          <a:p>
            <a:r>
              <a:t>   * Good news: Prompting is a learnable skill</a:t>
            </a:r>
          </a:p>
          <a:p>
            <a:endParaRPr/>
          </a:p>
          <a:p>
            <a:r>
              <a:t>REAL-WORLD EXAMPLE:</a:t>
            </a:r>
          </a:p>
          <a:p>
            <a:r>
              <a:t>   Vague: 'Write something about marketing' → Claude asks clarifying questions. Specific: 'Write a 200-word product announcement for our new CRM feature targeting sales managers. Highlight time savings and ROI. Professional tone.' → Claude delivers exactly what you need.</a:t>
            </a:r>
          </a:p>
          <a:p>
            <a:endParaRPr/>
          </a:p>
          <a:p>
            <a:r>
              <a:t>TRANSITION:</a:t>
            </a:r>
          </a:p>
          <a:p>
            <a:r>
              <a:t>   I'm going to teach you a framework that makes prompting easy: GOLDEN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KEY POINTS:</a:t>
            </a:r>
          </a:p>
          <a:p>
            <a:r>
              <a:t>   * GOLDEN is an acronym - easy to remember</a:t>
            </a:r>
          </a:p>
          <a:p>
            <a:r>
              <a:t>   * We'll go through each letter on next slides</a:t>
            </a:r>
          </a:p>
          <a:p>
            <a:r>
              <a:t>   * You don't need ALL six every time, but thinking through them helps</a:t>
            </a:r>
          </a:p>
          <a:p>
            <a:endParaRPr/>
          </a:p>
          <a:p>
            <a:r>
              <a:t>TRANSITION:</a:t>
            </a:r>
          </a:p>
          <a:p>
            <a:r>
              <a:t>   First three: Goal, Output, Length - let's see the rest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KEY POINTS:</a:t>
            </a:r>
          </a:p>
          <a:p>
            <a:r>
              <a:t>   * Details: Specific info to include (data, names, dates, etc.)</a:t>
            </a:r>
          </a:p>
          <a:p>
            <a:r>
              <a:t>   * Examples: Attach a sample or describe what good output looks like</a:t>
            </a:r>
          </a:p>
          <a:p>
            <a:r>
              <a:t>   * No-gos: What to avoid (jargon, certain topics, formats, etc.)</a:t>
            </a:r>
          </a:p>
          <a:p>
            <a:endParaRPr/>
          </a:p>
          <a:p>
            <a:r>
              <a:t>TRANSITION:</a:t>
            </a:r>
          </a:p>
          <a:p>
            <a:r>
              <a:t>   Let's see GOLDEN in action with a real example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KEY POINTS:</a:t>
            </a:r>
          </a:p>
          <a:p>
            <a:r>
              <a:t>   * Left: Claude would ask 20 follow-up questions</a:t>
            </a:r>
          </a:p>
          <a:p>
            <a:r>
              <a:t>   * Right: Claude delivers exactly what you need on first try</a:t>
            </a:r>
          </a:p>
          <a:p>
            <a:r>
              <a:t>   * You don't always need ALL six letters - but thinking through them helps</a:t>
            </a:r>
          </a:p>
          <a:p>
            <a:r>
              <a:t>   * Examples can be attached files or described in words</a:t>
            </a:r>
          </a:p>
          <a:p>
            <a:endParaRPr/>
          </a:p>
          <a:p>
            <a:r>
              <a:t>DEMO:</a:t>
            </a:r>
          </a:p>
          <a:p>
            <a:r>
              <a:t>   OPTIONAL DEMO: Show both prompts in Claude and compare outputs (if time allows)</a:t>
            </a:r>
          </a:p>
          <a:p>
            <a:endParaRPr/>
          </a:p>
          <a:p>
            <a:r>
              <a:t>TRANSITION:</a:t>
            </a:r>
          </a:p>
          <a:p>
            <a:r>
              <a:t>   GOLDEN is great, but there's another tool: XML tags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Most common mistake: Being too vague</a:t>
            </a:r>
          </a:p>
          <a:p>
            <a:r>
              <a:t>   * Second most common: Assuming Claude knows context it doesn't have</a:t>
            </a:r>
          </a:p>
          <a:p>
            <a:r>
              <a:t>   * Third: Expecting perfection on first try instead of iterating</a:t>
            </a:r>
          </a:p>
          <a:p>
            <a:r>
              <a:t>   * Remember: Claude is brilliant but literal - it needs clear instructions</a:t>
            </a:r>
          </a:p>
          <a:p>
            <a:endParaRPr/>
          </a:p>
          <a:p>
            <a:r>
              <a:t>TRANSITION:</a:t>
            </a:r>
          </a:p>
          <a:p>
            <a:r>
              <a:t>   Speaking of iterating - let's talk about that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Think of Claude as a colleague. You wouldn't fire someone for not nailing it on the first draft - you'd give feedback and refine together.</a:t>
            </a:r>
          </a:p>
          <a:p>
            <a:endParaRPr/>
          </a:p>
          <a:p>
            <a:r>
              <a:t>KEY POINTS:</a:t>
            </a:r>
          </a:p>
          <a:p>
            <a:r>
              <a:t>   * How to iterate: 'Make it shorter', 'Add more detail about X', 'Change tone to formal', 'Convert to bullet points'</a:t>
            </a:r>
          </a:p>
          <a:p>
            <a:r>
              <a:t>   * Claude keeps context from earlier in the conversation</a:t>
            </a:r>
          </a:p>
          <a:p>
            <a:r>
              <a:t>   * Usually 2-3 iterations gets you to exactly what you need</a:t>
            </a:r>
          </a:p>
          <a:p>
            <a:r>
              <a:t>   * This is NORMAL workflow, not a failure of the AI or your prompting</a:t>
            </a:r>
          </a:p>
          <a:p>
            <a:endParaRPr/>
          </a:p>
          <a:p>
            <a:r>
              <a:t>REAL-WORLD EXAMPLE:</a:t>
            </a:r>
          </a:p>
          <a:p>
            <a:r>
              <a:t>   I often start with 'Draft an email about X' → 'Make it more concise' → 'Add a call to action at the end' → Perfect.</a:t>
            </a:r>
          </a:p>
          <a:p>
            <a:endParaRPr/>
          </a:p>
          <a:p>
            <a:r>
              <a:t>TRANSITION:</a:t>
            </a:r>
          </a:p>
          <a:p>
            <a:r>
              <a:t>   Final tips for leveling up your prompting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You just experienced this in the lab - your first prompt probably needed refinement. This is the pattern professionals use.</a:t>
            </a:r>
          </a:p>
          <a:p>
            <a:endParaRPr/>
          </a:p>
          <a:p>
            <a:r>
              <a:t>KEY POINTS:</a:t>
            </a:r>
          </a:p>
          <a:p>
            <a:r>
              <a:t>   * Common mistake: Expect AI to nail it first time, abandon when it doesn't</a:t>
            </a:r>
          </a:p>
          <a:p>
            <a:r>
              <a:t>   * Success pattern: Start messy, iterate to great</a:t>
            </a:r>
          </a:p>
          <a:p>
            <a:r>
              <a:t>   * First draft is 70% - that's GOOD (saves you hours)</a:t>
            </a:r>
          </a:p>
          <a:p>
            <a:r>
              <a:t>   * 2-3 refinement passes get you to 95%</a:t>
            </a:r>
          </a:p>
          <a:p>
            <a:r>
              <a:t>   * You polish the final 5% (your unique expertise)</a:t>
            </a:r>
          </a:p>
          <a:p>
            <a:r>
              <a:t>   * Think of AI as a smart intern - you wouldn't expect perfection first time</a:t>
            </a:r>
          </a:p>
          <a:p>
            <a:endParaRPr/>
          </a:p>
          <a:p>
            <a:r>
              <a:t>REAL-WORLD EXAMPLE:</a:t>
            </a:r>
          </a:p>
          <a:p>
            <a:r>
              <a:t>   Marketing email: First draft has tone wrong. Tell Claude 'more casual, less corporate.' Second draft is 85%. Tell Claude 'add specific ROI numbers.' Third draft is 95%. You add company-specific context for final 100%.</a:t>
            </a:r>
          </a:p>
          <a:p>
            <a:endParaRPr/>
          </a:p>
          <a:p>
            <a:r>
              <a:t>TRANSITION:</a:t>
            </a:r>
          </a:p>
          <a:p>
            <a:r>
              <a:t>   This iterative approach is one of 6 critical skills that separate successful AI users from those who give up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Examples are powerful - Claude can match tone, format, style from samples</a:t>
            </a:r>
          </a:p>
          <a:p>
            <a:r>
              <a:t>   * Audience matters - a CFO needs different language than a developer</a:t>
            </a:r>
          </a:p>
          <a:p>
            <a:r>
              <a:t>   * Constraints prevent scope creep - set word limits, format rules, etc.</a:t>
            </a:r>
          </a:p>
          <a:p>
            <a:r>
              <a:t>   * Multiple versions give you options to choose from or combine</a:t>
            </a:r>
          </a:p>
          <a:p>
            <a:r>
              <a:t>   * Asking for reasoning helps you learn and builds trust</a:t>
            </a:r>
          </a:p>
          <a:p>
            <a:endParaRPr/>
          </a:p>
          <a:p>
            <a:r>
              <a:t>TRANSITION:</a:t>
            </a:r>
          </a:p>
          <a:p>
            <a:r>
              <a:t>   Your assignment: Practice these techniques this week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OPEN WITH:</a:t>
            </a:r>
          </a:p>
          <a:p>
            <a:r>
              <a:t>   Let me show you the difference between prompts that get mediocre results and prompts that get great results</a:t>
            </a:r>
          </a:p>
          <a:p>
            <a:endParaRPr/>
          </a:p>
          <a:p>
            <a:r>
              <a:t>KEY POINTS:</a:t>
            </a:r>
          </a:p>
          <a:p>
            <a:r>
              <a:t>   * Vague prompts = vague results (Claude doesn't know what you need)</a:t>
            </a:r>
          </a:p>
          <a:p>
            <a:r>
              <a:t>   * Specific prompts = specific results (give context, constraints, format)</a:t>
            </a:r>
          </a:p>
          <a:p>
            <a:r>
              <a:t>   * Notice the pattern: Who, what, why, how (format/length/tone)</a:t>
            </a:r>
          </a:p>
          <a:p>
            <a:r>
              <a:t>   * These are real prompts you can copy and adapt today</a:t>
            </a:r>
          </a:p>
          <a:p>
            <a:r>
              <a:t>   * The best prompts include: audience, purpose, constraints, desired format</a:t>
            </a:r>
          </a:p>
          <a:p>
            <a:endParaRPr/>
          </a:p>
          <a:p>
            <a:r>
              <a:t>ASK THE CLASS:</a:t>
            </a:r>
          </a:p>
          <a:p>
            <a:r>
              <a:t>   "Which of these vague prompts sounds like something you've tried?"</a:t>
            </a:r>
          </a:p>
          <a:p>
            <a:r>
              <a:t>   [PAUSE for 30-60 seconds]</a:t>
            </a:r>
          </a:p>
          <a:p>
            <a:endParaRPr/>
          </a:p>
          <a:p>
            <a:r>
              <a:t>REAL-WORLD EXAMPLE:</a:t>
            </a:r>
          </a:p>
          <a:p>
            <a:r>
              <a:t>   Email example: Instead of 'write email about meeting' → tell Claude who it's to, what meeting, what you need from them, and tone (formal/casual)</a:t>
            </a:r>
          </a:p>
          <a:p>
            <a:endParaRPr/>
          </a:p>
          <a:p>
            <a:r>
              <a:t>TRANSITION:</a:t>
            </a:r>
          </a:p>
          <a:p>
            <a:r>
              <a:t>   Now that you know what good prompts look like, how do you know when Claude's output is good?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OPEN WITH:</a:t>
            </a:r>
          </a:p>
          <a:p>
            <a:r>
              <a:t>   This is Quality Judgment - skill #2 from our success framework. Knowing when to trust AI is as important as knowing how to use it.</a:t>
            </a:r>
          </a:p>
          <a:p>
            <a:endParaRPr/>
          </a:p>
          <a:p>
            <a:r>
              <a:t>KEY POINTS:</a:t>
            </a:r>
          </a:p>
          <a:p>
            <a:r>
              <a:t>   * Green light: Low stakes, you know the domain, easy to spot errors</a:t>
            </a:r>
          </a:p>
          <a:p>
            <a:r>
              <a:t>   * Yellow light: Important but verifiable - check facts, numbers, key claims</a:t>
            </a:r>
          </a:p>
          <a:p>
            <a:r>
              <a:t>   * Red light: High stakes, specialized knowledge, or personal/sensitive - AI assists, you own it</a:t>
            </a:r>
          </a:p>
          <a:p>
            <a:r>
              <a:t>   * Most people trust everything (risky) or trust nothing (inefficient)</a:t>
            </a:r>
          </a:p>
          <a:p>
            <a:r>
              <a:t>   * The skill is knowing which tasks are which color for YOUR role</a:t>
            </a:r>
          </a:p>
          <a:p>
            <a:r>
              <a:t>   * This prevents the 19% accuracy DROP when AI is used wrong (BCG study)</a:t>
            </a:r>
          </a:p>
          <a:p>
            <a:endParaRPr/>
          </a:p>
          <a:p>
            <a:r>
              <a:t>ASK THE CLASS:</a:t>
            </a:r>
          </a:p>
          <a:p>
            <a:r>
              <a:t>   "What's a yellow light task in your role - important but verifiable?"</a:t>
            </a:r>
          </a:p>
          <a:p>
            <a:r>
              <a:t>   [PAUSE for 30-60 seconds]</a:t>
            </a:r>
          </a:p>
          <a:p>
            <a:endParaRPr/>
          </a:p>
          <a:p>
            <a:r>
              <a:t>REAL-WORLD EXAMPLE:</a:t>
            </a:r>
          </a:p>
          <a:p>
            <a:r>
              <a:t>   Marketing email draft? Green light - trust it. Financial forecast? Yellow light - verify the numbers. Contract language? Red light - lawyer reviews, AI assists with formatting.</a:t>
            </a:r>
          </a:p>
          <a:p>
            <a:endParaRPr/>
          </a:p>
          <a:p>
            <a:r>
              <a:t>TRANSITION:</a:t>
            </a:r>
          </a:p>
          <a:p>
            <a:r>
              <a:t>   Speaking of what to use AI for, here are the most common wins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OPEN WITH:</a:t>
            </a:r>
          </a:p>
          <a:p>
            <a:r>
              <a:t>   These are the top 10 things people actually use Claude for every day. Pick 2-3 to try this week.</a:t>
            </a:r>
          </a:p>
          <a:p>
            <a:endParaRPr/>
          </a:p>
          <a:p>
            <a:r>
              <a:t>KEY POINTS:</a:t>
            </a:r>
          </a:p>
          <a:p>
            <a:r>
              <a:t>   * Email drafting is #1 - most immediate time savings</a:t>
            </a:r>
          </a:p>
          <a:p>
            <a:r>
              <a:t>   * Meeting summaries save 15-30 min per meeting</a:t>
            </a:r>
          </a:p>
          <a:p>
            <a:r>
              <a:t>   * Data analysis works great when you pair Excel + Claude Chat</a:t>
            </a:r>
          </a:p>
          <a:p>
            <a:r>
              <a:t>   * Brainstorming: Quantity first (AI), then you select quality (human)</a:t>
            </a:r>
          </a:p>
          <a:p>
            <a:r>
              <a:t>   * Document summarization: Feed Claude the doc, ask for executive summary</a:t>
            </a:r>
          </a:p>
          <a:p>
            <a:r>
              <a:t>   * Don't try all 10 at once - pick 2-3 that hit your daily pain points</a:t>
            </a:r>
          </a:p>
          <a:p>
            <a:r>
              <a:t>   * Low-hanging fruit: Email, summaries, brainstorming (all green light)</a:t>
            </a:r>
          </a:p>
          <a:p>
            <a:endParaRPr/>
          </a:p>
          <a:p>
            <a:r>
              <a:t>ASK THE CLASS:</a:t>
            </a:r>
          </a:p>
          <a:p>
            <a:r>
              <a:t>   "Which 2 of these would save you the most time this week?"</a:t>
            </a:r>
          </a:p>
          <a:p>
            <a:r>
              <a:t>   [PAUSE for 30-60 seconds]</a:t>
            </a:r>
          </a:p>
          <a:p>
            <a:endParaRPr/>
          </a:p>
          <a:p>
            <a:r>
              <a:t>REAL-WORLD EXAMPLE:</a:t>
            </a:r>
          </a:p>
          <a:p>
            <a:r>
              <a:t>   Start with #1 (email) and #2 (meeting summaries) this week. Once those are habit, add #3 or #4 next week.</a:t>
            </a:r>
          </a:p>
          <a:p>
            <a:endParaRPr/>
          </a:p>
          <a:p>
            <a:r>
              <a:t>TRANSITION:</a:t>
            </a:r>
          </a:p>
          <a:p>
            <a:r>
              <a:t>   Now let's practice these techniques in Lab 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Generic prompts get generic results. Here are proven patterns for your specific role.</a:t>
            </a:r>
          </a:p>
          <a:p>
            <a:endParaRPr/>
          </a:p>
          <a:p>
            <a:r>
              <a:t>KEY POINTS:</a:t>
            </a:r>
          </a:p>
          <a:p>
            <a:r>
              <a:t>   * Each role has common tasks that benefit from templates</a:t>
            </a:r>
          </a:p>
          <a:p>
            <a:r>
              <a:t>   * Notice the pattern: [Action] + [Content] + [Constraints/Focus]</a:t>
            </a:r>
          </a:p>
          <a:p>
            <a:r>
              <a:t>   * Steal these patterns and customize for your work</a:t>
            </a:r>
          </a:p>
          <a:p>
            <a:r>
              <a:t>   * Marketing: Always specify target audience and desired tone</a:t>
            </a:r>
          </a:p>
          <a:p>
            <a:r>
              <a:t>   * Finance: Always set variance thresholds and ask for explanations</a:t>
            </a:r>
          </a:p>
          <a:p>
            <a:r>
              <a:t>   * HR: Always include competencies and behavioral examples</a:t>
            </a:r>
          </a:p>
          <a:p>
            <a:r>
              <a:t>   * Save your best prompts - reuse and refine them</a:t>
            </a:r>
          </a:p>
          <a:p>
            <a:endParaRPr/>
          </a:p>
          <a:p>
            <a:r>
              <a:t>ASK THE CLASS:</a:t>
            </a:r>
          </a:p>
          <a:p>
            <a:r>
              <a:t>   "What's a task you do weekly that could benefit from a saved prompt template?"</a:t>
            </a:r>
          </a:p>
          <a:p>
            <a:r>
              <a:t>   [PAUSE for 30-60 seconds]</a:t>
            </a:r>
          </a:p>
          <a:p>
            <a:endParaRPr/>
          </a:p>
          <a:p>
            <a:r>
              <a:t>REAL-WORLD EXAMPLE:</a:t>
            </a:r>
          </a:p>
          <a:p>
            <a:r>
              <a:t>   Finance manager uses 'Analyze budget, flag &gt;10% variance, explain causes' every month. Takes 2 minutes, saves 30 minutes of spreadsheet work. Same prompt, different data each time.</a:t>
            </a:r>
          </a:p>
          <a:p>
            <a:endParaRPr/>
          </a:p>
          <a:p>
            <a:r>
              <a:t>TRANSITION:</a:t>
            </a:r>
          </a:p>
          <a:p>
            <a:r>
              <a:t>   These patterns work great, but there are times when you should NOT use AI - let's talk about boundaries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5 min</a:t>
            </a:r>
          </a:p>
          <a:p>
            <a:endParaRPr/>
          </a:p>
          <a:p>
            <a:r>
              <a:t>This is the slide that matters to every IT leader and CISO in the room. Let me address the objections head-on.</a:t>
            </a:r>
          </a:p>
          <a:p>
            <a:endParaRPr/>
          </a:p>
          <a:p>
            <a:r>
              <a:t>Objection one: "Our data goes to a third party." 76 percent of CISOs cite visibility gaps in GenAI environments. That's a real concern. Here's Anthropic's answer: Claude Enterprise offers data isolation, no-training guarantees on your data, and SOC 2 compliance. Your prompts and outputs are not used to train the model. Period.</a:t>
            </a:r>
          </a:p>
          <a:p>
            <a:endParaRPr/>
          </a:p>
          <a:p>
            <a:r>
              <a:t>Objection two: "Shadow AI is already happening." This is the uncomfortable truth. 40 to 60 percent of code output in enterprises is already AI-generated, and much of it is untracked. 70 percent of organizations have more than 40 percent AI-generated code with no governance. The question isn't whether your people are using AI — they are. The question is whether you're governing it or ignoring it.</a:t>
            </a:r>
          </a:p>
          <a:p>
            <a:endParaRPr/>
          </a:p>
          <a:p>
            <a:r>
              <a:t>Objection three: "Vibe coding — developers shipping code they don't understand." This is a legitimate risk. The fix isn't banning AI — it's training. Mandatory code reviews, static analysis in the IDE, and CLAUDE.md conventions that enforce your coding standards automatically.</a:t>
            </a:r>
          </a:p>
          <a:p>
            <a:endParaRPr/>
          </a:p>
          <a:p>
            <a:r>
              <a:t>Objection four: compliance. SOC 2, HIPAA, FedRAMP. Anthropic's enterprise tier addresses data isolation, vendor audits, and no-retention policies. If Bridgewater Associates — under the strictest financial security standards in the world — trusts Claude, your compliance team can work with this.</a:t>
            </a:r>
          </a:p>
          <a:p>
            <a:endParaRPr/>
          </a:p>
          <a:p>
            <a:r>
              <a:t>Objection five: over-privileged agents. Claude Code's permission model is read-only by default. Every file write, every terminal command requires explicit approval. Hooks give you PreToolUse and PostToolUse guardrails — automated gates that can block operations before they execute.</a:t>
            </a:r>
          </a:p>
          <a:p>
            <a:endParaRPr/>
          </a:p>
          <a:p>
            <a:r>
              <a:t>The bottom line for your CISO: the risk isn't using AI. The risk is using AI without governance. 58 percent of CISOs feel unprepared to report AI risks to their board. This training — and the frameworks we're teaching — gives you something board-reportable.</a:t>
            </a:r>
          </a:p>
          <a:p>
            <a:endParaRPr/>
          </a:p>
          <a:p>
            <a:r>
              <a:t>SOURCES: Checkmarx CISO survey, BeyondIdentity, Sentra, Cerbos enterprise research 2025-2026.</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Time to practice! You'll work through 4 real-world scenarios - prompting, document creation, analysis.</a:t>
            </a:r>
          </a:p>
          <a:p>
            <a:endParaRPr/>
          </a:p>
          <a:p>
            <a:r>
              <a:t>KEY POINTS:</a:t>
            </a:r>
          </a:p>
          <a:p>
            <a:r>
              <a:t>   * Lab guide in handout has detailed instructions and sample data</a:t>
            </a:r>
          </a:p>
          <a:p>
            <a:r>
              <a:t>   * Focus on creating useful outputs: reports, outlines, summaries</a:t>
            </a:r>
          </a:p>
          <a:p>
            <a:r>
              <a:t>   * All exercises use artifacts - you'll see real documents generated</a:t>
            </a:r>
          </a:p>
          <a:p>
            <a:r>
              <a:t>   * Work at your own pace - minimum 2 exercises, all 4 if time allows</a:t>
            </a:r>
          </a:p>
          <a:p>
            <a:r>
              <a:t>   * Raise hand if stuck - I'm here to help</a:t>
            </a:r>
          </a:p>
          <a:p>
            <a:r>
              <a:t>   * Save artifacts you create - you can use them as templates later</a:t>
            </a:r>
          </a:p>
          <a:p>
            <a:endParaRPr/>
          </a:p>
          <a:p>
            <a:r>
              <a:t>DEMO:</a:t>
            </a:r>
          </a:p>
          <a:p>
            <a:r>
              <a:t>   Show lab handout quickly - point out the 4 exercises and sample data files</a:t>
            </a:r>
          </a:p>
          <a:p>
            <a:endParaRPr/>
          </a:p>
          <a:p>
            <a:r>
              <a:t>TRANSITION:</a:t>
            </a:r>
          </a:p>
          <a:p>
            <a:r>
              <a:t>   In the lab, you may have noticed your first prompt didn't give exactly what you wanted. That's normal - let me show you the pattern the best users follow</a:t>
            </a:r>
          </a:p>
        </p:txBody>
      </p:sp>
      <p:sp>
        <p:nvSpPr>
          <p:cNvPr id="4" name="Slide Number Placeholder 3"/>
          <p:cNvSpPr>
            <a:spLocks noGrp="1"/>
          </p:cNvSpPr>
          <p:nvPr>
            <p:ph type="sldNum" sz="quarter" idx="5"/>
          </p:nvPr>
        </p:nvSpPr>
        <p:spPr/>
      </p:sp>
      <p:sp>
        <p:nvSpPr>
          <p:cNvPr id="3" name="Notes Placeholder 2"/>
          <p:cNvSpPr>
            <a:spLocks noGrp="1"/>
          </p:cNvSpPr>
          <p:nvPr>
            <p:ph type="body" idx="1"/>
          </p:nvPr>
        </p:nvSpPr>
        <p:spPr/>
        <p:txBody>
          <a:bodyPr/>
          <a:lstStyle/>
          <a:p>
            <a:r>
              <a:t>[DURATION: 1 minute — then 45 minutes lab time]</a:t>
            </a:r>
          </a:p>
          <a:p/>
          <a:p>
            <a:r>
              <a:t>Alright, it's time for our first hands-on lab! This is a 45-minute exercise with four parts. You'll find the full instructions in your lab handout.</a:t>
            </a:r>
          </a:p>
          <a:p/>
          <a:p>
            <a:r>
              <a:t>Quick overview: Part 1 has you write a basic prompt and then improve it using the techniques we just covered. Part 2 is about role-based prompting — you'll give Claude a specific persona. Part 3 focuses on few-shot examples. And Part 4 is a mini-challenge where you'll tackle a real business scenario.</a:t>
            </a:r>
          </a:p>
          <a:p/>
          <a:p>
            <a:r>
              <a:t>Work at your own pace. I'll be walking around to help. If you finish early, try the bonus challenges at the end. Any questions before we start? Great — open Claude.ai and let's go.</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 4 min</a:t>
            </a:r>
          </a:p>
          <a:p>
            <a:endParaRPr dirty="0"/>
          </a:p>
          <a:p>
            <a:r>
              <a:rPr dirty="0"/>
              <a:t>OPEN WITH:</a:t>
            </a:r>
          </a:p>
          <a:p>
            <a:r>
              <a:rPr dirty="0"/>
              <a:t>   You've learned the basics, practiced in the lab, and seen the iterate-to-great pattern. Now here's the bigger picture.</a:t>
            </a:r>
          </a:p>
          <a:p>
            <a:endParaRPr dirty="0"/>
          </a:p>
          <a:p>
            <a:r>
              <a:rPr dirty="0"/>
              <a:t>KEY POINTS:</a:t>
            </a:r>
          </a:p>
          <a:p>
            <a:r>
              <a:rPr dirty="0"/>
              <a:t>   * The 20% who survived didn't have better prompting skills</a:t>
            </a:r>
          </a:p>
          <a:p>
            <a:r>
              <a:rPr dirty="0"/>
              <a:t>   * They learned 6 judgment skills (management skills, not tech skills):</a:t>
            </a:r>
          </a:p>
          <a:p>
            <a:r>
              <a:rPr dirty="0"/>
              <a:t>   * 1. Context Assembly - what info to give AI, what to withhold</a:t>
            </a:r>
          </a:p>
          <a:p>
            <a:r>
              <a:rPr dirty="0"/>
              <a:t>   * 2. Quality Judgment - when to trust output vs. verify</a:t>
            </a:r>
          </a:p>
          <a:p>
            <a:r>
              <a:rPr dirty="0"/>
              <a:t>   * 3. Task Decomposition - breaking work into AI-sized chunks</a:t>
            </a:r>
          </a:p>
          <a:p>
            <a:r>
              <a:rPr dirty="0"/>
              <a:t>   * 4. Iterative Refinement - moving from 70% to 95%</a:t>
            </a:r>
          </a:p>
          <a:p>
            <a:r>
              <a:rPr dirty="0"/>
              <a:t>   * 5. Workflow Integration - embedded in process, not side tool</a:t>
            </a:r>
          </a:p>
          <a:p>
            <a:r>
              <a:rPr dirty="0"/>
              <a:t>   * 6. Frontier Recognition - knowing when AI can't help</a:t>
            </a:r>
          </a:p>
          <a:p>
            <a:r>
              <a:rPr dirty="0"/>
              <a:t>   * Ethan Mollick (Wharton): 'The best users of AI are good managers'</a:t>
            </a:r>
          </a:p>
          <a:p>
            <a:endParaRPr dirty="0"/>
          </a:p>
          <a:p>
            <a:r>
              <a:rPr dirty="0"/>
              <a:t>ASK THE CLASS:</a:t>
            </a:r>
          </a:p>
          <a:p>
            <a:r>
              <a:rPr dirty="0"/>
              <a:t>   "Which of these 6 skills do you think will be hardest for your team?"</a:t>
            </a:r>
          </a:p>
          <a:p>
            <a:r>
              <a:rPr dirty="0"/>
              <a:t>   [PAUSE for 30-60 seconds]</a:t>
            </a:r>
          </a:p>
          <a:p>
            <a:endParaRPr dirty="0"/>
          </a:p>
          <a:p>
            <a:r>
              <a:rPr dirty="0"/>
              <a:t>TRANSITION:</a:t>
            </a:r>
          </a:p>
          <a:p>
            <a:r>
              <a:rPr dirty="0"/>
              <a:t>   With these 6 skills in mind, let's break for lunch. When we come back, we'll apply this to Excel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3 min</a:t>
            </a:r>
          </a:p>
          <a:p>
            <a:endParaRPr/>
          </a:p>
          <a:p>
            <a:r>
              <a:t>This might be the most important slide in the deck.</a:t>
            </a:r>
          </a:p>
          <a:p>
            <a:endParaRPr/>
          </a:p>
          <a:p>
            <a:r>
              <a:t>95 percent of enterprise AI projects fail to reach production. MIT's 2025 study — 150 leaders, 300 deployments. The number one root cause? No clear business problem. Companies buy AI and then figure out what to do with it. That's backwards.</a:t>
            </a:r>
          </a:p>
          <a:p>
            <a:endParaRPr/>
          </a:p>
          <a:p>
            <a:r>
              <a:t>The second most common failure: unrealistic timelines. Executives demand 6-month ROI on something that realistically takes 18 to 36 months for full transformation. Quick wins? Absolutely — you can get those in 30 days. But enterprise-wide transformation requires sustained investment.</a:t>
            </a:r>
          </a:p>
          <a:p>
            <a:endParaRPr/>
          </a:p>
          <a:p>
            <a:r>
              <a:t>Zillow's AI-powered home-buying algorithm is the cautionary tale. They trusted the model's real estate valuations without sufficient human oversight. Result: $500 million in losses and 25 percent of their workforce laid off.</a:t>
            </a:r>
          </a:p>
          <a:p>
            <a:endParaRPr/>
          </a:p>
          <a:p>
            <a:r>
              <a:t>So when should you NOT use AI? When you can't define the success criteria. When the cost of being wrong exceeds the value of being fast. When you don't have a human review step. When the data isn't clean enough to trust.</a:t>
            </a:r>
          </a:p>
          <a:p>
            <a:endParaRPr/>
          </a:p>
          <a:p>
            <a:r>
              <a:t>42 percent of firms now drop most AI projects before they reach production — that's up from 17 percent the prior year. Companies are learning that killing bad projects early is smarter than pushing failed experiments into production.</a:t>
            </a:r>
          </a:p>
          <a:p>
            <a:endParaRPr/>
          </a:p>
          <a:p>
            <a:r>
              <a:t>The discipline to say "not this, not now" is what separates the 5 percent who succeed from the 95 percent who don't.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4 min</a:t>
            </a:r>
          </a:p>
          <a:p>
            <a:endParaRPr dirty="0"/>
          </a:p>
          <a:p>
            <a:r>
              <a:rPr dirty="0"/>
              <a:t>Let me start with where Claude sits in the market. Anthropic now has over 300,000 business customers. 24 percent of major banks use Claude. 38 percent of retail and e-commerce chatbots are powered by Claude. 93 percent of companies are using AI in some form, and $225.8 billion was invested globally in AI in 2025 — literally double the year before.</a:t>
            </a:r>
          </a:p>
          <a:p>
            <a:endParaRPr dirty="0"/>
          </a:p>
          <a:p>
            <a:r>
              <a:rPr dirty="0"/>
              <a:t>So this isn't emerging technology. This is the new infrastructure. And Claude is at the center of enterprise adoption.</a:t>
            </a:r>
          </a:p>
          <a:p>
            <a:endParaRPr dirty="0"/>
          </a:p>
          <a:p>
            <a:r>
              <a:rPr dirty="0"/>
              <a:t>The model family gives you three tiers. Haiku is the fast, cheap option — use it for simple tasks where speed matters more than depth. Think quick summaries, classification, customer service responses. It responds in under a second and costs a fraction of the larger models.</a:t>
            </a:r>
          </a:p>
          <a:p>
            <a:endParaRPr dirty="0"/>
          </a:p>
          <a:p>
            <a:r>
              <a:rPr dirty="0"/>
              <a:t>Sonnet is your daily driver. It balances intelligence with speed and cost. For 90 percent of business tasks — writing emails, analyzing documents, creating reports, building spreadsheets — Sonnet is the right choice. Most of what we'll do today uses Sonnet.</a:t>
            </a:r>
          </a:p>
          <a:p>
            <a:endParaRPr dirty="0"/>
          </a:p>
          <a:p>
            <a:r>
              <a:rPr dirty="0"/>
              <a:t>Opus is the powerhouse. It handles complex reasoning, nuanced analysis, long documents, and multi-step problems. When you need to analyze a 50-page contract, build a financial model, or synthesize research from multiple sources, Opus is worth the extra cost and time. Bridgewater Associates — one of the world's largest hedge funds — uses Opus for investment research, cutting reporting time by 50 to 70 percent.</a:t>
            </a:r>
          </a:p>
          <a:p>
            <a:endParaRPr dirty="0"/>
          </a:p>
          <a:p>
            <a:r>
              <a:rPr dirty="0"/>
              <a:t>The rule of thumb: start with Sonnet. Upgrade to Opus when the task requires deep reasoning. Use Haiku for high-volume simple tasks.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253180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Left side: 95% of your work. Sonnet is your default unless you have a reason to switch.</a:t>
            </a:r>
          </a:p>
          <a:p>
            <a:r>
              <a:t>   * Right side: When you really need the best - legal review, strategy docs, high-stakes analysis</a:t>
            </a:r>
          </a:p>
          <a:p>
            <a:r>
              <a:t>   * Cost difference is real but usually worth it when stakes are high</a:t>
            </a:r>
          </a:p>
          <a:p>
            <a:r>
              <a:t>   * Most people overuse Opus at first, then settle into Sonnet for daily work</a:t>
            </a:r>
          </a:p>
          <a:p>
            <a:endParaRPr/>
          </a:p>
          <a:p>
            <a:r>
              <a:t>ASK THE CLASS:</a:t>
            </a:r>
          </a:p>
          <a:p>
            <a:r>
              <a:t>   "What's a high-stakes task in YOUR role where you'd want the best AI?"</a:t>
            </a:r>
          </a:p>
          <a:p>
            <a:r>
              <a:t>   [PAUSE for 30-60 seconds]</a:t>
            </a:r>
          </a:p>
          <a:p>
            <a:endParaRPr/>
          </a:p>
          <a:p>
            <a:r>
              <a:t>TRANSITION:</a:t>
            </a:r>
          </a:p>
          <a:p>
            <a:r>
              <a:t>   So what makes Claude different from ChatGPT or Copilot?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76233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 3 min</a:t>
            </a:r>
          </a:p>
          <a:p>
            <a:endParaRPr dirty="0"/>
          </a:p>
          <a:p>
            <a:r>
              <a:rPr dirty="0"/>
              <a:t>OPEN WITH:</a:t>
            </a:r>
          </a:p>
          <a:p>
            <a:r>
              <a:rPr dirty="0"/>
              <a:t>   Sometimes you need Claude to think harder - that's Extended Thinking</a:t>
            </a:r>
          </a:p>
          <a:p>
            <a:endParaRPr dirty="0"/>
          </a:p>
          <a:p>
            <a:r>
              <a:rPr dirty="0"/>
              <a:t>KEY POINTS:</a:t>
            </a:r>
          </a:p>
          <a:p>
            <a:r>
              <a:rPr dirty="0"/>
              <a:t>   * Extended Thinking = Claude shows its reasoning process</a:t>
            </a:r>
          </a:p>
          <a:p>
            <a:r>
              <a:rPr dirty="0"/>
              <a:t>   * Like 'think step-by-step' but automatic and deeper</a:t>
            </a:r>
          </a:p>
          <a:p>
            <a:r>
              <a:rPr dirty="0"/>
              <a:t>   * Takes longer but produces better results for complex tasks</a:t>
            </a:r>
          </a:p>
          <a:p>
            <a:r>
              <a:rPr dirty="0"/>
              <a:t>   * You see the thinking unfold in real-time</a:t>
            </a:r>
          </a:p>
          <a:p>
            <a:endParaRPr dirty="0"/>
          </a:p>
          <a:p>
            <a:r>
              <a:rPr dirty="0"/>
              <a:t>REAL-WORLD EXAMPLE:</a:t>
            </a:r>
          </a:p>
          <a:p>
            <a:r>
              <a:rPr dirty="0"/>
              <a:t>   Complex financial analysis: Claude breaks down assumptions, checks logic, identifies edge cases - you see all of it.</a:t>
            </a:r>
          </a:p>
          <a:p>
            <a:endParaRPr dirty="0"/>
          </a:p>
          <a:p>
            <a:r>
              <a:rPr dirty="0"/>
              <a:t>TRANSITION:</a:t>
            </a:r>
          </a:p>
          <a:p>
            <a:r>
              <a:rPr dirty="0"/>
              <a:t>   When should you use it?</a:t>
            </a:r>
            <a:endParaRPr lang="en-US" dirty="0"/>
          </a:p>
          <a:p>
            <a:endParaRPr lang="en-US" dirty="0"/>
          </a:p>
          <a:p>
            <a:r>
              <a:rPr lang="en-US" dirty="0"/>
              <a:t>--- </a:t>
            </a:r>
          </a:p>
          <a:p>
            <a:r>
              <a:rPr lang="en-US" b="1" dirty="0"/>
              <a:t>Opus 4.6</a:t>
            </a:r>
            <a:r>
              <a:rPr lang="en-US" dirty="0"/>
              <a:t> thinks the longest and deepest. It'll chew on complex problems for noticeably longer before responding, but the quality jump on hard reasoning tasks — multi-step analysis, tricky logic, architectural decisions — is significant. You'll also see a "max" effort option that's exclusive to Opus.</a:t>
            </a:r>
          </a:p>
          <a:p>
            <a:r>
              <a:rPr lang="en-US" b="1" dirty="0"/>
              <a:t>Sonnet 4.5</a:t>
            </a:r>
            <a:r>
              <a:rPr lang="en-US" dirty="0"/>
              <a:t> gives you a solid middle ground. Thinking kicks in and you'll see meaningful reasoning, but it's faster than Opus. For most day-to-day work — writing, coding, analysis — this is probably where you'll get the best balance of speed and quality.</a:t>
            </a:r>
          </a:p>
          <a:p>
            <a:r>
              <a:rPr lang="en-US" b="1" dirty="0"/>
              <a:t>Haiku 4.5</a:t>
            </a:r>
            <a:r>
              <a:rPr lang="en-US" dirty="0"/>
              <a:t> is the fastest of the three with thinking on, but the reasoning is shallower. It's useful when you want a quick sanity check or light reasoning on something without waiting.</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62919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 3 min</a:t>
            </a:r>
          </a:p>
          <a:p>
            <a:endParaRPr dirty="0"/>
          </a:p>
          <a:p>
            <a:r>
              <a:rPr dirty="0"/>
              <a:t>KEY POINTS:</a:t>
            </a:r>
          </a:p>
          <a:p>
            <a:r>
              <a:rPr dirty="0"/>
              <a:t>   * Extended Thinking costs more tokens (longer responses)</a:t>
            </a:r>
          </a:p>
          <a:p>
            <a:r>
              <a:rPr dirty="0"/>
              <a:t>   * Worth it for complex tasks</a:t>
            </a:r>
          </a:p>
          <a:p>
            <a:r>
              <a:rPr dirty="0"/>
              <a:t>   * Toggle on/off per conversation</a:t>
            </a:r>
          </a:p>
          <a:p>
            <a:r>
              <a:rPr dirty="0"/>
              <a:t>   * Default: Regular mode for most work</a:t>
            </a:r>
          </a:p>
          <a:p>
            <a:endParaRPr dirty="0"/>
          </a:p>
          <a:p>
            <a:r>
              <a:rPr dirty="0"/>
              <a:t>ASK THE CLASS:</a:t>
            </a:r>
          </a:p>
          <a:p>
            <a:r>
              <a:rPr dirty="0"/>
              <a:t>   "What's a complex task in YOUR work where seeing Claude's reasoning would help?"</a:t>
            </a:r>
          </a:p>
          <a:p>
            <a:r>
              <a:rPr dirty="0"/>
              <a:t>   [PAUSE for 30-60 seconds]</a:t>
            </a:r>
          </a:p>
          <a:p>
            <a:endParaRPr dirty="0"/>
          </a:p>
          <a:p>
            <a:r>
              <a:rPr dirty="0"/>
              <a:t>TRANSITION:</a:t>
            </a:r>
          </a:p>
          <a:p>
            <a:r>
              <a:rPr dirty="0"/>
              <a:t>   Now let's see the full Claude ecosystem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147874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6 min</a:t>
            </a:r>
          </a:p>
          <a:p>
            <a:endParaRPr/>
          </a:p>
          <a:p>
            <a:r>
              <a:t>OPEN WITH:</a:t>
            </a:r>
          </a:p>
          <a:p>
            <a:r>
              <a:t>   This is one of the most important features that almost nobody knows about. Personal Preferences lets you tell Claude about YOU - once - and it remembers forever.</a:t>
            </a:r>
          </a:p>
          <a:p>
            <a:endParaRPr/>
          </a:p>
          <a:p>
            <a:r>
              <a:t>KEY POINTS:</a:t>
            </a:r>
          </a:p>
          <a:p>
            <a:r>
              <a:t>   * Personal Preferences field: Free-form text, 2-3 paragraphs about you</a:t>
            </a:r>
          </a:p>
          <a:p>
            <a:r>
              <a:t>   * What to include: Your role, industry/company, expertise level, communication preferences (concise/detailed, formal/casual)</a:t>
            </a:r>
          </a:p>
          <a:p>
            <a:r>
              <a:t>   * Applies globally: Every conversation, every project, forever</a:t>
            </a:r>
          </a:p>
          <a:p>
            <a:r>
              <a:t>   * Time savings: 30 seconds per chat × 10 chats/day = 5 minutes/day saved on context setup</a:t>
            </a:r>
          </a:p>
          <a:p>
            <a:r>
              <a:t>   * Quality improvement: Industry-specific examples, role-appropriate recommendations, consistent tone</a:t>
            </a:r>
          </a:p>
          <a:p>
            <a:r>
              <a:t>   * Template: 'I am a [role] at [company type] in [industry]. My expertise: [areas]. Communication preferences: [concise/detailed], [formal/casual], [beginner/expert] level.'</a:t>
            </a:r>
          </a:p>
          <a:p>
            <a:endParaRPr/>
          </a:p>
          <a:p>
            <a:r>
              <a:t>ASK THE CLASS:</a:t>
            </a:r>
          </a:p>
          <a:p>
            <a:r>
              <a:t>   "What would you put in your Personal Preferences? Think about what you explain over and over in different chats."</a:t>
            </a:r>
          </a:p>
          <a:p>
            <a:r>
              <a:t>   [PAUSE for 30-60 seconds]</a:t>
            </a:r>
          </a:p>
          <a:p>
            <a:endParaRPr/>
          </a:p>
          <a:p>
            <a:r>
              <a:t>REAL-WORLD EXAMPLE:</a:t>
            </a:r>
          </a:p>
          <a:p>
            <a:r>
              <a:t>   Marketing manager example: 'I am a Marketing Manager at a B2B SaaS company in healthcare technology. My expertise: content strategy, demand generation, analytics. Preferences: Concise responses with actionable takeaways, professional tone, intermediate technical level. We sell to hospital CFOs with long sales cycles.' Now EVERY chat Claude knows this - no repeating yourself.</a:t>
            </a:r>
          </a:p>
          <a:p>
            <a:endParaRPr/>
          </a:p>
          <a:p>
            <a:r>
              <a:t>DEMO:</a:t>
            </a:r>
          </a:p>
          <a:p>
            <a:r>
              <a:t>   Show Settings &gt; General &gt; Profile. Show the Personal Preferences field. Show a filled example (use your own or the marketing manager template). Emphasize: This is global, applies everywhere, massive time saver.</a:t>
            </a:r>
          </a:p>
          <a:p>
            <a:endParaRPr/>
          </a:p>
          <a:p>
            <a:r>
              <a:t>TRANSITION:</a:t>
            </a:r>
          </a:p>
          <a:p>
            <a:r>
              <a:t>   With your interface mastered and preferences set, let's talk about Projects - a way to add context to specific workstreams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DURATION: 4 min</a:t>
            </a:r>
          </a:p>
          <a:p>
            <a:endParaRPr dirty="0"/>
          </a:p>
          <a:p>
            <a:r>
              <a:rPr dirty="0"/>
              <a:t>Let's look at what else lives in Settings beyond Personal Preferences.</a:t>
            </a:r>
          </a:p>
          <a:p>
            <a:endParaRPr dirty="0"/>
          </a:p>
          <a:p>
            <a:r>
              <a:rPr dirty="0"/>
              <a:t>First card — Profile and Account. This is where you manage your display name, email, and subscription plan. More importantly, this is where your usage dashboard lives. If you're on a Pro or Team plan, you can see exactly how many messages you've sent, which models you've used, and how close you are to your limits. For team administrators, this is where you manage seats and billing.</a:t>
            </a:r>
          </a:p>
          <a:p>
            <a:endParaRPr dirty="0"/>
          </a:p>
          <a:p>
            <a:r>
              <a:rPr dirty="0"/>
              <a:t>Second card — Privacy and Security. This is the one your IT team cares about. Three critical settings here. First, the training opt-out toggle. By default on paid plans, your conversations are NOT used to train Claude. Verify this is set correctly. Second, conversation history controls — you can disable history entirely if you're working with sensitive data. Third, data handling — on Claude Enterprise and Team plans, Anthropic commits to data isolation and zero retention. I mentioned earlier that 76 percent of CISOs cite visibility gaps in AI environments. This settings panel is how you close that gap. Show your CISO this page.</a:t>
            </a:r>
          </a:p>
          <a:p>
            <a:endParaRPr dirty="0"/>
          </a:p>
          <a:p>
            <a:r>
              <a:rPr dirty="0"/>
              <a:t>Third card — Model and Performance. This is where you set your default model. Most of you should default to Sonnet for daily work — it's the best balance of speed, intelligence, and cost. You can switch to Opus for complex analysis tasks without changing your default. The Extended Thinking toggle lives here too — turn it on when you need Claude to reason through multi-step problems. And response preferences let you control output length and style.</a:t>
            </a:r>
          </a:p>
          <a:p>
            <a:endParaRPr dirty="0"/>
          </a:p>
          <a:p>
            <a:r>
              <a:rPr dirty="0"/>
              <a:t>Pro tip: spend five minutes in Settings before you do anything else with Claude. Most people never look at these controls and miss features that would save them hours.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30 seconds]</a:t>
            </a:r>
          </a:p>
          <a:p/>
          <a:p>
            <a:r>
              <a:t>Alright everyone, we're diving into our first section — Claude Interface and Prompt Engineering. This is really the foundation for everything else we'll cover today. We'll start by getting comfortable with the Claude.ai interface, then move into the art and science of writing effective prompts. By the end of this section, you'll have practical techniques you can use immediately. Let's get started.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03715-F889-D3A1-81D9-0611A9F97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FEB6C-2005-C671-BADF-3ABC78EFB80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0F8EDA6-5234-5946-2B56-259BBBAEB6C0}"/>
              </a:ext>
            </a:extLst>
          </p:cNvPr>
          <p:cNvSpPr>
            <a:spLocks noGrp="1"/>
          </p:cNvSpPr>
          <p:nvPr>
            <p:ph type="body" sz="quarter" idx="3"/>
          </p:nvPr>
        </p:nvSpPr>
        <p:spPr/>
        <p:txBody>
          <a:bodyPr/>
          <a:lstStyle/>
          <a:p>
            <a:r>
              <a:t>TIME: 4 min</a:t>
            </a:r>
          </a:p>
          <a:p>
            <a:endParaRPr/>
          </a:p>
          <a:p>
            <a:r>
              <a:t>OPEN WITH:</a:t>
            </a:r>
          </a:p>
          <a:p>
            <a:r>
              <a:t>   Not every task needs autonomous work. Here's when it makes sense vs when Claude.ai is better.</a:t>
            </a:r>
          </a:p>
          <a:p>
            <a:endParaRPr/>
          </a:p>
          <a:p>
            <a:r>
              <a:t>KEY POINTS:</a:t>
            </a:r>
          </a:p>
          <a:p>
            <a:r>
              <a:t>   * Desktop app UI: Chat tab (real-time), Cowork tab (autonomous), Code tab (developer mode)</a:t>
            </a:r>
          </a:p>
          <a:p>
            <a:r>
              <a:t>   * Sweet spot: Tasks requiring 2+ hours of focused work with multiple steps</a:t>
            </a:r>
          </a:p>
          <a:p>
            <a:r>
              <a:t>   * Examples: Monthly competitive analysis, quarterly board deck, annual strategic plan, large data migration planning</a:t>
            </a:r>
          </a:p>
          <a:p>
            <a:r>
              <a:t>   * NOT for: Quick answers, learning how something works, iterating on ideas in real-time</a:t>
            </a:r>
          </a:p>
          <a:p>
            <a:r>
              <a:t>   * Workflow: New task → Pick preset or type custom → Choose folder (optional) → Select model → 'Let's go' → Claude works autonomously</a:t>
            </a:r>
          </a:p>
          <a:p>
            <a:r>
              <a:t>   * Decision framework: Would you normally calendar-block time for this? → Cowork. Quick interrupt? → Claude.ai</a:t>
            </a:r>
          </a:p>
          <a:p>
            <a:r>
              <a:t>   * Access: Download from claude.ai if you have Preview access (Pro/Team subscribers)</a:t>
            </a:r>
          </a:p>
          <a:p>
            <a:r>
              <a:t>   * Access: Download Claude Desktop App from claude.ai - autonomous features rolling out to Pro/Team subscribers</a:t>
            </a:r>
          </a:p>
          <a:p>
            <a:r>
              <a:t>   * This bridges to Agent Teams concept (Day 4) - autonomous work vs supervised assistance</a:t>
            </a:r>
          </a:p>
          <a:p>
            <a:r>
              <a:t>   * This shows Anthropic's direction: Desktop app = advanced interface for power users and autonomous work</a:t>
            </a:r>
          </a:p>
          <a:p>
            <a:endParaRPr/>
          </a:p>
          <a:p>
            <a:r>
              <a:t>ASK THE CLASS:</a:t>
            </a:r>
          </a:p>
          <a:p>
            <a:r>
              <a:t>   "Look at your calendar - what recurring task would you delegate to an autonomous agent?"</a:t>
            </a:r>
          </a:p>
          <a:p>
            <a:r>
              <a:t>   [PAUSE for 30-60 seconds]</a:t>
            </a:r>
          </a:p>
          <a:p>
            <a:endParaRPr/>
          </a:p>
          <a:p>
            <a:r>
              <a:t>REAL-WORLD EXAMPLE:</a:t>
            </a:r>
          </a:p>
          <a:p>
            <a:r>
              <a:t>   Monthly reporting scenario: You compile data from 5 systems, create visualizations, write executive summary, format for board. Normally 4 hours of work. Tell Cowork 'Create monthly board report from these 5 files, include exec summary highlighting top 3 wins and 2 risks, create 3 charts showing trend data.' Work on something else for 3 hours, review polished draft.</a:t>
            </a:r>
          </a:p>
          <a:p>
            <a:endParaRPr/>
          </a:p>
          <a:p>
            <a:r>
              <a:t>TRANSITION:</a:t>
            </a:r>
          </a:p>
          <a:p>
            <a:r>
              <a:t>   That's the cutting edge - autonomous agents working for you. Now let's master the core interface everyone has access to today: Claude.ai</a:t>
            </a:r>
          </a:p>
        </p:txBody>
      </p:sp>
      <p:sp>
        <p:nvSpPr>
          <p:cNvPr id="4" name="Slide Number Placeholder 3">
            <a:extLst>
              <a:ext uri="{FF2B5EF4-FFF2-40B4-BE49-F238E27FC236}">
                <a16:creationId xmlns:a16="http://schemas.microsoft.com/office/drawing/2014/main" id="{67A2F13A-6EAD-F4FB-360A-03C89FB7E82A}"/>
              </a:ext>
            </a:extLst>
          </p:cNvPr>
          <p:cNvSpPr>
            <a:spLocks noGrp="1"/>
          </p:cNvSpPr>
          <p:nvPr>
            <p:ph type="sldNum" sz="quarter" idx="5"/>
          </p:nvPr>
        </p:nvSpPr>
        <p:spPr/>
      </p:sp>
    </p:spTree>
    <p:extLst>
      <p:ext uri="{BB962C8B-B14F-4D97-AF65-F5344CB8AC3E}">
        <p14:creationId xmlns:p14="http://schemas.microsoft.com/office/powerpoint/2010/main" val="29426766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3A654-EB9C-5F6B-33A9-A47E5BB112F4}"/>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7B0CE117-3C3B-5575-499E-FBE52620E61B}"/>
              </a:ext>
            </a:extLst>
          </p:cNvPr>
          <p:cNvSpPr>
            <a:spLocks noGrp="1"/>
          </p:cNvSpPr>
          <p:nvPr>
            <p:ph type="body" idx="1"/>
          </p:nvPr>
        </p:nvSpPr>
        <p:spPr/>
        <p:txBody>
          <a:bodyPr/>
          <a:lstStyle/>
          <a:p>
            <a:r>
              <a:t>DURATION: 3 min</a:t>
            </a:r>
          </a:p>
          <a:p>
            <a:endParaRPr/>
          </a:p>
          <a:p>
            <a:r>
              <a:t>How many of you have Claude on your phone? If you don't, grab it right now — iOS App Store or Google Play, search "Claude by Anthropic." It's free to download, and your Pro or Team subscription works across all devices.</a:t>
            </a:r>
          </a:p>
          <a:p>
            <a:endParaRPr/>
          </a:p>
          <a:p>
            <a:r>
              <a:t>Three reasons this matters for business users.</a:t>
            </a:r>
          </a:p>
          <a:p>
            <a:endParaRPr/>
          </a:p>
          <a:p>
            <a:r>
              <a:t>First — Voice on the Go. Open Claude on your phone, tap the microphone, and talk. Dictate a prompt while you're walking to a meeting. Ask Claude to draft an email response while you're in an Uber. Brainstorm ideas during your commute. Voice Mode on mobile is genuinely hands-free AI. I use this on my iPhone constantly — it's faster than typing and the voice quality is excellent.</a:t>
            </a:r>
          </a:p>
          <a:p>
            <a:endParaRPr/>
          </a:p>
          <a:p>
            <a:r>
              <a:t>Second — Camera and Vision. This is the one people don't expect. Snap a photo of a whiteboard after a meeting. Claude reads it and generates structured notes with action items. Take a picture of a printed document — Claude extracts the text and can summarize, translate, or analyze it. Screenshot an error message on your screen and ask Claude what it means. The camera turns your phone into a document scanner with AI understanding built in.</a:t>
            </a:r>
          </a:p>
          <a:p>
            <a:endParaRPr/>
          </a:p>
          <a:p>
            <a:r>
              <a:t>Third — Quick Access and sync. Your conversations sync across phone, desktop, and web. Start a complex analysis on your laptop at work. Continue the conversation on your phone during your commute. Pick it back up on your desktop at home. Same Projects, same context, seamless handoff.</a:t>
            </a:r>
          </a:p>
          <a:p>
            <a:endParaRPr/>
          </a:p>
          <a:p>
            <a:r>
              <a:t>The mental model shift: Claude isn't something you sit down at your computer to use. It's something that's always available — in your pocket, ready when you need it. The best prompt is the one you send in the moment you need help, not the one you remember to type later at your desk.</a:t>
            </a:r>
          </a:p>
          <a:p>
            <a:endParaRPr/>
          </a:p>
          <a:p>
            <a:r>
              <a:t>Enable Voice Mode in your phone settings. That's the unlock that makes mobile Claude genuinely useful rather than just a small-screen chat window.</a:t>
            </a:r>
          </a:p>
        </p:txBody>
      </p:sp>
    </p:spTree>
    <p:extLst>
      <p:ext uri="{BB962C8B-B14F-4D97-AF65-F5344CB8AC3E}">
        <p14:creationId xmlns:p14="http://schemas.microsoft.com/office/powerpoint/2010/main" val="37334303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Claude now has persistent memory across all conversations - it remembers you. But Projects go further: they give Claude specialized knowledge for specific workstreams, with shared team access.</a:t>
            </a:r>
          </a:p>
          <a:p>
            <a:endParaRPr/>
          </a:p>
          <a:p>
            <a:r>
              <a:t>KEY POINTS:</a:t>
            </a:r>
          </a:p>
          <a:p>
            <a:r>
              <a:t>   * Projects = scoped context and knowledge for specific workstreams (different from Claude's general memory)</a:t>
            </a:r>
          </a:p>
          <a:p>
            <a:r>
              <a:t>   * Claude's memory remembers YOU across all chats. Projects give Claude specialized DOMAIN knowledge.</a:t>
            </a:r>
          </a:p>
          <a:p>
            <a:r>
              <a:t>   * Think of it as a shared team workspace with custom knowledge</a:t>
            </a:r>
          </a:p>
          <a:p>
            <a:r>
              <a:t>   * You can add: Custom instructions (how to behave), Reference documents (PDFs, spreadsheets, etc.)</a:t>
            </a:r>
          </a:p>
          <a:p>
            <a:r>
              <a:t>   * Team members can collaborate in the same Project</a:t>
            </a:r>
          </a:p>
          <a:p>
            <a:endParaRPr/>
          </a:p>
          <a:p>
            <a:r>
              <a:t>REAL-WORLD EXAMPLE:</a:t>
            </a:r>
          </a:p>
          <a:p>
            <a:r>
              <a:t>   Marketing team created a 'Brand Voice' Project with their style guide, competitor research, and past campaigns. Now every team member gets consistent, on-brand content.</a:t>
            </a:r>
          </a:p>
          <a:p>
            <a:endParaRPr/>
          </a:p>
          <a:p>
            <a:r>
              <a:t>TRANSITION:</a:t>
            </a:r>
          </a:p>
          <a:p>
            <a:r>
              <a:t>   Let's see how to create one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6 min</a:t>
            </a:r>
          </a:p>
          <a:p>
            <a:endParaRPr/>
          </a:p>
          <a:p>
            <a:r>
              <a:t>KEY POINTS:</a:t>
            </a:r>
          </a:p>
          <a:p>
            <a:r>
              <a:t>   * Name it something clear - you'll have many Projects eventually</a:t>
            </a:r>
          </a:p>
          <a:p>
            <a:r>
              <a:t>   * Custom instructions: How should Claude behave? What context does it need?</a:t>
            </a:r>
          </a:p>
          <a:p>
            <a:r>
              <a:t>   * Documents: PDFs, Word, Excel - Claude reads and indexes all of them</a:t>
            </a:r>
          </a:p>
          <a:p>
            <a:r>
              <a:t>   * Once created, all conversations in that Project have this context</a:t>
            </a:r>
          </a:p>
          <a:p>
            <a:endParaRPr/>
          </a:p>
          <a:p>
            <a:r>
              <a:t>DEMO:</a:t>
            </a:r>
          </a:p>
          <a:p>
            <a:r>
              <a:t>   LIVE DEMO: Create a Project called 'Sales Proposals'. Add custom instruction: 'You're helping the sales team write proposals. Our fiscal year is April-March. Always compare to prior year.' Upload a sample proposal PDF. Ask: 'Draft a proposal for new CRM system.'</a:t>
            </a:r>
          </a:p>
          <a:p>
            <a:endParaRPr/>
          </a:p>
          <a:p>
            <a:r>
              <a:t>TRANSITION:</a:t>
            </a:r>
          </a:p>
          <a:p>
            <a:r>
              <a:t>   What goes into custom instructions? Let's look at examples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KEY POINTS:</a:t>
            </a:r>
          </a:p>
          <a:p>
            <a:r>
              <a:t>   * Custom instructions are your 'team handbook' for Claude</a:t>
            </a:r>
          </a:p>
          <a:p>
            <a:r>
              <a:t>   * Include anything you'd tell a new human team member</a:t>
            </a:r>
          </a:p>
          <a:p>
            <a:r>
              <a:t>   * Can reference uploaded documents: 'Follow the style guide in Brand_Voice.pdf'</a:t>
            </a:r>
          </a:p>
          <a:p>
            <a:r>
              <a:t>   * Keep it focused - 3-5 key guidelines work better than pages of rules</a:t>
            </a:r>
          </a:p>
          <a:p>
            <a:endParaRPr/>
          </a:p>
          <a:p>
            <a:r>
              <a:t>REAL-WORLD EXAMPLE:</a:t>
            </a:r>
          </a:p>
          <a:p>
            <a:r>
              <a:t>   Finance team's instructions: 'Fiscal year April-March. Audience: executives (non-technical). Always use USD. Compare to prior quarter AND prior year. Highlight variances &gt;10%.'</a:t>
            </a:r>
          </a:p>
          <a:p>
            <a:endParaRPr/>
          </a:p>
          <a:p>
            <a:r>
              <a:t>TRANSITION:</a:t>
            </a:r>
          </a:p>
          <a:p>
            <a:r>
              <a:t>   Now let's talk about when to use Projects vs regular chat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Projects: Anything you'll do more than once. Monthly reports, client proposals, code reviews.</a:t>
            </a:r>
          </a:p>
          <a:p>
            <a:r>
              <a:t>   * Regular chat: Random questions, one-time tasks, exploring new topics</a:t>
            </a:r>
          </a:p>
          <a:p>
            <a:r>
              <a:t>   * You can always move a conversation into a Project later if you realize it's recurring</a:t>
            </a:r>
          </a:p>
          <a:p>
            <a:r>
              <a:t>   * Most power users have 5-10 Projects for their common workflows</a:t>
            </a:r>
          </a:p>
          <a:p>
            <a:endParaRPr/>
          </a:p>
          <a:p>
            <a:r>
              <a:t>ASK THE CLASS:</a:t>
            </a:r>
          </a:p>
          <a:p>
            <a:r>
              <a:t>   "What's ONE task you do monthly that would benefit from a Project?"</a:t>
            </a:r>
          </a:p>
          <a:p>
            <a:r>
              <a:t>   [PAUSE for 30-60 seconds]</a:t>
            </a:r>
          </a:p>
          <a:p>
            <a:endParaRPr/>
          </a:p>
          <a:p>
            <a:r>
              <a:t>TRANSITION:</a:t>
            </a:r>
          </a:p>
          <a:p>
            <a:r>
              <a:t>   Before the break, quick tips for power users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Keyboard shortcuts save time - learn Cmd/Ctrl+K</a:t>
            </a:r>
          </a:p>
          <a:p>
            <a:r>
              <a:t>   * Search is powerful - you can find that conversation from last month</a:t>
            </a:r>
          </a:p>
          <a:p>
            <a:r>
              <a:t>   * Iteration is key: Don't delete and start over, just say 'make it shorter' or 'add more detail'</a:t>
            </a:r>
          </a:p>
          <a:p>
            <a:r>
              <a:t>   * Think conversation, not one-shot query</a:t>
            </a:r>
          </a:p>
          <a:p>
            <a:endParaRPr/>
          </a:p>
          <a:p>
            <a:r>
              <a:t>TRANSITION:</a:t>
            </a:r>
          </a:p>
          <a:p>
            <a:r>
              <a:t>   15-minute break. When we return: Prompt engineering - how to talk to AI effectively</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You don't need to be a data analyst to get insights from your data. Claude can analyze files directly.</a:t>
            </a:r>
          </a:p>
          <a:p>
            <a:endParaRPr/>
          </a:p>
          <a:p>
            <a:r>
              <a:t>KEY POINTS:</a:t>
            </a:r>
          </a:p>
          <a:p>
            <a:r>
              <a:t>   * Upload CSV, Excel, or paste data directly into Claude.ai</a:t>
            </a:r>
          </a:p>
          <a:p>
            <a:r>
              <a:t>   * Ask questions in plain English: 'What are the top 3 trends?'</a:t>
            </a:r>
          </a:p>
          <a:p>
            <a:r>
              <a:t>   * Claude can create charts, spot patterns, calculate metrics</a:t>
            </a:r>
          </a:p>
          <a:p>
            <a:r>
              <a:t>   * No coding required - just upload and ask</a:t>
            </a:r>
          </a:p>
          <a:p>
            <a:r>
              <a:t>   * Works with sales data, survey results, financial reports, anything tabular</a:t>
            </a:r>
          </a:p>
          <a:p>
            <a:endParaRPr/>
          </a:p>
          <a:p>
            <a:r>
              <a:t>REAL-WORLD EXAMPLE:</a:t>
            </a:r>
          </a:p>
          <a:p>
            <a:r>
              <a:t>   Upload monthly sales CSV, ask 'Which products are declining?' - Claude analyzes, creates chart, flags the issues.</a:t>
            </a:r>
          </a:p>
          <a:p>
            <a:endParaRPr/>
          </a:p>
          <a:p>
            <a:r>
              <a:t>TRANSITION:</a:t>
            </a:r>
          </a:p>
          <a:p>
            <a:r>
              <a:t>   But when should you use Claude.ai directly vs Claude in Excel?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KEY POINTS:</a:t>
            </a:r>
          </a:p>
          <a:p>
            <a:r>
              <a:t>   * Legal review: NOT a substitute for lawyer, but great for initial screening</a:t>
            </a:r>
          </a:p>
          <a:p>
            <a:r>
              <a:t>   * Research synthesis: Can compare multiple documents, find patterns</a:t>
            </a:r>
          </a:p>
          <a:p>
            <a:r>
              <a:t>   * Data extraction: Pulls structured data from unstructured docs</a:t>
            </a:r>
          </a:p>
          <a:p>
            <a:r>
              <a:t>   * Comparison: Side-by-side analysis of multiple files</a:t>
            </a:r>
          </a:p>
          <a:p>
            <a:endParaRPr/>
          </a:p>
          <a:p>
            <a:r>
              <a:t>DEMO:</a:t>
            </a:r>
          </a:p>
          <a:p>
            <a:r>
              <a:t>   DEMO: Upload a sample PDF (contract or report). Show prompts: 'Summarize key points', 'Extract action items into a list', 'What risks do you see?'</a:t>
            </a:r>
          </a:p>
          <a:p>
            <a:endParaRPr/>
          </a:p>
          <a:p>
            <a:r>
              <a:t>TRANSITION:</a:t>
            </a:r>
          </a:p>
          <a:p>
            <a:r>
              <a:t>   Images and screenshots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607399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KEY POINTS:</a:t>
            </a:r>
          </a:p>
          <a:p>
            <a:r>
              <a:t>   * Upload file or paste data directly</a:t>
            </a:r>
          </a:p>
          <a:p>
            <a:r>
              <a:t>   * Ask in plain English - no technical syntax needed</a:t>
            </a:r>
          </a:p>
          <a:p>
            <a:r>
              <a:t>   * Claude shows you the chart/analysis immediately</a:t>
            </a:r>
          </a:p>
          <a:p>
            <a:r>
              <a:t>   * Can ask follow-up questions to dig deeper</a:t>
            </a:r>
          </a:p>
          <a:p>
            <a:r>
              <a:t>   * This is fast exploration - when you need something permanent, move to Excel</a:t>
            </a:r>
          </a:p>
          <a:p>
            <a:endParaRPr/>
          </a:p>
          <a:p>
            <a:r>
              <a:t>DEMO:</a:t>
            </a:r>
          </a:p>
          <a:p>
            <a:r>
              <a:t>   Upload simple CSV with quarterly sales. Ask: 'What trends do you see and can you create a chart?' Show Claude analyzing the data, spotting patterns, creating visualization. Emphasize: no formulas, no setup - just ask.</a:t>
            </a:r>
          </a:p>
          <a:p>
            <a:endParaRPr/>
          </a:p>
          <a:p>
            <a:r>
              <a:t>TRANSITION:</a:t>
            </a:r>
          </a:p>
          <a:p>
            <a:r>
              <a:t>   This is a Project-level feature - now let's see power user tips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Raise your hand if you've ever wrestled with an Excel formula for 20 minutes. This changes that.</a:t>
            </a:r>
          </a:p>
          <a:p>
            <a:endParaRPr/>
          </a:p>
          <a:p>
            <a:r>
              <a:t>KEY POINTS:</a:t>
            </a:r>
          </a:p>
          <a:p>
            <a:r>
              <a:t>   * Excel add-in powered by Claude AI</a:t>
            </a:r>
          </a:p>
          <a:p>
            <a:r>
              <a:t>   * Sidebar appears directly in your spreadsheet</a:t>
            </a:r>
          </a:p>
          <a:p>
            <a:r>
              <a:t>   * KEY DIFFERENCE: Unlike uploading to claude.ai, the add-in SEES your actual spreadsheet context</a:t>
            </a:r>
          </a:p>
          <a:p>
            <a:r>
              <a:t>   * Helps with formulas, analysis, explanations</a:t>
            </a:r>
          </a:p>
          <a:p>
            <a:endParaRPr/>
          </a:p>
          <a:p>
            <a:r>
              <a:t>REAL-WORLD EXAMPLE:</a:t>
            </a:r>
          </a:p>
          <a:p>
            <a:r>
              <a:t>   Last week I was building a budget variance report. Instead of googling VLOOKUP syntax, I just asked Claude 'How do I match customer names from Sheet2?' - got the formula with explanation in 10 seconds.</a:t>
            </a:r>
          </a:p>
          <a:p>
            <a:endParaRPr/>
          </a:p>
          <a:p>
            <a:r>
              <a:t>TRANSITION:</a:t>
            </a:r>
          </a:p>
          <a:p>
            <a:r>
              <a:t>   Let's install it</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KEY POINTS:</a:t>
            </a:r>
          </a:p>
          <a:p>
            <a:r>
              <a:t>   * Requires Claude Enterprise license (check with your admin)</a:t>
            </a:r>
          </a:p>
          <a:p>
            <a:r>
              <a:t>   * One-time setup per device</a:t>
            </a:r>
          </a:p>
          <a:p>
            <a:r>
              <a:t>   * Keyboard shortcut: Ctrl+Alt+C (Win) / Ctrl+Option+C (Mac) to open sidebar</a:t>
            </a:r>
          </a:p>
          <a:p>
            <a:r>
              <a:t>   * Works with Excel 365, Excel 2019+, and Excel for Web</a:t>
            </a:r>
          </a:p>
          <a:p>
            <a:endParaRPr/>
          </a:p>
          <a:p>
            <a:r>
              <a:t>DEMO:</a:t>
            </a:r>
          </a:p>
          <a:p>
            <a:r>
              <a:t>   LIVE DEMO: Install Claude in Excel (or show already-installed version). Open add-in sidebar (Ctrl+Alt+C). Show it has access to spreadsheet context.</a:t>
            </a:r>
          </a:p>
          <a:p>
            <a:endParaRPr/>
          </a:p>
          <a:p>
            <a:r>
              <a:t>TRANSITION:</a:t>
            </a:r>
          </a:p>
          <a:p>
            <a:r>
              <a:t>   Three main ways people use this add-in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Formula Help: Most common use case. 'Write this formula', 'Debug this error', 'Explain what this does'</a:t>
            </a:r>
          </a:p>
          <a:p>
            <a:r>
              <a:t>   * Data Analysis: 'What trends do you see?', 'Any outliers?', 'Suggest visualizations'</a:t>
            </a:r>
          </a:p>
          <a:p>
            <a:r>
              <a:t>   * Financial Modeling: 'Build a DCF', 'Check my assumptions', 'Validate this NPV formula'</a:t>
            </a:r>
          </a:p>
          <a:p>
            <a:r>
              <a:t>   * We'll demo each one</a:t>
            </a:r>
          </a:p>
          <a:p>
            <a:endParaRPr/>
          </a:p>
          <a:p>
            <a:r>
              <a:t>TRANSITION:</a:t>
            </a:r>
          </a:p>
          <a:p>
            <a:r>
              <a:t>   Let's start with formula assistance - the #1 use case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7 min</a:t>
            </a:r>
          </a:p>
          <a:p>
            <a:endParaRPr/>
          </a:p>
          <a:p>
            <a:r>
              <a:t>KEY POINTS:</a:t>
            </a:r>
          </a:p>
          <a:p>
            <a:r>
              <a:t>   * Claude EXPLAINS formulas, not just writes them - you learn as you go</a:t>
            </a:r>
          </a:p>
          <a:p>
            <a:r>
              <a:t>   * Handles complex nested formulas, array formulas, new Excel 365 functions</a:t>
            </a:r>
          </a:p>
          <a:p>
            <a:r>
              <a:t>   * Debugging: Paste your broken formula, Claude finds the error</a:t>
            </a:r>
          </a:p>
          <a:p>
            <a:r>
              <a:t>   * Plain English explanations for formulas you inherited</a:t>
            </a:r>
          </a:p>
          <a:p>
            <a:endParaRPr/>
          </a:p>
          <a:p>
            <a:r>
              <a:t>DEMO:</a:t>
            </a:r>
          </a:p>
          <a:p>
            <a:r>
              <a:t>   LIVE DEMO: Open sample spreadsheet with sales data. Show 3 prompts:</a:t>
            </a:r>
          </a:p>
          <a:p>
            <a:r>
              <a:t>1. 'Write a formula to calculate YoY growth for column D'</a:t>
            </a:r>
          </a:p>
          <a:p>
            <a:r>
              <a:t>2. 'What's wrong with this formula? =SUM(A1:A10/B1:B10)'</a:t>
            </a:r>
          </a:p>
          <a:p>
            <a:r>
              <a:t>3. 'Explain this VLOOKUP in plain English: =VLOOKUP(A2,Sheet2!A:C,3,FALSE)'</a:t>
            </a:r>
          </a:p>
          <a:p>
            <a:endParaRPr/>
          </a:p>
          <a:p>
            <a:r>
              <a:t>TRANSITION:</a:t>
            </a:r>
          </a:p>
          <a:p>
            <a:r>
              <a:t>   Next: Data analysis help</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6 min</a:t>
            </a:r>
          </a:p>
          <a:p>
            <a:endParaRPr/>
          </a:p>
          <a:p>
            <a:r>
              <a:t>KEY POINTS:</a:t>
            </a:r>
          </a:p>
          <a:p>
            <a:r>
              <a:t>   * Claude sees your actual data and can spot patterns</a:t>
            </a:r>
          </a:p>
          <a:p>
            <a:r>
              <a:t>   * Great for exploratory analysis: 'What should I look at here?'</a:t>
            </a:r>
          </a:p>
          <a:p>
            <a:r>
              <a:t>   * Visualization suggestions based on your data structure</a:t>
            </a:r>
          </a:p>
          <a:p>
            <a:r>
              <a:t>   * Can help with data cleaning: 'How do I remove duplicates based on column A?'</a:t>
            </a:r>
          </a:p>
          <a:p>
            <a:endParaRPr/>
          </a:p>
          <a:p>
            <a:r>
              <a:t>DEMO:</a:t>
            </a:r>
          </a:p>
          <a:p>
            <a:r>
              <a:t>   DEMO: Use sample dataset (quarterly revenue by region). Show prompts:</a:t>
            </a:r>
          </a:p>
          <a:p>
            <a:r>
              <a:t>1. 'What trends do you see in columns B-D over the last 6 months?'</a:t>
            </a:r>
          </a:p>
          <a:p>
            <a:r>
              <a:t>2. 'Are there any outliers in this revenue data?'</a:t>
            </a:r>
          </a:p>
          <a:p>
            <a:r>
              <a:t>3. 'Suggest 3 ways to visualize quarterly sales by region'</a:t>
            </a:r>
          </a:p>
          <a:p>
            <a:endParaRPr/>
          </a:p>
          <a:p>
            <a:r>
              <a:t>TRANSITION:</a:t>
            </a:r>
          </a:p>
          <a:p>
            <a:r>
              <a:t>   Finally: Financial modeling</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KEY POINTS:</a:t>
            </a:r>
          </a:p>
          <a:p>
            <a:r>
              <a:t>   * Financial modeling is complex - Claude is a great assistant but NOT a substitute for your judgment</a:t>
            </a:r>
          </a:p>
          <a:p>
            <a:r>
              <a:t>   * Use it to: Build structure, check logic, validate assumptions, explain complex formulas</a:t>
            </a:r>
          </a:p>
          <a:p>
            <a:r>
              <a:t>   * DO NOT blindly trust outputs - especially for high-stakes financial decisions</a:t>
            </a:r>
          </a:p>
          <a:p>
            <a:r>
              <a:t>   * Best practice: Ask Claude to explain its reasoning, then verify with a second pair of eyes</a:t>
            </a:r>
          </a:p>
          <a:p>
            <a:endParaRPr/>
          </a:p>
          <a:p>
            <a:r>
              <a:t>REAL-WORLD EXAMPLE:</a:t>
            </a:r>
          </a:p>
          <a:p>
            <a:r>
              <a:t>   CFO used Claude to build initial DCF structure in 20 minutes (usually takes 2 hours). Then validated assumptions with finance team. Time saved: 90 minutes. Accuracy: Still 100% (because he verified).</a:t>
            </a:r>
          </a:p>
          <a:p>
            <a:endParaRPr/>
          </a:p>
          <a:p>
            <a:r>
              <a:t>TRANSITION:</a:t>
            </a:r>
          </a:p>
          <a:p>
            <a:r>
              <a:t>   Best practices for using Claude in Excel</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Specificity matters: 'Calculate variance' is vague. 'Calculate variance % for columns C and D' is clear.</a:t>
            </a:r>
          </a:p>
          <a:p>
            <a:r>
              <a:t>   * Security: If your data is confidential, check your org's policy on AI tools</a:t>
            </a:r>
          </a:p>
          <a:p>
            <a:r>
              <a:t>   * Verification is mandatory for financial/critical formulas</a:t>
            </a:r>
          </a:p>
          <a:p>
            <a:r>
              <a:t>   * Think assistant, not autopilot</a:t>
            </a:r>
          </a:p>
          <a:p>
            <a:endParaRPr/>
          </a:p>
          <a:p>
            <a:r>
              <a:t>TRANSITION:</a:t>
            </a:r>
          </a:p>
          <a:p>
            <a:r>
              <a:t>   Real-world workflow example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KEY POINTS:</a:t>
            </a:r>
          </a:p>
          <a:p>
            <a:r>
              <a:t>   * Scenario: Monthly expense variance report (common finance task)</a:t>
            </a:r>
          </a:p>
          <a:p>
            <a:r>
              <a:t>   * Step 1-2: Start with the core calculation</a:t>
            </a:r>
          </a:p>
          <a:p>
            <a:r>
              <a:t>   * Step 3-4: Refine - add formatting to highlight key items</a:t>
            </a:r>
          </a:p>
          <a:p>
            <a:r>
              <a:t>   * Step 5-6: Generate the summary narrative for your boss</a:t>
            </a:r>
          </a:p>
          <a:p>
            <a:r>
              <a:t>   * Total time: ~10 minutes. Manual time: ~40 minutes. Time saved: 30 minutes.</a:t>
            </a:r>
          </a:p>
          <a:p>
            <a:r>
              <a:t>   * This is a realistic workflow - build, refine, summarize</a:t>
            </a:r>
          </a:p>
          <a:p>
            <a:endParaRPr/>
          </a:p>
          <a:p>
            <a:r>
              <a:t>TRANSITION:</a:t>
            </a:r>
          </a:p>
          <a:p>
            <a:r>
              <a:t>   When should you use Claude in Excel vs other tools?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This is the question everyone asks: which Claude should I use for data? Here's the decision framework.</a:t>
            </a:r>
          </a:p>
          <a:p>
            <a:endParaRPr/>
          </a:p>
          <a:p>
            <a:r>
              <a:t>KEY POINTS:</a:t>
            </a:r>
          </a:p>
          <a:p>
            <a:r>
              <a:t>   * Claude.ai = Quick insights, one-time analysis, exploring data</a:t>
            </a:r>
          </a:p>
          <a:p>
            <a:r>
              <a:t>   * Claude in Excel = Building something you'll use again, need formulas</a:t>
            </a:r>
          </a:p>
          <a:p>
            <a:r>
              <a:t>   * Example: Monthly report you update? Excel. One question about a CSV? Claude.ai.</a:t>
            </a:r>
          </a:p>
          <a:p>
            <a:r>
              <a:t>   * You can use both! Start in Claude.ai to explore, then move to Excel to build</a:t>
            </a:r>
          </a:p>
          <a:p>
            <a:r>
              <a:t>   * Claude.ai is faster for 'What does this data tell me?' questions</a:t>
            </a:r>
          </a:p>
          <a:p>
            <a:r>
              <a:t>   * Claude in Excel is better for 'Build me a dashboard' tasks</a:t>
            </a:r>
          </a:p>
          <a:p>
            <a:endParaRPr/>
          </a:p>
          <a:p>
            <a:r>
              <a:t>ASK THE CLASS:</a:t>
            </a:r>
          </a:p>
          <a:p>
            <a:r>
              <a:t>   "Think of a data file you worked with recently - which Claude would have helped more?"</a:t>
            </a:r>
          </a:p>
          <a:p>
            <a:r>
              <a:t>   [PAUSE for 30-60 seconds]</a:t>
            </a:r>
          </a:p>
          <a:p>
            <a:endParaRPr/>
          </a:p>
          <a:p>
            <a:r>
              <a:t>REAL-WORLD EXAMPLE:</a:t>
            </a:r>
          </a:p>
          <a:p>
            <a:r>
              <a:t>   Survey results come in as CSV. Upload to Claude.ai: 'What are the top 3 themes?' Get answer in 30 seconds. Then if you need a report, move to Excel with Claude to build formulas.</a:t>
            </a:r>
          </a:p>
          <a:p>
            <a:endParaRPr/>
          </a:p>
          <a:p>
            <a:r>
              <a:t>TRANSITION:</a:t>
            </a:r>
          </a:p>
          <a:p>
            <a:r>
              <a:t>   Let me show you Claude.ai data analysis in action</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Artifacts are Claude's way of saying 'Here's something you can use directly' - not just conversation, but actual deliverables.</a:t>
            </a:r>
          </a:p>
          <a:p>
            <a:endParaRPr/>
          </a:p>
          <a:p>
            <a:r>
              <a:t>KEY POINTS:</a:t>
            </a:r>
          </a:p>
          <a:p>
            <a:r>
              <a:t>   * Artifacts appear when Claude creates: Code, Documents, Diagrams, Data visualizations, HTML pages</a:t>
            </a:r>
          </a:p>
          <a:p>
            <a:r>
              <a:t>   * Separate panel on the right side of claude.ai</a:t>
            </a:r>
          </a:p>
          <a:p>
            <a:r>
              <a:t>   * You can: View, Edit, Iterate, Download, Copy, Remix</a:t>
            </a:r>
          </a:p>
          <a:p>
            <a:r>
              <a:t>   * Think of it as Claude's 'workspace' - where it builds things for you</a:t>
            </a:r>
          </a:p>
          <a:p>
            <a:endParaRPr/>
          </a:p>
          <a:p>
            <a:r>
              <a:t>TRANSITION:</a:t>
            </a:r>
          </a:p>
          <a:p>
            <a:r>
              <a:t>   Let's see what you can do with artifacts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View: See the final result (code runs, markdown renders, diagrams display)</a:t>
            </a:r>
          </a:p>
          <a:p>
            <a:r>
              <a:t>   * Edit: Click directly into the artifact and modify it yourself</a:t>
            </a:r>
          </a:p>
          <a:p>
            <a:r>
              <a:t>   * Download: Save as file (HTML, markdown, code file, etc.)</a:t>
            </a:r>
          </a:p>
          <a:p>
            <a:r>
              <a:t>   * Also: Copy to clipboard, ask Claude to modify it, use as starting point for new work</a:t>
            </a:r>
          </a:p>
          <a:p>
            <a:endParaRPr/>
          </a:p>
          <a:p>
            <a:r>
              <a:t>DEMO:</a:t>
            </a:r>
          </a:p>
          <a:p>
            <a:r>
              <a:t>   DEMO: 'Create a simple flowchart showing our sales process.' Show artifact panel appearing, how to download, how to iterate ('Add a decision point for budget approval').</a:t>
            </a:r>
          </a:p>
          <a:p>
            <a:endParaRPr/>
          </a:p>
          <a:p>
            <a:r>
              <a:t>TRANSITION:</a:t>
            </a:r>
          </a:p>
          <a:p>
            <a:r>
              <a:t>   Common business use cases for artifacts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Email templates: 'Create a template for customer onboarding emails'</a:t>
            </a:r>
          </a:p>
          <a:p>
            <a:r>
              <a:t>   * Meeting agendas: 'Draft agenda for quarterly business review'</a:t>
            </a:r>
          </a:p>
          <a:p>
            <a:r>
              <a:t>   * Project proposals: 'Write proposal for new CRM implementation'</a:t>
            </a:r>
          </a:p>
          <a:p>
            <a:r>
              <a:t>   * Data summaries: 'Summarize this CSV in a formatted table'</a:t>
            </a:r>
          </a:p>
          <a:p>
            <a:r>
              <a:t>   * Process flowcharts: 'Diagram our customer support escalation process'</a:t>
            </a:r>
          </a:p>
          <a:p>
            <a:r>
              <a:t>   * Presentation outlines: 'Create outline for board presentation on Q4 results'</a:t>
            </a:r>
          </a:p>
          <a:p>
            <a:endParaRPr/>
          </a:p>
          <a:p>
            <a:r>
              <a:t>TRANSITION:</a:t>
            </a:r>
          </a:p>
          <a:p>
            <a:r>
              <a:t>   Now let's talk about file uploads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Claude can read and analyze most common file types</a:t>
            </a:r>
          </a:p>
          <a:p>
            <a:r>
              <a:t>   * PDFs: Full text extraction, can handle scanned docs (OCR)</a:t>
            </a:r>
          </a:p>
          <a:p>
            <a:r>
              <a:t>   * PowerPoint: Claude reads .pptx files directly - no need to convert to PDF first</a:t>
            </a:r>
          </a:p>
          <a:p>
            <a:r>
              <a:t>   * Images: Can describe, extract text, analyze charts</a:t>
            </a:r>
          </a:p>
          <a:p>
            <a:r>
              <a:t>   * Multiple files: Upload up to 5-10 at once for comparison</a:t>
            </a:r>
          </a:p>
          <a:p>
            <a:r>
              <a:t>   * File size limits depend on your plan (check settings)</a:t>
            </a:r>
          </a:p>
          <a:p>
            <a:endParaRPr/>
          </a:p>
          <a:p>
            <a:r>
              <a:t>TRANSITION:</a:t>
            </a:r>
          </a:p>
          <a:p>
            <a:r>
              <a:t>   Example workflows for document analysis</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Claude isn't just text - it can analyze images, charts, screenshots, diagrams</a:t>
            </a:r>
          </a:p>
          <a:p>
            <a:endParaRPr/>
          </a:p>
          <a:p>
            <a:r>
              <a:t>KEY POINTS:</a:t>
            </a:r>
          </a:p>
          <a:p>
            <a:r>
              <a:t>   * Upload any image - Claude describes it</a:t>
            </a:r>
          </a:p>
          <a:p>
            <a:r>
              <a:t>   * Works with: Screenshots, photos, charts, diagrams, handwriting</a:t>
            </a:r>
          </a:p>
          <a:p>
            <a:r>
              <a:t>   * Can extract text (OCR) from images</a:t>
            </a:r>
          </a:p>
          <a:p>
            <a:r>
              <a:t>   * Useful for debugging, documentation, analysis</a:t>
            </a:r>
          </a:p>
          <a:p>
            <a:endParaRPr/>
          </a:p>
          <a:p>
            <a:r>
              <a:t>REAL-WORLD EXAMPLE:</a:t>
            </a:r>
          </a:p>
          <a:p>
            <a:r>
              <a:t>   Screenshot an error message, ask 'What's wrong?' Claude reads it, explains the issue, suggests fix.</a:t>
            </a:r>
          </a:p>
          <a:p>
            <a:endParaRPr/>
          </a:p>
          <a:p>
            <a:r>
              <a:t>TRANSITION:</a:t>
            </a:r>
          </a:p>
          <a:p>
            <a:r>
              <a:t>   Common vision use cases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KEY POINTS:</a:t>
            </a:r>
          </a:p>
          <a:p>
            <a:r>
              <a:t>   * Charts: 'Explain this graph' - Claude interprets trends</a:t>
            </a:r>
          </a:p>
          <a:p>
            <a:r>
              <a:t>   * Debugging: Screenshot error, Claude identifies issue</a:t>
            </a:r>
          </a:p>
          <a:p>
            <a:r>
              <a:t>   * Docs: Photo of whiteboard, Claude transcribes it</a:t>
            </a:r>
          </a:p>
          <a:p>
            <a:r>
              <a:t>   * Also: UI review, diagram explanation, photo analysis</a:t>
            </a:r>
          </a:p>
          <a:p>
            <a:endParaRPr/>
          </a:p>
          <a:p>
            <a:r>
              <a:t>ASK THE CLASS:</a:t>
            </a:r>
          </a:p>
          <a:p>
            <a:r>
              <a:t>   "What images or screenshots do you work with regularly?"</a:t>
            </a:r>
          </a:p>
          <a:p>
            <a:r>
              <a:t>   [PAUSE for 30-60 seconds]</a:t>
            </a:r>
          </a:p>
          <a:p>
            <a:endParaRPr/>
          </a:p>
          <a:p>
            <a:r>
              <a:t>TRANSITION:</a:t>
            </a:r>
          </a:p>
          <a:p>
            <a:r>
              <a:t>   Tips for working with images effectively</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KEY POINTS:</a:t>
            </a:r>
          </a:p>
          <a:p>
            <a:r>
              <a:t>   * Image capabilities: Describe content, Extract text (OCR), Analyze charts/diagrams, Compare images, Explain visual concepts</a:t>
            </a:r>
          </a:p>
          <a:p>
            <a:r>
              <a:t>   * Great for: UI/UX review, chart analysis, whiteboard photos, error screenshots</a:t>
            </a:r>
          </a:p>
          <a:p>
            <a:r>
              <a:t>   * Accuracy: Very good for printed text, charts. Less accurate for handwriting.</a:t>
            </a:r>
          </a:p>
          <a:p>
            <a:r>
              <a:t>   * Desktop app has screenshot capture built in (Win+Shift+S on Windows, Cmd+Shift+5 on Mac)</a:t>
            </a:r>
          </a:p>
          <a:p>
            <a:endParaRPr/>
          </a:p>
          <a:p>
            <a:r>
              <a:t>DEMO:</a:t>
            </a:r>
          </a:p>
          <a:p>
            <a:r>
              <a:t>   DEMO: Upload a screenshot of a dashboard or chart. Ask: 'What does this chart show?', 'Extract the text from this screenshot', 'Compare these two UI mockups'.</a:t>
            </a:r>
          </a:p>
          <a:p>
            <a:endParaRPr/>
          </a:p>
          <a:p>
            <a:r>
              <a:t>TRANSITION:</a:t>
            </a:r>
          </a:p>
          <a:p>
            <a:r>
              <a:t>   Best practices for file-based work</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Descriptive names: 'Q4_Report.pdf' better than 'Document1.pdf'</a:t>
            </a:r>
          </a:p>
          <a:p>
            <a:r>
              <a:t>   * Context: Don't just upload and say 'Analyze this' - specify WHAT to analyze</a:t>
            </a:r>
          </a:p>
          <a:p>
            <a:r>
              <a:t>   * Verification: Always spot-check extracted data for accuracy</a:t>
            </a:r>
          </a:p>
          <a:p>
            <a:r>
              <a:t>   * Security: Check your org's policy on uploading confidential files to AI</a:t>
            </a:r>
          </a:p>
          <a:p>
            <a:endParaRPr/>
          </a:p>
          <a:p>
            <a:r>
              <a:t>TRANSITION:</a:t>
            </a:r>
          </a:p>
          <a:p>
            <a:r>
              <a:t>   Time for hands-on practice - Lab 2</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Instead of uploading files, Claude can read directly from your tools</a:t>
            </a:r>
          </a:p>
          <a:p>
            <a:endParaRPr/>
          </a:p>
          <a:p>
            <a:r>
              <a:t>KEY POINTS:</a:t>
            </a:r>
          </a:p>
          <a:p>
            <a:r>
              <a:t>   * Integrations = Claude connects to external tools</a:t>
            </a:r>
          </a:p>
          <a:p>
            <a:r>
              <a:t>   * Currently: GitHub, Google Docs (more coming)</a:t>
            </a:r>
          </a:p>
          <a:p>
            <a:r>
              <a:t>   * No file upload needed - Claude reads directly</a:t>
            </a:r>
          </a:p>
          <a:p>
            <a:r>
              <a:t>   * Stays in sync with live data</a:t>
            </a:r>
          </a:p>
          <a:p>
            <a:endParaRPr/>
          </a:p>
          <a:p>
            <a:r>
              <a:t>REAL-WORLD EXAMPLE:</a:t>
            </a:r>
          </a:p>
          <a:p>
            <a:r>
              <a:t>   Ask 'Review my Google Doc proposal' - Claude opens it, reads it, suggests edits. No download/upload.</a:t>
            </a:r>
          </a:p>
          <a:p>
            <a:endParaRPr/>
          </a:p>
          <a:p>
            <a:r>
              <a:t>TRANSITION:</a:t>
            </a:r>
          </a:p>
          <a:p>
            <a:r>
              <a:t>   Let's look at each integration</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KEY POINTS:</a:t>
            </a:r>
          </a:p>
          <a:p>
            <a:r>
              <a:t>   * GitHub: For code review, repo analysis, PR feedback</a:t>
            </a:r>
          </a:p>
          <a:p>
            <a:r>
              <a:t>   * Google Docs: For document collaboration, editing, drafting</a:t>
            </a:r>
          </a:p>
          <a:p>
            <a:r>
              <a:t>   * Both: Real-time access (no stale copies)</a:t>
            </a:r>
          </a:p>
          <a:p>
            <a:r>
              <a:t>   * Enable in Settings &gt; Integrations</a:t>
            </a:r>
          </a:p>
          <a:p>
            <a:endParaRPr/>
          </a:p>
          <a:p>
            <a:r>
              <a:t>TRANSITION:</a:t>
            </a:r>
          </a:p>
          <a:p>
            <a:r>
              <a:t>   When to use integrations vs file upload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Integrations = live connection to source</a:t>
            </a:r>
          </a:p>
          <a:p>
            <a:r>
              <a:t>   * File upload = snapshot in time</a:t>
            </a:r>
          </a:p>
          <a:p>
            <a:r>
              <a:t>   * Can use both in same conversation</a:t>
            </a:r>
          </a:p>
          <a:p>
            <a:r>
              <a:t>   * More integrations coming (Slack, Notion, etc.)</a:t>
            </a:r>
          </a:p>
          <a:p>
            <a:endParaRPr/>
          </a:p>
          <a:p>
            <a:r>
              <a:t>TRANSITION:</a:t>
            </a:r>
          </a:p>
          <a:p>
            <a:r>
              <a:t>   Before the second lab, let's see role-specific workflows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Marketing: Research → Strategy → Content → Campaigns</a:t>
            </a:r>
          </a:p>
          <a:p>
            <a:r>
              <a:t>   * Claude helps at every step</a:t>
            </a:r>
          </a:p>
          <a:p>
            <a:r>
              <a:t>   * Use Projects for brand voice consistency</a:t>
            </a:r>
          </a:p>
          <a:p>
            <a:r>
              <a:t>   * Analysis tool for campaign performance data</a:t>
            </a:r>
          </a:p>
          <a:p>
            <a:endParaRPr/>
          </a:p>
          <a:p>
            <a:r>
              <a:t>REAL-WORLD EXAMPLE:</a:t>
            </a:r>
          </a:p>
          <a:p>
            <a:r>
              <a:t>   CMO uses Claude to analyze 10 competitor websites, draft positioning, create campaign in 30 min vs. 3 hours manually.</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KEY POINTS:</a:t>
            </a:r>
          </a:p>
          <a:p>
            <a:r>
              <a:t>   * Sales: Research → Personalization → Outreach → Follow-up</a:t>
            </a:r>
          </a:p>
          <a:p>
            <a:r>
              <a:t>   * Claude personalizes at scale</a:t>
            </a:r>
          </a:p>
          <a:p>
            <a:r>
              <a:t>   * Use Projects for product knowledge</a:t>
            </a:r>
          </a:p>
          <a:p>
            <a:r>
              <a:t>   * Vision for analyzing prospect websites</a:t>
            </a:r>
          </a:p>
          <a:p>
            <a:endParaRPr/>
          </a:p>
          <a:p>
            <a:r>
              <a:t>REAL-WORLD EXAMPLE:</a:t>
            </a:r>
          </a:p>
          <a:p>
            <a:r>
              <a:t>   Sales rep researches 20 prospects/day with Claude vs. 5 manually. Same quality, 4× faster.</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2 min</a:t>
            </a:r>
          </a:p>
          <a:p>
            <a:endParaRPr/>
          </a:p>
          <a:p>
            <a:r>
              <a:t>Let's take stock. Today we covered the Claude model family and when to use each tier. We navigated the Claude.ai interface, set up Projects with custom instructions, and configured your Personal Preferences. We practiced prompt engineering with the GOLDEN framework and saw how iteration produces consistently better results.</a:t>
            </a:r>
          </a:p>
          <a:p>
            <a:endParaRPr/>
          </a:p>
          <a:p>
            <a:r>
              <a:t>We explored Claude in Excel for formula assistance and data analysis. We built artifacts — documents, code, and diagrams that Claude creates as standalone deliverables. And we addressed the security and privacy model head-on, including the five objections your CISO will raise and the answers to each one.</a:t>
            </a:r>
          </a:p>
          <a:p>
            <a:endParaRPr/>
          </a:p>
          <a:p>
            <a:r>
              <a:t>You now have practical skills that 40 percent of the US workforce is learning right now. The difference? You learned them systematically, with frameworks, not through trial and error.</a:t>
            </a:r>
          </a:p>
          <a:p>
            <a:endParaRPr/>
          </a:p>
          <a:p>
            <a:r>
              <a:t>Remember the stat: 89 percent of leaders who implement AI properly agree it enhances rather than replaces employee skills. You're enhancing your skills today. Not being replaced by them.</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3 min</a:t>
            </a:r>
          </a:p>
          <a:p>
            <a:endParaRPr/>
          </a:p>
          <a:p>
            <a:r>
              <a:t>Let me leave you with the framing that matters.</a:t>
            </a:r>
          </a:p>
          <a:p>
            <a:endParaRPr/>
          </a:p>
          <a:p>
            <a:r>
              <a:t>95 percent of enterprise AI projects fail to reach production or deliver measurable ROI. That's MIT's 2025 finding from 150 leader interviews and 300 deployments. Global losses from failed AI projects hit $644 billion last year alone. Zillow's AI-powered home-buying algorithm cost them $500 million in losses and 25 percent of their workforce.</a:t>
            </a:r>
          </a:p>
          <a:p>
            <a:endParaRPr/>
          </a:p>
          <a:p>
            <a:r>
              <a:t>These projects don't fail because the technology doesn't work. They fail because of implementation. No clear business problem. Unrealistic timelines. Poor integration with existing workflows. Lack of governance.</a:t>
            </a:r>
          </a:p>
          <a:p>
            <a:endParaRPr/>
          </a:p>
          <a:p>
            <a:r>
              <a:t>Everything we covered today — the GOLDEN framework, Projects for organized context, Extended Thinking for complex analysis, the security model, the permission architecture — these are the implementation disciplines that separate the 5 percent who succeed from the 95 percent who don't.</a:t>
            </a:r>
          </a:p>
          <a:p>
            <a:endParaRPr/>
          </a:p>
          <a:p>
            <a:r>
              <a:t>75 percent of leaders who DO implement AI properly see positive ROI. 89 percent agree it enhances rather than replaces employee skills. The technology works. The question is whether you have the discipline to implement it right.</a:t>
            </a:r>
          </a:p>
          <a:p>
            <a:endParaRPr/>
          </a:p>
          <a:p>
            <a:r>
              <a:t>GitHub Copilot has a certification. It teaches you autocomplete. What we taught today — and what we'll go deeper on in Days 2 and 3 — covers autonomous agent development, memory architecture, multi-agent orchestration, and enterprise governance. Nobody else teaches this. You're in the 1 percent who will know how to actually use these tools.</a:t>
            </a:r>
          </a:p>
          <a:p>
            <a:endParaRPr/>
          </a:p>
          <a:p>
            <a:r>
              <a:t>SOURCES: MIT 2025 State of AI, Fortune, Pythian Enterprise Research, Wharton 2025 AI Report.</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KEY POINTS:</a:t>
            </a:r>
          </a:p>
          <a:p>
            <a:r>
              <a:t>   * docs.claude.com has comprehensive, always up-to-date documentation</a:t>
            </a:r>
          </a:p>
          <a:p>
            <a:r>
              <a:t>   * Support site has troubleshooting for common issues</a:t>
            </a:r>
          </a:p>
          <a:p>
            <a:r>
              <a:t>   * Blog (anthropic.com/news) has product announcements and case studies</a:t>
            </a:r>
          </a:p>
          <a:p>
            <a:r>
              <a:t>   * Trust Center has full security and compliance documentation</a:t>
            </a:r>
          </a:p>
          <a:p>
            <a:r>
              <a:t>   * Handouts: Take these with you for reference</a:t>
            </a:r>
          </a:p>
          <a:p>
            <a:endParaRPr/>
          </a:p>
          <a:p>
            <a:r>
              <a:t>TRANSITION:</a:t>
            </a:r>
          </a:p>
          <a:p>
            <a:r>
              <a:t>   Optional practice assignment for this week</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KEY POINTS:</a:t>
            </a:r>
          </a:p>
          <a:p>
            <a:r>
              <a:t>   * This is optional but highly recommended</a:t>
            </a:r>
          </a:p>
          <a:p>
            <a:r>
              <a:t>   * Real-world practice cements learning</a:t>
            </a:r>
          </a:p>
          <a:p>
            <a:r>
              <a:t>   * Start with low-stakes tasks</a:t>
            </a:r>
          </a:p>
          <a:p>
            <a:r>
              <a:t>   * Track time saved - you'll be surprised</a:t>
            </a:r>
          </a:p>
          <a:p>
            <a:r>
              <a:t>   * Share wins with your team</a:t>
            </a:r>
          </a:p>
          <a:p>
            <a:endParaRPr/>
          </a:p>
          <a:p>
            <a:r>
              <a:t>TRANSITION:</a:t>
            </a:r>
          </a:p>
          <a:p>
            <a:r>
              <a:t>   Q&amp;A time</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15-20 min</a:t>
            </a:r>
          </a:p>
          <a:p>
            <a:endParaRPr/>
          </a:p>
          <a:p>
            <a:r>
              <a:t>KEY POINTS:</a:t>
            </a:r>
          </a:p>
          <a:p>
            <a:r>
              <a:t>   * Open floor for any questions</a:t>
            </a:r>
          </a:p>
          <a:p>
            <a:r>
              <a:t>   * Common Q: Licensing - talk to your admin about Claude Enterprise</a:t>
            </a:r>
          </a:p>
          <a:p>
            <a:r>
              <a:t>   * Common Q: Security - Claude Enterprise has SOC2, HIPAA compliance options</a:t>
            </a:r>
          </a:p>
          <a:p>
            <a:r>
              <a:t>   * Common Q: vs Copilot - they complement each other, use both</a:t>
            </a:r>
          </a:p>
          <a:p>
            <a:r>
              <a:t>   * Share contact info for follow-up questions</a:t>
            </a:r>
          </a:p>
          <a:p>
            <a:endParaRPr/>
          </a:p>
          <a:p>
            <a:r>
              <a:t>TRANSITION:</a:t>
            </a:r>
          </a:p>
          <a:p>
            <a:r>
              <a:t>   Thank you!</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Let's take a tour of the Claude.ai interface. When you first log in, you'll see a clean, conversational layout. On the left side, you have your conversation sidebar — this is where all your past chats live, organized by recency. You can search through them, pin important ones, and organize them into projects.</a:t>
            </a:r>
          </a:p>
          <a:p/>
          <a:p>
            <a:r>
              <a:t>In the center is your main chat area. This is where the magic happens. You type your prompt at the bottom, and Claude's responses appear above. Notice the model selector in the top area — we'll talk more about model choices in Section 2, but for now just know you can switch between different Claude models depending on your task.</a:t>
            </a:r>
          </a:p>
          <a:p/>
          <a:p>
            <a:r>
              <a:t>At the top right, you'll see your account settings and the ability to start a new conversation. One thing I want to emphasize — each conversation in Claude maintains its full context. That means Claude remembers everything you've discussed within that conversation, which is incredibly powerful for iterative work.</a:t>
            </a:r>
          </a:p>
          <a:p/>
          <a:p>
            <a:r>
              <a:t>You'll also notice the artifacts panel on the right side. When Claude generates code, documents, or other structured content, it appears in this separate panel where you can view, copy, and download it. Think of it as Claude's workspace — we'll explore this extensively in Section 4.</a:t>
            </a:r>
          </a:p>
          <a:p/>
          <a:p>
            <a:r>
              <a:t>A few practical tips: Use the slash command menu by typing "/" in the chat box to access quick actions. You can drag and drop files directly into the chat — PDFs, images, spreadsheets, code files. Claude can process files up to 30 megabytes, and it handles most common business formats.</a:t>
            </a:r>
          </a:p>
          <a:p/>
          <a:p>
            <a:r>
              <a:t>For those of you on the Teams or Enterprise plan, you'll also see shared projects and team spaces in your sidebar. This is how organizations build shared prompt libraries and collaborative workflows.</a:t>
            </a:r>
          </a:p>
          <a:p/>
          <a:p>
            <a:r>
              <a:t>Let's move on and talk about the single most important skill for getting value from Claude — prompt engineering.</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10 minutes]</a:t>
            </a:r>
          </a:p>
          <a:p/>
          <a:p>
            <a:r>
              <a:t>Good work on that lab, everyone! Let's take a 10-minute break. Stretch, grab coffee, check your phones. We'll reconvene and dive into Section 2 — Models, Settings, and Projects.</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30 seconds]</a:t>
            </a:r>
          </a:p>
          <a:p/>
          <a:p>
            <a:r>
              <a:t>Welcome back! In this next section, we're going to look under the hood a bit. We'll cover the different Claude models and when to use each one, how to configure your settings for maximum productivity, and how to use Projects to organize your work. This is where Claude goes from being a chat tool to being your personalized AI workspace.</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Let's walk through setting up Claude for the first time — or more likely, optimizing your existing setup, since most of you probably already have accounts.</a:t>
            </a:r>
          </a:p>
          <a:p/>
          <a:p>
            <a:r>
              <a:t>First, navigate to your Settings. You'll find this by clicking your profile icon in the bottom-left corner. The settings panel has several tabs, and we're going to hit the important ones.</a:t>
            </a:r>
          </a:p>
          <a:p/>
          <a:p>
            <a:r>
              <a:t>Start with your Profile. Add your name and a profile picture if you want — this helps when you're on a Teams plan and collaborating with colleagues. Claude will also use your name in responses, which makes the interaction feel more natural.</a:t>
            </a:r>
          </a:p>
          <a:p/>
          <a:p>
            <a:r>
              <a:t>Next, check your Plan tab. You want to confirm you're on the right tier for your needs. Free users get limited messages per day with Sonnet. Pro users at twenty dollars per month get priority access, more messages, and access to all models including Opus. Teams plans add collaboration features and admin controls.</a:t>
            </a:r>
          </a:p>
          <a:p/>
          <a:p>
            <a:r>
              <a:t>Now here's the really important one — the Preferences tab. This is where you tell Claude about yourself, your work, and how you want it to communicate. Think of it as Claude's onboarding document about you. We're going to spend the next slide going deep on this because it's a game-changer.</a:t>
            </a:r>
          </a:p>
          <a:p/>
          <a:p>
            <a:r>
              <a:t>Under the Privacy tab, review your data settings. On the Pro plan, you can opt out of your conversations being used for model training. For enterprise users, this is off by default — your data is never used for training.</a:t>
            </a:r>
          </a:p>
          <a:p/>
          <a:p>
            <a:r>
              <a:t>Finally, check your Feature toggles. Make sure artifacts, analysis tool, and web search are enabled — we'll use all of these today. If you're on a plan that supports it, enable Claude's memory feature too.</a:t>
            </a:r>
          </a:p>
          <a:p/>
          <a:p>
            <a:r>
              <a:t>Take a minute to verify your settings match what's on screen. Then let's talk about writing great preferences.</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Your personal preferences are honestly one of the most underutilized features in Claude. When done well, they eliminate the need to repeat context in every single conversation. Let me show you what good preferences look like.</a:t>
            </a:r>
          </a:p>
          <a:p/>
          <a:p>
            <a:r>
              <a:t>A strong preferences document has three parts. First, who you are — your role, industry, and expertise level. Something like "I'm a marketing director at a mid-size B2B SaaS company. I have 10 years of experience but I'm not technical — explain code concepts in plain English."</a:t>
            </a:r>
          </a:p>
          <a:p/>
          <a:p>
            <a:r>
              <a:t>Second, how you want Claude to communicate. Be specific here. "Use concise, scannable formats with bullet points. Avoid corporate jargon. When I ask for a draft, give me something I can use with minimal editing — not a template full of brackets." The more specific you are, the less time you spend editing Claude's output.</a:t>
            </a:r>
          </a:p>
          <a:p/>
          <a:p>
            <a:r>
              <a:t>Third, context about your work. "Our key products are X, Y, and Z. Our target audience is enterprise IT buyers. We use HubSpot for marketing automation and Salesforce for CRM." This kind of context means Claude can give you relevant, specific answers instead of generic ones.</a:t>
            </a:r>
          </a:p>
          <a:p/>
          <a:p>
            <a:r>
              <a:t>Here's a real example that made a huge difference for one of my clients. Before preferences, they'd ask Claude to "write a blog post about cloud security" and get a generic 800-word piece. After adding detailed preferences about their company, audience, tone, and content standards, the same simple prompt produced a draft that was 90 percent ready to publish.</a:t>
            </a:r>
          </a:p>
          <a:p/>
          <a:p>
            <a:r>
              <a:t>A few tips: Keep it under 500 words — Claude reads the whole thing every conversation, so don't write a novel. Update it quarterly as your role or priorities change. And don't include sensitive data like passwords or API keys.</a:t>
            </a:r>
          </a:p>
          <a:p/>
          <a:p>
            <a:r>
              <a:t>Let's move on to a brand-new feature that takes personalization even further — Claude's Memory.</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This is one of the most exciting recent additions to Claude — Memory. This feature, which rolled out to Pro and Teams users, allows Claude to remember information across conversations. This is a fundamental shift from how AI assistants have traditionally worked.</a:t>
            </a:r>
          </a:p>
          <a:p/>
          <a:p>
            <a:r>
              <a:t>Here's how it works. As you chat with Claude, it can save key facts, preferences, and context to its memory. You can also explicitly tell Claude to "remember that our fiscal year starts in April" or "remember I prefer Python over JavaScript." These memories persist across all your future conversations.</a:t>
            </a:r>
          </a:p>
          <a:p/>
          <a:p>
            <a:r>
              <a:t>There are three ways to interact with Memory. First, you can search your past chats — Claude indexes your conversation history so you can find that analysis you did three weeks ago. Second, you can generate memories — Claude can proactively suggest things worth remembering based on your conversations. Third, you can view and edit your memories directly in Settings under the Memory tab.</a:t>
            </a:r>
          </a:p>
          <a:p/>
          <a:p>
            <a:r>
              <a:t>This is particularly powerful for ongoing projects. Imagine you're working on a quarterly business review over several days. With Memory, Claude remembers the data sources you're using, the format your CEO prefers, and the key metrics you've already analyzed. You don't have to re-explain any of that in each new conversation.</a:t>
            </a:r>
          </a:p>
          <a:p/>
          <a:p>
            <a:r>
              <a:t>A few important things to know. Memory is user-specific — your memories are yours alone, even on a Teams plan. You have full control — you can view, edit, or delete any memory at any time. And if you're having a sensitive conversation you don't want remembered, you can use Incognito mode, which we'll cover next.</a:t>
            </a:r>
          </a:p>
          <a:p/>
          <a:p>
            <a:r>
              <a:t>For business users, think of Memory as Claude building an increasingly accurate mental model of you and your work. The more you use it, the better it gets. After a few weeks of regular use, many users report that Claude feels less like a tool and more like a colleague who actually knows your business.</a:t>
            </a:r>
          </a:p>
          <a:p/>
          <a:p>
            <a:r>
              <a:t>Let's look at the full set of capability and privacy controls available to you.</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Let's do a quick tour of all the capability toggles and privacy controls you have access to. This is important because Claude's feature set is modular — you control what's on and what's off.</a:t>
            </a:r>
          </a:p>
          <a:p/>
          <a:p>
            <a:r>
              <a:t>Under Feature Controls, you'll find toggles for Artifacts — that's the side panel where Claude renders documents, code, and visualizations. Make sure this is on. Analysis Tool lets Claude write and execute Python code to analyze data, create charts, and do calculations. Definitely keep this on — we'll use it heavily in Section 3. Web Search allows Claude to search the internet for current information. This is invaluable for research tasks, competitive analysis, and anything where you need up-to-date data.</a:t>
            </a:r>
          </a:p>
          <a:p/>
          <a:p>
            <a:r>
              <a:t>Memory, which we just discussed, can be toggled on or off globally. When it's on, Claude saves context across conversations. When it's off, every conversation starts fresh with no memory of previous chats.</a:t>
            </a:r>
          </a:p>
          <a:p/>
          <a:p>
            <a:r>
              <a:t>Now for privacy controls — this is where it gets really important for business users. Incognito Chats allow you to have conversations that are not saved to your history and not used for any purpose beyond that session. Think of it as private browsing for AI. Use this for sensitive HR discussions, confidential financial analysis, or anything you don't want persisted.</a:t>
            </a:r>
          </a:p>
          <a:p/>
          <a:p>
            <a:r>
              <a:t>Training Data Opt-Out is available on Pro plans and above. When enabled, your conversations are never used to train or improve Anthropic's models. For Enterprise and Teams plans, this is the default — your data is completely siloed.</a:t>
            </a:r>
          </a:p>
          <a:p/>
          <a:p>
            <a:r>
              <a:t>I want to emphasize something — Anthropic has been a leader in AI safety and privacy. Unlike some competitors, they've built these controls in from day one, not as an afterthought. For regulated industries — healthcare, finance, legal — these controls are what make Claude viable for professional use.</a:t>
            </a:r>
          </a:p>
          <a:p/>
          <a:p>
            <a:r>
              <a:t>Take a moment to review your settings and make sure everything is configured the way you want. In our next lab, you'll formalize all of these choices.</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1 minute — then 45 minutes lab time]</a:t>
            </a:r>
          </a:p>
          <a:p/>
          <a:p>
            <a:r>
              <a:t>Time for Lab 2! This is your chance to build out your personalized Claude workspace. You have 45 minutes and two main tasks.</a:t>
            </a:r>
          </a:p>
          <a:p/>
          <a:p>
            <a:r>
              <a:t>First, configure your settings — go through every tab and optimize for your workflow. Second, write your personal preferences document using the framework we discussed. Third, create a project for your team or department and add relevant context.</a:t>
            </a:r>
          </a:p>
          <a:p/>
          <a:p>
            <a:r>
              <a:t>The lab handout has step-by-step instructions and example preferences for different roles. I'll be circulating to help. Take your time with the preferences — this investment pays dividends in every future conversation.</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60 minutes]</a:t>
            </a:r>
          </a:p>
          <a:p/>
          <a:p>
            <a:r>
              <a:t>Great work this morning, everyone! It's time for lunch. We'll take a full hour — please be back by the posted time. This afternoon we're getting into the really fun stuff: data analysis with Claude and the full integration ecosystem. See you soon!</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30 seconds]</a:t>
            </a:r>
          </a:p>
          <a:p/>
          <a:p>
            <a:r>
              <a:t>Welcome back from lunch! I hope you're re-energized because this section is where Claude really starts to flex its analytical muscles. We're going to cover how to write analysis-focused prompts, work with data in Claude, and then get hands-on with the Claude in Excel add-in. If you work with spreadsheets — and I know most of you do — this section is going to change your workflow.</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Now let's talk about something that gets a lot of people excited — Claude in Excel. This is an official add-in that brings Claude's intelligence directly into your spreadsheets, and it's a game-changer for anyone who lives in Excel.</a:t>
            </a:r>
          </a:p>
          <a:p/>
          <a:p>
            <a:r>
              <a:t>The add-in works through custom functions — you type them right into cells just like SUM or VLOOKUP. The primary function is CLAUDE, which sends a prompt and returns a response directly in the cell. You can reference other cells in your prompt, which means Claude can analyze your actual data in context.</a:t>
            </a:r>
          </a:p>
          <a:p/>
          <a:p>
            <a:r>
              <a:t>Here's a practical example. Say you have a column of customer feedback comments. In the next column, you could write =CLAUDE("Classify this feedback as positive, negative, or neutral: " &amp; A2) and drag it down. In seconds, you've categorized hundreds of comments — a task that might take an intern a full day.</a:t>
            </a:r>
          </a:p>
          <a:p/>
          <a:p>
            <a:r>
              <a:t>But it goes way beyond classification. You can use it for data extraction — pulling dates, names, or dollar amounts from unstructured text. You can use it for translation — converting a column of product descriptions into Spanish. You can even use it for generating formulas — describe what you want in plain English and Claude writes the Excel formula.</a:t>
            </a:r>
          </a:p>
          <a:p/>
          <a:p>
            <a:r>
              <a:t>The add-in supports batch processing, so you can run Claude across thousands of rows. It uses your existing Claude API key, so pricing is based on token usage — typically fractions of a cent per cell. For most business use cases, you're looking at a few dollars to process an entire spreadsheet.</a:t>
            </a:r>
          </a:p>
          <a:p/>
          <a:p>
            <a:r>
              <a:t>Installation is straightforward — it's available in the Microsoft Office Add-ins store. Search for "Claude for Excel," install it, enter your API key, and you're ready to go. We'll walk through the setup in the lab if you haven't done it yet.</a:t>
            </a:r>
          </a:p>
          <a:p/>
          <a:p>
            <a:r>
              <a:t>One important note: the data you send through the add-in goes to Anthropic's API. Make sure your organization's data policies allow this before processing sensitive information. Enterprise customers can route through their own API endpoints for additional security.</a:t>
            </a:r>
          </a:p>
          <a:p/>
          <a:p>
            <a:r>
              <a:t>Let's look at some more advanced use cases before we hit the lab.</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1 minute — then 30 minutes lab time]</a:t>
            </a:r>
          </a:p>
          <a:p/>
          <a:p>
            <a:r>
              <a:t>Lab 3 time! This is a 30-minute data analysis challenge. You'll be working with a Q4 sales dataset — it's in your lab materials folder.</a:t>
            </a:r>
          </a:p>
          <a:p/>
          <a:p>
            <a:r>
              <a:t>Your mission: use Claude to analyze the data, identify trends, and create visualizations. The lab has specific questions to answer, but feel free to explore beyond those. Use the analysis tool in Claude.ai, and if you've set up the Excel add-in, try processing some of the data there too.</a:t>
            </a:r>
          </a:p>
          <a:p/>
          <a:p>
            <a:r>
              <a:t>This is the most open-ended lab so far — show me what you can do. I'll be around to help.</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10 minutes]</a:t>
            </a:r>
          </a:p>
          <a:p/>
          <a:p>
            <a:r>
              <a:t>Nice work on that analysis challenge — I saw some really impressive visualizations! Let's take a 10-minute break, and then we'll wrap up the day with Section 4: Artifacts, Files, and Integrations.</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30 seconds]</a:t>
            </a:r>
          </a:p>
          <a:p/>
          <a:p>
            <a:r>
              <a:t>Alright, final section of the day! We're going to cover Claude's artifact system for creating and managing documents, how to work with files effectively, and then explore the growing ecosystem of Claude integrations — including some brand-new features that just launched. This section shows you how Claude fits into your broader workflow, not just as a standalone tool.</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Let's start with Artifacts and file handling — this is one of Claude's most powerful and most underappreciated features.</a:t>
            </a:r>
          </a:p>
          <a:p/>
          <a:p>
            <a:r>
              <a:t>Artifacts are the documents, code, visualizations, and other structured content that Claude creates in the side panel during your conversations. What makes them special is that they're not just text responses — they're interactive, editable, and downloadable objects.</a:t>
            </a:r>
          </a:p>
          <a:p/>
          <a:p>
            <a:r>
              <a:t>When Claude generates a report, it appears as an artifact you can scroll through, edit inline, and download as a clean document. When it writes code, the artifact includes syntax highlighting and a copy button. When it creates a chart or diagram, you see a rendered visualization you can export.</a:t>
            </a:r>
          </a:p>
          <a:p/>
          <a:p>
            <a:r>
              <a:t>Here's where it gets really useful for business workflows. You can iterate on artifacts across multiple messages. Ask Claude to write a project proposal, then say "make the executive summary more concise" or "add a risk assessment section." Claude modifies the existing artifact rather than generating a whole new document. It's like collaborative editing with an AI partner.</a:t>
            </a:r>
          </a:p>
          <a:p/>
          <a:p>
            <a:r>
              <a:t>For file handling, Claude accepts a wide range of formats — PDF, Word, Excel, PowerPoint, images, CSV, code files, and more. You can upload multiple files in a single conversation, and Claude can cross-reference between them. Imagine uploading last quarter's financial report and this quarter's data and asking Claude to compare performance across the same metrics.</a:t>
            </a:r>
          </a:p>
          <a:p/>
          <a:p>
            <a:r>
              <a:t>A few power-user tips: When working with long documents, ask Claude to summarize first, then drill into specific sections. For spreadsheets, Claude can read the data and create visualizations using the analysis tool. For images, Claude has strong vision capabilities — it can read charts, interpret diagrams, and even extract text from photos of whiteboards.</a:t>
            </a:r>
          </a:p>
          <a:p/>
          <a:p>
            <a:r>
              <a:t>The combination of artifacts and file handling means Claude can serve as your document creation hub — from first draft through final polish. Let's now look at how Claude connects to your other tools.</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3 minutes]</a:t>
            </a:r>
          </a:p>
          <a:p/>
          <a:p>
            <a:r>
              <a:t>Now we're entering one of the fastest-evolving areas of Claude's ecosystem — integrations. Over the past year, Anthropic has been rapidly building out ways to connect Claude with the tools you already use every day.</a:t>
            </a:r>
          </a:p>
          <a:p/>
          <a:p>
            <a:r>
              <a:t>This matters because the real power of AI isn't in a standalone chat window — it's in having AI woven into your existing workflows. When Claude can read your Slack messages, access your Notion docs, check your Jira tickets, and pull from your Google Drive, it goes from being a helpful assistant to being a true work multiplier.</a:t>
            </a:r>
          </a:p>
          <a:p/>
          <a:p>
            <a:r>
              <a:t>We're going to cover three categories of integrations. First, the built-in integrations — Claude in Excel and Claude in PowerPoint, which are official add-ins built by Anthropic. Second, the Claude for Chrome browser extension, which brings Claude to every website you visit. And third, custom connectors through the integrations panel and MCP protocol, which let you connect Claude to virtually any tool.</a:t>
            </a:r>
          </a:p>
          <a:p/>
          <a:p>
            <a:r>
              <a:t>Each of these represents a different way of thinking about AI integration. The add-ins bring Claude into your existing tools. The browser extension brings Claude to the web. And custom connectors bring your tools to Claude. Together, they create a comprehensive AI layer across your entire work environment.</a:t>
            </a:r>
          </a:p>
          <a:p/>
          <a:p>
            <a:r>
              <a:t>Let me walk you through each one, starting with the newest addition.</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This is hot off the press — Claude in PowerPoint launched as a research preview on February 5th, just eleven days ago. It runs on Opus 4.6, Anthropic's most capable model, and it's genuinely impressive.</a:t>
            </a:r>
          </a:p>
          <a:p/>
          <a:p>
            <a:r>
              <a:t>Here's what it can do. You can ask Claude to build entire presentations from scratch — give it a topic, an audience, and a desired length, and it creates slides with appropriate layouts, content hierarchy, and even speaker notes. You can edit existing presentations — "make slide 7 more visual" or "add a competitive analysis slide after the market overview." And you can analyze presentations — upload a deck and ask Claude to critique the flow, check for consistency, or suggest improvements.</a:t>
            </a:r>
          </a:p>
          <a:p/>
          <a:p>
            <a:r>
              <a:t>The PowerPoint add-in works similarly to the Excel one — it lives in your ribbon and opens a side panel. But the interaction model is more conversational. You describe what you want in natural language, and Claude manipulates the slides directly. It understands PowerPoint's structure — masters, layouts, placeholders, animations — so the output looks professional, not like a robot threw text on blank slides.</a:t>
            </a:r>
          </a:p>
          <a:p/>
          <a:p>
            <a:r>
              <a:t>A few things that really stand out. First, Claude can maintain your organization's visual branding. If your template has specific fonts, colors, and layouts, Claude works within those constraints. Second, it can convert documents to presentations — give it a Word doc or PDF and say "turn this into a 10-slide executive briefing." Third, it can add and refine speaker notes, which is incredibly useful for presentation prep.</a:t>
            </a:r>
          </a:p>
          <a:p/>
          <a:p>
            <a:r>
              <a:t>Since this is a research preview, expect some rough edges. Complex animations and custom graphics are still limited. But for the core use case of building and editing business presentations, it's already remarkably capable. I've been using it for this very course, and it's saved me hours.</a:t>
            </a:r>
          </a:p>
          <a:p/>
          <a:p>
            <a:r>
              <a:t>If you want early access, check the Anthropic website — they're rolling it out to Pro and Teams users over the next few weeks.</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Claude for Chrome is a browser extension that puts Claude in a side panel on every webpage you visit. And this one is a real productivity booster.</a:t>
            </a:r>
          </a:p>
          <a:p/>
          <a:p>
            <a:r>
              <a:t>When you install the extension, you get a Claude icon in your browser toolbar. Click it, and a panel slides out on the right side of your screen. Here's what makes it special — Claude can see your current page. It has context about what you're looking at, which means you can have conversations about the content right there.</a:t>
            </a:r>
          </a:p>
          <a:p/>
          <a:p>
            <a:r>
              <a:t>Reading a long article? Ask Claude to summarize it. On a competitor's pricing page? Ask Claude to compare it to yours. Reviewing a pull request on GitHub? Ask Claude to explain the code changes. Looking at a complex dashboard? Ask Claude to interpret the data. The use cases are endless because the web is where we spend most of our work time.</a:t>
            </a:r>
          </a:p>
          <a:p/>
          <a:p>
            <a:r>
              <a:t>But it goes beyond just reading pages. Claude for Chrome can automate workflows. It can fill out forms, extract data from tables, and even navigate between pages to complete multi-step tasks. Think of it as a smart assistant that can both see your screen and take actions on your behalf.</a:t>
            </a:r>
          </a:p>
          <a:p/>
          <a:p>
            <a:r>
              <a:t>For business users, some killer use cases include: research synthesis — open five competitor websites and ask Claude to build a comparison matrix. Email drafting — open Gmail and have Claude draft responses based on the email thread. Data entry — have Claude read information from one system and help you enter it into another.</a:t>
            </a:r>
          </a:p>
          <a:p/>
          <a:p>
            <a:r>
              <a:t>The extension respects your privacy settings — it only reads pages when you explicitly invoke it, and it uses your existing Claude account and model preferences. For enterprise users, all data flows through your organization's existing Claude agreement.</a:t>
            </a:r>
          </a:p>
          <a:p/>
          <a:p>
            <a:r>
              <a:t>One tip: pin the extension to your toolbar for quick access. You'll find yourself using it dozens of times a day once you build the habit.</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5 minutes]</a:t>
            </a:r>
          </a:p>
          <a:p/>
          <a:p>
            <a:r>
              <a:t>Now let's talk about connecting Claude to your broader tool ecosystem. There are two main approaches here, and both are powerful.</a:t>
            </a:r>
          </a:p>
          <a:p/>
          <a:p>
            <a:r>
              <a:t>First, the built-in Integrations panel. In Claude's settings, you'll find a section called Integrations where you can connect popular business tools directly. As of today, supported integrations include Slack, Google Drive, Notion, Jira, Confluence, and several others. Once connected, Claude can pull information from these tools directly in your conversations.</a:t>
            </a:r>
          </a:p>
          <a:p/>
          <a:p>
            <a:r>
              <a:t>For example, connect Google Drive and you can say "summarize the Q4 planning doc in my Drive." Connect Jira and you can say "what are the open bugs assigned to my team?" Connect Slack and you can say "what did the marketing channel discuss yesterday?" Claude fetches the relevant information and incorporates it into its responses.</a:t>
            </a:r>
          </a:p>
          <a:p/>
          <a:p>
            <a:r>
              <a:t>Setting these up is straightforward — click the integration, authorize with your existing account credentials, and Claude handles the rest. Your IT admin may need to approve certain integrations on Teams and Enterprise plans.</a:t>
            </a:r>
          </a:p>
          <a:p/>
          <a:p>
            <a:r>
              <a:t>The second approach is MCP — the Model Context Protocol. This is Anthropic's open standard for connecting AI models to external tools and data sources. Think of MCP as a universal adapter — it provides a standardized way for Claude to talk to any system, whether it's your internal database, a custom API, or a specialized business application.</a:t>
            </a:r>
          </a:p>
          <a:p/>
          <a:p>
            <a:r>
              <a:t>For non-technical users, MCP means your IT team can build custom connectors that let Claude access company-specific tools. For example, a connector to your proprietary CRM, your internal knowledge base, or your custom reporting system. Once built, you use these connectors just like the built-in ones — natural language requests, and Claude does the rest.</a:t>
            </a:r>
          </a:p>
          <a:p/>
          <a:p>
            <a:r>
              <a:t>The key takeaway here is that Claude isn't a walled garden. It's designed to be the AI layer that sits on top of your entire tool stack. The more you connect, the more useful it becomes.</a:t>
            </a:r>
          </a:p>
        </p:txBody>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3 minutes]</a:t>
            </a:r>
          </a:p>
          <a:p/>
          <a:p>
            <a:r>
              <a:t>Now that we've seen all the ways Claude can integrate into your workflow, let's look at how different roles can put this all together. Because the real magic happens when you combine multiple capabilities for your specific job function.</a:t>
            </a:r>
          </a:p>
          <a:p/>
          <a:p>
            <a:r>
              <a:t>For marketing professionals, imagine this workflow: You use Claude for Chrome to research competitor campaigns, feed that research into a Claude conversation where you brainstorm positioning, use artifacts to draft campaign copy, and then use the PowerPoint add-in to build the pitch deck for your stakeholders. That entire workflow — research, strategy, content creation, and presentation — used to take a week. With Claude integrated across your tools, it's an afternoon.</a:t>
            </a:r>
          </a:p>
          <a:p/>
          <a:p>
            <a:r>
              <a:t>For sales teams, consider this: Claude reads your CRM data through integrations, analyzes deal pipeline trends using the analysis tool, drafts personalized outreach emails based on prospect research from the Chrome extension, and creates proposal decks in PowerPoint. Your sales reps spend less time on admin and more time actually selling.</a:t>
            </a:r>
          </a:p>
          <a:p/>
          <a:p>
            <a:r>
              <a:t>For project managers, Claude connects to Jira for task tracking, reads Confluence for project documentation, monitors Slack for team updates, and synthesizes all of that into status reports and risk assessments that you can share with leadership.</a:t>
            </a:r>
          </a:p>
          <a:p/>
          <a:p>
            <a:r>
              <a:t>The pattern is the same regardless of your role: connect your data sources, leverage Claude's analytical and creative capabilities, and output directly into the tools where work gets done. Over the next few slides, we'll look at specific workflow examples you can adapt.</a:t>
            </a:r>
          </a:p>
          <a:p/>
          <a:p>
            <a:r>
              <a:t>Now let's put all of this into practice with our final lab.</a:t>
            </a:r>
          </a:p>
        </p:txBody>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1 minute — then 30 minutes lab time]</a:t>
            </a:r>
          </a:p>
          <a:p/>
          <a:p>
            <a:r>
              <a:t>This is our capstone lab — the Executive Briefing Challenge. You have 30 minutes to create a complete executive briefing using everything we've covered today.</a:t>
            </a:r>
          </a:p>
          <a:p/>
          <a:p>
            <a:r>
              <a:t>You'll find the scenario in your lab handout — you're preparing a briefing for your company's leadership team on a strategic topic. Use prompt engineering best practices, leverage artifacts for document creation, and if time allows, build a short slide deck using the PowerPoint add-in.</a:t>
            </a:r>
          </a:p>
          <a:p/>
          <a:p>
            <a:r>
              <a:t>This is your chance to show off. Combine techniques, iterate on your outputs, and produce something you'd actually be proud to present. I'll share standout examples at the end.</a:t>
            </a:r>
          </a:p>
        </p:txBody>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[DURATION: 10 minutes]</a:t>
            </a:r>
          </a:p>
          <a:p/>
          <a:p>
            <a:r>
              <a:t>And that's a wrap on Day 1! Let's take a moment to reflect on what we covered today.</a:t>
            </a:r>
          </a:p>
          <a:p/>
          <a:p>
            <a:r>
              <a:t>In Section 1, you learned the fundamentals of the Claude interface and prompt engineering — how to communicate with AI effectively. In Section 2, you configured your personal workspace with settings, preferences, and projects. In Section 3, you tackled data analysis and saw how Claude can be a powerful analytical partner, especially with the Excel add-in. And in Section 4, you explored the integration ecosystem — PowerPoint, Chrome, custom connectors — and saw how Claude fits into your broader workflow.</a:t>
            </a:r>
          </a:p>
          <a:p/>
          <a:p>
            <a:r>
              <a:t>Here are my three key takeaways for you. First, prompting is a skill — and like any skill, it improves with practice. Use the frameworks we covered, but don't be afraid to experiment. Second, invest in your setup — those preferences, projects, and memory features compound over time. Ten minutes of configuration now saves hours down the road. Third, think in workflows, not just chats — the real power comes from connecting Claude to your existing tools and processes.</a:t>
            </a:r>
          </a:p>
          <a:p/>
          <a:p>
            <a:r>
              <a:t>For homework — yes, there's homework — I want you to identify one recurring task in your work that takes more than 30 minutes, and try using Claude to cut that time in half. Come to Day 2 ready to share what you tried and what you learned.</a:t>
            </a:r>
          </a:p>
          <a:p/>
          <a:p>
            <a:r>
              <a:t>Day 2 will build on everything from today. We'll go deeper into advanced techniques, explore Claude for teams and organizations, and tackle more complex real-world scenarios.</a:t>
            </a:r>
          </a:p>
          <a:p/>
          <a:p>
            <a:r>
              <a:t>Any questions before we wrap up? I'll stick around for a few minutes if anyone wants to chat one-on-one. Thank you all for your energy and participation today — see you tomorrow!</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Claude for Business</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Today's Agenda</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645920"/>
            <a:ext cx="5135727" cy="640080"/>
          </a:xfrm>
          <a:prstGeom prst="rect">
            <a:avLst/>
          </a:prstGeom>
          <a:noFill/>
        </p:spPr>
        <p:txBody>
          <a:bodyPr wrap="none" anchor="ctr">
            <a:spAutoFit/>
          </a:bodyPr>
          <a:lstStyle/>
          <a:p>
            <a:pPr>
              <a:defRPr sz="1800" b="1">
                <a:solidFill>
                  <a:srgbClr val="0B0F1A"/>
                </a:solidFill>
              </a:defRPr>
            </a:pPr>
            <a:r>
              <a:t>Morning  (9:00 AM - 12:00 PM)</a:t>
            </a:r>
          </a:p>
        </p:txBody>
      </p:sp>
      <p:sp>
        <p:nvSpPr>
          <p:cNvPr id="6" name="Rectangle 5"/>
          <p:cNvSpPr/>
          <p:nvPr/>
        </p:nvSpPr>
        <p:spPr>
          <a:xfrm>
            <a:off x="457200"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468880"/>
            <a:ext cx="4221327" cy="502920"/>
          </a:xfrm>
          <a:prstGeom prst="rect">
            <a:avLst/>
          </a:prstGeom>
          <a:noFill/>
        </p:spPr>
        <p:txBody>
          <a:bodyPr wrap="square" anchor="ctr">
            <a:spAutoFit/>
          </a:bodyPr>
          <a:lstStyle/>
          <a:p>
            <a:pPr>
              <a:defRPr sz="1600">
                <a:solidFill>
                  <a:srgbClr val="FFFFFF"/>
                </a:solidFill>
              </a:defRPr>
            </a:pPr>
            <a:r>
              <a:t>Claude Interface</a:t>
            </a:r>
          </a:p>
        </p:txBody>
      </p:sp>
      <p:sp>
        <p:nvSpPr>
          <p:cNvPr id="8" name="Rounded Rectangle 7"/>
          <p:cNvSpPr/>
          <p:nvPr/>
        </p:nvSpPr>
        <p:spPr>
          <a:xfrm>
            <a:off x="4815687"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5687" y="256032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10" name="TextBox 9"/>
          <p:cNvSpPr txBox="1"/>
          <p:nvPr/>
        </p:nvSpPr>
        <p:spPr>
          <a:xfrm>
            <a:off x="594360" y="2971800"/>
            <a:ext cx="4221327" cy="502920"/>
          </a:xfrm>
          <a:prstGeom prst="rect">
            <a:avLst/>
          </a:prstGeom>
          <a:noFill/>
        </p:spPr>
        <p:txBody>
          <a:bodyPr wrap="square" anchor="ctr">
            <a:spAutoFit/>
          </a:bodyPr>
          <a:lstStyle/>
          <a:p>
            <a:pPr>
              <a:defRPr sz="1600">
                <a:solidFill>
                  <a:srgbClr val="FFFFFF"/>
                </a:solidFill>
              </a:defRPr>
            </a:pPr>
            <a:r>
              <a:rPr dirty="0"/>
              <a:t>Prompt Engineering &amp; Lab 1</a:t>
            </a:r>
          </a:p>
        </p:txBody>
      </p:sp>
      <p:sp>
        <p:nvSpPr>
          <p:cNvPr id="11" name="Rounded Rectangle 10"/>
          <p:cNvSpPr/>
          <p:nvPr/>
        </p:nvSpPr>
        <p:spPr>
          <a:xfrm>
            <a:off x="4815687"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15687" y="3063240"/>
            <a:ext cx="914400" cy="320040"/>
          </a:xfrm>
          <a:prstGeom prst="rect">
            <a:avLst/>
          </a:prstGeom>
          <a:noFill/>
        </p:spPr>
        <p:txBody>
          <a:bodyPr wrap="none" anchor="ctr">
            <a:spAutoFit/>
          </a:bodyPr>
          <a:lstStyle/>
          <a:p>
            <a:pPr algn="ctr">
              <a:defRPr sz="1300" b="1">
                <a:solidFill>
                  <a:srgbClr val="00D4AA"/>
                </a:solidFill>
              </a:defRPr>
            </a:pPr>
            <a:r>
              <a:t>60 min</a:t>
            </a:r>
          </a:p>
        </p:txBody>
      </p:sp>
      <p:sp>
        <p:nvSpPr>
          <p:cNvPr id="13" name="Rectangle 12"/>
          <p:cNvSpPr/>
          <p:nvPr/>
        </p:nvSpPr>
        <p:spPr>
          <a:xfrm>
            <a:off x="457200"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347472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15" name="Rounded Rectangle 14"/>
          <p:cNvSpPr/>
          <p:nvPr/>
        </p:nvSpPr>
        <p:spPr>
          <a:xfrm>
            <a:off x="4815687" y="356616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15687" y="356616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17" name="TextBox 16"/>
          <p:cNvSpPr txBox="1"/>
          <p:nvPr/>
        </p:nvSpPr>
        <p:spPr>
          <a:xfrm>
            <a:off x="594360" y="3977640"/>
            <a:ext cx="4221327" cy="502920"/>
          </a:xfrm>
          <a:prstGeom prst="rect">
            <a:avLst/>
          </a:prstGeom>
          <a:noFill/>
        </p:spPr>
        <p:txBody>
          <a:bodyPr wrap="square" anchor="ctr">
            <a:spAutoFit/>
          </a:bodyPr>
          <a:lstStyle/>
          <a:p>
            <a:pPr>
              <a:defRPr sz="1600">
                <a:solidFill>
                  <a:srgbClr val="FFFFFF"/>
                </a:solidFill>
              </a:defRPr>
            </a:pPr>
            <a:r>
              <a:t>Claude Settings</a:t>
            </a:r>
          </a:p>
        </p:txBody>
      </p:sp>
      <p:sp>
        <p:nvSpPr>
          <p:cNvPr id="18" name="Rounded Rectangle 17"/>
          <p:cNvSpPr/>
          <p:nvPr/>
        </p:nvSpPr>
        <p:spPr>
          <a:xfrm>
            <a:off x="4815687"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15687" y="406908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20" name="Rectangle 19"/>
          <p:cNvSpPr/>
          <p:nvPr/>
        </p:nvSpPr>
        <p:spPr>
          <a:xfrm>
            <a:off x="457200" y="448056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4480560"/>
            <a:ext cx="4221327" cy="502920"/>
          </a:xfrm>
          <a:prstGeom prst="rect">
            <a:avLst/>
          </a:prstGeom>
          <a:noFill/>
        </p:spPr>
        <p:txBody>
          <a:bodyPr wrap="square" anchor="ctr">
            <a:spAutoFit/>
          </a:bodyPr>
          <a:lstStyle/>
          <a:p>
            <a:pPr>
              <a:defRPr sz="1600">
                <a:solidFill>
                  <a:srgbClr val="FFFFFF"/>
                </a:solidFill>
              </a:defRPr>
            </a:pPr>
            <a:r>
              <a:t>Projects &amp; Lab 2</a:t>
            </a:r>
          </a:p>
        </p:txBody>
      </p:sp>
      <p:sp>
        <p:nvSpPr>
          <p:cNvPr id="22" name="Rounded Rectangle 21"/>
          <p:cNvSpPr/>
          <p:nvPr/>
        </p:nvSpPr>
        <p:spPr>
          <a:xfrm>
            <a:off x="4815687" y="457200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15687" y="457200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24" name="Rounded Rectangle 23"/>
          <p:cNvSpPr/>
          <p:nvPr/>
        </p:nvSpPr>
        <p:spPr>
          <a:xfrm>
            <a:off x="6324447"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61607" y="1645920"/>
            <a:ext cx="5135727" cy="640080"/>
          </a:xfrm>
          <a:prstGeom prst="rect">
            <a:avLst/>
          </a:prstGeom>
          <a:noFill/>
        </p:spPr>
        <p:txBody>
          <a:bodyPr wrap="none" anchor="ctr">
            <a:spAutoFit/>
          </a:bodyPr>
          <a:lstStyle/>
          <a:p>
            <a:pPr>
              <a:defRPr sz="1800" b="1">
                <a:solidFill>
                  <a:srgbClr val="0B0F1A"/>
                </a:solidFill>
              </a:defRPr>
            </a:pPr>
            <a:r>
              <a:t>Afternoon  (1:00 PM - 4:00 PM)</a:t>
            </a:r>
          </a:p>
        </p:txBody>
      </p:sp>
      <p:sp>
        <p:nvSpPr>
          <p:cNvPr id="26" name="Rectangle 25"/>
          <p:cNvSpPr/>
          <p:nvPr/>
        </p:nvSpPr>
        <p:spPr>
          <a:xfrm>
            <a:off x="6324447"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61607" y="2468880"/>
            <a:ext cx="4221327" cy="502920"/>
          </a:xfrm>
          <a:prstGeom prst="rect">
            <a:avLst/>
          </a:prstGeom>
          <a:noFill/>
        </p:spPr>
        <p:txBody>
          <a:bodyPr wrap="square" anchor="ctr">
            <a:spAutoFit/>
          </a:bodyPr>
          <a:lstStyle/>
          <a:p>
            <a:pPr>
              <a:defRPr sz="1600">
                <a:solidFill>
                  <a:srgbClr val="FFFFFF"/>
                </a:solidFill>
              </a:defRPr>
            </a:pPr>
            <a:r>
              <a:t>Analysis Prompts &amp; Claude in Excel</a:t>
            </a:r>
          </a:p>
        </p:txBody>
      </p:sp>
      <p:sp>
        <p:nvSpPr>
          <p:cNvPr id="28" name="Rounded Rectangle 27"/>
          <p:cNvSpPr/>
          <p:nvPr/>
        </p:nvSpPr>
        <p:spPr>
          <a:xfrm>
            <a:off x="10682935"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82935" y="256032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30" name="TextBox 29"/>
          <p:cNvSpPr txBox="1"/>
          <p:nvPr/>
        </p:nvSpPr>
        <p:spPr>
          <a:xfrm>
            <a:off x="6461607" y="2971800"/>
            <a:ext cx="4221327" cy="502920"/>
          </a:xfrm>
          <a:prstGeom prst="rect">
            <a:avLst/>
          </a:prstGeom>
          <a:noFill/>
        </p:spPr>
        <p:txBody>
          <a:bodyPr wrap="square" anchor="ctr">
            <a:spAutoFit/>
          </a:bodyPr>
          <a:lstStyle/>
          <a:p>
            <a:pPr>
              <a:defRPr sz="1600">
                <a:solidFill>
                  <a:srgbClr val="FFFFFF"/>
                </a:solidFill>
              </a:defRPr>
            </a:pPr>
            <a:r>
              <a:t>Lab 3</a:t>
            </a:r>
          </a:p>
        </p:txBody>
      </p:sp>
      <p:sp>
        <p:nvSpPr>
          <p:cNvPr id="31" name="Rounded Rectangle 30"/>
          <p:cNvSpPr/>
          <p:nvPr/>
        </p:nvSpPr>
        <p:spPr>
          <a:xfrm>
            <a:off x="10682935"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682935" y="306324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33" name="Rectangle 32"/>
          <p:cNvSpPr/>
          <p:nvPr/>
        </p:nvSpPr>
        <p:spPr>
          <a:xfrm>
            <a:off x="6324447"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61607" y="347472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35" name="Rounded Rectangle 34"/>
          <p:cNvSpPr/>
          <p:nvPr/>
        </p:nvSpPr>
        <p:spPr>
          <a:xfrm>
            <a:off x="10682935" y="356616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682935" y="356616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37" name="TextBox 36"/>
          <p:cNvSpPr txBox="1"/>
          <p:nvPr/>
        </p:nvSpPr>
        <p:spPr>
          <a:xfrm>
            <a:off x="6461607" y="3977640"/>
            <a:ext cx="4221327" cy="502920"/>
          </a:xfrm>
          <a:prstGeom prst="rect">
            <a:avLst/>
          </a:prstGeom>
          <a:noFill/>
        </p:spPr>
        <p:txBody>
          <a:bodyPr wrap="square" anchor="ctr">
            <a:spAutoFit/>
          </a:bodyPr>
          <a:lstStyle/>
          <a:p>
            <a:pPr>
              <a:defRPr sz="1600">
                <a:solidFill>
                  <a:srgbClr val="FFFFFF"/>
                </a:solidFill>
              </a:defRPr>
            </a:pPr>
            <a:r>
              <a:t>Artifacts &amp; Files</a:t>
            </a:r>
          </a:p>
        </p:txBody>
      </p:sp>
      <p:sp>
        <p:nvSpPr>
          <p:cNvPr id="38" name="Rounded Rectangle 37"/>
          <p:cNvSpPr/>
          <p:nvPr/>
        </p:nvSpPr>
        <p:spPr>
          <a:xfrm>
            <a:off x="10682935"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682935" y="406908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40" name="Rectangle 39"/>
          <p:cNvSpPr/>
          <p:nvPr/>
        </p:nvSpPr>
        <p:spPr>
          <a:xfrm>
            <a:off x="6324447" y="448056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61607" y="4480560"/>
            <a:ext cx="4221327" cy="502920"/>
          </a:xfrm>
          <a:prstGeom prst="rect">
            <a:avLst/>
          </a:prstGeom>
          <a:noFill/>
        </p:spPr>
        <p:txBody>
          <a:bodyPr wrap="square" anchor="ctr">
            <a:spAutoFit/>
          </a:bodyPr>
          <a:lstStyle/>
          <a:p>
            <a:pPr>
              <a:defRPr sz="1600">
                <a:solidFill>
                  <a:srgbClr val="FFFFFF"/>
                </a:solidFill>
              </a:defRPr>
            </a:pPr>
            <a:r>
              <a:t>Lab 4, Wrap-up &amp; Q&amp;A</a:t>
            </a:r>
          </a:p>
        </p:txBody>
      </p:sp>
      <p:sp>
        <p:nvSpPr>
          <p:cNvPr id="42" name="Rounded Rectangle 41"/>
          <p:cNvSpPr/>
          <p:nvPr/>
        </p:nvSpPr>
        <p:spPr>
          <a:xfrm>
            <a:off x="10682935" y="457200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82935" y="4572000"/>
            <a:ext cx="914400" cy="320040"/>
          </a:xfrm>
          <a:prstGeom prst="rect">
            <a:avLst/>
          </a:prstGeom>
          <a:noFill/>
        </p:spPr>
        <p:txBody>
          <a:bodyPr wrap="none" anchor="ctr">
            <a:spAutoFit/>
          </a:bodyPr>
          <a:lstStyle/>
          <a:p>
            <a:pPr algn="ctr">
              <a:defRPr sz="1300" b="1">
                <a:solidFill>
                  <a:srgbClr val="00D4AA"/>
                </a:solidFill>
              </a:defRPr>
            </a:pPr>
            <a:r>
              <a:t>45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731520"/>
          </a:xfrm>
          <a:prstGeom prst="rect">
            <a:avLst/>
          </a:prstGeom>
          <a:noFill/>
        </p:spPr>
        <p:txBody>
          <a:bodyPr wrap="none">
            <a:spAutoFit/>
          </a:bodyPr>
          <a:lstStyle/>
          <a:p>
            <a:pPr>
              <a:defRPr sz="4000" b="1">
                <a:solidFill>
                  <a:srgbClr val="FFFFFF"/>
                </a:solidFill>
              </a:defRPr>
            </a:pPr>
            <a:r>
              <a:t>Learning Objectives</a:t>
            </a:r>
          </a:p>
        </p:txBody>
      </p:sp>
      <p:sp>
        <p:nvSpPr>
          <p:cNvPr id="3" name="Oval 2"/>
          <p:cNvSpPr/>
          <p:nvPr/>
        </p:nvSpPr>
        <p:spPr>
          <a:xfrm>
            <a:off x="548640" y="1280160"/>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4" name="TextBox 3"/>
          <p:cNvSpPr txBox="1"/>
          <p:nvPr/>
        </p:nvSpPr>
        <p:spPr>
          <a:xfrm>
            <a:off x="1097280" y="1280160"/>
            <a:ext cx="10515600" cy="411480"/>
          </a:xfrm>
          <a:prstGeom prst="rect">
            <a:avLst/>
          </a:prstGeom>
          <a:noFill/>
        </p:spPr>
        <p:txBody>
          <a:bodyPr wrap="none">
            <a:spAutoFit/>
          </a:bodyPr>
          <a:lstStyle/>
          <a:p>
            <a:pPr>
              <a:defRPr sz="2000">
                <a:solidFill>
                  <a:srgbClr val="D1D5DB"/>
                </a:solidFill>
              </a:defRPr>
            </a:pPr>
            <a:r>
              <a:t>Navigate the Claude.ai interface and use Voice Mode</a:t>
            </a:r>
          </a:p>
        </p:txBody>
      </p:sp>
      <p:sp>
        <p:nvSpPr>
          <p:cNvPr id="5" name="Oval 4"/>
          <p:cNvSpPr/>
          <p:nvPr/>
        </p:nvSpPr>
        <p:spPr>
          <a:xfrm>
            <a:off x="548640" y="1874519"/>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6" name="TextBox 5"/>
          <p:cNvSpPr txBox="1"/>
          <p:nvPr/>
        </p:nvSpPr>
        <p:spPr>
          <a:xfrm>
            <a:off x="1097280" y="1874519"/>
            <a:ext cx="10515600" cy="411480"/>
          </a:xfrm>
          <a:prstGeom prst="rect">
            <a:avLst/>
          </a:prstGeom>
          <a:noFill/>
        </p:spPr>
        <p:txBody>
          <a:bodyPr wrap="none">
            <a:spAutoFit/>
          </a:bodyPr>
          <a:lstStyle/>
          <a:p>
            <a:pPr>
              <a:defRPr sz="2000">
                <a:solidFill>
                  <a:srgbClr val="D1D5DB"/>
                </a:solidFill>
              </a:defRPr>
            </a:pPr>
            <a:r>
              <a:t>Write effective prompts using the GOLDEN framework</a:t>
            </a:r>
          </a:p>
        </p:txBody>
      </p:sp>
      <p:sp>
        <p:nvSpPr>
          <p:cNvPr id="7" name="Oval 6"/>
          <p:cNvSpPr/>
          <p:nvPr/>
        </p:nvSpPr>
        <p:spPr>
          <a:xfrm>
            <a:off x="548640" y="2468880"/>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8" name="TextBox 7"/>
          <p:cNvSpPr txBox="1"/>
          <p:nvPr/>
        </p:nvSpPr>
        <p:spPr>
          <a:xfrm>
            <a:off x="1097280" y="2468880"/>
            <a:ext cx="10515600" cy="411480"/>
          </a:xfrm>
          <a:prstGeom prst="rect">
            <a:avLst/>
          </a:prstGeom>
          <a:noFill/>
        </p:spPr>
        <p:txBody>
          <a:bodyPr wrap="none">
            <a:spAutoFit/>
          </a:bodyPr>
          <a:lstStyle/>
          <a:p>
            <a:pPr>
              <a:defRPr sz="2000">
                <a:solidFill>
                  <a:srgbClr val="D1D5DB"/>
                </a:solidFill>
              </a:defRPr>
            </a:pPr>
            <a:r>
              <a:t>Choose the right Claude model and use Extended Thinking</a:t>
            </a:r>
          </a:p>
        </p:txBody>
      </p:sp>
      <p:sp>
        <p:nvSpPr>
          <p:cNvPr id="9" name="Oval 8"/>
          <p:cNvSpPr/>
          <p:nvPr/>
        </p:nvSpPr>
        <p:spPr>
          <a:xfrm>
            <a:off x="548640" y="3063240"/>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10" name="TextBox 9"/>
          <p:cNvSpPr txBox="1"/>
          <p:nvPr/>
        </p:nvSpPr>
        <p:spPr>
          <a:xfrm>
            <a:off x="1097280" y="3063240"/>
            <a:ext cx="10515600" cy="411480"/>
          </a:xfrm>
          <a:prstGeom prst="rect">
            <a:avLst/>
          </a:prstGeom>
          <a:noFill/>
        </p:spPr>
        <p:txBody>
          <a:bodyPr wrap="none">
            <a:spAutoFit/>
          </a:bodyPr>
          <a:lstStyle/>
          <a:p>
            <a:pPr>
              <a:defRPr sz="2000">
                <a:solidFill>
                  <a:srgbClr val="D1D5DB"/>
                </a:solidFill>
              </a:defRPr>
            </a:pPr>
            <a:r>
              <a:t>Configure settings, Personal Preferences, and privacy controls</a:t>
            </a:r>
          </a:p>
        </p:txBody>
      </p:sp>
      <p:sp>
        <p:nvSpPr>
          <p:cNvPr id="11" name="Oval 10"/>
          <p:cNvSpPr/>
          <p:nvPr/>
        </p:nvSpPr>
        <p:spPr>
          <a:xfrm>
            <a:off x="548640" y="3657600"/>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12" name="TextBox 11"/>
          <p:cNvSpPr txBox="1"/>
          <p:nvPr/>
        </p:nvSpPr>
        <p:spPr>
          <a:xfrm>
            <a:off x="1097280" y="3657600"/>
            <a:ext cx="10515600" cy="411480"/>
          </a:xfrm>
          <a:prstGeom prst="rect">
            <a:avLst/>
          </a:prstGeom>
          <a:noFill/>
        </p:spPr>
        <p:txBody>
          <a:bodyPr wrap="none">
            <a:spAutoFit/>
          </a:bodyPr>
          <a:lstStyle/>
          <a:p>
            <a:pPr>
              <a:defRPr sz="2000">
                <a:solidFill>
                  <a:srgbClr val="D1D5DB"/>
                </a:solidFill>
              </a:defRPr>
            </a:pPr>
            <a:r>
              <a:t>Set up and use Claude Apps (Desktop, Mobile) and Claude for Work</a:t>
            </a:r>
          </a:p>
        </p:txBody>
      </p:sp>
      <p:sp>
        <p:nvSpPr>
          <p:cNvPr id="13" name="Oval 12"/>
          <p:cNvSpPr/>
          <p:nvPr/>
        </p:nvSpPr>
        <p:spPr>
          <a:xfrm>
            <a:off x="548640" y="4251960"/>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14" name="TextBox 13"/>
          <p:cNvSpPr txBox="1"/>
          <p:nvPr/>
        </p:nvSpPr>
        <p:spPr>
          <a:xfrm>
            <a:off x="1097280" y="4251960"/>
            <a:ext cx="10515600" cy="411480"/>
          </a:xfrm>
          <a:prstGeom prst="rect">
            <a:avLst/>
          </a:prstGeom>
          <a:noFill/>
        </p:spPr>
        <p:txBody>
          <a:bodyPr wrap="none">
            <a:spAutoFit/>
          </a:bodyPr>
          <a:lstStyle/>
          <a:p>
            <a:pPr>
              <a:defRPr sz="2000">
                <a:solidFill>
                  <a:srgbClr val="D1D5DB"/>
                </a:solidFill>
              </a:defRPr>
            </a:pPr>
            <a:r>
              <a:t>Create and manage Projects with Custom Instructions</a:t>
            </a:r>
          </a:p>
        </p:txBody>
      </p:sp>
      <p:sp>
        <p:nvSpPr>
          <p:cNvPr id="15" name="Oval 14"/>
          <p:cNvSpPr/>
          <p:nvPr/>
        </p:nvSpPr>
        <p:spPr>
          <a:xfrm>
            <a:off x="548640" y="4846320"/>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16" name="TextBox 15"/>
          <p:cNvSpPr txBox="1"/>
          <p:nvPr/>
        </p:nvSpPr>
        <p:spPr>
          <a:xfrm>
            <a:off x="1097280" y="4846320"/>
            <a:ext cx="10515600" cy="411480"/>
          </a:xfrm>
          <a:prstGeom prst="rect">
            <a:avLst/>
          </a:prstGeom>
          <a:noFill/>
        </p:spPr>
        <p:txBody>
          <a:bodyPr wrap="none">
            <a:spAutoFit/>
          </a:bodyPr>
          <a:lstStyle/>
          <a:p>
            <a:pPr>
              <a:defRPr sz="2000">
                <a:solidFill>
                  <a:srgbClr val="D1D5DB"/>
                </a:solidFill>
              </a:defRPr>
            </a:pPr>
            <a:r>
              <a:t>Analyze data in Claude.ai and Claude in Excel</a:t>
            </a:r>
          </a:p>
        </p:txBody>
      </p:sp>
      <p:sp>
        <p:nvSpPr>
          <p:cNvPr id="17" name="Oval 16"/>
          <p:cNvSpPr/>
          <p:nvPr/>
        </p:nvSpPr>
        <p:spPr>
          <a:xfrm>
            <a:off x="548640" y="5440679"/>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18" name="TextBox 17"/>
          <p:cNvSpPr txBox="1"/>
          <p:nvPr/>
        </p:nvSpPr>
        <p:spPr>
          <a:xfrm>
            <a:off x="1097280" y="5440679"/>
            <a:ext cx="10515600" cy="411480"/>
          </a:xfrm>
          <a:prstGeom prst="rect">
            <a:avLst/>
          </a:prstGeom>
          <a:noFill/>
        </p:spPr>
        <p:txBody>
          <a:bodyPr wrap="none">
            <a:spAutoFit/>
          </a:bodyPr>
          <a:lstStyle/>
          <a:p>
            <a:pPr>
              <a:defRPr sz="2000">
                <a:solidFill>
                  <a:srgbClr val="D1D5DB"/>
                </a:solidFill>
              </a:defRPr>
            </a:pPr>
            <a:r>
              <a:t>Use artifacts, file uploads, and integrations for business workflows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365760" y="1371600"/>
            <a:ext cx="73152" cy="27432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0"/>
            <a:ext cx="2743200" cy="548640"/>
          </a:xfrm>
          <a:prstGeom prst="rect">
            <a:avLst/>
          </a:prstGeom>
          <a:noFill/>
        </p:spPr>
        <p:txBody>
          <a:bodyPr wrap="none">
            <a:spAutoFit/>
          </a:bodyPr>
          <a:lstStyle/>
          <a:p>
            <a:pPr>
              <a:defRPr sz="1600" b="1">
                <a:solidFill>
                  <a:srgbClr val="14B8A6"/>
                </a:solidFill>
              </a:defRPr>
            </a:pPr>
            <a:r>
              <a:t>SECTION 1</a:t>
            </a:r>
          </a:p>
        </p:txBody>
      </p:sp>
      <p:sp>
        <p:nvSpPr>
          <p:cNvPr id="4" name="TextBox 3"/>
          <p:cNvSpPr txBox="1"/>
          <p:nvPr/>
        </p:nvSpPr>
        <p:spPr>
          <a:xfrm>
            <a:off x="731520" y="2011680"/>
            <a:ext cx="10058400" cy="1097280"/>
          </a:xfrm>
          <a:prstGeom prst="rect">
            <a:avLst/>
          </a:prstGeom>
          <a:noFill/>
        </p:spPr>
        <p:txBody>
          <a:bodyPr wrap="none">
            <a:spAutoFit/>
          </a:bodyPr>
          <a:lstStyle/>
          <a:p>
            <a:pPr>
              <a:defRPr sz="5600" b="1">
                <a:solidFill>
                  <a:srgbClr val="FFFFFF"/>
                </a:solidFill>
              </a:defRPr>
            </a:pPr>
            <a:r>
              <a:t>Claude Interface</a:t>
            </a:r>
            <a:br/>
            <a:r>
              <a:t>&amp; Prompt Engineering</a:t>
            </a:r>
          </a:p>
        </p:txBody>
      </p:sp>
      <p:sp>
        <p:nvSpPr>
          <p:cNvPr id="5" name="TextBox 4"/>
          <p:cNvSpPr txBox="1"/>
          <p:nvPr/>
        </p:nvSpPr>
        <p:spPr>
          <a:xfrm>
            <a:off x="731520" y="3840480"/>
            <a:ext cx="10058400" cy="548640"/>
          </a:xfrm>
          <a:prstGeom prst="rect">
            <a:avLst/>
          </a:prstGeom>
          <a:noFill/>
        </p:spPr>
        <p:txBody>
          <a:bodyPr wrap="none">
            <a:spAutoFit/>
          </a:bodyPr>
          <a:lstStyle/>
          <a:p>
            <a:pPr>
              <a:defRPr sz="2200">
                <a:solidFill>
                  <a:srgbClr val="9CA3AF"/>
                </a:solidFill>
              </a:defRPr>
            </a:pPr>
            <a:r>
              <a:t>Navigate the tool, then master the core skill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544907"/>
            <a:ext cx="8229600" cy="731520"/>
          </a:xfrm>
          <a:prstGeom prst="rect">
            <a:avLst/>
          </a:prstGeom>
          <a:noFill/>
        </p:spPr>
        <p:txBody>
          <a:bodyPr wrap="square">
            <a:spAutoFit/>
          </a:bodyPr>
          <a:lstStyle/>
          <a:p>
            <a:r>
              <a:rPr sz="3200" b="1" dirty="0">
                <a:solidFill>
                  <a:srgbClr val="FFFFFF"/>
                </a:solidFill>
              </a:rPr>
              <a:t>Claude Ecosystem</a:t>
            </a:r>
          </a:p>
        </p:txBody>
      </p:sp>
      <p:pic>
        <p:nvPicPr>
          <p:cNvPr id="3" name="Picture 2" descr="claude-ecosystem.png"/>
          <p:cNvPicPr>
            <a:picLocks noChangeAspect="1"/>
          </p:cNvPicPr>
          <p:nvPr/>
        </p:nvPicPr>
        <p:blipFill>
          <a:blip r:embed="rId3"/>
          <a:srcRect t="21119" b="23825"/>
          <a:stretch>
            <a:fillRect/>
          </a:stretch>
        </p:blipFill>
        <p:spPr>
          <a:xfrm>
            <a:off x="45509" y="1716833"/>
            <a:ext cx="12014482" cy="42628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Claude.ai Interface</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Your AI workspace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640080"/>
          </a:xfrm>
          <a:prstGeom prst="rect">
            <a:avLst/>
          </a:prstGeom>
          <a:noFill/>
        </p:spPr>
        <p:txBody>
          <a:bodyPr wrap="none">
            <a:spAutoFit/>
          </a:bodyPr>
          <a:lstStyle/>
          <a:p>
            <a:pPr>
              <a:defRPr sz="3200" b="1">
                <a:solidFill>
                  <a:srgbClr val="FFFFFF"/>
                </a:solidFill>
              </a:defRPr>
            </a:pPr>
            <a:r>
              <a:t>Claude.ai Interface Tour</a:t>
            </a:r>
          </a:p>
        </p:txBody>
      </p:sp>
      <p:pic>
        <p:nvPicPr>
          <p:cNvPr id="3" name="Picture 2" descr="claude-ai-interface.png"/>
          <p:cNvPicPr>
            <a:picLocks noChangeAspect="1"/>
          </p:cNvPicPr>
          <p:nvPr/>
        </p:nvPicPr>
        <p:blipFill>
          <a:blip r:embed="rId3"/>
          <a:stretch>
            <a:fillRect/>
          </a:stretch>
        </p:blipFill>
        <p:spPr>
          <a:xfrm>
            <a:off x="914399" y="1645919"/>
            <a:ext cx="10598079" cy="45869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Prompt Engineering Essentials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How to Get Great Results from AI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is a Prompt?</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Your instruction to the AI - quality in, quality out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r>
              <a:rPr sz="3200" b="1">
                <a:solidFill>
                  <a:srgbClr val="FFFFFF"/>
                </a:solidFill>
              </a:rPr>
              <a:t>The GOLDEN Framework</a:t>
            </a:r>
          </a:p>
        </p:txBody>
      </p:sp>
      <p:pic>
        <p:nvPicPr>
          <p:cNvPr id="3" name="Picture 2" descr="golden-framework.png"/>
          <p:cNvPicPr>
            <a:picLocks noChangeAspect="1"/>
          </p:cNvPicPr>
          <p:nvPr/>
        </p:nvPicPr>
        <p:blipFill>
          <a:blip r:embed="rId3"/>
          <a:srcRect l="17693" t="4697" r="32273" b="18827"/>
          <a:stretch>
            <a:fillRect/>
          </a:stretch>
        </p:blipFill>
        <p:spPr>
          <a:xfrm>
            <a:off x="493284" y="1251283"/>
            <a:ext cx="5325980" cy="52460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The GOLDEN Framework (cont.)</a:t>
            </a:r>
          </a:p>
        </p:txBody>
      </p:sp>
      <p:sp>
        <p:nvSpPr>
          <p:cNvPr id="3" name="Rounded Rectangle 2"/>
          <p:cNvSpPr/>
          <p:nvPr/>
        </p:nvSpPr>
        <p:spPr>
          <a:xfrm>
            <a:off x="230108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D</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r>
              <a:t>Details</a:t>
            </a:r>
            <a:br/>
            <a:r>
              <a:t>What to include?</a:t>
            </a:r>
          </a:p>
        </p:txBody>
      </p:sp>
      <p:sp>
        <p:nvSpPr>
          <p:cNvPr id="7" name="Rounded Rectangle 6"/>
          <p:cNvSpPr/>
          <p:nvPr/>
        </p:nvSpPr>
        <p:spPr>
          <a:xfrm>
            <a:off x="495284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E</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r>
              <a:t>Examples</a:t>
            </a:r>
            <a:br/>
            <a:r>
              <a:t>Show what good looks like</a:t>
            </a:r>
          </a:p>
        </p:txBody>
      </p:sp>
      <p:sp>
        <p:nvSpPr>
          <p:cNvPr id="11" name="Rounded Rectangle 10"/>
          <p:cNvSpPr/>
          <p:nvPr/>
        </p:nvSpPr>
        <p:spPr>
          <a:xfrm>
            <a:off x="760460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N</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r>
              <a:t>No-gos</a:t>
            </a:r>
            <a:br/>
            <a:r>
              <a:t>What to avoid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GOLDEN Framework Example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Before (Vague)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Write about our Q4 results.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After (GOLDEN)</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G: Summary of Q4 for board</a:t>
            </a:r>
          </a:p>
          <a:p>
            <a:pPr>
              <a:spcAft>
                <a:spcPts val="1200"/>
              </a:spcAft>
              <a:defRPr sz="1800">
                <a:solidFill>
                  <a:srgbClr val="FFFFFF"/>
                </a:solidFill>
              </a:defRPr>
            </a:pPr>
            <a:r>
              <a:t>  O: Executive summary + bullets</a:t>
            </a:r>
          </a:p>
          <a:p>
            <a:pPr>
              <a:spcAft>
                <a:spcPts val="1200"/>
              </a:spcAft>
              <a:defRPr sz="1800">
                <a:solidFill>
                  <a:srgbClr val="FFFFFF"/>
                </a:solidFill>
              </a:defRPr>
            </a:pPr>
            <a:r>
              <a:t>  L: One page max (500 words)</a:t>
            </a:r>
          </a:p>
          <a:p>
            <a:pPr>
              <a:spcAft>
                <a:spcPts val="1200"/>
              </a:spcAft>
              <a:defRPr sz="1800">
                <a:solidFill>
                  <a:srgbClr val="FFFFFF"/>
                </a:solidFill>
              </a:defRPr>
            </a:pPr>
            <a:r>
              <a:t>  D: Revenue, margin, YoY compare</a:t>
            </a:r>
          </a:p>
          <a:p>
            <a:pPr>
              <a:spcAft>
                <a:spcPts val="1200"/>
              </a:spcAft>
              <a:defRPr sz="1800">
                <a:solidFill>
                  <a:srgbClr val="FFFFFF"/>
                </a:solidFill>
              </a:defRPr>
            </a:pPr>
            <a:r>
              <a:t>  E: Like last quarter's report</a:t>
            </a:r>
          </a:p>
          <a:p>
            <a:pPr>
              <a:spcAft>
                <a:spcPts val="1200"/>
              </a:spcAft>
              <a:defRPr sz="1800">
                <a:solidFill>
                  <a:srgbClr val="FFFFFF"/>
                </a:solidFill>
              </a:defRPr>
            </a:pPr>
            <a:r>
              <a:t>  N: No raw data tables/jargon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Common Prompting Mistakes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What NOT to Do</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Too vague: 'Help me with this'</a:t>
            </a:r>
          </a:p>
          <a:p>
            <a:pPr>
              <a:spcAft>
                <a:spcPts val="1200"/>
              </a:spcAft>
              <a:defRPr sz="1800">
                <a:solidFill>
                  <a:srgbClr val="FFFFFF"/>
                </a:solidFill>
              </a:defRPr>
            </a:pPr>
            <a:r>
              <a:t>  Too long: 5 paragraphs of background</a:t>
            </a:r>
          </a:p>
          <a:p>
            <a:pPr>
              <a:spcAft>
                <a:spcPts val="1200"/>
              </a:spcAft>
              <a:defRPr sz="1800">
                <a:solidFill>
                  <a:srgbClr val="FFFFFF"/>
                </a:solidFill>
              </a:defRPr>
            </a:pPr>
            <a:r>
              <a:t>  No format specified</a:t>
            </a:r>
          </a:p>
          <a:p>
            <a:pPr>
              <a:spcAft>
                <a:spcPts val="1200"/>
              </a:spcAft>
              <a:defRPr sz="1800">
                <a:solidFill>
                  <a:srgbClr val="FFFFFF"/>
                </a:solidFill>
              </a:defRPr>
            </a:pPr>
            <a:r>
              <a:t>  Assuming context: 'That project'</a:t>
            </a:r>
          </a:p>
          <a:p>
            <a:pPr>
              <a:spcAft>
                <a:spcPts val="1200"/>
              </a:spcAft>
              <a:defRPr sz="1800">
                <a:solidFill>
                  <a:srgbClr val="FFFFFF"/>
                </a:solidFill>
              </a:defRPr>
            </a:pPr>
            <a:r>
              <a:t>  One-shot expectation</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What TO Do</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Be specific about goal</a:t>
            </a:r>
          </a:p>
          <a:p>
            <a:pPr>
              <a:spcAft>
                <a:spcPts val="1200"/>
              </a:spcAft>
              <a:defRPr sz="1800">
                <a:solidFill>
                  <a:srgbClr val="FFFFFF"/>
                </a:solidFill>
              </a:defRPr>
            </a:pPr>
            <a:r>
              <a:t>  Give context concisely</a:t>
            </a:r>
          </a:p>
          <a:p>
            <a:pPr>
              <a:spcAft>
                <a:spcPts val="1200"/>
              </a:spcAft>
              <a:defRPr sz="1800">
                <a:solidFill>
                  <a:srgbClr val="FFFFFF"/>
                </a:solidFill>
              </a:defRPr>
            </a:pPr>
            <a:r>
              <a:t>  Specify desired format</a:t>
            </a:r>
          </a:p>
          <a:p>
            <a:pPr>
              <a:spcAft>
                <a:spcPts val="1200"/>
              </a:spcAft>
              <a:defRPr sz="1800">
                <a:solidFill>
                  <a:srgbClr val="FFFFFF"/>
                </a:solidFill>
              </a:defRPr>
            </a:pPr>
            <a:r>
              <a:t>  Provide all needed info</a:t>
            </a:r>
          </a:p>
          <a:p>
            <a:pPr>
              <a:spcAft>
                <a:spcPts val="1200"/>
              </a:spcAft>
              <a:defRPr sz="1800">
                <a:solidFill>
                  <a:srgbClr val="FFFFFF"/>
                </a:solidFill>
              </a:defRPr>
            </a:pPr>
            <a:r>
              <a:t>  Iterate and refine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Iterating on Results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First response is rarely perfect - that's OK!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Success Pattern: Iterate to Great</a:t>
            </a:r>
          </a:p>
        </p:txBody>
      </p:sp>
      <p:sp>
        <p:nvSpPr>
          <p:cNvPr id="3" name="Rounded Rectangle 2"/>
          <p:cNvSpPr/>
          <p:nvPr/>
        </p:nvSpPr>
        <p:spPr>
          <a:xfrm>
            <a:off x="2941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04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041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TextBox 5"/>
          <p:cNvSpPr txBox="1"/>
          <p:nvPr/>
        </p:nvSpPr>
        <p:spPr>
          <a:xfrm>
            <a:off x="2941167" y="1371600"/>
            <a:ext cx="822960" cy="822960"/>
          </a:xfrm>
          <a:prstGeom prst="rect">
            <a:avLst/>
          </a:prstGeom>
          <a:noFill/>
        </p:spPr>
        <p:txBody>
          <a:bodyPr wrap="none" anchor="ctr">
            <a:spAutoFit/>
          </a:bodyPr>
          <a:lstStyle/>
          <a:p>
            <a:pPr algn="ctr">
              <a:defRPr sz="2800" b="1">
                <a:solidFill>
                  <a:srgbClr val="00D4AA"/>
                </a:solidFill>
              </a:defRPr>
            </a:pPr>
            <a:r>
              <a:t>1</a:t>
            </a:r>
          </a:p>
        </p:txBody>
      </p:sp>
      <p:sp>
        <p:nvSpPr>
          <p:cNvPr id="7" name="Right Arrow 6"/>
          <p:cNvSpPr/>
          <p:nvPr/>
        </p:nvSpPr>
        <p:spPr>
          <a:xfrm>
            <a:off x="3855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12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975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757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1" name="TextBox 10"/>
          <p:cNvSpPr txBox="1"/>
          <p:nvPr/>
        </p:nvSpPr>
        <p:spPr>
          <a:xfrm>
            <a:off x="4312767" y="1371600"/>
            <a:ext cx="822960" cy="822960"/>
          </a:xfrm>
          <a:prstGeom prst="rect">
            <a:avLst/>
          </a:prstGeom>
          <a:noFill/>
        </p:spPr>
        <p:txBody>
          <a:bodyPr wrap="none" anchor="ctr">
            <a:spAutoFit/>
          </a:bodyPr>
          <a:lstStyle/>
          <a:p>
            <a:pPr algn="ctr">
              <a:defRPr sz="2800" b="1">
                <a:solidFill>
                  <a:srgbClr val="00D4AA"/>
                </a:solidFill>
              </a:defRPr>
            </a:pPr>
            <a:r>
              <a:t>2</a:t>
            </a:r>
          </a:p>
        </p:txBody>
      </p:sp>
      <p:sp>
        <p:nvSpPr>
          <p:cNvPr id="12" name="Right Arrow 11"/>
          <p:cNvSpPr/>
          <p:nvPr/>
        </p:nvSpPr>
        <p:spPr>
          <a:xfrm>
            <a:off x="5227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84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47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73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6" name="TextBox 15"/>
          <p:cNvSpPr txBox="1"/>
          <p:nvPr/>
        </p:nvSpPr>
        <p:spPr>
          <a:xfrm>
            <a:off x="5684367" y="1371600"/>
            <a:ext cx="822960" cy="822960"/>
          </a:xfrm>
          <a:prstGeom prst="rect">
            <a:avLst/>
          </a:prstGeom>
          <a:noFill/>
        </p:spPr>
        <p:txBody>
          <a:bodyPr wrap="none" anchor="ctr">
            <a:spAutoFit/>
          </a:bodyPr>
          <a:lstStyle/>
          <a:p>
            <a:pPr algn="ctr">
              <a:defRPr sz="2800" b="1">
                <a:solidFill>
                  <a:srgbClr val="00D4AA"/>
                </a:solidFill>
              </a:defRPr>
            </a:pPr>
            <a:r>
              <a:t>3</a:t>
            </a:r>
          </a:p>
        </p:txBody>
      </p:sp>
      <p:sp>
        <p:nvSpPr>
          <p:cNvPr id="17" name="Right Arrow 16"/>
          <p:cNvSpPr/>
          <p:nvPr/>
        </p:nvSpPr>
        <p:spPr>
          <a:xfrm>
            <a:off x="6598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055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718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189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21" name="TextBox 20"/>
          <p:cNvSpPr txBox="1"/>
          <p:nvPr/>
        </p:nvSpPr>
        <p:spPr>
          <a:xfrm>
            <a:off x="7055967" y="1371600"/>
            <a:ext cx="822960" cy="822960"/>
          </a:xfrm>
          <a:prstGeom prst="rect">
            <a:avLst/>
          </a:prstGeom>
          <a:noFill/>
        </p:spPr>
        <p:txBody>
          <a:bodyPr wrap="none" anchor="ctr">
            <a:spAutoFit/>
          </a:bodyPr>
          <a:lstStyle/>
          <a:p>
            <a:pPr algn="ctr">
              <a:defRPr sz="2800" b="1">
                <a:solidFill>
                  <a:srgbClr val="00D4AA"/>
                </a:solidFill>
              </a:defRPr>
            </a:pPr>
            <a:r>
              <a:t>4</a:t>
            </a:r>
          </a:p>
        </p:txBody>
      </p:sp>
      <p:sp>
        <p:nvSpPr>
          <p:cNvPr id="22" name="Right Arrow 21"/>
          <p:cNvSpPr/>
          <p:nvPr/>
        </p:nvSpPr>
        <p:spPr>
          <a:xfrm>
            <a:off x="7970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427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090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90507" y="1211580"/>
            <a:ext cx="320040" cy="320040"/>
          </a:xfrm>
          <a:prstGeom prst="rect">
            <a:avLst/>
          </a:prstGeom>
          <a:noFill/>
        </p:spPr>
        <p:txBody>
          <a:bodyPr wrap="none" anchor="ctr">
            <a:spAutoFit/>
          </a:bodyPr>
          <a:lstStyle/>
          <a:p>
            <a:pPr algn="ctr">
              <a:defRPr sz="1400" b="1">
                <a:solidFill>
                  <a:srgbClr val="0B0F1A"/>
                </a:solidFill>
              </a:defRPr>
            </a:pPr>
            <a:r>
              <a:t>5</a:t>
            </a:r>
          </a:p>
        </p:txBody>
      </p:sp>
      <p:sp>
        <p:nvSpPr>
          <p:cNvPr id="26" name="TextBox 25"/>
          <p:cNvSpPr txBox="1"/>
          <p:nvPr/>
        </p:nvSpPr>
        <p:spPr>
          <a:xfrm>
            <a:off x="8427567" y="1371600"/>
            <a:ext cx="822960" cy="822960"/>
          </a:xfrm>
          <a:prstGeom prst="rect">
            <a:avLst/>
          </a:prstGeom>
          <a:noFill/>
        </p:spPr>
        <p:txBody>
          <a:bodyPr wrap="none" anchor="ctr">
            <a:spAutoFit/>
          </a:bodyPr>
          <a:lstStyle/>
          <a:p>
            <a:pPr algn="ctr">
              <a:defRPr sz="2800" b="1">
                <a:solidFill>
                  <a:srgbClr val="00D4AA"/>
                </a:solidFill>
              </a:defRPr>
            </a:pPr>
            <a:r>
              <a:t>5</a:t>
            </a:r>
          </a:p>
        </p:txBody>
      </p:sp>
      <p:sp>
        <p:nvSpPr>
          <p:cNvPr id="27" name="TextBox 26"/>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28" name="TextBox 27"/>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Start: Ask Claude for first draft (70% quality)</a:t>
            </a:r>
          </a:p>
        </p:txBody>
      </p:sp>
      <p:sp>
        <p:nvSpPr>
          <p:cNvPr id="29" name="TextBox 28"/>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30" name="TextBox 29"/>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Review: Identify what's missing or wrong</a:t>
            </a:r>
          </a:p>
        </p:txBody>
      </p:sp>
      <p:sp>
        <p:nvSpPr>
          <p:cNvPr id="31" name="TextBox 30"/>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32" name="TextBox 31"/>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Refine: Give specific feedback to Claude</a:t>
            </a:r>
          </a:p>
        </p:txBody>
      </p:sp>
      <p:sp>
        <p:nvSpPr>
          <p:cNvPr id="33" name="TextBox 32"/>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34" name="TextBox 33"/>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Iterate: Repeat 2-3 times (85% → 95% quality)</a:t>
            </a:r>
          </a:p>
        </p:txBody>
      </p:sp>
      <p:sp>
        <p:nvSpPr>
          <p:cNvPr id="35" name="TextBox 34"/>
          <p:cNvSpPr txBox="1"/>
          <p:nvPr/>
        </p:nvSpPr>
        <p:spPr>
          <a:xfrm>
            <a:off x="1371600" y="5303520"/>
            <a:ext cx="457200" cy="457200"/>
          </a:xfrm>
          <a:prstGeom prst="rect">
            <a:avLst/>
          </a:prstGeom>
          <a:noFill/>
        </p:spPr>
        <p:txBody>
          <a:bodyPr wrap="none">
            <a:spAutoFit/>
          </a:bodyPr>
          <a:lstStyle/>
          <a:p>
            <a:pPr>
              <a:defRPr sz="2000" b="1">
                <a:solidFill>
                  <a:srgbClr val="00D4AA"/>
                </a:solidFill>
              </a:defRPr>
            </a:pPr>
            <a:r>
              <a:t>5</a:t>
            </a:r>
          </a:p>
        </p:txBody>
      </p:sp>
      <p:sp>
        <p:nvSpPr>
          <p:cNvPr id="36" name="TextBox 35"/>
          <p:cNvSpPr txBox="1"/>
          <p:nvPr/>
        </p:nvSpPr>
        <p:spPr>
          <a:xfrm>
            <a:off x="1828800" y="5303520"/>
            <a:ext cx="8991295" cy="548640"/>
          </a:xfrm>
          <a:prstGeom prst="rect">
            <a:avLst/>
          </a:prstGeom>
          <a:noFill/>
        </p:spPr>
        <p:txBody>
          <a:bodyPr wrap="square">
            <a:spAutoFit/>
          </a:bodyPr>
          <a:lstStyle/>
          <a:p>
            <a:pPr>
              <a:defRPr sz="1800">
                <a:solidFill>
                  <a:srgbClr val="FFFFFF"/>
                </a:solidFill>
              </a:defRPr>
            </a:pPr>
            <a:r>
              <a:t>Finish: Human polish the final 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Pro Tips for Better Prompts</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Use examples: 'Like this template' (attach sample)</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Specify audience: 'For executives' vs 'For engineers'</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Set constraints: 'No jargon' / 'Must fit one page'</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Ask for alternatives: 'Give me 3 different versions'</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Request explanations: 'Explain your reasoning'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Real Prompt Examples You Can Steal</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 Vague Prompt</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Write me an email about the meeting</a:t>
            </a:r>
          </a:p>
          <a:p>
            <a:pPr>
              <a:spcAft>
                <a:spcPts val="1200"/>
              </a:spcAft>
              <a:defRPr sz="1800">
                <a:solidFill>
                  <a:srgbClr val="FFFFFF"/>
                </a:solidFill>
              </a:defRPr>
            </a:pPr>
            <a:r>
              <a:t>  Analyze this data</a:t>
            </a:r>
          </a:p>
          <a:p>
            <a:pPr>
              <a:spcAft>
                <a:spcPts val="1200"/>
              </a:spcAft>
              <a:defRPr sz="1800">
                <a:solidFill>
                  <a:srgbClr val="FFFFFF"/>
                </a:solidFill>
              </a:defRPr>
            </a:pPr>
            <a:r>
              <a:t>  Help me brainstorm ideas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10B981"/>
                </a:solidFill>
              </a:defRPr>
            </a:pPr>
            <a:r>
              <a:t>✅ Specific Prompt</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Write a 3-paragraph follow-up email to John thanking him for the budget meeting and requesting the Q2 forecast spreadsheet by Friday</a:t>
            </a:r>
          </a:p>
          <a:p>
            <a:pPr>
              <a:spcAft>
                <a:spcPts val="1200"/>
              </a:spcAft>
              <a:defRPr sz="1800">
                <a:solidFill>
                  <a:srgbClr val="FFFFFF"/>
                </a:solidFill>
              </a:defRPr>
            </a:pPr>
            <a:r>
              <a:t>  Analyze this sales data for top 3 trends, compare to last quarter, and flag any products declining &gt;15%</a:t>
            </a:r>
          </a:p>
          <a:p>
            <a:pPr>
              <a:spcAft>
                <a:spcPts val="1200"/>
              </a:spcAft>
              <a:defRPr sz="1800">
                <a:solidFill>
                  <a:srgbClr val="FFFFFF"/>
                </a:solidFill>
              </a:defRPr>
            </a:pPr>
            <a:r>
              <a:t>  Generate 10 campaign ideas for launching our new CRM to finance teams, focusing on time-saved messaging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1602"/>
            <a:ext cx="8229600" cy="731520"/>
          </a:xfrm>
          <a:prstGeom prst="rect">
            <a:avLst/>
          </a:prstGeom>
          <a:noFill/>
        </p:spPr>
        <p:txBody>
          <a:bodyPr wrap="square">
            <a:spAutoFit/>
          </a:bodyPr>
          <a:lstStyle/>
          <a:p>
            <a:r>
              <a:rPr sz="3200" b="1" dirty="0">
                <a:solidFill>
                  <a:srgbClr val="FFFFFF"/>
                </a:solidFill>
              </a:rPr>
              <a:t>How to Know When Output Is Good</a:t>
            </a:r>
          </a:p>
        </p:txBody>
      </p:sp>
      <p:pic>
        <p:nvPicPr>
          <p:cNvPr id="3" name="Picture 2" descr="traffic-light-trust.png"/>
          <p:cNvPicPr>
            <a:picLocks noChangeAspect="1"/>
          </p:cNvPicPr>
          <p:nvPr/>
        </p:nvPicPr>
        <p:blipFill>
          <a:blip r:embed="rId3"/>
          <a:srcRect t="11541" b="24068"/>
          <a:stretch>
            <a:fillRect/>
          </a:stretch>
        </p:blipFill>
        <p:spPr>
          <a:xfrm>
            <a:off x="236607" y="1800808"/>
            <a:ext cx="11636116" cy="48285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Top 10 Quick Wins with Claude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1. Email drafting &amp; responses (save 30-60 min/day)</a:t>
            </a:r>
          </a:p>
          <a:p>
            <a:pPr>
              <a:spcBef>
                <a:spcPts val="800"/>
              </a:spcBef>
              <a:spcAft>
                <a:spcPts val="800"/>
              </a:spcAft>
              <a:defRPr sz="2200">
                <a:solidFill>
                  <a:srgbClr val="FFFFFF"/>
                </a:solidFill>
              </a:defRPr>
            </a:pPr>
            <a:r>
              <a:t>  2. Meeting summaries &amp; action items (from notes or transcripts)</a:t>
            </a:r>
          </a:p>
          <a:p>
            <a:pPr>
              <a:spcBef>
                <a:spcPts val="800"/>
              </a:spcBef>
              <a:spcAft>
                <a:spcPts val="800"/>
              </a:spcAft>
              <a:defRPr sz="2200">
                <a:solidFill>
                  <a:srgbClr val="FFFFFF"/>
                </a:solidFill>
              </a:defRPr>
            </a:pPr>
            <a:r>
              <a:t>  3. Data analysis &amp; trend spotting (Excel + Claude Chat)</a:t>
            </a:r>
          </a:p>
          <a:p>
            <a:pPr>
              <a:spcBef>
                <a:spcPts val="800"/>
              </a:spcBef>
              <a:spcAft>
                <a:spcPts val="800"/>
              </a:spcAft>
              <a:defRPr sz="2200">
                <a:solidFill>
                  <a:srgbClr val="FFFFFF"/>
                </a:solidFill>
              </a:defRPr>
            </a:pPr>
            <a:r>
              <a:t>  4. Brainstorming &amp; ideation (10× more ideas in same time)</a:t>
            </a:r>
          </a:p>
          <a:p>
            <a:pPr>
              <a:spcBef>
                <a:spcPts val="800"/>
              </a:spcBef>
              <a:spcAft>
                <a:spcPts val="800"/>
              </a:spcAft>
              <a:defRPr sz="2200">
                <a:solidFill>
                  <a:srgbClr val="FFFFFF"/>
                </a:solidFill>
              </a:defRPr>
            </a:pPr>
            <a:r>
              <a:t>  5. Document summarization (20-page report → 1-page brief)</a:t>
            </a:r>
          </a:p>
          <a:p>
            <a:pPr>
              <a:spcBef>
                <a:spcPts val="800"/>
              </a:spcBef>
              <a:spcAft>
                <a:spcPts val="800"/>
              </a:spcAft>
              <a:defRPr sz="2200">
                <a:solidFill>
                  <a:srgbClr val="FFFFFF"/>
                </a:solidFill>
              </a:defRPr>
            </a:pPr>
            <a:r>
              <a:t>  6. Content repurposing (blog → social posts → email)</a:t>
            </a:r>
          </a:p>
          <a:p>
            <a:pPr>
              <a:spcBef>
                <a:spcPts val="800"/>
              </a:spcBef>
              <a:spcAft>
                <a:spcPts val="800"/>
              </a:spcAft>
              <a:defRPr sz="2200">
                <a:solidFill>
                  <a:srgbClr val="FFFFFF"/>
                </a:solidFill>
              </a:defRPr>
            </a:pPr>
            <a:r>
              <a:t>  7. Research synthesis (compare 5 sources, find patterns)</a:t>
            </a:r>
          </a:p>
          <a:p>
            <a:pPr>
              <a:spcBef>
                <a:spcPts val="800"/>
              </a:spcBef>
              <a:spcAft>
                <a:spcPts val="800"/>
              </a:spcAft>
              <a:defRPr sz="2200">
                <a:solidFill>
                  <a:srgbClr val="FFFFFF"/>
                </a:solidFill>
              </a:defRPr>
            </a:pPr>
            <a:r>
              <a:t>  8. Presentation outlines (structure before slides)</a:t>
            </a:r>
          </a:p>
          <a:p>
            <a:pPr>
              <a:spcBef>
                <a:spcPts val="800"/>
              </a:spcBef>
              <a:spcAft>
                <a:spcPts val="800"/>
              </a:spcAft>
              <a:defRPr sz="2200">
                <a:solidFill>
                  <a:srgbClr val="FFFFFF"/>
                </a:solidFill>
              </a:defRPr>
            </a:pPr>
            <a:r>
              <a:t>  9. Process documentation ('how I do X' → written procedure)</a:t>
            </a:r>
          </a:p>
          <a:p>
            <a:pPr>
              <a:spcBef>
                <a:spcPts val="800"/>
              </a:spcBef>
              <a:spcAft>
                <a:spcPts val="800"/>
              </a:spcAft>
              <a:defRPr sz="2200">
                <a:solidFill>
                  <a:srgbClr val="FFFFFF"/>
                </a:solidFill>
              </a:defRPr>
            </a:pPr>
            <a:r>
              <a:t>  10. Learning new topics (explain like I'm 5, then go deeper)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Prompting Patterns by Role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Marketing: 'Create 3 versions of this message for A/B testing, target audience is [persona]'</a:t>
            </a:r>
          </a:p>
          <a:p>
            <a:pPr>
              <a:spcBef>
                <a:spcPts val="800"/>
              </a:spcBef>
              <a:spcAft>
                <a:spcPts val="800"/>
              </a:spcAft>
              <a:defRPr sz="2200">
                <a:solidFill>
                  <a:srgbClr val="FFFFFF"/>
                </a:solidFill>
              </a:defRPr>
            </a:pPr>
            <a:r>
              <a:t>  Finance: 'Analyze this budget data, flag variances &gt;10%, explain likely causes'</a:t>
            </a:r>
          </a:p>
          <a:p>
            <a:pPr>
              <a:spcBef>
                <a:spcPts val="800"/>
              </a:spcBef>
              <a:spcAft>
                <a:spcPts val="800"/>
              </a:spcAft>
              <a:defRPr sz="2200">
                <a:solidFill>
                  <a:srgbClr val="FFFFFF"/>
                </a:solidFill>
              </a:defRPr>
            </a:pPr>
            <a:r>
              <a:t>  HR: 'Draft interview questions for [role], focus on [skills], include behavioral examples'</a:t>
            </a:r>
          </a:p>
          <a:p>
            <a:pPr>
              <a:spcBef>
                <a:spcPts val="800"/>
              </a:spcBef>
              <a:spcAft>
                <a:spcPts val="800"/>
              </a:spcAft>
              <a:defRPr sz="2200">
                <a:solidFill>
                  <a:srgbClr val="FFFFFF"/>
                </a:solidFill>
              </a:defRPr>
            </a:pPr>
            <a:r>
              <a:t>  Sales: 'Summarize this discovery call transcript, identify pain points and buying signals'</a:t>
            </a:r>
          </a:p>
          <a:p>
            <a:pPr>
              <a:spcBef>
                <a:spcPts val="800"/>
              </a:spcBef>
              <a:spcAft>
                <a:spcPts val="800"/>
              </a:spcAft>
              <a:defRPr sz="2200">
                <a:solidFill>
                  <a:srgbClr val="FFFFFF"/>
                </a:solidFill>
              </a:defRPr>
            </a:pPr>
            <a:r>
              <a:t>  Operations: 'Review this process document, suggest efficiency improvements, highlight risks'</a:t>
            </a:r>
          </a:p>
          <a:p>
            <a:pPr>
              <a:spcBef>
                <a:spcPts val="800"/>
              </a:spcBef>
              <a:spcAft>
                <a:spcPts val="800"/>
              </a:spcAft>
              <a:defRPr sz="2200">
                <a:solidFill>
                  <a:srgbClr val="FFFFFF"/>
                </a:solidFill>
              </a:defRPr>
            </a:pPr>
            <a:r>
              <a:t>  Product: 'Generate user stories for [feature], include acceptance criteria and edge cases'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Security &amp; Privacy: What You Need to Know</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 DATA HANDLING: Your conversations are NOT used to train Claude models (Enterprise/Team plans)</a:t>
            </a:r>
          </a:p>
          <a:p>
            <a:pPr>
              <a:spcBef>
                <a:spcPts val="800"/>
              </a:spcBef>
              <a:spcAft>
                <a:spcPts val="800"/>
              </a:spcAft>
              <a:defRPr sz="2200">
                <a:solidFill>
                  <a:srgbClr val="FFFFFF"/>
                </a:solidFill>
              </a:defRPr>
            </a:pPr>
            <a:r>
              <a:t>  🛡️ COMPLIANCE: SOC 2 Type 2, HIPAA-eligible, GDPR compliant</a:t>
            </a:r>
          </a:p>
          <a:p>
            <a:pPr>
              <a:spcBef>
                <a:spcPts val="800"/>
              </a:spcBef>
              <a:spcAft>
                <a:spcPts val="800"/>
              </a:spcAft>
              <a:defRPr sz="2200">
                <a:solidFill>
                  <a:srgbClr val="FFFFFF"/>
                </a:solidFill>
              </a:defRPr>
            </a:pPr>
            <a:r>
              <a:t>  📁 PROJECTS: Custom instructions and knowledge base stay within your organization</a:t>
            </a:r>
          </a:p>
          <a:p>
            <a:pPr>
              <a:spcBef>
                <a:spcPts val="800"/>
              </a:spcBef>
              <a:spcAft>
                <a:spcPts val="800"/>
              </a:spcAft>
              <a:defRPr sz="2200">
                <a:solidFill>
                  <a:srgbClr val="FFFFFF"/>
                </a:solidFill>
              </a:defRPr>
            </a:pPr>
            <a:r>
              <a:t>  ⏰ RETENTION: Conversations retained for 30 days for safety/abuse monitoring, then deleted</a:t>
            </a:r>
          </a:p>
          <a:p>
            <a:pPr>
              <a:spcBef>
                <a:spcPts val="800"/>
              </a:spcBef>
              <a:spcAft>
                <a:spcPts val="800"/>
              </a:spcAft>
              <a:defRPr sz="2200">
                <a:solidFill>
                  <a:srgbClr val="FFFFFF"/>
                </a:solidFill>
              </a:defRPr>
            </a:pPr>
            <a:r>
              <a:t>  🚫 WHAT TO AVOID: Don't paste passwords, API keys, or PII you wouldn't put in any cloud tool</a:t>
            </a:r>
          </a:p>
          <a:p>
            <a:pPr>
              <a:spcBef>
                <a:spcPts val="800"/>
              </a:spcBef>
              <a:spcAft>
                <a:spcPts val="800"/>
              </a:spcAft>
              <a:defRPr sz="2200">
                <a:solidFill>
                  <a:srgbClr val="FFFFFF"/>
                </a:solidFill>
              </a:defRPr>
            </a:pPr>
            <a:r>
              <a:t>  ✅ ENTERPRISE ADD-ONS: Extended data retention controls, SSO, audit logs available</a:t>
            </a:r>
          </a:p>
          <a:p>
            <a:pPr>
              <a:spcBef>
                <a:spcPts val="800"/>
              </a:spcBef>
              <a:spcAft>
                <a:spcPts val="800"/>
              </a:spcAft>
              <a:defRPr sz="2200">
                <a:solidFill>
                  <a:srgbClr val="FFFFFF"/>
                </a:solidFill>
              </a:defRPr>
            </a:pPr>
            <a:r>
              <a:t>  📋 FULL DETAILS: Trust Center at anthropic.com/trust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ounded Rectangle 1"/>
          <p:cNvSpPr/>
          <p:nvPr/>
        </p:nvSpPr>
        <p:spPr>
          <a:xfrm>
            <a:off x="457200" y="365760"/>
            <a:ext cx="1097280" cy="4572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LAB 1</a:t>
            </a:r>
          </a:p>
        </p:txBody>
      </p:sp>
      <p:sp>
        <p:nvSpPr>
          <p:cNvPr id="3" name="TextBox 2"/>
          <p:cNvSpPr txBox="1"/>
          <p:nvPr/>
        </p:nvSpPr>
        <p:spPr>
          <a:xfrm>
            <a:off x="457200" y="1005840"/>
            <a:ext cx="11247120" cy="731520"/>
          </a:xfrm>
          <a:prstGeom prst="rect">
            <a:avLst/>
          </a:prstGeom>
          <a:noFill/>
        </p:spPr>
        <p:txBody>
          <a:bodyPr wrap="none">
            <a:spAutoFit/>
          </a:bodyPr>
          <a:lstStyle/>
          <a:p>
            <a:pPr>
              <a:defRPr sz="3600" b="1">
                <a:solidFill>
                  <a:srgbClr val="FFFFFF"/>
                </a:solidFill>
              </a:defRPr>
            </a:pPr>
            <a:r>
              <a:t>Prompt Engineering in Action</a:t>
            </a:r>
          </a:p>
        </p:txBody>
      </p:sp>
      <p:sp>
        <p:nvSpPr>
          <p:cNvPr id="4" name="TextBox 3"/>
          <p:cNvSpPr txBox="1"/>
          <p:nvPr/>
        </p:nvSpPr>
        <p:spPr>
          <a:xfrm>
            <a:off x="457200" y="1737360"/>
            <a:ext cx="11247120" cy="457200"/>
          </a:xfrm>
          <a:prstGeom prst="rect">
            <a:avLst/>
          </a:prstGeom>
          <a:noFill/>
        </p:spPr>
        <p:txBody>
          <a:bodyPr wrap="none">
            <a:spAutoFit/>
          </a:bodyPr>
          <a:lstStyle/>
          <a:p>
            <a:pPr>
              <a:defRPr sz="1800" i="1">
                <a:solidFill>
                  <a:srgbClr val="9CA3AF"/>
                </a:solidFill>
              </a:defRPr>
            </a:pPr>
            <a:r>
              <a:t>45 minutes  •  Practice GOLDEN framework  •  Create real documents</a:t>
            </a:r>
          </a:p>
        </p:txBody>
      </p:sp>
      <p:sp>
        <p:nvSpPr>
          <p:cNvPr id="5" name="Rounded Rectangle 4"/>
          <p:cNvSpPr/>
          <p:nvPr/>
        </p:nvSpPr>
        <p:spPr>
          <a:xfrm>
            <a:off x="457200" y="2468880"/>
            <a:ext cx="256032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651760"/>
            <a:ext cx="2194560" cy="548640"/>
          </a:xfrm>
          <a:prstGeom prst="rect">
            <a:avLst/>
          </a:prstGeom>
          <a:noFill/>
        </p:spPr>
        <p:txBody>
          <a:bodyPr wrap="none">
            <a:spAutoFit/>
          </a:bodyPr>
          <a:lstStyle/>
          <a:p>
            <a:pPr algn="ctr">
              <a:defRPr sz="3000"/>
            </a:pPr>
            <a:r>
              <a:t>🎯</a:t>
            </a:r>
          </a:p>
        </p:txBody>
      </p:sp>
      <p:sp>
        <p:nvSpPr>
          <p:cNvPr id="7" name="TextBox 6"/>
          <p:cNvSpPr txBox="1"/>
          <p:nvPr/>
        </p:nvSpPr>
        <p:spPr>
          <a:xfrm>
            <a:off x="640080" y="3200400"/>
            <a:ext cx="2194560" cy="457200"/>
          </a:xfrm>
          <a:prstGeom prst="rect">
            <a:avLst/>
          </a:prstGeom>
          <a:noFill/>
        </p:spPr>
        <p:txBody>
          <a:bodyPr wrap="none">
            <a:spAutoFit/>
          </a:bodyPr>
          <a:lstStyle/>
          <a:p>
            <a:pPr algn="ctr">
              <a:defRPr sz="1800" b="1">
                <a:solidFill>
                  <a:srgbClr val="FFFFFF"/>
                </a:solidFill>
              </a:defRPr>
            </a:pPr>
            <a:r>
              <a:t>Basic Prompts</a:t>
            </a:r>
          </a:p>
        </p:txBody>
      </p:sp>
      <p:sp>
        <p:nvSpPr>
          <p:cNvPr id="8" name="TextBox 7"/>
          <p:cNvSpPr txBox="1"/>
          <p:nvPr/>
        </p:nvSpPr>
        <p:spPr>
          <a:xfrm>
            <a:off x="640080" y="3749039"/>
            <a:ext cx="2194560" cy="1645920"/>
          </a:xfrm>
          <a:prstGeom prst="rect">
            <a:avLst/>
          </a:prstGeom>
          <a:noFill/>
        </p:spPr>
        <p:txBody>
          <a:bodyPr wrap="square">
            <a:spAutoFit/>
          </a:bodyPr>
          <a:lstStyle/>
          <a:p>
            <a:pPr algn="ctr">
              <a:defRPr sz="1300">
                <a:solidFill>
                  <a:srgbClr val="D1D5DB"/>
                </a:solidFill>
              </a:defRPr>
            </a:pPr>
            <a:r>
              <a:t>Write 3 prompts using</a:t>
            </a:r>
            <a:br/>
            <a:r>
              <a:t>GOLDEN framework.</a:t>
            </a:r>
            <a:br/>
            <a:r>
              <a:t>Compare vague vs specific.</a:t>
            </a:r>
            <a:br/>
            <a:r>
              <a:t>See the difference live.</a:t>
            </a:r>
          </a:p>
        </p:txBody>
      </p:sp>
      <p:sp>
        <p:nvSpPr>
          <p:cNvPr id="9" name="TextBox 8"/>
          <p:cNvSpPr txBox="1"/>
          <p:nvPr/>
        </p:nvSpPr>
        <p:spPr>
          <a:xfrm>
            <a:off x="640080" y="5303520"/>
            <a:ext cx="2194560" cy="365760"/>
          </a:xfrm>
          <a:prstGeom prst="rect">
            <a:avLst/>
          </a:prstGeom>
          <a:noFill/>
        </p:spPr>
        <p:txBody>
          <a:bodyPr wrap="none">
            <a:spAutoFit/>
          </a:bodyPr>
          <a:lstStyle/>
          <a:p>
            <a:pPr algn="ctr">
              <a:defRPr sz="1200" i="1">
                <a:solidFill>
                  <a:srgbClr val="14B8A6"/>
                </a:solidFill>
              </a:defRPr>
            </a:pPr>
            <a:r>
              <a:t>10 min</a:t>
            </a:r>
          </a:p>
        </p:txBody>
      </p:sp>
      <p:sp>
        <p:nvSpPr>
          <p:cNvPr id="10" name="Rounded Rectangle 9"/>
          <p:cNvSpPr/>
          <p:nvPr/>
        </p:nvSpPr>
        <p:spPr>
          <a:xfrm>
            <a:off x="3291840" y="2468880"/>
            <a:ext cx="256032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0" y="2651760"/>
            <a:ext cx="2194560" cy="548640"/>
          </a:xfrm>
          <a:prstGeom prst="rect">
            <a:avLst/>
          </a:prstGeom>
          <a:noFill/>
        </p:spPr>
        <p:txBody>
          <a:bodyPr wrap="none">
            <a:spAutoFit/>
          </a:bodyPr>
          <a:lstStyle/>
          <a:p>
            <a:pPr algn="ctr">
              <a:defRPr sz="3000"/>
            </a:pPr>
            <a:r>
              <a:t>📝</a:t>
            </a:r>
          </a:p>
        </p:txBody>
      </p:sp>
      <p:sp>
        <p:nvSpPr>
          <p:cNvPr id="12" name="TextBox 11"/>
          <p:cNvSpPr txBox="1"/>
          <p:nvPr/>
        </p:nvSpPr>
        <p:spPr>
          <a:xfrm>
            <a:off x="3474720" y="3200400"/>
            <a:ext cx="2194560" cy="457200"/>
          </a:xfrm>
          <a:prstGeom prst="rect">
            <a:avLst/>
          </a:prstGeom>
          <a:noFill/>
        </p:spPr>
        <p:txBody>
          <a:bodyPr wrap="none">
            <a:spAutoFit/>
          </a:bodyPr>
          <a:lstStyle/>
          <a:p>
            <a:pPr algn="ctr">
              <a:defRPr sz="1800" b="1">
                <a:solidFill>
                  <a:srgbClr val="FFFFFF"/>
                </a:solidFill>
              </a:defRPr>
            </a:pPr>
            <a:r>
              <a:t>Create Documents</a:t>
            </a:r>
          </a:p>
        </p:txBody>
      </p:sp>
      <p:sp>
        <p:nvSpPr>
          <p:cNvPr id="13" name="TextBox 12"/>
          <p:cNvSpPr txBox="1"/>
          <p:nvPr/>
        </p:nvSpPr>
        <p:spPr>
          <a:xfrm>
            <a:off x="3474720" y="3749039"/>
            <a:ext cx="2194560" cy="1645920"/>
          </a:xfrm>
          <a:prstGeom prst="rect">
            <a:avLst/>
          </a:prstGeom>
          <a:noFill/>
        </p:spPr>
        <p:txBody>
          <a:bodyPr wrap="square">
            <a:spAutoFit/>
          </a:bodyPr>
          <a:lstStyle/>
          <a:p>
            <a:pPr algn="ctr">
              <a:defRPr sz="1300">
                <a:solidFill>
                  <a:srgbClr val="D1D5DB"/>
                </a:solidFill>
              </a:defRPr>
            </a:pPr>
            <a:r>
              <a:t>Draft an email, a report</a:t>
            </a:r>
            <a:br/>
            <a:r>
              <a:t>summary, and meeting</a:t>
            </a:r>
            <a:br/>
            <a:r>
              <a:t>agenda. Each must be</a:t>
            </a:r>
            <a:br/>
            <a:r>
              <a:t>copy-paste ready.</a:t>
            </a:r>
          </a:p>
        </p:txBody>
      </p:sp>
      <p:sp>
        <p:nvSpPr>
          <p:cNvPr id="14" name="TextBox 13"/>
          <p:cNvSpPr txBox="1"/>
          <p:nvPr/>
        </p:nvSpPr>
        <p:spPr>
          <a:xfrm>
            <a:off x="3474720" y="5303520"/>
            <a:ext cx="2194560" cy="365760"/>
          </a:xfrm>
          <a:prstGeom prst="rect">
            <a:avLst/>
          </a:prstGeom>
          <a:noFill/>
        </p:spPr>
        <p:txBody>
          <a:bodyPr wrap="none">
            <a:spAutoFit/>
          </a:bodyPr>
          <a:lstStyle/>
          <a:p>
            <a:pPr algn="ctr">
              <a:defRPr sz="1200" i="1">
                <a:solidFill>
                  <a:srgbClr val="14B8A6"/>
                </a:solidFill>
              </a:defRPr>
            </a:pPr>
            <a:r>
              <a:t>15 min</a:t>
            </a:r>
          </a:p>
        </p:txBody>
      </p:sp>
      <p:sp>
        <p:nvSpPr>
          <p:cNvPr id="15" name="Rounded Rectangle 14"/>
          <p:cNvSpPr/>
          <p:nvPr/>
        </p:nvSpPr>
        <p:spPr>
          <a:xfrm>
            <a:off x="6126480" y="2468880"/>
            <a:ext cx="256032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2651760"/>
            <a:ext cx="2194560" cy="548640"/>
          </a:xfrm>
          <a:prstGeom prst="rect">
            <a:avLst/>
          </a:prstGeom>
          <a:noFill/>
        </p:spPr>
        <p:txBody>
          <a:bodyPr wrap="none">
            <a:spAutoFit/>
          </a:bodyPr>
          <a:lstStyle/>
          <a:p>
            <a:pPr algn="ctr">
              <a:defRPr sz="3000"/>
            </a:pPr>
            <a:r>
              <a:t>🔄</a:t>
            </a:r>
          </a:p>
        </p:txBody>
      </p:sp>
      <p:sp>
        <p:nvSpPr>
          <p:cNvPr id="17" name="TextBox 16"/>
          <p:cNvSpPr txBox="1"/>
          <p:nvPr/>
        </p:nvSpPr>
        <p:spPr>
          <a:xfrm>
            <a:off x="6309360" y="3200400"/>
            <a:ext cx="2194560" cy="457200"/>
          </a:xfrm>
          <a:prstGeom prst="rect">
            <a:avLst/>
          </a:prstGeom>
          <a:noFill/>
        </p:spPr>
        <p:txBody>
          <a:bodyPr wrap="none">
            <a:spAutoFit/>
          </a:bodyPr>
          <a:lstStyle/>
          <a:p>
            <a:pPr algn="ctr">
              <a:defRPr sz="1800" b="1">
                <a:solidFill>
                  <a:srgbClr val="FFFFFF"/>
                </a:solidFill>
              </a:defRPr>
            </a:pPr>
            <a:r>
              <a:t>Iterate &amp; Refine</a:t>
            </a:r>
          </a:p>
        </p:txBody>
      </p:sp>
      <p:sp>
        <p:nvSpPr>
          <p:cNvPr id="18" name="TextBox 17"/>
          <p:cNvSpPr txBox="1"/>
          <p:nvPr/>
        </p:nvSpPr>
        <p:spPr>
          <a:xfrm>
            <a:off x="6309360" y="3749039"/>
            <a:ext cx="2194560" cy="1645920"/>
          </a:xfrm>
          <a:prstGeom prst="rect">
            <a:avLst/>
          </a:prstGeom>
          <a:noFill/>
        </p:spPr>
        <p:txBody>
          <a:bodyPr wrap="square">
            <a:spAutoFit/>
          </a:bodyPr>
          <a:lstStyle/>
          <a:p>
            <a:pPr algn="ctr">
              <a:defRPr sz="1300">
                <a:solidFill>
                  <a:srgbClr val="D1D5DB"/>
                </a:solidFill>
              </a:defRPr>
            </a:pPr>
            <a:r>
              <a:t>Take your best output.</a:t>
            </a:r>
            <a:br/>
            <a:r>
              <a:t>Refine it 3 times using</a:t>
            </a:r>
            <a:br/>
            <a:r>
              <a:t>feedback techniques.</a:t>
            </a:r>
            <a:br/>
            <a:r>
              <a:t>Track how it improves.</a:t>
            </a:r>
          </a:p>
        </p:txBody>
      </p:sp>
      <p:sp>
        <p:nvSpPr>
          <p:cNvPr id="19" name="TextBox 18"/>
          <p:cNvSpPr txBox="1"/>
          <p:nvPr/>
        </p:nvSpPr>
        <p:spPr>
          <a:xfrm>
            <a:off x="6309360" y="5303520"/>
            <a:ext cx="2194560" cy="365760"/>
          </a:xfrm>
          <a:prstGeom prst="rect">
            <a:avLst/>
          </a:prstGeom>
          <a:noFill/>
        </p:spPr>
        <p:txBody>
          <a:bodyPr wrap="none">
            <a:spAutoFit/>
          </a:bodyPr>
          <a:lstStyle/>
          <a:p>
            <a:pPr algn="ctr">
              <a:defRPr sz="1200" i="1">
                <a:solidFill>
                  <a:srgbClr val="14B8A6"/>
                </a:solidFill>
              </a:defRPr>
            </a:pPr>
            <a:r>
              <a:t>15 min</a:t>
            </a:r>
          </a:p>
        </p:txBody>
      </p:sp>
      <p:sp>
        <p:nvSpPr>
          <p:cNvPr id="20" name="Rounded Rectangle 19"/>
          <p:cNvSpPr/>
          <p:nvPr/>
        </p:nvSpPr>
        <p:spPr>
          <a:xfrm>
            <a:off x="8961120" y="2468880"/>
            <a:ext cx="256032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0" y="2651760"/>
            <a:ext cx="2194560" cy="548640"/>
          </a:xfrm>
          <a:prstGeom prst="rect">
            <a:avLst/>
          </a:prstGeom>
          <a:noFill/>
        </p:spPr>
        <p:txBody>
          <a:bodyPr wrap="none">
            <a:spAutoFit/>
          </a:bodyPr>
          <a:lstStyle/>
          <a:p>
            <a:pPr algn="ctr">
              <a:defRPr sz="3000"/>
            </a:pPr>
            <a:r>
              <a:t>⚡</a:t>
            </a:r>
          </a:p>
        </p:txBody>
      </p:sp>
      <p:sp>
        <p:nvSpPr>
          <p:cNvPr id="22" name="TextBox 21"/>
          <p:cNvSpPr txBox="1"/>
          <p:nvPr/>
        </p:nvSpPr>
        <p:spPr>
          <a:xfrm>
            <a:off x="9144000" y="3200400"/>
            <a:ext cx="2194560" cy="457200"/>
          </a:xfrm>
          <a:prstGeom prst="rect">
            <a:avLst/>
          </a:prstGeom>
          <a:noFill/>
        </p:spPr>
        <p:txBody>
          <a:bodyPr wrap="none">
            <a:spAutoFit/>
          </a:bodyPr>
          <a:lstStyle/>
          <a:p>
            <a:pPr algn="ctr">
              <a:defRPr sz="1800" b="1">
                <a:solidFill>
                  <a:srgbClr val="FFFFFF"/>
                </a:solidFill>
              </a:defRPr>
            </a:pPr>
            <a:r>
              <a:t>Speed Round</a:t>
            </a:r>
          </a:p>
        </p:txBody>
      </p:sp>
      <p:sp>
        <p:nvSpPr>
          <p:cNvPr id="23" name="TextBox 22"/>
          <p:cNvSpPr txBox="1"/>
          <p:nvPr/>
        </p:nvSpPr>
        <p:spPr>
          <a:xfrm>
            <a:off x="9144000" y="3749039"/>
            <a:ext cx="2194560" cy="1645920"/>
          </a:xfrm>
          <a:prstGeom prst="rect">
            <a:avLst/>
          </a:prstGeom>
          <a:noFill/>
        </p:spPr>
        <p:txBody>
          <a:bodyPr wrap="square">
            <a:spAutoFit/>
          </a:bodyPr>
          <a:lstStyle/>
          <a:p>
            <a:pPr algn="ctr">
              <a:defRPr sz="1300">
                <a:solidFill>
                  <a:srgbClr val="D1D5DB"/>
                </a:solidFill>
              </a:defRPr>
            </a:pPr>
            <a:r>
              <a:t>5 rapid-fire prompts</a:t>
            </a:r>
            <a:br/>
            <a:r>
              <a:t>for your actual job.</a:t>
            </a:r>
            <a:br/>
            <a:r>
              <a:t>Use what you learned.</a:t>
            </a:r>
            <a:br/>
            <a:r>
              <a:t>Keep the best outputs.</a:t>
            </a:r>
          </a:p>
        </p:txBody>
      </p:sp>
      <p:sp>
        <p:nvSpPr>
          <p:cNvPr id="24" name="TextBox 23"/>
          <p:cNvSpPr txBox="1"/>
          <p:nvPr/>
        </p:nvSpPr>
        <p:spPr>
          <a:xfrm>
            <a:off x="9144000" y="5303520"/>
            <a:ext cx="2194560" cy="365760"/>
          </a:xfrm>
          <a:prstGeom prst="rect">
            <a:avLst/>
          </a:prstGeom>
          <a:noFill/>
        </p:spPr>
        <p:txBody>
          <a:bodyPr wrap="none">
            <a:spAutoFit/>
          </a:bodyPr>
          <a:lstStyle/>
          <a:p>
            <a:pPr algn="ctr">
              <a:defRPr sz="1200" i="1">
                <a:solidFill>
                  <a:srgbClr val="14B8A6"/>
                </a:solidFill>
              </a:defRPr>
            </a:pPr>
            <a:r>
              <a:t>5 min</a:t>
            </a:r>
          </a:p>
        </p:txBody>
      </p:sp>
      <p:sp>
        <p:nvSpPr>
          <p:cNvPr id="25" name="TextBox 24"/>
          <p:cNvSpPr txBox="1"/>
          <p:nvPr/>
        </p:nvSpPr>
        <p:spPr>
          <a:xfrm>
            <a:off x="9144000" y="3749039"/>
            <a:ext cx="2194560" cy="1645920"/>
          </a:xfrm>
          <a:prstGeom prst="rect">
            <a:avLst/>
          </a:prstGeom>
          <a:noFill/>
        </p:spPr>
        <p:txBody>
          <a:bodyPr wrap="square">
            <a:spAutoFit/>
          </a:bodyPr>
          <a:lstStyle/>
          <a:p>
            <a:pPr algn="ctr">
              <a:defRPr sz="1300">
                <a:solidFill>
                  <a:srgbClr val="D1D5DB"/>
                </a:solidFill>
              </a:defRPr>
            </a:pPr>
            <a:r>
              <a:t>5 rapid-fire prompts</a:t>
            </a:r>
            <a:br/>
            <a:r>
              <a:t>for your actual job.</a:t>
            </a:r>
            <a:br/>
            <a:r>
              <a:t>Use what you learned.</a:t>
            </a:r>
            <a:br/>
            <a:r>
              <a:t>Keep the best outputs.</a:t>
            </a:r>
          </a:p>
        </p:txBody>
      </p:sp>
      <p:sp>
        <p:nvSpPr>
          <p:cNvPr id="26" name="TextBox 25"/>
          <p:cNvSpPr txBox="1"/>
          <p:nvPr/>
        </p:nvSpPr>
        <p:spPr>
          <a:xfrm>
            <a:off x="9144000" y="5303520"/>
            <a:ext cx="2194560" cy="365760"/>
          </a:xfrm>
          <a:prstGeom prst="rect">
            <a:avLst/>
          </a:prstGeom>
          <a:noFill/>
        </p:spPr>
        <p:txBody>
          <a:bodyPr wrap="none">
            <a:spAutoFit/>
          </a:bodyPr>
          <a:lstStyle/>
          <a:p>
            <a:pPr algn="ctr">
              <a:defRPr sz="1200" i="1">
                <a:solidFill>
                  <a:srgbClr val="14B8A6"/>
                </a:solidFill>
              </a:defRPr>
            </a:pPr>
            <a:r>
              <a:t>5 min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892552"/>
          </a:xfrm>
          <a:prstGeom prst="rect">
            <a:avLst/>
          </a:prstGeom>
          <a:noFill/>
        </p:spPr>
        <p:txBody>
          <a:bodyPr wrap="square">
            <a:spAutoFit/>
          </a:bodyPr>
          <a:lstStyle/>
          <a:p>
            <a:pPr algn="ctr">
              <a:defRPr sz="5200" b="1">
                <a:solidFill>
                  <a:srgbClr val="FFFFFF"/>
                </a:solidFill>
              </a:defRPr>
            </a:pPr>
            <a:r>
              <a:rPr dirty="0"/>
              <a:t>Beyond Prompting: </a:t>
            </a:r>
            <a:r>
              <a:rPr lang="en-US" dirty="0"/>
              <a:t>Key </a:t>
            </a:r>
            <a:r>
              <a:rPr dirty="0"/>
              <a:t>Success Skills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What separates the 20% who succeed from the 80% who quit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When NOT to Use AI</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 Don't Use AI For:</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Final legal/medical/financial advice</a:t>
            </a:r>
          </a:p>
          <a:p>
            <a:pPr>
              <a:spcAft>
                <a:spcPts val="1200"/>
              </a:spcAft>
              <a:defRPr sz="1800">
                <a:solidFill>
                  <a:srgbClr val="FFFFFF"/>
                </a:solidFill>
              </a:defRPr>
            </a:pPr>
            <a:r>
              <a:t>  Decisions with sensitive personal data</a:t>
            </a:r>
          </a:p>
          <a:p>
            <a:pPr>
              <a:spcAft>
                <a:spcPts val="1200"/>
              </a:spcAft>
              <a:defRPr sz="1800">
                <a:solidFill>
                  <a:srgbClr val="FFFFFF"/>
                </a:solidFill>
              </a:defRPr>
            </a:pPr>
            <a:r>
              <a:t>  Mission-critical without verification</a:t>
            </a:r>
          </a:p>
          <a:p>
            <a:pPr>
              <a:spcAft>
                <a:spcPts val="1200"/>
              </a:spcAft>
              <a:defRPr sz="1800">
                <a:solidFill>
                  <a:srgbClr val="FFFFFF"/>
                </a:solidFill>
              </a:defRPr>
            </a:pPr>
            <a:r>
              <a:t>  Representing your company officially</a:t>
            </a:r>
          </a:p>
          <a:p>
            <a:pPr>
              <a:spcAft>
                <a:spcPts val="1200"/>
              </a:spcAft>
              <a:defRPr sz="1800">
                <a:solidFill>
                  <a:srgbClr val="FFFFFF"/>
                </a:solidFill>
              </a:defRPr>
            </a:pPr>
            <a:r>
              <a:t>  Anything requiring ethical judgment</a:t>
            </a:r>
          </a:p>
          <a:p>
            <a:pPr>
              <a:spcAft>
                <a:spcPts val="1200"/>
              </a:spcAft>
              <a:defRPr sz="1800">
                <a:solidFill>
                  <a:srgbClr val="FFFFFF"/>
                </a:solidFill>
              </a:defRPr>
            </a:pPr>
            <a:r>
              <a:t>  Tasks requiring guaranteed 100% accuracy</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10B981"/>
                </a:solidFill>
              </a:defRPr>
            </a:pPr>
            <a:r>
              <a:t>✅ DO Use AI For:</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Drafts that you'll review/edit</a:t>
            </a:r>
          </a:p>
          <a:p>
            <a:pPr>
              <a:spcAft>
                <a:spcPts val="1200"/>
              </a:spcAft>
              <a:defRPr sz="1800">
                <a:solidFill>
                  <a:srgbClr val="FFFFFF"/>
                </a:solidFill>
              </a:defRPr>
            </a:pPr>
            <a:r>
              <a:t>  Brainstorming and exploration</a:t>
            </a:r>
          </a:p>
          <a:p>
            <a:pPr>
              <a:spcAft>
                <a:spcPts val="1200"/>
              </a:spcAft>
              <a:defRPr sz="1800">
                <a:solidFill>
                  <a:srgbClr val="FFFFFF"/>
                </a:solidFill>
              </a:defRPr>
            </a:pPr>
            <a:r>
              <a:t>  Summarizing your own documents</a:t>
            </a:r>
          </a:p>
          <a:p>
            <a:pPr>
              <a:spcAft>
                <a:spcPts val="1200"/>
              </a:spcAft>
              <a:defRPr sz="1800">
                <a:solidFill>
                  <a:srgbClr val="FFFFFF"/>
                </a:solidFill>
              </a:defRPr>
            </a:pPr>
            <a:r>
              <a:t>  Learning new topics</a:t>
            </a:r>
          </a:p>
          <a:p>
            <a:pPr>
              <a:spcAft>
                <a:spcPts val="1200"/>
              </a:spcAft>
              <a:defRPr sz="1800">
                <a:solidFill>
                  <a:srgbClr val="FFFFFF"/>
                </a:solidFill>
              </a:defRPr>
            </a:pPr>
            <a:r>
              <a:t>  Formatting and restructuring</a:t>
            </a:r>
          </a:p>
          <a:p>
            <a:pPr>
              <a:spcAft>
                <a:spcPts val="1200"/>
              </a:spcAft>
              <a:defRPr sz="1800">
                <a:solidFill>
                  <a:srgbClr val="FFFFFF"/>
                </a:solidFill>
              </a:defRPr>
            </a:pPr>
            <a:r>
              <a:t>  Analyzing data you understand</a:t>
            </a:r>
          </a:p>
          <a:p>
            <a:pPr>
              <a:spcAft>
                <a:spcPts val="1200"/>
              </a:spcAft>
              <a:defRPr sz="1800">
                <a:solidFill>
                  <a:srgbClr val="FFFFFF"/>
                </a:solidFill>
              </a:defRPr>
            </a:pPr>
            <a:r>
              <a:t>  Quick real-time lookups (news, prices, weather)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Break</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15 minutes | 10:15 AM - 10:30 AM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365760" y="1371600"/>
            <a:ext cx="73152" cy="27432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0"/>
            <a:ext cx="2743200" cy="548640"/>
          </a:xfrm>
          <a:prstGeom prst="rect">
            <a:avLst/>
          </a:prstGeom>
          <a:noFill/>
        </p:spPr>
        <p:txBody>
          <a:bodyPr wrap="none">
            <a:spAutoFit/>
          </a:bodyPr>
          <a:lstStyle/>
          <a:p>
            <a:pPr>
              <a:defRPr sz="1600" b="1">
                <a:solidFill>
                  <a:srgbClr val="14B8A6"/>
                </a:solidFill>
              </a:defRPr>
            </a:pPr>
            <a:r>
              <a:t>SECTION 2</a:t>
            </a:r>
          </a:p>
        </p:txBody>
      </p:sp>
      <p:sp>
        <p:nvSpPr>
          <p:cNvPr id="4" name="TextBox 3"/>
          <p:cNvSpPr txBox="1"/>
          <p:nvPr/>
        </p:nvSpPr>
        <p:spPr>
          <a:xfrm>
            <a:off x="731520" y="2011680"/>
            <a:ext cx="10058400" cy="1097280"/>
          </a:xfrm>
          <a:prstGeom prst="rect">
            <a:avLst/>
          </a:prstGeom>
          <a:noFill/>
        </p:spPr>
        <p:txBody>
          <a:bodyPr wrap="none">
            <a:spAutoFit/>
          </a:bodyPr>
          <a:lstStyle/>
          <a:p>
            <a:pPr>
              <a:defRPr sz="5600" b="1">
                <a:solidFill>
                  <a:srgbClr val="FFFFFF"/>
                </a:solidFill>
              </a:defRPr>
            </a:pPr>
            <a:r>
              <a:t>Models, Settings</a:t>
            </a:r>
            <a:br/>
            <a:r>
              <a:t>&amp; Projects</a:t>
            </a:r>
          </a:p>
        </p:txBody>
      </p:sp>
      <p:sp>
        <p:nvSpPr>
          <p:cNvPr id="5" name="TextBox 4"/>
          <p:cNvSpPr txBox="1"/>
          <p:nvPr/>
        </p:nvSpPr>
        <p:spPr>
          <a:xfrm>
            <a:off x="731520" y="3840480"/>
            <a:ext cx="10058400" cy="548640"/>
          </a:xfrm>
          <a:prstGeom prst="rect">
            <a:avLst/>
          </a:prstGeom>
          <a:noFill/>
        </p:spPr>
        <p:txBody>
          <a:bodyPr wrap="none">
            <a:spAutoFit/>
          </a:bodyPr>
          <a:lstStyle/>
          <a:p>
            <a:pPr>
              <a:defRPr sz="2200">
                <a:solidFill>
                  <a:srgbClr val="9CA3AF"/>
                </a:solidFill>
              </a:defRPr>
            </a:pPr>
            <a:r>
              <a:t>Choose the right engine, configure your workspace, organize your work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4000" b="1">
                <a:solidFill>
                  <a:srgbClr val="FFFFFF"/>
                </a:solidFill>
              </a:defRPr>
            </a:pPr>
            <a:r>
              <a:rPr kumimoji="0" sz="4000" b="1" i="0" u="none" strike="noStrike" kern="1200" cap="none" spc="0" normalizeH="0" baseline="0" noProof="0">
                <a:ln>
                  <a:noFill/>
                </a:ln>
                <a:solidFill>
                  <a:srgbClr val="FFFFFF"/>
                </a:solidFill>
                <a:effectLst/>
                <a:uLnTx/>
                <a:uFillTx/>
                <a:latin typeface="Calibri"/>
                <a:ea typeface="+mn-ea"/>
                <a:cs typeface="+mn-cs"/>
              </a:rPr>
              <a:t>Claude Model Family</a:t>
            </a:r>
          </a:p>
        </p:txBody>
      </p:sp>
      <p:sp>
        <p:nvSpPr>
          <p:cNvPr id="3" name="Rounded Rectangle 2"/>
          <p:cNvSpPr/>
          <p:nvPr/>
        </p:nvSpPr>
        <p:spPr>
          <a:xfrm>
            <a:off x="2301087" y="2011680"/>
            <a:ext cx="2286000" cy="3200400"/>
          </a:xfrm>
          <a:prstGeom prst="roundRect">
            <a:avLst/>
          </a:prstGeom>
          <a:solidFill>
            <a:srgbClr val="141A26"/>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Oval 3"/>
          <p:cNvSpPr/>
          <p:nvPr/>
        </p:nvSpPr>
        <p:spPr>
          <a:xfrm>
            <a:off x="2986887" y="246888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3600" b="1">
                <a:solidFill>
                  <a:srgbClr val="0B0F1A"/>
                </a:solidFill>
              </a:defRPr>
            </a:pPr>
            <a:r>
              <a:rPr kumimoji="0" sz="3600" b="1" i="0" u="none" strike="noStrike" kern="1200" cap="none" spc="0" normalizeH="0" baseline="0" noProof="0">
                <a:ln>
                  <a:noFill/>
                </a:ln>
                <a:solidFill>
                  <a:srgbClr val="0B0F1A"/>
                </a:solidFill>
                <a:effectLst/>
                <a:uLnTx/>
                <a:uFillTx/>
                <a:latin typeface="Calibri"/>
                <a:ea typeface="+mn-ea"/>
                <a:cs typeface="+mn-cs"/>
              </a:rPr>
              <a:t>H</a:t>
            </a:r>
          </a:p>
        </p:txBody>
      </p:sp>
      <p:sp>
        <p:nvSpPr>
          <p:cNvPr id="6" name="TextBox 5"/>
          <p:cNvSpPr txBox="1"/>
          <p:nvPr/>
        </p:nvSpPr>
        <p:spPr>
          <a:xfrm>
            <a:off x="2392527" y="3657600"/>
            <a:ext cx="2103120" cy="1371600"/>
          </a:xfrm>
          <a:prstGeom prst="rect">
            <a:avLst/>
          </a:prstGeom>
          <a:noFill/>
        </p:spPr>
        <p:txBody>
          <a:bodyPr wrap="square">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sz="2000" b="1">
                <a:solidFill>
                  <a:srgbClr val="FFFFFF"/>
                </a:solidFill>
              </a:defRPr>
            </a:pPr>
            <a:r>
              <a:rPr kumimoji="0" sz="2000" b="1" i="0" u="none" strike="noStrike" kern="1200" cap="none" spc="0" normalizeH="0" baseline="0" noProof="0">
                <a:ln>
                  <a:noFill/>
                </a:ln>
                <a:solidFill>
                  <a:srgbClr val="FFFFFF"/>
                </a:solidFill>
                <a:effectLst/>
                <a:uLnTx/>
                <a:uFillTx/>
                <a:latin typeface="Calibri"/>
                <a:ea typeface="+mn-ea"/>
                <a:cs typeface="+mn-cs"/>
              </a:rPr>
              <a:t>Haiku</a:t>
            </a:r>
            <a:br>
              <a:rPr kumimoji="0" sz="2000" b="1" i="0" u="none" strike="noStrike" kern="1200" cap="none" spc="0" normalizeH="0" baseline="0" noProof="0">
                <a:ln>
                  <a:noFill/>
                </a:ln>
                <a:solidFill>
                  <a:srgbClr val="FFFFFF"/>
                </a:solidFill>
                <a:effectLst/>
                <a:uLnTx/>
                <a:uFillTx/>
                <a:latin typeface="Calibri"/>
                <a:ea typeface="+mn-ea"/>
                <a:cs typeface="+mn-cs"/>
              </a:rPr>
            </a:br>
            <a:r>
              <a:rPr kumimoji="0" sz="2000" b="1" i="0" u="none" strike="noStrike" kern="1200" cap="none" spc="0" normalizeH="0" baseline="0" noProof="0">
                <a:ln>
                  <a:noFill/>
                </a:ln>
                <a:solidFill>
                  <a:srgbClr val="FFFFFF"/>
                </a:solidFill>
                <a:effectLst/>
                <a:uLnTx/>
                <a:uFillTx/>
                <a:latin typeface="Calibri"/>
                <a:ea typeface="+mn-ea"/>
                <a:cs typeface="+mn-cs"/>
              </a:rPr>
              <a:t>Fastest • Lowest cost</a:t>
            </a:r>
            <a:br>
              <a:rPr kumimoji="0" sz="2000" b="1" i="0" u="none" strike="noStrike" kern="1200" cap="none" spc="0" normalizeH="0" baseline="0" noProof="0">
                <a:ln>
                  <a:noFill/>
                </a:ln>
                <a:solidFill>
                  <a:srgbClr val="FFFFFF"/>
                </a:solidFill>
                <a:effectLst/>
                <a:uLnTx/>
                <a:uFillTx/>
                <a:latin typeface="Calibri"/>
                <a:ea typeface="+mn-ea"/>
                <a:cs typeface="+mn-cs"/>
              </a:rPr>
            </a:br>
            <a:r>
              <a:rPr kumimoji="0" sz="2000" b="1" i="0" u="none" strike="noStrike" kern="1200" cap="none" spc="0" normalizeH="0" baseline="0" noProof="0">
                <a:ln>
                  <a:noFill/>
                </a:ln>
                <a:solidFill>
                  <a:srgbClr val="FFFFFF"/>
                </a:solidFill>
                <a:effectLst/>
                <a:uLnTx/>
                <a:uFillTx/>
                <a:latin typeface="Calibri"/>
                <a:ea typeface="+mn-ea"/>
                <a:cs typeface="+mn-cs"/>
              </a:rPr>
              <a:t>Quick tasks</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3600" b="1">
                <a:solidFill>
                  <a:srgbClr val="0B0F1A"/>
                </a:solidFill>
              </a:defRPr>
            </a:pPr>
            <a:r>
              <a:rPr kumimoji="0" sz="3600" b="1" i="0" u="none" strike="noStrike" kern="1200" cap="none" spc="0" normalizeH="0" baseline="0" noProof="0">
                <a:ln>
                  <a:noFill/>
                </a:ln>
                <a:solidFill>
                  <a:srgbClr val="0B0F1A"/>
                </a:solidFill>
                <a:effectLst/>
                <a:uLnTx/>
                <a:uFillTx/>
                <a:latin typeface="Calibri"/>
                <a:ea typeface="+mn-ea"/>
                <a:cs typeface="+mn-cs"/>
              </a:rPr>
              <a:t>S</a:t>
            </a:r>
          </a:p>
        </p:txBody>
      </p:sp>
      <p:sp>
        <p:nvSpPr>
          <p:cNvPr id="10" name="TextBox 9"/>
          <p:cNvSpPr txBox="1"/>
          <p:nvPr/>
        </p:nvSpPr>
        <p:spPr>
          <a:xfrm>
            <a:off x="5044287" y="3657600"/>
            <a:ext cx="2103120" cy="1371600"/>
          </a:xfrm>
          <a:prstGeom prst="rect">
            <a:avLst/>
          </a:prstGeom>
          <a:noFill/>
        </p:spPr>
        <p:txBody>
          <a:bodyPr wrap="square">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sz="2000" b="1">
                <a:solidFill>
                  <a:srgbClr val="FFFFFF"/>
                </a:solidFill>
              </a:defRPr>
            </a:pPr>
            <a:r>
              <a:rPr kumimoji="0" sz="2000" b="1" i="0" u="none" strike="noStrike" kern="1200" cap="none" spc="0" normalizeH="0" baseline="0" noProof="0">
                <a:ln>
                  <a:noFill/>
                </a:ln>
                <a:solidFill>
                  <a:srgbClr val="FFFFFF"/>
                </a:solidFill>
                <a:effectLst/>
                <a:uLnTx/>
                <a:uFillTx/>
                <a:latin typeface="Calibri"/>
                <a:ea typeface="+mn-ea"/>
                <a:cs typeface="+mn-cs"/>
              </a:rPr>
              <a:t>Sonnet</a:t>
            </a:r>
            <a:br>
              <a:rPr kumimoji="0" sz="2000" b="1" i="0" u="none" strike="noStrike" kern="1200" cap="none" spc="0" normalizeH="0" baseline="0" noProof="0">
                <a:ln>
                  <a:noFill/>
                </a:ln>
                <a:solidFill>
                  <a:srgbClr val="FFFFFF"/>
                </a:solidFill>
                <a:effectLst/>
                <a:uLnTx/>
                <a:uFillTx/>
                <a:latin typeface="Calibri"/>
                <a:ea typeface="+mn-ea"/>
                <a:cs typeface="+mn-cs"/>
              </a:rPr>
            </a:br>
            <a:r>
              <a:rPr kumimoji="0" sz="2000" b="1" i="0" u="none" strike="noStrike" kern="1200" cap="none" spc="0" normalizeH="0" baseline="0" noProof="0">
                <a:ln>
                  <a:noFill/>
                </a:ln>
                <a:solidFill>
                  <a:srgbClr val="FFFFFF"/>
                </a:solidFill>
                <a:effectLst/>
                <a:uLnTx/>
                <a:uFillTx/>
                <a:latin typeface="Calibri"/>
                <a:ea typeface="+mn-ea"/>
                <a:cs typeface="+mn-cs"/>
              </a:rPr>
              <a:t>Balanced • Most work</a:t>
            </a:r>
            <a:br>
              <a:rPr kumimoji="0" sz="2000" b="1" i="0" u="none" strike="noStrike" kern="1200" cap="none" spc="0" normalizeH="0" baseline="0" noProof="0">
                <a:ln>
                  <a:noFill/>
                </a:ln>
                <a:solidFill>
                  <a:srgbClr val="FFFFFF"/>
                </a:solidFill>
                <a:effectLst/>
                <a:uLnTx/>
                <a:uFillTx/>
                <a:latin typeface="Calibri"/>
                <a:ea typeface="+mn-ea"/>
                <a:cs typeface="+mn-cs"/>
              </a:rPr>
            </a:br>
            <a:r>
              <a:rPr kumimoji="0" sz="2000" b="1" i="0" u="none" strike="noStrike" kern="1200" cap="none" spc="0" normalizeH="0" baseline="0" noProof="0">
                <a:ln>
                  <a:noFill/>
                </a:ln>
                <a:solidFill>
                  <a:srgbClr val="FFFFFF"/>
                </a:solidFill>
                <a:effectLst/>
                <a:uLnTx/>
                <a:uFillTx/>
                <a:latin typeface="Calibri"/>
                <a:ea typeface="+mn-ea"/>
                <a:cs typeface="+mn-cs"/>
              </a:rPr>
              <a:t>(Default)</a:t>
            </a:r>
          </a:p>
        </p:txBody>
      </p:sp>
      <p:sp>
        <p:nvSpPr>
          <p:cNvPr id="11" name="Rounded Rectangle 10"/>
          <p:cNvSpPr/>
          <p:nvPr/>
        </p:nvSpPr>
        <p:spPr>
          <a:xfrm>
            <a:off x="760460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p:cNvSpPr/>
          <p:nvPr/>
        </p:nvSpPr>
        <p:spPr>
          <a:xfrm>
            <a:off x="829040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3600" b="1">
                <a:solidFill>
                  <a:srgbClr val="0B0F1A"/>
                </a:solidFill>
              </a:defRPr>
            </a:pPr>
            <a:r>
              <a:rPr kumimoji="0" sz="3600" b="1" i="0" u="none" strike="noStrike" kern="1200" cap="none" spc="0" normalizeH="0" baseline="0" noProof="0">
                <a:ln>
                  <a:noFill/>
                </a:ln>
                <a:solidFill>
                  <a:srgbClr val="0B0F1A"/>
                </a:solidFill>
                <a:effectLst/>
                <a:uLnTx/>
                <a:uFillTx/>
                <a:latin typeface="Calibri"/>
                <a:ea typeface="+mn-ea"/>
                <a:cs typeface="+mn-cs"/>
              </a:rPr>
              <a:t>O</a:t>
            </a:r>
          </a:p>
        </p:txBody>
      </p:sp>
      <p:sp>
        <p:nvSpPr>
          <p:cNvPr id="14" name="TextBox 13"/>
          <p:cNvSpPr txBox="1"/>
          <p:nvPr/>
        </p:nvSpPr>
        <p:spPr>
          <a:xfrm>
            <a:off x="7696047" y="3657600"/>
            <a:ext cx="2103120" cy="1371600"/>
          </a:xfrm>
          <a:prstGeom prst="rect">
            <a:avLst/>
          </a:prstGeom>
          <a:noFill/>
        </p:spPr>
        <p:txBody>
          <a:bodyPr wrap="square">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sz="2000" b="1">
                <a:solidFill>
                  <a:srgbClr val="FFFFFF"/>
                </a:solidFill>
              </a:defRPr>
            </a:pPr>
            <a:r>
              <a:rPr kumimoji="0" sz="2000" b="1" i="0" u="none" strike="noStrike" kern="1200" cap="none" spc="0" normalizeH="0" baseline="0" noProof="0">
                <a:ln>
                  <a:noFill/>
                </a:ln>
                <a:solidFill>
                  <a:srgbClr val="FFFFFF"/>
                </a:solidFill>
                <a:effectLst/>
                <a:uLnTx/>
                <a:uFillTx/>
                <a:latin typeface="Calibri"/>
                <a:ea typeface="+mn-ea"/>
                <a:cs typeface="+mn-cs"/>
              </a:rPr>
              <a:t>Opus</a:t>
            </a:r>
            <a:br>
              <a:rPr kumimoji="0" sz="2000" b="1" i="0" u="none" strike="noStrike" kern="1200" cap="none" spc="0" normalizeH="0" baseline="0" noProof="0">
                <a:ln>
                  <a:noFill/>
                </a:ln>
                <a:solidFill>
                  <a:srgbClr val="FFFFFF"/>
                </a:solidFill>
                <a:effectLst/>
                <a:uLnTx/>
                <a:uFillTx/>
                <a:latin typeface="Calibri"/>
                <a:ea typeface="+mn-ea"/>
                <a:cs typeface="+mn-cs"/>
              </a:rPr>
            </a:br>
            <a:r>
              <a:rPr kumimoji="0" sz="2000" b="1" i="0" u="none" strike="noStrike" kern="1200" cap="none" spc="0" normalizeH="0" baseline="0" noProof="0">
                <a:ln>
                  <a:noFill/>
                </a:ln>
                <a:solidFill>
                  <a:srgbClr val="FFFFFF"/>
                </a:solidFill>
                <a:effectLst/>
                <a:uLnTx/>
                <a:uFillTx/>
                <a:latin typeface="Calibri"/>
                <a:ea typeface="+mn-ea"/>
                <a:cs typeface="+mn-cs"/>
              </a:rPr>
              <a:t>Most capable</a:t>
            </a:r>
            <a:br>
              <a:rPr kumimoji="0" sz="2000" b="1" i="0" u="none" strike="noStrike" kern="1200" cap="none" spc="0" normalizeH="0" baseline="0" noProof="0">
                <a:ln>
                  <a:noFill/>
                </a:ln>
                <a:solidFill>
                  <a:srgbClr val="FFFFFF"/>
                </a:solidFill>
                <a:effectLst/>
                <a:uLnTx/>
                <a:uFillTx/>
                <a:latin typeface="Calibri"/>
                <a:ea typeface="+mn-ea"/>
                <a:cs typeface="+mn-cs"/>
              </a:rPr>
            </a:br>
            <a:r>
              <a:rPr kumimoji="0" sz="2000" b="1" i="0" u="none" strike="noStrike" kern="1200" cap="none" spc="0" normalizeH="0" baseline="0" noProof="0">
                <a:ln>
                  <a:noFill/>
                </a:ln>
                <a:solidFill>
                  <a:srgbClr val="FFFFFF"/>
                </a:solidFill>
                <a:effectLst/>
                <a:uLnTx/>
                <a:uFillTx/>
                <a:latin typeface="Calibri"/>
                <a:ea typeface="+mn-ea"/>
                <a:cs typeface="+mn-cs"/>
              </a:rPr>
              <a:t>Critical decisions</a:t>
            </a:r>
          </a:p>
        </p:txBody>
      </p:sp>
    </p:spTree>
    <p:extLst>
      <p:ext uri="{BB962C8B-B14F-4D97-AF65-F5344CB8AC3E}">
        <p14:creationId xmlns:p14="http://schemas.microsoft.com/office/powerpoint/2010/main" val="3747382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3600" b="1">
                <a:solidFill>
                  <a:srgbClr val="FFFFFF"/>
                </a:solidFill>
              </a:defRPr>
            </a:pPr>
            <a:r>
              <a:rPr kumimoji="0" sz="3600" b="1" i="0" u="none" strike="noStrike" kern="1200" cap="none" spc="0" normalizeH="0" baseline="0" noProof="0">
                <a:ln>
                  <a:noFill/>
                </a:ln>
                <a:solidFill>
                  <a:srgbClr val="FFFFFF"/>
                </a:solidFill>
                <a:effectLst/>
                <a:uLnTx/>
                <a:uFillTx/>
                <a:latin typeface="Calibri"/>
                <a:ea typeface="+mn-ea"/>
                <a:cs typeface="+mn-cs"/>
              </a:rPr>
              <a:t>When to Use Each Model</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1463040"/>
            <a:ext cx="5364327" cy="73152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800" b="1">
                <a:solidFill>
                  <a:srgbClr val="00D4AA"/>
                </a:solidFill>
              </a:defRPr>
            </a:pPr>
            <a:r>
              <a:rPr kumimoji="0" sz="2800" b="1" i="0" u="none" strike="noStrike" kern="1200" cap="none" spc="0" normalizeH="0" baseline="0" noProof="0">
                <a:ln>
                  <a:noFill/>
                </a:ln>
                <a:solidFill>
                  <a:srgbClr val="00D4AA"/>
                </a:solidFill>
                <a:effectLst/>
                <a:uLnTx/>
                <a:uFillTx/>
                <a:latin typeface="Calibri"/>
                <a:ea typeface="+mn-ea"/>
                <a:cs typeface="+mn-cs"/>
              </a:rPr>
              <a:t>Haiku / Sonnet</a:t>
            </a:r>
          </a:p>
        </p:txBody>
      </p:sp>
      <p:sp>
        <p:nvSpPr>
          <p:cNvPr id="5" name="TextBox 4"/>
          <p:cNvSpPr txBox="1"/>
          <p:nvPr/>
        </p:nvSpPr>
        <p:spPr>
          <a:xfrm>
            <a:off x="457200" y="2286000"/>
            <a:ext cx="5364327" cy="3657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Fast responses needed</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Straightforward tasks</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Iterating many times</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General productivity</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You're not sure (default Sonnet)</a:t>
            </a:r>
          </a:p>
        </p:txBody>
      </p:sp>
      <p:sp>
        <p:nvSpPr>
          <p:cNvPr id="6" name="TextBox 5"/>
          <p:cNvSpPr txBox="1"/>
          <p:nvPr/>
        </p:nvSpPr>
        <p:spPr>
          <a:xfrm>
            <a:off x="6370167" y="1463040"/>
            <a:ext cx="5364327" cy="73152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800" b="1">
                <a:solidFill>
                  <a:srgbClr val="E86B4A"/>
                </a:solidFill>
              </a:defRPr>
            </a:pPr>
            <a:r>
              <a:rPr kumimoji="0" sz="2800" b="1" i="0" u="none" strike="noStrike" kern="1200" cap="none" spc="0" normalizeH="0" baseline="0" noProof="0">
                <a:ln>
                  <a:noFill/>
                </a:ln>
                <a:solidFill>
                  <a:srgbClr val="E86B4A"/>
                </a:solidFill>
                <a:effectLst/>
                <a:uLnTx/>
                <a:uFillTx/>
                <a:latin typeface="Calibri"/>
                <a:ea typeface="+mn-ea"/>
                <a:cs typeface="+mn-cs"/>
              </a:rPr>
              <a:t>Opus</a:t>
            </a:r>
          </a:p>
        </p:txBody>
      </p:sp>
      <p:sp>
        <p:nvSpPr>
          <p:cNvPr id="7" name="TextBox 6"/>
          <p:cNvSpPr txBox="1"/>
          <p:nvPr/>
        </p:nvSpPr>
        <p:spPr>
          <a:xfrm>
            <a:off x="6370167" y="2286000"/>
            <a:ext cx="5364327" cy="3657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Stakes are high</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Complexity is high</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Quality &gt; speed</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Critical decisions</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Best output needed</a:t>
            </a:r>
          </a:p>
        </p:txBody>
      </p:sp>
    </p:spTree>
    <p:extLst>
      <p:ext uri="{BB962C8B-B14F-4D97-AF65-F5344CB8AC3E}">
        <p14:creationId xmlns:p14="http://schemas.microsoft.com/office/powerpoint/2010/main" val="2209087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5200" b="1">
                <a:solidFill>
                  <a:srgbClr val="FFFFFF"/>
                </a:solidFill>
              </a:defRPr>
            </a:pPr>
            <a:r>
              <a:rPr kumimoji="0" sz="5200" b="1" i="0" u="none" strike="noStrike" kern="1200" cap="none" spc="0" normalizeH="0" baseline="0" noProof="0" dirty="0">
                <a:ln>
                  <a:noFill/>
                </a:ln>
                <a:solidFill>
                  <a:srgbClr val="FFFFFF"/>
                </a:solidFill>
                <a:effectLst/>
                <a:uLnTx/>
                <a:uFillTx/>
                <a:latin typeface="Calibri"/>
                <a:ea typeface="+mn-ea"/>
                <a:cs typeface="+mn-cs"/>
              </a:rPr>
              <a:t>Extended Thinking Mode</a:t>
            </a:r>
          </a:p>
        </p:txBody>
      </p:sp>
      <p:sp>
        <p:nvSpPr>
          <p:cNvPr id="3" name="TextBox 2"/>
          <p:cNvSpPr txBox="1"/>
          <p:nvPr/>
        </p:nvSpPr>
        <p:spPr>
          <a:xfrm>
            <a:off x="914400" y="3840480"/>
            <a:ext cx="10362895" cy="91440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400">
                <a:solidFill>
                  <a:srgbClr val="8B95A5"/>
                </a:solidFill>
              </a:defRPr>
            </a:pPr>
            <a:r>
              <a:rPr kumimoji="0" sz="2400" b="0" i="0" u="none" strike="noStrike" kern="1200" cap="none" spc="0" normalizeH="0" baseline="0" noProof="0">
                <a:ln>
                  <a:noFill/>
                </a:ln>
                <a:solidFill>
                  <a:srgbClr val="8B95A5"/>
                </a:solidFill>
                <a:effectLst/>
                <a:uLnTx/>
                <a:uFillTx/>
                <a:latin typeface="Calibri"/>
                <a:ea typeface="+mn-ea"/>
                <a:cs typeface="+mn-cs"/>
              </a:rPr>
              <a:t>Claude's advanced reasoning capability</a:t>
            </a:r>
          </a:p>
        </p:txBody>
      </p:sp>
      <p:pic>
        <p:nvPicPr>
          <p:cNvPr id="5" name="Picture 4">
            <a:extLst>
              <a:ext uri="{FF2B5EF4-FFF2-40B4-BE49-F238E27FC236}">
                <a16:creationId xmlns:a16="http://schemas.microsoft.com/office/drawing/2014/main" id="{ED40630E-5EFE-2DDC-31BA-D0ADD91A91EC}"/>
              </a:ext>
            </a:extLst>
          </p:cNvPr>
          <p:cNvPicPr>
            <a:picLocks noChangeAspect="1"/>
          </p:cNvPicPr>
          <p:nvPr/>
        </p:nvPicPr>
        <p:blipFill>
          <a:blip r:embed="rId3"/>
          <a:stretch>
            <a:fillRect/>
          </a:stretch>
        </p:blipFill>
        <p:spPr>
          <a:xfrm>
            <a:off x="9086916" y="3479533"/>
            <a:ext cx="2970787" cy="3228556"/>
          </a:xfrm>
          <a:prstGeom prst="rect">
            <a:avLst/>
          </a:prstGeom>
          <a:ln>
            <a:noFill/>
          </a:ln>
          <a:effectLst>
            <a:softEdge rad="112500"/>
          </a:effectLst>
        </p:spPr>
      </p:pic>
    </p:spTree>
    <p:extLst>
      <p:ext uri="{BB962C8B-B14F-4D97-AF65-F5344CB8AC3E}">
        <p14:creationId xmlns:p14="http://schemas.microsoft.com/office/powerpoint/2010/main" val="1142427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3600" b="1">
                <a:solidFill>
                  <a:srgbClr val="FFFFFF"/>
                </a:solidFill>
              </a:defRPr>
            </a:pPr>
            <a:r>
              <a:rPr kumimoji="0" sz="3600" b="1" i="0" u="none" strike="noStrike" kern="1200" cap="none" spc="0" normalizeH="0" baseline="0" noProof="0">
                <a:ln>
                  <a:noFill/>
                </a:ln>
                <a:solidFill>
                  <a:srgbClr val="FFFFFF"/>
                </a:solidFill>
                <a:effectLst/>
                <a:uLnTx/>
                <a:uFillTx/>
                <a:latin typeface="Calibri"/>
                <a:ea typeface="+mn-ea"/>
                <a:cs typeface="+mn-cs"/>
              </a:rPr>
              <a:t>When to Use Extended Thinking</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1463040"/>
            <a:ext cx="5364327" cy="73152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800" b="1">
                <a:solidFill>
                  <a:srgbClr val="00D4AA"/>
                </a:solidFill>
              </a:defRPr>
            </a:pPr>
            <a:r>
              <a:rPr kumimoji="0" sz="2800" b="1" i="0" u="none" strike="noStrike" kern="1200" cap="none" spc="0" normalizeH="0" baseline="0" noProof="0">
                <a:ln>
                  <a:noFill/>
                </a:ln>
                <a:solidFill>
                  <a:srgbClr val="00D4AA"/>
                </a:solidFill>
                <a:effectLst/>
                <a:uLnTx/>
                <a:uFillTx/>
                <a:latin typeface="Calibri"/>
                <a:ea typeface="+mn-ea"/>
                <a:cs typeface="+mn-cs"/>
              </a:rPr>
              <a:t>Use Extended Thinking For</a:t>
            </a:r>
          </a:p>
        </p:txBody>
      </p:sp>
      <p:sp>
        <p:nvSpPr>
          <p:cNvPr id="5" name="TextBox 4"/>
          <p:cNvSpPr txBox="1"/>
          <p:nvPr/>
        </p:nvSpPr>
        <p:spPr>
          <a:xfrm>
            <a:off x="457200" y="2286000"/>
            <a:ext cx="5364327" cy="3657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Complex analysis (multi-step)</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High-stakes decisions</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Technical problem-solving</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Detailed planning</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Quality &gt; speed matters</a:t>
            </a:r>
          </a:p>
        </p:txBody>
      </p:sp>
      <p:sp>
        <p:nvSpPr>
          <p:cNvPr id="6" name="TextBox 5"/>
          <p:cNvSpPr txBox="1"/>
          <p:nvPr/>
        </p:nvSpPr>
        <p:spPr>
          <a:xfrm>
            <a:off x="6370167" y="1463040"/>
            <a:ext cx="5364327" cy="73152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800" b="1">
                <a:solidFill>
                  <a:srgbClr val="8B95A5"/>
                </a:solidFill>
              </a:defRPr>
            </a:pPr>
            <a:r>
              <a:rPr kumimoji="0" sz="2800" b="1" i="0" u="none" strike="noStrike" kern="1200" cap="none" spc="0" normalizeH="0" baseline="0" noProof="0">
                <a:ln>
                  <a:noFill/>
                </a:ln>
                <a:solidFill>
                  <a:srgbClr val="8B95A5"/>
                </a:solidFill>
                <a:effectLst/>
                <a:uLnTx/>
                <a:uFillTx/>
                <a:latin typeface="Calibri"/>
                <a:ea typeface="+mn-ea"/>
                <a:cs typeface="+mn-cs"/>
              </a:rPr>
              <a:t>Regular Mode Is Fine For</a:t>
            </a:r>
          </a:p>
        </p:txBody>
      </p:sp>
      <p:sp>
        <p:nvSpPr>
          <p:cNvPr id="7" name="TextBox 6"/>
          <p:cNvSpPr txBox="1"/>
          <p:nvPr/>
        </p:nvSpPr>
        <p:spPr>
          <a:xfrm>
            <a:off x="6370167" y="2286000"/>
            <a:ext cx="5364327" cy="3657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Simple questions</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Quick drafts</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Straightforward tasks</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Speed matters</a:t>
            </a:r>
          </a:p>
          <a:p>
            <a:pPr marL="0" marR="0" lvl="0" indent="0" algn="l" defTabSz="457200" rtl="0" eaLnBrk="1" fontAlgn="auto" latinLnBrk="0" hangingPunct="1">
              <a:lnSpc>
                <a:spcPct val="100000"/>
              </a:lnSpc>
              <a:spcBef>
                <a:spcPts val="0"/>
              </a:spcBef>
              <a:spcAft>
                <a:spcPts val="1200"/>
              </a:spcAft>
              <a:buClrTx/>
              <a:buSzTx/>
              <a:buFontTx/>
              <a:buNone/>
              <a:tabLst/>
              <a:defRPr sz="1800">
                <a:solidFill>
                  <a:srgbClr val="FFFFFF"/>
                </a:solidFill>
              </a:defRPr>
            </a:pPr>
            <a:r>
              <a:rPr kumimoji="0" sz="1800" b="0" i="0" u="none" strike="noStrike" kern="1200" cap="none" spc="0" normalizeH="0" baseline="0" noProof="0">
                <a:ln>
                  <a:noFill/>
                </a:ln>
                <a:solidFill>
                  <a:srgbClr val="FFFFFF"/>
                </a:solidFill>
                <a:effectLst/>
                <a:uLnTx/>
                <a:uFillTx/>
                <a:latin typeface="Calibri"/>
                <a:ea typeface="+mn-ea"/>
                <a:cs typeface="+mn-cs"/>
              </a:rPr>
              <a:t>  Casual brainstorming</a:t>
            </a:r>
          </a:p>
        </p:txBody>
      </p:sp>
    </p:spTree>
    <p:extLst>
      <p:ext uri="{BB962C8B-B14F-4D97-AF65-F5344CB8AC3E}">
        <p14:creationId xmlns:p14="http://schemas.microsoft.com/office/powerpoint/2010/main" val="1742965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1858950" y="457200"/>
            <a:ext cx="8473795" cy="830997"/>
          </a:xfrm>
          <a:prstGeom prst="rect">
            <a:avLst/>
          </a:prstGeom>
          <a:noFill/>
        </p:spPr>
        <p:txBody>
          <a:bodyPr wrap="none">
            <a:spAutoFit/>
          </a:bodyPr>
          <a:lstStyle/>
          <a:p>
            <a:pPr algn="ctr">
              <a:defRPr sz="3600" b="1">
                <a:solidFill>
                  <a:srgbClr val="FFFFFF"/>
                </a:solidFill>
              </a:defRPr>
            </a:pPr>
            <a:r>
              <a:rPr sz="4800" dirty="0"/>
              <a:t>Personalize Claude with Settings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Personal Preferences (The Big One)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Where: Settings (gear) &gt; General &gt; Profile</a:t>
            </a:r>
          </a:p>
          <a:p>
            <a:pPr>
              <a:spcAft>
                <a:spcPts val="1200"/>
              </a:spcAft>
              <a:defRPr sz="1800">
                <a:solidFill>
                  <a:srgbClr val="FFFFFF"/>
                </a:solidFill>
              </a:defRPr>
            </a:pPr>
            <a:r>
              <a:t>  What: Your bio, role, industry, preferences</a:t>
            </a:r>
          </a:p>
          <a:p>
            <a:pPr>
              <a:spcAft>
                <a:spcPts val="1200"/>
              </a:spcAft>
              <a:defRPr sz="1800">
                <a:solidFill>
                  <a:srgbClr val="FFFFFF"/>
                </a:solidFill>
              </a:defRPr>
            </a:pPr>
            <a:r>
              <a:t>  Applies to ALL conversations forever</a:t>
            </a:r>
          </a:p>
          <a:p>
            <a:pPr>
              <a:spcAft>
                <a:spcPts val="1200"/>
              </a:spcAft>
              <a:defRPr sz="1800">
                <a:solidFill>
                  <a:srgbClr val="FFFFFF"/>
                </a:solidFill>
              </a:defRPr>
            </a:pPr>
            <a:r>
              <a:t>  Write once, never repeat context</a:t>
            </a:r>
          </a:p>
          <a:p>
            <a:pPr>
              <a:spcAft>
                <a:spcPts val="1200"/>
              </a:spcAft>
              <a:defRPr sz="1800">
                <a:solidFill>
                  <a:srgbClr val="FFFFFF"/>
                </a:solidFill>
              </a:defRPr>
            </a:pPr>
            <a:r>
              <a:t>  Claude tailors responses to YOUR role</a:t>
            </a:r>
          </a:p>
          <a:p>
            <a:pPr>
              <a:spcAft>
                <a:spcPts val="1200"/>
              </a:spcAft>
              <a:defRPr sz="1800">
                <a:solidFill>
                  <a:srgbClr val="FFFFFF"/>
                </a:solidFill>
              </a:defRPr>
            </a:pPr>
            <a:r>
              <a:t>  Example: 'I'm a finance manager at a healthcare company...'</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10B981"/>
                </a:solidFill>
              </a:defRPr>
            </a:pPr>
            <a:r>
              <a:t>Other Useful Settings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Work function: Set your job role</a:t>
            </a:r>
          </a:p>
          <a:p>
            <a:pPr>
              <a:spcAft>
                <a:spcPts val="1200"/>
              </a:spcAft>
              <a:defRPr sz="1800">
                <a:solidFill>
                  <a:srgbClr val="FFFFFF"/>
                </a:solidFill>
              </a:defRPr>
            </a:pPr>
            <a:r>
              <a:t>  Notifications: Get alerts for long tasks</a:t>
            </a:r>
          </a:p>
          <a:p>
            <a:pPr>
              <a:spcAft>
                <a:spcPts val="1200"/>
              </a:spcAft>
              <a:defRPr sz="1800">
                <a:solidFill>
                  <a:srgbClr val="FFFFFF"/>
                </a:solidFill>
              </a:defRPr>
            </a:pPr>
            <a:r>
              <a:t>  Appearance: Light/dark mode, font size</a:t>
            </a:r>
          </a:p>
          <a:p>
            <a:pPr>
              <a:spcAft>
                <a:spcPts val="1200"/>
              </a:spcAft>
              <a:defRPr sz="1800">
                <a:solidFill>
                  <a:srgbClr val="FFFFFF"/>
                </a:solidFill>
              </a:defRPr>
            </a:pPr>
            <a:r>
              <a:t>  Account, Privacy, Billing available</a:t>
            </a:r>
          </a:p>
          <a:p>
            <a:pPr>
              <a:spcAft>
                <a:spcPts val="1200"/>
              </a:spcAft>
              <a:defRPr sz="1800">
                <a:solidFill>
                  <a:srgbClr val="FFFFFF"/>
                </a:solidFill>
              </a:defRPr>
            </a:pPr>
            <a:r>
              <a:t>  Response completions (useful for Claude Code)</a:t>
            </a:r>
          </a:p>
          <a:p>
            <a:pPr>
              <a:spcAft>
                <a:spcPts val="1200"/>
              </a:spcAft>
              <a:defRPr sz="1800">
                <a:solidFill>
                  <a:srgbClr val="FFFFFF"/>
                </a:solidFill>
              </a:defRPr>
            </a:pPr>
            <a:r>
              <a:t>  Explore on your own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600" cy="822960"/>
          </a:xfrm>
          <a:prstGeom prst="rect">
            <a:avLst/>
          </a:prstGeom>
          <a:noFill/>
        </p:spPr>
        <p:txBody>
          <a:bodyPr wrap="none">
            <a:spAutoFit/>
          </a:bodyPr>
          <a:lstStyle/>
          <a:p>
            <a:pPr>
              <a:defRPr sz="4000" b="1">
                <a:solidFill>
                  <a:srgbClr val="FFFFFF"/>
                </a:solidFill>
              </a:defRPr>
            </a:pPr>
            <a:r>
              <a:t>First-Time Setup: Configuring Claude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600" cy="4572000"/>
          </a:xfrm>
          <a:prstGeom prst="rect">
            <a:avLst/>
          </a:prstGeom>
          <a:noFill/>
        </p:spPr>
        <p:txBody>
          <a:bodyPr wrap="square">
            <a:spAutoFit/>
          </a:bodyPr>
          <a:lstStyle/>
          <a:p>
            <a:pPr>
              <a:spcBef>
                <a:spcPts val="800"/>
              </a:spcBef>
              <a:spcAft>
                <a:spcPts val="800"/>
              </a:spcAft>
              <a:defRPr sz="2200">
                <a:solidFill>
                  <a:srgbClr val="FFFFFF"/>
                </a:solidFill>
              </a:defRPr>
            </a:pPr>
            <a:r>
              <a:t>  Step 1: Click the gear icon (⚙️) → Settings panel opens</a:t>
            </a:r>
          </a:p>
          <a:p>
            <a:pPr>
              <a:spcBef>
                <a:spcPts val="800"/>
              </a:spcBef>
              <a:spcAft>
                <a:spcPts val="800"/>
              </a:spcAft>
              <a:defRPr sz="2200">
                <a:solidFill>
                  <a:srgbClr val="FFFFFF"/>
                </a:solidFill>
              </a:defRPr>
            </a:pPr>
            <a:r>
              <a:t>  Step 2: General → Profile → Write your Personal Preferences</a:t>
            </a:r>
          </a:p>
          <a:p>
            <a:pPr>
              <a:spcBef>
                <a:spcPts val="800"/>
              </a:spcBef>
              <a:spcAft>
                <a:spcPts val="800"/>
              </a:spcAft>
              <a:defRPr sz="2200">
                <a:solidFill>
                  <a:srgbClr val="FFFFFF"/>
                </a:solidFill>
              </a:defRPr>
            </a:pPr>
            <a:r>
              <a:t>  Step 3: Set your Work Function (role dropdown) and Industry</a:t>
            </a:r>
          </a:p>
          <a:p>
            <a:pPr>
              <a:spcBef>
                <a:spcPts val="800"/>
              </a:spcBef>
              <a:spcAft>
                <a:spcPts val="800"/>
              </a:spcAft>
              <a:defRPr sz="2200">
                <a:solidFill>
                  <a:srgbClr val="FFFFFF"/>
                </a:solidFill>
              </a:defRPr>
            </a:pPr>
            <a:r>
              <a:t>  Step 4: Appearance → Choose light/dark mode, adjust font size</a:t>
            </a:r>
          </a:p>
          <a:p>
            <a:pPr>
              <a:spcBef>
                <a:spcPts val="800"/>
              </a:spcBef>
              <a:spcAft>
                <a:spcPts val="800"/>
              </a:spcAft>
              <a:defRPr sz="2200">
                <a:solidFill>
                  <a:srgbClr val="FFFFFF"/>
                </a:solidFill>
              </a:defRPr>
            </a:pPr>
            <a:r>
              <a:t>  Step 5: Notifications → Enable for long-running tasks</a:t>
            </a:r>
          </a:p>
          <a:p>
            <a:pPr>
              <a:spcBef>
                <a:spcPts val="800"/>
              </a:spcBef>
              <a:spcAft>
                <a:spcPts val="800"/>
              </a:spcAft>
              <a:defRPr sz="2200">
                <a:solidFill>
                  <a:srgbClr val="FFFFFF"/>
                </a:solidFill>
              </a:defRPr>
            </a:pPr>
            <a:r>
              <a:t>  Step 6: Privacy → Review data usage settings</a:t>
            </a:r>
          </a:p>
          <a:p>
            <a:pPr>
              <a:spcBef>
                <a:spcPts val="800"/>
              </a:spcBef>
              <a:spcAft>
                <a:spcPts val="800"/>
              </a:spcAft>
              <a:defRPr sz="2200">
                <a:solidFill>
                  <a:srgbClr val="FFFFFF"/>
                </a:solidFill>
              </a:defRPr>
            </a:pPr>
            <a:r>
              <a:t>  Do this ONCE — Claude remembers across every conversation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600" cy="731520"/>
          </a:xfrm>
          <a:prstGeom prst="rect">
            <a:avLst/>
          </a:prstGeom>
          <a:noFill/>
        </p:spPr>
        <p:txBody>
          <a:bodyPr wrap="none">
            <a:spAutoFit/>
          </a:bodyPr>
          <a:lstStyle/>
          <a:p>
            <a:pPr algn="ctr">
              <a:defRPr sz="3600" b="1">
                <a:solidFill>
                  <a:srgbClr val="FFFFFF"/>
                </a:solidFill>
              </a:defRPr>
            </a:pPr>
            <a:r>
              <a:t>Writing Your Personal Preferences</a:t>
            </a:r>
          </a:p>
        </p:txBody>
      </p:sp>
      <p:sp>
        <p:nvSpPr>
          <p:cNvPr id="3" name="Rounded Rectangle 2"/>
          <p:cNvSpPr/>
          <p:nvPr/>
        </p:nvSpPr>
        <p:spPr>
          <a:xfrm>
            <a:off x="914400" y="1645920"/>
            <a:ext cx="10363200"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TEXT</a:t>
            </a:r>
          </a:p>
        </p:txBody>
      </p:sp>
      <p:sp>
        <p:nvSpPr>
          <p:cNvPr id="5" name="TextBox 4"/>
          <p:cNvSpPr txBox="1"/>
          <p:nvPr/>
        </p:nvSpPr>
        <p:spPr>
          <a:xfrm>
            <a:off x="1097280" y="2194560"/>
            <a:ext cx="9997440" cy="3291840"/>
          </a:xfrm>
          <a:prstGeom prst="rect">
            <a:avLst/>
          </a:prstGeom>
          <a:noFill/>
        </p:spPr>
        <p:txBody>
          <a:bodyPr wrap="none">
            <a:spAutoFit/>
          </a:bodyPr>
          <a:lstStyle/>
          <a:p>
            <a:pPr>
              <a:defRPr sz="1800">
                <a:solidFill>
                  <a:srgbClr val="FFFFFF"/>
                </a:solidFill>
                <a:latin typeface="Consolas"/>
              </a:defRPr>
            </a:pPr>
            <a:r>
              <a:t>TEMPLATE — Paste into Settings &gt; Profile:</a:t>
            </a:r>
            <a:br/>
            <a:br/>
            <a:r>
              <a:t>I am a [your role] at [company type] in [industry].</a:t>
            </a:r>
            <a:br/>
            <a:r>
              <a:t>My expertise: [your areas of strength].</a:t>
            </a:r>
            <a:br/>
            <a:r>
              <a:t>My team: [who you work with, their roles].</a:t>
            </a:r>
            <a:br/>
            <a:br/>
            <a:r>
              <a:t>Communication style: [concise/detailed], [formal/casual].</a:t>
            </a:r>
            <a:br/>
            <a:r>
              <a:t>Always include: [actionable next steps / data / examples].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600" cy="914400"/>
          </a:xfrm>
          <a:prstGeom prst="rect">
            <a:avLst/>
          </a:prstGeom>
          <a:noFill/>
        </p:spPr>
        <p:txBody>
          <a:bodyPr wrap="none">
            <a:spAutoFit/>
          </a:bodyPr>
          <a:lstStyle/>
          <a:p>
            <a:pPr algn="ctr">
              <a:defRPr sz="4000" b="1">
                <a:solidFill>
                  <a:srgbClr val="FFFFFF"/>
                </a:solidFill>
              </a:defRPr>
            </a:pPr>
            <a:r>
              <a:t>Settings Deep Dive</a:t>
            </a:r>
          </a:p>
        </p:txBody>
      </p:sp>
      <p:sp>
        <p:nvSpPr>
          <p:cNvPr id="3" name="Rounded Rectangle 2"/>
          <p:cNvSpPr/>
          <p:nvPr/>
        </p:nvSpPr>
        <p:spPr>
          <a:xfrm>
            <a:off x="2301240"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7040"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7040"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680" y="3657600"/>
            <a:ext cx="2103120" cy="1371600"/>
          </a:xfrm>
          <a:prstGeom prst="rect">
            <a:avLst/>
          </a:prstGeom>
          <a:noFill/>
        </p:spPr>
        <p:txBody>
          <a:bodyPr wrap="square">
            <a:normAutofit/>
          </a:bodyPr>
          <a:lstStyle/>
          <a:p>
            <a:pPr algn="ctr">
              <a:defRPr sz="1600" b="1">
                <a:solidFill>
                  <a:srgbClr val="FFFFFF"/>
                </a:solidFill>
              </a:defRPr>
            </a:pPr>
            <a:r>
              <a:t>Profile &amp; Account</a:t>
            </a:r>
          </a:p>
          <a:p>
            <a:pPr algn="ctr">
              <a:defRPr sz="1200">
                <a:solidFill>
                  <a:srgbClr val="9CA3AF"/>
                </a:solidFill>
              </a:defRPr>
            </a:pPr>
            <a:r>
              <a:t>Display name, email,</a:t>
            </a:r>
            <a:br/>
            <a:r>
              <a:t>plan management,</a:t>
            </a:r>
            <a:br/>
            <a:r>
              <a:t>usage dashboard</a:t>
            </a:r>
          </a:p>
        </p:txBody>
      </p:sp>
      <p:sp>
        <p:nvSpPr>
          <p:cNvPr id="7" name="Rounded Rectangle 6"/>
          <p:cNvSpPr/>
          <p:nvPr/>
        </p:nvSpPr>
        <p:spPr>
          <a:xfrm>
            <a:off x="4953000"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800"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800"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440" y="3657600"/>
            <a:ext cx="2103120" cy="1371600"/>
          </a:xfrm>
          <a:prstGeom prst="rect">
            <a:avLst/>
          </a:prstGeom>
          <a:noFill/>
        </p:spPr>
        <p:txBody>
          <a:bodyPr wrap="square">
            <a:normAutofit/>
          </a:bodyPr>
          <a:lstStyle/>
          <a:p>
            <a:pPr algn="ctr">
              <a:defRPr sz="1600" b="1">
                <a:solidFill>
                  <a:srgbClr val="FFFFFF"/>
                </a:solidFill>
              </a:defRPr>
            </a:pPr>
            <a:r>
              <a:t>Privacy &amp; Security</a:t>
            </a:r>
          </a:p>
          <a:p>
            <a:pPr algn="ctr">
              <a:defRPr sz="1200">
                <a:solidFill>
                  <a:srgbClr val="9CA3AF"/>
                </a:solidFill>
              </a:defRPr>
            </a:pPr>
            <a:r>
              <a:t>Data handling, training</a:t>
            </a:r>
            <a:br/>
            <a:r>
              <a:t>opt-out, conversation</a:t>
            </a:r>
            <a:br/>
            <a:r>
              <a:t>history controls</a:t>
            </a:r>
          </a:p>
        </p:txBody>
      </p:sp>
      <p:sp>
        <p:nvSpPr>
          <p:cNvPr id="11" name="Rounded Rectangle 10"/>
          <p:cNvSpPr/>
          <p:nvPr/>
        </p:nvSpPr>
        <p:spPr>
          <a:xfrm>
            <a:off x="7604760" y="2011680"/>
            <a:ext cx="2286000" cy="3200400"/>
          </a:xfrm>
          <a:prstGeom prst="roundRect">
            <a:avLst/>
          </a:prstGeom>
          <a:solidFill>
            <a:srgbClr val="141A26"/>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560" y="246888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560"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200" y="3657600"/>
            <a:ext cx="2103120" cy="1371600"/>
          </a:xfrm>
          <a:prstGeom prst="rect">
            <a:avLst/>
          </a:prstGeom>
          <a:noFill/>
        </p:spPr>
        <p:txBody>
          <a:bodyPr wrap="square">
            <a:normAutofit/>
          </a:bodyPr>
          <a:lstStyle/>
          <a:p>
            <a:pPr algn="ctr">
              <a:defRPr sz="1600" b="1">
                <a:solidFill>
                  <a:srgbClr val="FFFFFF"/>
                </a:solidFill>
              </a:defRPr>
            </a:pPr>
            <a:r>
              <a:t>Model &amp; Performance</a:t>
            </a:r>
          </a:p>
          <a:p>
            <a:pPr algn="ctr">
              <a:defRPr sz="1200">
                <a:solidFill>
                  <a:srgbClr val="9CA3AF"/>
                </a:solidFill>
              </a:defRPr>
            </a:pPr>
            <a:r>
              <a:t>Default model selection,</a:t>
            </a:r>
            <a:br/>
            <a:r>
              <a:t>Extended Thinking toggle,</a:t>
            </a:r>
            <a:br/>
            <a:r>
              <a:t>response preferences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4000" b="1">
                <a:solidFill>
                  <a:srgbClr val="FFFFFF"/>
                </a:solidFill>
              </a:defRPr>
            </a:pPr>
            <a:r>
              <a:t>Claude's Memory</a:t>
            </a:r>
          </a:p>
        </p:txBody>
      </p:sp>
      <p:sp>
        <p:nvSpPr>
          <p:cNvPr id="3" name="TextBox 2"/>
          <p:cNvSpPr txBox="1"/>
          <p:nvPr/>
        </p:nvSpPr>
        <p:spPr>
          <a:xfrm>
            <a:off x="457200" y="1005840"/>
            <a:ext cx="11247120" cy="457200"/>
          </a:xfrm>
          <a:prstGeom prst="rect">
            <a:avLst/>
          </a:prstGeom>
          <a:noFill/>
        </p:spPr>
        <p:txBody>
          <a:bodyPr wrap="none">
            <a:spAutoFit/>
          </a:bodyPr>
          <a:lstStyle/>
          <a:p>
            <a:pPr>
              <a:defRPr sz="1800" i="1">
                <a:solidFill>
                  <a:srgbClr val="9CA3AF"/>
                </a:solidFill>
              </a:defRPr>
            </a:pPr>
            <a:r>
              <a:t>Claude remembers context across conversations — so you don't have to repeat yourself</a:t>
            </a:r>
          </a:p>
        </p:txBody>
      </p:sp>
      <p:sp>
        <p:nvSpPr>
          <p:cNvPr id="4" name="Rounded Rectangle 3"/>
          <p:cNvSpPr/>
          <p:nvPr/>
        </p:nvSpPr>
        <p:spPr>
          <a:xfrm>
            <a:off x="457200" y="1737360"/>
            <a:ext cx="3474720" cy="347472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20240"/>
            <a:ext cx="3108960" cy="457200"/>
          </a:xfrm>
          <a:prstGeom prst="rect">
            <a:avLst/>
          </a:prstGeom>
          <a:noFill/>
        </p:spPr>
        <p:txBody>
          <a:bodyPr wrap="none">
            <a:spAutoFit/>
          </a:bodyPr>
          <a:lstStyle/>
          <a:p>
            <a:pPr algn="ctr">
              <a:defRPr sz="3000"/>
            </a:pPr>
            <a:r>
              <a:t>🔍</a:t>
            </a:r>
          </a:p>
        </p:txBody>
      </p:sp>
      <p:sp>
        <p:nvSpPr>
          <p:cNvPr id="6" name="TextBox 5"/>
          <p:cNvSpPr txBox="1"/>
          <p:nvPr/>
        </p:nvSpPr>
        <p:spPr>
          <a:xfrm>
            <a:off x="640080" y="2377440"/>
            <a:ext cx="3108960" cy="640080"/>
          </a:xfrm>
          <a:prstGeom prst="rect">
            <a:avLst/>
          </a:prstGeom>
          <a:noFill/>
        </p:spPr>
        <p:txBody>
          <a:bodyPr wrap="square">
            <a:spAutoFit/>
          </a:bodyPr>
          <a:lstStyle/>
          <a:p>
            <a:pPr algn="ctr">
              <a:defRPr sz="1800" b="1">
                <a:solidFill>
                  <a:srgbClr val="FFFFFF"/>
                </a:solidFill>
              </a:defRPr>
            </a:pPr>
            <a:r>
              <a:t>Search &amp; Reference</a:t>
            </a:r>
            <a:br/>
            <a:r>
              <a:t>Past Chats</a:t>
            </a:r>
          </a:p>
        </p:txBody>
      </p:sp>
      <p:sp>
        <p:nvSpPr>
          <p:cNvPr id="7" name="TextBox 6"/>
          <p:cNvSpPr txBox="1"/>
          <p:nvPr/>
        </p:nvSpPr>
        <p:spPr>
          <a:xfrm>
            <a:off x="640080" y="3108960"/>
            <a:ext cx="3108960" cy="1828800"/>
          </a:xfrm>
          <a:prstGeom prst="rect">
            <a:avLst/>
          </a:prstGeom>
          <a:noFill/>
        </p:spPr>
        <p:txBody>
          <a:bodyPr wrap="square">
            <a:spAutoFit/>
          </a:bodyPr>
          <a:lstStyle/>
          <a:p>
            <a:pPr algn="ctr">
              <a:defRPr sz="1400">
                <a:solidFill>
                  <a:srgbClr val="D1D5DB"/>
                </a:solidFill>
              </a:defRPr>
            </a:pPr>
            <a:r>
              <a:t>Claude searches your</a:t>
            </a:r>
            <a:br/>
            <a:r>
              <a:t>previous conversations</a:t>
            </a:r>
            <a:br/>
            <a:r>
              <a:t>for relevant context.</a:t>
            </a:r>
            <a:br/>
            <a:r>
              <a:t>Finds details you forgot.</a:t>
            </a:r>
            <a:br/>
            <a:r>
              <a:t>Works across all chats.</a:t>
            </a:r>
          </a:p>
        </p:txBody>
      </p:sp>
      <p:sp>
        <p:nvSpPr>
          <p:cNvPr id="8" name="Rounded Rectangle 7"/>
          <p:cNvSpPr/>
          <p:nvPr/>
        </p:nvSpPr>
        <p:spPr>
          <a:xfrm>
            <a:off x="4206240" y="1737360"/>
            <a:ext cx="3474720" cy="347472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920240"/>
            <a:ext cx="3108960" cy="457200"/>
          </a:xfrm>
          <a:prstGeom prst="rect">
            <a:avLst/>
          </a:prstGeom>
          <a:noFill/>
        </p:spPr>
        <p:txBody>
          <a:bodyPr wrap="none">
            <a:spAutoFit/>
          </a:bodyPr>
          <a:lstStyle/>
          <a:p>
            <a:pPr algn="ctr">
              <a:defRPr sz="3000"/>
            </a:pPr>
            <a:r>
              <a:t>🧠</a:t>
            </a:r>
          </a:p>
        </p:txBody>
      </p:sp>
      <p:sp>
        <p:nvSpPr>
          <p:cNvPr id="10" name="TextBox 9"/>
          <p:cNvSpPr txBox="1"/>
          <p:nvPr/>
        </p:nvSpPr>
        <p:spPr>
          <a:xfrm>
            <a:off x="4389120" y="2377440"/>
            <a:ext cx="3108960" cy="640080"/>
          </a:xfrm>
          <a:prstGeom prst="rect">
            <a:avLst/>
          </a:prstGeom>
          <a:noFill/>
        </p:spPr>
        <p:txBody>
          <a:bodyPr wrap="square">
            <a:spAutoFit/>
          </a:bodyPr>
          <a:lstStyle/>
          <a:p>
            <a:pPr algn="ctr">
              <a:defRPr sz="1800" b="1">
                <a:solidFill>
                  <a:srgbClr val="FFFFFF"/>
                </a:solidFill>
              </a:defRPr>
            </a:pPr>
            <a:r>
              <a:t>Generate Memory</a:t>
            </a:r>
            <a:br/>
            <a:r>
              <a:t>from History</a:t>
            </a:r>
          </a:p>
        </p:txBody>
      </p:sp>
      <p:sp>
        <p:nvSpPr>
          <p:cNvPr id="11" name="TextBox 10"/>
          <p:cNvSpPr txBox="1"/>
          <p:nvPr/>
        </p:nvSpPr>
        <p:spPr>
          <a:xfrm>
            <a:off x="4389120" y="3108960"/>
            <a:ext cx="3108960" cy="1828800"/>
          </a:xfrm>
          <a:prstGeom prst="rect">
            <a:avLst/>
          </a:prstGeom>
          <a:noFill/>
        </p:spPr>
        <p:txBody>
          <a:bodyPr wrap="square">
            <a:spAutoFit/>
          </a:bodyPr>
          <a:lstStyle/>
          <a:p>
            <a:pPr algn="ctr">
              <a:defRPr sz="1400">
                <a:solidFill>
                  <a:srgbClr val="D1D5DB"/>
                </a:solidFill>
              </a:defRPr>
            </a:pPr>
            <a:r>
              <a:t>Claude builds memory</a:t>
            </a:r>
            <a:br/>
            <a:r>
              <a:t>from your chat patterns.</a:t>
            </a:r>
            <a:br/>
            <a:r>
              <a:t>Remembers preferences,</a:t>
            </a:r>
            <a:br/>
            <a:r>
              <a:t>projects, and context.</a:t>
            </a:r>
            <a:br/>
            <a:r>
              <a:t>Controls both chats</a:t>
            </a:r>
            <a:br/>
            <a:r>
              <a:t>and Projects.</a:t>
            </a:r>
          </a:p>
        </p:txBody>
      </p:sp>
      <p:sp>
        <p:nvSpPr>
          <p:cNvPr id="12" name="Rounded Rectangle 11"/>
          <p:cNvSpPr/>
          <p:nvPr/>
        </p:nvSpPr>
        <p:spPr>
          <a:xfrm>
            <a:off x="7955279" y="1737360"/>
            <a:ext cx="3474720" cy="347472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1920240"/>
            <a:ext cx="3108960" cy="457200"/>
          </a:xfrm>
          <a:prstGeom prst="rect">
            <a:avLst/>
          </a:prstGeom>
          <a:noFill/>
        </p:spPr>
        <p:txBody>
          <a:bodyPr wrap="none">
            <a:spAutoFit/>
          </a:bodyPr>
          <a:lstStyle/>
          <a:p>
            <a:pPr algn="ctr">
              <a:defRPr sz="3000"/>
            </a:pPr>
            <a:r>
              <a:t>👁️</a:t>
            </a:r>
          </a:p>
        </p:txBody>
      </p:sp>
      <p:sp>
        <p:nvSpPr>
          <p:cNvPr id="14" name="TextBox 13"/>
          <p:cNvSpPr txBox="1"/>
          <p:nvPr/>
        </p:nvSpPr>
        <p:spPr>
          <a:xfrm>
            <a:off x="8138159" y="2377440"/>
            <a:ext cx="3108960" cy="640080"/>
          </a:xfrm>
          <a:prstGeom prst="rect">
            <a:avLst/>
          </a:prstGeom>
          <a:noFill/>
        </p:spPr>
        <p:txBody>
          <a:bodyPr wrap="square">
            <a:spAutoFit/>
          </a:bodyPr>
          <a:lstStyle/>
          <a:p>
            <a:pPr algn="ctr">
              <a:defRPr sz="1800" b="1">
                <a:solidFill>
                  <a:srgbClr val="FFFFFF"/>
                </a:solidFill>
              </a:defRPr>
            </a:pPr>
            <a:r>
              <a:t>View Your Memory</a:t>
            </a:r>
          </a:p>
        </p:txBody>
      </p:sp>
      <p:sp>
        <p:nvSpPr>
          <p:cNvPr id="15" name="TextBox 14"/>
          <p:cNvSpPr txBox="1"/>
          <p:nvPr/>
        </p:nvSpPr>
        <p:spPr>
          <a:xfrm>
            <a:off x="8138159" y="3108960"/>
            <a:ext cx="3108960" cy="1828800"/>
          </a:xfrm>
          <a:prstGeom prst="rect">
            <a:avLst/>
          </a:prstGeom>
          <a:noFill/>
        </p:spPr>
        <p:txBody>
          <a:bodyPr wrap="square">
            <a:spAutoFit/>
          </a:bodyPr>
          <a:lstStyle/>
          <a:p>
            <a:pPr algn="ctr">
              <a:defRPr sz="1400">
                <a:solidFill>
                  <a:srgbClr val="D1D5DB"/>
                </a:solidFill>
              </a:defRPr>
            </a:pPr>
            <a:r>
              <a:t>See exactly what Claude</a:t>
            </a:r>
            <a:br/>
            <a:r>
              <a:t>remembers about you.</a:t>
            </a:r>
            <a:br/>
            <a:r>
              <a:t>Edit or delete entries.</a:t>
            </a:r>
            <a:br/>
            <a:r>
              <a:t>Full transparency —</a:t>
            </a:r>
            <a:br/>
            <a:r>
              <a:t>no hidden knowledge.</a:t>
            </a:r>
          </a:p>
        </p:txBody>
      </p:sp>
      <p:sp>
        <p:nvSpPr>
          <p:cNvPr id="16" name="TextBox 15"/>
          <p:cNvSpPr txBox="1"/>
          <p:nvPr/>
        </p:nvSpPr>
        <p:spPr>
          <a:xfrm>
            <a:off x="457200" y="5486400"/>
            <a:ext cx="11247120" cy="457200"/>
          </a:xfrm>
          <a:prstGeom prst="rect">
            <a:avLst/>
          </a:prstGeom>
          <a:noFill/>
        </p:spPr>
        <p:txBody>
          <a:bodyPr wrap="none">
            <a:spAutoFit/>
          </a:bodyPr>
          <a:lstStyle/>
          <a:p>
            <a:pPr algn="ctr">
              <a:defRPr sz="1500" i="1">
                <a:solidFill>
                  <a:srgbClr val="14B8A6"/>
                </a:solidFill>
              </a:defRPr>
            </a:pPr>
            <a:r>
              <a:t>Settings → Memory → Enable both toggles for the best experience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4000" b="1">
                <a:solidFill>
                  <a:srgbClr val="FFFFFF"/>
                </a:solidFill>
              </a:defRPr>
            </a:pPr>
            <a:r>
              <a:t>Capabilities &amp; Privacy Controls</a:t>
            </a:r>
          </a:p>
        </p:txBody>
      </p:sp>
      <p:sp>
        <p:nvSpPr>
          <p:cNvPr id="3" name="TextBox 2"/>
          <p:cNvSpPr txBox="1"/>
          <p:nvPr/>
        </p:nvSpPr>
        <p:spPr>
          <a:xfrm>
            <a:off x="457200" y="1005840"/>
            <a:ext cx="11247120" cy="457200"/>
          </a:xfrm>
          <a:prstGeom prst="rect">
            <a:avLst/>
          </a:prstGeom>
          <a:noFill/>
        </p:spPr>
        <p:txBody>
          <a:bodyPr wrap="none">
            <a:spAutoFit/>
          </a:bodyPr>
          <a:lstStyle/>
          <a:p>
            <a:pPr>
              <a:defRPr sz="1800" i="1">
                <a:solidFill>
                  <a:srgbClr val="9CA3AF"/>
                </a:solidFill>
              </a:defRPr>
            </a:pPr>
            <a:r>
              <a:t>Enable these features before you start — they unlock everything we'll use today</a:t>
            </a:r>
          </a:p>
        </p:txBody>
      </p:sp>
      <p:sp>
        <p:nvSpPr>
          <p:cNvPr id="4" name="Rounded Rectangle 3"/>
          <p:cNvSpPr/>
          <p:nvPr/>
        </p:nvSpPr>
        <p:spPr>
          <a:xfrm>
            <a:off x="457200" y="1737360"/>
            <a:ext cx="5303520" cy="411480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20240"/>
            <a:ext cx="4754880" cy="457200"/>
          </a:xfrm>
          <a:prstGeom prst="rect">
            <a:avLst/>
          </a:prstGeom>
          <a:noFill/>
        </p:spPr>
        <p:txBody>
          <a:bodyPr wrap="none">
            <a:spAutoFit/>
          </a:bodyPr>
          <a:lstStyle/>
          <a:p>
            <a:pPr>
              <a:defRPr sz="2200" b="1">
                <a:solidFill>
                  <a:srgbClr val="14B8A6"/>
                </a:solidFill>
              </a:defRPr>
            </a:pPr>
            <a:r>
              <a:t>Capabilities (Enable All)</a:t>
            </a:r>
          </a:p>
        </p:txBody>
      </p:sp>
      <p:sp>
        <p:nvSpPr>
          <p:cNvPr id="6" name="TextBox 5"/>
          <p:cNvSpPr txBox="1"/>
          <p:nvPr/>
        </p:nvSpPr>
        <p:spPr>
          <a:xfrm>
            <a:off x="731520" y="2468880"/>
            <a:ext cx="4754880" cy="3108960"/>
          </a:xfrm>
          <a:prstGeom prst="rect">
            <a:avLst/>
          </a:prstGeom>
          <a:noFill/>
        </p:spPr>
        <p:txBody>
          <a:bodyPr wrap="square">
            <a:spAutoFit/>
          </a:bodyPr>
          <a:lstStyle/>
          <a:p>
            <a:pPr>
              <a:spcAft>
                <a:spcPts val="600"/>
              </a:spcAft>
              <a:defRPr sz="1500">
                <a:solidFill>
                  <a:srgbClr val="D1D5DB"/>
                </a:solidFill>
              </a:defRPr>
            </a:pPr>
            <a:r>
              <a:t>✅  Artifacts — documents, code, visualizations</a:t>
            </a:r>
          </a:p>
          <a:p>
            <a:pPr>
              <a:spcAft>
                <a:spcPts val="600"/>
              </a:spcAft>
              <a:defRPr sz="1500">
                <a:solidFill>
                  <a:srgbClr val="D1D5DB"/>
                </a:solidFill>
              </a:defRPr>
            </a:pPr>
            <a:r>
              <a:t>✅  AI-powered artifacts — interactive apps &amp; prototypes</a:t>
            </a:r>
          </a:p>
          <a:p>
            <a:pPr>
              <a:spcAft>
                <a:spcPts val="600"/>
              </a:spcAft>
              <a:defRPr sz="1500">
                <a:solidFill>
                  <a:srgbClr val="D1D5DB"/>
                </a:solidFill>
              </a:defRPr>
            </a:pPr>
            <a:r>
              <a:t>✅  Code execution &amp; file creation</a:t>
            </a:r>
          </a:p>
          <a:p>
            <a:pPr>
              <a:spcAft>
                <a:spcPts val="600"/>
              </a:spcAft>
              <a:defRPr sz="1500">
                <a:solidFill>
                  <a:srgbClr val="D1D5DB"/>
                </a:solidFill>
              </a:defRPr>
            </a:pPr>
            <a:r>
              <a:t>✅  Memory — search past chats + learn from history</a:t>
            </a:r>
          </a:p>
          <a:p>
            <a:pPr>
              <a:spcAft>
                <a:spcPts val="600"/>
              </a:spcAft>
              <a:defRPr sz="1500">
                <a:solidFill>
                  <a:srgbClr val="D1D5DB"/>
                </a:solidFill>
              </a:defRPr>
            </a:pPr>
            <a:r>
              <a:t>✅  Skills — repeatable instructions for any chat</a:t>
            </a:r>
          </a:p>
        </p:txBody>
      </p:sp>
      <p:sp>
        <p:nvSpPr>
          <p:cNvPr id="7" name="Rounded Rectangle 6"/>
          <p:cNvSpPr/>
          <p:nvPr/>
        </p:nvSpPr>
        <p:spPr>
          <a:xfrm>
            <a:off x="6217920" y="1737360"/>
            <a:ext cx="5303520" cy="411480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20240"/>
            <a:ext cx="4754880" cy="457200"/>
          </a:xfrm>
          <a:prstGeom prst="rect">
            <a:avLst/>
          </a:prstGeom>
          <a:noFill/>
        </p:spPr>
        <p:txBody>
          <a:bodyPr wrap="none">
            <a:spAutoFit/>
          </a:bodyPr>
          <a:lstStyle/>
          <a:p>
            <a:pPr>
              <a:defRPr sz="2200" b="1">
                <a:solidFill>
                  <a:srgbClr val="14B8A6"/>
                </a:solidFill>
              </a:defRPr>
            </a:pPr>
            <a:r>
              <a:t>Privacy Settings</a:t>
            </a:r>
          </a:p>
        </p:txBody>
      </p:sp>
      <p:sp>
        <p:nvSpPr>
          <p:cNvPr id="9" name="TextBox 8"/>
          <p:cNvSpPr txBox="1"/>
          <p:nvPr/>
        </p:nvSpPr>
        <p:spPr>
          <a:xfrm>
            <a:off x="6492240" y="2468880"/>
            <a:ext cx="4754880" cy="3108960"/>
          </a:xfrm>
          <a:prstGeom prst="rect">
            <a:avLst/>
          </a:prstGeom>
          <a:noFill/>
        </p:spPr>
        <p:txBody>
          <a:bodyPr wrap="square">
            <a:spAutoFit/>
          </a:bodyPr>
          <a:lstStyle/>
          <a:p>
            <a:pPr>
              <a:spcAft>
                <a:spcPts val="600"/>
              </a:spcAft>
              <a:defRPr sz="1500">
                <a:solidFill>
                  <a:srgbClr val="D1D5DB"/>
                </a:solidFill>
              </a:defRPr>
            </a:pPr>
            <a:r>
              <a:t>🔒  "Help improve Claude" — training toggle (OFF on paid)</a:t>
            </a:r>
          </a:p>
          <a:p>
            <a:pPr>
              <a:spcAft>
                <a:spcPts val="600"/>
              </a:spcAft>
              <a:defRPr sz="1500">
                <a:solidFill>
                  <a:srgbClr val="D1D5DB"/>
                </a:solidFill>
              </a:defRPr>
            </a:pPr>
            <a:r>
              <a:t>📦  Export data — download all your conversations</a:t>
            </a:r>
          </a:p>
          <a:p>
            <a:pPr>
              <a:spcAft>
                <a:spcPts val="600"/>
              </a:spcAft>
              <a:defRPr sz="1500">
                <a:solidFill>
                  <a:srgbClr val="D1D5DB"/>
                </a:solidFill>
              </a:defRPr>
            </a:pPr>
            <a:r>
              <a:t>🔗  Shared chats — control who sees what</a:t>
            </a:r>
          </a:p>
          <a:p>
            <a:pPr>
              <a:spcAft>
                <a:spcPts val="600"/>
              </a:spcAft>
              <a:defRPr sz="1500">
                <a:solidFill>
                  <a:srgbClr val="D1D5DB"/>
                </a:solidFill>
              </a:defRPr>
            </a:pPr>
            <a:r>
              <a:t>🧠  Memory preferences — view, edit, delete memories</a:t>
            </a:r>
          </a:p>
          <a:p>
            <a:pPr>
              <a:spcAft>
                <a:spcPts val="600"/>
              </a:spcAft>
              <a:defRPr sz="1500">
                <a:solidFill>
                  <a:srgbClr val="D1D5DB"/>
                </a:solidFill>
              </a:defRPr>
            </a:pPr>
            <a:r>
              <a:t>📍  Location metadata — coarse city/region (optional)</a:t>
            </a:r>
          </a:p>
          <a:p>
            <a:pPr>
              <a:spcAft>
                <a:spcPts val="600"/>
              </a:spcAft>
              <a:defRPr sz="1500">
                <a:solidFill>
                  <a:srgbClr val="D1D5DB"/>
                </a:solidFill>
              </a:defRPr>
            </a:pPr>
            <a:r>
              <a:t>🕶️  Incognito chats — not saved, not trained 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a:extLst>
            <a:ext uri="{FF2B5EF4-FFF2-40B4-BE49-F238E27FC236}">
              <a16:creationId xmlns:a16="http://schemas.microsoft.com/office/drawing/2014/main" id="{9568F48F-97BB-A890-E890-35D87820D9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7F144F-A2F0-9C6E-3475-395130E6DC20}"/>
              </a:ext>
            </a:extLst>
          </p:cNvPr>
          <p:cNvSpPr txBox="1"/>
          <p:nvPr/>
        </p:nvSpPr>
        <p:spPr>
          <a:xfrm>
            <a:off x="457200" y="274320"/>
            <a:ext cx="11247120" cy="8229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4000" b="1">
                <a:solidFill>
                  <a:srgbClr val="FFFFFF"/>
                </a:solidFill>
              </a:defRPr>
            </a:pPr>
            <a:r>
              <a:rPr kumimoji="0" sz="4000" b="1" i="0" u="none" strike="noStrike" kern="1200" cap="none" spc="0" normalizeH="0" baseline="0" noProof="0">
                <a:ln>
                  <a:noFill/>
                </a:ln>
                <a:solidFill>
                  <a:srgbClr val="FFFFFF"/>
                </a:solidFill>
                <a:effectLst/>
                <a:uLnTx/>
                <a:uFillTx/>
                <a:latin typeface="Calibri"/>
                <a:ea typeface="+mn-ea"/>
                <a:cs typeface="+mn-cs"/>
              </a:rPr>
              <a:t>Claude on Your Phone</a:t>
            </a:r>
          </a:p>
        </p:txBody>
      </p:sp>
      <p:sp>
        <p:nvSpPr>
          <p:cNvPr id="3" name="TextBox 2">
            <a:extLst>
              <a:ext uri="{FF2B5EF4-FFF2-40B4-BE49-F238E27FC236}">
                <a16:creationId xmlns:a16="http://schemas.microsoft.com/office/drawing/2014/main" id="{0A020FD7-BD6D-086A-E175-C57EFBE08D24}"/>
              </a:ext>
            </a:extLst>
          </p:cNvPr>
          <p:cNvSpPr txBox="1"/>
          <p:nvPr/>
        </p:nvSpPr>
        <p:spPr>
          <a:xfrm>
            <a:off x="457200" y="1097280"/>
            <a:ext cx="1124712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000" i="1">
                <a:solidFill>
                  <a:srgbClr val="9CA3AF"/>
                </a:solidFill>
              </a:defRPr>
            </a:pPr>
            <a:r>
              <a:rPr kumimoji="0" sz="2000" b="0" i="1" u="none" strike="noStrike" kern="1200" cap="none" spc="0" normalizeH="0" baseline="0" noProof="0">
                <a:ln>
                  <a:noFill/>
                </a:ln>
                <a:solidFill>
                  <a:srgbClr val="9CA3AF"/>
                </a:solidFill>
                <a:effectLst/>
                <a:uLnTx/>
                <a:uFillTx/>
                <a:latin typeface="Calibri"/>
                <a:ea typeface="+mn-ea"/>
                <a:cs typeface="+mn-cs"/>
              </a:rPr>
              <a:t>iOS &amp; Android — your AI assistant goes where you go</a:t>
            </a:r>
          </a:p>
        </p:txBody>
      </p:sp>
      <p:sp>
        <p:nvSpPr>
          <p:cNvPr id="4" name="Rounded Rectangle 3">
            <a:extLst>
              <a:ext uri="{FF2B5EF4-FFF2-40B4-BE49-F238E27FC236}">
                <a16:creationId xmlns:a16="http://schemas.microsoft.com/office/drawing/2014/main" id="{C17319CF-8700-96FE-70D6-9372ADF1F14C}"/>
              </a:ext>
            </a:extLst>
          </p:cNvPr>
          <p:cNvSpPr/>
          <p:nvPr/>
        </p:nvSpPr>
        <p:spPr>
          <a:xfrm>
            <a:off x="457200" y="1828800"/>
            <a:ext cx="3474720" cy="36576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1335A7FF-C49A-3246-88DB-FA3445C78AF3}"/>
              </a:ext>
            </a:extLst>
          </p:cNvPr>
          <p:cNvSpPr txBox="1"/>
          <p:nvPr/>
        </p:nvSpPr>
        <p:spPr>
          <a:xfrm>
            <a:off x="640080" y="2011680"/>
            <a:ext cx="3108960" cy="64008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3600"/>
            </a:pPr>
            <a:r>
              <a:rPr kumimoji="0" sz="3600" b="0" i="0" u="none" strike="noStrike" kern="1200" cap="none" spc="0" normalizeH="0" baseline="0" noProof="0">
                <a:ln>
                  <a:noFill/>
                </a:ln>
                <a:solidFill>
                  <a:prstClr val="black"/>
                </a:solidFill>
                <a:effectLst/>
                <a:uLnTx/>
                <a:uFillTx/>
                <a:latin typeface="Calibri"/>
                <a:ea typeface="+mn-ea"/>
                <a:cs typeface="+mn-cs"/>
              </a:rPr>
              <a:t>📱</a:t>
            </a:r>
          </a:p>
        </p:txBody>
      </p:sp>
      <p:sp>
        <p:nvSpPr>
          <p:cNvPr id="6" name="TextBox 5">
            <a:extLst>
              <a:ext uri="{FF2B5EF4-FFF2-40B4-BE49-F238E27FC236}">
                <a16:creationId xmlns:a16="http://schemas.microsoft.com/office/drawing/2014/main" id="{74F612F4-B23F-8640-3E89-CD6378A29A6F}"/>
              </a:ext>
            </a:extLst>
          </p:cNvPr>
          <p:cNvSpPr txBox="1"/>
          <p:nvPr/>
        </p:nvSpPr>
        <p:spPr>
          <a:xfrm>
            <a:off x="640080" y="2651760"/>
            <a:ext cx="3108960" cy="45720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000" b="1">
                <a:solidFill>
                  <a:srgbClr val="FFFFFF"/>
                </a:solidFill>
              </a:defRPr>
            </a:pPr>
            <a:r>
              <a:rPr kumimoji="0" sz="2000" b="1" i="0" u="none" strike="noStrike" kern="1200" cap="none" spc="0" normalizeH="0" baseline="0" noProof="0">
                <a:ln>
                  <a:noFill/>
                </a:ln>
                <a:solidFill>
                  <a:srgbClr val="FFFFFF"/>
                </a:solidFill>
                <a:effectLst/>
                <a:uLnTx/>
                <a:uFillTx/>
                <a:latin typeface="Calibri"/>
                <a:ea typeface="+mn-ea"/>
                <a:cs typeface="+mn-cs"/>
              </a:rPr>
              <a:t>Voice on the Go</a:t>
            </a:r>
          </a:p>
        </p:txBody>
      </p:sp>
      <p:sp>
        <p:nvSpPr>
          <p:cNvPr id="7" name="TextBox 6">
            <a:extLst>
              <a:ext uri="{FF2B5EF4-FFF2-40B4-BE49-F238E27FC236}">
                <a16:creationId xmlns:a16="http://schemas.microsoft.com/office/drawing/2014/main" id="{6E637E35-A47A-D8AB-BFF8-354528FCA3ED}"/>
              </a:ext>
            </a:extLst>
          </p:cNvPr>
          <p:cNvSpPr txBox="1"/>
          <p:nvPr/>
        </p:nvSpPr>
        <p:spPr>
          <a:xfrm>
            <a:off x="640080" y="3200400"/>
            <a:ext cx="3108960" cy="201168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400">
                <a:solidFill>
                  <a:srgbClr val="9CA3AF"/>
                </a:solidFill>
              </a:defRPr>
            </a:pPr>
            <a:r>
              <a:rPr kumimoji="0" sz="1400" b="0" i="0" u="none" strike="noStrike" kern="1200" cap="none" spc="0" normalizeH="0" baseline="0" noProof="0">
                <a:ln>
                  <a:noFill/>
                </a:ln>
                <a:solidFill>
                  <a:srgbClr val="9CA3AF"/>
                </a:solidFill>
                <a:effectLst/>
                <a:uLnTx/>
                <a:uFillTx/>
                <a:latin typeface="Calibri"/>
                <a:ea typeface="+mn-ea"/>
                <a:cs typeface="+mn-cs"/>
              </a:rPr>
              <a:t>Dictate prompts, get spoken</a:t>
            </a:r>
            <a:br>
              <a:rPr kumimoji="0" sz="1400" b="0" i="0" u="none" strike="noStrike" kern="1200" cap="none" spc="0" normalizeH="0" baseline="0" noProof="0">
                <a:ln>
                  <a:noFill/>
                </a:ln>
                <a:solidFill>
                  <a:srgbClr val="9CA3AF"/>
                </a:solidFill>
                <a:effectLst/>
                <a:uLnTx/>
                <a:uFillTx/>
                <a:latin typeface="Calibri"/>
                <a:ea typeface="+mn-ea"/>
                <a:cs typeface="+mn-cs"/>
              </a:rPr>
            </a:br>
            <a:r>
              <a:rPr kumimoji="0" sz="1400" b="0" i="0" u="none" strike="noStrike" kern="1200" cap="none" spc="0" normalizeH="0" baseline="0" noProof="0">
                <a:ln>
                  <a:noFill/>
                </a:ln>
                <a:solidFill>
                  <a:srgbClr val="9CA3AF"/>
                </a:solidFill>
                <a:effectLst/>
                <a:uLnTx/>
                <a:uFillTx/>
                <a:latin typeface="Calibri"/>
                <a:ea typeface="+mn-ea"/>
                <a:cs typeface="+mn-cs"/>
              </a:rPr>
              <a:t>responses. Meeting prep while</a:t>
            </a:r>
            <a:br>
              <a:rPr kumimoji="0" sz="1400" b="0" i="0" u="none" strike="noStrike" kern="1200" cap="none" spc="0" normalizeH="0" baseline="0" noProof="0">
                <a:ln>
                  <a:noFill/>
                </a:ln>
                <a:solidFill>
                  <a:srgbClr val="9CA3AF"/>
                </a:solidFill>
                <a:effectLst/>
                <a:uLnTx/>
                <a:uFillTx/>
                <a:latin typeface="Calibri"/>
                <a:ea typeface="+mn-ea"/>
                <a:cs typeface="+mn-cs"/>
              </a:rPr>
            </a:br>
            <a:r>
              <a:rPr kumimoji="0" sz="1400" b="0" i="0" u="none" strike="noStrike" kern="1200" cap="none" spc="0" normalizeH="0" baseline="0" noProof="0">
                <a:ln>
                  <a:noFill/>
                </a:ln>
                <a:solidFill>
                  <a:srgbClr val="9CA3AF"/>
                </a:solidFill>
                <a:effectLst/>
                <a:uLnTx/>
                <a:uFillTx/>
                <a:latin typeface="Calibri"/>
                <a:ea typeface="+mn-ea"/>
                <a:cs typeface="+mn-cs"/>
              </a:rPr>
              <a:t>walking, email drafts from</a:t>
            </a:r>
            <a:br>
              <a:rPr kumimoji="0" sz="1400" b="0" i="0" u="none" strike="noStrike" kern="1200" cap="none" spc="0" normalizeH="0" baseline="0" noProof="0">
                <a:ln>
                  <a:noFill/>
                </a:ln>
                <a:solidFill>
                  <a:srgbClr val="9CA3AF"/>
                </a:solidFill>
                <a:effectLst/>
                <a:uLnTx/>
                <a:uFillTx/>
                <a:latin typeface="Calibri"/>
                <a:ea typeface="+mn-ea"/>
                <a:cs typeface="+mn-cs"/>
              </a:rPr>
            </a:br>
            <a:r>
              <a:rPr kumimoji="0" sz="1400" b="0" i="0" u="none" strike="noStrike" kern="1200" cap="none" spc="0" normalizeH="0" baseline="0" noProof="0">
                <a:ln>
                  <a:noFill/>
                </a:ln>
                <a:solidFill>
                  <a:srgbClr val="9CA3AF"/>
                </a:solidFill>
                <a:effectLst/>
                <a:uLnTx/>
                <a:uFillTx/>
                <a:latin typeface="Calibri"/>
                <a:ea typeface="+mn-ea"/>
                <a:cs typeface="+mn-cs"/>
              </a:rPr>
              <a:t>your car, brainstorm anywhere.</a:t>
            </a:r>
          </a:p>
        </p:txBody>
      </p:sp>
      <p:sp>
        <p:nvSpPr>
          <p:cNvPr id="8" name="Rounded Rectangle 7">
            <a:extLst>
              <a:ext uri="{FF2B5EF4-FFF2-40B4-BE49-F238E27FC236}">
                <a16:creationId xmlns:a16="http://schemas.microsoft.com/office/drawing/2014/main" id="{8DB8E344-B1B2-AFAE-8A2E-41AB7249F1D3}"/>
              </a:ext>
            </a:extLst>
          </p:cNvPr>
          <p:cNvSpPr/>
          <p:nvPr/>
        </p:nvSpPr>
        <p:spPr>
          <a:xfrm>
            <a:off x="4206240" y="1828800"/>
            <a:ext cx="3474720" cy="36576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a:extLst>
              <a:ext uri="{FF2B5EF4-FFF2-40B4-BE49-F238E27FC236}">
                <a16:creationId xmlns:a16="http://schemas.microsoft.com/office/drawing/2014/main" id="{5BF3D810-E77D-B4BE-D2C7-C99B5D29E138}"/>
              </a:ext>
            </a:extLst>
          </p:cNvPr>
          <p:cNvSpPr txBox="1"/>
          <p:nvPr/>
        </p:nvSpPr>
        <p:spPr>
          <a:xfrm>
            <a:off x="4389120" y="2011680"/>
            <a:ext cx="3108960" cy="64008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3600"/>
            </a:pPr>
            <a:r>
              <a:rPr kumimoji="0" sz="3600" b="0" i="0" u="none" strike="noStrike" kern="1200" cap="none" spc="0" normalizeH="0" baseline="0" noProof="0">
                <a:ln>
                  <a:noFill/>
                </a:ln>
                <a:solidFill>
                  <a:prstClr val="black"/>
                </a:solidFill>
                <a:effectLst/>
                <a:uLnTx/>
                <a:uFillTx/>
                <a:latin typeface="Calibri"/>
                <a:ea typeface="+mn-ea"/>
                <a:cs typeface="+mn-cs"/>
              </a:rPr>
              <a:t>📷</a:t>
            </a:r>
          </a:p>
        </p:txBody>
      </p:sp>
      <p:sp>
        <p:nvSpPr>
          <p:cNvPr id="10" name="TextBox 9">
            <a:extLst>
              <a:ext uri="{FF2B5EF4-FFF2-40B4-BE49-F238E27FC236}">
                <a16:creationId xmlns:a16="http://schemas.microsoft.com/office/drawing/2014/main" id="{34190E08-C41F-052B-3D51-449FDDF338F4}"/>
              </a:ext>
            </a:extLst>
          </p:cNvPr>
          <p:cNvSpPr txBox="1"/>
          <p:nvPr/>
        </p:nvSpPr>
        <p:spPr>
          <a:xfrm>
            <a:off x="4389120" y="2651760"/>
            <a:ext cx="3108960" cy="45720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000" b="1">
                <a:solidFill>
                  <a:srgbClr val="FFFFFF"/>
                </a:solidFill>
              </a:defRPr>
            </a:pPr>
            <a:r>
              <a:rPr kumimoji="0" sz="2000" b="1" i="0" u="none" strike="noStrike" kern="1200" cap="none" spc="0" normalizeH="0" baseline="0" noProof="0">
                <a:ln>
                  <a:noFill/>
                </a:ln>
                <a:solidFill>
                  <a:srgbClr val="FFFFFF"/>
                </a:solidFill>
                <a:effectLst/>
                <a:uLnTx/>
                <a:uFillTx/>
                <a:latin typeface="Calibri"/>
                <a:ea typeface="+mn-ea"/>
                <a:cs typeface="+mn-cs"/>
              </a:rPr>
              <a:t>Camera + Vision</a:t>
            </a:r>
          </a:p>
        </p:txBody>
      </p:sp>
      <p:sp>
        <p:nvSpPr>
          <p:cNvPr id="11" name="TextBox 10">
            <a:extLst>
              <a:ext uri="{FF2B5EF4-FFF2-40B4-BE49-F238E27FC236}">
                <a16:creationId xmlns:a16="http://schemas.microsoft.com/office/drawing/2014/main" id="{1F6B3515-C064-7FFC-84A7-F9C1181A0C3A}"/>
              </a:ext>
            </a:extLst>
          </p:cNvPr>
          <p:cNvSpPr txBox="1"/>
          <p:nvPr/>
        </p:nvSpPr>
        <p:spPr>
          <a:xfrm>
            <a:off x="4389120" y="3200400"/>
            <a:ext cx="3108960" cy="201168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400">
                <a:solidFill>
                  <a:srgbClr val="9CA3AF"/>
                </a:solidFill>
              </a:defRPr>
            </a:pPr>
            <a:r>
              <a:rPr kumimoji="0" sz="1400" b="0" i="0" u="none" strike="noStrike" kern="1200" cap="none" spc="0" normalizeH="0" baseline="0" noProof="0">
                <a:ln>
                  <a:noFill/>
                </a:ln>
                <a:solidFill>
                  <a:srgbClr val="9CA3AF"/>
                </a:solidFill>
                <a:effectLst/>
                <a:uLnTx/>
                <a:uFillTx/>
                <a:latin typeface="Calibri"/>
                <a:ea typeface="+mn-ea"/>
                <a:cs typeface="+mn-cs"/>
              </a:rPr>
              <a:t>Snap a whiteboard, photo of</a:t>
            </a:r>
            <a:br>
              <a:rPr kumimoji="0" sz="1400" b="0" i="0" u="none" strike="noStrike" kern="1200" cap="none" spc="0" normalizeH="0" baseline="0" noProof="0">
                <a:ln>
                  <a:noFill/>
                </a:ln>
                <a:solidFill>
                  <a:srgbClr val="9CA3AF"/>
                </a:solidFill>
                <a:effectLst/>
                <a:uLnTx/>
                <a:uFillTx/>
                <a:latin typeface="Calibri"/>
                <a:ea typeface="+mn-ea"/>
                <a:cs typeface="+mn-cs"/>
              </a:rPr>
            </a:br>
            <a:r>
              <a:rPr kumimoji="0" sz="1400" b="0" i="0" u="none" strike="noStrike" kern="1200" cap="none" spc="0" normalizeH="0" baseline="0" noProof="0">
                <a:ln>
                  <a:noFill/>
                </a:ln>
                <a:solidFill>
                  <a:srgbClr val="9CA3AF"/>
                </a:solidFill>
                <a:effectLst/>
                <a:uLnTx/>
                <a:uFillTx/>
                <a:latin typeface="Calibri"/>
                <a:ea typeface="+mn-ea"/>
                <a:cs typeface="+mn-cs"/>
              </a:rPr>
              <a:t>a document, screenshot of an</a:t>
            </a:r>
            <a:br>
              <a:rPr kumimoji="0" sz="1400" b="0" i="0" u="none" strike="noStrike" kern="1200" cap="none" spc="0" normalizeH="0" baseline="0" noProof="0">
                <a:ln>
                  <a:noFill/>
                </a:ln>
                <a:solidFill>
                  <a:srgbClr val="9CA3AF"/>
                </a:solidFill>
                <a:effectLst/>
                <a:uLnTx/>
                <a:uFillTx/>
                <a:latin typeface="Calibri"/>
                <a:ea typeface="+mn-ea"/>
                <a:cs typeface="+mn-cs"/>
              </a:rPr>
            </a:br>
            <a:r>
              <a:rPr kumimoji="0" sz="1400" b="0" i="0" u="none" strike="noStrike" kern="1200" cap="none" spc="0" normalizeH="0" baseline="0" noProof="0">
                <a:ln>
                  <a:noFill/>
                </a:ln>
                <a:solidFill>
                  <a:srgbClr val="9CA3AF"/>
                </a:solidFill>
                <a:effectLst/>
                <a:uLnTx/>
                <a:uFillTx/>
                <a:latin typeface="Calibri"/>
                <a:ea typeface="+mn-ea"/>
                <a:cs typeface="+mn-cs"/>
              </a:rPr>
              <a:t>error. Claude reads images</a:t>
            </a:r>
            <a:br>
              <a:rPr kumimoji="0" sz="1400" b="0" i="0" u="none" strike="noStrike" kern="1200" cap="none" spc="0" normalizeH="0" baseline="0" noProof="0">
                <a:ln>
                  <a:noFill/>
                </a:ln>
                <a:solidFill>
                  <a:srgbClr val="9CA3AF"/>
                </a:solidFill>
                <a:effectLst/>
                <a:uLnTx/>
                <a:uFillTx/>
                <a:latin typeface="Calibri"/>
                <a:ea typeface="+mn-ea"/>
                <a:cs typeface="+mn-cs"/>
              </a:rPr>
            </a:br>
            <a:r>
              <a:rPr kumimoji="0" sz="1400" b="0" i="0" u="none" strike="noStrike" kern="1200" cap="none" spc="0" normalizeH="0" baseline="0" noProof="0">
                <a:ln>
                  <a:noFill/>
                </a:ln>
                <a:solidFill>
                  <a:srgbClr val="9CA3AF"/>
                </a:solidFill>
                <a:effectLst/>
                <a:uLnTx/>
                <a:uFillTx/>
                <a:latin typeface="Calibri"/>
                <a:ea typeface="+mn-ea"/>
                <a:cs typeface="+mn-cs"/>
              </a:rPr>
              <a:t>natively — no typing needed.</a:t>
            </a:r>
          </a:p>
        </p:txBody>
      </p:sp>
      <p:sp>
        <p:nvSpPr>
          <p:cNvPr id="12" name="Rounded Rectangle 11">
            <a:extLst>
              <a:ext uri="{FF2B5EF4-FFF2-40B4-BE49-F238E27FC236}">
                <a16:creationId xmlns:a16="http://schemas.microsoft.com/office/drawing/2014/main" id="{DC84FEF6-D904-F911-A239-FD86638888F2}"/>
              </a:ext>
            </a:extLst>
          </p:cNvPr>
          <p:cNvSpPr/>
          <p:nvPr/>
        </p:nvSpPr>
        <p:spPr>
          <a:xfrm>
            <a:off x="7955279" y="1828800"/>
            <a:ext cx="3474720" cy="36576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8C481455-59AB-BA6C-B634-D33DEF366C52}"/>
              </a:ext>
            </a:extLst>
          </p:cNvPr>
          <p:cNvSpPr txBox="1"/>
          <p:nvPr/>
        </p:nvSpPr>
        <p:spPr>
          <a:xfrm>
            <a:off x="8138159" y="2011680"/>
            <a:ext cx="3108960" cy="64008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3600"/>
            </a:pPr>
            <a:r>
              <a:rPr kumimoji="0" sz="3600" b="0" i="0" u="none" strike="noStrike" kern="1200" cap="none" spc="0" normalizeH="0" baseline="0" noProof="0">
                <a:ln>
                  <a:noFill/>
                </a:ln>
                <a:solidFill>
                  <a:prstClr val="black"/>
                </a:solidFill>
                <a:effectLst/>
                <a:uLnTx/>
                <a:uFillTx/>
                <a:latin typeface="Calibri"/>
                <a:ea typeface="+mn-ea"/>
                <a:cs typeface="+mn-cs"/>
              </a:rPr>
              <a:t>💬</a:t>
            </a:r>
          </a:p>
        </p:txBody>
      </p:sp>
      <p:sp>
        <p:nvSpPr>
          <p:cNvPr id="14" name="TextBox 13">
            <a:extLst>
              <a:ext uri="{FF2B5EF4-FFF2-40B4-BE49-F238E27FC236}">
                <a16:creationId xmlns:a16="http://schemas.microsoft.com/office/drawing/2014/main" id="{28D387CD-77CB-2695-DEEE-A10575802AA9}"/>
              </a:ext>
            </a:extLst>
          </p:cNvPr>
          <p:cNvSpPr txBox="1"/>
          <p:nvPr/>
        </p:nvSpPr>
        <p:spPr>
          <a:xfrm>
            <a:off x="8138159" y="2651760"/>
            <a:ext cx="3108960" cy="45720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000" b="1">
                <a:solidFill>
                  <a:srgbClr val="FFFFFF"/>
                </a:solidFill>
              </a:defRPr>
            </a:pPr>
            <a:r>
              <a:rPr kumimoji="0" sz="2000" b="1" i="0" u="none" strike="noStrike" kern="1200" cap="none" spc="0" normalizeH="0" baseline="0" noProof="0">
                <a:ln>
                  <a:noFill/>
                </a:ln>
                <a:solidFill>
                  <a:srgbClr val="FFFFFF"/>
                </a:solidFill>
                <a:effectLst/>
                <a:uLnTx/>
                <a:uFillTx/>
                <a:latin typeface="Calibri"/>
                <a:ea typeface="+mn-ea"/>
                <a:cs typeface="+mn-cs"/>
              </a:rPr>
              <a:t>Quick Access</a:t>
            </a:r>
          </a:p>
        </p:txBody>
      </p:sp>
      <p:sp>
        <p:nvSpPr>
          <p:cNvPr id="15" name="TextBox 14">
            <a:extLst>
              <a:ext uri="{FF2B5EF4-FFF2-40B4-BE49-F238E27FC236}">
                <a16:creationId xmlns:a16="http://schemas.microsoft.com/office/drawing/2014/main" id="{D7AA44D0-D7BF-E7B1-AA2A-5243B9A53371}"/>
              </a:ext>
            </a:extLst>
          </p:cNvPr>
          <p:cNvSpPr txBox="1"/>
          <p:nvPr/>
        </p:nvSpPr>
        <p:spPr>
          <a:xfrm>
            <a:off x="8138159" y="3200400"/>
            <a:ext cx="3108960" cy="201168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400">
                <a:solidFill>
                  <a:srgbClr val="9CA3AF"/>
                </a:solidFill>
              </a:defRPr>
            </a:pPr>
            <a:r>
              <a:rPr kumimoji="0" sz="1400" b="0" i="0" u="none" strike="noStrike" kern="1200" cap="none" spc="0" normalizeH="0" baseline="0" noProof="0">
                <a:ln>
                  <a:noFill/>
                </a:ln>
                <a:solidFill>
                  <a:srgbClr val="9CA3AF"/>
                </a:solidFill>
                <a:effectLst/>
                <a:uLnTx/>
                <a:uFillTx/>
                <a:latin typeface="Calibri"/>
                <a:ea typeface="+mn-ea"/>
                <a:cs typeface="+mn-cs"/>
              </a:rPr>
              <a:t>Same conversations sync</a:t>
            </a:r>
            <a:br>
              <a:rPr kumimoji="0" sz="1400" b="0" i="0" u="none" strike="noStrike" kern="1200" cap="none" spc="0" normalizeH="0" baseline="0" noProof="0">
                <a:ln>
                  <a:noFill/>
                </a:ln>
                <a:solidFill>
                  <a:srgbClr val="9CA3AF"/>
                </a:solidFill>
                <a:effectLst/>
                <a:uLnTx/>
                <a:uFillTx/>
                <a:latin typeface="Calibri"/>
                <a:ea typeface="+mn-ea"/>
                <a:cs typeface="+mn-cs"/>
              </a:rPr>
            </a:br>
            <a:r>
              <a:rPr kumimoji="0" sz="1400" b="0" i="0" u="none" strike="noStrike" kern="1200" cap="none" spc="0" normalizeH="0" baseline="0" noProof="0">
                <a:ln>
                  <a:noFill/>
                </a:ln>
                <a:solidFill>
                  <a:srgbClr val="9CA3AF"/>
                </a:solidFill>
                <a:effectLst/>
                <a:uLnTx/>
                <a:uFillTx/>
                <a:latin typeface="Calibri"/>
                <a:ea typeface="+mn-ea"/>
                <a:cs typeface="+mn-cs"/>
              </a:rPr>
              <a:t>across phone, desktop, and</a:t>
            </a:r>
            <a:br>
              <a:rPr kumimoji="0" sz="1400" b="0" i="0" u="none" strike="noStrike" kern="1200" cap="none" spc="0" normalizeH="0" baseline="0" noProof="0">
                <a:ln>
                  <a:noFill/>
                </a:ln>
                <a:solidFill>
                  <a:srgbClr val="9CA3AF"/>
                </a:solidFill>
                <a:effectLst/>
                <a:uLnTx/>
                <a:uFillTx/>
                <a:latin typeface="Calibri"/>
                <a:ea typeface="+mn-ea"/>
                <a:cs typeface="+mn-cs"/>
              </a:rPr>
            </a:br>
            <a:r>
              <a:rPr kumimoji="0" sz="1400" b="0" i="0" u="none" strike="noStrike" kern="1200" cap="none" spc="0" normalizeH="0" baseline="0" noProof="0">
                <a:ln>
                  <a:noFill/>
                </a:ln>
                <a:solidFill>
                  <a:srgbClr val="9CA3AF"/>
                </a:solidFill>
                <a:effectLst/>
                <a:uLnTx/>
                <a:uFillTx/>
                <a:latin typeface="Calibri"/>
                <a:ea typeface="+mn-ea"/>
                <a:cs typeface="+mn-cs"/>
              </a:rPr>
              <a:t>web. Start on your laptop,</a:t>
            </a:r>
            <a:br>
              <a:rPr kumimoji="0" sz="1400" b="0" i="0" u="none" strike="noStrike" kern="1200" cap="none" spc="0" normalizeH="0" baseline="0" noProof="0">
                <a:ln>
                  <a:noFill/>
                </a:ln>
                <a:solidFill>
                  <a:srgbClr val="9CA3AF"/>
                </a:solidFill>
                <a:effectLst/>
                <a:uLnTx/>
                <a:uFillTx/>
                <a:latin typeface="Calibri"/>
                <a:ea typeface="+mn-ea"/>
                <a:cs typeface="+mn-cs"/>
              </a:rPr>
            </a:br>
            <a:r>
              <a:rPr kumimoji="0" sz="1400" b="0" i="0" u="none" strike="noStrike" kern="1200" cap="none" spc="0" normalizeH="0" baseline="0" noProof="0">
                <a:ln>
                  <a:noFill/>
                </a:ln>
                <a:solidFill>
                  <a:srgbClr val="9CA3AF"/>
                </a:solidFill>
                <a:effectLst/>
                <a:uLnTx/>
                <a:uFillTx/>
                <a:latin typeface="Calibri"/>
                <a:ea typeface="+mn-ea"/>
                <a:cs typeface="+mn-cs"/>
              </a:rPr>
              <a:t>continue on your phone.</a:t>
            </a:r>
          </a:p>
        </p:txBody>
      </p:sp>
      <p:sp>
        <p:nvSpPr>
          <p:cNvPr id="16" name="TextBox 15">
            <a:extLst>
              <a:ext uri="{FF2B5EF4-FFF2-40B4-BE49-F238E27FC236}">
                <a16:creationId xmlns:a16="http://schemas.microsoft.com/office/drawing/2014/main" id="{112129ED-E08A-3518-5558-BB3B22E19E8F}"/>
              </a:ext>
            </a:extLst>
          </p:cNvPr>
          <p:cNvSpPr txBox="1"/>
          <p:nvPr/>
        </p:nvSpPr>
        <p:spPr>
          <a:xfrm>
            <a:off x="457200" y="5852160"/>
            <a:ext cx="11247120" cy="45720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600" i="1">
                <a:solidFill>
                  <a:srgbClr val="14B8A6"/>
                </a:solidFill>
              </a:defRPr>
            </a:pPr>
            <a:r>
              <a:rPr kumimoji="0" sz="1600" b="0" i="1" u="none" strike="noStrike" kern="1200" cap="none" spc="0" normalizeH="0" baseline="0" noProof="0">
                <a:ln>
                  <a:noFill/>
                </a:ln>
                <a:solidFill>
                  <a:srgbClr val="14B8A6"/>
                </a:solidFill>
                <a:effectLst/>
                <a:uLnTx/>
                <a:uFillTx/>
                <a:latin typeface="Calibri"/>
                <a:ea typeface="+mn-ea"/>
                <a:cs typeface="+mn-cs"/>
              </a:rPr>
              <a:t>Pro tip: Enable Voice Mode on mobile for hands-free AI conversations</a:t>
            </a:r>
          </a:p>
        </p:txBody>
      </p:sp>
    </p:spTree>
    <p:extLst>
      <p:ext uri="{BB962C8B-B14F-4D97-AF65-F5344CB8AC3E}">
        <p14:creationId xmlns:p14="http://schemas.microsoft.com/office/powerpoint/2010/main" val="41307976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a:extLst>
            <a:ext uri="{FF2B5EF4-FFF2-40B4-BE49-F238E27FC236}">
              <a16:creationId xmlns:a16="http://schemas.microsoft.com/office/drawing/2014/main" id="{7EDBD57A-7338-0E26-CEAB-6C95F15A17F1}"/>
            </a:ext>
          </a:extLst>
        </p:cNvPr>
        <p:cNvGrpSpPr/>
        <p:nvPr/>
      </p:nvGrpSpPr>
      <p:grpSpPr>
        <a:xfrm>
          <a:off x="0" y="0"/>
          <a:ext cx="0" cy="0"/>
          <a:chOff x="0" y="0"/>
          <a:chExt cx="0" cy="0"/>
        </a:xfrm>
      </p:grpSpPr>
      <p:sp>
        <p:nvSpPr>
          <p:cNvPr id="18" name="TextBox 17"/>
          <p:cNvSpPr txBox="1"/>
          <p:nvPr/>
        </p:nvSpPr>
        <p:spPr>
          <a:xfrm>
            <a:off x="457200" y="274320"/>
            <a:ext cx="11247120" cy="822960"/>
          </a:xfrm>
          <a:prstGeom prst="rect">
            <a:avLst/>
          </a:prstGeom>
          <a:noFill/>
        </p:spPr>
        <p:txBody>
          <a:bodyPr wrap="none">
            <a:spAutoFit/>
          </a:bodyPr>
          <a:lstStyle/>
          <a:p>
            <a:pPr>
              <a:defRPr sz="4000" b="1">
                <a:solidFill>
                  <a:srgbClr val="FFFFFF"/>
                </a:solidFill>
              </a:defRPr>
            </a:pPr>
            <a:r>
              <a:t>Claude for Work: Autonomous AI</a:t>
            </a:r>
          </a:p>
        </p:txBody>
      </p:sp>
      <p:sp>
        <p:nvSpPr>
          <p:cNvPr id="19" name="TextBox 18"/>
          <p:cNvSpPr txBox="1"/>
          <p:nvPr/>
        </p:nvSpPr>
        <p:spPr>
          <a:xfrm>
            <a:off x="457200" y="1097280"/>
            <a:ext cx="11247120" cy="457200"/>
          </a:xfrm>
          <a:prstGeom prst="rect">
            <a:avLst/>
          </a:prstGeom>
          <a:noFill/>
        </p:spPr>
        <p:txBody>
          <a:bodyPr wrap="none">
            <a:spAutoFit/>
          </a:bodyPr>
          <a:lstStyle/>
          <a:p>
            <a:pPr>
              <a:defRPr sz="2000" i="1">
                <a:solidFill>
                  <a:srgbClr val="9CA3AF"/>
                </a:solidFill>
              </a:defRPr>
            </a:pPr>
            <a:r>
              <a:t>Set a goal → Walk away → Come back to finished work</a:t>
            </a:r>
          </a:p>
        </p:txBody>
      </p:sp>
      <p:sp>
        <p:nvSpPr>
          <p:cNvPr id="20" name="Rounded Rectangle 3"/>
          <p:cNvSpPr/>
          <p:nvPr/>
        </p:nvSpPr>
        <p:spPr>
          <a:xfrm>
            <a:off x="457200" y="1828800"/>
            <a:ext cx="3474720" cy="27432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2011680"/>
            <a:ext cx="3108960" cy="457200"/>
          </a:xfrm>
          <a:prstGeom prst="rect">
            <a:avLst/>
          </a:prstGeom>
          <a:noFill/>
        </p:spPr>
        <p:txBody>
          <a:bodyPr wrap="none">
            <a:spAutoFit/>
          </a:bodyPr>
          <a:lstStyle/>
          <a:p>
            <a:pPr algn="ctr">
              <a:defRPr sz="3000"/>
            </a:pPr>
            <a:r>
              <a:t>💬</a:t>
            </a:r>
          </a:p>
        </p:txBody>
      </p:sp>
      <p:sp>
        <p:nvSpPr>
          <p:cNvPr id="6" name="TextBox 5"/>
          <p:cNvSpPr txBox="1"/>
          <p:nvPr/>
        </p:nvSpPr>
        <p:spPr>
          <a:xfrm>
            <a:off x="640080" y="2468880"/>
            <a:ext cx="3108960" cy="457200"/>
          </a:xfrm>
          <a:prstGeom prst="rect">
            <a:avLst/>
          </a:prstGeom>
          <a:noFill/>
        </p:spPr>
        <p:txBody>
          <a:bodyPr wrap="none">
            <a:spAutoFit/>
          </a:bodyPr>
          <a:lstStyle/>
          <a:p>
            <a:pPr algn="ctr">
              <a:defRPr sz="2200" b="1">
                <a:solidFill>
                  <a:srgbClr val="FFFFFF"/>
                </a:solidFill>
              </a:defRPr>
            </a:pPr>
            <a:r>
              <a:t>Chat</a:t>
            </a:r>
          </a:p>
        </p:txBody>
      </p:sp>
      <p:sp>
        <p:nvSpPr>
          <p:cNvPr id="7" name="TextBox 6"/>
          <p:cNvSpPr txBox="1"/>
          <p:nvPr/>
        </p:nvSpPr>
        <p:spPr>
          <a:xfrm>
            <a:off x="640080" y="3017520"/>
            <a:ext cx="3108960" cy="1371600"/>
          </a:xfrm>
          <a:prstGeom prst="rect">
            <a:avLst/>
          </a:prstGeom>
          <a:noFill/>
        </p:spPr>
        <p:txBody>
          <a:bodyPr wrap="square">
            <a:spAutoFit/>
          </a:bodyPr>
          <a:lstStyle/>
          <a:p>
            <a:pPr algn="ctr">
              <a:defRPr sz="1400">
                <a:solidFill>
                  <a:srgbClr val="D1D5DB"/>
                </a:solidFill>
              </a:defRPr>
            </a:pPr>
            <a:r>
              <a:t>Real-time conversation</a:t>
            </a:r>
            <a:br/>
            <a:r>
              <a:t>you already know.</a:t>
            </a:r>
            <a:br/>
            <a:r>
              <a:t>Ask → Answer → Iterate.</a:t>
            </a:r>
            <a:br/>
            <a:r>
              <a:t>Great for quick tasks.</a:t>
            </a:r>
          </a:p>
        </p:txBody>
      </p:sp>
      <p:sp>
        <p:nvSpPr>
          <p:cNvPr id="8" name="Rounded Rectangle 7"/>
          <p:cNvSpPr/>
          <p:nvPr/>
        </p:nvSpPr>
        <p:spPr>
          <a:xfrm>
            <a:off x="4206240" y="1828800"/>
            <a:ext cx="3474720" cy="27432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0" y="2011680"/>
            <a:ext cx="3108960" cy="457200"/>
          </a:xfrm>
          <a:prstGeom prst="rect">
            <a:avLst/>
          </a:prstGeom>
          <a:noFill/>
        </p:spPr>
        <p:txBody>
          <a:bodyPr wrap="none">
            <a:spAutoFit/>
          </a:bodyPr>
          <a:lstStyle/>
          <a:p>
            <a:pPr algn="ctr">
              <a:defRPr sz="3000"/>
            </a:pPr>
            <a:r>
              <a:t>🤝</a:t>
            </a:r>
          </a:p>
        </p:txBody>
      </p:sp>
      <p:sp>
        <p:nvSpPr>
          <p:cNvPr id="10" name="TextBox 9"/>
          <p:cNvSpPr txBox="1"/>
          <p:nvPr/>
        </p:nvSpPr>
        <p:spPr>
          <a:xfrm>
            <a:off x="4389120" y="2468880"/>
            <a:ext cx="3108960" cy="457200"/>
          </a:xfrm>
          <a:prstGeom prst="rect">
            <a:avLst/>
          </a:prstGeom>
          <a:noFill/>
        </p:spPr>
        <p:txBody>
          <a:bodyPr wrap="none">
            <a:spAutoFit/>
          </a:bodyPr>
          <a:lstStyle/>
          <a:p>
            <a:pPr algn="ctr">
              <a:defRPr sz="2200" b="1">
                <a:solidFill>
                  <a:srgbClr val="FFFFFF"/>
                </a:solidFill>
              </a:defRPr>
            </a:pPr>
            <a:r>
              <a:t>Cowork</a:t>
            </a:r>
          </a:p>
        </p:txBody>
      </p:sp>
      <p:sp>
        <p:nvSpPr>
          <p:cNvPr id="11" name="TextBox 10"/>
          <p:cNvSpPr txBox="1"/>
          <p:nvPr/>
        </p:nvSpPr>
        <p:spPr>
          <a:xfrm>
            <a:off x="4389120" y="3017520"/>
            <a:ext cx="3108960" cy="1371600"/>
          </a:xfrm>
          <a:prstGeom prst="rect">
            <a:avLst/>
          </a:prstGeom>
          <a:noFill/>
        </p:spPr>
        <p:txBody>
          <a:bodyPr wrap="square">
            <a:spAutoFit/>
          </a:bodyPr>
          <a:lstStyle/>
          <a:p>
            <a:pPr algn="ctr">
              <a:defRPr sz="1400">
                <a:solidFill>
                  <a:srgbClr val="D1D5DB"/>
                </a:solidFill>
              </a:defRPr>
            </a:pPr>
            <a:r>
              <a:t>Set a goal, Claude works</a:t>
            </a:r>
            <a:br/>
            <a:r>
              <a:t>in the background.</a:t>
            </a:r>
            <a:br/>
            <a:r>
              <a:t>Check in when YOU want.</a:t>
            </a:r>
            <a:br/>
            <a:r>
              <a:t>Multi-step complex tasks.</a:t>
            </a:r>
          </a:p>
        </p:txBody>
      </p:sp>
      <p:sp>
        <p:nvSpPr>
          <p:cNvPr id="12" name="Rounded Rectangle 11"/>
          <p:cNvSpPr/>
          <p:nvPr/>
        </p:nvSpPr>
        <p:spPr>
          <a:xfrm>
            <a:off x="7955279" y="1828800"/>
            <a:ext cx="3474720" cy="27432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38159" y="2011680"/>
            <a:ext cx="3108960" cy="457200"/>
          </a:xfrm>
          <a:prstGeom prst="rect">
            <a:avLst/>
          </a:prstGeom>
          <a:noFill/>
        </p:spPr>
        <p:txBody>
          <a:bodyPr wrap="none">
            <a:spAutoFit/>
          </a:bodyPr>
          <a:lstStyle/>
          <a:p>
            <a:pPr algn="ctr">
              <a:defRPr sz="3000"/>
            </a:pPr>
            <a:r>
              <a:t>💻</a:t>
            </a:r>
          </a:p>
        </p:txBody>
      </p:sp>
      <p:sp>
        <p:nvSpPr>
          <p:cNvPr id="14" name="TextBox 13"/>
          <p:cNvSpPr txBox="1"/>
          <p:nvPr/>
        </p:nvSpPr>
        <p:spPr>
          <a:xfrm>
            <a:off x="8138159" y="2468880"/>
            <a:ext cx="3108960" cy="457200"/>
          </a:xfrm>
          <a:prstGeom prst="rect">
            <a:avLst/>
          </a:prstGeom>
          <a:noFill/>
        </p:spPr>
        <p:txBody>
          <a:bodyPr wrap="none">
            <a:spAutoFit/>
          </a:bodyPr>
          <a:lstStyle/>
          <a:p>
            <a:pPr algn="ctr">
              <a:defRPr sz="2200" b="1">
                <a:solidFill>
                  <a:srgbClr val="FFFFFF"/>
                </a:solidFill>
              </a:defRPr>
            </a:pPr>
            <a:r>
              <a:t>Code</a:t>
            </a:r>
          </a:p>
        </p:txBody>
      </p:sp>
      <p:sp>
        <p:nvSpPr>
          <p:cNvPr id="15" name="TextBox 14"/>
          <p:cNvSpPr txBox="1"/>
          <p:nvPr/>
        </p:nvSpPr>
        <p:spPr>
          <a:xfrm>
            <a:off x="8138159" y="3017520"/>
            <a:ext cx="3108960" cy="1371600"/>
          </a:xfrm>
          <a:prstGeom prst="rect">
            <a:avLst/>
          </a:prstGeom>
          <a:noFill/>
        </p:spPr>
        <p:txBody>
          <a:bodyPr wrap="square">
            <a:spAutoFit/>
          </a:bodyPr>
          <a:lstStyle/>
          <a:p>
            <a:pPr algn="ctr">
              <a:defRPr sz="1400">
                <a:solidFill>
                  <a:srgbClr val="D1D5DB"/>
                </a:solidFill>
              </a:defRPr>
            </a:pPr>
            <a:r>
              <a:t>Writes and runs code</a:t>
            </a:r>
            <a:br/>
            <a:r>
              <a:t>autonomously.</a:t>
            </a:r>
            <a:br/>
            <a:r>
              <a:t>Builds apps, analyzes data,</a:t>
            </a:r>
            <a:br/>
            <a:r>
              <a:t>creates visualizations.</a:t>
            </a:r>
          </a:p>
        </p:txBody>
      </p:sp>
      <p:sp>
        <p:nvSpPr>
          <p:cNvPr id="16" name="Rounded Rectangle 15"/>
          <p:cNvSpPr/>
          <p:nvPr/>
        </p:nvSpPr>
        <p:spPr>
          <a:xfrm>
            <a:off x="457200" y="4846320"/>
            <a:ext cx="11247120" cy="1097280"/>
          </a:xfrm>
          <a:prstGeom prst="roundRect">
            <a:avLst/>
          </a:prstGeom>
          <a:solidFill>
            <a:srgbClr val="24354A"/>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4937760"/>
            <a:ext cx="10698480" cy="914400"/>
          </a:xfrm>
          <a:prstGeom prst="rect">
            <a:avLst/>
          </a:prstGeom>
          <a:noFill/>
        </p:spPr>
        <p:txBody>
          <a:bodyPr wrap="square">
            <a:spAutoFit/>
          </a:bodyPr>
          <a:lstStyle/>
          <a:p>
            <a:pPr algn="ctr">
              <a:defRPr sz="1600">
                <a:solidFill>
                  <a:srgbClr val="D1D5DB"/>
                </a:solidFill>
              </a:defRPr>
            </a:pPr>
            <a:r>
              <a:t>Built-in task presets: 'Optimize my week'  •  'Organize screenshots'  •  'Research topic'  •  Plugin integration for custom workflows</a:t>
            </a:r>
          </a:p>
          <a:p>
            <a:pPr algn="ctr">
              <a:defRPr sz="1300" i="1">
                <a:solidFill>
                  <a:srgbClr val="14B8A6"/>
                </a:solidFill>
              </a:defRPr>
            </a:pPr>
            <a:r>
              <a:t>NEW Preview  •  Available on Windows + Mac  •  Requires Claude Pro, Team, or Enterprise</a:t>
            </a:r>
          </a:p>
        </p:txBody>
      </p:sp>
    </p:spTree>
    <p:extLst>
      <p:ext uri="{BB962C8B-B14F-4D97-AF65-F5344CB8AC3E}">
        <p14:creationId xmlns:p14="http://schemas.microsoft.com/office/powerpoint/2010/main" val="27591897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Are Projects?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Scoped knowledge bases for specific workstreams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Creating a Project</a:t>
            </a:r>
          </a:p>
        </p:txBody>
      </p:sp>
      <p:sp>
        <p:nvSpPr>
          <p:cNvPr id="3" name="Rectangle 2"/>
          <p:cNvSpPr/>
          <p:nvPr/>
        </p:nvSpPr>
        <p:spPr>
          <a:xfrm>
            <a:off x="1280160" y="3273552"/>
            <a:ext cx="8635745" cy="36576"/>
          </a:xfrm>
          <a:prstGeom prst="rect">
            <a:avLst/>
          </a:prstGeom>
          <a:solidFill>
            <a:srgbClr val="2D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14400"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926080"/>
            <a:ext cx="731520" cy="731520"/>
          </a:xfrm>
          <a:prstGeom prst="rect">
            <a:avLst/>
          </a:prstGeom>
          <a:noFill/>
        </p:spPr>
        <p:txBody>
          <a:bodyPr wrap="none" anchor="ctr">
            <a:spAutoFit/>
          </a:bodyPr>
          <a:lstStyle/>
          <a:p>
            <a:pPr algn="ctr">
              <a:defRPr sz="2800" b="1">
                <a:solidFill>
                  <a:srgbClr val="0B0F1A"/>
                </a:solidFill>
              </a:defRPr>
            </a:pPr>
            <a:r>
              <a:t>1</a:t>
            </a:r>
          </a:p>
        </p:txBody>
      </p:sp>
      <p:sp>
        <p:nvSpPr>
          <p:cNvPr id="6" name="TextBox 5"/>
          <p:cNvSpPr txBox="1"/>
          <p:nvPr/>
        </p:nvSpPr>
        <p:spPr>
          <a:xfrm>
            <a:off x="457200" y="3840480"/>
            <a:ext cx="1645920" cy="1371600"/>
          </a:xfrm>
          <a:prstGeom prst="rect">
            <a:avLst/>
          </a:prstGeom>
          <a:noFill/>
        </p:spPr>
        <p:txBody>
          <a:bodyPr wrap="square">
            <a:normAutofit/>
          </a:bodyPr>
          <a:lstStyle/>
          <a:p>
            <a:pPr algn="ctr">
              <a:defRPr sz="1800" b="1">
                <a:solidFill>
                  <a:srgbClr val="FFFFFF"/>
                </a:solidFill>
              </a:defRPr>
            </a:pPr>
            <a:r>
              <a:t>Click 'Projects' in sidebar</a:t>
            </a:r>
          </a:p>
        </p:txBody>
      </p:sp>
      <p:sp>
        <p:nvSpPr>
          <p:cNvPr id="7" name="Oval 6"/>
          <p:cNvSpPr/>
          <p:nvPr/>
        </p:nvSpPr>
        <p:spPr>
          <a:xfrm>
            <a:off x="2641549"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41549" y="2926080"/>
            <a:ext cx="731520" cy="731520"/>
          </a:xfrm>
          <a:prstGeom prst="rect">
            <a:avLst/>
          </a:prstGeom>
          <a:noFill/>
        </p:spPr>
        <p:txBody>
          <a:bodyPr wrap="none" anchor="ctr">
            <a:spAutoFit/>
          </a:bodyPr>
          <a:lstStyle/>
          <a:p>
            <a:pPr algn="ctr">
              <a:defRPr sz="2800" b="1">
                <a:solidFill>
                  <a:srgbClr val="0B0F1A"/>
                </a:solidFill>
              </a:defRPr>
            </a:pPr>
            <a:r>
              <a:t>2</a:t>
            </a:r>
          </a:p>
        </p:txBody>
      </p:sp>
      <p:sp>
        <p:nvSpPr>
          <p:cNvPr id="9" name="TextBox 8"/>
          <p:cNvSpPr txBox="1"/>
          <p:nvPr/>
        </p:nvSpPr>
        <p:spPr>
          <a:xfrm>
            <a:off x="2184349" y="3840480"/>
            <a:ext cx="1645920" cy="1371600"/>
          </a:xfrm>
          <a:prstGeom prst="rect">
            <a:avLst/>
          </a:prstGeom>
          <a:noFill/>
        </p:spPr>
        <p:txBody>
          <a:bodyPr wrap="square">
            <a:normAutofit/>
          </a:bodyPr>
          <a:lstStyle/>
          <a:p>
            <a:pPr algn="ctr">
              <a:defRPr sz="1800" b="1">
                <a:solidFill>
                  <a:srgbClr val="FFFFFF"/>
                </a:solidFill>
              </a:defRPr>
            </a:pPr>
            <a:r>
              <a:t>Click '+ New Project'</a:t>
            </a:r>
          </a:p>
        </p:txBody>
      </p:sp>
      <p:sp>
        <p:nvSpPr>
          <p:cNvPr id="10" name="Oval 9"/>
          <p:cNvSpPr/>
          <p:nvPr/>
        </p:nvSpPr>
        <p:spPr>
          <a:xfrm>
            <a:off x="4368698"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68698" y="2926080"/>
            <a:ext cx="731520" cy="731520"/>
          </a:xfrm>
          <a:prstGeom prst="rect">
            <a:avLst/>
          </a:prstGeom>
          <a:noFill/>
        </p:spPr>
        <p:txBody>
          <a:bodyPr wrap="none" anchor="ctr">
            <a:spAutoFit/>
          </a:bodyPr>
          <a:lstStyle/>
          <a:p>
            <a:pPr algn="ctr">
              <a:defRPr sz="2800" b="1">
                <a:solidFill>
                  <a:srgbClr val="0B0F1A"/>
                </a:solidFill>
              </a:defRPr>
            </a:pPr>
            <a:r>
              <a:t>3</a:t>
            </a:r>
          </a:p>
        </p:txBody>
      </p:sp>
      <p:sp>
        <p:nvSpPr>
          <p:cNvPr id="12" name="TextBox 11"/>
          <p:cNvSpPr txBox="1"/>
          <p:nvPr/>
        </p:nvSpPr>
        <p:spPr>
          <a:xfrm>
            <a:off x="3911498" y="3840480"/>
            <a:ext cx="1645920" cy="1371600"/>
          </a:xfrm>
          <a:prstGeom prst="rect">
            <a:avLst/>
          </a:prstGeom>
          <a:noFill/>
        </p:spPr>
        <p:txBody>
          <a:bodyPr wrap="square">
            <a:normAutofit/>
          </a:bodyPr>
          <a:lstStyle/>
          <a:p>
            <a:pPr algn="ctr">
              <a:defRPr sz="1800" b="1">
                <a:solidFill>
                  <a:srgbClr val="FFFFFF"/>
                </a:solidFill>
              </a:defRPr>
            </a:pPr>
            <a:r>
              <a:t>Name your project</a:t>
            </a:r>
          </a:p>
        </p:txBody>
      </p:sp>
      <p:sp>
        <p:nvSpPr>
          <p:cNvPr id="13" name="Oval 12"/>
          <p:cNvSpPr/>
          <p:nvPr/>
        </p:nvSpPr>
        <p:spPr>
          <a:xfrm>
            <a:off x="6095847"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95847" y="2926080"/>
            <a:ext cx="731520" cy="731520"/>
          </a:xfrm>
          <a:prstGeom prst="rect">
            <a:avLst/>
          </a:prstGeom>
          <a:noFill/>
        </p:spPr>
        <p:txBody>
          <a:bodyPr wrap="none" anchor="ctr">
            <a:spAutoFit/>
          </a:bodyPr>
          <a:lstStyle/>
          <a:p>
            <a:pPr algn="ctr">
              <a:defRPr sz="2800" b="1">
                <a:solidFill>
                  <a:srgbClr val="0B0F1A"/>
                </a:solidFill>
              </a:defRPr>
            </a:pPr>
            <a:r>
              <a:t>4</a:t>
            </a:r>
          </a:p>
        </p:txBody>
      </p:sp>
      <p:sp>
        <p:nvSpPr>
          <p:cNvPr id="15" name="TextBox 14"/>
          <p:cNvSpPr txBox="1"/>
          <p:nvPr/>
        </p:nvSpPr>
        <p:spPr>
          <a:xfrm>
            <a:off x="5638647" y="3840480"/>
            <a:ext cx="1645920" cy="1371600"/>
          </a:xfrm>
          <a:prstGeom prst="rect">
            <a:avLst/>
          </a:prstGeom>
          <a:noFill/>
        </p:spPr>
        <p:txBody>
          <a:bodyPr wrap="square">
            <a:normAutofit/>
          </a:bodyPr>
          <a:lstStyle/>
          <a:p>
            <a:pPr algn="ctr">
              <a:defRPr sz="1800" b="1">
                <a:solidFill>
                  <a:srgbClr val="FFFFFF"/>
                </a:solidFill>
              </a:defRPr>
            </a:pPr>
            <a:r>
              <a:t>Add custom instructions</a:t>
            </a:r>
          </a:p>
        </p:txBody>
      </p:sp>
      <p:sp>
        <p:nvSpPr>
          <p:cNvPr id="16" name="Oval 15"/>
          <p:cNvSpPr/>
          <p:nvPr/>
        </p:nvSpPr>
        <p:spPr>
          <a:xfrm>
            <a:off x="7822996"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22996" y="2926080"/>
            <a:ext cx="731520" cy="731520"/>
          </a:xfrm>
          <a:prstGeom prst="rect">
            <a:avLst/>
          </a:prstGeom>
          <a:noFill/>
        </p:spPr>
        <p:txBody>
          <a:bodyPr wrap="none" anchor="ctr">
            <a:spAutoFit/>
          </a:bodyPr>
          <a:lstStyle/>
          <a:p>
            <a:pPr algn="ctr">
              <a:defRPr sz="2800" b="1">
                <a:solidFill>
                  <a:srgbClr val="0B0F1A"/>
                </a:solidFill>
              </a:defRPr>
            </a:pPr>
            <a:r>
              <a:t>5</a:t>
            </a:r>
          </a:p>
        </p:txBody>
      </p:sp>
      <p:sp>
        <p:nvSpPr>
          <p:cNvPr id="18" name="TextBox 17"/>
          <p:cNvSpPr txBox="1"/>
          <p:nvPr/>
        </p:nvSpPr>
        <p:spPr>
          <a:xfrm>
            <a:off x="7365796" y="3840480"/>
            <a:ext cx="1645920" cy="1371600"/>
          </a:xfrm>
          <a:prstGeom prst="rect">
            <a:avLst/>
          </a:prstGeom>
          <a:noFill/>
        </p:spPr>
        <p:txBody>
          <a:bodyPr wrap="square">
            <a:normAutofit/>
          </a:bodyPr>
          <a:lstStyle/>
          <a:p>
            <a:pPr algn="ctr">
              <a:defRPr sz="1800" b="1">
                <a:solidFill>
                  <a:srgbClr val="FFFFFF"/>
                </a:solidFill>
              </a:defRPr>
            </a:pPr>
            <a:r>
              <a:t>Upload reference documents</a:t>
            </a:r>
          </a:p>
        </p:txBody>
      </p:sp>
      <p:sp>
        <p:nvSpPr>
          <p:cNvPr id="19" name="Oval 18"/>
          <p:cNvSpPr/>
          <p:nvPr/>
        </p:nvSpPr>
        <p:spPr>
          <a:xfrm>
            <a:off x="9550145"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50145" y="2926080"/>
            <a:ext cx="731520" cy="731520"/>
          </a:xfrm>
          <a:prstGeom prst="rect">
            <a:avLst/>
          </a:prstGeom>
          <a:noFill/>
        </p:spPr>
        <p:txBody>
          <a:bodyPr wrap="none" anchor="ctr">
            <a:spAutoFit/>
          </a:bodyPr>
          <a:lstStyle/>
          <a:p>
            <a:pPr algn="ctr">
              <a:defRPr sz="2800" b="1">
                <a:solidFill>
                  <a:srgbClr val="0B0F1A"/>
                </a:solidFill>
              </a:defRPr>
            </a:pPr>
            <a:r>
              <a:t>6</a:t>
            </a:r>
          </a:p>
        </p:txBody>
      </p:sp>
      <p:sp>
        <p:nvSpPr>
          <p:cNvPr id="21" name="TextBox 20"/>
          <p:cNvSpPr txBox="1"/>
          <p:nvPr/>
        </p:nvSpPr>
        <p:spPr>
          <a:xfrm>
            <a:off x="9092945" y="3840480"/>
            <a:ext cx="1645920" cy="1371600"/>
          </a:xfrm>
          <a:prstGeom prst="rect">
            <a:avLst/>
          </a:prstGeom>
          <a:noFill/>
        </p:spPr>
        <p:txBody>
          <a:bodyPr wrap="square">
            <a:normAutofit/>
          </a:bodyPr>
          <a:lstStyle/>
          <a:p>
            <a:pPr algn="ctr">
              <a:defRPr sz="1800" b="1">
                <a:solidFill>
                  <a:srgbClr val="FFFFFF"/>
                </a:solidFill>
              </a:defRPr>
            </a:pPr>
            <a:r>
              <a:t>Start chatting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Custom Instructions - What to Include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Tone &amp; style: 'Write in professional, concise tone'</a:t>
            </a:r>
          </a:p>
          <a:p>
            <a:pPr>
              <a:spcBef>
                <a:spcPts val="800"/>
              </a:spcBef>
              <a:spcAft>
                <a:spcPts val="800"/>
              </a:spcAft>
              <a:defRPr sz="2200">
                <a:solidFill>
                  <a:srgbClr val="FFFFFF"/>
                </a:solidFill>
              </a:defRPr>
            </a:pPr>
            <a:r>
              <a:t>  Format preferences: 'Use bullet points for action items'</a:t>
            </a:r>
          </a:p>
          <a:p>
            <a:pPr>
              <a:spcBef>
                <a:spcPts val="800"/>
              </a:spcBef>
              <a:spcAft>
                <a:spcPts val="800"/>
              </a:spcAft>
              <a:defRPr sz="2200">
                <a:solidFill>
                  <a:srgbClr val="FFFFFF"/>
                </a:solidFill>
              </a:defRPr>
            </a:pPr>
            <a:r>
              <a:t>  Domain knowledge: 'Our fiscal year: April-March'</a:t>
            </a:r>
          </a:p>
          <a:p>
            <a:pPr>
              <a:spcBef>
                <a:spcPts val="800"/>
              </a:spcBef>
              <a:spcAft>
                <a:spcPts val="800"/>
              </a:spcAft>
              <a:defRPr sz="2200">
                <a:solidFill>
                  <a:srgbClr val="FFFFFF"/>
                </a:solidFill>
              </a:defRPr>
            </a:pPr>
            <a:r>
              <a:t>  Constraints: 'Keep responses under 500 words unless asked'</a:t>
            </a:r>
          </a:p>
          <a:p>
            <a:pPr>
              <a:spcBef>
                <a:spcPts val="800"/>
              </a:spcBef>
              <a:spcAft>
                <a:spcPts val="800"/>
              </a:spcAft>
              <a:defRPr sz="2200">
                <a:solidFill>
                  <a:srgbClr val="FFFFFF"/>
                </a:solidFill>
              </a:defRPr>
            </a:pPr>
            <a:r>
              <a:t>  Audience: 'You're helping C-suite executives (non-technical)'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Projects vs. Regular Chat</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Use Projects When</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Recurring task</a:t>
            </a:r>
          </a:p>
          <a:p>
            <a:pPr>
              <a:spcAft>
                <a:spcPts val="1200"/>
              </a:spcAft>
              <a:defRPr sz="1800">
                <a:solidFill>
                  <a:srgbClr val="FFFFFF"/>
                </a:solidFill>
              </a:defRPr>
            </a:pPr>
            <a:r>
              <a:t>  Reference documents needed</a:t>
            </a:r>
          </a:p>
          <a:p>
            <a:pPr>
              <a:spcAft>
                <a:spcPts val="1200"/>
              </a:spcAft>
              <a:defRPr sz="1800">
                <a:solidFill>
                  <a:srgbClr val="FFFFFF"/>
                </a:solidFill>
              </a:defRPr>
            </a:pPr>
            <a:r>
              <a:t>  Team collaboration</a:t>
            </a:r>
          </a:p>
          <a:p>
            <a:pPr>
              <a:spcAft>
                <a:spcPts val="1200"/>
              </a:spcAft>
              <a:defRPr sz="1800">
                <a:solidFill>
                  <a:srgbClr val="FFFFFF"/>
                </a:solidFill>
              </a:defRPr>
            </a:pPr>
            <a:r>
              <a:t>  Consistent behavior wanted</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8B95A5"/>
                </a:solidFill>
              </a:defRPr>
            </a:pPr>
            <a:r>
              <a:t>Use Regular Chat When</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One-off question</a:t>
            </a:r>
          </a:p>
          <a:p>
            <a:pPr>
              <a:spcAft>
                <a:spcPts val="1200"/>
              </a:spcAft>
              <a:defRPr sz="1800">
                <a:solidFill>
                  <a:srgbClr val="FFFFFF"/>
                </a:solidFill>
              </a:defRPr>
            </a:pPr>
            <a:r>
              <a:t>  Quick brainstorming</a:t>
            </a:r>
          </a:p>
          <a:p>
            <a:pPr>
              <a:spcAft>
                <a:spcPts val="1200"/>
              </a:spcAft>
              <a:defRPr sz="1800">
                <a:solidFill>
                  <a:srgbClr val="FFFFFF"/>
                </a:solidFill>
              </a:defRPr>
            </a:pPr>
            <a:r>
              <a:t>  No persistent context needed</a:t>
            </a:r>
          </a:p>
          <a:p>
            <a:pPr>
              <a:spcAft>
                <a:spcPts val="1200"/>
              </a:spcAft>
              <a:defRPr sz="1800">
                <a:solidFill>
                  <a:srgbClr val="FFFFFF"/>
                </a:solidFill>
              </a:defRPr>
            </a:pPr>
            <a:r>
              <a:t>  Experimenting/exploring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Power User Tips</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Cmd/Ctrl+K for new chat (keyboard shortcut)</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Search history to find past conversations</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Star important chats to pin them</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Use Projects for templates and reusable formats</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Iterate, don't start over - refine in same chat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ounded Rectangle 1"/>
          <p:cNvSpPr/>
          <p:nvPr/>
        </p:nvSpPr>
        <p:spPr>
          <a:xfrm>
            <a:off x="457200" y="365760"/>
            <a:ext cx="1097280" cy="4572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LAB 2</a:t>
            </a:r>
          </a:p>
        </p:txBody>
      </p:sp>
      <p:sp>
        <p:nvSpPr>
          <p:cNvPr id="3" name="TextBox 2"/>
          <p:cNvSpPr txBox="1"/>
          <p:nvPr/>
        </p:nvSpPr>
        <p:spPr>
          <a:xfrm>
            <a:off x="457200" y="1005840"/>
            <a:ext cx="11247120" cy="731520"/>
          </a:xfrm>
          <a:prstGeom prst="rect">
            <a:avLst/>
          </a:prstGeom>
          <a:noFill/>
        </p:spPr>
        <p:txBody>
          <a:bodyPr wrap="none">
            <a:spAutoFit/>
          </a:bodyPr>
          <a:lstStyle/>
          <a:p>
            <a:pPr>
              <a:defRPr sz="3600" b="1">
                <a:solidFill>
                  <a:srgbClr val="FFFFFF"/>
                </a:solidFill>
              </a:defRPr>
            </a:pPr>
            <a:r>
              <a:t>Configure Your AI Workspace</a:t>
            </a:r>
          </a:p>
        </p:txBody>
      </p:sp>
      <p:sp>
        <p:nvSpPr>
          <p:cNvPr id="4" name="TextBox 3"/>
          <p:cNvSpPr txBox="1"/>
          <p:nvPr/>
        </p:nvSpPr>
        <p:spPr>
          <a:xfrm>
            <a:off x="457200" y="1737360"/>
            <a:ext cx="11247120" cy="457200"/>
          </a:xfrm>
          <a:prstGeom prst="rect">
            <a:avLst/>
          </a:prstGeom>
          <a:noFill/>
        </p:spPr>
        <p:txBody>
          <a:bodyPr wrap="none">
            <a:spAutoFit/>
          </a:bodyPr>
          <a:lstStyle/>
          <a:p>
            <a:pPr>
              <a:defRPr sz="1800" i="1">
                <a:solidFill>
                  <a:srgbClr val="9CA3AF"/>
                </a:solidFill>
              </a:defRPr>
            </a:pPr>
            <a:r>
              <a:t>45 minutes  •  Settings, Preferences, and your first Project</a:t>
            </a:r>
          </a:p>
        </p:txBody>
      </p:sp>
      <p:sp>
        <p:nvSpPr>
          <p:cNvPr id="5" name="Rounded Rectangle 4"/>
          <p:cNvSpPr/>
          <p:nvPr/>
        </p:nvSpPr>
        <p:spPr>
          <a:xfrm>
            <a:off x="457200" y="2468880"/>
            <a:ext cx="262890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651760"/>
            <a:ext cx="2263140" cy="548640"/>
          </a:xfrm>
          <a:prstGeom prst="rect">
            <a:avLst/>
          </a:prstGeom>
          <a:noFill/>
        </p:spPr>
        <p:txBody>
          <a:bodyPr wrap="none">
            <a:spAutoFit/>
          </a:bodyPr>
          <a:lstStyle/>
          <a:p>
            <a:pPr algn="ctr">
              <a:defRPr sz="3000"/>
            </a:pPr>
            <a:r>
              <a:t>⚙️</a:t>
            </a:r>
          </a:p>
        </p:txBody>
      </p:sp>
      <p:sp>
        <p:nvSpPr>
          <p:cNvPr id="7" name="TextBox 6"/>
          <p:cNvSpPr txBox="1"/>
          <p:nvPr/>
        </p:nvSpPr>
        <p:spPr>
          <a:xfrm>
            <a:off x="640080" y="3200400"/>
            <a:ext cx="2263140" cy="457200"/>
          </a:xfrm>
          <a:prstGeom prst="rect">
            <a:avLst/>
          </a:prstGeom>
          <a:noFill/>
        </p:spPr>
        <p:txBody>
          <a:bodyPr wrap="none">
            <a:spAutoFit/>
          </a:bodyPr>
          <a:lstStyle/>
          <a:p>
            <a:pPr algn="ctr">
              <a:defRPr sz="1800" b="1">
                <a:solidFill>
                  <a:srgbClr val="FFFFFF"/>
                </a:solidFill>
              </a:defRPr>
            </a:pPr>
            <a:r>
              <a:t>Configure Settings</a:t>
            </a:r>
          </a:p>
        </p:txBody>
      </p:sp>
      <p:sp>
        <p:nvSpPr>
          <p:cNvPr id="8" name="TextBox 7"/>
          <p:cNvSpPr txBox="1"/>
          <p:nvPr/>
        </p:nvSpPr>
        <p:spPr>
          <a:xfrm>
            <a:off x="640080" y="3749039"/>
            <a:ext cx="2263140" cy="1645920"/>
          </a:xfrm>
          <a:prstGeom prst="rect">
            <a:avLst/>
          </a:prstGeom>
          <a:noFill/>
        </p:spPr>
        <p:txBody>
          <a:bodyPr wrap="square">
            <a:spAutoFit/>
          </a:bodyPr>
          <a:lstStyle/>
          <a:p>
            <a:pPr algn="ctr">
              <a:defRPr sz="1300">
                <a:solidFill>
                  <a:srgbClr val="D1D5DB"/>
                </a:solidFill>
              </a:defRPr>
            </a:pPr>
            <a:r>
              <a:t>Review privacy controls,</a:t>
            </a:r>
            <a:br/>
            <a:r>
              <a:t>set default model,</a:t>
            </a:r>
            <a:br/>
            <a:r>
              <a:t>enable Extended Thinking,</a:t>
            </a:r>
            <a:br/>
            <a:r>
              <a:t>verify training opt-out.</a:t>
            </a:r>
          </a:p>
        </p:txBody>
      </p:sp>
      <p:sp>
        <p:nvSpPr>
          <p:cNvPr id="9" name="TextBox 8"/>
          <p:cNvSpPr txBox="1"/>
          <p:nvPr/>
        </p:nvSpPr>
        <p:spPr>
          <a:xfrm>
            <a:off x="640080" y="5303520"/>
            <a:ext cx="2263140" cy="365760"/>
          </a:xfrm>
          <a:prstGeom prst="rect">
            <a:avLst/>
          </a:prstGeom>
          <a:noFill/>
        </p:spPr>
        <p:txBody>
          <a:bodyPr wrap="none">
            <a:spAutoFit/>
          </a:bodyPr>
          <a:lstStyle/>
          <a:p>
            <a:pPr algn="ctr">
              <a:defRPr sz="1200" i="1">
                <a:solidFill>
                  <a:srgbClr val="14B8A6"/>
                </a:solidFill>
              </a:defRPr>
            </a:pPr>
            <a:r>
              <a:t>10 min</a:t>
            </a:r>
          </a:p>
        </p:txBody>
      </p:sp>
      <p:sp>
        <p:nvSpPr>
          <p:cNvPr id="10" name="Rounded Rectangle 9"/>
          <p:cNvSpPr/>
          <p:nvPr/>
        </p:nvSpPr>
        <p:spPr>
          <a:xfrm>
            <a:off x="3268980" y="2468880"/>
            <a:ext cx="262890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51860" y="2651760"/>
            <a:ext cx="2263140" cy="548640"/>
          </a:xfrm>
          <a:prstGeom prst="rect">
            <a:avLst/>
          </a:prstGeom>
          <a:noFill/>
        </p:spPr>
        <p:txBody>
          <a:bodyPr wrap="none">
            <a:spAutoFit/>
          </a:bodyPr>
          <a:lstStyle/>
          <a:p>
            <a:pPr algn="ctr">
              <a:defRPr sz="3000"/>
            </a:pPr>
            <a:r>
              <a:t>✍️</a:t>
            </a:r>
          </a:p>
        </p:txBody>
      </p:sp>
      <p:sp>
        <p:nvSpPr>
          <p:cNvPr id="12" name="TextBox 11"/>
          <p:cNvSpPr txBox="1"/>
          <p:nvPr/>
        </p:nvSpPr>
        <p:spPr>
          <a:xfrm>
            <a:off x="3451860" y="3200400"/>
            <a:ext cx="2263140" cy="457200"/>
          </a:xfrm>
          <a:prstGeom prst="rect">
            <a:avLst/>
          </a:prstGeom>
          <a:noFill/>
        </p:spPr>
        <p:txBody>
          <a:bodyPr wrap="none">
            <a:spAutoFit/>
          </a:bodyPr>
          <a:lstStyle/>
          <a:p>
            <a:pPr algn="ctr">
              <a:defRPr sz="1800" b="1">
                <a:solidFill>
                  <a:srgbClr val="FFFFFF"/>
                </a:solidFill>
              </a:defRPr>
            </a:pPr>
            <a:r>
              <a:t>Personal Preferences</a:t>
            </a:r>
          </a:p>
        </p:txBody>
      </p:sp>
      <p:sp>
        <p:nvSpPr>
          <p:cNvPr id="13" name="TextBox 12"/>
          <p:cNvSpPr txBox="1"/>
          <p:nvPr/>
        </p:nvSpPr>
        <p:spPr>
          <a:xfrm>
            <a:off x="3451860" y="3749039"/>
            <a:ext cx="2263140" cy="1645920"/>
          </a:xfrm>
          <a:prstGeom prst="rect">
            <a:avLst/>
          </a:prstGeom>
          <a:noFill/>
        </p:spPr>
        <p:txBody>
          <a:bodyPr wrap="square">
            <a:spAutoFit/>
          </a:bodyPr>
          <a:lstStyle/>
          <a:p>
            <a:pPr algn="ctr">
              <a:defRPr sz="1300">
                <a:solidFill>
                  <a:srgbClr val="D1D5DB"/>
                </a:solidFill>
              </a:defRPr>
            </a:pPr>
            <a:r>
              <a:t>Write your preferences:</a:t>
            </a:r>
            <a:br/>
            <a:r>
              <a:t>role, tone, format style.</a:t>
            </a:r>
            <a:br/>
            <a:r>
              <a:t>Test before/after with</a:t>
            </a:r>
            <a:br/>
            <a:r>
              <a:t>the same prompt.</a:t>
            </a:r>
          </a:p>
        </p:txBody>
      </p:sp>
      <p:sp>
        <p:nvSpPr>
          <p:cNvPr id="14" name="TextBox 13"/>
          <p:cNvSpPr txBox="1"/>
          <p:nvPr/>
        </p:nvSpPr>
        <p:spPr>
          <a:xfrm>
            <a:off x="3451860" y="5303520"/>
            <a:ext cx="2263140" cy="365760"/>
          </a:xfrm>
          <a:prstGeom prst="rect">
            <a:avLst/>
          </a:prstGeom>
          <a:noFill/>
        </p:spPr>
        <p:txBody>
          <a:bodyPr wrap="none">
            <a:spAutoFit/>
          </a:bodyPr>
          <a:lstStyle/>
          <a:p>
            <a:pPr algn="ctr">
              <a:defRPr sz="1200" i="1">
                <a:solidFill>
                  <a:srgbClr val="14B8A6"/>
                </a:solidFill>
              </a:defRPr>
            </a:pPr>
            <a:r>
              <a:t>10 min</a:t>
            </a:r>
          </a:p>
        </p:txBody>
      </p:sp>
      <p:sp>
        <p:nvSpPr>
          <p:cNvPr id="15" name="Rounded Rectangle 14"/>
          <p:cNvSpPr/>
          <p:nvPr/>
        </p:nvSpPr>
        <p:spPr>
          <a:xfrm>
            <a:off x="6080760" y="2468880"/>
            <a:ext cx="262890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2651760"/>
            <a:ext cx="2263140" cy="548640"/>
          </a:xfrm>
          <a:prstGeom prst="rect">
            <a:avLst/>
          </a:prstGeom>
          <a:noFill/>
        </p:spPr>
        <p:txBody>
          <a:bodyPr wrap="none">
            <a:spAutoFit/>
          </a:bodyPr>
          <a:lstStyle/>
          <a:p>
            <a:pPr algn="ctr">
              <a:defRPr sz="3000"/>
            </a:pPr>
            <a:r>
              <a:t>📁</a:t>
            </a:r>
          </a:p>
        </p:txBody>
      </p:sp>
      <p:sp>
        <p:nvSpPr>
          <p:cNvPr id="17" name="TextBox 16"/>
          <p:cNvSpPr txBox="1"/>
          <p:nvPr/>
        </p:nvSpPr>
        <p:spPr>
          <a:xfrm>
            <a:off x="6263640" y="3200400"/>
            <a:ext cx="2263140" cy="457200"/>
          </a:xfrm>
          <a:prstGeom prst="rect">
            <a:avLst/>
          </a:prstGeom>
          <a:noFill/>
        </p:spPr>
        <p:txBody>
          <a:bodyPr wrap="none">
            <a:spAutoFit/>
          </a:bodyPr>
          <a:lstStyle/>
          <a:p>
            <a:pPr algn="ctr">
              <a:defRPr sz="1800" b="1">
                <a:solidFill>
                  <a:srgbClr val="FFFFFF"/>
                </a:solidFill>
              </a:defRPr>
            </a:pPr>
            <a:r>
              <a:t>Build a Project</a:t>
            </a:r>
          </a:p>
        </p:txBody>
      </p:sp>
      <p:sp>
        <p:nvSpPr>
          <p:cNvPr id="18" name="TextBox 17"/>
          <p:cNvSpPr txBox="1"/>
          <p:nvPr/>
        </p:nvSpPr>
        <p:spPr>
          <a:xfrm>
            <a:off x="6263640" y="3749039"/>
            <a:ext cx="2263140" cy="1645920"/>
          </a:xfrm>
          <a:prstGeom prst="rect">
            <a:avLst/>
          </a:prstGeom>
          <a:noFill/>
        </p:spPr>
        <p:txBody>
          <a:bodyPr wrap="square">
            <a:spAutoFit/>
          </a:bodyPr>
          <a:lstStyle/>
          <a:p>
            <a:pPr algn="ctr">
              <a:defRPr sz="1300">
                <a:solidFill>
                  <a:srgbClr val="D1D5DB"/>
                </a:solidFill>
              </a:defRPr>
            </a:pPr>
            <a:r>
              <a:t>Create a Project for your</a:t>
            </a:r>
            <a:br/>
            <a:r>
              <a:t>job role. Add custom</a:t>
            </a:r>
            <a:br/>
            <a:r>
              <a:t>instructions + upload</a:t>
            </a:r>
            <a:br/>
            <a:r>
              <a:t>a work document.</a:t>
            </a:r>
          </a:p>
        </p:txBody>
      </p:sp>
      <p:sp>
        <p:nvSpPr>
          <p:cNvPr id="19" name="TextBox 18"/>
          <p:cNvSpPr txBox="1"/>
          <p:nvPr/>
        </p:nvSpPr>
        <p:spPr>
          <a:xfrm>
            <a:off x="6263640" y="5303520"/>
            <a:ext cx="2263140" cy="365760"/>
          </a:xfrm>
          <a:prstGeom prst="rect">
            <a:avLst/>
          </a:prstGeom>
          <a:noFill/>
        </p:spPr>
        <p:txBody>
          <a:bodyPr wrap="none">
            <a:spAutoFit/>
          </a:bodyPr>
          <a:lstStyle/>
          <a:p>
            <a:pPr algn="ctr">
              <a:defRPr sz="1200" i="1">
                <a:solidFill>
                  <a:srgbClr val="14B8A6"/>
                </a:solidFill>
              </a:defRPr>
            </a:pPr>
            <a:r>
              <a:t>15 min</a:t>
            </a:r>
          </a:p>
        </p:txBody>
      </p:sp>
      <p:sp>
        <p:nvSpPr>
          <p:cNvPr id="20" name="Rounded Rectangle 19"/>
          <p:cNvSpPr/>
          <p:nvPr/>
        </p:nvSpPr>
        <p:spPr>
          <a:xfrm>
            <a:off x="8892540" y="2468880"/>
            <a:ext cx="262890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75420" y="2651760"/>
            <a:ext cx="2263140" cy="548640"/>
          </a:xfrm>
          <a:prstGeom prst="rect">
            <a:avLst/>
          </a:prstGeom>
          <a:noFill/>
        </p:spPr>
        <p:txBody>
          <a:bodyPr wrap="none">
            <a:spAutoFit/>
          </a:bodyPr>
          <a:lstStyle/>
          <a:p>
            <a:pPr algn="ctr">
              <a:defRPr sz="3000"/>
            </a:pPr>
            <a:r>
              <a:t>🧪</a:t>
            </a:r>
          </a:p>
        </p:txBody>
      </p:sp>
      <p:sp>
        <p:nvSpPr>
          <p:cNvPr id="22" name="TextBox 21"/>
          <p:cNvSpPr txBox="1"/>
          <p:nvPr/>
        </p:nvSpPr>
        <p:spPr>
          <a:xfrm>
            <a:off x="9075420" y="3200400"/>
            <a:ext cx="2263140" cy="457200"/>
          </a:xfrm>
          <a:prstGeom prst="rect">
            <a:avLst/>
          </a:prstGeom>
          <a:noFill/>
        </p:spPr>
        <p:txBody>
          <a:bodyPr wrap="none">
            <a:spAutoFit/>
          </a:bodyPr>
          <a:lstStyle/>
          <a:p>
            <a:pPr algn="ctr">
              <a:defRPr sz="1800" b="1">
                <a:solidFill>
                  <a:srgbClr val="FFFFFF"/>
                </a:solidFill>
              </a:defRPr>
            </a:pPr>
            <a:r>
              <a:t>Test Your Setup</a:t>
            </a:r>
          </a:p>
        </p:txBody>
      </p:sp>
      <p:sp>
        <p:nvSpPr>
          <p:cNvPr id="23" name="TextBox 22"/>
          <p:cNvSpPr txBox="1"/>
          <p:nvPr/>
        </p:nvSpPr>
        <p:spPr>
          <a:xfrm>
            <a:off x="9075420" y="3749039"/>
            <a:ext cx="2263140" cy="1645920"/>
          </a:xfrm>
          <a:prstGeom prst="rect">
            <a:avLst/>
          </a:prstGeom>
          <a:noFill/>
        </p:spPr>
        <p:txBody>
          <a:bodyPr wrap="square">
            <a:spAutoFit/>
          </a:bodyPr>
          <a:lstStyle/>
          <a:p>
            <a:pPr algn="ctr">
              <a:defRPr sz="1300">
                <a:solidFill>
                  <a:srgbClr val="D1D5DB"/>
                </a:solidFill>
              </a:defRPr>
            </a:pPr>
            <a:r>
              <a:t>Run 3 prompts in your</a:t>
            </a:r>
            <a:br/>
            <a:r>
              <a:t>Project. Compare output</a:t>
            </a:r>
            <a:br/>
            <a:r>
              <a:t>to a regular chat.</a:t>
            </a:r>
            <a:br/>
            <a:r>
              <a:t>Refine instructions.</a:t>
            </a:r>
          </a:p>
        </p:txBody>
      </p:sp>
      <p:sp>
        <p:nvSpPr>
          <p:cNvPr id="24" name="TextBox 23"/>
          <p:cNvSpPr txBox="1"/>
          <p:nvPr/>
        </p:nvSpPr>
        <p:spPr>
          <a:xfrm>
            <a:off x="9075420" y="5303520"/>
            <a:ext cx="2263140" cy="365760"/>
          </a:xfrm>
          <a:prstGeom prst="rect">
            <a:avLst/>
          </a:prstGeom>
          <a:noFill/>
        </p:spPr>
        <p:txBody>
          <a:bodyPr wrap="none">
            <a:spAutoFit/>
          </a:bodyPr>
          <a:lstStyle/>
          <a:p>
            <a:pPr algn="ctr">
              <a:defRPr sz="1200" i="1">
                <a:solidFill>
                  <a:srgbClr val="14B8A6"/>
                </a:solidFill>
              </a:defRPr>
            </a:pPr>
            <a:r>
              <a:t>10 min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Lunch Break</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1 hour | 12:00 PM - 1:00 PM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365760" y="1371600"/>
            <a:ext cx="73152" cy="27432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0"/>
            <a:ext cx="2743200" cy="548640"/>
          </a:xfrm>
          <a:prstGeom prst="rect">
            <a:avLst/>
          </a:prstGeom>
          <a:noFill/>
        </p:spPr>
        <p:txBody>
          <a:bodyPr wrap="none">
            <a:spAutoFit/>
          </a:bodyPr>
          <a:lstStyle/>
          <a:p>
            <a:pPr>
              <a:defRPr sz="1600" b="1">
                <a:solidFill>
                  <a:srgbClr val="14B8A6"/>
                </a:solidFill>
              </a:defRPr>
            </a:pPr>
            <a:r>
              <a:t>SECTION 3</a:t>
            </a:r>
          </a:p>
        </p:txBody>
      </p:sp>
      <p:sp>
        <p:nvSpPr>
          <p:cNvPr id="4" name="TextBox 3"/>
          <p:cNvSpPr txBox="1"/>
          <p:nvPr/>
        </p:nvSpPr>
        <p:spPr>
          <a:xfrm>
            <a:off x="731520" y="2011680"/>
            <a:ext cx="10058400" cy="1097280"/>
          </a:xfrm>
          <a:prstGeom prst="rect">
            <a:avLst/>
          </a:prstGeom>
          <a:noFill/>
        </p:spPr>
        <p:txBody>
          <a:bodyPr wrap="none">
            <a:spAutoFit/>
          </a:bodyPr>
          <a:lstStyle/>
          <a:p>
            <a:pPr>
              <a:defRPr sz="5600" b="1">
                <a:solidFill>
                  <a:srgbClr val="FFFFFF"/>
                </a:solidFill>
              </a:defRPr>
            </a:pPr>
            <a:r>
              <a:t>Analysis Prompts</a:t>
            </a:r>
            <a:br/>
            <a:r>
              <a:t>&amp; Claude in Excel</a:t>
            </a:r>
          </a:p>
        </p:txBody>
      </p:sp>
      <p:sp>
        <p:nvSpPr>
          <p:cNvPr id="5" name="TextBox 4"/>
          <p:cNvSpPr txBox="1"/>
          <p:nvPr/>
        </p:nvSpPr>
        <p:spPr>
          <a:xfrm>
            <a:off x="731520" y="3840480"/>
            <a:ext cx="10058400" cy="548640"/>
          </a:xfrm>
          <a:prstGeom prst="rect">
            <a:avLst/>
          </a:prstGeom>
          <a:noFill/>
        </p:spPr>
        <p:txBody>
          <a:bodyPr wrap="none">
            <a:spAutoFit/>
          </a:bodyPr>
          <a:lstStyle/>
          <a:p>
            <a:pPr>
              <a:defRPr sz="2200">
                <a:solidFill>
                  <a:srgbClr val="9CA3AF"/>
                </a:solidFill>
              </a:defRPr>
            </a:pPr>
            <a:r>
              <a:t>Turn data into decisions — in the browser and in your spreadsheets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Claude Can Analyze Your Data Files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Upload → Ask → Get insights and charts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4000" b="1">
                <a:solidFill>
                  <a:srgbClr val="FFFFFF"/>
                </a:solidFill>
              </a:defRPr>
            </a:pPr>
            <a:r>
              <a:rPr kumimoji="0" sz="4000" b="1" i="0" u="none" strike="noStrike" kern="1200" cap="none" spc="0" normalizeH="0" baseline="0" noProof="0">
                <a:ln>
                  <a:noFill/>
                </a:ln>
                <a:solidFill>
                  <a:srgbClr val="FFFFFF"/>
                </a:solidFill>
                <a:effectLst/>
                <a:uLnTx/>
                <a:uFillTx/>
                <a:latin typeface="Calibri"/>
                <a:ea typeface="+mn-ea"/>
                <a:cs typeface="+mn-cs"/>
              </a:rPr>
              <a:t>Analyzing Uploaded Documents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1463040"/>
            <a:ext cx="11277295" cy="4572000"/>
          </a:xfrm>
          <a:prstGeom prst="rect">
            <a:avLst/>
          </a:prstGeom>
          <a:noFill/>
        </p:spPr>
        <p:txBody>
          <a:bodyPr wrap="square">
            <a:spAutoFit/>
          </a:bodyPr>
          <a:lstStyle/>
          <a:p>
            <a:pPr marL="0" marR="0" lvl="0" indent="0" algn="l" defTabSz="457200" rtl="0" eaLnBrk="1" fontAlgn="auto" latinLnBrk="0" hangingPunct="1">
              <a:lnSpc>
                <a:spcPct val="100000"/>
              </a:lnSpc>
              <a:spcBef>
                <a:spcPts val="800"/>
              </a:spcBef>
              <a:spcAft>
                <a:spcPts val="800"/>
              </a:spcAft>
              <a:buClrTx/>
              <a:buSzTx/>
              <a:buFontTx/>
              <a:buNone/>
              <a:tabLst/>
              <a:defRPr sz="2200">
                <a:solidFill>
                  <a:srgbClr val="FFFFFF"/>
                </a:solidFill>
              </a:defRPr>
            </a:pPr>
            <a:r>
              <a:rPr kumimoji="0" sz="2200" b="0" i="0" u="none" strike="noStrike" kern="1200" cap="none" spc="0" normalizeH="0" baseline="0" noProof="0">
                <a:ln>
                  <a:noFill/>
                </a:ln>
                <a:solidFill>
                  <a:srgbClr val="FFFFFF"/>
                </a:solidFill>
                <a:effectLst/>
                <a:uLnTx/>
                <a:uFillTx/>
                <a:latin typeface="Calibri"/>
                <a:ea typeface="+mn-ea"/>
                <a:cs typeface="+mn-cs"/>
              </a:rPr>
              <a:t>  Legal review: 'Review this contract for potential risks'</a:t>
            </a:r>
          </a:p>
          <a:p>
            <a:pPr marL="0" marR="0" lvl="0" indent="0" algn="l" defTabSz="457200" rtl="0" eaLnBrk="1" fontAlgn="auto" latinLnBrk="0" hangingPunct="1">
              <a:lnSpc>
                <a:spcPct val="100000"/>
              </a:lnSpc>
              <a:spcBef>
                <a:spcPts val="800"/>
              </a:spcBef>
              <a:spcAft>
                <a:spcPts val="800"/>
              </a:spcAft>
              <a:buClrTx/>
              <a:buSzTx/>
              <a:buFontTx/>
              <a:buNone/>
              <a:tabLst/>
              <a:defRPr sz="2200">
                <a:solidFill>
                  <a:srgbClr val="FFFFFF"/>
                </a:solidFill>
              </a:defRPr>
            </a:pPr>
            <a:r>
              <a:rPr kumimoji="0" sz="2200" b="0" i="0" u="none" strike="noStrike" kern="1200" cap="none" spc="0" normalizeH="0" baseline="0" noProof="0">
                <a:ln>
                  <a:noFill/>
                </a:ln>
                <a:solidFill>
                  <a:srgbClr val="FFFFFF"/>
                </a:solidFill>
                <a:effectLst/>
                <a:uLnTx/>
                <a:uFillTx/>
                <a:latin typeface="Calibri"/>
                <a:ea typeface="+mn-ea"/>
                <a:cs typeface="+mn-cs"/>
              </a:rPr>
              <a:t>  Research synthesis: 'I've uploaded 5 papers. What are common findings?'</a:t>
            </a:r>
          </a:p>
          <a:p>
            <a:pPr marL="0" marR="0" lvl="0" indent="0" algn="l" defTabSz="457200" rtl="0" eaLnBrk="1" fontAlgn="auto" latinLnBrk="0" hangingPunct="1">
              <a:lnSpc>
                <a:spcPct val="100000"/>
              </a:lnSpc>
              <a:spcBef>
                <a:spcPts val="800"/>
              </a:spcBef>
              <a:spcAft>
                <a:spcPts val="800"/>
              </a:spcAft>
              <a:buClrTx/>
              <a:buSzTx/>
              <a:buFontTx/>
              <a:buNone/>
              <a:tabLst/>
              <a:defRPr sz="2200">
                <a:solidFill>
                  <a:srgbClr val="FFFFFF"/>
                </a:solidFill>
              </a:defRPr>
            </a:pPr>
            <a:r>
              <a:rPr kumimoji="0" sz="2200" b="0" i="0" u="none" strike="noStrike" kern="1200" cap="none" spc="0" normalizeH="0" baseline="0" noProof="0">
                <a:ln>
                  <a:noFill/>
                </a:ln>
                <a:solidFill>
                  <a:srgbClr val="FFFFFF"/>
                </a:solidFill>
                <a:effectLst/>
                <a:uLnTx/>
                <a:uFillTx/>
                <a:latin typeface="Calibri"/>
                <a:ea typeface="+mn-ea"/>
                <a:cs typeface="+mn-cs"/>
              </a:rPr>
              <a:t>  Data extraction: 'Extract all dates, names, and dollar amounts into a table'</a:t>
            </a:r>
          </a:p>
          <a:p>
            <a:pPr marL="0" marR="0" lvl="0" indent="0" algn="l" defTabSz="457200" rtl="0" eaLnBrk="1" fontAlgn="auto" latinLnBrk="0" hangingPunct="1">
              <a:lnSpc>
                <a:spcPct val="100000"/>
              </a:lnSpc>
              <a:spcBef>
                <a:spcPts val="800"/>
              </a:spcBef>
              <a:spcAft>
                <a:spcPts val="800"/>
              </a:spcAft>
              <a:buClrTx/>
              <a:buSzTx/>
              <a:buFontTx/>
              <a:buNone/>
              <a:tabLst/>
              <a:defRPr sz="2200">
                <a:solidFill>
                  <a:srgbClr val="FFFFFF"/>
                </a:solidFill>
              </a:defRPr>
            </a:pPr>
            <a:r>
              <a:rPr kumimoji="0" sz="2200" b="0" i="0" u="none" strike="noStrike" kern="1200" cap="none" spc="0" normalizeH="0" baseline="0" noProof="0">
                <a:ln>
                  <a:noFill/>
                </a:ln>
                <a:solidFill>
                  <a:srgbClr val="FFFFFF"/>
                </a:solidFill>
                <a:effectLst/>
                <a:uLnTx/>
                <a:uFillTx/>
                <a:latin typeface="Calibri"/>
                <a:ea typeface="+mn-ea"/>
                <a:cs typeface="+mn-cs"/>
              </a:rPr>
              <a:t>  Comparison: 'Compare these two proposals and highlight differences'</a:t>
            </a:r>
          </a:p>
        </p:txBody>
      </p:sp>
    </p:spTree>
    <p:extLst>
      <p:ext uri="{BB962C8B-B14F-4D97-AF65-F5344CB8AC3E}">
        <p14:creationId xmlns:p14="http://schemas.microsoft.com/office/powerpoint/2010/main" val="35184510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Analyzing Data with Claude</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Upload, ask, get insights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Claude in Excel</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AI-Powered Spreadsheet Assistant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is Claude in Excel?</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Excel add-in that sees your actual spreadsheet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Installation Walkthrough</a:t>
            </a:r>
          </a:p>
        </p:txBody>
      </p:sp>
      <p:sp>
        <p:nvSpPr>
          <p:cNvPr id="3" name="Rectangle 2"/>
          <p:cNvSpPr/>
          <p:nvPr/>
        </p:nvSpPr>
        <p:spPr>
          <a:xfrm>
            <a:off x="1830665" y="3273552"/>
            <a:ext cx="8635745" cy="36576"/>
          </a:xfrm>
          <a:prstGeom prst="rect">
            <a:avLst/>
          </a:prstGeom>
          <a:solidFill>
            <a:srgbClr val="2D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464905"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64905" y="2926080"/>
            <a:ext cx="731520" cy="731520"/>
          </a:xfrm>
          <a:prstGeom prst="rect">
            <a:avLst/>
          </a:prstGeom>
          <a:noFill/>
        </p:spPr>
        <p:txBody>
          <a:bodyPr wrap="none" anchor="ctr">
            <a:spAutoFit/>
          </a:bodyPr>
          <a:lstStyle/>
          <a:p>
            <a:pPr algn="ctr">
              <a:defRPr sz="2800" b="1">
                <a:solidFill>
                  <a:srgbClr val="0B0F1A"/>
                </a:solidFill>
              </a:defRPr>
            </a:pPr>
            <a:r>
              <a:t>1</a:t>
            </a:r>
          </a:p>
        </p:txBody>
      </p:sp>
      <p:sp>
        <p:nvSpPr>
          <p:cNvPr id="6" name="TextBox 5"/>
          <p:cNvSpPr txBox="1"/>
          <p:nvPr/>
        </p:nvSpPr>
        <p:spPr>
          <a:xfrm>
            <a:off x="1007705" y="3840480"/>
            <a:ext cx="1645920" cy="1371600"/>
          </a:xfrm>
          <a:prstGeom prst="rect">
            <a:avLst/>
          </a:prstGeom>
          <a:noFill/>
        </p:spPr>
        <p:txBody>
          <a:bodyPr wrap="square">
            <a:normAutofit/>
          </a:bodyPr>
          <a:lstStyle/>
          <a:p>
            <a:pPr algn="ctr">
              <a:defRPr sz="1800" b="1">
                <a:solidFill>
                  <a:srgbClr val="FFFFFF"/>
                </a:solidFill>
              </a:defRPr>
            </a:pPr>
            <a:r>
              <a:t>Open Excel</a:t>
            </a:r>
          </a:p>
        </p:txBody>
      </p:sp>
      <p:sp>
        <p:nvSpPr>
          <p:cNvPr id="7" name="Oval 6"/>
          <p:cNvSpPr/>
          <p:nvPr/>
        </p:nvSpPr>
        <p:spPr>
          <a:xfrm>
            <a:off x="3192054"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92054" y="2926080"/>
            <a:ext cx="731520" cy="731520"/>
          </a:xfrm>
          <a:prstGeom prst="rect">
            <a:avLst/>
          </a:prstGeom>
          <a:noFill/>
        </p:spPr>
        <p:txBody>
          <a:bodyPr wrap="none" anchor="ctr">
            <a:spAutoFit/>
          </a:bodyPr>
          <a:lstStyle/>
          <a:p>
            <a:pPr algn="ctr">
              <a:defRPr sz="2800" b="1">
                <a:solidFill>
                  <a:srgbClr val="0B0F1A"/>
                </a:solidFill>
              </a:defRPr>
            </a:pPr>
            <a:r>
              <a:t>2</a:t>
            </a:r>
          </a:p>
        </p:txBody>
      </p:sp>
      <p:sp>
        <p:nvSpPr>
          <p:cNvPr id="9" name="TextBox 8"/>
          <p:cNvSpPr txBox="1"/>
          <p:nvPr/>
        </p:nvSpPr>
        <p:spPr>
          <a:xfrm>
            <a:off x="2734854" y="3840480"/>
            <a:ext cx="1645920" cy="1371600"/>
          </a:xfrm>
          <a:prstGeom prst="rect">
            <a:avLst/>
          </a:prstGeom>
          <a:noFill/>
        </p:spPr>
        <p:txBody>
          <a:bodyPr wrap="square">
            <a:normAutofit/>
          </a:bodyPr>
          <a:lstStyle/>
          <a:p>
            <a:pPr algn="ctr">
              <a:defRPr sz="1800" b="1">
                <a:solidFill>
                  <a:srgbClr val="FFFFFF"/>
                </a:solidFill>
              </a:defRPr>
            </a:pPr>
            <a:r>
              <a:t>Insert &gt; Get Add-ins</a:t>
            </a:r>
          </a:p>
        </p:txBody>
      </p:sp>
      <p:sp>
        <p:nvSpPr>
          <p:cNvPr id="10" name="Oval 9"/>
          <p:cNvSpPr/>
          <p:nvPr/>
        </p:nvSpPr>
        <p:spPr>
          <a:xfrm>
            <a:off x="4919203"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19203" y="2926080"/>
            <a:ext cx="731520" cy="731520"/>
          </a:xfrm>
          <a:prstGeom prst="rect">
            <a:avLst/>
          </a:prstGeom>
          <a:noFill/>
        </p:spPr>
        <p:txBody>
          <a:bodyPr wrap="none" anchor="ctr">
            <a:spAutoFit/>
          </a:bodyPr>
          <a:lstStyle/>
          <a:p>
            <a:pPr algn="ctr">
              <a:defRPr sz="2800" b="1">
                <a:solidFill>
                  <a:srgbClr val="0B0F1A"/>
                </a:solidFill>
              </a:defRPr>
            </a:pPr>
            <a:r>
              <a:t>3</a:t>
            </a:r>
          </a:p>
        </p:txBody>
      </p:sp>
      <p:sp>
        <p:nvSpPr>
          <p:cNvPr id="12" name="TextBox 11"/>
          <p:cNvSpPr txBox="1"/>
          <p:nvPr/>
        </p:nvSpPr>
        <p:spPr>
          <a:xfrm>
            <a:off x="4462003" y="3840480"/>
            <a:ext cx="1645920" cy="1371600"/>
          </a:xfrm>
          <a:prstGeom prst="rect">
            <a:avLst/>
          </a:prstGeom>
          <a:noFill/>
        </p:spPr>
        <p:txBody>
          <a:bodyPr wrap="square">
            <a:normAutofit/>
          </a:bodyPr>
          <a:lstStyle/>
          <a:p>
            <a:pPr algn="ctr">
              <a:defRPr sz="1800" b="1">
                <a:solidFill>
                  <a:srgbClr val="FFFFFF"/>
                </a:solidFill>
              </a:defRPr>
            </a:pPr>
            <a:r>
              <a:t>Search 'Claude in Excel'</a:t>
            </a:r>
          </a:p>
        </p:txBody>
      </p:sp>
      <p:sp>
        <p:nvSpPr>
          <p:cNvPr id="13" name="Oval 12"/>
          <p:cNvSpPr/>
          <p:nvPr/>
        </p:nvSpPr>
        <p:spPr>
          <a:xfrm>
            <a:off x="6646352"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6352" y="2926080"/>
            <a:ext cx="731520" cy="731520"/>
          </a:xfrm>
          <a:prstGeom prst="rect">
            <a:avLst/>
          </a:prstGeom>
          <a:noFill/>
        </p:spPr>
        <p:txBody>
          <a:bodyPr wrap="none" anchor="ctr">
            <a:spAutoFit/>
          </a:bodyPr>
          <a:lstStyle/>
          <a:p>
            <a:pPr algn="ctr">
              <a:defRPr sz="2800" b="1">
                <a:solidFill>
                  <a:srgbClr val="0B0F1A"/>
                </a:solidFill>
              </a:defRPr>
            </a:pPr>
            <a:r>
              <a:t>4</a:t>
            </a:r>
          </a:p>
        </p:txBody>
      </p:sp>
      <p:sp>
        <p:nvSpPr>
          <p:cNvPr id="15" name="TextBox 14"/>
          <p:cNvSpPr txBox="1"/>
          <p:nvPr/>
        </p:nvSpPr>
        <p:spPr>
          <a:xfrm>
            <a:off x="6189152" y="3840480"/>
            <a:ext cx="1645920" cy="1371600"/>
          </a:xfrm>
          <a:prstGeom prst="rect">
            <a:avLst/>
          </a:prstGeom>
          <a:noFill/>
        </p:spPr>
        <p:txBody>
          <a:bodyPr wrap="square">
            <a:normAutofit/>
          </a:bodyPr>
          <a:lstStyle/>
          <a:p>
            <a:pPr algn="ctr">
              <a:defRPr sz="1800" b="1">
                <a:solidFill>
                  <a:srgbClr val="FFFFFF"/>
                </a:solidFill>
              </a:defRPr>
            </a:pPr>
            <a:r>
              <a:rPr dirty="0"/>
              <a:t>Click Add</a:t>
            </a:r>
          </a:p>
        </p:txBody>
      </p:sp>
      <p:sp>
        <p:nvSpPr>
          <p:cNvPr id="16" name="Oval 15"/>
          <p:cNvSpPr/>
          <p:nvPr/>
        </p:nvSpPr>
        <p:spPr>
          <a:xfrm>
            <a:off x="8373501"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73501" y="2926080"/>
            <a:ext cx="731520" cy="731520"/>
          </a:xfrm>
          <a:prstGeom prst="rect">
            <a:avLst/>
          </a:prstGeom>
          <a:noFill/>
        </p:spPr>
        <p:txBody>
          <a:bodyPr wrap="none" anchor="ctr">
            <a:spAutoFit/>
          </a:bodyPr>
          <a:lstStyle/>
          <a:p>
            <a:pPr algn="ctr">
              <a:defRPr sz="2800" b="1">
                <a:solidFill>
                  <a:srgbClr val="0B0F1A"/>
                </a:solidFill>
              </a:defRPr>
            </a:pPr>
            <a:r>
              <a:t>5</a:t>
            </a:r>
          </a:p>
        </p:txBody>
      </p:sp>
      <p:sp>
        <p:nvSpPr>
          <p:cNvPr id="18" name="TextBox 17"/>
          <p:cNvSpPr txBox="1"/>
          <p:nvPr/>
        </p:nvSpPr>
        <p:spPr>
          <a:xfrm>
            <a:off x="7916301" y="3840480"/>
            <a:ext cx="1645920" cy="1371600"/>
          </a:xfrm>
          <a:prstGeom prst="rect">
            <a:avLst/>
          </a:prstGeom>
          <a:noFill/>
        </p:spPr>
        <p:txBody>
          <a:bodyPr wrap="square">
            <a:normAutofit/>
          </a:bodyPr>
          <a:lstStyle/>
          <a:p>
            <a:pPr algn="ctr">
              <a:defRPr sz="1800" b="1">
                <a:solidFill>
                  <a:srgbClr val="FFFFFF"/>
                </a:solidFill>
              </a:defRPr>
            </a:pPr>
            <a:r>
              <a:t>Sign in with Claude Enterprise</a:t>
            </a:r>
          </a:p>
        </p:txBody>
      </p:sp>
      <p:sp>
        <p:nvSpPr>
          <p:cNvPr id="19" name="Oval 18"/>
          <p:cNvSpPr/>
          <p:nvPr/>
        </p:nvSpPr>
        <p:spPr>
          <a:xfrm>
            <a:off x="10100650"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100650" y="2926080"/>
            <a:ext cx="731520" cy="731520"/>
          </a:xfrm>
          <a:prstGeom prst="rect">
            <a:avLst/>
          </a:prstGeom>
          <a:noFill/>
        </p:spPr>
        <p:txBody>
          <a:bodyPr wrap="none" anchor="ctr">
            <a:spAutoFit/>
          </a:bodyPr>
          <a:lstStyle/>
          <a:p>
            <a:pPr algn="ctr">
              <a:defRPr sz="2800" b="1">
                <a:solidFill>
                  <a:srgbClr val="0B0F1A"/>
                </a:solidFill>
              </a:defRPr>
            </a:pPr>
            <a:r>
              <a:t>6</a:t>
            </a:r>
          </a:p>
        </p:txBody>
      </p:sp>
      <p:sp>
        <p:nvSpPr>
          <p:cNvPr id="21" name="TextBox 20"/>
          <p:cNvSpPr txBox="1"/>
          <p:nvPr/>
        </p:nvSpPr>
        <p:spPr>
          <a:xfrm>
            <a:off x="9643450" y="3840480"/>
            <a:ext cx="1645920" cy="1371600"/>
          </a:xfrm>
          <a:prstGeom prst="rect">
            <a:avLst/>
          </a:prstGeom>
          <a:noFill/>
        </p:spPr>
        <p:txBody>
          <a:bodyPr wrap="square">
            <a:normAutofit/>
          </a:bodyPr>
          <a:lstStyle/>
          <a:p>
            <a:pPr algn="ctr">
              <a:defRPr sz="1800" b="1">
                <a:solidFill>
                  <a:srgbClr val="FFFFFF"/>
                </a:solidFill>
              </a:defRPr>
            </a:pPr>
            <a:r>
              <a:t>Done!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Three Main Use Cases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F</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r>
              <a:t>Formula Help</a:t>
            </a:r>
            <a:br/>
            <a:r>
              <a:t>Write, debug, explain</a:t>
            </a:r>
          </a:p>
        </p:txBody>
      </p:sp>
      <p:sp>
        <p:nvSpPr>
          <p:cNvPr id="7" name="Rounded Rectangle 6"/>
          <p:cNvSpPr/>
          <p:nvPr/>
        </p:nvSpPr>
        <p:spPr>
          <a:xfrm>
            <a:off x="495284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D</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r>
              <a:t>Data Analysis</a:t>
            </a:r>
            <a:br/>
            <a:r>
              <a:t>Find patterns, insights</a:t>
            </a:r>
          </a:p>
        </p:txBody>
      </p:sp>
      <p:sp>
        <p:nvSpPr>
          <p:cNvPr id="11" name="Rounded Rectangle 10"/>
          <p:cNvSpPr/>
          <p:nvPr/>
        </p:nvSpPr>
        <p:spPr>
          <a:xfrm>
            <a:off x="7604607" y="2011680"/>
            <a:ext cx="2286000" cy="3200400"/>
          </a:xfrm>
          <a:prstGeom prst="roundRect">
            <a:avLst/>
          </a:prstGeom>
          <a:solidFill>
            <a:srgbClr val="141A26"/>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r>
              <a:t>Financial Modeling</a:t>
            </a:r>
            <a:br/>
            <a:r>
              <a:t>Build, validate models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Formula Assistance</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Write, debug, and explain formulas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Data Analysis Help</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Find patterns, identify trends, suggest insights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Financial Modeling</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'Help me build a DCF model with these cash flow projections'</a:t>
            </a:r>
          </a:p>
          <a:p>
            <a:pPr>
              <a:spcBef>
                <a:spcPts val="800"/>
              </a:spcBef>
              <a:spcAft>
                <a:spcPts val="800"/>
              </a:spcAft>
              <a:defRPr sz="2200">
                <a:solidFill>
                  <a:srgbClr val="FFFFFF"/>
                </a:solidFill>
              </a:defRPr>
            </a:pPr>
            <a:r>
              <a:t>  'What assumptions am I missing in this budget forecast?'</a:t>
            </a:r>
          </a:p>
          <a:p>
            <a:pPr>
              <a:spcBef>
                <a:spcPts val="800"/>
              </a:spcBef>
              <a:spcAft>
                <a:spcPts val="800"/>
              </a:spcAft>
              <a:defRPr sz="2200">
                <a:solidFill>
                  <a:srgbClr val="FFFFFF"/>
                </a:solidFill>
              </a:defRPr>
            </a:pPr>
            <a:r>
              <a:t>  'Check my NPV formulas for errors'</a:t>
            </a:r>
          </a:p>
          <a:p>
            <a:pPr>
              <a:spcBef>
                <a:spcPts val="800"/>
              </a:spcBef>
              <a:spcAft>
                <a:spcPts val="800"/>
              </a:spcAft>
              <a:defRPr sz="2200">
                <a:solidFill>
                  <a:srgbClr val="FFFFFF"/>
                </a:solidFill>
              </a:defRPr>
            </a:pPr>
            <a:r>
              <a:t>  'Explain this IRR calculation in plain English'</a:t>
            </a:r>
          </a:p>
          <a:p>
            <a:pPr>
              <a:spcBef>
                <a:spcPts val="800"/>
              </a:spcBef>
              <a:spcAft>
                <a:spcPts val="800"/>
              </a:spcAft>
              <a:defRPr sz="2200">
                <a:solidFill>
                  <a:srgbClr val="FFFFFF"/>
                </a:solidFill>
              </a:defRPr>
            </a:pPr>
            <a:r>
              <a:t>  CAUTION: Always validate formulas - Claude helps, you verify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Best Practices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Do's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Be specific about what you want</a:t>
            </a:r>
          </a:p>
          <a:p>
            <a:pPr>
              <a:spcAft>
                <a:spcPts val="1200"/>
              </a:spcAft>
              <a:defRPr sz="1800">
                <a:solidFill>
                  <a:srgbClr val="FFFFFF"/>
                </a:solidFill>
              </a:defRPr>
            </a:pPr>
            <a:r>
              <a:t>  Include column headers/references</a:t>
            </a:r>
          </a:p>
          <a:p>
            <a:pPr>
              <a:spcAft>
                <a:spcPts val="1200"/>
              </a:spcAft>
              <a:defRPr sz="1800">
                <a:solidFill>
                  <a:srgbClr val="FFFFFF"/>
                </a:solidFill>
              </a:defRPr>
            </a:pPr>
            <a:r>
              <a:t>  Ask Claude to explain, not just generate</a:t>
            </a:r>
          </a:p>
          <a:p>
            <a:pPr>
              <a:spcAft>
                <a:spcPts val="1200"/>
              </a:spcAft>
              <a:defRPr sz="1800">
                <a:solidFill>
                  <a:srgbClr val="FFFFFF"/>
                </a:solidFill>
              </a:defRPr>
            </a:pPr>
            <a:r>
              <a:t>  Iterate - refine the output</a:t>
            </a:r>
          </a:p>
          <a:p>
            <a:pPr>
              <a:spcAft>
                <a:spcPts val="1200"/>
              </a:spcAft>
              <a:defRPr sz="1800">
                <a:solidFill>
                  <a:srgbClr val="FFFFFF"/>
                </a:solidFill>
              </a:defRPr>
            </a:pPr>
            <a:r>
              <a:t>  Verify formulas before using</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Don'ts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Don't blindly copy formulas</a:t>
            </a:r>
          </a:p>
          <a:p>
            <a:pPr>
              <a:spcAft>
                <a:spcPts val="1200"/>
              </a:spcAft>
              <a:defRPr sz="1800">
                <a:solidFill>
                  <a:srgbClr val="FFFFFF"/>
                </a:solidFill>
              </a:defRPr>
            </a:pPr>
            <a:r>
              <a:t>  Don't share sensitive data</a:t>
            </a:r>
          </a:p>
          <a:p>
            <a:pPr>
              <a:spcAft>
                <a:spcPts val="1200"/>
              </a:spcAft>
              <a:defRPr sz="1800">
                <a:solidFill>
                  <a:srgbClr val="FFFFFF"/>
                </a:solidFill>
              </a:defRPr>
            </a:pPr>
            <a:r>
              <a:t>  Don't expect perfection on first try</a:t>
            </a:r>
          </a:p>
          <a:p>
            <a:pPr>
              <a:spcAft>
                <a:spcPts val="1200"/>
              </a:spcAft>
              <a:defRPr sz="1800">
                <a:solidFill>
                  <a:srgbClr val="FFFFFF"/>
                </a:solidFill>
              </a:defRPr>
            </a:pPr>
            <a:r>
              <a:t>  Don't skip verification steps</a:t>
            </a:r>
          </a:p>
          <a:p>
            <a:pPr>
              <a:spcAft>
                <a:spcPts val="1200"/>
              </a:spcAft>
              <a:defRPr sz="1800">
                <a:solidFill>
                  <a:srgbClr val="FFFFFF"/>
                </a:solidFill>
              </a:defRPr>
            </a:pPr>
            <a:r>
              <a:t>  Don't use for critical $ decisions without review</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Real-World Workflow Example</a:t>
            </a:r>
          </a:p>
        </p:txBody>
      </p:sp>
      <p:sp>
        <p:nvSpPr>
          <p:cNvPr id="3" name="Rounded Rectangle 2"/>
          <p:cNvSpPr/>
          <p:nvPr/>
        </p:nvSpPr>
        <p:spPr>
          <a:xfrm>
            <a:off x="2255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18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183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TextBox 5"/>
          <p:cNvSpPr txBox="1"/>
          <p:nvPr/>
        </p:nvSpPr>
        <p:spPr>
          <a:xfrm>
            <a:off x="2255367" y="1371600"/>
            <a:ext cx="822960" cy="822960"/>
          </a:xfrm>
          <a:prstGeom prst="rect">
            <a:avLst/>
          </a:prstGeom>
          <a:noFill/>
        </p:spPr>
        <p:txBody>
          <a:bodyPr wrap="none" anchor="ctr">
            <a:spAutoFit/>
          </a:bodyPr>
          <a:lstStyle/>
          <a:p>
            <a:pPr algn="ctr">
              <a:defRPr sz="2800" b="1">
                <a:solidFill>
                  <a:srgbClr val="00D4AA"/>
                </a:solidFill>
              </a:defRPr>
            </a:pPr>
            <a:r>
              <a:t>1</a:t>
            </a:r>
          </a:p>
        </p:txBody>
      </p:sp>
      <p:sp>
        <p:nvSpPr>
          <p:cNvPr id="7" name="Right Arrow 6"/>
          <p:cNvSpPr/>
          <p:nvPr/>
        </p:nvSpPr>
        <p:spPr>
          <a:xfrm>
            <a:off x="3169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26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289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899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1" name="TextBox 10"/>
          <p:cNvSpPr txBox="1"/>
          <p:nvPr/>
        </p:nvSpPr>
        <p:spPr>
          <a:xfrm>
            <a:off x="3626967" y="1371600"/>
            <a:ext cx="822960" cy="822960"/>
          </a:xfrm>
          <a:prstGeom prst="rect">
            <a:avLst/>
          </a:prstGeom>
          <a:noFill/>
        </p:spPr>
        <p:txBody>
          <a:bodyPr wrap="none" anchor="ctr">
            <a:spAutoFit/>
          </a:bodyPr>
          <a:lstStyle/>
          <a:p>
            <a:pPr algn="ctr">
              <a:defRPr sz="2800" b="1">
                <a:solidFill>
                  <a:srgbClr val="00D4AA"/>
                </a:solidFill>
              </a:defRPr>
            </a:pPr>
            <a:r>
              <a:t>2</a:t>
            </a:r>
          </a:p>
        </p:txBody>
      </p:sp>
      <p:sp>
        <p:nvSpPr>
          <p:cNvPr id="12" name="Right Arrow 11"/>
          <p:cNvSpPr/>
          <p:nvPr/>
        </p:nvSpPr>
        <p:spPr>
          <a:xfrm>
            <a:off x="4541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998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661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15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6" name="TextBox 15"/>
          <p:cNvSpPr txBox="1"/>
          <p:nvPr/>
        </p:nvSpPr>
        <p:spPr>
          <a:xfrm>
            <a:off x="4998567" y="1371600"/>
            <a:ext cx="822960" cy="822960"/>
          </a:xfrm>
          <a:prstGeom prst="rect">
            <a:avLst/>
          </a:prstGeom>
          <a:noFill/>
        </p:spPr>
        <p:txBody>
          <a:bodyPr wrap="none" anchor="ctr">
            <a:spAutoFit/>
          </a:bodyPr>
          <a:lstStyle/>
          <a:p>
            <a:pPr algn="ctr">
              <a:defRPr sz="2800" b="1">
                <a:solidFill>
                  <a:srgbClr val="00D4AA"/>
                </a:solidFill>
              </a:defRPr>
            </a:pPr>
            <a:r>
              <a:t>3</a:t>
            </a:r>
          </a:p>
        </p:txBody>
      </p:sp>
      <p:sp>
        <p:nvSpPr>
          <p:cNvPr id="17" name="Right Arrow 16"/>
          <p:cNvSpPr/>
          <p:nvPr/>
        </p:nvSpPr>
        <p:spPr>
          <a:xfrm>
            <a:off x="59129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370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033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331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21" name="TextBox 20"/>
          <p:cNvSpPr txBox="1"/>
          <p:nvPr/>
        </p:nvSpPr>
        <p:spPr>
          <a:xfrm>
            <a:off x="6370167" y="1371600"/>
            <a:ext cx="822960" cy="822960"/>
          </a:xfrm>
          <a:prstGeom prst="rect">
            <a:avLst/>
          </a:prstGeom>
          <a:noFill/>
        </p:spPr>
        <p:txBody>
          <a:bodyPr wrap="none" anchor="ctr">
            <a:spAutoFit/>
          </a:bodyPr>
          <a:lstStyle/>
          <a:p>
            <a:pPr algn="ctr">
              <a:defRPr sz="2800" b="1">
                <a:solidFill>
                  <a:srgbClr val="00D4AA"/>
                </a:solidFill>
              </a:defRPr>
            </a:pPr>
            <a:r>
              <a:t>4</a:t>
            </a:r>
          </a:p>
        </p:txBody>
      </p:sp>
      <p:sp>
        <p:nvSpPr>
          <p:cNvPr id="22" name="Right Arrow 21"/>
          <p:cNvSpPr/>
          <p:nvPr/>
        </p:nvSpPr>
        <p:spPr>
          <a:xfrm>
            <a:off x="7284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741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404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04707" y="1211580"/>
            <a:ext cx="320040" cy="320040"/>
          </a:xfrm>
          <a:prstGeom prst="rect">
            <a:avLst/>
          </a:prstGeom>
          <a:noFill/>
        </p:spPr>
        <p:txBody>
          <a:bodyPr wrap="none" anchor="ctr">
            <a:spAutoFit/>
          </a:bodyPr>
          <a:lstStyle/>
          <a:p>
            <a:pPr algn="ctr">
              <a:defRPr sz="1400" b="1">
                <a:solidFill>
                  <a:srgbClr val="0B0F1A"/>
                </a:solidFill>
              </a:defRPr>
            </a:pPr>
            <a:r>
              <a:t>5</a:t>
            </a:r>
          </a:p>
        </p:txBody>
      </p:sp>
      <p:sp>
        <p:nvSpPr>
          <p:cNvPr id="26" name="TextBox 25"/>
          <p:cNvSpPr txBox="1"/>
          <p:nvPr/>
        </p:nvSpPr>
        <p:spPr>
          <a:xfrm>
            <a:off x="7741767" y="1371600"/>
            <a:ext cx="822960" cy="822960"/>
          </a:xfrm>
          <a:prstGeom prst="rect">
            <a:avLst/>
          </a:prstGeom>
          <a:noFill/>
        </p:spPr>
        <p:txBody>
          <a:bodyPr wrap="none" anchor="ctr">
            <a:spAutoFit/>
          </a:bodyPr>
          <a:lstStyle/>
          <a:p>
            <a:pPr algn="ctr">
              <a:defRPr sz="2800" b="1">
                <a:solidFill>
                  <a:srgbClr val="00D4AA"/>
                </a:solidFill>
              </a:defRPr>
            </a:pPr>
            <a:r>
              <a:t>5</a:t>
            </a:r>
          </a:p>
        </p:txBody>
      </p:sp>
      <p:sp>
        <p:nvSpPr>
          <p:cNvPr id="27" name="Right Arrow 26"/>
          <p:cNvSpPr/>
          <p:nvPr/>
        </p:nvSpPr>
        <p:spPr>
          <a:xfrm>
            <a:off x="8656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113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776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76307" y="1211580"/>
            <a:ext cx="320040" cy="320040"/>
          </a:xfrm>
          <a:prstGeom prst="rect">
            <a:avLst/>
          </a:prstGeom>
          <a:noFill/>
        </p:spPr>
        <p:txBody>
          <a:bodyPr wrap="none" anchor="ctr">
            <a:spAutoFit/>
          </a:bodyPr>
          <a:lstStyle/>
          <a:p>
            <a:pPr algn="ctr">
              <a:defRPr sz="1400" b="1">
                <a:solidFill>
                  <a:srgbClr val="0B0F1A"/>
                </a:solidFill>
              </a:defRPr>
            </a:pPr>
            <a:r>
              <a:t>6</a:t>
            </a:r>
          </a:p>
        </p:txBody>
      </p:sp>
      <p:sp>
        <p:nvSpPr>
          <p:cNvPr id="31" name="TextBox 30"/>
          <p:cNvSpPr txBox="1"/>
          <p:nvPr/>
        </p:nvSpPr>
        <p:spPr>
          <a:xfrm>
            <a:off x="9113367" y="1371600"/>
            <a:ext cx="822960" cy="822960"/>
          </a:xfrm>
          <a:prstGeom prst="rect">
            <a:avLst/>
          </a:prstGeom>
          <a:noFill/>
        </p:spPr>
        <p:txBody>
          <a:bodyPr wrap="none" anchor="ctr">
            <a:spAutoFit/>
          </a:bodyPr>
          <a:lstStyle/>
          <a:p>
            <a:pPr algn="ctr">
              <a:defRPr sz="2800" b="1">
                <a:solidFill>
                  <a:srgbClr val="00D4AA"/>
                </a:solidFill>
              </a:defRPr>
            </a:pPr>
            <a:r>
              <a:t>6</a:t>
            </a:r>
          </a:p>
        </p:txBody>
      </p:sp>
      <p:sp>
        <p:nvSpPr>
          <p:cNvPr id="32" name="TextBox 31"/>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33" name="TextBox 32"/>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Open expense report spreadsheet</a:t>
            </a:r>
          </a:p>
        </p:txBody>
      </p:sp>
      <p:sp>
        <p:nvSpPr>
          <p:cNvPr id="34" name="TextBox 33"/>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35" name="TextBox 34"/>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Ask: 'Compare actual vs budget, calculate variance %'</a:t>
            </a:r>
          </a:p>
        </p:txBody>
      </p:sp>
      <p:sp>
        <p:nvSpPr>
          <p:cNvPr id="36" name="TextBox 35"/>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37" name="TextBox 36"/>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Claude provides formula</a:t>
            </a:r>
          </a:p>
        </p:txBody>
      </p:sp>
      <p:sp>
        <p:nvSpPr>
          <p:cNvPr id="38" name="TextBox 37"/>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39" name="TextBox 38"/>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Ask: 'Highlight variances over 10% - how?'</a:t>
            </a:r>
          </a:p>
        </p:txBody>
      </p:sp>
      <p:sp>
        <p:nvSpPr>
          <p:cNvPr id="40" name="TextBox 39"/>
          <p:cNvSpPr txBox="1"/>
          <p:nvPr/>
        </p:nvSpPr>
        <p:spPr>
          <a:xfrm>
            <a:off x="1371600" y="5303520"/>
            <a:ext cx="457200" cy="457200"/>
          </a:xfrm>
          <a:prstGeom prst="rect">
            <a:avLst/>
          </a:prstGeom>
          <a:noFill/>
        </p:spPr>
        <p:txBody>
          <a:bodyPr wrap="none">
            <a:spAutoFit/>
          </a:bodyPr>
          <a:lstStyle/>
          <a:p>
            <a:pPr>
              <a:defRPr sz="2000" b="1">
                <a:solidFill>
                  <a:srgbClr val="00D4AA"/>
                </a:solidFill>
              </a:defRPr>
            </a:pPr>
            <a:r>
              <a:t>5</a:t>
            </a:r>
          </a:p>
        </p:txBody>
      </p:sp>
      <p:sp>
        <p:nvSpPr>
          <p:cNvPr id="41" name="TextBox 40"/>
          <p:cNvSpPr txBox="1"/>
          <p:nvPr/>
        </p:nvSpPr>
        <p:spPr>
          <a:xfrm>
            <a:off x="1828800" y="5303520"/>
            <a:ext cx="8991295" cy="548640"/>
          </a:xfrm>
          <a:prstGeom prst="rect">
            <a:avLst/>
          </a:prstGeom>
          <a:noFill/>
        </p:spPr>
        <p:txBody>
          <a:bodyPr wrap="square">
            <a:spAutoFit/>
          </a:bodyPr>
          <a:lstStyle/>
          <a:p>
            <a:pPr>
              <a:defRPr sz="1800">
                <a:solidFill>
                  <a:srgbClr val="FFFFFF"/>
                </a:solidFill>
              </a:defRPr>
            </a:pPr>
            <a:r>
              <a:t>Claude suggests conditional formatting</a:t>
            </a:r>
          </a:p>
        </p:txBody>
      </p:sp>
      <p:sp>
        <p:nvSpPr>
          <p:cNvPr id="42" name="TextBox 41"/>
          <p:cNvSpPr txBox="1"/>
          <p:nvPr/>
        </p:nvSpPr>
        <p:spPr>
          <a:xfrm>
            <a:off x="1371600" y="5943600"/>
            <a:ext cx="457200" cy="457200"/>
          </a:xfrm>
          <a:prstGeom prst="rect">
            <a:avLst/>
          </a:prstGeom>
          <a:noFill/>
        </p:spPr>
        <p:txBody>
          <a:bodyPr wrap="none">
            <a:spAutoFit/>
          </a:bodyPr>
          <a:lstStyle/>
          <a:p>
            <a:pPr>
              <a:defRPr sz="2000" b="1">
                <a:solidFill>
                  <a:srgbClr val="00D4AA"/>
                </a:solidFill>
              </a:defRPr>
            </a:pPr>
            <a:r>
              <a:t>6</a:t>
            </a:r>
          </a:p>
        </p:txBody>
      </p:sp>
      <p:sp>
        <p:nvSpPr>
          <p:cNvPr id="43" name="TextBox 42"/>
          <p:cNvSpPr txBox="1"/>
          <p:nvPr/>
        </p:nvSpPr>
        <p:spPr>
          <a:xfrm>
            <a:off x="1828800" y="5943600"/>
            <a:ext cx="8991295" cy="548640"/>
          </a:xfrm>
          <a:prstGeom prst="rect">
            <a:avLst/>
          </a:prstGeom>
          <a:noFill/>
        </p:spPr>
        <p:txBody>
          <a:bodyPr wrap="square">
            <a:spAutoFit/>
          </a:bodyPr>
          <a:lstStyle/>
          <a:p>
            <a:pPr>
              <a:defRPr sz="1800">
                <a:solidFill>
                  <a:srgbClr val="FFFFFF"/>
                </a:solidFill>
              </a:defRPr>
            </a:pPr>
            <a:r>
              <a:t>Ask: 'Draft summary for my manager'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When to Use Claude.ai vs Claude in Excel</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Use Claude.ai (Chat)</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Quick one-time analysis</a:t>
            </a:r>
          </a:p>
          <a:p>
            <a:pPr>
              <a:spcAft>
                <a:spcPts val="1200"/>
              </a:spcAft>
              <a:defRPr sz="1800">
                <a:solidFill>
                  <a:srgbClr val="FFFFFF"/>
                </a:solidFill>
              </a:defRPr>
            </a:pPr>
            <a:r>
              <a:t>  File you don't need to keep</a:t>
            </a:r>
          </a:p>
          <a:p>
            <a:pPr>
              <a:spcAft>
                <a:spcPts val="1200"/>
              </a:spcAft>
              <a:defRPr sz="1800">
                <a:solidFill>
                  <a:srgbClr val="FFFFFF"/>
                </a:solidFill>
              </a:defRPr>
            </a:pPr>
            <a:r>
              <a:t>  Exploratory questions</a:t>
            </a:r>
          </a:p>
          <a:p>
            <a:pPr>
              <a:spcAft>
                <a:spcPts val="1200"/>
              </a:spcAft>
              <a:defRPr sz="1800">
                <a:solidFill>
                  <a:srgbClr val="FFFFFF"/>
                </a:solidFill>
              </a:defRPr>
            </a:pPr>
            <a:r>
              <a:t>  Creating new visualizations</a:t>
            </a:r>
          </a:p>
          <a:p>
            <a:pPr>
              <a:spcAft>
                <a:spcPts val="1200"/>
              </a:spcAft>
              <a:defRPr sz="1800">
                <a:solidFill>
                  <a:srgbClr val="FFFFFF"/>
                </a:solidFill>
              </a:defRPr>
            </a:pPr>
            <a:r>
              <a:t>  Data from multiple sources</a:t>
            </a:r>
          </a:p>
          <a:p>
            <a:pPr>
              <a:spcAft>
                <a:spcPts val="1200"/>
              </a:spcAft>
              <a:defRPr sz="1800">
                <a:solidFill>
                  <a:srgbClr val="FFFFFF"/>
                </a:solidFill>
              </a:defRPr>
            </a:pPr>
            <a:r>
              <a:t>  No formulas needed in output</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10B981"/>
                </a:solidFill>
              </a:defRPr>
            </a:pPr>
            <a:r>
              <a:t>Use Claude in Excel</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Working file you'll update</a:t>
            </a:r>
          </a:p>
          <a:p>
            <a:pPr>
              <a:spcAft>
                <a:spcPts val="1200"/>
              </a:spcAft>
              <a:defRPr sz="1800">
                <a:solidFill>
                  <a:srgbClr val="FFFFFF"/>
                </a:solidFill>
              </a:defRPr>
            </a:pPr>
            <a:r>
              <a:t>  Need formulas (not just answers)</a:t>
            </a:r>
          </a:p>
          <a:p>
            <a:pPr>
              <a:spcAft>
                <a:spcPts val="1200"/>
              </a:spcAft>
              <a:defRPr sz="1800">
                <a:solidFill>
                  <a:srgbClr val="FFFFFF"/>
                </a:solidFill>
              </a:defRPr>
            </a:pPr>
            <a:r>
              <a:t>  Building a report/dashboard</a:t>
            </a:r>
          </a:p>
          <a:p>
            <a:pPr>
              <a:spcAft>
                <a:spcPts val="1200"/>
              </a:spcAft>
              <a:defRPr sz="1800">
                <a:solidFill>
                  <a:srgbClr val="FFFFFF"/>
                </a:solidFill>
              </a:defRPr>
            </a:pPr>
            <a:r>
              <a:t>  Data already in Excel</a:t>
            </a:r>
          </a:p>
          <a:p>
            <a:pPr>
              <a:spcAft>
                <a:spcPts val="1200"/>
              </a:spcAft>
              <a:defRPr sz="1800">
                <a:solidFill>
                  <a:srgbClr val="FFFFFF"/>
                </a:solidFill>
              </a:defRPr>
            </a:pPr>
            <a:r>
              <a:t>  Need to show your work</a:t>
            </a:r>
          </a:p>
          <a:p>
            <a:pPr>
              <a:spcAft>
                <a:spcPts val="1200"/>
              </a:spcAft>
              <a:defRPr sz="1800">
                <a:solidFill>
                  <a:srgbClr val="FFFFFF"/>
                </a:solidFill>
              </a:defRPr>
            </a:pPr>
            <a:r>
              <a:t>  Ongoing calculations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ounded Rectangle 1"/>
          <p:cNvSpPr/>
          <p:nvPr/>
        </p:nvSpPr>
        <p:spPr>
          <a:xfrm>
            <a:off x="457200" y="365760"/>
            <a:ext cx="1097280" cy="4572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LAB 3</a:t>
            </a:r>
          </a:p>
        </p:txBody>
      </p:sp>
      <p:sp>
        <p:nvSpPr>
          <p:cNvPr id="3" name="TextBox 2"/>
          <p:cNvSpPr txBox="1"/>
          <p:nvPr/>
        </p:nvSpPr>
        <p:spPr>
          <a:xfrm>
            <a:off x="457200" y="1005840"/>
            <a:ext cx="11247120" cy="731520"/>
          </a:xfrm>
          <a:prstGeom prst="rect">
            <a:avLst/>
          </a:prstGeom>
          <a:noFill/>
        </p:spPr>
        <p:txBody>
          <a:bodyPr wrap="none">
            <a:spAutoFit/>
          </a:bodyPr>
          <a:lstStyle/>
          <a:p>
            <a:pPr>
              <a:defRPr sz="3600" b="1">
                <a:solidFill>
                  <a:srgbClr val="FFFFFF"/>
                </a:solidFill>
              </a:defRPr>
            </a:pPr>
            <a:r>
              <a:t>Data Analysis Challenge</a:t>
            </a:r>
          </a:p>
        </p:txBody>
      </p:sp>
      <p:sp>
        <p:nvSpPr>
          <p:cNvPr id="4" name="TextBox 3"/>
          <p:cNvSpPr txBox="1"/>
          <p:nvPr/>
        </p:nvSpPr>
        <p:spPr>
          <a:xfrm>
            <a:off x="457200" y="1737360"/>
            <a:ext cx="11247120" cy="457200"/>
          </a:xfrm>
          <a:prstGeom prst="rect">
            <a:avLst/>
          </a:prstGeom>
          <a:noFill/>
        </p:spPr>
        <p:txBody>
          <a:bodyPr wrap="none">
            <a:spAutoFit/>
          </a:bodyPr>
          <a:lstStyle/>
          <a:p>
            <a:pPr>
              <a:defRPr sz="1800" i="1">
                <a:solidFill>
                  <a:srgbClr val="9CA3AF"/>
                </a:solidFill>
              </a:defRPr>
            </a:pPr>
            <a:r>
              <a:t>30 minutes  •  Analyze real data in Claude.ai and Excel</a:t>
            </a:r>
          </a:p>
        </p:txBody>
      </p:sp>
      <p:sp>
        <p:nvSpPr>
          <p:cNvPr id="5" name="Rounded Rectangle 4"/>
          <p:cNvSpPr/>
          <p:nvPr/>
        </p:nvSpPr>
        <p:spPr>
          <a:xfrm>
            <a:off x="457200" y="2468880"/>
            <a:ext cx="356616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651760"/>
            <a:ext cx="3200400" cy="548640"/>
          </a:xfrm>
          <a:prstGeom prst="rect">
            <a:avLst/>
          </a:prstGeom>
          <a:noFill/>
        </p:spPr>
        <p:txBody>
          <a:bodyPr wrap="none">
            <a:spAutoFit/>
          </a:bodyPr>
          <a:lstStyle/>
          <a:p>
            <a:pPr algn="ctr">
              <a:defRPr sz="3000"/>
            </a:pPr>
            <a:r>
              <a:t>📊</a:t>
            </a:r>
          </a:p>
        </p:txBody>
      </p:sp>
      <p:sp>
        <p:nvSpPr>
          <p:cNvPr id="7" name="TextBox 6"/>
          <p:cNvSpPr txBox="1"/>
          <p:nvPr/>
        </p:nvSpPr>
        <p:spPr>
          <a:xfrm>
            <a:off x="640080" y="3200400"/>
            <a:ext cx="3200400" cy="457200"/>
          </a:xfrm>
          <a:prstGeom prst="rect">
            <a:avLst/>
          </a:prstGeom>
          <a:noFill/>
        </p:spPr>
        <p:txBody>
          <a:bodyPr wrap="none">
            <a:spAutoFit/>
          </a:bodyPr>
          <a:lstStyle/>
          <a:p>
            <a:pPr algn="ctr">
              <a:defRPr sz="1800" b="1">
                <a:solidFill>
                  <a:srgbClr val="FFFFFF"/>
                </a:solidFill>
              </a:defRPr>
            </a:pPr>
            <a:r>
              <a:t>Claude.ai Analysis</a:t>
            </a:r>
          </a:p>
        </p:txBody>
      </p:sp>
      <p:sp>
        <p:nvSpPr>
          <p:cNvPr id="8" name="TextBox 7"/>
          <p:cNvSpPr txBox="1"/>
          <p:nvPr/>
        </p:nvSpPr>
        <p:spPr>
          <a:xfrm>
            <a:off x="640080" y="3749039"/>
            <a:ext cx="3200400" cy="1645920"/>
          </a:xfrm>
          <a:prstGeom prst="rect">
            <a:avLst/>
          </a:prstGeom>
          <a:noFill/>
        </p:spPr>
        <p:txBody>
          <a:bodyPr wrap="square">
            <a:spAutoFit/>
          </a:bodyPr>
          <a:lstStyle/>
          <a:p>
            <a:pPr algn="ctr">
              <a:defRPr sz="1300">
                <a:solidFill>
                  <a:srgbClr val="D1D5DB"/>
                </a:solidFill>
              </a:defRPr>
            </a:pPr>
            <a:r>
              <a:t>Upload the Q4 sales CSV.</a:t>
            </a:r>
            <a:br/>
            <a:r>
              <a:t>Ask for insights, trends,</a:t>
            </a:r>
            <a:br/>
            <a:r>
              <a:t>and a summary for your VP.</a:t>
            </a:r>
            <a:br/>
            <a:r>
              <a:t>Iterate to improve output.</a:t>
            </a:r>
          </a:p>
        </p:txBody>
      </p:sp>
      <p:sp>
        <p:nvSpPr>
          <p:cNvPr id="9" name="TextBox 8"/>
          <p:cNvSpPr txBox="1"/>
          <p:nvPr/>
        </p:nvSpPr>
        <p:spPr>
          <a:xfrm>
            <a:off x="640080" y="5303520"/>
            <a:ext cx="3200400" cy="365760"/>
          </a:xfrm>
          <a:prstGeom prst="rect">
            <a:avLst/>
          </a:prstGeom>
          <a:noFill/>
        </p:spPr>
        <p:txBody>
          <a:bodyPr wrap="none">
            <a:spAutoFit/>
          </a:bodyPr>
          <a:lstStyle/>
          <a:p>
            <a:pPr algn="ctr">
              <a:defRPr sz="1200" i="1">
                <a:solidFill>
                  <a:srgbClr val="14B8A6"/>
                </a:solidFill>
              </a:defRPr>
            </a:pPr>
            <a:r>
              <a:t>10 min</a:t>
            </a:r>
          </a:p>
        </p:txBody>
      </p:sp>
      <p:sp>
        <p:nvSpPr>
          <p:cNvPr id="10" name="Rounded Rectangle 9"/>
          <p:cNvSpPr/>
          <p:nvPr/>
        </p:nvSpPr>
        <p:spPr>
          <a:xfrm>
            <a:off x="4206240" y="2468880"/>
            <a:ext cx="356616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2651760"/>
            <a:ext cx="3200400" cy="548640"/>
          </a:xfrm>
          <a:prstGeom prst="rect">
            <a:avLst/>
          </a:prstGeom>
          <a:noFill/>
        </p:spPr>
        <p:txBody>
          <a:bodyPr wrap="none">
            <a:spAutoFit/>
          </a:bodyPr>
          <a:lstStyle/>
          <a:p>
            <a:pPr algn="ctr">
              <a:defRPr sz="3000"/>
            </a:pPr>
            <a:r>
              <a:t>📈</a:t>
            </a:r>
          </a:p>
        </p:txBody>
      </p:sp>
      <p:sp>
        <p:nvSpPr>
          <p:cNvPr id="12" name="TextBox 11"/>
          <p:cNvSpPr txBox="1"/>
          <p:nvPr/>
        </p:nvSpPr>
        <p:spPr>
          <a:xfrm>
            <a:off x="4389120" y="3200400"/>
            <a:ext cx="3200400" cy="457200"/>
          </a:xfrm>
          <a:prstGeom prst="rect">
            <a:avLst/>
          </a:prstGeom>
          <a:noFill/>
        </p:spPr>
        <p:txBody>
          <a:bodyPr wrap="none">
            <a:spAutoFit/>
          </a:bodyPr>
          <a:lstStyle/>
          <a:p>
            <a:pPr algn="ctr">
              <a:defRPr sz="1800" b="1">
                <a:solidFill>
                  <a:srgbClr val="FFFFFF"/>
                </a:solidFill>
              </a:defRPr>
            </a:pPr>
            <a:r>
              <a:t>Claude in Excel</a:t>
            </a:r>
          </a:p>
        </p:txBody>
      </p:sp>
      <p:sp>
        <p:nvSpPr>
          <p:cNvPr id="13" name="TextBox 12"/>
          <p:cNvSpPr txBox="1"/>
          <p:nvPr/>
        </p:nvSpPr>
        <p:spPr>
          <a:xfrm>
            <a:off x="4389120" y="3749039"/>
            <a:ext cx="3200400" cy="1645920"/>
          </a:xfrm>
          <a:prstGeom prst="rect">
            <a:avLst/>
          </a:prstGeom>
          <a:noFill/>
        </p:spPr>
        <p:txBody>
          <a:bodyPr wrap="square">
            <a:spAutoFit/>
          </a:bodyPr>
          <a:lstStyle/>
          <a:p>
            <a:pPr algn="ctr">
              <a:defRPr sz="1300">
                <a:solidFill>
                  <a:srgbClr val="D1D5DB"/>
                </a:solidFill>
              </a:defRPr>
            </a:pPr>
            <a:r>
              <a:t>Open the competitor data</a:t>
            </a:r>
            <a:br/>
            <a:r>
              <a:t>in Excel with Claude.</a:t>
            </a:r>
            <a:br/>
            <a:r>
              <a:t>Build a comparison matrix</a:t>
            </a:r>
            <a:br/>
            <a:r>
              <a:t>and highlight key threats.</a:t>
            </a:r>
          </a:p>
        </p:txBody>
      </p:sp>
      <p:sp>
        <p:nvSpPr>
          <p:cNvPr id="14" name="TextBox 13"/>
          <p:cNvSpPr txBox="1"/>
          <p:nvPr/>
        </p:nvSpPr>
        <p:spPr>
          <a:xfrm>
            <a:off x="4389120" y="5303520"/>
            <a:ext cx="3200400" cy="365760"/>
          </a:xfrm>
          <a:prstGeom prst="rect">
            <a:avLst/>
          </a:prstGeom>
          <a:noFill/>
        </p:spPr>
        <p:txBody>
          <a:bodyPr wrap="none">
            <a:spAutoFit/>
          </a:bodyPr>
          <a:lstStyle/>
          <a:p>
            <a:pPr algn="ctr">
              <a:defRPr sz="1200" i="1">
                <a:solidFill>
                  <a:srgbClr val="14B8A6"/>
                </a:solidFill>
              </a:defRPr>
            </a:pPr>
            <a:r>
              <a:t>10 min</a:t>
            </a:r>
          </a:p>
        </p:txBody>
      </p:sp>
      <p:sp>
        <p:nvSpPr>
          <p:cNvPr id="15" name="Rounded Rectangle 14"/>
          <p:cNvSpPr/>
          <p:nvPr/>
        </p:nvSpPr>
        <p:spPr>
          <a:xfrm>
            <a:off x="7955280" y="2468880"/>
            <a:ext cx="356616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160" y="2651760"/>
            <a:ext cx="3200400" cy="548640"/>
          </a:xfrm>
          <a:prstGeom prst="rect">
            <a:avLst/>
          </a:prstGeom>
          <a:noFill/>
        </p:spPr>
        <p:txBody>
          <a:bodyPr wrap="none">
            <a:spAutoFit/>
          </a:bodyPr>
          <a:lstStyle/>
          <a:p>
            <a:pPr algn="ctr">
              <a:defRPr sz="3000"/>
            </a:pPr>
            <a:r>
              <a:t>📋</a:t>
            </a:r>
          </a:p>
        </p:txBody>
      </p:sp>
      <p:sp>
        <p:nvSpPr>
          <p:cNvPr id="17" name="TextBox 16"/>
          <p:cNvSpPr txBox="1"/>
          <p:nvPr/>
        </p:nvSpPr>
        <p:spPr>
          <a:xfrm>
            <a:off x="8138160" y="3200400"/>
            <a:ext cx="3200400" cy="457200"/>
          </a:xfrm>
          <a:prstGeom prst="rect">
            <a:avLst/>
          </a:prstGeom>
          <a:noFill/>
        </p:spPr>
        <p:txBody>
          <a:bodyPr wrap="none">
            <a:spAutoFit/>
          </a:bodyPr>
          <a:lstStyle/>
          <a:p>
            <a:pPr algn="ctr">
              <a:defRPr sz="1800" b="1">
                <a:solidFill>
                  <a:srgbClr val="FFFFFF"/>
                </a:solidFill>
              </a:defRPr>
            </a:pPr>
            <a:r>
              <a:t>Create Deliverable</a:t>
            </a:r>
          </a:p>
        </p:txBody>
      </p:sp>
      <p:sp>
        <p:nvSpPr>
          <p:cNvPr id="18" name="TextBox 17"/>
          <p:cNvSpPr txBox="1"/>
          <p:nvPr/>
        </p:nvSpPr>
        <p:spPr>
          <a:xfrm>
            <a:off x="8138160" y="3749039"/>
            <a:ext cx="3200400" cy="1645920"/>
          </a:xfrm>
          <a:prstGeom prst="rect">
            <a:avLst/>
          </a:prstGeom>
          <a:noFill/>
        </p:spPr>
        <p:txBody>
          <a:bodyPr wrap="square">
            <a:spAutoFit/>
          </a:bodyPr>
          <a:lstStyle/>
          <a:p>
            <a:pPr algn="ctr">
              <a:defRPr sz="1300">
                <a:solidFill>
                  <a:srgbClr val="D1D5DB"/>
                </a:solidFill>
              </a:defRPr>
            </a:pPr>
            <a:r>
              <a:t>Produce a one-page</a:t>
            </a:r>
            <a:br/>
            <a:r>
              <a:t>Competitive Battle Card</a:t>
            </a:r>
            <a:br/>
            <a:r>
              <a:t>as an artifact. Print-ready,</a:t>
            </a:r>
            <a:br/>
            <a:r>
              <a:t>scannable, actionable.</a:t>
            </a:r>
          </a:p>
        </p:txBody>
      </p:sp>
      <p:sp>
        <p:nvSpPr>
          <p:cNvPr id="19" name="TextBox 18"/>
          <p:cNvSpPr txBox="1"/>
          <p:nvPr/>
        </p:nvSpPr>
        <p:spPr>
          <a:xfrm>
            <a:off x="8138160" y="5303520"/>
            <a:ext cx="3200400" cy="365760"/>
          </a:xfrm>
          <a:prstGeom prst="rect">
            <a:avLst/>
          </a:prstGeom>
          <a:noFill/>
        </p:spPr>
        <p:txBody>
          <a:bodyPr wrap="none">
            <a:spAutoFit/>
          </a:bodyPr>
          <a:lstStyle/>
          <a:p>
            <a:pPr algn="ctr">
              <a:defRPr sz="1200" i="1">
                <a:solidFill>
                  <a:srgbClr val="14B8A6"/>
                </a:solidFill>
              </a:defRPr>
            </a:pPr>
            <a:r>
              <a:t>10 min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Break</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15 minutes | 2:15 PM - 2:30 PM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365760" y="1371600"/>
            <a:ext cx="73152" cy="27432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0"/>
            <a:ext cx="2743200" cy="548640"/>
          </a:xfrm>
          <a:prstGeom prst="rect">
            <a:avLst/>
          </a:prstGeom>
          <a:noFill/>
        </p:spPr>
        <p:txBody>
          <a:bodyPr wrap="none">
            <a:spAutoFit/>
          </a:bodyPr>
          <a:lstStyle/>
          <a:p>
            <a:pPr>
              <a:defRPr sz="1600" b="1">
                <a:solidFill>
                  <a:srgbClr val="14B8A6"/>
                </a:solidFill>
              </a:defRPr>
            </a:pPr>
            <a:r>
              <a:t>SECTION 4</a:t>
            </a:r>
          </a:p>
        </p:txBody>
      </p:sp>
      <p:sp>
        <p:nvSpPr>
          <p:cNvPr id="4" name="TextBox 3"/>
          <p:cNvSpPr txBox="1"/>
          <p:nvPr/>
        </p:nvSpPr>
        <p:spPr>
          <a:xfrm>
            <a:off x="731520" y="2011680"/>
            <a:ext cx="10058400" cy="1097280"/>
          </a:xfrm>
          <a:prstGeom prst="rect">
            <a:avLst/>
          </a:prstGeom>
          <a:noFill/>
        </p:spPr>
        <p:txBody>
          <a:bodyPr wrap="none">
            <a:spAutoFit/>
          </a:bodyPr>
          <a:lstStyle/>
          <a:p>
            <a:pPr>
              <a:defRPr sz="5600" b="1">
                <a:solidFill>
                  <a:srgbClr val="FFFFFF"/>
                </a:solidFill>
              </a:defRPr>
            </a:pPr>
            <a:r>
              <a:t>Artifacts, Files</a:t>
            </a:r>
            <a:br/>
            <a:r>
              <a:t>&amp; Integrations</a:t>
            </a:r>
          </a:p>
        </p:txBody>
      </p:sp>
      <p:sp>
        <p:nvSpPr>
          <p:cNvPr id="5" name="TextBox 4"/>
          <p:cNvSpPr txBox="1"/>
          <p:nvPr/>
        </p:nvSpPr>
        <p:spPr>
          <a:xfrm>
            <a:off x="731520" y="3840480"/>
            <a:ext cx="10058400" cy="548640"/>
          </a:xfrm>
          <a:prstGeom prst="rect">
            <a:avLst/>
          </a:prstGeom>
          <a:noFill/>
        </p:spPr>
        <p:txBody>
          <a:bodyPr wrap="none">
            <a:spAutoFit/>
          </a:bodyPr>
          <a:lstStyle/>
          <a:p>
            <a:pPr>
              <a:defRPr sz="2200">
                <a:solidFill>
                  <a:srgbClr val="9CA3AF"/>
                </a:solidFill>
              </a:defRPr>
            </a:pPr>
            <a:r>
              <a:t>Create deliverables, work with files, and connect your tools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Artifacts &amp; File Handling</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Working with Generated Content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Are Artifacts?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Rich content Claude generates in a separate panel</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Working with Artifacts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V</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r>
              <a:t>View</a:t>
            </a:r>
            <a:br/>
            <a:r>
              <a:t>See the generated content</a:t>
            </a:r>
          </a:p>
        </p:txBody>
      </p:sp>
      <p:sp>
        <p:nvSpPr>
          <p:cNvPr id="7" name="Rounded Rectangle 6"/>
          <p:cNvSpPr/>
          <p:nvPr/>
        </p:nvSpPr>
        <p:spPr>
          <a:xfrm>
            <a:off x="495284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E</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r>
              <a:t>Edit</a:t>
            </a:r>
            <a:br/>
            <a:r>
              <a:t>Click in and make changes</a:t>
            </a:r>
          </a:p>
        </p:txBody>
      </p:sp>
      <p:sp>
        <p:nvSpPr>
          <p:cNvPr id="11" name="Rounded Rectangle 10"/>
          <p:cNvSpPr/>
          <p:nvPr/>
        </p:nvSpPr>
        <p:spPr>
          <a:xfrm>
            <a:off x="7604607" y="2011680"/>
            <a:ext cx="2286000" cy="3200400"/>
          </a:xfrm>
          <a:prstGeom prst="roundRect">
            <a:avLst/>
          </a:prstGeom>
          <a:solidFill>
            <a:srgbClr val="141A26"/>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D</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r>
              <a:t>Download</a:t>
            </a:r>
            <a:br/>
            <a:r>
              <a:t>Save to your computer</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Common Artifact Use Cases</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Email templates</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Meeting agendas</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Project proposals</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Data summaries</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Process flowcharts</a:t>
            </a:r>
          </a:p>
        </p:txBody>
      </p:sp>
      <p:sp>
        <p:nvSpPr>
          <p:cNvPr id="19" name="Oval 18"/>
          <p:cNvSpPr/>
          <p:nvPr/>
        </p:nvSpPr>
        <p:spPr>
          <a:xfrm>
            <a:off x="457200" y="54864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54864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21" name="TextBox 20"/>
          <p:cNvSpPr txBox="1"/>
          <p:nvPr/>
        </p:nvSpPr>
        <p:spPr>
          <a:xfrm>
            <a:off x="1005840" y="5532120"/>
            <a:ext cx="10728655" cy="731520"/>
          </a:xfrm>
          <a:prstGeom prst="rect">
            <a:avLst/>
          </a:prstGeom>
          <a:noFill/>
        </p:spPr>
        <p:txBody>
          <a:bodyPr wrap="square">
            <a:spAutoFit/>
          </a:bodyPr>
          <a:lstStyle/>
          <a:p>
            <a:pPr>
              <a:defRPr sz="2200">
                <a:solidFill>
                  <a:srgbClr val="FFFFFF"/>
                </a:solidFill>
              </a:defRPr>
            </a:pPr>
            <a:r>
              <a:t>Presentation outlines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File Upload Capabilities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Documents: PDFs, Word docs, text files</a:t>
            </a:r>
          </a:p>
          <a:p>
            <a:pPr>
              <a:spcBef>
                <a:spcPts val="800"/>
              </a:spcBef>
              <a:spcAft>
                <a:spcPts val="800"/>
              </a:spcAft>
              <a:defRPr sz="2200">
                <a:solidFill>
                  <a:srgbClr val="FFFFFF"/>
                </a:solidFill>
              </a:defRPr>
            </a:pPr>
            <a:r>
              <a:t>  Spreadsheets: Excel, CSV</a:t>
            </a:r>
          </a:p>
          <a:p>
            <a:pPr>
              <a:spcBef>
                <a:spcPts val="800"/>
              </a:spcBef>
              <a:spcAft>
                <a:spcPts val="800"/>
              </a:spcAft>
              <a:defRPr sz="2200">
                <a:solidFill>
                  <a:srgbClr val="FFFFFF"/>
                </a:solidFill>
              </a:defRPr>
            </a:pPr>
            <a:r>
              <a:t>  Images: Screenshots, diagrams, photos</a:t>
            </a:r>
          </a:p>
          <a:p>
            <a:pPr>
              <a:spcBef>
                <a:spcPts val="800"/>
              </a:spcBef>
              <a:spcAft>
                <a:spcPts val="800"/>
              </a:spcAft>
              <a:defRPr sz="2200">
                <a:solidFill>
                  <a:srgbClr val="FFFFFF"/>
                </a:solidFill>
              </a:defRPr>
            </a:pPr>
            <a:r>
              <a:t>  Code: Source files</a:t>
            </a:r>
          </a:p>
          <a:p>
            <a:pPr>
              <a:spcBef>
                <a:spcPts val="800"/>
              </a:spcBef>
              <a:spcAft>
                <a:spcPts val="800"/>
              </a:spcAft>
              <a:defRPr sz="2200">
                <a:solidFill>
                  <a:srgbClr val="FFFFFF"/>
                </a:solidFill>
              </a:defRPr>
            </a:pPr>
            <a:r>
              <a:t>  Presentations: PowerPoint (.pptx) files directly</a:t>
            </a:r>
          </a:p>
          <a:p>
            <a:pPr>
              <a:spcBef>
                <a:spcPts val="800"/>
              </a:spcBef>
              <a:spcAft>
                <a:spcPts val="800"/>
              </a:spcAft>
              <a:defRPr sz="2200">
                <a:solidFill>
                  <a:srgbClr val="FFFFFF"/>
                </a:solidFill>
              </a:defRPr>
            </a:pPr>
            <a:r>
              <a:t>  Max file sizes: 10-25 MB per file (varies by plan)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Vision Capabilities Deep Dive</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Claude can see and understand images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Vision Use Cases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r>
              <a:t>Chart Analysis</a:t>
            </a:r>
            <a:br/>
            <a:r>
              <a:t>Interpret graphs and data viz</a:t>
            </a:r>
          </a:p>
        </p:txBody>
      </p:sp>
      <p:sp>
        <p:nvSpPr>
          <p:cNvPr id="7" name="Rounded Rectangle 6"/>
          <p:cNvSpPr/>
          <p:nvPr/>
        </p:nvSpPr>
        <p:spPr>
          <a:xfrm>
            <a:off x="495284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r>
              <a:t>Debugging</a:t>
            </a:r>
            <a:br/>
            <a:r>
              <a:t>Screenshots of errors/UI</a:t>
            </a:r>
          </a:p>
        </p:txBody>
      </p:sp>
      <p:sp>
        <p:nvSpPr>
          <p:cNvPr id="11" name="Rounded Rectangle 10"/>
          <p:cNvSpPr/>
          <p:nvPr/>
        </p:nvSpPr>
        <p:spPr>
          <a:xfrm>
            <a:off x="760460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r>
              <a:t>Document Extraction</a:t>
            </a:r>
            <a:br/>
            <a:r>
              <a:t>OCR from scans/photos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5025735" cy="584775"/>
          </a:xfrm>
          <a:prstGeom prst="rect">
            <a:avLst/>
          </a:prstGeom>
          <a:noFill/>
        </p:spPr>
        <p:txBody>
          <a:bodyPr wrap="none">
            <a:spAutoFit/>
          </a:bodyPr>
          <a:lstStyle/>
          <a:p>
            <a:pPr>
              <a:defRPr sz="3200" b="1">
                <a:solidFill>
                  <a:srgbClr val="FFFFFF"/>
                </a:solidFill>
              </a:defRPr>
            </a:pPr>
            <a:r>
              <a:rPr lang="en-US"/>
              <a:t>Demo: </a:t>
            </a:r>
            <a:r>
              <a:t>Working with Images</a:t>
            </a:r>
          </a:p>
        </p:txBody>
      </p:sp>
      <p:sp>
        <p:nvSpPr>
          <p:cNvPr id="4" name="TextBox 3"/>
          <p:cNvSpPr txBox="1"/>
          <p:nvPr/>
        </p:nvSpPr>
        <p:spPr>
          <a:xfrm>
            <a:off x="914400" y="3200400"/>
            <a:ext cx="10362895" cy="914400"/>
          </a:xfrm>
          <a:prstGeom prst="rect">
            <a:avLst/>
          </a:prstGeom>
          <a:noFill/>
        </p:spPr>
        <p:txBody>
          <a:bodyPr wrap="none">
            <a:spAutoFit/>
          </a:bodyPr>
          <a:lstStyle/>
          <a:p>
            <a:pPr algn="ctr">
              <a:defRPr sz="2400" b="1">
                <a:solidFill>
                  <a:srgbClr val="8B95A5"/>
                </a:solidFill>
              </a:defRPr>
            </a:pPr>
            <a:r>
              <a:t>[Screenshot Analysis Example]</a:t>
            </a:r>
          </a:p>
        </p:txBody>
      </p:sp>
      <p:pic>
        <p:nvPicPr>
          <p:cNvPr id="5" name="Picture 4" descr="dashboard-vision-example.png"/>
          <p:cNvPicPr>
            <a:picLocks noChangeAspect="1"/>
          </p:cNvPicPr>
          <p:nvPr/>
        </p:nvPicPr>
        <p:blipFill>
          <a:blip r:embed="rId3"/>
          <a:stretch>
            <a:fillRect/>
          </a:stretch>
        </p:blipFill>
        <p:spPr>
          <a:xfrm>
            <a:off x="2799184" y="1191701"/>
            <a:ext cx="6895322" cy="493179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Tips for File-Based Work</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Do</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Name files descriptively</a:t>
            </a:r>
          </a:p>
          <a:p>
            <a:pPr>
              <a:spcAft>
                <a:spcPts val="1200"/>
              </a:spcAft>
              <a:defRPr sz="1800">
                <a:solidFill>
                  <a:srgbClr val="FFFFFF"/>
                </a:solidFill>
              </a:defRPr>
            </a:pPr>
            <a:r>
              <a:t>  Provide context about what you need</a:t>
            </a:r>
          </a:p>
          <a:p>
            <a:pPr>
              <a:spcAft>
                <a:spcPts val="1200"/>
              </a:spcAft>
              <a:defRPr sz="1800">
                <a:solidFill>
                  <a:srgbClr val="FFFFFF"/>
                </a:solidFill>
              </a:defRPr>
            </a:pPr>
            <a:r>
              <a:t>  Ask specific questions</a:t>
            </a:r>
          </a:p>
          <a:p>
            <a:pPr>
              <a:spcAft>
                <a:spcPts val="1200"/>
              </a:spcAft>
              <a:defRPr sz="1800">
                <a:solidFill>
                  <a:srgbClr val="FFFFFF"/>
                </a:solidFill>
              </a:defRPr>
            </a:pPr>
            <a:r>
              <a:t>  Use Projects for recurring analysis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Don't</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Upload without a clear question</a:t>
            </a:r>
          </a:p>
          <a:p>
            <a:pPr>
              <a:spcAft>
                <a:spcPts val="1200"/>
              </a:spcAft>
              <a:defRPr sz="1800">
                <a:solidFill>
                  <a:srgbClr val="FFFFFF"/>
                </a:solidFill>
              </a:defRPr>
            </a:pPr>
            <a:r>
              <a:t>  Forget to verify extracted data</a:t>
            </a:r>
          </a:p>
          <a:p>
            <a:pPr>
              <a:spcAft>
                <a:spcPts val="1200"/>
              </a:spcAft>
              <a:defRPr sz="1800">
                <a:solidFill>
                  <a:srgbClr val="FFFFFF"/>
                </a:solidFill>
              </a:defRPr>
            </a:pPr>
            <a:r>
              <a:t>  Upload confidential data without checking policies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Claude Integrations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Connect Claude to your tools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Are Integrations?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Claude connects to GitHub, Google Docs, and more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GitHub vs Google Docs Integrations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GitHub Integration</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Read repositories</a:t>
            </a:r>
          </a:p>
          <a:p>
            <a:pPr>
              <a:spcAft>
                <a:spcPts val="1200"/>
              </a:spcAft>
              <a:defRPr sz="1800">
                <a:solidFill>
                  <a:srgbClr val="FFFFFF"/>
                </a:solidFill>
              </a:defRPr>
            </a:pPr>
            <a:r>
              <a:t>  Review pull requests</a:t>
            </a:r>
          </a:p>
          <a:p>
            <a:pPr>
              <a:spcAft>
                <a:spcPts val="1200"/>
              </a:spcAft>
              <a:defRPr sz="1800">
                <a:solidFill>
                  <a:srgbClr val="FFFFFF"/>
                </a:solidFill>
              </a:defRPr>
            </a:pPr>
            <a:r>
              <a:t>  Analyze code structure</a:t>
            </a:r>
          </a:p>
          <a:p>
            <a:pPr>
              <a:spcAft>
                <a:spcPts val="1200"/>
              </a:spcAft>
              <a:defRPr sz="1800">
                <a:solidFill>
                  <a:srgbClr val="FFFFFF"/>
                </a:solidFill>
              </a:defRPr>
            </a:pPr>
            <a:r>
              <a:t>  Search across files</a:t>
            </a:r>
          </a:p>
          <a:p>
            <a:pPr>
              <a:spcAft>
                <a:spcPts val="1200"/>
              </a:spcAft>
              <a:defRPr sz="1800">
                <a:solidFill>
                  <a:srgbClr val="FFFFFF"/>
                </a:solidFill>
              </a:defRPr>
            </a:pPr>
            <a:r>
              <a:t>  Best for: Developers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78D4"/>
                </a:solidFill>
              </a:defRPr>
            </a:pPr>
            <a:r>
              <a:t>Google Docs Integration</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Read/write documents</a:t>
            </a:r>
          </a:p>
          <a:p>
            <a:pPr>
              <a:spcAft>
                <a:spcPts val="1200"/>
              </a:spcAft>
              <a:defRPr sz="1800">
                <a:solidFill>
                  <a:srgbClr val="FFFFFF"/>
                </a:solidFill>
              </a:defRPr>
            </a:pPr>
            <a:r>
              <a:t>  Suggest edits inline</a:t>
            </a:r>
          </a:p>
          <a:p>
            <a:pPr>
              <a:spcAft>
                <a:spcPts val="1200"/>
              </a:spcAft>
              <a:defRPr sz="1800">
                <a:solidFill>
                  <a:srgbClr val="FFFFFF"/>
                </a:solidFill>
              </a:defRPr>
            </a:pPr>
            <a:r>
              <a:t>  Collaborate on drafts</a:t>
            </a:r>
          </a:p>
          <a:p>
            <a:pPr>
              <a:spcAft>
                <a:spcPts val="1200"/>
              </a:spcAft>
              <a:defRPr sz="1800">
                <a:solidFill>
                  <a:srgbClr val="FFFFFF"/>
                </a:solidFill>
              </a:defRPr>
            </a:pPr>
            <a:r>
              <a:t>  Format and structure</a:t>
            </a:r>
          </a:p>
          <a:p>
            <a:pPr>
              <a:spcAft>
                <a:spcPts val="1200"/>
              </a:spcAft>
              <a:defRPr sz="1800">
                <a:solidFill>
                  <a:srgbClr val="FFFFFF"/>
                </a:solidFill>
              </a:defRPr>
            </a:pPr>
            <a:r>
              <a:t>  Best for: Writers, teams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rPr dirty="0"/>
              <a:t>Integrations vs File Upload</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Use Integrations When</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Document/code changes frequently</a:t>
            </a:r>
          </a:p>
          <a:p>
            <a:pPr>
              <a:spcAft>
                <a:spcPts val="1200"/>
              </a:spcAft>
              <a:defRPr sz="1800">
                <a:solidFill>
                  <a:srgbClr val="FFFFFF"/>
                </a:solidFill>
              </a:defRPr>
            </a:pPr>
            <a:r>
              <a:t>  Want to write back (Google Docs)</a:t>
            </a:r>
          </a:p>
          <a:p>
            <a:pPr>
              <a:spcAft>
                <a:spcPts val="1200"/>
              </a:spcAft>
              <a:defRPr sz="1800">
                <a:solidFill>
                  <a:srgbClr val="FFFFFF"/>
                </a:solidFill>
              </a:defRPr>
            </a:pPr>
            <a:r>
              <a:t>  Working with large repos (GitHub)</a:t>
            </a:r>
          </a:p>
          <a:p>
            <a:pPr>
              <a:spcAft>
                <a:spcPts val="1200"/>
              </a:spcAft>
              <a:defRPr sz="1800">
                <a:solidFill>
                  <a:srgbClr val="FFFFFF"/>
                </a:solidFill>
              </a:defRPr>
            </a:pPr>
            <a:r>
              <a:t>  Collaborating with team</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10B981"/>
                </a:solidFill>
              </a:defRPr>
            </a:pPr>
            <a:r>
              <a:t>Use File Upload When</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One-time analysis</a:t>
            </a:r>
          </a:p>
          <a:p>
            <a:pPr>
              <a:spcAft>
                <a:spcPts val="1200"/>
              </a:spcAft>
              <a:defRPr sz="1800">
                <a:solidFill>
                  <a:srgbClr val="FFFFFF"/>
                </a:solidFill>
              </a:defRPr>
            </a:pPr>
            <a:r>
              <a:t>  File is final/static</a:t>
            </a:r>
          </a:p>
          <a:p>
            <a:pPr>
              <a:spcAft>
                <a:spcPts val="1200"/>
              </a:spcAft>
              <a:defRPr sz="1800">
                <a:solidFill>
                  <a:srgbClr val="FFFFFF"/>
                </a:solidFill>
              </a:defRPr>
            </a:pPr>
            <a:r>
              <a:t>  Non-integrated tool</a:t>
            </a:r>
          </a:p>
          <a:p>
            <a:pPr>
              <a:spcAft>
                <a:spcPts val="1200"/>
              </a:spcAft>
              <a:defRPr sz="1800">
                <a:solidFill>
                  <a:srgbClr val="FFFFFF"/>
                </a:solidFill>
              </a:defRPr>
            </a:pPr>
            <a:r>
              <a:t>  Need to compare multiple sources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none">
            <a:spAutoFit/>
          </a:bodyPr>
          <a:lstStyle/>
          <a:p>
            <a:pPr>
              <a:defRPr sz="4000" b="1">
                <a:solidFill>
                  <a:srgbClr val="FFFFFF"/>
                </a:solidFill>
              </a:defRPr>
            </a:pPr>
            <a:r>
              <a:t>Claude in PowerPoint</a:t>
            </a:r>
          </a:p>
        </p:txBody>
      </p:sp>
      <p:sp>
        <p:nvSpPr>
          <p:cNvPr id="3" name="TextBox 2"/>
          <p:cNvSpPr txBox="1"/>
          <p:nvPr/>
        </p:nvSpPr>
        <p:spPr>
          <a:xfrm>
            <a:off x="457200" y="1005840"/>
            <a:ext cx="11247120" cy="457200"/>
          </a:xfrm>
          <a:prstGeom prst="rect">
            <a:avLst/>
          </a:prstGeom>
          <a:noFill/>
        </p:spPr>
        <p:txBody>
          <a:bodyPr wrap="none">
            <a:spAutoFit/>
          </a:bodyPr>
          <a:lstStyle/>
          <a:p>
            <a:pPr>
              <a:defRPr sz="1800" i="1">
                <a:solidFill>
                  <a:srgbClr val="14B8A6"/>
                </a:solidFill>
              </a:defRPr>
            </a:pPr>
            <a:r>
              <a:t>Research Preview  •  Available for Max, Team, and Enterprise</a:t>
            </a:r>
          </a:p>
        </p:txBody>
      </p:sp>
      <p:sp>
        <p:nvSpPr>
          <p:cNvPr id="4" name="Rounded Rectangle 3"/>
          <p:cNvSpPr/>
          <p:nvPr/>
        </p:nvSpPr>
        <p:spPr>
          <a:xfrm>
            <a:off x="457200" y="1737360"/>
            <a:ext cx="3474720" cy="320040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20240"/>
            <a:ext cx="3108960" cy="457200"/>
          </a:xfrm>
          <a:prstGeom prst="rect">
            <a:avLst/>
          </a:prstGeom>
          <a:noFill/>
        </p:spPr>
        <p:txBody>
          <a:bodyPr wrap="none">
            <a:spAutoFit/>
          </a:bodyPr>
          <a:lstStyle/>
          <a:p>
            <a:pPr algn="ctr">
              <a:defRPr sz="3000"/>
            </a:pPr>
            <a:r>
              <a:t>🎨</a:t>
            </a:r>
          </a:p>
        </p:txBody>
      </p:sp>
      <p:sp>
        <p:nvSpPr>
          <p:cNvPr id="6" name="TextBox 5"/>
          <p:cNvSpPr txBox="1"/>
          <p:nvPr/>
        </p:nvSpPr>
        <p:spPr>
          <a:xfrm>
            <a:off x="640080" y="2377440"/>
            <a:ext cx="3108960" cy="457200"/>
          </a:xfrm>
          <a:prstGeom prst="rect">
            <a:avLst/>
          </a:prstGeom>
          <a:noFill/>
        </p:spPr>
        <p:txBody>
          <a:bodyPr wrap="none">
            <a:spAutoFit/>
          </a:bodyPr>
          <a:lstStyle/>
          <a:p>
            <a:pPr algn="ctr">
              <a:defRPr sz="2000" b="1">
                <a:solidFill>
                  <a:srgbClr val="FFFFFF"/>
                </a:solidFill>
              </a:defRPr>
            </a:pPr>
            <a:r>
              <a:t>Build &amp; Design</a:t>
            </a:r>
          </a:p>
        </p:txBody>
      </p:sp>
      <p:sp>
        <p:nvSpPr>
          <p:cNvPr id="7" name="TextBox 6"/>
          <p:cNvSpPr txBox="1"/>
          <p:nvPr/>
        </p:nvSpPr>
        <p:spPr>
          <a:xfrm>
            <a:off x="640080" y="2926080"/>
            <a:ext cx="3108960" cy="1828800"/>
          </a:xfrm>
          <a:prstGeom prst="rect">
            <a:avLst/>
          </a:prstGeom>
          <a:noFill/>
        </p:spPr>
        <p:txBody>
          <a:bodyPr wrap="square">
            <a:spAutoFit/>
          </a:bodyPr>
          <a:lstStyle/>
          <a:p>
            <a:pPr algn="ctr">
              <a:defRPr sz="1400">
                <a:solidFill>
                  <a:srgbClr val="D1D5DB"/>
                </a:solidFill>
              </a:defRPr>
            </a:pPr>
            <a:r>
              <a:t>Create new slides from</a:t>
            </a:r>
            <a:br/>
            <a:r>
              <a:t>a prompt or outline</a:t>
            </a:r>
            <a:br/>
            <a:r>
              <a:t>Apply consistent branding</a:t>
            </a:r>
            <a:br/>
            <a:r>
              <a:t>Redesign existing decks</a:t>
            </a:r>
            <a:br/>
            <a:r>
              <a:t>Powered by Opus 4.6</a:t>
            </a:r>
          </a:p>
        </p:txBody>
      </p:sp>
      <p:sp>
        <p:nvSpPr>
          <p:cNvPr id="8" name="Rounded Rectangle 7"/>
          <p:cNvSpPr/>
          <p:nvPr/>
        </p:nvSpPr>
        <p:spPr>
          <a:xfrm>
            <a:off x="4206240" y="1737360"/>
            <a:ext cx="3474720" cy="320040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0" y="1920240"/>
            <a:ext cx="3108960" cy="457200"/>
          </a:xfrm>
          <a:prstGeom prst="rect">
            <a:avLst/>
          </a:prstGeom>
          <a:noFill/>
        </p:spPr>
        <p:txBody>
          <a:bodyPr wrap="none">
            <a:spAutoFit/>
          </a:bodyPr>
          <a:lstStyle/>
          <a:p>
            <a:pPr algn="ctr">
              <a:defRPr sz="3000"/>
            </a:pPr>
            <a:r>
              <a:t>📝</a:t>
            </a:r>
          </a:p>
        </p:txBody>
      </p:sp>
      <p:sp>
        <p:nvSpPr>
          <p:cNvPr id="10" name="TextBox 9"/>
          <p:cNvSpPr txBox="1"/>
          <p:nvPr/>
        </p:nvSpPr>
        <p:spPr>
          <a:xfrm>
            <a:off x="4389120" y="2377440"/>
            <a:ext cx="3108960" cy="457200"/>
          </a:xfrm>
          <a:prstGeom prst="rect">
            <a:avLst/>
          </a:prstGeom>
          <a:noFill/>
        </p:spPr>
        <p:txBody>
          <a:bodyPr wrap="none">
            <a:spAutoFit/>
          </a:bodyPr>
          <a:lstStyle/>
          <a:p>
            <a:pPr algn="ctr">
              <a:defRPr sz="2000" b="1">
                <a:solidFill>
                  <a:srgbClr val="FFFFFF"/>
                </a:solidFill>
              </a:defRPr>
            </a:pPr>
            <a:r>
              <a:t>Edit &amp; Refine</a:t>
            </a:r>
          </a:p>
        </p:txBody>
      </p:sp>
      <p:sp>
        <p:nvSpPr>
          <p:cNvPr id="11" name="TextBox 10"/>
          <p:cNvSpPr txBox="1"/>
          <p:nvPr/>
        </p:nvSpPr>
        <p:spPr>
          <a:xfrm>
            <a:off x="4389120" y="2926080"/>
            <a:ext cx="3108960" cy="1828800"/>
          </a:xfrm>
          <a:prstGeom prst="rect">
            <a:avLst/>
          </a:prstGeom>
          <a:noFill/>
        </p:spPr>
        <p:txBody>
          <a:bodyPr wrap="square">
            <a:spAutoFit/>
          </a:bodyPr>
          <a:lstStyle/>
          <a:p>
            <a:pPr algn="ctr">
              <a:defRPr sz="1400">
                <a:solidFill>
                  <a:srgbClr val="D1D5DB"/>
                </a:solidFill>
              </a:defRPr>
            </a:pPr>
            <a:r>
              <a:t>Rewrite slide content</a:t>
            </a:r>
            <a:br/>
            <a:r>
              <a:t>Fix formatting issues</a:t>
            </a:r>
            <a:br/>
            <a:r>
              <a:t>Improve data visualizations</a:t>
            </a:r>
            <a:br/>
            <a:r>
              <a:t>Condense or expand sections</a:t>
            </a:r>
            <a:br/>
            <a:r>
              <a:t>Maintain brand guidelines</a:t>
            </a:r>
          </a:p>
        </p:txBody>
      </p:sp>
      <p:sp>
        <p:nvSpPr>
          <p:cNvPr id="12" name="Rounded Rectangle 11"/>
          <p:cNvSpPr/>
          <p:nvPr/>
        </p:nvSpPr>
        <p:spPr>
          <a:xfrm>
            <a:off x="7955279" y="1737360"/>
            <a:ext cx="3474720" cy="320040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38159" y="1920240"/>
            <a:ext cx="3108960" cy="457200"/>
          </a:xfrm>
          <a:prstGeom prst="rect">
            <a:avLst/>
          </a:prstGeom>
          <a:noFill/>
        </p:spPr>
        <p:txBody>
          <a:bodyPr wrap="none">
            <a:spAutoFit/>
          </a:bodyPr>
          <a:lstStyle/>
          <a:p>
            <a:pPr algn="ctr">
              <a:defRPr sz="3000"/>
            </a:pPr>
            <a:r>
              <a:t>💡</a:t>
            </a:r>
          </a:p>
        </p:txBody>
      </p:sp>
      <p:sp>
        <p:nvSpPr>
          <p:cNvPr id="14" name="TextBox 13"/>
          <p:cNvSpPr txBox="1"/>
          <p:nvPr/>
        </p:nvSpPr>
        <p:spPr>
          <a:xfrm>
            <a:off x="8138159" y="2377440"/>
            <a:ext cx="3108960" cy="457200"/>
          </a:xfrm>
          <a:prstGeom prst="rect">
            <a:avLst/>
          </a:prstGeom>
          <a:noFill/>
        </p:spPr>
        <p:txBody>
          <a:bodyPr wrap="none">
            <a:spAutoFit/>
          </a:bodyPr>
          <a:lstStyle/>
          <a:p>
            <a:pPr algn="ctr">
              <a:defRPr sz="2000" b="1">
                <a:solidFill>
                  <a:srgbClr val="FFFFFF"/>
                </a:solidFill>
              </a:defRPr>
            </a:pPr>
            <a:r>
              <a:t>Analyze &amp; Advise</a:t>
            </a:r>
          </a:p>
        </p:txBody>
      </p:sp>
      <p:sp>
        <p:nvSpPr>
          <p:cNvPr id="15" name="TextBox 14"/>
          <p:cNvSpPr txBox="1"/>
          <p:nvPr/>
        </p:nvSpPr>
        <p:spPr>
          <a:xfrm>
            <a:off x="8138159" y="2926080"/>
            <a:ext cx="3108960" cy="1828800"/>
          </a:xfrm>
          <a:prstGeom prst="rect">
            <a:avLst/>
          </a:prstGeom>
          <a:noFill/>
        </p:spPr>
        <p:txBody>
          <a:bodyPr wrap="square">
            <a:spAutoFit/>
          </a:bodyPr>
          <a:lstStyle/>
          <a:p>
            <a:pPr algn="ctr">
              <a:defRPr sz="1400">
                <a:solidFill>
                  <a:srgbClr val="D1D5DB"/>
                </a:solidFill>
              </a:defRPr>
            </a:pPr>
            <a:r>
              <a:t>Review your deck for</a:t>
            </a:r>
            <a:br/>
            <a:r>
              <a:t>clarity and flow</a:t>
            </a:r>
            <a:br/>
            <a:r>
              <a:t>Suggest better layouts</a:t>
            </a:r>
            <a:br/>
            <a:r>
              <a:t>Extract key messages</a:t>
            </a:r>
            <a:br/>
            <a:r>
              <a:t>Prepare speaker notes</a:t>
            </a:r>
          </a:p>
        </p:txBody>
      </p:sp>
      <p:sp>
        <p:nvSpPr>
          <p:cNvPr id="16" name="Rounded Rectangle 15"/>
          <p:cNvSpPr/>
          <p:nvPr/>
        </p:nvSpPr>
        <p:spPr>
          <a:xfrm>
            <a:off x="457200" y="5212080"/>
            <a:ext cx="11247120" cy="731520"/>
          </a:xfrm>
          <a:prstGeom prst="roundRect">
            <a:avLst/>
          </a:prstGeom>
          <a:solidFill>
            <a:srgbClr val="141A2A"/>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5303520"/>
            <a:ext cx="10698480" cy="548640"/>
          </a:xfrm>
          <a:prstGeom prst="rect">
            <a:avLst/>
          </a:prstGeom>
          <a:noFill/>
        </p:spPr>
        <p:txBody>
          <a:bodyPr wrap="square">
            <a:spAutoFit/>
          </a:bodyPr>
          <a:lstStyle/>
          <a:p>
            <a:pPr algn="ctr">
              <a:defRPr sz="1500">
                <a:solidFill>
                  <a:srgbClr val="9CA3AF"/>
                </a:solidFill>
              </a:defRPr>
            </a:pPr>
            <a:r>
              <a:t>Claude now integrates directly into Excel, PowerPoint, and Google Docs — your AI assistant lives inside the tools you already use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4000" b="1">
                <a:solidFill>
                  <a:srgbClr val="FFFFFF"/>
                </a:solidFill>
              </a:defRPr>
            </a:pPr>
            <a:r>
              <a:t>Claude for Chrome</a:t>
            </a:r>
          </a:p>
        </p:txBody>
      </p:sp>
      <p:sp>
        <p:nvSpPr>
          <p:cNvPr id="3" name="TextBox 2"/>
          <p:cNvSpPr txBox="1"/>
          <p:nvPr/>
        </p:nvSpPr>
        <p:spPr>
          <a:xfrm>
            <a:off x="457200" y="1005840"/>
            <a:ext cx="11247120" cy="457200"/>
          </a:xfrm>
          <a:prstGeom prst="rect">
            <a:avLst/>
          </a:prstGeom>
          <a:noFill/>
        </p:spPr>
        <p:txBody>
          <a:bodyPr wrap="none">
            <a:spAutoFit/>
          </a:bodyPr>
          <a:lstStyle/>
          <a:p>
            <a:pPr>
              <a:defRPr sz="1800" i="1">
                <a:solidFill>
                  <a:srgbClr val="9CA3AF"/>
                </a:solidFill>
              </a:defRPr>
            </a:pPr>
            <a:r>
              <a:t>AI assistant in your browser side panel — sees your screen, acts on any webpage</a:t>
            </a:r>
          </a:p>
        </p:txBody>
      </p:sp>
      <p:sp>
        <p:nvSpPr>
          <p:cNvPr id="4" name="Rounded Rectangle 3"/>
          <p:cNvSpPr/>
          <p:nvPr/>
        </p:nvSpPr>
        <p:spPr>
          <a:xfrm>
            <a:off x="457200" y="1737360"/>
            <a:ext cx="3474720" cy="347472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20240"/>
            <a:ext cx="3108960" cy="457200"/>
          </a:xfrm>
          <a:prstGeom prst="rect">
            <a:avLst/>
          </a:prstGeom>
          <a:noFill/>
        </p:spPr>
        <p:txBody>
          <a:bodyPr wrap="none">
            <a:spAutoFit/>
          </a:bodyPr>
          <a:lstStyle/>
          <a:p>
            <a:pPr algn="ctr">
              <a:defRPr sz="3000"/>
            </a:pPr>
            <a:r>
              <a:t>🌐</a:t>
            </a:r>
          </a:p>
        </p:txBody>
      </p:sp>
      <p:sp>
        <p:nvSpPr>
          <p:cNvPr id="6" name="TextBox 5"/>
          <p:cNvSpPr txBox="1"/>
          <p:nvPr/>
        </p:nvSpPr>
        <p:spPr>
          <a:xfrm>
            <a:off x="640080" y="2377440"/>
            <a:ext cx="3108960" cy="457200"/>
          </a:xfrm>
          <a:prstGeom prst="rect">
            <a:avLst/>
          </a:prstGeom>
          <a:noFill/>
        </p:spPr>
        <p:txBody>
          <a:bodyPr wrap="none">
            <a:spAutoFit/>
          </a:bodyPr>
          <a:lstStyle/>
          <a:p>
            <a:pPr algn="ctr">
              <a:defRPr sz="2000" b="1">
                <a:solidFill>
                  <a:srgbClr val="FFFFFF"/>
                </a:solidFill>
              </a:defRPr>
            </a:pPr>
            <a:r>
              <a:t>Browse with AI</a:t>
            </a:r>
          </a:p>
        </p:txBody>
      </p:sp>
      <p:sp>
        <p:nvSpPr>
          <p:cNvPr id="7" name="TextBox 6"/>
          <p:cNvSpPr txBox="1"/>
          <p:nvPr/>
        </p:nvSpPr>
        <p:spPr>
          <a:xfrm>
            <a:off x="640080" y="2926080"/>
            <a:ext cx="3108960" cy="2011680"/>
          </a:xfrm>
          <a:prstGeom prst="rect">
            <a:avLst/>
          </a:prstGeom>
          <a:noFill/>
        </p:spPr>
        <p:txBody>
          <a:bodyPr wrap="square">
            <a:spAutoFit/>
          </a:bodyPr>
          <a:lstStyle/>
          <a:p>
            <a:pPr algn="ctr">
              <a:defRPr sz="1400">
                <a:solidFill>
                  <a:srgbClr val="D1D5DB"/>
                </a:solidFill>
              </a:defRPr>
            </a:pPr>
            <a:r>
              <a:t>Side panel stays open</a:t>
            </a:r>
            <a:br/>
            <a:r>
              <a:t>while you browse.</a:t>
            </a:r>
            <a:br/>
            <a:r>
              <a:t>Ask questions about</a:t>
            </a:r>
            <a:br/>
            <a:r>
              <a:t>any page you're viewing.</a:t>
            </a:r>
            <a:br/>
            <a:r>
              <a:t>No copy-paste needed.</a:t>
            </a:r>
          </a:p>
        </p:txBody>
      </p:sp>
      <p:sp>
        <p:nvSpPr>
          <p:cNvPr id="8" name="Rounded Rectangle 7"/>
          <p:cNvSpPr/>
          <p:nvPr/>
        </p:nvSpPr>
        <p:spPr>
          <a:xfrm>
            <a:off x="4206240" y="1737360"/>
            <a:ext cx="3474720" cy="347472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920240"/>
            <a:ext cx="3108960" cy="457200"/>
          </a:xfrm>
          <a:prstGeom prst="rect">
            <a:avLst/>
          </a:prstGeom>
          <a:noFill/>
        </p:spPr>
        <p:txBody>
          <a:bodyPr wrap="none">
            <a:spAutoFit/>
          </a:bodyPr>
          <a:lstStyle/>
          <a:p>
            <a:pPr algn="ctr">
              <a:defRPr sz="3000"/>
            </a:pPr>
            <a:r>
              <a:t>📋</a:t>
            </a:r>
          </a:p>
        </p:txBody>
      </p:sp>
      <p:sp>
        <p:nvSpPr>
          <p:cNvPr id="10" name="TextBox 9"/>
          <p:cNvSpPr txBox="1"/>
          <p:nvPr/>
        </p:nvSpPr>
        <p:spPr>
          <a:xfrm>
            <a:off x="4389120" y="2377440"/>
            <a:ext cx="3108960" cy="457200"/>
          </a:xfrm>
          <a:prstGeom prst="rect">
            <a:avLst/>
          </a:prstGeom>
          <a:noFill/>
        </p:spPr>
        <p:txBody>
          <a:bodyPr wrap="none">
            <a:spAutoFit/>
          </a:bodyPr>
          <a:lstStyle/>
          <a:p>
            <a:pPr algn="ctr">
              <a:defRPr sz="2000" b="1">
                <a:solidFill>
                  <a:srgbClr val="FFFFFF"/>
                </a:solidFill>
              </a:defRPr>
            </a:pPr>
            <a:r>
              <a:t>Summarize &amp; Extract</a:t>
            </a:r>
          </a:p>
        </p:txBody>
      </p:sp>
      <p:sp>
        <p:nvSpPr>
          <p:cNvPr id="11" name="TextBox 10"/>
          <p:cNvSpPr txBox="1"/>
          <p:nvPr/>
        </p:nvSpPr>
        <p:spPr>
          <a:xfrm>
            <a:off x="4389120" y="2926080"/>
            <a:ext cx="3108960" cy="2011680"/>
          </a:xfrm>
          <a:prstGeom prst="rect">
            <a:avLst/>
          </a:prstGeom>
          <a:noFill/>
        </p:spPr>
        <p:txBody>
          <a:bodyPr wrap="square">
            <a:spAutoFit/>
          </a:bodyPr>
          <a:lstStyle/>
          <a:p>
            <a:pPr algn="ctr">
              <a:defRPr sz="1400">
                <a:solidFill>
                  <a:srgbClr val="D1D5DB"/>
                </a:solidFill>
              </a:defRPr>
            </a:pPr>
            <a:r>
              <a:t>Summarize long articles</a:t>
            </a:r>
            <a:br/>
            <a:r>
              <a:t>Extract key data points</a:t>
            </a:r>
            <a:br/>
            <a:r>
              <a:t>Compare across tabs</a:t>
            </a:r>
            <a:br/>
            <a:r>
              <a:t>Pull info from tables</a:t>
            </a:r>
            <a:br/>
            <a:r>
              <a:t>Research in half the time</a:t>
            </a:r>
          </a:p>
        </p:txBody>
      </p:sp>
      <p:sp>
        <p:nvSpPr>
          <p:cNvPr id="12" name="Rounded Rectangle 11"/>
          <p:cNvSpPr/>
          <p:nvPr/>
        </p:nvSpPr>
        <p:spPr>
          <a:xfrm>
            <a:off x="7955279" y="1737360"/>
            <a:ext cx="3474720" cy="347472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1920240"/>
            <a:ext cx="3108960" cy="457200"/>
          </a:xfrm>
          <a:prstGeom prst="rect">
            <a:avLst/>
          </a:prstGeom>
          <a:noFill/>
        </p:spPr>
        <p:txBody>
          <a:bodyPr wrap="none">
            <a:spAutoFit/>
          </a:bodyPr>
          <a:lstStyle/>
          <a:p>
            <a:pPr algn="ctr">
              <a:defRPr sz="3000"/>
            </a:pPr>
            <a:r>
              <a:t>⚡</a:t>
            </a:r>
          </a:p>
        </p:txBody>
      </p:sp>
      <p:sp>
        <p:nvSpPr>
          <p:cNvPr id="14" name="TextBox 13"/>
          <p:cNvSpPr txBox="1"/>
          <p:nvPr/>
        </p:nvSpPr>
        <p:spPr>
          <a:xfrm>
            <a:off x="8138159" y="2377440"/>
            <a:ext cx="3108960" cy="457200"/>
          </a:xfrm>
          <a:prstGeom prst="rect">
            <a:avLst/>
          </a:prstGeom>
          <a:noFill/>
        </p:spPr>
        <p:txBody>
          <a:bodyPr wrap="none">
            <a:spAutoFit/>
          </a:bodyPr>
          <a:lstStyle/>
          <a:p>
            <a:pPr algn="ctr">
              <a:defRPr sz="2000" b="1">
                <a:solidFill>
                  <a:srgbClr val="FFFFFF"/>
                </a:solidFill>
              </a:defRPr>
            </a:pPr>
            <a:r>
              <a:t>Automate Workflows</a:t>
            </a:r>
          </a:p>
        </p:txBody>
      </p:sp>
      <p:sp>
        <p:nvSpPr>
          <p:cNvPr id="15" name="TextBox 14"/>
          <p:cNvSpPr txBox="1"/>
          <p:nvPr/>
        </p:nvSpPr>
        <p:spPr>
          <a:xfrm>
            <a:off x="8138159" y="2926080"/>
            <a:ext cx="3108960" cy="2011680"/>
          </a:xfrm>
          <a:prstGeom prst="rect">
            <a:avLst/>
          </a:prstGeom>
          <a:noFill/>
        </p:spPr>
        <p:txBody>
          <a:bodyPr wrap="square">
            <a:spAutoFit/>
          </a:bodyPr>
          <a:lstStyle/>
          <a:p>
            <a:pPr algn="ctr">
              <a:defRPr sz="1400">
                <a:solidFill>
                  <a:srgbClr val="D1D5DB"/>
                </a:solidFill>
              </a:defRPr>
            </a:pPr>
            <a:r>
              <a:t>Fill out web forms</a:t>
            </a:r>
            <a:br/>
            <a:r>
              <a:t>Draft emails in Gmail</a:t>
            </a:r>
            <a:br/>
            <a:r>
              <a:t>Navigate complex sites</a:t>
            </a:r>
            <a:br/>
            <a:r>
              <a:t>Automate repetitive tasks</a:t>
            </a:r>
            <a:br/>
            <a:r>
              <a:t>Claude sees what you see</a:t>
            </a:r>
          </a:p>
        </p:txBody>
      </p:sp>
      <p:sp>
        <p:nvSpPr>
          <p:cNvPr id="16" name="TextBox 15"/>
          <p:cNvSpPr txBox="1"/>
          <p:nvPr/>
        </p:nvSpPr>
        <p:spPr>
          <a:xfrm>
            <a:off x="457200" y="5486400"/>
            <a:ext cx="11247120" cy="457200"/>
          </a:xfrm>
          <a:prstGeom prst="rect">
            <a:avLst/>
          </a:prstGeom>
          <a:noFill/>
        </p:spPr>
        <p:txBody>
          <a:bodyPr wrap="none">
            <a:spAutoFit/>
          </a:bodyPr>
          <a:lstStyle/>
          <a:p>
            <a:pPr algn="ctr">
              <a:defRPr sz="1500" i="1">
                <a:solidFill>
                  <a:srgbClr val="14B8A6"/>
                </a:solidFill>
              </a:defRPr>
            </a:pPr>
            <a:r>
              <a:t>Free Chrome extension  •  Install from Chrome Web Store  •  Works with your existing Claude account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pPr>
              <a:defRPr sz="4000" b="1">
                <a:solidFill>
                  <a:srgbClr val="FFFFFF"/>
                </a:solidFill>
              </a:defRPr>
            </a:pPr>
            <a:r>
              <a:t>Beyond Built-In: Custom Connectors</a:t>
            </a:r>
          </a:p>
        </p:txBody>
      </p:sp>
      <p:sp>
        <p:nvSpPr>
          <p:cNvPr id="3" name="TextBox 2"/>
          <p:cNvSpPr txBox="1"/>
          <p:nvPr/>
        </p:nvSpPr>
        <p:spPr>
          <a:xfrm>
            <a:off x="457200" y="1005840"/>
            <a:ext cx="11247120" cy="457200"/>
          </a:xfrm>
          <a:prstGeom prst="rect">
            <a:avLst/>
          </a:prstGeom>
          <a:noFill/>
        </p:spPr>
        <p:txBody>
          <a:bodyPr wrap="none">
            <a:spAutoFit/>
          </a:bodyPr>
          <a:lstStyle/>
          <a:p>
            <a:pPr>
              <a:defRPr sz="2000" i="1">
                <a:solidFill>
                  <a:srgbClr val="9CA3AF"/>
                </a:solidFill>
              </a:defRPr>
            </a:pPr>
            <a:r>
              <a:t>Claude isn't limited to what ships out of the box</a:t>
            </a:r>
          </a:p>
        </p:txBody>
      </p:sp>
      <p:sp>
        <p:nvSpPr>
          <p:cNvPr id="4" name="Rounded Rectangle 3"/>
          <p:cNvSpPr/>
          <p:nvPr/>
        </p:nvSpPr>
        <p:spPr>
          <a:xfrm>
            <a:off x="457200" y="1737360"/>
            <a:ext cx="5303520" cy="411480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20240"/>
            <a:ext cx="4754880" cy="457200"/>
          </a:xfrm>
          <a:prstGeom prst="rect">
            <a:avLst/>
          </a:prstGeom>
          <a:noFill/>
        </p:spPr>
        <p:txBody>
          <a:bodyPr wrap="none">
            <a:spAutoFit/>
          </a:bodyPr>
          <a:lstStyle/>
          <a:p>
            <a:pPr algn="ctr">
              <a:defRPr sz="3000"/>
            </a:pPr>
            <a:r>
              <a:t>🔌</a:t>
            </a:r>
          </a:p>
        </p:txBody>
      </p:sp>
      <p:sp>
        <p:nvSpPr>
          <p:cNvPr id="6" name="TextBox 5"/>
          <p:cNvSpPr txBox="1"/>
          <p:nvPr/>
        </p:nvSpPr>
        <p:spPr>
          <a:xfrm>
            <a:off x="731520" y="2377440"/>
            <a:ext cx="4754880" cy="457200"/>
          </a:xfrm>
          <a:prstGeom prst="rect">
            <a:avLst/>
          </a:prstGeom>
          <a:noFill/>
        </p:spPr>
        <p:txBody>
          <a:bodyPr wrap="none">
            <a:spAutoFit/>
          </a:bodyPr>
          <a:lstStyle/>
          <a:p>
            <a:pPr algn="ctr">
              <a:defRPr sz="2200" b="1">
                <a:solidFill>
                  <a:srgbClr val="FFFFFF"/>
                </a:solidFill>
              </a:defRPr>
            </a:pPr>
            <a:r>
              <a:t>Integrations Panel</a:t>
            </a:r>
          </a:p>
        </p:txBody>
      </p:sp>
      <p:sp>
        <p:nvSpPr>
          <p:cNvPr id="7" name="TextBox 6"/>
          <p:cNvSpPr txBox="1"/>
          <p:nvPr/>
        </p:nvSpPr>
        <p:spPr>
          <a:xfrm>
            <a:off x="731520" y="2834640"/>
            <a:ext cx="4754880" cy="457200"/>
          </a:xfrm>
          <a:prstGeom prst="rect">
            <a:avLst/>
          </a:prstGeom>
          <a:noFill/>
        </p:spPr>
        <p:txBody>
          <a:bodyPr wrap="none">
            <a:spAutoFit/>
          </a:bodyPr>
          <a:lstStyle/>
          <a:p>
            <a:pPr algn="ctr">
              <a:defRPr sz="1500" i="1">
                <a:solidFill>
                  <a:srgbClr val="14B8A6"/>
                </a:solidFill>
              </a:defRPr>
            </a:pPr>
            <a:r>
              <a:t>Connect Claude to tools</a:t>
            </a:r>
            <a:br/>
            <a:r>
              <a:t>you already use:</a:t>
            </a:r>
          </a:p>
        </p:txBody>
      </p:sp>
      <p:sp>
        <p:nvSpPr>
          <p:cNvPr id="8" name="TextBox 7"/>
          <p:cNvSpPr txBox="1"/>
          <p:nvPr/>
        </p:nvSpPr>
        <p:spPr>
          <a:xfrm>
            <a:off x="731520" y="3383280"/>
            <a:ext cx="4754880" cy="2286000"/>
          </a:xfrm>
          <a:prstGeom prst="rect">
            <a:avLst/>
          </a:prstGeom>
          <a:noFill/>
        </p:spPr>
        <p:txBody>
          <a:bodyPr wrap="square">
            <a:spAutoFit/>
          </a:bodyPr>
          <a:lstStyle/>
          <a:p>
            <a:pPr algn="ctr">
              <a:defRPr sz="1500">
                <a:solidFill>
                  <a:srgbClr val="D1D5DB"/>
                </a:solidFill>
              </a:defRPr>
            </a:pPr>
            <a:r>
              <a:t>Slack  •  Notion  •  Jira</a:t>
            </a:r>
            <a:br/>
            <a:r>
              <a:t>Salesforce  •  Asana  •  Zapier</a:t>
            </a:r>
            <a:br/>
            <a:r>
              <a:t>Google Workspace  •  GitHub</a:t>
            </a:r>
            <a:br/>
            <a:br/>
            <a:r>
              <a:t>Enable in Settings → Integrations</a:t>
            </a:r>
            <a:br/>
            <a:r>
              <a:t>Claude pulls and pushes data</a:t>
            </a:r>
            <a:br/>
            <a:r>
              <a:t>directly — no switching apps</a:t>
            </a:r>
          </a:p>
        </p:txBody>
      </p:sp>
      <p:sp>
        <p:nvSpPr>
          <p:cNvPr id="9" name="Rounded Rectangle 8"/>
          <p:cNvSpPr/>
          <p:nvPr/>
        </p:nvSpPr>
        <p:spPr>
          <a:xfrm>
            <a:off x="6217920" y="1737360"/>
            <a:ext cx="5303520" cy="4114800"/>
          </a:xfrm>
          <a:prstGeom prst="roundRect">
            <a:avLst/>
          </a:prstGeom>
          <a:solidFill>
            <a:srgbClr val="141A2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4754880" cy="457200"/>
          </a:xfrm>
          <a:prstGeom prst="rect">
            <a:avLst/>
          </a:prstGeom>
          <a:noFill/>
        </p:spPr>
        <p:txBody>
          <a:bodyPr wrap="none">
            <a:spAutoFit/>
          </a:bodyPr>
          <a:lstStyle/>
          <a:p>
            <a:pPr algn="ctr">
              <a:defRPr sz="3000"/>
            </a:pPr>
            <a:r>
              <a:t>🔧</a:t>
            </a:r>
          </a:p>
        </p:txBody>
      </p:sp>
      <p:sp>
        <p:nvSpPr>
          <p:cNvPr id="11" name="TextBox 10"/>
          <p:cNvSpPr txBox="1"/>
          <p:nvPr/>
        </p:nvSpPr>
        <p:spPr>
          <a:xfrm>
            <a:off x="6492240" y="2377440"/>
            <a:ext cx="4754880" cy="457200"/>
          </a:xfrm>
          <a:prstGeom prst="rect">
            <a:avLst/>
          </a:prstGeom>
          <a:noFill/>
        </p:spPr>
        <p:txBody>
          <a:bodyPr wrap="none">
            <a:spAutoFit/>
          </a:bodyPr>
          <a:lstStyle/>
          <a:p>
            <a:pPr algn="ctr">
              <a:defRPr sz="2200" b="1">
                <a:solidFill>
                  <a:srgbClr val="FFFFFF"/>
                </a:solidFill>
              </a:defRPr>
            </a:pPr>
            <a:r>
              <a:t>Model Context Protocol (MCP)</a:t>
            </a:r>
          </a:p>
        </p:txBody>
      </p:sp>
      <p:sp>
        <p:nvSpPr>
          <p:cNvPr id="12" name="TextBox 11"/>
          <p:cNvSpPr txBox="1"/>
          <p:nvPr/>
        </p:nvSpPr>
        <p:spPr>
          <a:xfrm>
            <a:off x="6492240" y="2834640"/>
            <a:ext cx="4754880" cy="457200"/>
          </a:xfrm>
          <a:prstGeom prst="rect">
            <a:avLst/>
          </a:prstGeom>
          <a:noFill/>
        </p:spPr>
        <p:txBody>
          <a:bodyPr wrap="none">
            <a:spAutoFit/>
          </a:bodyPr>
          <a:lstStyle/>
          <a:p>
            <a:pPr algn="ctr">
              <a:defRPr sz="1500" i="1">
                <a:solidFill>
                  <a:srgbClr val="14B8A6"/>
                </a:solidFill>
              </a:defRPr>
            </a:pPr>
            <a:r>
              <a:t>Your IT team can build</a:t>
            </a:r>
            <a:br/>
            <a:r>
              <a:t>custom connectors:</a:t>
            </a:r>
          </a:p>
        </p:txBody>
      </p:sp>
      <p:sp>
        <p:nvSpPr>
          <p:cNvPr id="13" name="TextBox 12"/>
          <p:cNvSpPr txBox="1"/>
          <p:nvPr/>
        </p:nvSpPr>
        <p:spPr>
          <a:xfrm>
            <a:off x="6492240" y="3383280"/>
            <a:ext cx="4754880" cy="2286000"/>
          </a:xfrm>
          <a:prstGeom prst="rect">
            <a:avLst/>
          </a:prstGeom>
          <a:noFill/>
        </p:spPr>
        <p:txBody>
          <a:bodyPr wrap="square">
            <a:spAutoFit/>
          </a:bodyPr>
          <a:lstStyle/>
          <a:p>
            <a:pPr algn="ctr">
              <a:defRPr sz="1500">
                <a:solidFill>
                  <a:srgbClr val="D1D5DB"/>
                </a:solidFill>
              </a:defRPr>
            </a:pPr>
            <a:r>
              <a:t>Connect to internal databases</a:t>
            </a:r>
            <a:br/>
            <a:r>
              <a:t>Query proprietary APIs</a:t>
            </a:r>
            <a:br/>
            <a:r>
              <a:t>Access company knowledge bases</a:t>
            </a:r>
            <a:br/>
            <a:r>
              <a:t>Integrate with any system</a:t>
            </a:r>
            <a:br/>
            <a:br/>
            <a:r>
              <a:t>Open standard by Anthropic</a:t>
            </a:r>
            <a:br/>
            <a:r>
              <a:t>Growing ecosystem of connectors</a:t>
            </a:r>
            <a:br/>
            <a:r>
              <a:t>Technical deep-dive in Day 3</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Role-Specific Workflows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Claude in action for different jobs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Marketing Workflow</a:t>
            </a:r>
          </a:p>
        </p:txBody>
      </p:sp>
      <p:sp>
        <p:nvSpPr>
          <p:cNvPr id="3" name="Rounded Rectangle 2"/>
          <p:cNvSpPr/>
          <p:nvPr/>
        </p:nvSpPr>
        <p:spPr>
          <a:xfrm>
            <a:off x="2941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04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041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TextBox 5"/>
          <p:cNvSpPr txBox="1"/>
          <p:nvPr/>
        </p:nvSpPr>
        <p:spPr>
          <a:xfrm>
            <a:off x="2941167" y="1371600"/>
            <a:ext cx="822960" cy="822960"/>
          </a:xfrm>
          <a:prstGeom prst="rect">
            <a:avLst/>
          </a:prstGeom>
          <a:noFill/>
        </p:spPr>
        <p:txBody>
          <a:bodyPr wrap="none" anchor="ctr">
            <a:spAutoFit/>
          </a:bodyPr>
          <a:lstStyle/>
          <a:p>
            <a:pPr algn="ctr">
              <a:defRPr sz="2800" b="1">
                <a:solidFill>
                  <a:srgbClr val="00D4AA"/>
                </a:solidFill>
              </a:defRPr>
            </a:pPr>
            <a:r>
              <a:t>1</a:t>
            </a:r>
          </a:p>
        </p:txBody>
      </p:sp>
      <p:sp>
        <p:nvSpPr>
          <p:cNvPr id="7" name="Right Arrow 6"/>
          <p:cNvSpPr/>
          <p:nvPr/>
        </p:nvSpPr>
        <p:spPr>
          <a:xfrm>
            <a:off x="3855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12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975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757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1" name="TextBox 10"/>
          <p:cNvSpPr txBox="1"/>
          <p:nvPr/>
        </p:nvSpPr>
        <p:spPr>
          <a:xfrm>
            <a:off x="4312767" y="1371600"/>
            <a:ext cx="822960" cy="822960"/>
          </a:xfrm>
          <a:prstGeom prst="rect">
            <a:avLst/>
          </a:prstGeom>
          <a:noFill/>
        </p:spPr>
        <p:txBody>
          <a:bodyPr wrap="none" anchor="ctr">
            <a:spAutoFit/>
          </a:bodyPr>
          <a:lstStyle/>
          <a:p>
            <a:pPr algn="ctr">
              <a:defRPr sz="2800" b="1">
                <a:solidFill>
                  <a:srgbClr val="00D4AA"/>
                </a:solidFill>
              </a:defRPr>
            </a:pPr>
            <a:r>
              <a:t>2</a:t>
            </a:r>
          </a:p>
        </p:txBody>
      </p:sp>
      <p:sp>
        <p:nvSpPr>
          <p:cNvPr id="12" name="Right Arrow 11"/>
          <p:cNvSpPr/>
          <p:nvPr/>
        </p:nvSpPr>
        <p:spPr>
          <a:xfrm>
            <a:off x="5227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84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47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73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6" name="TextBox 15"/>
          <p:cNvSpPr txBox="1"/>
          <p:nvPr/>
        </p:nvSpPr>
        <p:spPr>
          <a:xfrm>
            <a:off x="5684367" y="1371600"/>
            <a:ext cx="822960" cy="822960"/>
          </a:xfrm>
          <a:prstGeom prst="rect">
            <a:avLst/>
          </a:prstGeom>
          <a:noFill/>
        </p:spPr>
        <p:txBody>
          <a:bodyPr wrap="none" anchor="ctr">
            <a:spAutoFit/>
          </a:bodyPr>
          <a:lstStyle/>
          <a:p>
            <a:pPr algn="ctr">
              <a:defRPr sz="2800" b="1">
                <a:solidFill>
                  <a:srgbClr val="00D4AA"/>
                </a:solidFill>
              </a:defRPr>
            </a:pPr>
            <a:r>
              <a:t>3</a:t>
            </a:r>
          </a:p>
        </p:txBody>
      </p:sp>
      <p:sp>
        <p:nvSpPr>
          <p:cNvPr id="17" name="Right Arrow 16"/>
          <p:cNvSpPr/>
          <p:nvPr/>
        </p:nvSpPr>
        <p:spPr>
          <a:xfrm>
            <a:off x="6598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055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718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189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21" name="TextBox 20"/>
          <p:cNvSpPr txBox="1"/>
          <p:nvPr/>
        </p:nvSpPr>
        <p:spPr>
          <a:xfrm>
            <a:off x="7055967" y="1371600"/>
            <a:ext cx="822960" cy="822960"/>
          </a:xfrm>
          <a:prstGeom prst="rect">
            <a:avLst/>
          </a:prstGeom>
          <a:noFill/>
        </p:spPr>
        <p:txBody>
          <a:bodyPr wrap="none" anchor="ctr">
            <a:spAutoFit/>
          </a:bodyPr>
          <a:lstStyle/>
          <a:p>
            <a:pPr algn="ctr">
              <a:defRPr sz="2800" b="1">
                <a:solidFill>
                  <a:srgbClr val="00D4AA"/>
                </a:solidFill>
              </a:defRPr>
            </a:pPr>
            <a:r>
              <a:t>4</a:t>
            </a:r>
          </a:p>
        </p:txBody>
      </p:sp>
      <p:sp>
        <p:nvSpPr>
          <p:cNvPr id="22" name="Right Arrow 21"/>
          <p:cNvSpPr/>
          <p:nvPr/>
        </p:nvSpPr>
        <p:spPr>
          <a:xfrm>
            <a:off x="7970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427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090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90507" y="1211580"/>
            <a:ext cx="320040" cy="320040"/>
          </a:xfrm>
          <a:prstGeom prst="rect">
            <a:avLst/>
          </a:prstGeom>
          <a:noFill/>
        </p:spPr>
        <p:txBody>
          <a:bodyPr wrap="none" anchor="ctr">
            <a:spAutoFit/>
          </a:bodyPr>
          <a:lstStyle/>
          <a:p>
            <a:pPr algn="ctr">
              <a:defRPr sz="1400" b="1">
                <a:solidFill>
                  <a:srgbClr val="0B0F1A"/>
                </a:solidFill>
              </a:defRPr>
            </a:pPr>
            <a:r>
              <a:t>5</a:t>
            </a:r>
          </a:p>
        </p:txBody>
      </p:sp>
      <p:sp>
        <p:nvSpPr>
          <p:cNvPr id="26" name="TextBox 25"/>
          <p:cNvSpPr txBox="1"/>
          <p:nvPr/>
        </p:nvSpPr>
        <p:spPr>
          <a:xfrm>
            <a:off x="8427567" y="1371600"/>
            <a:ext cx="822960" cy="822960"/>
          </a:xfrm>
          <a:prstGeom prst="rect">
            <a:avLst/>
          </a:prstGeom>
          <a:noFill/>
        </p:spPr>
        <p:txBody>
          <a:bodyPr wrap="none" anchor="ctr">
            <a:spAutoFit/>
          </a:bodyPr>
          <a:lstStyle/>
          <a:p>
            <a:pPr algn="ctr">
              <a:defRPr sz="2800" b="1">
                <a:solidFill>
                  <a:srgbClr val="00D4AA"/>
                </a:solidFill>
              </a:defRPr>
            </a:pPr>
            <a:r>
              <a:t>5</a:t>
            </a:r>
          </a:p>
        </p:txBody>
      </p:sp>
      <p:sp>
        <p:nvSpPr>
          <p:cNvPr id="27" name="TextBox 26"/>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28" name="TextBox 27"/>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Upload competitor research PDFs</a:t>
            </a:r>
          </a:p>
        </p:txBody>
      </p:sp>
      <p:sp>
        <p:nvSpPr>
          <p:cNvPr id="29" name="TextBox 28"/>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30" name="TextBox 29"/>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Ask: 'Summarize their positioning'</a:t>
            </a:r>
          </a:p>
        </p:txBody>
      </p:sp>
      <p:sp>
        <p:nvSpPr>
          <p:cNvPr id="31" name="TextBox 30"/>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32" name="TextBox 31"/>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Request: 'Draft our differentiation message'</a:t>
            </a:r>
          </a:p>
        </p:txBody>
      </p:sp>
      <p:sp>
        <p:nvSpPr>
          <p:cNvPr id="33" name="TextBox 32"/>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34" name="TextBox 33"/>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Refine: 'Make it more concise'</a:t>
            </a:r>
          </a:p>
        </p:txBody>
      </p:sp>
      <p:sp>
        <p:nvSpPr>
          <p:cNvPr id="35" name="TextBox 34"/>
          <p:cNvSpPr txBox="1"/>
          <p:nvPr/>
        </p:nvSpPr>
        <p:spPr>
          <a:xfrm>
            <a:off x="1371600" y="5303520"/>
            <a:ext cx="457200" cy="457200"/>
          </a:xfrm>
          <a:prstGeom prst="rect">
            <a:avLst/>
          </a:prstGeom>
          <a:noFill/>
        </p:spPr>
        <p:txBody>
          <a:bodyPr wrap="none">
            <a:spAutoFit/>
          </a:bodyPr>
          <a:lstStyle/>
          <a:p>
            <a:pPr>
              <a:defRPr sz="2000" b="1">
                <a:solidFill>
                  <a:srgbClr val="00D4AA"/>
                </a:solidFill>
              </a:defRPr>
            </a:pPr>
            <a:r>
              <a:t>5</a:t>
            </a:r>
          </a:p>
        </p:txBody>
      </p:sp>
      <p:sp>
        <p:nvSpPr>
          <p:cNvPr id="36" name="TextBox 35"/>
          <p:cNvSpPr txBox="1"/>
          <p:nvPr/>
        </p:nvSpPr>
        <p:spPr>
          <a:xfrm>
            <a:off x="1828800" y="5303520"/>
            <a:ext cx="8991295" cy="548640"/>
          </a:xfrm>
          <a:prstGeom prst="rect">
            <a:avLst/>
          </a:prstGeom>
          <a:noFill/>
        </p:spPr>
        <p:txBody>
          <a:bodyPr wrap="square">
            <a:spAutoFit/>
          </a:bodyPr>
          <a:lstStyle/>
          <a:p>
            <a:pPr>
              <a:defRPr sz="1800">
                <a:solidFill>
                  <a:srgbClr val="FFFFFF"/>
                </a:solidFill>
              </a:defRPr>
            </a:pPr>
            <a:r>
              <a:t>Create: 'Turn into email campaign'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Sales Workflow</a:t>
            </a:r>
          </a:p>
        </p:txBody>
      </p:sp>
      <p:sp>
        <p:nvSpPr>
          <p:cNvPr id="3" name="Rounded Rectangle 2"/>
          <p:cNvSpPr/>
          <p:nvPr/>
        </p:nvSpPr>
        <p:spPr>
          <a:xfrm>
            <a:off x="2941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04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041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TextBox 5"/>
          <p:cNvSpPr txBox="1"/>
          <p:nvPr/>
        </p:nvSpPr>
        <p:spPr>
          <a:xfrm>
            <a:off x="2941167" y="1371600"/>
            <a:ext cx="822960" cy="822960"/>
          </a:xfrm>
          <a:prstGeom prst="rect">
            <a:avLst/>
          </a:prstGeom>
          <a:noFill/>
        </p:spPr>
        <p:txBody>
          <a:bodyPr wrap="none" anchor="ctr">
            <a:spAutoFit/>
          </a:bodyPr>
          <a:lstStyle/>
          <a:p>
            <a:pPr algn="ctr">
              <a:defRPr sz="2800" b="1">
                <a:solidFill>
                  <a:srgbClr val="00D4AA"/>
                </a:solidFill>
              </a:defRPr>
            </a:pPr>
            <a:r>
              <a:t>1</a:t>
            </a:r>
          </a:p>
        </p:txBody>
      </p:sp>
      <p:sp>
        <p:nvSpPr>
          <p:cNvPr id="7" name="Right Arrow 6"/>
          <p:cNvSpPr/>
          <p:nvPr/>
        </p:nvSpPr>
        <p:spPr>
          <a:xfrm>
            <a:off x="3855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12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975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757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1" name="TextBox 10"/>
          <p:cNvSpPr txBox="1"/>
          <p:nvPr/>
        </p:nvSpPr>
        <p:spPr>
          <a:xfrm>
            <a:off x="4312767" y="1371600"/>
            <a:ext cx="822960" cy="822960"/>
          </a:xfrm>
          <a:prstGeom prst="rect">
            <a:avLst/>
          </a:prstGeom>
          <a:noFill/>
        </p:spPr>
        <p:txBody>
          <a:bodyPr wrap="none" anchor="ctr">
            <a:spAutoFit/>
          </a:bodyPr>
          <a:lstStyle/>
          <a:p>
            <a:pPr algn="ctr">
              <a:defRPr sz="2800" b="1">
                <a:solidFill>
                  <a:srgbClr val="00D4AA"/>
                </a:solidFill>
              </a:defRPr>
            </a:pPr>
            <a:r>
              <a:t>2</a:t>
            </a:r>
          </a:p>
        </p:txBody>
      </p:sp>
      <p:sp>
        <p:nvSpPr>
          <p:cNvPr id="12" name="Right Arrow 11"/>
          <p:cNvSpPr/>
          <p:nvPr/>
        </p:nvSpPr>
        <p:spPr>
          <a:xfrm>
            <a:off x="5227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84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47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73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6" name="TextBox 15"/>
          <p:cNvSpPr txBox="1"/>
          <p:nvPr/>
        </p:nvSpPr>
        <p:spPr>
          <a:xfrm>
            <a:off x="5684367" y="1371600"/>
            <a:ext cx="822960" cy="822960"/>
          </a:xfrm>
          <a:prstGeom prst="rect">
            <a:avLst/>
          </a:prstGeom>
          <a:noFill/>
        </p:spPr>
        <p:txBody>
          <a:bodyPr wrap="none" anchor="ctr">
            <a:spAutoFit/>
          </a:bodyPr>
          <a:lstStyle/>
          <a:p>
            <a:pPr algn="ctr">
              <a:defRPr sz="2800" b="1">
                <a:solidFill>
                  <a:srgbClr val="00D4AA"/>
                </a:solidFill>
              </a:defRPr>
            </a:pPr>
            <a:r>
              <a:t>3</a:t>
            </a:r>
          </a:p>
        </p:txBody>
      </p:sp>
      <p:sp>
        <p:nvSpPr>
          <p:cNvPr id="17" name="Right Arrow 16"/>
          <p:cNvSpPr/>
          <p:nvPr/>
        </p:nvSpPr>
        <p:spPr>
          <a:xfrm>
            <a:off x="6598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055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718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189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21" name="TextBox 20"/>
          <p:cNvSpPr txBox="1"/>
          <p:nvPr/>
        </p:nvSpPr>
        <p:spPr>
          <a:xfrm>
            <a:off x="7055967" y="1371600"/>
            <a:ext cx="822960" cy="822960"/>
          </a:xfrm>
          <a:prstGeom prst="rect">
            <a:avLst/>
          </a:prstGeom>
          <a:noFill/>
        </p:spPr>
        <p:txBody>
          <a:bodyPr wrap="none" anchor="ctr">
            <a:spAutoFit/>
          </a:bodyPr>
          <a:lstStyle/>
          <a:p>
            <a:pPr algn="ctr">
              <a:defRPr sz="2800" b="1">
                <a:solidFill>
                  <a:srgbClr val="00D4AA"/>
                </a:solidFill>
              </a:defRPr>
            </a:pPr>
            <a:r>
              <a:t>4</a:t>
            </a:r>
          </a:p>
        </p:txBody>
      </p:sp>
      <p:sp>
        <p:nvSpPr>
          <p:cNvPr id="22" name="Right Arrow 21"/>
          <p:cNvSpPr/>
          <p:nvPr/>
        </p:nvSpPr>
        <p:spPr>
          <a:xfrm>
            <a:off x="7970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427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090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90507" y="1211580"/>
            <a:ext cx="320040" cy="320040"/>
          </a:xfrm>
          <a:prstGeom prst="rect">
            <a:avLst/>
          </a:prstGeom>
          <a:noFill/>
        </p:spPr>
        <p:txBody>
          <a:bodyPr wrap="none" anchor="ctr">
            <a:spAutoFit/>
          </a:bodyPr>
          <a:lstStyle/>
          <a:p>
            <a:pPr algn="ctr">
              <a:defRPr sz="1400" b="1">
                <a:solidFill>
                  <a:srgbClr val="0B0F1A"/>
                </a:solidFill>
              </a:defRPr>
            </a:pPr>
            <a:r>
              <a:t>5</a:t>
            </a:r>
          </a:p>
        </p:txBody>
      </p:sp>
      <p:sp>
        <p:nvSpPr>
          <p:cNvPr id="26" name="TextBox 25"/>
          <p:cNvSpPr txBox="1"/>
          <p:nvPr/>
        </p:nvSpPr>
        <p:spPr>
          <a:xfrm>
            <a:off x="8427567" y="1371600"/>
            <a:ext cx="822960" cy="822960"/>
          </a:xfrm>
          <a:prstGeom prst="rect">
            <a:avLst/>
          </a:prstGeom>
          <a:noFill/>
        </p:spPr>
        <p:txBody>
          <a:bodyPr wrap="none" anchor="ctr">
            <a:spAutoFit/>
          </a:bodyPr>
          <a:lstStyle/>
          <a:p>
            <a:pPr algn="ctr">
              <a:defRPr sz="2800" b="1">
                <a:solidFill>
                  <a:srgbClr val="00D4AA"/>
                </a:solidFill>
              </a:defRPr>
            </a:pPr>
            <a:r>
              <a:t>5</a:t>
            </a:r>
          </a:p>
        </p:txBody>
      </p:sp>
      <p:sp>
        <p:nvSpPr>
          <p:cNvPr id="27" name="TextBox 26"/>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28" name="TextBox 27"/>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Upload prospect company info</a:t>
            </a:r>
          </a:p>
        </p:txBody>
      </p:sp>
      <p:sp>
        <p:nvSpPr>
          <p:cNvPr id="29" name="TextBox 28"/>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30" name="TextBox 29"/>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Ask: 'What are their pain points?'</a:t>
            </a:r>
          </a:p>
        </p:txBody>
      </p:sp>
      <p:sp>
        <p:nvSpPr>
          <p:cNvPr id="31" name="TextBox 30"/>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32" name="TextBox 31"/>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Request: 'Draft personalized pitch'</a:t>
            </a:r>
          </a:p>
        </p:txBody>
      </p:sp>
      <p:sp>
        <p:nvSpPr>
          <p:cNvPr id="33" name="TextBox 32"/>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34" name="TextBox 33"/>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Create: 'Email sequence for follow-up'</a:t>
            </a:r>
          </a:p>
        </p:txBody>
      </p:sp>
      <p:sp>
        <p:nvSpPr>
          <p:cNvPr id="35" name="TextBox 34"/>
          <p:cNvSpPr txBox="1"/>
          <p:nvPr/>
        </p:nvSpPr>
        <p:spPr>
          <a:xfrm>
            <a:off x="1371600" y="5303520"/>
            <a:ext cx="457200" cy="457200"/>
          </a:xfrm>
          <a:prstGeom prst="rect">
            <a:avLst/>
          </a:prstGeom>
          <a:noFill/>
        </p:spPr>
        <p:txBody>
          <a:bodyPr wrap="none">
            <a:spAutoFit/>
          </a:bodyPr>
          <a:lstStyle/>
          <a:p>
            <a:pPr>
              <a:defRPr sz="2000" b="1">
                <a:solidFill>
                  <a:srgbClr val="00D4AA"/>
                </a:solidFill>
              </a:defRPr>
            </a:pPr>
            <a:r>
              <a:t>5</a:t>
            </a:r>
          </a:p>
        </p:txBody>
      </p:sp>
      <p:sp>
        <p:nvSpPr>
          <p:cNvPr id="36" name="TextBox 35"/>
          <p:cNvSpPr txBox="1"/>
          <p:nvPr/>
        </p:nvSpPr>
        <p:spPr>
          <a:xfrm>
            <a:off x="1828800" y="5303520"/>
            <a:ext cx="8991295" cy="548640"/>
          </a:xfrm>
          <a:prstGeom prst="rect">
            <a:avLst/>
          </a:prstGeom>
          <a:noFill/>
        </p:spPr>
        <p:txBody>
          <a:bodyPr wrap="square">
            <a:spAutoFit/>
          </a:bodyPr>
          <a:lstStyle/>
          <a:p>
            <a:pPr>
              <a:defRPr sz="1800">
                <a:solidFill>
                  <a:srgbClr val="FFFFFF"/>
                </a:solidFill>
              </a:defRPr>
            </a:pPr>
            <a:r>
              <a:t>Generate: 'Objection handling script'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ounded Rectangle 1"/>
          <p:cNvSpPr/>
          <p:nvPr/>
        </p:nvSpPr>
        <p:spPr>
          <a:xfrm>
            <a:off x="457200" y="365760"/>
            <a:ext cx="1097280" cy="4572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LAB 4</a:t>
            </a:r>
          </a:p>
        </p:txBody>
      </p:sp>
      <p:sp>
        <p:nvSpPr>
          <p:cNvPr id="3" name="TextBox 2"/>
          <p:cNvSpPr txBox="1"/>
          <p:nvPr/>
        </p:nvSpPr>
        <p:spPr>
          <a:xfrm>
            <a:off x="457200" y="1005840"/>
            <a:ext cx="11247120" cy="731520"/>
          </a:xfrm>
          <a:prstGeom prst="rect">
            <a:avLst/>
          </a:prstGeom>
          <a:noFill/>
        </p:spPr>
        <p:txBody>
          <a:bodyPr wrap="none">
            <a:spAutoFit/>
          </a:bodyPr>
          <a:lstStyle/>
          <a:p>
            <a:pPr>
              <a:defRPr sz="3600" b="1">
                <a:solidFill>
                  <a:srgbClr val="FFFFFF"/>
                </a:solidFill>
              </a:defRPr>
            </a:pPr>
            <a:r>
              <a:t>Executive Briefing Challenge</a:t>
            </a:r>
          </a:p>
        </p:txBody>
      </p:sp>
      <p:sp>
        <p:nvSpPr>
          <p:cNvPr id="4" name="TextBox 3"/>
          <p:cNvSpPr txBox="1"/>
          <p:nvPr/>
        </p:nvSpPr>
        <p:spPr>
          <a:xfrm>
            <a:off x="457200" y="1737360"/>
            <a:ext cx="11247120" cy="457200"/>
          </a:xfrm>
          <a:prstGeom prst="rect">
            <a:avLst/>
          </a:prstGeom>
          <a:noFill/>
        </p:spPr>
        <p:txBody>
          <a:bodyPr wrap="none">
            <a:spAutoFit/>
          </a:bodyPr>
          <a:lstStyle/>
          <a:p>
            <a:pPr>
              <a:defRPr sz="1800" i="1">
                <a:solidFill>
                  <a:srgbClr val="9CA3AF"/>
                </a:solidFill>
              </a:defRPr>
            </a:pPr>
            <a:r>
              <a:t>30 minutes  •  Tie it all together  •  Real deliverable you'll use Monday</a:t>
            </a:r>
          </a:p>
        </p:txBody>
      </p:sp>
      <p:sp>
        <p:nvSpPr>
          <p:cNvPr id="5" name="Rounded Rectangle 4"/>
          <p:cNvSpPr/>
          <p:nvPr/>
        </p:nvSpPr>
        <p:spPr>
          <a:xfrm>
            <a:off x="457200" y="2468880"/>
            <a:ext cx="356616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651760"/>
            <a:ext cx="3200400" cy="548640"/>
          </a:xfrm>
          <a:prstGeom prst="rect">
            <a:avLst/>
          </a:prstGeom>
          <a:noFill/>
        </p:spPr>
        <p:txBody>
          <a:bodyPr wrap="none">
            <a:spAutoFit/>
          </a:bodyPr>
          <a:lstStyle/>
          <a:p>
            <a:pPr algn="ctr">
              <a:defRPr sz="3000"/>
            </a:pPr>
            <a:r>
              <a:t>🗂️</a:t>
            </a:r>
          </a:p>
        </p:txBody>
      </p:sp>
      <p:sp>
        <p:nvSpPr>
          <p:cNvPr id="7" name="TextBox 6"/>
          <p:cNvSpPr txBox="1"/>
          <p:nvPr/>
        </p:nvSpPr>
        <p:spPr>
          <a:xfrm>
            <a:off x="640080" y="3200400"/>
            <a:ext cx="3200400" cy="457200"/>
          </a:xfrm>
          <a:prstGeom prst="rect">
            <a:avLst/>
          </a:prstGeom>
          <a:noFill/>
        </p:spPr>
        <p:txBody>
          <a:bodyPr wrap="none">
            <a:spAutoFit/>
          </a:bodyPr>
          <a:lstStyle/>
          <a:p>
            <a:pPr algn="ctr">
              <a:defRPr sz="1800" b="1">
                <a:solidFill>
                  <a:srgbClr val="FFFFFF"/>
                </a:solidFill>
              </a:defRPr>
            </a:pPr>
            <a:r>
              <a:t>Set Up</a:t>
            </a:r>
          </a:p>
        </p:txBody>
      </p:sp>
      <p:sp>
        <p:nvSpPr>
          <p:cNvPr id="8" name="TextBox 7"/>
          <p:cNvSpPr txBox="1"/>
          <p:nvPr/>
        </p:nvSpPr>
        <p:spPr>
          <a:xfrm>
            <a:off x="640080" y="3749039"/>
            <a:ext cx="3200400" cy="1645920"/>
          </a:xfrm>
          <a:prstGeom prst="rect">
            <a:avLst/>
          </a:prstGeom>
          <a:noFill/>
        </p:spPr>
        <p:txBody>
          <a:bodyPr wrap="square">
            <a:spAutoFit/>
          </a:bodyPr>
          <a:lstStyle/>
          <a:p>
            <a:pPr algn="ctr">
              <a:defRPr sz="1300">
                <a:solidFill>
                  <a:srgbClr val="D1D5DB"/>
                </a:solidFill>
              </a:defRPr>
            </a:pPr>
            <a:r>
              <a:t>Create a Project called</a:t>
            </a:r>
            <a:br/>
            <a:r>
              <a:t>'Executive Briefing'.</a:t>
            </a:r>
            <a:br/>
            <a:r>
              <a:t>Add custom instructions.</a:t>
            </a:r>
            <a:br/>
            <a:r>
              <a:t>Upload all provided files.</a:t>
            </a:r>
          </a:p>
        </p:txBody>
      </p:sp>
      <p:sp>
        <p:nvSpPr>
          <p:cNvPr id="9" name="TextBox 8"/>
          <p:cNvSpPr txBox="1"/>
          <p:nvPr/>
        </p:nvSpPr>
        <p:spPr>
          <a:xfrm>
            <a:off x="640080" y="5303520"/>
            <a:ext cx="3200400" cy="365760"/>
          </a:xfrm>
          <a:prstGeom prst="rect">
            <a:avLst/>
          </a:prstGeom>
          <a:noFill/>
        </p:spPr>
        <p:txBody>
          <a:bodyPr wrap="none">
            <a:spAutoFit/>
          </a:bodyPr>
          <a:lstStyle/>
          <a:p>
            <a:pPr algn="ctr">
              <a:defRPr sz="1200" i="1">
                <a:solidFill>
                  <a:srgbClr val="14B8A6"/>
                </a:solidFill>
              </a:defRPr>
            </a:pPr>
            <a:r>
              <a:t>5 min</a:t>
            </a:r>
          </a:p>
        </p:txBody>
      </p:sp>
      <p:sp>
        <p:nvSpPr>
          <p:cNvPr id="10" name="Rounded Rectangle 9"/>
          <p:cNvSpPr/>
          <p:nvPr/>
        </p:nvSpPr>
        <p:spPr>
          <a:xfrm>
            <a:off x="4206240" y="2468880"/>
            <a:ext cx="356616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2651760"/>
            <a:ext cx="3200400" cy="548640"/>
          </a:xfrm>
          <a:prstGeom prst="rect">
            <a:avLst/>
          </a:prstGeom>
          <a:noFill/>
        </p:spPr>
        <p:txBody>
          <a:bodyPr wrap="none">
            <a:spAutoFit/>
          </a:bodyPr>
          <a:lstStyle/>
          <a:p>
            <a:pPr algn="ctr">
              <a:defRPr sz="3000"/>
            </a:pPr>
            <a:r>
              <a:t>🔍</a:t>
            </a:r>
          </a:p>
        </p:txBody>
      </p:sp>
      <p:sp>
        <p:nvSpPr>
          <p:cNvPr id="12" name="TextBox 11"/>
          <p:cNvSpPr txBox="1"/>
          <p:nvPr/>
        </p:nvSpPr>
        <p:spPr>
          <a:xfrm>
            <a:off x="4389120" y="3200400"/>
            <a:ext cx="3200400" cy="457200"/>
          </a:xfrm>
          <a:prstGeom prst="rect">
            <a:avLst/>
          </a:prstGeom>
          <a:noFill/>
        </p:spPr>
        <p:txBody>
          <a:bodyPr wrap="none">
            <a:spAutoFit/>
          </a:bodyPr>
          <a:lstStyle/>
          <a:p>
            <a:pPr algn="ctr">
              <a:defRPr sz="1800" b="1">
                <a:solidFill>
                  <a:srgbClr val="FFFFFF"/>
                </a:solidFill>
              </a:defRPr>
            </a:pPr>
            <a:r>
              <a:t>Analyze &amp; Build</a:t>
            </a:r>
          </a:p>
        </p:txBody>
      </p:sp>
      <p:sp>
        <p:nvSpPr>
          <p:cNvPr id="13" name="TextBox 12"/>
          <p:cNvSpPr txBox="1"/>
          <p:nvPr/>
        </p:nvSpPr>
        <p:spPr>
          <a:xfrm>
            <a:off x="4389120" y="3749039"/>
            <a:ext cx="3200400" cy="1645920"/>
          </a:xfrm>
          <a:prstGeom prst="rect">
            <a:avLst/>
          </a:prstGeom>
          <a:noFill/>
        </p:spPr>
        <p:txBody>
          <a:bodyPr wrap="square">
            <a:spAutoFit/>
          </a:bodyPr>
          <a:lstStyle/>
          <a:p>
            <a:pPr algn="ctr">
              <a:defRPr sz="1300">
                <a:solidFill>
                  <a:srgbClr val="D1D5DB"/>
                </a:solidFill>
              </a:defRPr>
            </a:pPr>
            <a:r>
              <a:t>Use prompting skills to</a:t>
            </a:r>
            <a:br/>
            <a:r>
              <a:t>extract insights from</a:t>
            </a:r>
            <a:br/>
            <a:r>
              <a:t>multiple file types.</a:t>
            </a:r>
            <a:br/>
            <a:r>
              <a:t>Iterate until output is sharp.</a:t>
            </a:r>
          </a:p>
        </p:txBody>
      </p:sp>
      <p:sp>
        <p:nvSpPr>
          <p:cNvPr id="14" name="TextBox 13"/>
          <p:cNvSpPr txBox="1"/>
          <p:nvPr/>
        </p:nvSpPr>
        <p:spPr>
          <a:xfrm>
            <a:off x="4389120" y="5303520"/>
            <a:ext cx="3200400" cy="365760"/>
          </a:xfrm>
          <a:prstGeom prst="rect">
            <a:avLst/>
          </a:prstGeom>
          <a:noFill/>
        </p:spPr>
        <p:txBody>
          <a:bodyPr wrap="none">
            <a:spAutoFit/>
          </a:bodyPr>
          <a:lstStyle/>
          <a:p>
            <a:pPr algn="ctr">
              <a:defRPr sz="1200" i="1">
                <a:solidFill>
                  <a:srgbClr val="14B8A6"/>
                </a:solidFill>
              </a:defRPr>
            </a:pPr>
            <a:r>
              <a:t>15 min</a:t>
            </a:r>
          </a:p>
        </p:txBody>
      </p:sp>
      <p:sp>
        <p:nvSpPr>
          <p:cNvPr id="15" name="Rounded Rectangle 14"/>
          <p:cNvSpPr/>
          <p:nvPr/>
        </p:nvSpPr>
        <p:spPr>
          <a:xfrm>
            <a:off x="7955280" y="2468880"/>
            <a:ext cx="3566160" cy="3200400"/>
          </a:xfrm>
          <a:prstGeom prst="roundRect">
            <a:avLst/>
          </a:prstGeom>
          <a:solidFill>
            <a:srgbClr val="24354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160" y="2651760"/>
            <a:ext cx="3200400" cy="548640"/>
          </a:xfrm>
          <a:prstGeom prst="rect">
            <a:avLst/>
          </a:prstGeom>
          <a:noFill/>
        </p:spPr>
        <p:txBody>
          <a:bodyPr wrap="none">
            <a:spAutoFit/>
          </a:bodyPr>
          <a:lstStyle/>
          <a:p>
            <a:pPr algn="ctr">
              <a:defRPr sz="3000"/>
            </a:pPr>
            <a:r>
              <a:t>✨</a:t>
            </a:r>
          </a:p>
        </p:txBody>
      </p:sp>
      <p:sp>
        <p:nvSpPr>
          <p:cNvPr id="17" name="TextBox 16"/>
          <p:cNvSpPr txBox="1"/>
          <p:nvPr/>
        </p:nvSpPr>
        <p:spPr>
          <a:xfrm>
            <a:off x="8138160" y="3200400"/>
            <a:ext cx="3200400" cy="457200"/>
          </a:xfrm>
          <a:prstGeom prst="rect">
            <a:avLst/>
          </a:prstGeom>
          <a:noFill/>
        </p:spPr>
        <p:txBody>
          <a:bodyPr wrap="none">
            <a:spAutoFit/>
          </a:bodyPr>
          <a:lstStyle/>
          <a:p>
            <a:pPr algn="ctr">
              <a:defRPr sz="1800" b="1">
                <a:solidFill>
                  <a:srgbClr val="FFFFFF"/>
                </a:solidFill>
              </a:defRPr>
            </a:pPr>
            <a:r>
              <a:t>Polish &amp; Present</a:t>
            </a:r>
          </a:p>
        </p:txBody>
      </p:sp>
      <p:sp>
        <p:nvSpPr>
          <p:cNvPr id="18" name="TextBox 17"/>
          <p:cNvSpPr txBox="1"/>
          <p:nvPr/>
        </p:nvSpPr>
        <p:spPr>
          <a:xfrm>
            <a:off x="8138160" y="3749039"/>
            <a:ext cx="3200400" cy="1645920"/>
          </a:xfrm>
          <a:prstGeom prst="rect">
            <a:avLst/>
          </a:prstGeom>
          <a:noFill/>
        </p:spPr>
        <p:txBody>
          <a:bodyPr wrap="square">
            <a:spAutoFit/>
          </a:bodyPr>
          <a:lstStyle/>
          <a:p>
            <a:pPr algn="ctr">
              <a:defRPr sz="1300">
                <a:solidFill>
                  <a:srgbClr val="D1D5DB"/>
                </a:solidFill>
              </a:defRPr>
            </a:pPr>
            <a:r>
              <a:t>Create a polished</a:t>
            </a:r>
            <a:br/>
            <a:r>
              <a:t>executive briefing artifact.</a:t>
            </a:r>
            <a:br/>
            <a:r>
              <a:t>Add charts, format for</a:t>
            </a:r>
            <a:br/>
            <a:r>
              <a:t>your VP. Share with class.</a:t>
            </a:r>
          </a:p>
        </p:txBody>
      </p:sp>
      <p:sp>
        <p:nvSpPr>
          <p:cNvPr id="19" name="TextBox 18"/>
          <p:cNvSpPr txBox="1"/>
          <p:nvPr/>
        </p:nvSpPr>
        <p:spPr>
          <a:xfrm>
            <a:off x="8138160" y="5303520"/>
            <a:ext cx="3200400" cy="365760"/>
          </a:xfrm>
          <a:prstGeom prst="rect">
            <a:avLst/>
          </a:prstGeom>
          <a:noFill/>
        </p:spPr>
        <p:txBody>
          <a:bodyPr wrap="none">
            <a:spAutoFit/>
          </a:bodyPr>
          <a:lstStyle/>
          <a:p>
            <a:pPr algn="ctr">
              <a:defRPr sz="1200" i="1">
                <a:solidFill>
                  <a:srgbClr val="14B8A6"/>
                </a:solidFill>
              </a:defRPr>
            </a:pPr>
            <a:r>
              <a:t>10 min</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Wrap-up &amp; Q&amp;A</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What We Covered Today</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Morning</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Claude model family</a:t>
            </a:r>
          </a:p>
          <a:p>
            <a:pPr>
              <a:spcAft>
                <a:spcPts val="1200"/>
              </a:spcAft>
              <a:defRPr sz="1800">
                <a:solidFill>
                  <a:srgbClr val="FFFFFF"/>
                </a:solidFill>
              </a:defRPr>
            </a:pPr>
            <a:r>
              <a:t>  Claude.ai interface and Projects</a:t>
            </a:r>
          </a:p>
          <a:p>
            <a:pPr>
              <a:spcAft>
                <a:spcPts val="1200"/>
              </a:spcAft>
              <a:defRPr sz="1800">
                <a:solidFill>
                  <a:srgbClr val="FFFFFF"/>
                </a:solidFill>
              </a:defRPr>
            </a:pPr>
            <a:r>
              <a:t>  Prompt engineering (GOLDEN framework)</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78D4"/>
                </a:solidFill>
              </a:defRPr>
            </a:pPr>
            <a:r>
              <a:t>Afternoon</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Claude in Excel</a:t>
            </a:r>
          </a:p>
          <a:p>
            <a:pPr>
              <a:spcAft>
                <a:spcPts val="1200"/>
              </a:spcAft>
              <a:defRPr sz="1800">
                <a:solidFill>
                  <a:srgbClr val="FFFFFF"/>
                </a:solidFill>
              </a:defRPr>
            </a:pPr>
            <a:r>
              <a:t>  Artifacts</a:t>
            </a:r>
          </a:p>
          <a:p>
            <a:pPr>
              <a:spcAft>
                <a:spcPts val="1200"/>
              </a:spcAft>
              <a:defRPr sz="1800">
                <a:solidFill>
                  <a:srgbClr val="FFFFFF"/>
                </a:solidFill>
              </a:defRPr>
            </a:pPr>
            <a:r>
              <a:t>  File handling</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Key Takeaways</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Be specific in prompts - GOLDEN framework helps</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Use Projects for recurring work</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Iterate, don't start over</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Claude in Excel = in-context help</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Verify AI outputs - Claude helps, you validate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Resources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Official Docs: docs.claude.com</a:t>
            </a:r>
          </a:p>
          <a:p>
            <a:pPr>
              <a:spcBef>
                <a:spcPts val="800"/>
              </a:spcBef>
              <a:spcAft>
                <a:spcPts val="800"/>
              </a:spcAft>
              <a:defRPr sz="2200">
                <a:solidFill>
                  <a:srgbClr val="FFFFFF"/>
                </a:solidFill>
              </a:defRPr>
            </a:pPr>
            <a:r>
              <a:t>  Support: support.claude.com</a:t>
            </a:r>
          </a:p>
          <a:p>
            <a:pPr>
              <a:spcBef>
                <a:spcPts val="800"/>
              </a:spcBef>
              <a:spcAft>
                <a:spcPts val="800"/>
              </a:spcAft>
              <a:defRPr sz="2200">
                <a:solidFill>
                  <a:srgbClr val="FFFFFF"/>
                </a:solidFill>
              </a:defRPr>
            </a:pPr>
            <a:r>
              <a:t>  Anthropic Blog: anthropic.com/news</a:t>
            </a:r>
          </a:p>
          <a:p>
            <a:pPr>
              <a:spcBef>
                <a:spcPts val="800"/>
              </a:spcBef>
              <a:spcAft>
                <a:spcPts val="800"/>
              </a:spcAft>
              <a:defRPr sz="2200">
                <a:solidFill>
                  <a:srgbClr val="FFFFFF"/>
                </a:solidFill>
              </a:defRPr>
            </a:pPr>
            <a:r>
              <a:t>  Trust Center: anthropic.com/trust</a:t>
            </a:r>
          </a:p>
          <a:p>
            <a:pPr>
              <a:spcBef>
                <a:spcPts val="800"/>
              </a:spcBef>
              <a:spcAft>
                <a:spcPts val="800"/>
              </a:spcAft>
              <a:defRPr sz="2200">
                <a:solidFill>
                  <a:srgbClr val="FFFFFF"/>
                </a:solidFill>
              </a:defRPr>
            </a:pPr>
            <a:r>
              <a:t>  Handouts: Claude Code Quick Reference, Prompt Engineering Cheatsheet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Practice Assignment (Optional)</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Try 3 tasks with Claude this week:</a:t>
            </a:r>
          </a:p>
          <a:p>
            <a:pPr>
              <a:spcBef>
                <a:spcPts val="800"/>
              </a:spcBef>
              <a:spcAft>
                <a:spcPts val="800"/>
              </a:spcAft>
              <a:defRPr sz="2200">
                <a:solidFill>
                  <a:srgbClr val="FFFFFF"/>
                </a:solidFill>
              </a:defRPr>
            </a:pPr>
            <a:r>
              <a:t>  1. Something you do monthly (turn into a Project)</a:t>
            </a:r>
          </a:p>
          <a:p>
            <a:pPr>
              <a:spcBef>
                <a:spcPts val="800"/>
              </a:spcBef>
              <a:spcAft>
                <a:spcPts val="800"/>
              </a:spcAft>
              <a:defRPr sz="2200">
                <a:solidFill>
                  <a:srgbClr val="FFFFFF"/>
                </a:solidFill>
              </a:defRPr>
            </a:pPr>
            <a:r>
              <a:t>  2. A complex prompt (use GOLDEN framework)</a:t>
            </a:r>
          </a:p>
          <a:p>
            <a:pPr>
              <a:spcBef>
                <a:spcPts val="800"/>
              </a:spcBef>
              <a:spcAft>
                <a:spcPts val="800"/>
              </a:spcAft>
              <a:defRPr sz="2200">
                <a:solidFill>
                  <a:srgbClr val="FFFFFF"/>
                </a:solidFill>
              </a:defRPr>
            </a:pPr>
            <a:r>
              <a:t>  3. Excel formula help or data analysis</a:t>
            </a:r>
          </a:p>
          <a:p>
            <a:pPr>
              <a:spcBef>
                <a:spcPts val="800"/>
              </a:spcBef>
              <a:spcAft>
                <a:spcPts val="800"/>
              </a:spcAft>
              <a:defRPr sz="2200">
                <a:solidFill>
                  <a:srgbClr val="FFFFFF"/>
                </a:solidFill>
              </a:defRPr>
            </a:pPr>
            <a:r>
              <a:t>  Track results: What worked? Time saved?</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Questions?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Licensing and access</a:t>
            </a:r>
          </a:p>
          <a:p>
            <a:pPr>
              <a:spcBef>
                <a:spcPts val="800"/>
              </a:spcBef>
              <a:spcAft>
                <a:spcPts val="800"/>
              </a:spcAft>
              <a:defRPr sz="2200">
                <a:solidFill>
                  <a:srgbClr val="FFFFFF"/>
                </a:solidFill>
              </a:defRPr>
            </a:pPr>
            <a:r>
              <a:t>  Security and data privacy</a:t>
            </a:r>
          </a:p>
          <a:p>
            <a:pPr>
              <a:spcBef>
                <a:spcPts val="800"/>
              </a:spcBef>
              <a:spcAft>
                <a:spcPts val="800"/>
              </a:spcAft>
              <a:defRPr sz="2200">
                <a:solidFill>
                  <a:srgbClr val="FFFFFF"/>
                </a:solidFill>
              </a:defRPr>
            </a:pPr>
            <a:r>
              <a:t>  When to use which tool</a:t>
            </a:r>
          </a:p>
          <a:p>
            <a:pPr>
              <a:spcBef>
                <a:spcPts val="800"/>
              </a:spcBef>
              <a:spcAft>
                <a:spcPts val="800"/>
              </a:spcAft>
              <a:defRPr sz="2200">
                <a:solidFill>
                  <a:srgbClr val="FFFFFF"/>
                </a:solidFill>
              </a:defRPr>
            </a:pPr>
            <a:r>
              <a:t>  Advanced prompting techniques</a:t>
            </a:r>
          </a:p>
          <a:p>
            <a:pPr>
              <a:spcBef>
                <a:spcPts val="800"/>
              </a:spcBef>
              <a:spcAft>
                <a:spcPts val="800"/>
              </a:spcAft>
              <a:defRPr sz="2200">
                <a:solidFill>
                  <a:srgbClr val="FFFFFF"/>
                </a:solidFill>
              </a:defRPr>
            </a:pPr>
            <a:r>
              <a:t>  Real-world use cases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47120" cy="1371600"/>
          </a:xfrm>
          <a:prstGeom prst="rect">
            <a:avLst/>
          </a:prstGeom>
          <a:noFill/>
        </p:spPr>
        <p:txBody>
          <a:bodyPr wrap="none">
            <a:spAutoFit/>
          </a:bodyPr>
          <a:lstStyle/>
          <a:p>
            <a:pPr algn="ctr">
              <a:defRPr sz="5600" b="1">
                <a:solidFill>
                  <a:srgbClr val="FFFFFF"/>
                </a:solidFill>
              </a:defRPr>
            </a:pPr>
            <a:r>
              <a:t>Thank You</a:t>
            </a:r>
          </a:p>
        </p:txBody>
      </p:sp>
      <p:sp>
        <p:nvSpPr>
          <p:cNvPr id="3" name="TextBox 2"/>
          <p:cNvSpPr txBox="1"/>
          <p:nvPr/>
        </p:nvSpPr>
        <p:spPr>
          <a:xfrm>
            <a:off x="457200" y="3657600"/>
            <a:ext cx="11247120" cy="457200"/>
          </a:xfrm>
          <a:prstGeom prst="rect">
            <a:avLst/>
          </a:prstGeom>
          <a:noFill/>
        </p:spPr>
        <p:txBody>
          <a:bodyPr wrap="none">
            <a:spAutoFit/>
          </a:bodyPr>
          <a:lstStyle/>
          <a:p>
            <a:pPr algn="ctr">
              <a:defRPr sz="2000">
                <a:solidFill>
                  <a:srgbClr val="14B8A6"/>
                </a:solidFill>
              </a:defRPr>
            </a:pPr>
            <a:r>
              <a:t>scott@aiacopilot.com  •  aiacopilot.com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920E337-D44A-4148-B6B4-463D6CF2BDB0}">
  <we:reference id="f5f369e5-aa35-49d7-ad7b-638152ddb008" version="1.0.0.0" store="EXCatalog" storeType="EXCatalog"/>
  <we:alternateReferences>
    <we:reference id="WA200010001" version="1.0.0.0" store="en-US"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56</TotalTime>
  <Words>13659</Words>
  <Application>Microsoft Office PowerPoint</Application>
  <PresentationFormat>Widescreen</PresentationFormat>
  <Paragraphs>1642</Paragraphs>
  <Slides>86</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86</vt:i4>
      </vt:variant>
    </vt:vector>
  </HeadingPairs>
  <TitlesOfParts>
    <vt:vector size="8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Scott Hay</cp:lastModifiedBy>
  <cp:revision>1</cp:revision>
  <dcterms:created xsi:type="dcterms:W3CDTF">2013-01-27T09:14:16Z</dcterms:created>
  <dcterms:modified xsi:type="dcterms:W3CDTF">2026-02-16T14:31:01Z</dcterms:modified>
  <cp:category/>
</cp:coreProperties>
</file>