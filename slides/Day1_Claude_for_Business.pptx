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6" r:id="rId36"/>
    <p:sldId id="267" r:id="rId37"/>
    <p:sldId id="272" r:id="rId39"/>
    <p:sldId id="273" r:id="rId40"/>
    <p:sldId id="274" r:id="rId41"/>
    <p:sldId id="275" r:id="rId42"/>
    <p:sldId id="276" r:id="rId43"/>
    <p:sldId id="343" r:id="rId44"/>
    <p:sldId id="298" r:id="rId45"/>
    <p:sldId id="348" r:id="rId46"/>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25" r:id="rId77"/>
    <p:sldId id="326" r:id="rId78"/>
    <p:sldId id="327" r:id="rId79"/>
    <p:sldId id="345" r:id="rId80"/>
    <p:sldId id="328" r:id="rId81"/>
    <p:sldId id="329" r:id="rId82"/>
    <p:sldId id="330" r:id="rId83"/>
    <p:sldId id="331" r:id="rId84"/>
    <p:sldId id="332" r:id="rId85"/>
    <p:sldId id="333" r:id="rId86"/>
    <p:sldId id="334" r:id="rId8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7.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7.xml"/><Relationship Id="rId78" Type="http://schemas.openxmlformats.org/officeDocument/2006/relationships/slide" Target="slides/slide78.xml"/><Relationship Id="rId79" Type="http://schemas.openxmlformats.org/officeDocument/2006/relationships/slide" Target="slides/slide79.xml"/><Relationship Id="rId80" Type="http://schemas.openxmlformats.org/officeDocument/2006/relationships/slide" Target="slides/slide80.xml"/><Relationship Id="rId81" Type="http://schemas.openxmlformats.org/officeDocument/2006/relationships/slide" Target="slides/slide81.xml"/><Relationship Id="rId82" Type="http://schemas.openxmlformats.org/officeDocument/2006/relationships/slide" Target="slides/slide82.xml"/><Relationship Id="rId83" Type="http://schemas.openxmlformats.org/officeDocument/2006/relationships/slide" Target="slides/slide83.xml"/><Relationship Id="rId84" Type="http://schemas.openxmlformats.org/officeDocument/2006/relationships/slide" Target="slides/slide84.xml"/><Relationship Id="rId85" Type="http://schemas.openxmlformats.org/officeDocument/2006/relationships/slide" Target="slides/slide85.xml"/><Relationship Id="rId86" Type="http://schemas.openxmlformats.org/officeDocument/2006/relationships/slide" Target="slides/slide86.xml"/><Relationship Id="rId87" Type="http://schemas.openxmlformats.org/officeDocument/2006/relationships/slide" Target="slides/slide87.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87.xml"/><Relationship Id="rId96" Type="http://schemas.openxmlformats.org/officeDocument/2006/relationships/slide" Target="slides/slide36.xml"/><Relationship Id="rId97" Type="http://schemas.openxmlformats.org/officeDocument/2006/relationships/slide" Target="slides/slide8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2926080"/>
          </a:xfrm>
          <a:prstGeom prst="rect">
            <a:avLst/>
          </a:prstGeom>
          <a:noFill/>
        </p:spPr>
        <p:txBody>
          <a:bodyPr wrap="square">
            <a:spAutoFit/>
          </a:bodyPr>
          <a:lstStyle/>
          <a:p>
            <a:pPr>
              <a:spcAft>
                <a:spcPts val="800"/>
              </a:spcAft>
              <a:defRPr sz="1600">
                <a:solidFill>
                  <a:srgbClr val="D1D5DB"/>
                </a:solidFill>
              </a:defRPr>
            </a:pPr>
            <a:r>
              <a:t>✅  Artifacts — documents, code, visualizations</a:t>
            </a:r>
          </a:p>
          <a:p>
            <a:pPr>
              <a:spcAft>
                <a:spcPts val="800"/>
              </a:spcAft>
              <a:defRPr sz="1600">
                <a:solidFill>
                  <a:srgbClr val="D1D5DB"/>
                </a:solidFill>
              </a:defRPr>
            </a:pPr>
            <a:r>
              <a:t>✅  Code execution &amp; file creation — docs, spreadsheets, PPTs, PDFs</a:t>
            </a:r>
          </a:p>
          <a:p>
            <a:pPr>
              <a:spcAft>
                <a:spcPts val="800"/>
              </a:spcAft>
              <a:defRPr sz="1600">
                <a:solidFill>
                  <a:srgbClr val="D1D5DB"/>
                </a:solidFill>
              </a:defRPr>
            </a:pPr>
            <a:r>
              <a:t>✅  Web search — Claude finds current information automatically</a:t>
            </a:r>
          </a:p>
          <a:p>
            <a:pPr>
              <a:spcAft>
                <a:spcPts val="800"/>
              </a:spcAft>
              <a:defRPr sz="1600">
                <a:solidFill>
                  <a:srgbClr val="D1D5DB"/>
                </a:solidFill>
              </a:defRPr>
            </a:pPr>
            <a:r>
              <a:t>✅  Memory — search past chats + learn from history</a:t>
            </a:r>
          </a:p>
        </p:txBody>
      </p:sp>
      <p:sp>
        <p:nvSpPr>
          <p:cNvPr id="7" name="Rounded Rectangle 6"/>
          <p:cNvSpPr/>
          <p:nvPr/>
        </p:nvSpPr>
        <p:spPr>
          <a:xfrm>
            <a:off x="6217920" y="1737360"/>
            <a:ext cx="53035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Controls</a:t>
            </a:r>
          </a:p>
        </p:txBody>
      </p:sp>
      <p:sp>
        <p:nvSpPr>
          <p:cNvPr id="9" name="TextBox 8"/>
          <p:cNvSpPr txBox="1"/>
          <p:nvPr/>
        </p:nvSpPr>
        <p:spPr>
          <a:xfrm>
            <a:off x="6492240" y="2468880"/>
            <a:ext cx="4754880" cy="2926080"/>
          </a:xfrm>
          <a:prstGeom prst="rect">
            <a:avLst/>
          </a:prstGeom>
          <a:noFill/>
        </p:spPr>
        <p:txBody>
          <a:bodyPr wrap="square">
            <a:spAutoFit/>
          </a:bodyPr>
          <a:lstStyle/>
          <a:p>
            <a:pPr>
              <a:spcAft>
                <a:spcPts val="800"/>
              </a:spcAft>
              <a:defRPr sz="1600">
                <a:solidFill>
                  <a:srgbClr val="D1D5DB"/>
                </a:solidFill>
              </a:defRPr>
            </a:pPr>
            <a:r>
              <a:t>🔒  Training opt-out — paid plans OFF by default</a:t>
            </a:r>
          </a:p>
          <a:p>
            <a:pPr>
              <a:spcAft>
                <a:spcPts val="800"/>
              </a:spcAft>
              <a:defRPr sz="1600">
                <a:solidFill>
                  <a:srgbClr val="D1D5DB"/>
                </a:solidFill>
              </a:defRPr>
            </a:pPr>
            <a:r>
              <a:t>🕶️  Incognito chats — not saved, not used for training, not added to memory</a:t>
            </a:r>
          </a:p>
          <a:p>
            <a:pPr>
              <a:spcAft>
                <a:spcPts val="800"/>
              </a:spcAft>
              <a:defRPr sz="1600">
                <a:solidFill>
                  <a:srgbClr val="D1D5DB"/>
                </a:solidFill>
              </a:defRPr>
            </a:pPr>
            <a:r>
              <a:t>⚠️  30-day retention for abuse detection</a:t>
            </a:r>
          </a:p>
          <a:p>
            <a:pPr>
              <a:spcAft>
                <a:spcPts val="800"/>
              </a:spcAft>
              <a:defRPr sz="1600">
                <a:solidFill>
                  <a:srgbClr val="D1D5DB"/>
                </a:solidFill>
              </a:defRPr>
            </a:pPr>
            <a:r>
              <a:t>🏢  Team/Enterprise — zero data retention, full isolation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