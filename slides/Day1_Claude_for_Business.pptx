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7" r:id="rId37"/>
    <p:sldId id="272" r:id="rId39"/>
    <p:sldId id="273" r:id="rId40"/>
    <p:sldId id="274" r:id="rId41"/>
    <p:sldId id="275" r:id="rId42"/>
    <p:sldId id="276" r:id="rId43"/>
    <p:sldId id="343" r:id="rId44"/>
    <p:sldId id="298" r:id="rId45"/>
    <p:sldId id="348" r:id="rId46"/>
    <p:sldId id="356" r:id="rId100"/>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57" r:id="rId101"/>
    <p:sldId id="358" r:id="rId102"/>
    <p:sldId id="359" r:id="rId103"/>
    <p:sldId id="360" r:id="rId104"/>
    <p:sldId id="361" r:id="rId105"/>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7.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84.xml"/><Relationship Id="rId78" Type="http://schemas.openxmlformats.org/officeDocument/2006/relationships/slide" Target="slides/slide85.xml"/><Relationship Id="rId79" Type="http://schemas.openxmlformats.org/officeDocument/2006/relationships/slide" Target="slides/slide86.xml"/><Relationship Id="rId80" Type="http://schemas.openxmlformats.org/officeDocument/2006/relationships/slide" Target="slides/slide87.xml"/><Relationship Id="rId81" Type="http://schemas.openxmlformats.org/officeDocument/2006/relationships/slide" Target="slides/slide88.xml"/><Relationship Id="rId82" Type="http://schemas.openxmlformats.org/officeDocument/2006/relationships/slide" Target="slides/slide89.xml"/><Relationship Id="rId83" Type="http://schemas.openxmlformats.org/officeDocument/2006/relationships/slide" Target="slides/slide90.xml"/><Relationship Id="rId84" Type="http://schemas.openxmlformats.org/officeDocument/2006/relationships/slide" Target="slides/slide91.xml"/><Relationship Id="rId85" Type="http://schemas.openxmlformats.org/officeDocument/2006/relationships/slide" Target="slides/slide92.xml"/><Relationship Id="rId86" Type="http://schemas.openxmlformats.org/officeDocument/2006/relationships/slide" Target="slides/slide93.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7.xml"/><Relationship Id="rId98" Type="http://schemas.openxmlformats.org/officeDocument/2006/relationships/slide" Target="slides/slide78.xml"/><Relationship Id="rId99" Type="http://schemas.openxmlformats.org/officeDocument/2006/relationships/slide" Target="slides/slide94.xml"/><Relationship Id="rId100" Type="http://schemas.openxmlformats.org/officeDocument/2006/relationships/slide" Target="slides/slide46.xml"/><Relationship Id="rId101" Type="http://schemas.openxmlformats.org/officeDocument/2006/relationships/slide" Target="slides/slide79.xml"/><Relationship Id="rId102" Type="http://schemas.openxmlformats.org/officeDocument/2006/relationships/slide" Target="slides/slide80.xml"/><Relationship Id="rId103" Type="http://schemas.openxmlformats.org/officeDocument/2006/relationships/slide" Target="slides/slide81.xml"/><Relationship Id="rId104" Type="http://schemas.openxmlformats.org/officeDocument/2006/relationships/slide" Target="slides/slide82.xml"/><Relationship Id="rId105" Type="http://schemas.openxmlformats.org/officeDocument/2006/relationships/slide" Target="slides/slide8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7 min</a:t>
            </a:r>
          </a:p>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p>
            <a:r>
              <a:t>ASK THE CLASS:</a:t>
            </a:r>
          </a:p>
          <a:p>
            <a:r>
              <a:t>   "How many of you knew about the voice mode button?"</a:t>
            </a:r>
          </a:p>
          <a:p>
            <a:r>
              <a:t>   [PAUSE for 30-60 seconds]</a:t>
            </a:r>
          </a:p>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p>
            <a:r>
              <a:t>TRANSITION:</a:t>
            </a:r>
          </a:p>
          <a:p>
            <a:r>
              <a:t>   Voice mode is so powerful it deserves its own demo - let's dive deeper</a:t>
            </a:r>
          </a:p>
          <a:p/>
          <a:p>
            <a:r>
              <a:t>[ADDITIONAL CALLOUT: Research Mode]</a:t>
            </a:r>
          </a:p>
          <a:p>
            <a:r>
              <a:t>See that Research option in the plus menu? This is Claude's deep research mode. Instead of a quick answer, Claude does multi-step investigation — searches multiple sources, synthesizes findings, takes a few minutes but gives you a thorough briefing. Think of it as assigning a research analyst a question. Great for competitive analysis, market research, or any question where you need depth over speed. We won't lab this today, but try it on your own — ask Claude to research a competitor or an industry trend.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3 min</a:t>
            </a:r>
          </a:p>
          <a:p/>
          <a:p>
            <a:r>
              <a:t>OPEN WITH:</a:t>
            </a:r>
          </a:p>
          <a:p>
            <a:r>
              <a:t>   Instead of uploading files, Claude can read directly from your tools</a:t>
            </a:r>
          </a:p>
          <a:p/>
          <a:p>
            <a:r>
              <a:t>KEY POINTS:</a:t>
            </a:r>
          </a:p>
          <a:p>
            <a:r>
              <a:t>   * Integrations = Claude connects to external tools</a:t>
            </a:r>
          </a:p>
          <a:p>
            <a:r>
              <a:t>   * Currently: GitHub, Google Docs (more coming)</a:t>
            </a:r>
          </a:p>
          <a:p>
            <a:r>
              <a:t>   * No file upload needed - Claude reads directly</a:t>
            </a:r>
          </a:p>
          <a:p>
            <a:r>
              <a:t>   * Stays in sync with live data</a:t>
            </a:r>
          </a:p>
          <a:p/>
          <a:p>
            <a:r>
              <a:t>REAL-WORLD EXAMPLE:</a:t>
            </a:r>
          </a:p>
          <a:p>
            <a:r>
              <a:t>   Ask 'Review my Google Doc proposal' - Claude opens it, reads it, suggests edits. No download/upload.</a:t>
            </a:r>
          </a:p>
          <a:p/>
          <a:p>
            <a:r>
              <a:t>TRANSITION:</a:t>
            </a:r>
          </a:p>
          <a:p>
            <a:r>
              <a:t>   Let's look at each integration</a:t>
            </a:r>
          </a:p>
          <a:p/>
          <a:p>
            <a:r>
              <a:t>[ADDITIONAL CALLOUT: Canva Integration]</a:t>
            </a:r>
          </a:p>
          <a:p>
            <a:r>
              <a:t>One integration worth knowing about — Canva. In the plus menu, you'll see 'Add from Canva.' This lets you pull your Canva designs directly into Claude. Why does that matter? You can ask Claude to analyze a marketing flyer, suggest copy improvements, or adapt a design's text for a different audience — all without downloading and uploading files. If your team uses Canva for marketing materials, this is a time-saver.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a:p/>
          <a:p>
            <a:r>
              <a:t>[ADDITIONAL CALLOUT: Use Style]</a:t>
            </a:r>
          </a:p>
          <a:p>
            <a:r>
              <a:t>Quick tip — in the plus menu at the bottom of any chat, you'll see 'Use style.' This lets you apply a preset writing style to that specific conversation. Anthropic includes defaults like Formal, Concise, and Explanatory, but you can also create your own custom styles. Think of it this way: Personal Preferences are your global defaults. Use Style is your per-conversation override. Writing a board report? Switch to Formal. Quick Slack message? Switch to Concise. Preferences set the baseline, styles let you flex.</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a:t>
            </a:r>
          </a:p>
          <a:p>
            <a:r>
              <a:t/>
            </a:r>
          </a:p>
          <a:p>
            <a:r>
              <a:t>Thank you all for a great day. You have been an engaged and thoughtful group, and I am confident you will see real productivity gains starting this week.</a:t>
            </a:r>
          </a:p>
          <a:p>
            <a:r>
              <a:t/>
            </a:r>
          </a:p>
          <a:p>
            <a:r>
              <a:t>Remember: the key to success with AI is consistency. Use Claude a little every day, iterate your prompts, and build it into your routine. The skills you practiced today become second nature within two to three weeks.</a:t>
            </a:r>
          </a:p>
          <a:p>
            <a:r>
              <a:t/>
            </a:r>
          </a:p>
          <a:p>
            <a:r>
              <a:t>My contact information is on the screen. Do not hesitate to reach out with questions or success stories. Have a great rest of your day.</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Data Analysis Is Storytelling</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Know what to ask for — most people stop at level one</a:t>
            </a:r>
          </a:p>
        </p:txBody>
      </p:sp>
      <p:sp>
        <p:nvSpPr>
          <p:cNvPr id="4" name="Rounded Rectangle 3"/>
          <p:cNvSpPr/>
          <p:nvPr/>
        </p:nvSpPr>
        <p:spPr>
          <a:xfrm>
            <a:off x="274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920240"/>
            <a:ext cx="1920240" cy="457200"/>
          </a:xfrm>
          <a:prstGeom prst="rect">
            <a:avLst/>
          </a:prstGeom>
          <a:noFill/>
        </p:spPr>
        <p:txBody>
          <a:bodyPr wrap="none">
            <a:spAutoFit/>
          </a:bodyPr>
          <a:lstStyle/>
          <a:p>
            <a:pPr algn="ctr">
              <a:defRPr sz="2800"/>
            </a:pPr>
            <a:r>
              <a:t>📊</a:t>
            </a:r>
          </a:p>
        </p:txBody>
      </p:sp>
      <p:sp>
        <p:nvSpPr>
          <p:cNvPr id="6" name="TextBox 5"/>
          <p:cNvSpPr txBox="1"/>
          <p:nvPr/>
        </p:nvSpPr>
        <p:spPr>
          <a:xfrm>
            <a:off x="365760" y="2377440"/>
            <a:ext cx="1920240" cy="365760"/>
          </a:xfrm>
          <a:prstGeom prst="rect">
            <a:avLst/>
          </a:prstGeom>
          <a:noFill/>
        </p:spPr>
        <p:txBody>
          <a:bodyPr wrap="none">
            <a:spAutoFit/>
          </a:bodyPr>
          <a:lstStyle/>
          <a:p>
            <a:pPr algn="ctr">
              <a:defRPr sz="1800" b="1">
                <a:solidFill>
                  <a:srgbClr val="FFFFFF"/>
                </a:solidFill>
              </a:defRPr>
            </a:pPr>
            <a:r>
              <a:t>Descriptive</a:t>
            </a:r>
          </a:p>
        </p:txBody>
      </p:sp>
      <p:sp>
        <p:nvSpPr>
          <p:cNvPr id="7" name="TextBox 6"/>
          <p:cNvSpPr txBox="1"/>
          <p:nvPr/>
        </p:nvSpPr>
        <p:spPr>
          <a:xfrm>
            <a:off x="365760" y="2743200"/>
            <a:ext cx="1920240" cy="365760"/>
          </a:xfrm>
          <a:prstGeom prst="rect">
            <a:avLst/>
          </a:prstGeom>
          <a:noFill/>
        </p:spPr>
        <p:txBody>
          <a:bodyPr wrap="none">
            <a:spAutoFit/>
          </a:bodyPr>
          <a:lstStyle/>
          <a:p>
            <a:pPr algn="ctr">
              <a:defRPr sz="1200" i="1">
                <a:solidFill>
                  <a:srgbClr val="14B8A6"/>
                </a:solidFill>
              </a:defRPr>
            </a:pPr>
            <a:r>
              <a:t>Summarize past data</a:t>
            </a:r>
          </a:p>
        </p:txBody>
      </p:sp>
      <p:sp>
        <p:nvSpPr>
          <p:cNvPr id="8" name="TextBox 7"/>
          <p:cNvSpPr txBox="1"/>
          <p:nvPr/>
        </p:nvSpPr>
        <p:spPr>
          <a:xfrm>
            <a:off x="365760" y="3200400"/>
            <a:ext cx="1920240" cy="2194560"/>
          </a:xfrm>
          <a:prstGeom prst="rect">
            <a:avLst/>
          </a:prstGeom>
          <a:noFill/>
        </p:spPr>
        <p:txBody>
          <a:bodyPr wrap="square">
            <a:spAutoFit/>
          </a:bodyPr>
          <a:lstStyle/>
          <a:p>
            <a:pPr algn="ctr">
              <a:defRPr sz="1200">
                <a:solidFill>
                  <a:srgbClr val="D1D5DB"/>
                </a:solidFill>
              </a:defRPr>
            </a:pPr>
            <a:r>
              <a:t>"What happened?"</a:t>
            </a:r>
            <a:br/>
            <a:r>
              <a:t>Q4 revenue was $2.1M</a:t>
            </a:r>
            <a:br/>
            <a:r>
              <a:t>across 4 regions</a:t>
            </a:r>
          </a:p>
        </p:txBody>
      </p:sp>
      <p:sp>
        <p:nvSpPr>
          <p:cNvPr id="9" name="Rounded Rectangle 8"/>
          <p:cNvSpPr/>
          <p:nvPr/>
        </p:nvSpPr>
        <p:spPr>
          <a:xfrm>
            <a:off x="2560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1920240"/>
            <a:ext cx="1920240" cy="457200"/>
          </a:xfrm>
          <a:prstGeom prst="rect">
            <a:avLst/>
          </a:prstGeom>
          <a:noFill/>
        </p:spPr>
        <p:txBody>
          <a:bodyPr wrap="none">
            <a:spAutoFit/>
          </a:bodyPr>
          <a:lstStyle/>
          <a:p>
            <a:pPr algn="ctr">
              <a:defRPr sz="2800"/>
            </a:pPr>
            <a:r>
              <a:t>🔍</a:t>
            </a:r>
          </a:p>
        </p:txBody>
      </p:sp>
      <p:sp>
        <p:nvSpPr>
          <p:cNvPr id="11" name="TextBox 10"/>
          <p:cNvSpPr txBox="1"/>
          <p:nvPr/>
        </p:nvSpPr>
        <p:spPr>
          <a:xfrm>
            <a:off x="2651760" y="2377440"/>
            <a:ext cx="1920240" cy="365760"/>
          </a:xfrm>
          <a:prstGeom prst="rect">
            <a:avLst/>
          </a:prstGeom>
          <a:noFill/>
        </p:spPr>
        <p:txBody>
          <a:bodyPr wrap="none">
            <a:spAutoFit/>
          </a:bodyPr>
          <a:lstStyle/>
          <a:p>
            <a:pPr algn="ctr">
              <a:defRPr sz="1800" b="1">
                <a:solidFill>
                  <a:srgbClr val="FFFFFF"/>
                </a:solidFill>
              </a:defRPr>
            </a:pPr>
            <a:r>
              <a:t>Diagnostic</a:t>
            </a:r>
          </a:p>
        </p:txBody>
      </p:sp>
      <p:sp>
        <p:nvSpPr>
          <p:cNvPr id="12" name="TextBox 11"/>
          <p:cNvSpPr txBox="1"/>
          <p:nvPr/>
        </p:nvSpPr>
        <p:spPr>
          <a:xfrm>
            <a:off x="2651760" y="2743200"/>
            <a:ext cx="1920240" cy="365760"/>
          </a:xfrm>
          <a:prstGeom prst="rect">
            <a:avLst/>
          </a:prstGeom>
          <a:noFill/>
        </p:spPr>
        <p:txBody>
          <a:bodyPr wrap="none">
            <a:spAutoFit/>
          </a:bodyPr>
          <a:lstStyle/>
          <a:p>
            <a:pPr algn="ctr">
              <a:defRPr sz="1200" i="1">
                <a:solidFill>
                  <a:srgbClr val="14B8A6"/>
                </a:solidFill>
              </a:defRPr>
            </a:pPr>
            <a:r>
              <a:t>Explain past data</a:t>
            </a:r>
          </a:p>
        </p:txBody>
      </p:sp>
      <p:sp>
        <p:nvSpPr>
          <p:cNvPr id="13" name="TextBox 12"/>
          <p:cNvSpPr txBox="1"/>
          <p:nvPr/>
        </p:nvSpPr>
        <p:spPr>
          <a:xfrm>
            <a:off x="2651760" y="3200400"/>
            <a:ext cx="1920240" cy="2194560"/>
          </a:xfrm>
          <a:prstGeom prst="rect">
            <a:avLst/>
          </a:prstGeom>
          <a:noFill/>
        </p:spPr>
        <p:txBody>
          <a:bodyPr wrap="square">
            <a:spAutoFit/>
          </a:bodyPr>
          <a:lstStyle/>
          <a:p>
            <a:pPr algn="ctr">
              <a:defRPr sz="1200">
                <a:solidFill>
                  <a:srgbClr val="D1D5DB"/>
                </a:solidFill>
              </a:defRPr>
            </a:pPr>
            <a:r>
              <a:t>"Why did it happen?"</a:t>
            </a:r>
            <a:br/>
            <a:r>
              <a:t>Northeast dropped 15%</a:t>
            </a:r>
            <a:br/>
            <a:r>
              <a:t>due to rep turnover</a:t>
            </a:r>
          </a:p>
        </p:txBody>
      </p:sp>
      <p:sp>
        <p:nvSpPr>
          <p:cNvPr id="14" name="Rounded Rectangle 13"/>
          <p:cNvSpPr/>
          <p:nvPr/>
        </p:nvSpPr>
        <p:spPr>
          <a:xfrm>
            <a:off x="4846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1920240"/>
            <a:ext cx="1920240" cy="457200"/>
          </a:xfrm>
          <a:prstGeom prst="rect">
            <a:avLst/>
          </a:prstGeom>
          <a:noFill/>
        </p:spPr>
        <p:txBody>
          <a:bodyPr wrap="none">
            <a:spAutoFit/>
          </a:bodyPr>
          <a:lstStyle/>
          <a:p>
            <a:pPr algn="ctr">
              <a:defRPr sz="2800"/>
            </a:pPr>
            <a:r>
              <a:t>📈</a:t>
            </a:r>
          </a:p>
        </p:txBody>
      </p:sp>
      <p:sp>
        <p:nvSpPr>
          <p:cNvPr id="16" name="TextBox 15"/>
          <p:cNvSpPr txBox="1"/>
          <p:nvPr/>
        </p:nvSpPr>
        <p:spPr>
          <a:xfrm>
            <a:off x="4937759" y="2377440"/>
            <a:ext cx="1920240" cy="365760"/>
          </a:xfrm>
          <a:prstGeom prst="rect">
            <a:avLst/>
          </a:prstGeom>
          <a:noFill/>
        </p:spPr>
        <p:txBody>
          <a:bodyPr wrap="none">
            <a:spAutoFit/>
          </a:bodyPr>
          <a:lstStyle/>
          <a:p>
            <a:pPr algn="ctr">
              <a:defRPr sz="1800" b="1">
                <a:solidFill>
                  <a:srgbClr val="FFFFFF"/>
                </a:solidFill>
              </a:defRPr>
            </a:pPr>
            <a:r>
              <a:t>Predictive</a:t>
            </a:r>
          </a:p>
        </p:txBody>
      </p:sp>
      <p:sp>
        <p:nvSpPr>
          <p:cNvPr id="17" name="TextBox 16"/>
          <p:cNvSpPr txBox="1"/>
          <p:nvPr/>
        </p:nvSpPr>
        <p:spPr>
          <a:xfrm>
            <a:off x="4937759" y="2743200"/>
            <a:ext cx="1920240" cy="365760"/>
          </a:xfrm>
          <a:prstGeom prst="rect">
            <a:avLst/>
          </a:prstGeom>
          <a:noFill/>
        </p:spPr>
        <p:txBody>
          <a:bodyPr wrap="none">
            <a:spAutoFit/>
          </a:bodyPr>
          <a:lstStyle/>
          <a:p>
            <a:pPr algn="ctr">
              <a:defRPr sz="1200" i="1">
                <a:solidFill>
                  <a:srgbClr val="14B8A6"/>
                </a:solidFill>
              </a:defRPr>
            </a:pPr>
            <a:r>
              <a:t>Forecast future data</a:t>
            </a:r>
          </a:p>
        </p:txBody>
      </p:sp>
      <p:sp>
        <p:nvSpPr>
          <p:cNvPr id="18" name="TextBox 17"/>
          <p:cNvSpPr txBox="1"/>
          <p:nvPr/>
        </p:nvSpPr>
        <p:spPr>
          <a:xfrm>
            <a:off x="4937759" y="3200400"/>
            <a:ext cx="1920240" cy="2194560"/>
          </a:xfrm>
          <a:prstGeom prst="rect">
            <a:avLst/>
          </a:prstGeom>
          <a:noFill/>
        </p:spPr>
        <p:txBody>
          <a:bodyPr wrap="square">
            <a:spAutoFit/>
          </a:bodyPr>
          <a:lstStyle/>
          <a:p>
            <a:pPr algn="ctr">
              <a:defRPr sz="1200">
                <a:solidFill>
                  <a:srgbClr val="D1D5DB"/>
                </a:solidFill>
              </a:defRPr>
            </a:pPr>
            <a:r>
              <a:t>"What will happen?"</a:t>
            </a:r>
            <a:br/>
            <a:r>
              <a:t>Q1 forecast: $2.4M</a:t>
            </a:r>
            <a:br/>
            <a:r>
              <a:t>based on pipeline</a:t>
            </a:r>
          </a:p>
        </p:txBody>
      </p:sp>
      <p:sp>
        <p:nvSpPr>
          <p:cNvPr id="19" name="Rounded Rectangle 18"/>
          <p:cNvSpPr/>
          <p:nvPr/>
        </p:nvSpPr>
        <p:spPr>
          <a:xfrm>
            <a:off x="7132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59" y="1920240"/>
            <a:ext cx="1920240" cy="457200"/>
          </a:xfrm>
          <a:prstGeom prst="rect">
            <a:avLst/>
          </a:prstGeom>
          <a:noFill/>
        </p:spPr>
        <p:txBody>
          <a:bodyPr wrap="none">
            <a:spAutoFit/>
          </a:bodyPr>
          <a:lstStyle/>
          <a:p>
            <a:pPr algn="ctr">
              <a:defRPr sz="2800"/>
            </a:pPr>
            <a:r>
              <a:t>💡</a:t>
            </a:r>
          </a:p>
        </p:txBody>
      </p:sp>
      <p:sp>
        <p:nvSpPr>
          <p:cNvPr id="21" name="TextBox 20"/>
          <p:cNvSpPr txBox="1"/>
          <p:nvPr/>
        </p:nvSpPr>
        <p:spPr>
          <a:xfrm>
            <a:off x="7223759" y="2377440"/>
            <a:ext cx="1920240" cy="365760"/>
          </a:xfrm>
          <a:prstGeom prst="rect">
            <a:avLst/>
          </a:prstGeom>
          <a:noFill/>
        </p:spPr>
        <p:txBody>
          <a:bodyPr wrap="none">
            <a:spAutoFit/>
          </a:bodyPr>
          <a:lstStyle/>
          <a:p>
            <a:pPr algn="ctr">
              <a:defRPr sz="1800" b="1">
                <a:solidFill>
                  <a:srgbClr val="FFFFFF"/>
                </a:solidFill>
              </a:defRPr>
            </a:pPr>
            <a:r>
              <a:t>Prescriptive</a:t>
            </a:r>
          </a:p>
        </p:txBody>
      </p:sp>
      <p:sp>
        <p:nvSpPr>
          <p:cNvPr id="22" name="TextBox 21"/>
          <p:cNvSpPr txBox="1"/>
          <p:nvPr/>
        </p:nvSpPr>
        <p:spPr>
          <a:xfrm>
            <a:off x="7223759" y="2743200"/>
            <a:ext cx="1920240" cy="365760"/>
          </a:xfrm>
          <a:prstGeom prst="rect">
            <a:avLst/>
          </a:prstGeom>
          <a:noFill/>
        </p:spPr>
        <p:txBody>
          <a:bodyPr wrap="none">
            <a:spAutoFit/>
          </a:bodyPr>
          <a:lstStyle/>
          <a:p>
            <a:pPr algn="ctr">
              <a:defRPr sz="1200" i="1">
                <a:solidFill>
                  <a:srgbClr val="14B8A6"/>
                </a:solidFill>
              </a:defRPr>
            </a:pPr>
            <a:r>
              <a:t>Optimize future data</a:t>
            </a:r>
          </a:p>
        </p:txBody>
      </p:sp>
      <p:sp>
        <p:nvSpPr>
          <p:cNvPr id="23" name="TextBox 22"/>
          <p:cNvSpPr txBox="1"/>
          <p:nvPr/>
        </p:nvSpPr>
        <p:spPr>
          <a:xfrm>
            <a:off x="7223759" y="3200400"/>
            <a:ext cx="1920240" cy="2194560"/>
          </a:xfrm>
          <a:prstGeom prst="rect">
            <a:avLst/>
          </a:prstGeom>
          <a:noFill/>
        </p:spPr>
        <p:txBody>
          <a:bodyPr wrap="square">
            <a:spAutoFit/>
          </a:bodyPr>
          <a:lstStyle/>
          <a:p>
            <a:pPr algn="ctr">
              <a:defRPr sz="1200">
                <a:solidFill>
                  <a:srgbClr val="D1D5DB"/>
                </a:solidFill>
              </a:defRPr>
            </a:pPr>
            <a:r>
              <a:t>"What should we do?"</a:t>
            </a:r>
            <a:br/>
            <a:r>
              <a:t>Reallocate territory,</a:t>
            </a:r>
            <a:br/>
            <a:r>
              <a:t>hire 2 reps in NE</a:t>
            </a:r>
          </a:p>
        </p:txBody>
      </p:sp>
      <p:sp>
        <p:nvSpPr>
          <p:cNvPr id="24" name="Rounded Rectangle 23"/>
          <p:cNvSpPr/>
          <p:nvPr/>
        </p:nvSpPr>
        <p:spPr>
          <a:xfrm>
            <a:off x="9418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0" y="1920240"/>
            <a:ext cx="1920240" cy="457200"/>
          </a:xfrm>
          <a:prstGeom prst="rect">
            <a:avLst/>
          </a:prstGeom>
          <a:noFill/>
        </p:spPr>
        <p:txBody>
          <a:bodyPr wrap="none">
            <a:spAutoFit/>
          </a:bodyPr>
          <a:lstStyle/>
          <a:p>
            <a:pPr algn="ctr">
              <a:defRPr sz="2800"/>
            </a:pPr>
            <a:r>
              <a:t>🤖</a:t>
            </a:r>
          </a:p>
        </p:txBody>
      </p:sp>
      <p:sp>
        <p:nvSpPr>
          <p:cNvPr id="26" name="TextBox 25"/>
          <p:cNvSpPr txBox="1"/>
          <p:nvPr/>
        </p:nvSpPr>
        <p:spPr>
          <a:xfrm>
            <a:off x="9509760" y="2377440"/>
            <a:ext cx="1920240" cy="365760"/>
          </a:xfrm>
          <a:prstGeom prst="rect">
            <a:avLst/>
          </a:prstGeom>
          <a:noFill/>
        </p:spPr>
        <p:txBody>
          <a:bodyPr wrap="none">
            <a:spAutoFit/>
          </a:bodyPr>
          <a:lstStyle/>
          <a:p>
            <a:pPr algn="ctr">
              <a:defRPr sz="1800" b="1">
                <a:solidFill>
                  <a:srgbClr val="FFFFFF"/>
                </a:solidFill>
              </a:defRPr>
            </a:pPr>
            <a:r>
              <a:t>AI</a:t>
            </a:r>
          </a:p>
        </p:txBody>
      </p:sp>
      <p:sp>
        <p:nvSpPr>
          <p:cNvPr id="27" name="TextBox 26"/>
          <p:cNvSpPr txBox="1"/>
          <p:nvPr/>
        </p:nvSpPr>
        <p:spPr>
          <a:xfrm>
            <a:off x="9509760" y="2743200"/>
            <a:ext cx="1920240" cy="365760"/>
          </a:xfrm>
          <a:prstGeom prst="rect">
            <a:avLst/>
          </a:prstGeom>
          <a:noFill/>
        </p:spPr>
        <p:txBody>
          <a:bodyPr wrap="none">
            <a:spAutoFit/>
          </a:bodyPr>
          <a:lstStyle/>
          <a:p>
            <a:pPr algn="ctr">
              <a:defRPr sz="1200" i="1">
                <a:solidFill>
                  <a:srgbClr val="14B8A6"/>
                </a:solidFill>
              </a:defRPr>
            </a:pPr>
            <a:r>
              <a:t>Learn from data</a:t>
            </a:r>
          </a:p>
        </p:txBody>
      </p:sp>
      <p:sp>
        <p:nvSpPr>
          <p:cNvPr id="28" name="TextBox 27"/>
          <p:cNvSpPr txBox="1"/>
          <p:nvPr/>
        </p:nvSpPr>
        <p:spPr>
          <a:xfrm>
            <a:off x="9509760" y="3200400"/>
            <a:ext cx="1920240" cy="2194560"/>
          </a:xfrm>
          <a:prstGeom prst="rect">
            <a:avLst/>
          </a:prstGeom>
          <a:noFill/>
        </p:spPr>
        <p:txBody>
          <a:bodyPr wrap="square">
            <a:spAutoFit/>
          </a:bodyPr>
          <a:lstStyle/>
          <a:p>
            <a:pPr algn="ctr">
              <a:defRPr sz="1200">
                <a:solidFill>
                  <a:srgbClr val="D1D5DB"/>
                </a:solidFill>
              </a:defRPr>
            </a:pPr>
            <a:r>
              <a:t>"What patterns exist?"</a:t>
            </a:r>
            <a:br/>
            <a:r>
              <a:t>3-year trend shows</a:t>
            </a:r>
            <a:br/>
            <a:r>
              <a:t>Q4 always dips 8-12%</a:t>
            </a:r>
          </a:p>
        </p:txBody>
      </p:sp>
      <p:sp>
        <p:nvSpPr>
          <p:cNvPr id="29" name="TextBox 28"/>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Claude handles all five levels. The quality of your analysis depends on which level you ask for.</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What Are Skills?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Repeatable instructions Claude follows in any chat — your saved workflows</a:t>
            </a:r>
          </a:p>
        </p:txBody>
      </p:sp>
      <p:sp>
        <p:nvSpPr>
          <p:cNvPr id="4" name="Rounded Rectangle 3"/>
          <p:cNvSpPr/>
          <p:nvPr/>
        </p:nvSpPr>
        <p:spPr>
          <a:xfrm>
            <a:off x="457200"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3108960"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3108960" cy="365760"/>
          </a:xfrm>
          <a:prstGeom prst="rect">
            <a:avLst/>
          </a:prstGeom>
          <a:noFill/>
        </p:spPr>
        <p:txBody>
          <a:bodyPr wrap="none">
            <a:spAutoFit/>
          </a:bodyPr>
          <a:lstStyle/>
          <a:p>
            <a:pPr algn="ctr">
              <a:defRPr sz="1600" b="1">
                <a:solidFill>
                  <a:srgbClr val="FFFFFF"/>
                </a:solidFill>
              </a:defRPr>
            </a:pPr>
            <a:r>
              <a:t>Reusable</a:t>
            </a:r>
          </a:p>
        </p:txBody>
      </p:sp>
      <p:sp>
        <p:nvSpPr>
          <p:cNvPr id="7" name="TextBox 6"/>
          <p:cNvSpPr txBox="1"/>
          <p:nvPr/>
        </p:nvSpPr>
        <p:spPr>
          <a:xfrm>
            <a:off x="640080" y="2651760"/>
            <a:ext cx="3108960" cy="1463039"/>
          </a:xfrm>
          <a:prstGeom prst="rect">
            <a:avLst/>
          </a:prstGeom>
          <a:noFill/>
        </p:spPr>
        <p:txBody>
          <a:bodyPr wrap="square">
            <a:spAutoFit/>
          </a:bodyPr>
          <a:lstStyle/>
          <a:p>
            <a:pPr algn="ctr">
              <a:defRPr sz="1300">
                <a:solidFill>
                  <a:srgbClr val="D1D5DB"/>
                </a:solidFill>
              </a:defRPr>
            </a:pPr>
            <a:r>
              <a:t>Create once, use forever.</a:t>
            </a:r>
            <a:br/>
            <a:r>
              <a:t>Skills apply across all</a:t>
            </a:r>
            <a:br/>
            <a:r>
              <a:t>your conversations.</a:t>
            </a:r>
            <a:br/>
            <a:r>
              <a:t>No re-explaining needed.</a:t>
            </a:r>
          </a:p>
        </p:txBody>
      </p:sp>
      <p:sp>
        <p:nvSpPr>
          <p:cNvPr id="8" name="Rounded Rectangle 7"/>
          <p:cNvSpPr/>
          <p:nvPr/>
        </p:nvSpPr>
        <p:spPr>
          <a:xfrm>
            <a:off x="4206240"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874519"/>
            <a:ext cx="3108960" cy="365760"/>
          </a:xfrm>
          <a:prstGeom prst="rect">
            <a:avLst/>
          </a:prstGeom>
          <a:noFill/>
        </p:spPr>
        <p:txBody>
          <a:bodyPr wrap="none">
            <a:spAutoFit/>
          </a:bodyPr>
          <a:lstStyle/>
          <a:p>
            <a:pPr algn="ctr">
              <a:defRPr sz="2600"/>
            </a:pPr>
            <a:r>
              <a:t>📋</a:t>
            </a:r>
          </a:p>
        </p:txBody>
      </p:sp>
      <p:sp>
        <p:nvSpPr>
          <p:cNvPr id="10" name="TextBox 9"/>
          <p:cNvSpPr txBox="1"/>
          <p:nvPr/>
        </p:nvSpPr>
        <p:spPr>
          <a:xfrm>
            <a:off x="4389120" y="2240280"/>
            <a:ext cx="3108960" cy="365760"/>
          </a:xfrm>
          <a:prstGeom prst="rect">
            <a:avLst/>
          </a:prstGeom>
          <a:noFill/>
        </p:spPr>
        <p:txBody>
          <a:bodyPr wrap="none">
            <a:spAutoFit/>
          </a:bodyPr>
          <a:lstStyle/>
          <a:p>
            <a:pPr algn="ctr">
              <a:defRPr sz="1600" b="1">
                <a:solidFill>
                  <a:srgbClr val="FFFFFF"/>
                </a:solidFill>
              </a:defRPr>
            </a:pPr>
            <a:r>
              <a:t>Consistent</a:t>
            </a:r>
          </a:p>
        </p:txBody>
      </p:sp>
      <p:sp>
        <p:nvSpPr>
          <p:cNvPr id="11" name="TextBox 10"/>
          <p:cNvSpPr txBox="1"/>
          <p:nvPr/>
        </p:nvSpPr>
        <p:spPr>
          <a:xfrm>
            <a:off x="4389120" y="2651760"/>
            <a:ext cx="3108960" cy="1463039"/>
          </a:xfrm>
          <a:prstGeom prst="rect">
            <a:avLst/>
          </a:prstGeom>
          <a:noFill/>
        </p:spPr>
        <p:txBody>
          <a:bodyPr wrap="square">
            <a:spAutoFit/>
          </a:bodyPr>
          <a:lstStyle/>
          <a:p>
            <a:pPr algn="ctr">
              <a:defRPr sz="1300">
                <a:solidFill>
                  <a:srgbClr val="D1D5DB"/>
                </a:solidFill>
              </a:defRPr>
            </a:pPr>
            <a:r>
              <a:t>Same output format</a:t>
            </a:r>
            <a:br/>
            <a:r>
              <a:t>every time. Reports,</a:t>
            </a:r>
            <a:br/>
            <a:r>
              <a:t>emails, analysis —</a:t>
            </a:r>
            <a:br/>
            <a:r>
              <a:t>always your way.</a:t>
            </a:r>
          </a:p>
        </p:txBody>
      </p:sp>
      <p:sp>
        <p:nvSpPr>
          <p:cNvPr id="12" name="Rounded Rectangle 11"/>
          <p:cNvSpPr/>
          <p:nvPr/>
        </p:nvSpPr>
        <p:spPr>
          <a:xfrm>
            <a:off x="7955279"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874519"/>
            <a:ext cx="3108960" cy="365760"/>
          </a:xfrm>
          <a:prstGeom prst="rect">
            <a:avLst/>
          </a:prstGeom>
          <a:noFill/>
        </p:spPr>
        <p:txBody>
          <a:bodyPr wrap="none">
            <a:spAutoFit/>
          </a:bodyPr>
          <a:lstStyle/>
          <a:p>
            <a:pPr algn="ctr">
              <a:defRPr sz="2600"/>
            </a:pPr>
            <a:r>
              <a:t>⚡</a:t>
            </a:r>
          </a:p>
        </p:txBody>
      </p:sp>
      <p:sp>
        <p:nvSpPr>
          <p:cNvPr id="14" name="TextBox 13"/>
          <p:cNvSpPr txBox="1"/>
          <p:nvPr/>
        </p:nvSpPr>
        <p:spPr>
          <a:xfrm>
            <a:off x="8138159" y="2240280"/>
            <a:ext cx="3108960" cy="365760"/>
          </a:xfrm>
          <a:prstGeom prst="rect">
            <a:avLst/>
          </a:prstGeom>
          <a:noFill/>
        </p:spPr>
        <p:txBody>
          <a:bodyPr wrap="none">
            <a:spAutoFit/>
          </a:bodyPr>
          <a:lstStyle/>
          <a:p>
            <a:pPr algn="ctr">
              <a:defRPr sz="1600" b="1">
                <a:solidFill>
                  <a:srgbClr val="FFFFFF"/>
                </a:solidFill>
              </a:defRPr>
            </a:pPr>
            <a:r>
              <a:t>Instant</a:t>
            </a:r>
          </a:p>
        </p:txBody>
      </p:sp>
      <p:sp>
        <p:nvSpPr>
          <p:cNvPr id="15" name="TextBox 14"/>
          <p:cNvSpPr txBox="1"/>
          <p:nvPr/>
        </p:nvSpPr>
        <p:spPr>
          <a:xfrm>
            <a:off x="8138159" y="2651760"/>
            <a:ext cx="3108960" cy="1463039"/>
          </a:xfrm>
          <a:prstGeom prst="rect">
            <a:avLst/>
          </a:prstGeom>
          <a:noFill/>
        </p:spPr>
        <p:txBody>
          <a:bodyPr wrap="square">
            <a:spAutoFit/>
          </a:bodyPr>
          <a:lstStyle/>
          <a:p>
            <a:pPr algn="ctr">
              <a:defRPr sz="1300">
                <a:solidFill>
                  <a:srgbClr val="D1D5DB"/>
                </a:solidFill>
              </a:defRPr>
            </a:pPr>
            <a:r>
              <a:t>One click to activate.</a:t>
            </a:r>
            <a:br/>
            <a:r>
              <a:t>No copying prompts.</a:t>
            </a:r>
            <a:br/>
            <a:r>
              <a:t>No remembering steps.</a:t>
            </a:r>
            <a:br/>
            <a:r>
              <a:t>Just results.</a:t>
            </a:r>
          </a:p>
        </p:txBody>
      </p:sp>
      <p:sp>
        <p:nvSpPr>
          <p:cNvPr id="16" name="TextBox 15"/>
          <p:cNvSpPr txBox="1"/>
          <p:nvPr/>
        </p:nvSpPr>
        <p:spPr>
          <a:xfrm>
            <a:off x="457200" y="4754880"/>
            <a:ext cx="11247120" cy="914400"/>
          </a:xfrm>
          <a:prstGeom prst="rect">
            <a:avLst/>
          </a:prstGeom>
          <a:noFill/>
        </p:spPr>
        <p:txBody>
          <a:bodyPr wrap="square">
            <a:spAutoFit/>
          </a:bodyPr>
          <a:lstStyle/>
          <a:p>
            <a:pPr algn="ctr">
              <a:defRPr sz="1400">
                <a:solidFill>
                  <a:srgbClr val="14B8A6"/>
                </a:solidFill>
              </a:defRPr>
            </a:pPr>
            <a:r>
              <a:t>Think of Skills as the difference between giving directions every time vs. saving the address.</a:t>
            </a:r>
            <a:br/>
            <a:r>
              <a:t>Preferences = who you are  •  Projects = what you're working on  •  Skills = how you work</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Creating a Skill — Three Ways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Settings → Skills → New Skill</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3108960"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3108960" cy="365760"/>
          </a:xfrm>
          <a:prstGeom prst="rect">
            <a:avLst/>
          </a:prstGeom>
          <a:noFill/>
        </p:spPr>
        <p:txBody>
          <a:bodyPr wrap="none">
            <a:spAutoFit/>
          </a:bodyPr>
          <a:lstStyle/>
          <a:p>
            <a:pPr algn="ctr">
              <a:defRPr sz="1600" b="1">
                <a:solidFill>
                  <a:srgbClr val="FFFFFF"/>
                </a:solidFill>
              </a:defRPr>
            </a:pPr>
            <a:r>
              <a:t>Create with Claude</a:t>
            </a:r>
          </a:p>
        </p:txBody>
      </p:sp>
      <p:sp>
        <p:nvSpPr>
          <p:cNvPr id="7" name="TextBox 6"/>
          <p:cNvSpPr txBox="1"/>
          <p:nvPr/>
        </p:nvSpPr>
        <p:spPr>
          <a:xfrm>
            <a:off x="640080" y="2651760"/>
            <a:ext cx="3108960" cy="2103120"/>
          </a:xfrm>
          <a:prstGeom prst="rect">
            <a:avLst/>
          </a:prstGeom>
          <a:noFill/>
        </p:spPr>
        <p:txBody>
          <a:bodyPr wrap="square">
            <a:spAutoFit/>
          </a:bodyPr>
          <a:lstStyle/>
          <a:p>
            <a:pPr algn="ctr">
              <a:defRPr sz="1300">
                <a:solidFill>
                  <a:srgbClr val="D1D5DB"/>
                </a:solidFill>
              </a:defRPr>
            </a:pPr>
            <a:r>
              <a:t>Have a conversation.</a:t>
            </a:r>
            <a:br/>
            <a:r>
              <a:t>Describe what you want.</a:t>
            </a:r>
            <a:br/>
            <a:r>
              <a:t>Claude builds the skill</a:t>
            </a:r>
            <a:br/>
            <a:r>
              <a:t>for you step by step.</a:t>
            </a:r>
            <a:br/>
            <a:br/>
            <a:r>
              <a:t>Best for: Complex skills</a:t>
            </a:r>
            <a:br/>
            <a:r>
              <a:t>with multiple steps</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874519"/>
            <a:ext cx="3108960" cy="365760"/>
          </a:xfrm>
          <a:prstGeom prst="rect">
            <a:avLst/>
          </a:prstGeom>
          <a:noFill/>
        </p:spPr>
        <p:txBody>
          <a:bodyPr wrap="none">
            <a:spAutoFit/>
          </a:bodyPr>
          <a:lstStyle/>
          <a:p>
            <a:pPr algn="ctr">
              <a:defRPr sz="2600"/>
            </a:pPr>
            <a:r>
              <a:t>✍️</a:t>
            </a:r>
          </a:p>
        </p:txBody>
      </p:sp>
      <p:sp>
        <p:nvSpPr>
          <p:cNvPr id="10" name="TextBox 9"/>
          <p:cNvSpPr txBox="1"/>
          <p:nvPr/>
        </p:nvSpPr>
        <p:spPr>
          <a:xfrm>
            <a:off x="4389120" y="2240280"/>
            <a:ext cx="3108960" cy="365760"/>
          </a:xfrm>
          <a:prstGeom prst="rect">
            <a:avLst/>
          </a:prstGeom>
          <a:noFill/>
        </p:spPr>
        <p:txBody>
          <a:bodyPr wrap="none">
            <a:spAutoFit/>
          </a:bodyPr>
          <a:lstStyle/>
          <a:p>
            <a:pPr algn="ctr">
              <a:defRPr sz="1600" b="1">
                <a:solidFill>
                  <a:srgbClr val="FFFFFF"/>
                </a:solidFill>
              </a:defRPr>
            </a:pPr>
            <a:r>
              <a:t>Write Instructions</a:t>
            </a:r>
          </a:p>
        </p:txBody>
      </p:sp>
      <p:sp>
        <p:nvSpPr>
          <p:cNvPr id="11" name="TextBox 10"/>
          <p:cNvSpPr txBox="1"/>
          <p:nvPr/>
        </p:nvSpPr>
        <p:spPr>
          <a:xfrm>
            <a:off x="4389120" y="2651760"/>
            <a:ext cx="3108960" cy="2103120"/>
          </a:xfrm>
          <a:prstGeom prst="rect">
            <a:avLst/>
          </a:prstGeom>
          <a:noFill/>
        </p:spPr>
        <p:txBody>
          <a:bodyPr wrap="square">
            <a:spAutoFit/>
          </a:bodyPr>
          <a:lstStyle/>
          <a:p>
            <a:pPr algn="ctr">
              <a:defRPr sz="1300">
                <a:solidFill>
                  <a:srgbClr val="D1D5DB"/>
                </a:solidFill>
              </a:defRPr>
            </a:pPr>
            <a:r>
              <a:t>Type your own rules.</a:t>
            </a:r>
            <a:br/>
            <a:r>
              <a:t>Plain English works.</a:t>
            </a:r>
            <a:br/>
            <a:r>
              <a:t>Be specific about</a:t>
            </a:r>
            <a:br/>
            <a:r>
              <a:t>format, tone, length.</a:t>
            </a:r>
            <a:br/>
            <a:br/>
            <a:r>
              <a:t>Best for: Simple skills</a:t>
            </a:r>
            <a:br/>
            <a:r>
              <a:t>you can describe easily</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874519"/>
            <a:ext cx="3108960" cy="365760"/>
          </a:xfrm>
          <a:prstGeom prst="rect">
            <a:avLst/>
          </a:prstGeom>
          <a:noFill/>
        </p:spPr>
        <p:txBody>
          <a:bodyPr wrap="none">
            <a:spAutoFit/>
          </a:bodyPr>
          <a:lstStyle/>
          <a:p>
            <a:pPr algn="ctr">
              <a:defRPr sz="2600"/>
            </a:pPr>
            <a:r>
              <a:t>📤</a:t>
            </a:r>
          </a:p>
        </p:txBody>
      </p:sp>
      <p:sp>
        <p:nvSpPr>
          <p:cNvPr id="14" name="TextBox 13"/>
          <p:cNvSpPr txBox="1"/>
          <p:nvPr/>
        </p:nvSpPr>
        <p:spPr>
          <a:xfrm>
            <a:off x="8138159" y="2240280"/>
            <a:ext cx="3108960" cy="365760"/>
          </a:xfrm>
          <a:prstGeom prst="rect">
            <a:avLst/>
          </a:prstGeom>
          <a:noFill/>
        </p:spPr>
        <p:txBody>
          <a:bodyPr wrap="none">
            <a:spAutoFit/>
          </a:bodyPr>
          <a:lstStyle/>
          <a:p>
            <a:pPr algn="ctr">
              <a:defRPr sz="1600" b="1">
                <a:solidFill>
                  <a:srgbClr val="FFFFFF"/>
                </a:solidFill>
              </a:defRPr>
            </a:pPr>
            <a:r>
              <a:t>Upload a Skill</a:t>
            </a:r>
          </a:p>
        </p:txBody>
      </p:sp>
      <p:sp>
        <p:nvSpPr>
          <p:cNvPr id="15" name="TextBox 14"/>
          <p:cNvSpPr txBox="1"/>
          <p:nvPr/>
        </p:nvSpPr>
        <p:spPr>
          <a:xfrm>
            <a:off x="8138159" y="2651760"/>
            <a:ext cx="3108960" cy="2103120"/>
          </a:xfrm>
          <a:prstGeom prst="rect">
            <a:avLst/>
          </a:prstGeom>
          <a:noFill/>
        </p:spPr>
        <p:txBody>
          <a:bodyPr wrap="square">
            <a:spAutoFit/>
          </a:bodyPr>
          <a:lstStyle/>
          <a:p>
            <a:pPr algn="ctr">
              <a:defRPr sz="1300">
                <a:solidFill>
                  <a:srgbClr val="D1D5DB"/>
                </a:solidFill>
              </a:defRPr>
            </a:pPr>
            <a:r>
              <a:t>Import .zip, .skill,</a:t>
            </a:r>
            <a:br/>
            <a:r>
              <a:t>or .md files.</a:t>
            </a:r>
            <a:br/>
            <a:r>
              <a:t>Share skills between</a:t>
            </a:r>
            <a:br/>
            <a:r>
              <a:t>accounts and teams.</a:t>
            </a:r>
            <a:br/>
            <a:br/>
            <a:r>
              <a:t>Best for: Skills from</a:t>
            </a:r>
            <a:br/>
            <a:r>
              <a:t>colleagues or community</a:t>
            </a:r>
          </a:p>
        </p:txBody>
      </p:sp>
      <p:sp>
        <p:nvSpPr>
          <p:cNvPr id="16" name="TextBox 15"/>
          <p:cNvSpPr txBox="1"/>
          <p:nvPr/>
        </p:nvSpPr>
        <p:spPr>
          <a:xfrm>
            <a:off x="457200" y="5303520"/>
            <a:ext cx="11247120" cy="457200"/>
          </a:xfrm>
          <a:prstGeom prst="rect">
            <a:avLst/>
          </a:prstGeom>
          <a:noFill/>
        </p:spPr>
        <p:txBody>
          <a:bodyPr wrap="none">
            <a:spAutoFit/>
          </a:bodyPr>
          <a:lstStyle/>
          <a:p>
            <a:pPr algn="ctr">
              <a:defRPr sz="1400" i="1">
                <a:solidFill>
                  <a:srgbClr val="14B8A6"/>
                </a:solidFill>
              </a:defRPr>
            </a:pPr>
            <a:r>
              <a:t>Pro tip: Start with 'Create with Claude' — it interviews you about what you need and builds the perfect skill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Skills You Should Build</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Start with your most repeated tasks — if you do it weekly, make it a Skill</a:t>
            </a:r>
          </a:p>
        </p:txBody>
      </p:sp>
      <p:sp>
        <p:nvSpPr>
          <p:cNvPr id="4" name="Rounded Rectangle 3"/>
          <p:cNvSpPr/>
          <p:nvPr/>
        </p:nvSpPr>
        <p:spPr>
          <a:xfrm>
            <a:off x="457200" y="16459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4937759" cy="365760"/>
          </a:xfrm>
          <a:prstGeom prst="rect">
            <a:avLst/>
          </a:prstGeom>
          <a:noFill/>
        </p:spPr>
        <p:txBody>
          <a:bodyPr wrap="none">
            <a:spAutoFit/>
          </a:bodyPr>
          <a:lstStyle/>
          <a:p>
            <a:pPr algn="ctr">
              <a:defRPr sz="2600"/>
            </a:pPr>
            <a:r>
              <a:t>📧</a:t>
            </a:r>
          </a:p>
        </p:txBody>
      </p:sp>
      <p:sp>
        <p:nvSpPr>
          <p:cNvPr id="6" name="TextBox 5"/>
          <p:cNvSpPr txBox="1"/>
          <p:nvPr/>
        </p:nvSpPr>
        <p:spPr>
          <a:xfrm>
            <a:off x="640080" y="2148840"/>
            <a:ext cx="4937759" cy="365760"/>
          </a:xfrm>
          <a:prstGeom prst="rect">
            <a:avLst/>
          </a:prstGeom>
          <a:noFill/>
        </p:spPr>
        <p:txBody>
          <a:bodyPr wrap="none">
            <a:spAutoFit/>
          </a:bodyPr>
          <a:lstStyle/>
          <a:p>
            <a:pPr algn="ctr">
              <a:defRPr sz="1600" b="1">
                <a:solidFill>
                  <a:srgbClr val="FFFFFF"/>
                </a:solidFill>
              </a:defRPr>
            </a:pPr>
            <a:r>
              <a:t>Email Templates</a:t>
            </a:r>
          </a:p>
        </p:txBody>
      </p:sp>
      <p:sp>
        <p:nvSpPr>
          <p:cNvPr id="7" name="TextBox 6"/>
          <p:cNvSpPr txBox="1"/>
          <p:nvPr/>
        </p:nvSpPr>
        <p:spPr>
          <a:xfrm>
            <a:off x="640080" y="2560320"/>
            <a:ext cx="4937759" cy="91440"/>
          </a:xfrm>
          <a:prstGeom prst="rect">
            <a:avLst/>
          </a:prstGeom>
          <a:noFill/>
        </p:spPr>
        <p:txBody>
          <a:bodyPr wrap="square">
            <a:spAutoFit/>
          </a:bodyPr>
          <a:lstStyle/>
          <a:p>
            <a:pPr algn="ctr">
              <a:defRPr sz="1300">
                <a:solidFill>
                  <a:srgbClr val="D1D5DB"/>
                </a:solidFill>
              </a:defRPr>
            </a:pPr>
            <a:r>
              <a:t>Meeting follow-ups, client updates,</a:t>
            </a:r>
            <a:br/>
            <a:r>
              <a:t>project status — consistent tone every time</a:t>
            </a:r>
          </a:p>
        </p:txBody>
      </p:sp>
      <p:sp>
        <p:nvSpPr>
          <p:cNvPr id="8" name="Rounded Rectangle 7"/>
          <p:cNvSpPr/>
          <p:nvPr/>
        </p:nvSpPr>
        <p:spPr>
          <a:xfrm>
            <a:off x="457200" y="30175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154679"/>
            <a:ext cx="4937759" cy="365760"/>
          </a:xfrm>
          <a:prstGeom prst="rect">
            <a:avLst/>
          </a:prstGeom>
          <a:noFill/>
        </p:spPr>
        <p:txBody>
          <a:bodyPr wrap="none">
            <a:spAutoFit/>
          </a:bodyPr>
          <a:lstStyle/>
          <a:p>
            <a:pPr algn="ctr">
              <a:defRPr sz="2600"/>
            </a:pPr>
            <a:r>
              <a:t>📊</a:t>
            </a:r>
          </a:p>
        </p:txBody>
      </p:sp>
      <p:sp>
        <p:nvSpPr>
          <p:cNvPr id="10" name="TextBox 9"/>
          <p:cNvSpPr txBox="1"/>
          <p:nvPr/>
        </p:nvSpPr>
        <p:spPr>
          <a:xfrm>
            <a:off x="640080" y="3520439"/>
            <a:ext cx="4937759" cy="365760"/>
          </a:xfrm>
          <a:prstGeom prst="rect">
            <a:avLst/>
          </a:prstGeom>
          <a:noFill/>
        </p:spPr>
        <p:txBody>
          <a:bodyPr wrap="none">
            <a:spAutoFit/>
          </a:bodyPr>
          <a:lstStyle/>
          <a:p>
            <a:pPr algn="ctr">
              <a:defRPr sz="1600" b="1">
                <a:solidFill>
                  <a:srgbClr val="FFFFFF"/>
                </a:solidFill>
              </a:defRPr>
            </a:pPr>
            <a:r>
              <a:t>Report Formatting</a:t>
            </a:r>
          </a:p>
        </p:txBody>
      </p:sp>
      <p:sp>
        <p:nvSpPr>
          <p:cNvPr id="11" name="TextBox 10"/>
          <p:cNvSpPr txBox="1"/>
          <p:nvPr/>
        </p:nvSpPr>
        <p:spPr>
          <a:xfrm>
            <a:off x="640080" y="3931920"/>
            <a:ext cx="4937759" cy="91440"/>
          </a:xfrm>
          <a:prstGeom prst="rect">
            <a:avLst/>
          </a:prstGeom>
          <a:noFill/>
        </p:spPr>
        <p:txBody>
          <a:bodyPr wrap="square">
            <a:spAutoFit/>
          </a:bodyPr>
          <a:lstStyle/>
          <a:p>
            <a:pPr algn="ctr">
              <a:defRPr sz="1300">
                <a:solidFill>
                  <a:srgbClr val="D1D5DB"/>
                </a:solidFill>
              </a:defRPr>
            </a:pPr>
            <a:r>
              <a:t>Weekly status, monthly metrics,</a:t>
            </a:r>
            <a:br/>
            <a:r>
              <a:t>quarterly reviews — same structure always</a:t>
            </a:r>
          </a:p>
        </p:txBody>
      </p:sp>
      <p:sp>
        <p:nvSpPr>
          <p:cNvPr id="12" name="Rounded Rectangle 11"/>
          <p:cNvSpPr/>
          <p:nvPr/>
        </p:nvSpPr>
        <p:spPr>
          <a:xfrm>
            <a:off x="457200" y="43891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526280"/>
            <a:ext cx="4937759" cy="365760"/>
          </a:xfrm>
          <a:prstGeom prst="rect">
            <a:avLst/>
          </a:prstGeom>
          <a:noFill/>
        </p:spPr>
        <p:txBody>
          <a:bodyPr wrap="none">
            <a:spAutoFit/>
          </a:bodyPr>
          <a:lstStyle/>
          <a:p>
            <a:pPr algn="ctr">
              <a:defRPr sz="2600"/>
            </a:pPr>
            <a:r>
              <a:t>📝</a:t>
            </a:r>
          </a:p>
        </p:txBody>
      </p:sp>
      <p:sp>
        <p:nvSpPr>
          <p:cNvPr id="14" name="TextBox 13"/>
          <p:cNvSpPr txBox="1"/>
          <p:nvPr/>
        </p:nvSpPr>
        <p:spPr>
          <a:xfrm>
            <a:off x="640080" y="4892040"/>
            <a:ext cx="4937759" cy="365760"/>
          </a:xfrm>
          <a:prstGeom prst="rect">
            <a:avLst/>
          </a:prstGeom>
          <a:noFill/>
        </p:spPr>
        <p:txBody>
          <a:bodyPr wrap="none">
            <a:spAutoFit/>
          </a:bodyPr>
          <a:lstStyle/>
          <a:p>
            <a:pPr algn="ctr">
              <a:defRPr sz="1600" b="1">
                <a:solidFill>
                  <a:srgbClr val="FFFFFF"/>
                </a:solidFill>
              </a:defRPr>
            </a:pPr>
            <a:r>
              <a:t>Document Standards</a:t>
            </a:r>
          </a:p>
        </p:txBody>
      </p:sp>
      <p:sp>
        <p:nvSpPr>
          <p:cNvPr id="15" name="TextBox 14"/>
          <p:cNvSpPr txBox="1"/>
          <p:nvPr/>
        </p:nvSpPr>
        <p:spPr>
          <a:xfrm>
            <a:off x="640080" y="5303520"/>
            <a:ext cx="4937759" cy="91440"/>
          </a:xfrm>
          <a:prstGeom prst="rect">
            <a:avLst/>
          </a:prstGeom>
          <a:noFill/>
        </p:spPr>
        <p:txBody>
          <a:bodyPr wrap="square">
            <a:spAutoFit/>
          </a:bodyPr>
          <a:lstStyle/>
          <a:p>
            <a:pPr algn="ctr">
              <a:defRPr sz="1300">
                <a:solidFill>
                  <a:srgbClr val="D1D5DB"/>
                </a:solidFill>
              </a:defRPr>
            </a:pPr>
            <a:r>
              <a:t>SOPs, proposals, briefs —</a:t>
            </a:r>
            <a:br/>
            <a:r>
              <a:t>your company's format, automatically</a:t>
            </a:r>
          </a:p>
        </p:txBody>
      </p:sp>
      <p:sp>
        <p:nvSpPr>
          <p:cNvPr id="16" name="Rounded Rectangle 15"/>
          <p:cNvSpPr/>
          <p:nvPr/>
        </p:nvSpPr>
        <p:spPr>
          <a:xfrm>
            <a:off x="6217920" y="16459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83080"/>
            <a:ext cx="4937759" cy="365760"/>
          </a:xfrm>
          <a:prstGeom prst="rect">
            <a:avLst/>
          </a:prstGeom>
          <a:noFill/>
        </p:spPr>
        <p:txBody>
          <a:bodyPr wrap="none">
            <a:spAutoFit/>
          </a:bodyPr>
          <a:lstStyle/>
          <a:p>
            <a:pPr algn="ctr">
              <a:defRPr sz="2600"/>
            </a:pPr>
            <a:r>
              <a:t>🔍</a:t>
            </a:r>
          </a:p>
        </p:txBody>
      </p:sp>
      <p:sp>
        <p:nvSpPr>
          <p:cNvPr id="18" name="TextBox 17"/>
          <p:cNvSpPr txBox="1"/>
          <p:nvPr/>
        </p:nvSpPr>
        <p:spPr>
          <a:xfrm>
            <a:off x="6400800" y="2148840"/>
            <a:ext cx="4937759" cy="365760"/>
          </a:xfrm>
          <a:prstGeom prst="rect">
            <a:avLst/>
          </a:prstGeom>
          <a:noFill/>
        </p:spPr>
        <p:txBody>
          <a:bodyPr wrap="none">
            <a:spAutoFit/>
          </a:bodyPr>
          <a:lstStyle/>
          <a:p>
            <a:pPr algn="ctr">
              <a:defRPr sz="1600" b="1">
                <a:solidFill>
                  <a:srgbClr val="FFFFFF"/>
                </a:solidFill>
              </a:defRPr>
            </a:pPr>
            <a:r>
              <a:t>Analysis Frameworks</a:t>
            </a:r>
          </a:p>
        </p:txBody>
      </p:sp>
      <p:sp>
        <p:nvSpPr>
          <p:cNvPr id="19" name="TextBox 18"/>
          <p:cNvSpPr txBox="1"/>
          <p:nvPr/>
        </p:nvSpPr>
        <p:spPr>
          <a:xfrm>
            <a:off x="6400800" y="2560320"/>
            <a:ext cx="4937759" cy="91440"/>
          </a:xfrm>
          <a:prstGeom prst="rect">
            <a:avLst/>
          </a:prstGeom>
          <a:noFill/>
        </p:spPr>
        <p:txBody>
          <a:bodyPr wrap="square">
            <a:spAutoFit/>
          </a:bodyPr>
          <a:lstStyle/>
          <a:p>
            <a:pPr algn="ctr">
              <a:defRPr sz="1300">
                <a:solidFill>
                  <a:srgbClr val="D1D5DB"/>
                </a:solidFill>
              </a:defRPr>
            </a:pPr>
            <a:r>
              <a:t>SWOT, competitive, financial —</a:t>
            </a:r>
            <a:br/>
            <a:r>
              <a:t>structured thinking on demand</a:t>
            </a:r>
          </a:p>
        </p:txBody>
      </p:sp>
      <p:sp>
        <p:nvSpPr>
          <p:cNvPr id="20" name="Rounded Rectangle 19"/>
          <p:cNvSpPr/>
          <p:nvPr/>
        </p:nvSpPr>
        <p:spPr>
          <a:xfrm>
            <a:off x="6217920" y="30175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154679"/>
            <a:ext cx="4937759" cy="365760"/>
          </a:xfrm>
          <a:prstGeom prst="rect">
            <a:avLst/>
          </a:prstGeom>
          <a:noFill/>
        </p:spPr>
        <p:txBody>
          <a:bodyPr wrap="none">
            <a:spAutoFit/>
          </a:bodyPr>
          <a:lstStyle/>
          <a:p>
            <a:pPr algn="ctr">
              <a:defRPr sz="2600"/>
            </a:pPr>
            <a:r>
              <a:t>💼</a:t>
            </a:r>
          </a:p>
        </p:txBody>
      </p:sp>
      <p:sp>
        <p:nvSpPr>
          <p:cNvPr id="22" name="TextBox 21"/>
          <p:cNvSpPr txBox="1"/>
          <p:nvPr/>
        </p:nvSpPr>
        <p:spPr>
          <a:xfrm>
            <a:off x="6400800" y="3520439"/>
            <a:ext cx="4937759" cy="365760"/>
          </a:xfrm>
          <a:prstGeom prst="rect">
            <a:avLst/>
          </a:prstGeom>
          <a:noFill/>
        </p:spPr>
        <p:txBody>
          <a:bodyPr wrap="none">
            <a:spAutoFit/>
          </a:bodyPr>
          <a:lstStyle/>
          <a:p>
            <a:pPr algn="ctr">
              <a:defRPr sz="1600" b="1">
                <a:solidFill>
                  <a:srgbClr val="FFFFFF"/>
                </a:solidFill>
              </a:defRPr>
            </a:pPr>
            <a:r>
              <a:t>Meeting Prep</a:t>
            </a:r>
          </a:p>
        </p:txBody>
      </p:sp>
      <p:sp>
        <p:nvSpPr>
          <p:cNvPr id="23" name="TextBox 22"/>
          <p:cNvSpPr txBox="1"/>
          <p:nvPr/>
        </p:nvSpPr>
        <p:spPr>
          <a:xfrm>
            <a:off x="6400800" y="3931920"/>
            <a:ext cx="4937759" cy="91440"/>
          </a:xfrm>
          <a:prstGeom prst="rect">
            <a:avLst/>
          </a:prstGeom>
          <a:noFill/>
        </p:spPr>
        <p:txBody>
          <a:bodyPr wrap="square">
            <a:spAutoFit/>
          </a:bodyPr>
          <a:lstStyle/>
          <a:p>
            <a:pPr algn="ctr">
              <a:defRPr sz="1300">
                <a:solidFill>
                  <a:srgbClr val="D1D5DB"/>
                </a:solidFill>
              </a:defRPr>
            </a:pPr>
            <a:r>
              <a:t>Agenda creation, talking points,</a:t>
            </a:r>
            <a:br/>
            <a:r>
              <a:t>pre-read summaries from raw notes</a:t>
            </a:r>
          </a:p>
        </p:txBody>
      </p:sp>
      <p:sp>
        <p:nvSpPr>
          <p:cNvPr id="24" name="Rounded Rectangle 23"/>
          <p:cNvSpPr/>
          <p:nvPr/>
        </p:nvSpPr>
        <p:spPr>
          <a:xfrm>
            <a:off x="6217920" y="43891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526280"/>
            <a:ext cx="4937759" cy="365760"/>
          </a:xfrm>
          <a:prstGeom prst="rect">
            <a:avLst/>
          </a:prstGeom>
          <a:noFill/>
        </p:spPr>
        <p:txBody>
          <a:bodyPr wrap="none">
            <a:spAutoFit/>
          </a:bodyPr>
          <a:lstStyle/>
          <a:p>
            <a:pPr algn="ctr">
              <a:defRPr sz="2600"/>
            </a:pPr>
            <a:r>
              <a:t>✅</a:t>
            </a:r>
          </a:p>
        </p:txBody>
      </p:sp>
      <p:sp>
        <p:nvSpPr>
          <p:cNvPr id="26" name="TextBox 25"/>
          <p:cNvSpPr txBox="1"/>
          <p:nvPr/>
        </p:nvSpPr>
        <p:spPr>
          <a:xfrm>
            <a:off x="6400800" y="4892040"/>
            <a:ext cx="4937759" cy="365760"/>
          </a:xfrm>
          <a:prstGeom prst="rect">
            <a:avLst/>
          </a:prstGeom>
          <a:noFill/>
        </p:spPr>
        <p:txBody>
          <a:bodyPr wrap="none">
            <a:spAutoFit/>
          </a:bodyPr>
          <a:lstStyle/>
          <a:p>
            <a:pPr algn="ctr">
              <a:defRPr sz="1600" b="1">
                <a:solidFill>
                  <a:srgbClr val="FFFFFF"/>
                </a:solidFill>
              </a:defRPr>
            </a:pPr>
            <a:r>
              <a:t>Review Checklists</a:t>
            </a:r>
          </a:p>
        </p:txBody>
      </p:sp>
      <p:sp>
        <p:nvSpPr>
          <p:cNvPr id="27" name="TextBox 26"/>
          <p:cNvSpPr txBox="1"/>
          <p:nvPr/>
        </p:nvSpPr>
        <p:spPr>
          <a:xfrm>
            <a:off x="6400800" y="5303520"/>
            <a:ext cx="4937759" cy="91440"/>
          </a:xfrm>
          <a:prstGeom prst="rect">
            <a:avLst/>
          </a:prstGeom>
          <a:noFill/>
        </p:spPr>
        <p:txBody>
          <a:bodyPr wrap="square">
            <a:spAutoFit/>
          </a:bodyPr>
          <a:lstStyle/>
          <a:p>
            <a:pPr algn="ctr">
              <a:defRPr sz="1300">
                <a:solidFill>
                  <a:srgbClr val="D1D5DB"/>
                </a:solidFill>
              </a:defRPr>
            </a:pPr>
            <a:r>
              <a:t>Contract review, code review,</a:t>
            </a:r>
            <a:br/>
            <a:r>
              <a:t>content review — never miss a step</a:t>
            </a:r>
          </a:p>
        </p:txBody>
      </p:sp>
      <p:sp>
        <p:nvSpPr>
          <p:cNvPr id="28" name="TextBox 27"/>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Rule of thumb: If you've written the same prompt 3+ times, it should be a Skill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Managing Your Skills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Settings → Skills — your skill library grows with you</a:t>
            </a:r>
          </a:p>
        </p:txBody>
      </p:sp>
      <p:sp>
        <p:nvSpPr>
          <p:cNvPr id="4" name="Rounded Rectangle 3"/>
          <p:cNvSpPr/>
          <p:nvPr/>
        </p:nvSpPr>
        <p:spPr>
          <a:xfrm>
            <a:off x="457200" y="173736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4937759"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4937759" cy="365760"/>
          </a:xfrm>
          <a:prstGeom prst="rect">
            <a:avLst/>
          </a:prstGeom>
          <a:noFill/>
        </p:spPr>
        <p:txBody>
          <a:bodyPr wrap="none">
            <a:spAutoFit/>
          </a:bodyPr>
          <a:lstStyle/>
          <a:p>
            <a:pPr algn="ctr">
              <a:defRPr sz="1600" b="1">
                <a:solidFill>
                  <a:srgbClr val="FFFFFF"/>
                </a:solidFill>
              </a:defRPr>
            </a:pPr>
            <a:r>
              <a:t>Enable &amp; Disable</a:t>
            </a:r>
          </a:p>
        </p:txBody>
      </p:sp>
      <p:sp>
        <p:nvSpPr>
          <p:cNvPr id="7" name="TextBox 6"/>
          <p:cNvSpPr txBox="1"/>
          <p:nvPr/>
        </p:nvSpPr>
        <p:spPr>
          <a:xfrm>
            <a:off x="640080" y="2651760"/>
            <a:ext cx="4937759" cy="731520"/>
          </a:xfrm>
          <a:prstGeom prst="rect">
            <a:avLst/>
          </a:prstGeom>
          <a:noFill/>
        </p:spPr>
        <p:txBody>
          <a:bodyPr wrap="square">
            <a:spAutoFit/>
          </a:bodyPr>
          <a:lstStyle/>
          <a:p>
            <a:pPr algn="ctr">
              <a:defRPr sz="1300">
                <a:solidFill>
                  <a:srgbClr val="D1D5DB"/>
                </a:solidFill>
              </a:defRPr>
            </a:pPr>
            <a:r>
              <a:t>Toggle skills on/off per conversation.</a:t>
            </a:r>
            <a:br/>
            <a:r>
              <a:t>Keep your library big, activate only what you need.</a:t>
            </a:r>
            <a:br/>
            <a:r>
              <a:t>Skills show in the + menu when enabled.</a:t>
            </a:r>
          </a:p>
        </p:txBody>
      </p:sp>
      <p:sp>
        <p:nvSpPr>
          <p:cNvPr id="8" name="Rounded Rectangle 7"/>
          <p:cNvSpPr/>
          <p:nvPr/>
        </p:nvSpPr>
        <p:spPr>
          <a:xfrm>
            <a:off x="6217920" y="173736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937759" cy="365760"/>
          </a:xfrm>
          <a:prstGeom prst="rect">
            <a:avLst/>
          </a:prstGeom>
          <a:noFill/>
        </p:spPr>
        <p:txBody>
          <a:bodyPr wrap="none">
            <a:spAutoFit/>
          </a:bodyPr>
          <a:lstStyle/>
          <a:p>
            <a:pPr algn="ctr">
              <a:defRPr sz="2600"/>
            </a:pPr>
            <a:r>
              <a:t>✏️</a:t>
            </a:r>
          </a:p>
        </p:txBody>
      </p:sp>
      <p:sp>
        <p:nvSpPr>
          <p:cNvPr id="10" name="TextBox 9"/>
          <p:cNvSpPr txBox="1"/>
          <p:nvPr/>
        </p:nvSpPr>
        <p:spPr>
          <a:xfrm>
            <a:off x="6400800" y="2240280"/>
            <a:ext cx="4937759" cy="365760"/>
          </a:xfrm>
          <a:prstGeom prst="rect">
            <a:avLst/>
          </a:prstGeom>
          <a:noFill/>
        </p:spPr>
        <p:txBody>
          <a:bodyPr wrap="none">
            <a:spAutoFit/>
          </a:bodyPr>
          <a:lstStyle/>
          <a:p>
            <a:pPr algn="ctr">
              <a:defRPr sz="1600" b="1">
                <a:solidFill>
                  <a:srgbClr val="FFFFFF"/>
                </a:solidFill>
              </a:defRPr>
            </a:pPr>
            <a:r>
              <a:t>Edit &amp; Iterate</a:t>
            </a:r>
          </a:p>
        </p:txBody>
      </p:sp>
      <p:sp>
        <p:nvSpPr>
          <p:cNvPr id="11" name="TextBox 10"/>
          <p:cNvSpPr txBox="1"/>
          <p:nvPr/>
        </p:nvSpPr>
        <p:spPr>
          <a:xfrm>
            <a:off x="6400800" y="2651760"/>
            <a:ext cx="4937759" cy="731520"/>
          </a:xfrm>
          <a:prstGeom prst="rect">
            <a:avLst/>
          </a:prstGeom>
          <a:noFill/>
        </p:spPr>
        <p:txBody>
          <a:bodyPr wrap="square">
            <a:spAutoFit/>
          </a:bodyPr>
          <a:lstStyle/>
          <a:p>
            <a:pPr algn="ctr">
              <a:defRPr sz="1300">
                <a:solidFill>
                  <a:srgbClr val="D1D5DB"/>
                </a:solidFill>
              </a:defRPr>
            </a:pPr>
            <a:r>
              <a:t>Skills aren't set in stone. Test, refine, improve.</a:t>
            </a:r>
            <a:br/>
            <a:r>
              <a:t>If the output isn't right, edit the instructions.</a:t>
            </a:r>
            <a:br/>
            <a:r>
              <a:t>Version your skills — save before changing.</a:t>
            </a:r>
          </a:p>
        </p:txBody>
      </p:sp>
      <p:sp>
        <p:nvSpPr>
          <p:cNvPr id="12" name="Rounded Rectangle 11"/>
          <p:cNvSpPr/>
          <p:nvPr/>
        </p:nvSpPr>
        <p:spPr>
          <a:xfrm>
            <a:off x="457200" y="384048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977640"/>
            <a:ext cx="4937759" cy="365760"/>
          </a:xfrm>
          <a:prstGeom prst="rect">
            <a:avLst/>
          </a:prstGeom>
          <a:noFill/>
        </p:spPr>
        <p:txBody>
          <a:bodyPr wrap="none">
            <a:spAutoFit/>
          </a:bodyPr>
          <a:lstStyle/>
          <a:p>
            <a:pPr algn="ctr">
              <a:defRPr sz="2600"/>
            </a:pPr>
            <a:r>
              <a:t>👥</a:t>
            </a:r>
          </a:p>
        </p:txBody>
      </p:sp>
      <p:sp>
        <p:nvSpPr>
          <p:cNvPr id="14" name="TextBox 13"/>
          <p:cNvSpPr txBox="1"/>
          <p:nvPr/>
        </p:nvSpPr>
        <p:spPr>
          <a:xfrm>
            <a:off x="640080" y="4343400"/>
            <a:ext cx="4937759" cy="365760"/>
          </a:xfrm>
          <a:prstGeom prst="rect">
            <a:avLst/>
          </a:prstGeom>
          <a:noFill/>
        </p:spPr>
        <p:txBody>
          <a:bodyPr wrap="none">
            <a:spAutoFit/>
          </a:bodyPr>
          <a:lstStyle/>
          <a:p>
            <a:pPr algn="ctr">
              <a:defRPr sz="1600" b="1">
                <a:solidFill>
                  <a:srgbClr val="FFFFFF"/>
                </a:solidFill>
              </a:defRPr>
            </a:pPr>
            <a:r>
              <a:t>Share with Team</a:t>
            </a:r>
          </a:p>
        </p:txBody>
      </p:sp>
      <p:sp>
        <p:nvSpPr>
          <p:cNvPr id="15" name="TextBox 14"/>
          <p:cNvSpPr txBox="1"/>
          <p:nvPr/>
        </p:nvSpPr>
        <p:spPr>
          <a:xfrm>
            <a:off x="640080" y="4754880"/>
            <a:ext cx="4937759" cy="731520"/>
          </a:xfrm>
          <a:prstGeom prst="rect">
            <a:avLst/>
          </a:prstGeom>
          <a:noFill/>
        </p:spPr>
        <p:txBody>
          <a:bodyPr wrap="square">
            <a:spAutoFit/>
          </a:bodyPr>
          <a:lstStyle/>
          <a:p>
            <a:pPr algn="ctr">
              <a:defRPr sz="1300">
                <a:solidFill>
                  <a:srgbClr val="D1D5DB"/>
                </a:solidFill>
              </a:defRPr>
            </a:pPr>
            <a:r>
              <a:t>Export as .zip or .md file.</a:t>
            </a:r>
            <a:br/>
            <a:r>
              <a:t>Share via email, Slack, or shared drive.</a:t>
            </a:r>
            <a:br/>
            <a:r>
              <a:t>Team-wide consistency without training everyone.</a:t>
            </a:r>
          </a:p>
        </p:txBody>
      </p:sp>
      <p:sp>
        <p:nvSpPr>
          <p:cNvPr id="16" name="Rounded Rectangle 15"/>
          <p:cNvSpPr/>
          <p:nvPr/>
        </p:nvSpPr>
        <p:spPr>
          <a:xfrm>
            <a:off x="6217920" y="384048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40"/>
            <a:ext cx="4937759" cy="365760"/>
          </a:xfrm>
          <a:prstGeom prst="rect">
            <a:avLst/>
          </a:prstGeom>
          <a:noFill/>
        </p:spPr>
        <p:txBody>
          <a:bodyPr wrap="none">
            <a:spAutoFit/>
          </a:bodyPr>
          <a:lstStyle/>
          <a:p>
            <a:pPr algn="ctr">
              <a:defRPr sz="2600"/>
            </a:pPr>
            <a:r>
              <a:t>🏗️</a:t>
            </a:r>
          </a:p>
        </p:txBody>
      </p:sp>
      <p:sp>
        <p:nvSpPr>
          <p:cNvPr id="18" name="TextBox 17"/>
          <p:cNvSpPr txBox="1"/>
          <p:nvPr/>
        </p:nvSpPr>
        <p:spPr>
          <a:xfrm>
            <a:off x="6400800" y="4343400"/>
            <a:ext cx="4937759" cy="365760"/>
          </a:xfrm>
          <a:prstGeom prst="rect">
            <a:avLst/>
          </a:prstGeom>
          <a:noFill/>
        </p:spPr>
        <p:txBody>
          <a:bodyPr wrap="none">
            <a:spAutoFit/>
          </a:bodyPr>
          <a:lstStyle/>
          <a:p>
            <a:pPr algn="ctr">
              <a:defRPr sz="1600" b="1">
                <a:solidFill>
                  <a:srgbClr val="FFFFFF"/>
                </a:solidFill>
              </a:defRPr>
            </a:pPr>
            <a:r>
              <a:t>Build a Library</a:t>
            </a:r>
          </a:p>
        </p:txBody>
      </p:sp>
      <p:sp>
        <p:nvSpPr>
          <p:cNvPr id="19" name="TextBox 18"/>
          <p:cNvSpPr txBox="1"/>
          <p:nvPr/>
        </p:nvSpPr>
        <p:spPr>
          <a:xfrm>
            <a:off x="6400800" y="4754880"/>
            <a:ext cx="4937759" cy="731520"/>
          </a:xfrm>
          <a:prstGeom prst="rect">
            <a:avLst/>
          </a:prstGeom>
          <a:noFill/>
        </p:spPr>
        <p:txBody>
          <a:bodyPr wrap="square">
            <a:spAutoFit/>
          </a:bodyPr>
          <a:lstStyle/>
          <a:p>
            <a:pPr algn="ctr">
              <a:defRPr sz="1300">
                <a:solidFill>
                  <a:srgbClr val="D1D5DB"/>
                </a:solidFill>
              </a:defRPr>
            </a:pPr>
            <a:r>
              <a:t>Start with 3-5 core skills.</a:t>
            </a:r>
            <a:br/>
            <a:r>
              <a:t>Add one new skill per week.</a:t>
            </a:r>
            <a:br/>
            <a:r>
              <a:t>In a month, you have a personal AI toolkit</a:t>
            </a:r>
            <a:br/>
            <a:r>
              <a:t>that saves hours every week.</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LAB 4: Build Your Own Skill</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Take your best prompt from today and turn it into a reusable Skill</a:t>
            </a:r>
          </a:p>
        </p:txBody>
      </p:sp>
      <p:sp>
        <p:nvSpPr>
          <p:cNvPr id="4" name="Oval 3"/>
          <p:cNvSpPr/>
          <p:nvPr/>
        </p:nvSpPr>
        <p:spPr>
          <a:xfrm>
            <a:off x="137160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1</a:t>
            </a:r>
          </a:p>
        </p:txBody>
      </p:sp>
      <p:sp>
        <p:nvSpPr>
          <p:cNvPr id="5" name="TextBox 4"/>
          <p:cNvSpPr txBox="1"/>
          <p:nvPr/>
        </p:nvSpPr>
        <p:spPr>
          <a:xfrm>
            <a:off x="274320" y="2468880"/>
            <a:ext cx="2743200" cy="457200"/>
          </a:xfrm>
          <a:prstGeom prst="rect">
            <a:avLst/>
          </a:prstGeom>
          <a:noFill/>
        </p:spPr>
        <p:txBody>
          <a:bodyPr wrap="none">
            <a:spAutoFit/>
          </a:bodyPr>
          <a:lstStyle/>
          <a:p>
            <a:pPr algn="ctr">
              <a:defRPr sz="1800" b="1">
                <a:solidFill>
                  <a:srgbClr val="FFFFFF"/>
                </a:solidFill>
              </a:defRPr>
            </a:pPr>
            <a:r>
              <a:t>Pick Your Prompt</a:t>
            </a:r>
          </a:p>
        </p:txBody>
      </p:sp>
      <p:sp>
        <p:nvSpPr>
          <p:cNvPr id="6" name="TextBox 5"/>
          <p:cNvSpPr txBox="1"/>
          <p:nvPr/>
        </p:nvSpPr>
        <p:spPr>
          <a:xfrm>
            <a:off x="274320" y="3017520"/>
            <a:ext cx="2743200" cy="1828800"/>
          </a:xfrm>
          <a:prstGeom prst="rect">
            <a:avLst/>
          </a:prstGeom>
          <a:noFill/>
        </p:spPr>
        <p:txBody>
          <a:bodyPr wrap="square">
            <a:spAutoFit/>
          </a:bodyPr>
          <a:lstStyle/>
          <a:p>
            <a:pPr algn="ctr">
              <a:defRPr sz="1300">
                <a:solidFill>
                  <a:srgbClr val="D1D5DB"/>
                </a:solidFill>
              </a:defRPr>
            </a:pPr>
            <a:r>
              <a:t>Choose the prompt from today's labs</a:t>
            </a:r>
            <a:br/>
            <a:r>
              <a:t>that was most useful to your work</a:t>
            </a:r>
          </a:p>
        </p:txBody>
      </p:sp>
      <p:sp>
        <p:nvSpPr>
          <p:cNvPr id="7" name="Oval 6"/>
          <p:cNvSpPr/>
          <p:nvPr/>
        </p:nvSpPr>
        <p:spPr>
          <a:xfrm>
            <a:off x="4251959"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2</a:t>
            </a:r>
          </a:p>
        </p:txBody>
      </p:sp>
      <p:sp>
        <p:nvSpPr>
          <p:cNvPr id="8" name="TextBox 7"/>
          <p:cNvSpPr txBox="1"/>
          <p:nvPr/>
        </p:nvSpPr>
        <p:spPr>
          <a:xfrm>
            <a:off x="3154679" y="2468880"/>
            <a:ext cx="2743200" cy="457200"/>
          </a:xfrm>
          <a:prstGeom prst="rect">
            <a:avLst/>
          </a:prstGeom>
          <a:noFill/>
        </p:spPr>
        <p:txBody>
          <a:bodyPr wrap="none">
            <a:spAutoFit/>
          </a:bodyPr>
          <a:lstStyle/>
          <a:p>
            <a:pPr algn="ctr">
              <a:defRPr sz="1800" b="1">
                <a:solidFill>
                  <a:srgbClr val="FFFFFF"/>
                </a:solidFill>
              </a:defRPr>
            </a:pPr>
            <a:r>
              <a:t>Create the Skill</a:t>
            </a:r>
          </a:p>
        </p:txBody>
      </p:sp>
      <p:sp>
        <p:nvSpPr>
          <p:cNvPr id="9" name="TextBox 8"/>
          <p:cNvSpPr txBox="1"/>
          <p:nvPr/>
        </p:nvSpPr>
        <p:spPr>
          <a:xfrm>
            <a:off x="3154679" y="3017520"/>
            <a:ext cx="2743200" cy="1828800"/>
          </a:xfrm>
          <a:prstGeom prst="rect">
            <a:avLst/>
          </a:prstGeom>
          <a:noFill/>
        </p:spPr>
        <p:txBody>
          <a:bodyPr wrap="square">
            <a:spAutoFit/>
          </a:bodyPr>
          <a:lstStyle/>
          <a:p>
            <a:pPr algn="ctr">
              <a:defRPr sz="1300">
                <a:solidFill>
                  <a:srgbClr val="D1D5DB"/>
                </a:solidFill>
              </a:defRPr>
            </a:pPr>
            <a:r>
              <a:t>Settings → Skills → New Skill →</a:t>
            </a:r>
            <a:br/>
            <a:r>
              <a:t>'Create with Claude' — describe what</a:t>
            </a:r>
            <a:br/>
            <a:r>
              <a:t>you want it to do</a:t>
            </a:r>
          </a:p>
        </p:txBody>
      </p:sp>
      <p:sp>
        <p:nvSpPr>
          <p:cNvPr id="10" name="Oval 9"/>
          <p:cNvSpPr/>
          <p:nvPr/>
        </p:nvSpPr>
        <p:spPr>
          <a:xfrm>
            <a:off x="713232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3</a:t>
            </a:r>
          </a:p>
        </p:txBody>
      </p:sp>
      <p:sp>
        <p:nvSpPr>
          <p:cNvPr id="11" name="TextBox 10"/>
          <p:cNvSpPr txBox="1"/>
          <p:nvPr/>
        </p:nvSpPr>
        <p:spPr>
          <a:xfrm>
            <a:off x="6035040" y="2468880"/>
            <a:ext cx="2743200" cy="457200"/>
          </a:xfrm>
          <a:prstGeom prst="rect">
            <a:avLst/>
          </a:prstGeom>
          <a:noFill/>
        </p:spPr>
        <p:txBody>
          <a:bodyPr wrap="none">
            <a:spAutoFit/>
          </a:bodyPr>
          <a:lstStyle/>
          <a:p>
            <a:pPr algn="ctr">
              <a:defRPr sz="1800" b="1">
                <a:solidFill>
                  <a:srgbClr val="FFFFFF"/>
                </a:solidFill>
              </a:defRPr>
            </a:pPr>
            <a:r>
              <a:t>Test It</a:t>
            </a:r>
          </a:p>
        </p:txBody>
      </p:sp>
      <p:sp>
        <p:nvSpPr>
          <p:cNvPr id="12" name="TextBox 11"/>
          <p:cNvSpPr txBox="1"/>
          <p:nvPr/>
        </p:nvSpPr>
        <p:spPr>
          <a:xfrm>
            <a:off x="6035040" y="3017520"/>
            <a:ext cx="2743200" cy="1828800"/>
          </a:xfrm>
          <a:prstGeom prst="rect">
            <a:avLst/>
          </a:prstGeom>
          <a:noFill/>
        </p:spPr>
        <p:txBody>
          <a:bodyPr wrap="square">
            <a:spAutoFit/>
          </a:bodyPr>
          <a:lstStyle/>
          <a:p>
            <a:pPr algn="ctr">
              <a:defRPr sz="1300">
                <a:solidFill>
                  <a:srgbClr val="D1D5DB"/>
                </a:solidFill>
              </a:defRPr>
            </a:pPr>
            <a:r>
              <a:t>Open a new chat, activate your Skill,</a:t>
            </a:r>
            <a:br/>
            <a:r>
              <a:t>and give it fresh input. Does it produce</a:t>
            </a:r>
            <a:br/>
            <a:r>
              <a:t>the same quality output?</a:t>
            </a:r>
          </a:p>
        </p:txBody>
      </p:sp>
      <p:sp>
        <p:nvSpPr>
          <p:cNvPr id="13" name="Oval 12"/>
          <p:cNvSpPr/>
          <p:nvPr/>
        </p:nvSpPr>
        <p:spPr>
          <a:xfrm>
            <a:off x="1001268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4</a:t>
            </a:r>
          </a:p>
        </p:txBody>
      </p:sp>
      <p:sp>
        <p:nvSpPr>
          <p:cNvPr id="14" name="TextBox 13"/>
          <p:cNvSpPr txBox="1"/>
          <p:nvPr/>
        </p:nvSpPr>
        <p:spPr>
          <a:xfrm>
            <a:off x="8915400" y="2468880"/>
            <a:ext cx="2743200" cy="457200"/>
          </a:xfrm>
          <a:prstGeom prst="rect">
            <a:avLst/>
          </a:prstGeom>
          <a:noFill/>
        </p:spPr>
        <p:txBody>
          <a:bodyPr wrap="none">
            <a:spAutoFit/>
          </a:bodyPr>
          <a:lstStyle/>
          <a:p>
            <a:pPr algn="ctr">
              <a:defRPr sz="1800" b="1">
                <a:solidFill>
                  <a:srgbClr val="FFFFFF"/>
                </a:solidFill>
              </a:defRPr>
            </a:pPr>
            <a:r>
              <a:t>Refine</a:t>
            </a:r>
          </a:p>
        </p:txBody>
      </p:sp>
      <p:sp>
        <p:nvSpPr>
          <p:cNvPr id="15" name="TextBox 14"/>
          <p:cNvSpPr txBox="1"/>
          <p:nvPr/>
        </p:nvSpPr>
        <p:spPr>
          <a:xfrm>
            <a:off x="8915400" y="3017520"/>
            <a:ext cx="2743200" cy="1828800"/>
          </a:xfrm>
          <a:prstGeom prst="rect">
            <a:avLst/>
          </a:prstGeom>
          <a:noFill/>
        </p:spPr>
        <p:txBody>
          <a:bodyPr wrap="square">
            <a:spAutoFit/>
          </a:bodyPr>
          <a:lstStyle/>
          <a:p>
            <a:pPr algn="ctr">
              <a:defRPr sz="1300">
                <a:solidFill>
                  <a:srgbClr val="D1D5DB"/>
                </a:solidFill>
              </a:defRPr>
            </a:pPr>
            <a:r>
              <a:t>Edit the instructions if needed.</a:t>
            </a:r>
            <a:br/>
            <a:r>
              <a:t>Add specifics about format, tone,</a:t>
            </a:r>
            <a:br/>
            <a:r>
              <a:t>length, or audience</a:t>
            </a:r>
          </a:p>
        </p:txBody>
      </p:sp>
      <p:sp>
        <p:nvSpPr>
          <p:cNvPr id="16" name="TextBox 15"/>
          <p:cNvSpPr txBox="1"/>
          <p:nvPr/>
        </p:nvSpPr>
        <p:spPr>
          <a:xfrm>
            <a:off x="457200" y="5029200"/>
            <a:ext cx="11247120" cy="365760"/>
          </a:xfrm>
          <a:prstGeom prst="rect">
            <a:avLst/>
          </a:prstGeom>
          <a:noFill/>
        </p:spPr>
        <p:txBody>
          <a:bodyPr wrap="none">
            <a:spAutoFit/>
          </a:bodyPr>
          <a:lstStyle/>
          <a:p>
            <a:pPr algn="ctr">
              <a:defRPr sz="2000" b="1">
                <a:solidFill>
                  <a:srgbClr val="14B8A6"/>
                </a:solidFill>
              </a:defRPr>
            </a:pPr>
            <a:r>
              <a:t>⏱️ 10 minutes</a:t>
            </a:r>
          </a:p>
        </p:txBody>
      </p:sp>
      <p:sp>
        <p:nvSpPr>
          <p:cNvPr id="17" name="TextBox 16"/>
          <p:cNvSpPr txBox="1"/>
          <p:nvPr/>
        </p:nvSpPr>
        <p:spPr>
          <a:xfrm>
            <a:off x="457200" y="5486400"/>
            <a:ext cx="11247120" cy="457200"/>
          </a:xfrm>
          <a:prstGeom prst="rect">
            <a:avLst/>
          </a:prstGeom>
          <a:noFill/>
        </p:spPr>
        <p:txBody>
          <a:bodyPr wrap="none">
            <a:spAutoFit/>
          </a:bodyPr>
          <a:lstStyle/>
          <a:p>
            <a:pPr algn="ctr">
              <a:defRPr sz="1400" i="1">
                <a:solidFill>
                  <a:srgbClr val="9CA3AF"/>
                </a:solidFill>
              </a:defRPr>
            </a:pPr>
            <a:r>
              <a:t>Idea starters: Weekly report formatter  •  Email tone matcher  •  Meeting notes → action items  •  Data analysis template</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5</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