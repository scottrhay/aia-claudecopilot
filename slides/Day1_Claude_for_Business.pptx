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8"/>
  </p:notesMasterIdLst>
  <p:sldIdLst>
    <p:sldId id="256" r:id="rId2"/>
    <p:sldId id="257" r:id="rId3"/>
    <p:sldId id="258" r:id="rId4"/>
    <p:sldId id="346" r:id="rId5"/>
    <p:sldId id="264" r:id="rId6"/>
    <p:sldId id="268" r:id="rId7"/>
    <p:sldId id="269" r:id="rId8"/>
    <p:sldId id="281" r:id="rId9"/>
    <p:sldId id="282" r:id="rId10"/>
    <p:sldId id="283" r:id="rId11"/>
    <p:sldId id="284" r:id="rId12"/>
    <p:sldId id="285" r:id="rId13"/>
    <p:sldId id="286" r:id="rId14"/>
    <p:sldId id="287" r:id="rId15"/>
    <p:sldId id="296" r:id="rId16"/>
    <p:sldId id="288" r:id="rId17"/>
    <p:sldId id="289" r:id="rId18"/>
    <p:sldId id="290" r:id="rId19"/>
    <p:sldId id="291" r:id="rId20"/>
    <p:sldId id="292" r:id="rId21"/>
    <p:sldId id="294" r:id="rId22"/>
    <p:sldId id="295" r:id="rId23"/>
    <p:sldId id="297" r:id="rId24"/>
    <p:sldId id="293" r:id="rId25"/>
    <p:sldId id="280" r:id="rId26"/>
    <p:sldId id="347" r:id="rId27"/>
    <p:sldId id="259" r:id="rId28"/>
    <p:sldId id="260" r:id="rId29"/>
    <p:sldId id="261" r:id="rId30"/>
    <p:sldId id="262" r:id="rId31"/>
    <p:sldId id="271" r:id="rId32"/>
    <p:sldId id="335" r:id="rId33"/>
    <p:sldId id="336" r:id="rId34"/>
    <p:sldId id="337" r:id="rId35"/>
    <p:sldId id="351" r:id="rId95"/>
    <p:sldId id="352" r:id="rId96"/>
    <p:sldId id="266" r:id="rId36"/>
    <p:sldId id="267" r:id="rId37"/>
    <p:sldId id="272" r:id="rId39"/>
    <p:sldId id="273" r:id="rId40"/>
    <p:sldId id="274" r:id="rId41"/>
    <p:sldId id="275" r:id="rId42"/>
    <p:sldId id="276" r:id="rId43"/>
    <p:sldId id="343" r:id="rId44"/>
    <p:sldId id="298" r:id="rId45"/>
    <p:sldId id="348" r:id="rId46"/>
    <p:sldId id="277" r:id="rId47"/>
    <p:sldId id="315" r:id="rId48"/>
    <p:sldId id="279" r:id="rId49"/>
    <p:sldId id="299" r:id="rId50"/>
    <p:sldId id="300" r:id="rId51"/>
    <p:sldId id="301" r:id="rId52"/>
    <p:sldId id="302" r:id="rId53"/>
    <p:sldId id="303" r:id="rId54"/>
    <p:sldId id="304" r:id="rId55"/>
    <p:sldId id="305" r:id="rId56"/>
    <p:sldId id="306" r:id="rId57"/>
    <p:sldId id="307" r:id="rId58"/>
    <p:sldId id="278" r:id="rId59"/>
    <p:sldId id="344" r:id="rId60"/>
    <p:sldId id="309" r:id="rId61"/>
    <p:sldId id="349" r:id="rId62"/>
    <p:sldId id="310" r:id="rId63"/>
    <p:sldId id="311" r:id="rId64"/>
    <p:sldId id="312" r:id="rId65"/>
    <p:sldId id="313" r:id="rId66"/>
    <p:sldId id="314" r:id="rId67"/>
    <p:sldId id="317" r:id="rId68"/>
    <p:sldId id="318" r:id="rId69"/>
    <p:sldId id="316" r:id="rId70"/>
    <p:sldId id="319" r:id="rId71"/>
    <p:sldId id="320" r:id="rId72"/>
    <p:sldId id="321" r:id="rId73"/>
    <p:sldId id="322" r:id="rId74"/>
    <p:sldId id="323" r:id="rId75"/>
    <p:sldId id="350" r:id="rId76"/>
    <p:sldId id="353" r:id="rId97"/>
    <p:sldId id="354" r:id="rId98"/>
    <p:sldId id="325" r:id="rId77"/>
    <p:sldId id="326" r:id="rId78"/>
    <p:sldId id="327" r:id="rId79"/>
    <p:sldId id="345" r:id="rId80"/>
    <p:sldId id="328" r:id="rId81"/>
    <p:sldId id="329" r:id="rId82"/>
    <p:sldId id="330" r:id="rId83"/>
    <p:sldId id="331" r:id="rId84"/>
    <p:sldId id="332" r:id="rId85"/>
    <p:sldId id="333" r:id="rId86"/>
    <p:sldId id="334" r:id="rId8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3" dt="2026-02-16T14:30:33.99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470"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7.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75.xml"/><Relationship Id="rId76" Type="http://schemas.openxmlformats.org/officeDocument/2006/relationships/slide" Target="slides/slide76.xml"/><Relationship Id="rId77" Type="http://schemas.openxmlformats.org/officeDocument/2006/relationships/slide" Target="slides/slide78.xml"/><Relationship Id="rId78" Type="http://schemas.openxmlformats.org/officeDocument/2006/relationships/slide" Target="slides/slide79.xml"/><Relationship Id="rId79" Type="http://schemas.openxmlformats.org/officeDocument/2006/relationships/slide" Target="slides/slide80.xml"/><Relationship Id="rId80" Type="http://schemas.openxmlformats.org/officeDocument/2006/relationships/slide" Target="slides/slide81.xml"/><Relationship Id="rId81" Type="http://schemas.openxmlformats.org/officeDocument/2006/relationships/slide" Target="slides/slide82.xml"/><Relationship Id="rId82" Type="http://schemas.openxmlformats.org/officeDocument/2006/relationships/slide" Target="slides/slide83.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88.xml"/><Relationship Id="rId88" Type="http://schemas.openxmlformats.org/officeDocument/2006/relationships/notesMaster" Target="notesMasters/notesMaster1.xml"/><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 Id="rId93" Type="http://schemas.microsoft.com/office/2016/11/relationships/changesInfo" Target="changesInfos/changesInfo1.xml"/><Relationship Id="rId94" Type="http://schemas.microsoft.com/office/2015/10/relationships/revisionInfo" Target="revisionInfo.xml"/><Relationship Id="rId95" Type="http://schemas.openxmlformats.org/officeDocument/2006/relationships/slide" Target="slides/slide88.xml"/><Relationship Id="rId96" Type="http://schemas.openxmlformats.org/officeDocument/2006/relationships/slide" Target="slides/slide36.xml"/><Relationship Id="rId97" Type="http://schemas.openxmlformats.org/officeDocument/2006/relationships/slide" Target="slides/slide77.xml"/><Relationship Id="rId98" Type="http://schemas.openxmlformats.org/officeDocument/2006/relationships/slide" Target="slides/slide8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p>
          <a:p>
            <a:endParaRPr dirty="0"/>
          </a:p>
          <a:p>
            <a:r>
              <a:rPr dirty="0"/>
              <a:t>KEY POINTS:</a:t>
            </a:r>
          </a:p>
          <a:p>
            <a:r>
              <a:rPr dirty="0"/>
              <a:t>   * Morning: Understanding Claude and how to talk to it effectively</a:t>
            </a:r>
          </a:p>
          <a:p>
            <a:r>
              <a:t>   * Afternoon: Practical tools - Excel add-in and working with files</a:t>
            </a:r>
          </a:p>
          <a:p>
            <a:r>
              <a:rPr dirty="0"/>
              <a:t>   * Two 15-minute breaks plus 1-hour lunch</a:t>
            </a:r>
          </a:p>
          <a:p>
            <a:r>
              <a:rPr dirty="0"/>
              <a:t>   * Hands-on practice twice today</a:t>
            </a:r>
          </a:p>
          <a:p>
            <a:endParaRPr dirty="0"/>
          </a:p>
          <a:p>
            <a:r>
              <a:rPr dirty="0"/>
              <a:t>TRANSITION:</a:t>
            </a:r>
          </a:p>
          <a:p>
            <a:r>
              <a:rPr dirty="0"/>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3A654-EB9C-5F6B-33A9-A47E5BB112F4}"/>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B0CE117-3C3B-5575-499E-FBE52620E61B}"/>
              </a:ext>
            </a:extLst>
          </p:cNvPr>
          <p:cNvSpPr>
            <a:spLocks noGrp="1"/>
          </p:cNvSpPr>
          <p:nvPr>
            <p:ph type="body" idx="1"/>
          </p:nvPr>
        </p:nvSpPr>
        <p:spPr/>
        <p:txBody>
          <a:bodyPr/>
          <a:lstStyle/>
          <a:p>
            <a:r>
              <a:t>DURATION: 3 min</a:t>
            </a:r>
          </a:p>
          <a:p>
            <a:endParaRPr/>
          </a:p>
          <a:p>
            <a:r>
              <a:t>How many of you have Claude on your phone? If you don't, grab it right now — iOS App Store or Google Play, search "Claude by Anthropic." It's free to download, and your Pro or Team subscription works across all devices.</a:t>
            </a:r>
          </a:p>
          <a:p>
            <a:endParaRPr/>
          </a:p>
          <a:p>
            <a:r>
              <a:t>Three reasons this matters for business users.</a:t>
            </a:r>
          </a:p>
          <a:p>
            <a:endParaRPr/>
          </a:p>
          <a:p>
            <a:r>
              <a:t>First — Voice on the Go. Open Claude on your phone, tap the microphone, and talk. Dictate a prompt while you're walking to a meeting. Ask Claude to draft an email response while you're in an Uber. Brainstorm ideas during your commute. Voice Mode on mobile is genuinely hands-free AI. I use this on my iPhone constantly — it's faster than typing and the voice quality is excellent.</a:t>
            </a:r>
          </a:p>
          <a:p>
            <a:endParaRPr/>
          </a:p>
          <a:p>
            <a:r>
              <a:t>Second — Camera and Vision. This is the one people don't expect. Snap a photo of a whiteboard after a meeting. Claude reads it and generates structured notes with action items. Take a picture of a printed document — Claude extracts the text and can summarize, translate, or analyze it. Screenshot an error message on your screen and ask Claude what it means. The camera turns your phone into a document scanner with AI understanding built in.</a:t>
            </a:r>
          </a:p>
          <a:p>
            <a:endParaRPr/>
          </a:p>
          <a:p>
            <a:r>
              <a:t>Third — Quick Access and sync. Your conversations sync across phone, desktop, and web. Start a complex analysis on your laptop at work. Continue the conversation on your phone during your commute. Pick it back up on your desktop at home. Same Projects, same context, seamless handoff.</a:t>
            </a:r>
          </a:p>
          <a:p>
            <a:endParaRPr/>
          </a:p>
          <a:p>
            <a:r>
              <a:t>The mental model shift: Claude isn't something you sit down at your computer to use. It's something that's always available — in your pocket, ready when you need it. The best prompt is the one you send in the moment you need help, not the one you remember to type later at your desk.</a:t>
            </a:r>
          </a:p>
          <a:p>
            <a:endParaRPr/>
          </a:p>
          <a:p>
            <a:r>
              <a:t>Enable Voice Mode in your phone settings. That's the unlock that makes mobile Claude genuinely useful rather than just a small-screen chat window.</a:t>
            </a:r>
          </a:p>
        </p:txBody>
      </p:sp>
    </p:spTree>
    <p:extLst>
      <p:ext uri="{BB962C8B-B14F-4D97-AF65-F5344CB8AC3E}">
        <p14:creationId xmlns:p14="http://schemas.microsoft.com/office/powerpoint/2010/main" val="37334303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Interface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rPr dirty="0"/>
              <a:t>Prompt Engineering &amp; Lab 1</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60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Claude Settings</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Projects &amp; Lab 2</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Analysis Prompts &amp; 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3</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4, 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731520"/>
          </a:xfrm>
          <a:prstGeom prst="rect">
            <a:avLst/>
          </a:prstGeom>
          <a:noFill/>
        </p:spPr>
        <p:txBody>
          <a:bodyPr wrap="none">
            <a:spAutoFit/>
          </a:bodyPr>
          <a:lstStyle/>
          <a:p>
            <a:pPr>
              <a:defRPr sz="4000" b="1">
                <a:solidFill>
                  <a:srgbClr val="FFFFFF"/>
                </a:solidFill>
              </a:defRPr>
            </a:pPr>
            <a:r>
              <a:t>Learning Objectives</a:t>
            </a:r>
          </a:p>
        </p:txBody>
      </p:sp>
      <p:sp>
        <p:nvSpPr>
          <p:cNvPr id="3" name="Oval 2"/>
          <p:cNvSpPr/>
          <p:nvPr/>
        </p:nvSpPr>
        <p:spPr>
          <a:xfrm>
            <a:off x="54864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4" name="TextBox 3"/>
          <p:cNvSpPr txBox="1"/>
          <p:nvPr/>
        </p:nvSpPr>
        <p:spPr>
          <a:xfrm>
            <a:off x="1097280" y="1280160"/>
            <a:ext cx="10515600" cy="411480"/>
          </a:xfrm>
          <a:prstGeom prst="rect">
            <a:avLst/>
          </a:prstGeom>
          <a:noFill/>
        </p:spPr>
        <p:txBody>
          <a:bodyPr wrap="none">
            <a:spAutoFit/>
          </a:bodyPr>
          <a:lstStyle/>
          <a:p>
            <a:pPr>
              <a:defRPr sz="2000">
                <a:solidFill>
                  <a:srgbClr val="D1D5DB"/>
                </a:solidFill>
              </a:defRPr>
            </a:pPr>
            <a:r>
              <a:t>Navigate the Claude.ai interface and use Voice Mode</a:t>
            </a:r>
          </a:p>
        </p:txBody>
      </p:sp>
      <p:sp>
        <p:nvSpPr>
          <p:cNvPr id="5" name="Oval 4"/>
          <p:cNvSpPr/>
          <p:nvPr/>
        </p:nvSpPr>
        <p:spPr>
          <a:xfrm>
            <a:off x="548640" y="187451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6" name="TextBox 5"/>
          <p:cNvSpPr txBox="1"/>
          <p:nvPr/>
        </p:nvSpPr>
        <p:spPr>
          <a:xfrm>
            <a:off x="1097280" y="1874519"/>
            <a:ext cx="10515600" cy="411480"/>
          </a:xfrm>
          <a:prstGeom prst="rect">
            <a:avLst/>
          </a:prstGeom>
          <a:noFill/>
        </p:spPr>
        <p:txBody>
          <a:bodyPr wrap="none">
            <a:spAutoFit/>
          </a:bodyPr>
          <a:lstStyle/>
          <a:p>
            <a:pPr>
              <a:defRPr sz="2000">
                <a:solidFill>
                  <a:srgbClr val="D1D5DB"/>
                </a:solidFill>
              </a:defRPr>
            </a:pPr>
            <a:r>
              <a:t>Write effective prompts using the GOLDEN framework</a:t>
            </a:r>
          </a:p>
        </p:txBody>
      </p:sp>
      <p:sp>
        <p:nvSpPr>
          <p:cNvPr id="7" name="Oval 6"/>
          <p:cNvSpPr/>
          <p:nvPr/>
        </p:nvSpPr>
        <p:spPr>
          <a:xfrm>
            <a:off x="548640" y="246888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8" name="TextBox 7"/>
          <p:cNvSpPr txBox="1"/>
          <p:nvPr/>
        </p:nvSpPr>
        <p:spPr>
          <a:xfrm>
            <a:off x="1097280" y="2468880"/>
            <a:ext cx="10515600" cy="411480"/>
          </a:xfrm>
          <a:prstGeom prst="rect">
            <a:avLst/>
          </a:prstGeom>
          <a:noFill/>
        </p:spPr>
        <p:txBody>
          <a:bodyPr wrap="none">
            <a:spAutoFit/>
          </a:bodyPr>
          <a:lstStyle/>
          <a:p>
            <a:pPr>
              <a:defRPr sz="2000">
                <a:solidFill>
                  <a:srgbClr val="D1D5DB"/>
                </a:solidFill>
              </a:defRPr>
            </a:pPr>
            <a:r>
              <a:t>Choose the right Claude model and use Extended Thinking</a:t>
            </a:r>
          </a:p>
        </p:txBody>
      </p:sp>
      <p:sp>
        <p:nvSpPr>
          <p:cNvPr id="9" name="Oval 8"/>
          <p:cNvSpPr/>
          <p:nvPr/>
        </p:nvSpPr>
        <p:spPr>
          <a:xfrm>
            <a:off x="548640" y="306324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0" name="TextBox 9"/>
          <p:cNvSpPr txBox="1"/>
          <p:nvPr/>
        </p:nvSpPr>
        <p:spPr>
          <a:xfrm>
            <a:off x="1097280" y="3063240"/>
            <a:ext cx="10515600" cy="411480"/>
          </a:xfrm>
          <a:prstGeom prst="rect">
            <a:avLst/>
          </a:prstGeom>
          <a:noFill/>
        </p:spPr>
        <p:txBody>
          <a:bodyPr wrap="none">
            <a:spAutoFit/>
          </a:bodyPr>
          <a:lstStyle/>
          <a:p>
            <a:pPr>
              <a:defRPr sz="2000">
                <a:solidFill>
                  <a:srgbClr val="D1D5DB"/>
                </a:solidFill>
              </a:defRPr>
            </a:pPr>
            <a:r>
              <a:t>Configure settings, Personal Preferences, and privacy controls</a:t>
            </a:r>
          </a:p>
        </p:txBody>
      </p:sp>
      <p:sp>
        <p:nvSpPr>
          <p:cNvPr id="11" name="Oval 10"/>
          <p:cNvSpPr/>
          <p:nvPr/>
        </p:nvSpPr>
        <p:spPr>
          <a:xfrm>
            <a:off x="548640" y="36576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2" name="TextBox 11"/>
          <p:cNvSpPr txBox="1"/>
          <p:nvPr/>
        </p:nvSpPr>
        <p:spPr>
          <a:xfrm>
            <a:off x="1097280" y="3657600"/>
            <a:ext cx="10515600" cy="411480"/>
          </a:xfrm>
          <a:prstGeom prst="rect">
            <a:avLst/>
          </a:prstGeom>
          <a:noFill/>
        </p:spPr>
        <p:txBody>
          <a:bodyPr wrap="none">
            <a:spAutoFit/>
          </a:bodyPr>
          <a:lstStyle/>
          <a:p>
            <a:pPr>
              <a:defRPr sz="2000">
                <a:solidFill>
                  <a:srgbClr val="D1D5DB"/>
                </a:solidFill>
              </a:defRPr>
            </a:pPr>
            <a:r>
              <a:t>Set up and use Claude Apps (Desktop, Mobile) and Claude for Work</a:t>
            </a:r>
          </a:p>
        </p:txBody>
      </p:sp>
      <p:sp>
        <p:nvSpPr>
          <p:cNvPr id="13" name="Oval 12"/>
          <p:cNvSpPr/>
          <p:nvPr/>
        </p:nvSpPr>
        <p:spPr>
          <a:xfrm>
            <a:off x="548640" y="42519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4" name="TextBox 13"/>
          <p:cNvSpPr txBox="1"/>
          <p:nvPr/>
        </p:nvSpPr>
        <p:spPr>
          <a:xfrm>
            <a:off x="1097280" y="4251960"/>
            <a:ext cx="10515600" cy="411480"/>
          </a:xfrm>
          <a:prstGeom prst="rect">
            <a:avLst/>
          </a:prstGeom>
          <a:noFill/>
        </p:spPr>
        <p:txBody>
          <a:bodyPr wrap="none">
            <a:spAutoFit/>
          </a:bodyPr>
          <a:lstStyle/>
          <a:p>
            <a:pPr>
              <a:defRPr sz="2000">
                <a:solidFill>
                  <a:srgbClr val="D1D5DB"/>
                </a:solidFill>
              </a:defRPr>
            </a:pPr>
            <a:r>
              <a:t>Create and manage Projects with Custom Instructions</a:t>
            </a:r>
          </a:p>
        </p:txBody>
      </p:sp>
      <p:sp>
        <p:nvSpPr>
          <p:cNvPr id="15" name="Oval 14"/>
          <p:cNvSpPr/>
          <p:nvPr/>
        </p:nvSpPr>
        <p:spPr>
          <a:xfrm>
            <a:off x="548640" y="484632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6" name="TextBox 15"/>
          <p:cNvSpPr txBox="1"/>
          <p:nvPr/>
        </p:nvSpPr>
        <p:spPr>
          <a:xfrm>
            <a:off x="1097280" y="4846320"/>
            <a:ext cx="10515600" cy="411480"/>
          </a:xfrm>
          <a:prstGeom prst="rect">
            <a:avLst/>
          </a:prstGeom>
          <a:noFill/>
        </p:spPr>
        <p:txBody>
          <a:bodyPr wrap="none">
            <a:spAutoFit/>
          </a:bodyPr>
          <a:lstStyle/>
          <a:p>
            <a:pPr>
              <a:defRPr sz="2000">
                <a:solidFill>
                  <a:srgbClr val="D1D5DB"/>
                </a:solidFill>
              </a:defRPr>
            </a:pPr>
            <a:r>
              <a:t>Analyze data in Claude.ai and Claude in Excel</a:t>
            </a:r>
          </a:p>
        </p:txBody>
      </p:sp>
      <p:sp>
        <p:nvSpPr>
          <p:cNvPr id="17" name="Oval 16"/>
          <p:cNvSpPr/>
          <p:nvPr/>
        </p:nvSpPr>
        <p:spPr>
          <a:xfrm>
            <a:off x="548640" y="544067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8" name="TextBox 17"/>
          <p:cNvSpPr txBox="1"/>
          <p:nvPr/>
        </p:nvSpPr>
        <p:spPr>
          <a:xfrm>
            <a:off x="1097280" y="5440679"/>
            <a:ext cx="10515600" cy="411480"/>
          </a:xfrm>
          <a:prstGeom prst="rect">
            <a:avLst/>
          </a:prstGeom>
          <a:noFill/>
        </p:spPr>
        <p:txBody>
          <a:bodyPr wrap="none">
            <a:spAutoFit/>
          </a:bodyPr>
          <a:lstStyle/>
          <a:p>
            <a:pPr>
              <a:defRPr sz="2000">
                <a:solidFill>
                  <a:srgbClr val="D1D5DB"/>
                </a:solidFill>
              </a:defRPr>
            </a:pPr>
            <a:r>
              <a:t>Use artifacts, file uploads, and integrations for business workflows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1</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Claude Interface</a:t>
            </a:r>
            <a:br/>
            <a:r>
              <a:t>&amp; Prompt Engineering</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Navigate the tool, then master the core skill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
        <p:nvSpPr>
          <p:cNvPr id="25" name="TextBox 24"/>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6" name="TextBox 25"/>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2</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Models, Settings</a:t>
            </a:r>
            <a:br/>
            <a:r>
              <a:t>&amp; Projects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Choose the right engine, configure your workspace, organize your work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Capabilities &amp; Privacy Controls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Enable these features before you start — they unlock everything we'll use today</a:t>
            </a:r>
          </a:p>
        </p:txBody>
      </p:sp>
      <p:sp>
        <p:nvSpPr>
          <p:cNvPr id="4" name="Rounded Rectangle 3"/>
          <p:cNvSpPr/>
          <p:nvPr/>
        </p:nvSpPr>
        <p:spPr>
          <a:xfrm>
            <a:off x="457200" y="1737360"/>
            <a:ext cx="53035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defRPr sz="2200" b="1">
                <a:solidFill>
                  <a:srgbClr val="14B8A6"/>
                </a:solidFill>
              </a:defRPr>
            </a:pPr>
            <a:r>
              <a:t>Capabilities (Enable All)</a:t>
            </a:r>
          </a:p>
        </p:txBody>
      </p:sp>
      <p:sp>
        <p:nvSpPr>
          <p:cNvPr id="6" name="TextBox 5"/>
          <p:cNvSpPr txBox="1"/>
          <p:nvPr/>
        </p:nvSpPr>
        <p:spPr>
          <a:xfrm>
            <a:off x="731520" y="2468880"/>
            <a:ext cx="4754880" cy="2926080"/>
          </a:xfrm>
          <a:prstGeom prst="rect">
            <a:avLst/>
          </a:prstGeom>
          <a:noFill/>
        </p:spPr>
        <p:txBody>
          <a:bodyPr wrap="square">
            <a:spAutoFit/>
          </a:bodyPr>
          <a:lstStyle/>
          <a:p>
            <a:pPr>
              <a:spcAft>
                <a:spcPts val="800"/>
              </a:spcAft>
              <a:defRPr sz="1600">
                <a:solidFill>
                  <a:srgbClr val="D1D5DB"/>
                </a:solidFill>
              </a:defRPr>
            </a:pPr>
            <a:r>
              <a:t>✅  Artifacts — documents, code, visualizations</a:t>
            </a:r>
          </a:p>
          <a:p>
            <a:pPr>
              <a:spcAft>
                <a:spcPts val="800"/>
              </a:spcAft>
              <a:defRPr sz="1600">
                <a:solidFill>
                  <a:srgbClr val="D1D5DB"/>
                </a:solidFill>
              </a:defRPr>
            </a:pPr>
            <a:r>
              <a:t>✅  Code execution &amp; file creation — docs, spreadsheets, PPTs, PDFs</a:t>
            </a:r>
          </a:p>
          <a:p>
            <a:pPr>
              <a:spcAft>
                <a:spcPts val="800"/>
              </a:spcAft>
              <a:defRPr sz="1600">
                <a:solidFill>
                  <a:srgbClr val="D1D5DB"/>
                </a:solidFill>
              </a:defRPr>
            </a:pPr>
            <a:r>
              <a:t>✅  Web search — Claude finds current information automatically</a:t>
            </a:r>
          </a:p>
          <a:p>
            <a:pPr>
              <a:spcAft>
                <a:spcPts val="800"/>
              </a:spcAft>
              <a:defRPr sz="1600">
                <a:solidFill>
                  <a:srgbClr val="D1D5DB"/>
                </a:solidFill>
              </a:defRPr>
            </a:pPr>
            <a:r>
              <a:t>✅  Memory — search past chats + learn from history</a:t>
            </a:r>
          </a:p>
        </p:txBody>
      </p:sp>
      <p:sp>
        <p:nvSpPr>
          <p:cNvPr id="7" name="Rounded Rectangle 6"/>
          <p:cNvSpPr/>
          <p:nvPr/>
        </p:nvSpPr>
        <p:spPr>
          <a:xfrm>
            <a:off x="6217920" y="1737360"/>
            <a:ext cx="53035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920240"/>
            <a:ext cx="4754880" cy="457200"/>
          </a:xfrm>
          <a:prstGeom prst="rect">
            <a:avLst/>
          </a:prstGeom>
          <a:noFill/>
        </p:spPr>
        <p:txBody>
          <a:bodyPr wrap="none">
            <a:spAutoFit/>
          </a:bodyPr>
          <a:lstStyle/>
          <a:p>
            <a:pPr>
              <a:defRPr sz="2200" b="1">
                <a:solidFill>
                  <a:srgbClr val="14B8A6"/>
                </a:solidFill>
              </a:defRPr>
            </a:pPr>
            <a:r>
              <a:t>Privacy Controls</a:t>
            </a:r>
          </a:p>
        </p:txBody>
      </p:sp>
      <p:sp>
        <p:nvSpPr>
          <p:cNvPr id="9" name="TextBox 8"/>
          <p:cNvSpPr txBox="1"/>
          <p:nvPr/>
        </p:nvSpPr>
        <p:spPr>
          <a:xfrm>
            <a:off x="6492240" y="2468880"/>
            <a:ext cx="4754880" cy="2926080"/>
          </a:xfrm>
          <a:prstGeom prst="rect">
            <a:avLst/>
          </a:prstGeom>
          <a:noFill/>
        </p:spPr>
        <p:txBody>
          <a:bodyPr wrap="square">
            <a:spAutoFit/>
          </a:bodyPr>
          <a:lstStyle/>
          <a:p>
            <a:pPr>
              <a:spcAft>
                <a:spcPts val="800"/>
              </a:spcAft>
              <a:defRPr sz="1600">
                <a:solidFill>
                  <a:srgbClr val="D1D5DB"/>
                </a:solidFill>
              </a:defRPr>
            </a:pPr>
            <a:r>
              <a:t>🔒  Training opt-out — paid plans OFF by default</a:t>
            </a:r>
          </a:p>
          <a:p>
            <a:pPr>
              <a:spcAft>
                <a:spcPts val="800"/>
              </a:spcAft>
              <a:defRPr sz="1600">
                <a:solidFill>
                  <a:srgbClr val="D1D5DB"/>
                </a:solidFill>
              </a:defRPr>
            </a:pPr>
            <a:r>
              <a:t>🕶️  Incognito chats — not saved, not used for training, not added to memory</a:t>
            </a:r>
          </a:p>
          <a:p>
            <a:pPr>
              <a:spcAft>
                <a:spcPts val="800"/>
              </a:spcAft>
              <a:defRPr sz="1600">
                <a:solidFill>
                  <a:srgbClr val="D1D5DB"/>
                </a:solidFill>
              </a:defRPr>
            </a:pPr>
            <a:r>
              <a:t>⚠️  30-day retention for abuse detection</a:t>
            </a:r>
          </a:p>
          <a:p>
            <a:pPr>
              <a:spcAft>
                <a:spcPts val="800"/>
              </a:spcAft>
              <a:defRPr sz="1600">
                <a:solidFill>
                  <a:srgbClr val="D1D5DB"/>
                </a:solidFill>
              </a:defRPr>
            </a:pPr>
            <a:r>
              <a:t>🏢  Team/Enterprise — zero data retention, full isolation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9568F48F-97BB-A890-E890-35D87820D99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F144F-A2F0-9C6E-3475-395130E6DC20}"/>
              </a:ext>
            </a:extLst>
          </p:cNvPr>
          <p:cNvSpPr txBox="1"/>
          <p:nvPr/>
        </p:nvSpPr>
        <p:spPr>
          <a:xfrm>
            <a:off x="457200" y="274320"/>
            <a:ext cx="11247120"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on Your Phone</a:t>
            </a:r>
          </a:p>
        </p:txBody>
      </p:sp>
      <p:sp>
        <p:nvSpPr>
          <p:cNvPr id="3" name="TextBox 2">
            <a:extLst>
              <a:ext uri="{FF2B5EF4-FFF2-40B4-BE49-F238E27FC236}">
                <a16:creationId xmlns:a16="http://schemas.microsoft.com/office/drawing/2014/main" id="{0A020FD7-BD6D-086A-E175-C57EFBE08D24}"/>
              </a:ext>
            </a:extLst>
          </p:cNvPr>
          <p:cNvSpPr txBox="1"/>
          <p:nvPr/>
        </p:nvSpPr>
        <p:spPr>
          <a:xfrm>
            <a:off x="457200" y="1097280"/>
            <a:ext cx="1124712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i="1">
                <a:solidFill>
                  <a:srgbClr val="9CA3AF"/>
                </a:solidFill>
              </a:defRPr>
            </a:pPr>
            <a:r>
              <a:rPr kumimoji="0" sz="2000" b="0" i="1" u="none" strike="noStrike" kern="1200" cap="none" spc="0" normalizeH="0" baseline="0" noProof="0">
                <a:ln>
                  <a:noFill/>
                </a:ln>
                <a:solidFill>
                  <a:srgbClr val="9CA3AF"/>
                </a:solidFill>
                <a:effectLst/>
                <a:uLnTx/>
                <a:uFillTx/>
                <a:latin typeface="Calibri"/>
                <a:ea typeface="+mn-ea"/>
                <a:cs typeface="+mn-cs"/>
              </a:rPr>
              <a:t>iOS &amp; Android — your AI assistant goes where you go</a:t>
            </a:r>
          </a:p>
        </p:txBody>
      </p:sp>
      <p:sp>
        <p:nvSpPr>
          <p:cNvPr id="4" name="Rounded Rectangle 3">
            <a:extLst>
              <a:ext uri="{FF2B5EF4-FFF2-40B4-BE49-F238E27FC236}">
                <a16:creationId xmlns:a16="http://schemas.microsoft.com/office/drawing/2014/main" id="{C17319CF-8700-96FE-70D6-9372ADF1F14C}"/>
              </a:ext>
            </a:extLst>
          </p:cNvPr>
          <p:cNvSpPr/>
          <p:nvPr/>
        </p:nvSpPr>
        <p:spPr>
          <a:xfrm>
            <a:off x="45720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a:extLst>
              <a:ext uri="{FF2B5EF4-FFF2-40B4-BE49-F238E27FC236}">
                <a16:creationId xmlns:a16="http://schemas.microsoft.com/office/drawing/2014/main" id="{1335A7FF-C49A-3246-88DB-FA3445C78AF3}"/>
              </a:ext>
            </a:extLst>
          </p:cNvPr>
          <p:cNvSpPr txBox="1"/>
          <p:nvPr/>
        </p:nvSpPr>
        <p:spPr>
          <a:xfrm>
            <a:off x="64008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6" name="TextBox 5">
            <a:extLst>
              <a:ext uri="{FF2B5EF4-FFF2-40B4-BE49-F238E27FC236}">
                <a16:creationId xmlns:a16="http://schemas.microsoft.com/office/drawing/2014/main" id="{74F612F4-B23F-8640-3E89-CD6378A29A6F}"/>
              </a:ext>
            </a:extLst>
          </p:cNvPr>
          <p:cNvSpPr txBox="1"/>
          <p:nvPr/>
        </p:nvSpPr>
        <p:spPr>
          <a:xfrm>
            <a:off x="64008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Voice on the Go</a:t>
            </a:r>
          </a:p>
        </p:txBody>
      </p:sp>
      <p:sp>
        <p:nvSpPr>
          <p:cNvPr id="7" name="TextBox 6">
            <a:extLst>
              <a:ext uri="{FF2B5EF4-FFF2-40B4-BE49-F238E27FC236}">
                <a16:creationId xmlns:a16="http://schemas.microsoft.com/office/drawing/2014/main" id="{6E637E35-A47A-D8AB-BFF8-354528FCA3ED}"/>
              </a:ext>
            </a:extLst>
          </p:cNvPr>
          <p:cNvSpPr txBox="1"/>
          <p:nvPr/>
        </p:nvSpPr>
        <p:spPr>
          <a:xfrm>
            <a:off x="64008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Dictate prompts, get spoken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responses. Meeting prep while</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walking, email drafts from</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your car, brainstorm anywhere.</a:t>
            </a:r>
          </a:p>
        </p:txBody>
      </p:sp>
      <p:sp>
        <p:nvSpPr>
          <p:cNvPr id="8" name="Rounded Rectangle 7">
            <a:extLst>
              <a:ext uri="{FF2B5EF4-FFF2-40B4-BE49-F238E27FC236}">
                <a16:creationId xmlns:a16="http://schemas.microsoft.com/office/drawing/2014/main" id="{8DB8E344-B1B2-AFAE-8A2E-41AB7249F1D3}"/>
              </a:ext>
            </a:extLst>
          </p:cNvPr>
          <p:cNvSpPr/>
          <p:nvPr/>
        </p:nvSpPr>
        <p:spPr>
          <a:xfrm>
            <a:off x="420624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5BF3D810-E77D-B4BE-D2C7-C99B5D29E138}"/>
              </a:ext>
            </a:extLst>
          </p:cNvPr>
          <p:cNvSpPr txBox="1"/>
          <p:nvPr/>
        </p:nvSpPr>
        <p:spPr>
          <a:xfrm>
            <a:off x="438912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0" name="TextBox 9">
            <a:extLst>
              <a:ext uri="{FF2B5EF4-FFF2-40B4-BE49-F238E27FC236}">
                <a16:creationId xmlns:a16="http://schemas.microsoft.com/office/drawing/2014/main" id="{34190E08-C41F-052B-3D51-449FDDF338F4}"/>
              </a:ext>
            </a:extLst>
          </p:cNvPr>
          <p:cNvSpPr txBox="1"/>
          <p:nvPr/>
        </p:nvSpPr>
        <p:spPr>
          <a:xfrm>
            <a:off x="438912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Camera + Vision</a:t>
            </a:r>
          </a:p>
        </p:txBody>
      </p:sp>
      <p:sp>
        <p:nvSpPr>
          <p:cNvPr id="11" name="TextBox 10">
            <a:extLst>
              <a:ext uri="{FF2B5EF4-FFF2-40B4-BE49-F238E27FC236}">
                <a16:creationId xmlns:a16="http://schemas.microsoft.com/office/drawing/2014/main" id="{1F6B3515-C064-7FFC-84A7-F9C1181A0C3A}"/>
              </a:ext>
            </a:extLst>
          </p:cNvPr>
          <p:cNvSpPr txBox="1"/>
          <p:nvPr/>
        </p:nvSpPr>
        <p:spPr>
          <a:xfrm>
            <a:off x="438912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Snap a whiteboard, photo of</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 document, screenshot of an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error. Claude reads images</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natively — no typing needed.</a:t>
            </a:r>
          </a:p>
        </p:txBody>
      </p:sp>
      <p:sp>
        <p:nvSpPr>
          <p:cNvPr id="12" name="Rounded Rectangle 11">
            <a:extLst>
              <a:ext uri="{FF2B5EF4-FFF2-40B4-BE49-F238E27FC236}">
                <a16:creationId xmlns:a16="http://schemas.microsoft.com/office/drawing/2014/main" id="{DC84FEF6-D904-F911-A239-FD86638888F2}"/>
              </a:ext>
            </a:extLst>
          </p:cNvPr>
          <p:cNvSpPr/>
          <p:nvPr/>
        </p:nvSpPr>
        <p:spPr>
          <a:xfrm>
            <a:off x="7955279"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8C481455-59AB-BA6C-B634-D33DEF366C52}"/>
              </a:ext>
            </a:extLst>
          </p:cNvPr>
          <p:cNvSpPr txBox="1"/>
          <p:nvPr/>
        </p:nvSpPr>
        <p:spPr>
          <a:xfrm>
            <a:off x="8138159"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4" name="TextBox 13">
            <a:extLst>
              <a:ext uri="{FF2B5EF4-FFF2-40B4-BE49-F238E27FC236}">
                <a16:creationId xmlns:a16="http://schemas.microsoft.com/office/drawing/2014/main" id="{28D387CD-77CB-2695-DEEE-A10575802AA9}"/>
              </a:ext>
            </a:extLst>
          </p:cNvPr>
          <p:cNvSpPr txBox="1"/>
          <p:nvPr/>
        </p:nvSpPr>
        <p:spPr>
          <a:xfrm>
            <a:off x="8138159"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Quick Access</a:t>
            </a:r>
          </a:p>
        </p:txBody>
      </p:sp>
      <p:sp>
        <p:nvSpPr>
          <p:cNvPr id="15" name="TextBox 14">
            <a:extLst>
              <a:ext uri="{FF2B5EF4-FFF2-40B4-BE49-F238E27FC236}">
                <a16:creationId xmlns:a16="http://schemas.microsoft.com/office/drawing/2014/main" id="{D7AA44D0-D7BF-E7B1-AA2A-5243B9A53371}"/>
              </a:ext>
            </a:extLst>
          </p:cNvPr>
          <p:cNvSpPr txBox="1"/>
          <p:nvPr/>
        </p:nvSpPr>
        <p:spPr>
          <a:xfrm>
            <a:off x="8138159"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Same conversations sync</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across phone, desktop, and</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web. Start on your laptop,</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continue on your phone.</a:t>
            </a:r>
          </a:p>
        </p:txBody>
      </p:sp>
      <p:sp>
        <p:nvSpPr>
          <p:cNvPr id="16" name="TextBox 15">
            <a:extLst>
              <a:ext uri="{FF2B5EF4-FFF2-40B4-BE49-F238E27FC236}">
                <a16:creationId xmlns:a16="http://schemas.microsoft.com/office/drawing/2014/main" id="{112129ED-E08A-3518-5558-BB3B22E19E8F}"/>
              </a:ext>
            </a:extLst>
          </p:cNvPr>
          <p:cNvSpPr txBox="1"/>
          <p:nvPr/>
        </p:nvSpPr>
        <p:spPr>
          <a:xfrm>
            <a:off x="457200" y="5852160"/>
            <a:ext cx="1124712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i="1">
                <a:solidFill>
                  <a:srgbClr val="14B8A6"/>
                </a:solidFill>
              </a:defRPr>
            </a:pPr>
            <a:r>
              <a:rPr kumimoji="0" sz="1600" b="0" i="1" u="none" strike="noStrike" kern="1200" cap="none" spc="0" normalizeH="0" baseline="0" noProof="0">
                <a:ln>
                  <a:noFill/>
                </a:ln>
                <a:solidFill>
                  <a:srgbClr val="14B8A6"/>
                </a:solidFill>
                <a:effectLst/>
                <a:uLnTx/>
                <a:uFillTx/>
                <a:latin typeface="Calibri"/>
                <a:ea typeface="+mn-ea"/>
                <a:cs typeface="+mn-cs"/>
              </a:rPr>
              <a:t>Pro tip: Enable Voice Mode on mobile for hands-free AI conversations</a:t>
            </a:r>
          </a:p>
        </p:txBody>
      </p:sp>
    </p:spTree>
    <p:extLst>
      <p:ext uri="{BB962C8B-B14F-4D97-AF65-F5344CB8AC3E}">
        <p14:creationId xmlns:p14="http://schemas.microsoft.com/office/powerpoint/2010/main" val="41307976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18" name="TextBox 17"/>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19" name="TextBox 18"/>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20"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3</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Analysis Prompts</a:t>
            </a:r>
            <a:br/>
            <a:r>
              <a:t>&amp; Claude in Excel</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Turn data into decisions — in the browser and in your spreadsheets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4</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Artifacts, Files</a:t>
            </a:r>
            <a:br/>
            <a:r>
              <a:t>&amp; Integrations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Create deliverables, work with files, and connect your tools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in PowerPoint</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14B8A6"/>
                </a:solidFill>
              </a:defRPr>
            </a:pPr>
            <a:r>
              <a:t>Research Preview  •  Available for Max, Team, and Enterprise</a:t>
            </a:r>
          </a:p>
        </p:txBody>
      </p:sp>
      <p:sp>
        <p:nvSpPr>
          <p:cNvPr id="4" name="Rounded Rectangle 3"/>
          <p:cNvSpPr/>
          <p:nvPr/>
        </p:nvSpPr>
        <p:spPr>
          <a:xfrm>
            <a:off x="45720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Build &amp; Design</a:t>
            </a:r>
          </a:p>
        </p:txBody>
      </p:sp>
      <p:sp>
        <p:nvSpPr>
          <p:cNvPr id="7" name="TextBox 6"/>
          <p:cNvSpPr txBox="1"/>
          <p:nvPr/>
        </p:nvSpPr>
        <p:spPr>
          <a:xfrm>
            <a:off x="640080" y="2926080"/>
            <a:ext cx="3108960" cy="1828800"/>
          </a:xfrm>
          <a:prstGeom prst="rect">
            <a:avLst/>
          </a:prstGeom>
          <a:noFill/>
        </p:spPr>
        <p:txBody>
          <a:bodyPr wrap="square">
            <a:spAutoFit/>
          </a:bodyPr>
          <a:lstStyle/>
          <a:p>
            <a:pPr algn="ctr">
              <a:defRPr sz="1400">
                <a:solidFill>
                  <a:srgbClr val="D1D5DB"/>
                </a:solidFill>
              </a:defRPr>
            </a:pPr>
            <a:r>
              <a:t>Create new slides from</a:t>
            </a:r>
            <a:br/>
            <a:r>
              <a:t>a prompt or outline</a:t>
            </a:r>
            <a:br/>
            <a:r>
              <a:t>Apply consistent branding</a:t>
            </a:r>
            <a:br/>
            <a:r>
              <a:t>Redesign existing decks</a:t>
            </a:r>
            <a:br/>
            <a:r>
              <a:t>Powered by Opus 4.6</a:t>
            </a:r>
          </a:p>
        </p:txBody>
      </p:sp>
      <p:sp>
        <p:nvSpPr>
          <p:cNvPr id="8" name="Rounded Rectangle 7"/>
          <p:cNvSpPr/>
          <p:nvPr/>
        </p:nvSpPr>
        <p:spPr>
          <a:xfrm>
            <a:off x="420624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Edit &amp; Refine</a:t>
            </a:r>
          </a:p>
        </p:txBody>
      </p:sp>
      <p:sp>
        <p:nvSpPr>
          <p:cNvPr id="11" name="TextBox 10"/>
          <p:cNvSpPr txBox="1"/>
          <p:nvPr/>
        </p:nvSpPr>
        <p:spPr>
          <a:xfrm>
            <a:off x="4389120" y="2926080"/>
            <a:ext cx="3108960" cy="1828800"/>
          </a:xfrm>
          <a:prstGeom prst="rect">
            <a:avLst/>
          </a:prstGeom>
          <a:noFill/>
        </p:spPr>
        <p:txBody>
          <a:bodyPr wrap="square">
            <a:spAutoFit/>
          </a:bodyPr>
          <a:lstStyle/>
          <a:p>
            <a:pPr algn="ctr">
              <a:defRPr sz="1400">
                <a:solidFill>
                  <a:srgbClr val="D1D5DB"/>
                </a:solidFill>
              </a:defRPr>
            </a:pPr>
            <a:r>
              <a:t>Rewrite slide content</a:t>
            </a:r>
            <a:br/>
            <a:r>
              <a:t>Fix formatting issues</a:t>
            </a:r>
            <a:br/>
            <a:r>
              <a:t>Improve data visualizations</a:t>
            </a:r>
            <a:br/>
            <a:r>
              <a:t>Condense or expand sections</a:t>
            </a:r>
            <a:br/>
            <a:r>
              <a:t>Maintain brand guidelines</a:t>
            </a:r>
          </a:p>
        </p:txBody>
      </p:sp>
      <p:sp>
        <p:nvSpPr>
          <p:cNvPr id="12" name="Rounded Rectangle 11"/>
          <p:cNvSpPr/>
          <p:nvPr/>
        </p:nvSpPr>
        <p:spPr>
          <a:xfrm>
            <a:off x="7955279"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Analyze &amp; Advise</a:t>
            </a:r>
          </a:p>
        </p:txBody>
      </p:sp>
      <p:sp>
        <p:nvSpPr>
          <p:cNvPr id="15" name="TextBox 14"/>
          <p:cNvSpPr txBox="1"/>
          <p:nvPr/>
        </p:nvSpPr>
        <p:spPr>
          <a:xfrm>
            <a:off x="8138159" y="2926080"/>
            <a:ext cx="3108960" cy="1828800"/>
          </a:xfrm>
          <a:prstGeom prst="rect">
            <a:avLst/>
          </a:prstGeom>
          <a:noFill/>
        </p:spPr>
        <p:txBody>
          <a:bodyPr wrap="square">
            <a:spAutoFit/>
          </a:bodyPr>
          <a:lstStyle/>
          <a:p>
            <a:pPr algn="ctr">
              <a:defRPr sz="1400">
                <a:solidFill>
                  <a:srgbClr val="D1D5DB"/>
                </a:solidFill>
              </a:defRPr>
            </a:pPr>
            <a:r>
              <a:t>Review your deck for</a:t>
            </a:r>
            <a:br/>
            <a:r>
              <a:t>clarity and flow</a:t>
            </a:r>
            <a:br/>
            <a:r>
              <a:t>Suggest better layouts</a:t>
            </a:r>
            <a:br/>
            <a:r>
              <a:t>Extract key messages</a:t>
            </a:r>
            <a:br/>
            <a:r>
              <a:t>Prepare speaker notes</a:t>
            </a:r>
          </a:p>
        </p:txBody>
      </p:sp>
      <p:sp>
        <p:nvSpPr>
          <p:cNvPr id="16" name="Rounded Rectangle 15"/>
          <p:cNvSpPr/>
          <p:nvPr/>
        </p:nvSpPr>
        <p:spPr>
          <a:xfrm>
            <a:off x="457200" y="5212080"/>
            <a:ext cx="11247120" cy="731520"/>
          </a:xfrm>
          <a:prstGeom prst="roundRect">
            <a:avLst/>
          </a:prstGeom>
          <a:solidFill>
            <a:srgbClr val="141A2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5303520"/>
            <a:ext cx="10698480" cy="548640"/>
          </a:xfrm>
          <a:prstGeom prst="rect">
            <a:avLst/>
          </a:prstGeom>
          <a:noFill/>
        </p:spPr>
        <p:txBody>
          <a:bodyPr wrap="square">
            <a:spAutoFit/>
          </a:bodyPr>
          <a:lstStyle/>
          <a:p>
            <a:pPr algn="ctr">
              <a:defRPr sz="1500">
                <a:solidFill>
                  <a:srgbClr val="9CA3AF"/>
                </a:solidFill>
              </a:defRPr>
            </a:pPr>
            <a:r>
              <a:t>Claude now integrates directly into Excel, PowerPoint, and Google Docs — your AI assistant lives inside the tools you already use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Chrome</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AI assistant in your browser side panel — sees your screen, acts on any webpage</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Browse with AI</a:t>
            </a:r>
          </a:p>
        </p:txBody>
      </p:sp>
      <p:sp>
        <p:nvSpPr>
          <p:cNvPr id="7" name="TextBox 6"/>
          <p:cNvSpPr txBox="1"/>
          <p:nvPr/>
        </p:nvSpPr>
        <p:spPr>
          <a:xfrm>
            <a:off x="640080" y="2926080"/>
            <a:ext cx="3108960" cy="2011680"/>
          </a:xfrm>
          <a:prstGeom prst="rect">
            <a:avLst/>
          </a:prstGeom>
          <a:noFill/>
        </p:spPr>
        <p:txBody>
          <a:bodyPr wrap="square">
            <a:spAutoFit/>
          </a:bodyPr>
          <a:lstStyle/>
          <a:p>
            <a:pPr algn="ctr">
              <a:defRPr sz="1400">
                <a:solidFill>
                  <a:srgbClr val="D1D5DB"/>
                </a:solidFill>
              </a:defRPr>
            </a:pPr>
            <a:r>
              <a:t>Side panel stays open</a:t>
            </a:r>
            <a:br/>
            <a:r>
              <a:t>while you browse.</a:t>
            </a:r>
            <a:br/>
            <a:r>
              <a:t>Ask questions about</a:t>
            </a:r>
            <a:br/>
            <a:r>
              <a:t>any page you're viewing.</a:t>
            </a:r>
            <a:br/>
            <a:r>
              <a:t>No copy-paste needed.</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Summarize &amp; Extract</a:t>
            </a:r>
          </a:p>
        </p:txBody>
      </p:sp>
      <p:sp>
        <p:nvSpPr>
          <p:cNvPr id="11" name="TextBox 10"/>
          <p:cNvSpPr txBox="1"/>
          <p:nvPr/>
        </p:nvSpPr>
        <p:spPr>
          <a:xfrm>
            <a:off x="4389120" y="2926080"/>
            <a:ext cx="3108960" cy="2011680"/>
          </a:xfrm>
          <a:prstGeom prst="rect">
            <a:avLst/>
          </a:prstGeom>
          <a:noFill/>
        </p:spPr>
        <p:txBody>
          <a:bodyPr wrap="square">
            <a:spAutoFit/>
          </a:bodyPr>
          <a:lstStyle/>
          <a:p>
            <a:pPr algn="ctr">
              <a:defRPr sz="1400">
                <a:solidFill>
                  <a:srgbClr val="D1D5DB"/>
                </a:solidFill>
              </a:defRPr>
            </a:pPr>
            <a:r>
              <a:t>Summarize long articles</a:t>
            </a:r>
            <a:br/>
            <a:r>
              <a:t>Extract key data points</a:t>
            </a:r>
            <a:br/>
            <a:r>
              <a:t>Compare across tabs</a:t>
            </a:r>
            <a:br/>
            <a:r>
              <a:t>Pull info from tables</a:t>
            </a:r>
            <a:br/>
            <a:r>
              <a:t>Research in half the time</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Automate Workflows</a:t>
            </a:r>
          </a:p>
        </p:txBody>
      </p:sp>
      <p:sp>
        <p:nvSpPr>
          <p:cNvPr id="15" name="TextBox 14"/>
          <p:cNvSpPr txBox="1"/>
          <p:nvPr/>
        </p:nvSpPr>
        <p:spPr>
          <a:xfrm>
            <a:off x="8138159" y="2926080"/>
            <a:ext cx="3108960" cy="2011680"/>
          </a:xfrm>
          <a:prstGeom prst="rect">
            <a:avLst/>
          </a:prstGeom>
          <a:noFill/>
        </p:spPr>
        <p:txBody>
          <a:bodyPr wrap="square">
            <a:spAutoFit/>
          </a:bodyPr>
          <a:lstStyle/>
          <a:p>
            <a:pPr algn="ctr">
              <a:defRPr sz="1400">
                <a:solidFill>
                  <a:srgbClr val="D1D5DB"/>
                </a:solidFill>
              </a:defRPr>
            </a:pPr>
            <a:r>
              <a:t>Fill out web forms</a:t>
            </a:r>
            <a:br/>
            <a:r>
              <a:t>Draft emails in Gmail</a:t>
            </a:r>
            <a:br/>
            <a:r>
              <a:t>Navigate complex sites</a:t>
            </a:r>
            <a:br/>
            <a:r>
              <a:t>Automate repetitive tasks</a:t>
            </a:r>
            <a:br/>
            <a:r>
              <a:t>Claude sees what you see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Free Chrome extension  •  Install from Chrome Web Store  •  Works with your existing Claude account</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Claude's Memory</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Claude remembers context across conversations — so you don't have to repeat yourself</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640080"/>
          </a:xfrm>
          <a:prstGeom prst="rect">
            <a:avLst/>
          </a:prstGeom>
          <a:noFill/>
        </p:spPr>
        <p:txBody>
          <a:bodyPr wrap="square">
            <a:spAutoFit/>
          </a:bodyPr>
          <a:lstStyle/>
          <a:p>
            <a:pPr algn="ctr">
              <a:defRPr sz="1800" b="1">
                <a:solidFill>
                  <a:srgbClr val="FFFFFF"/>
                </a:solidFill>
              </a:defRPr>
            </a:pPr>
            <a:r>
              <a:t>Search &amp; Reference</a:t>
            </a:r>
            <a:br/>
            <a:r>
              <a:t>Past Chats</a:t>
            </a:r>
          </a:p>
        </p:txBody>
      </p:sp>
      <p:sp>
        <p:nvSpPr>
          <p:cNvPr id="7" name="TextBox 6"/>
          <p:cNvSpPr txBox="1"/>
          <p:nvPr/>
        </p:nvSpPr>
        <p:spPr>
          <a:xfrm>
            <a:off x="640080" y="3108960"/>
            <a:ext cx="3108960" cy="1828800"/>
          </a:xfrm>
          <a:prstGeom prst="rect">
            <a:avLst/>
          </a:prstGeom>
          <a:noFill/>
        </p:spPr>
        <p:txBody>
          <a:bodyPr wrap="square">
            <a:spAutoFit/>
          </a:bodyPr>
          <a:lstStyle/>
          <a:p>
            <a:pPr algn="ctr">
              <a:defRPr sz="1400">
                <a:solidFill>
                  <a:srgbClr val="D1D5DB"/>
                </a:solidFill>
              </a:defRPr>
            </a:pPr>
            <a:r>
              <a:t>Claude searches your</a:t>
            </a:r>
            <a:br/>
            <a:r>
              <a:t>previous conversations</a:t>
            </a:r>
            <a:br/>
            <a:r>
              <a:t>for relevant context.</a:t>
            </a:r>
            <a:br/>
            <a:r>
              <a:t>Finds details you forgot.</a:t>
            </a:r>
            <a:br/>
            <a:r>
              <a:t>Works across all chats.</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640080"/>
          </a:xfrm>
          <a:prstGeom prst="rect">
            <a:avLst/>
          </a:prstGeom>
          <a:noFill/>
        </p:spPr>
        <p:txBody>
          <a:bodyPr wrap="square">
            <a:spAutoFit/>
          </a:bodyPr>
          <a:lstStyle/>
          <a:p>
            <a:pPr algn="ctr">
              <a:defRPr sz="1800" b="1">
                <a:solidFill>
                  <a:srgbClr val="FFFFFF"/>
                </a:solidFill>
              </a:defRPr>
            </a:pPr>
            <a:r>
              <a:t>Generate Memory</a:t>
            </a:r>
            <a:br/>
            <a:r>
              <a:t>from History</a:t>
            </a:r>
          </a:p>
        </p:txBody>
      </p:sp>
      <p:sp>
        <p:nvSpPr>
          <p:cNvPr id="11" name="TextBox 10"/>
          <p:cNvSpPr txBox="1"/>
          <p:nvPr/>
        </p:nvSpPr>
        <p:spPr>
          <a:xfrm>
            <a:off x="4389120" y="3108960"/>
            <a:ext cx="3108960" cy="1828800"/>
          </a:xfrm>
          <a:prstGeom prst="rect">
            <a:avLst/>
          </a:prstGeom>
          <a:noFill/>
        </p:spPr>
        <p:txBody>
          <a:bodyPr wrap="square">
            <a:spAutoFit/>
          </a:bodyPr>
          <a:lstStyle/>
          <a:p>
            <a:pPr algn="ctr">
              <a:defRPr sz="1400">
                <a:solidFill>
                  <a:srgbClr val="D1D5DB"/>
                </a:solidFill>
              </a:defRPr>
            </a:pPr>
            <a:r>
              <a:t>Claude builds memory</a:t>
            </a:r>
            <a:br/>
            <a:r>
              <a:t>from your chat patterns.</a:t>
            </a:r>
            <a:br/>
            <a:r>
              <a:t>Remembers preferences,</a:t>
            </a:r>
            <a:br/>
            <a:r>
              <a:t>projects, and context.</a:t>
            </a:r>
            <a:br/>
            <a:r>
              <a:t>Controls both chats</a:t>
            </a:r>
            <a:br/>
            <a:r>
              <a:t>and Projects.</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640080"/>
          </a:xfrm>
          <a:prstGeom prst="rect">
            <a:avLst/>
          </a:prstGeom>
          <a:noFill/>
        </p:spPr>
        <p:txBody>
          <a:bodyPr wrap="square">
            <a:spAutoFit/>
          </a:bodyPr>
          <a:lstStyle/>
          <a:p>
            <a:pPr algn="ctr">
              <a:defRPr sz="1800" b="1">
                <a:solidFill>
                  <a:srgbClr val="FFFFFF"/>
                </a:solidFill>
              </a:defRPr>
            </a:pPr>
            <a:r>
              <a:t>View Your Memory</a:t>
            </a:r>
          </a:p>
        </p:txBody>
      </p:sp>
      <p:sp>
        <p:nvSpPr>
          <p:cNvPr id="15" name="TextBox 14"/>
          <p:cNvSpPr txBox="1"/>
          <p:nvPr/>
        </p:nvSpPr>
        <p:spPr>
          <a:xfrm>
            <a:off x="8138159" y="3108960"/>
            <a:ext cx="3108960" cy="1828800"/>
          </a:xfrm>
          <a:prstGeom prst="rect">
            <a:avLst/>
          </a:prstGeom>
          <a:noFill/>
        </p:spPr>
        <p:txBody>
          <a:bodyPr wrap="square">
            <a:spAutoFit/>
          </a:bodyPr>
          <a:lstStyle/>
          <a:p>
            <a:pPr algn="ctr">
              <a:defRPr sz="1400">
                <a:solidFill>
                  <a:srgbClr val="D1D5DB"/>
                </a:solidFill>
              </a:defRPr>
            </a:pPr>
            <a:r>
              <a:t>See exactly what Claude</a:t>
            </a:r>
            <a:br/>
            <a:r>
              <a:t>remembers about you.</a:t>
            </a:r>
            <a:br/>
            <a:r>
              <a:t>Edit or delete entries.</a:t>
            </a:r>
            <a:br/>
            <a:r>
              <a:t>Full transparency —</a:t>
            </a:r>
            <a:br/>
            <a:r>
              <a:t>no hidden knowledge.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Settings → Memory → Enable both toggles for the best experience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Beyond Built-In: Custom Connectors</a:t>
            </a:r>
          </a:p>
        </p:txBody>
      </p:sp>
      <p:sp>
        <p:nvSpPr>
          <p:cNvPr id="3" name="TextBox 2"/>
          <p:cNvSpPr txBox="1"/>
          <p:nvPr/>
        </p:nvSpPr>
        <p:spPr>
          <a:xfrm>
            <a:off x="457200" y="1005840"/>
            <a:ext cx="11247120" cy="457200"/>
          </a:xfrm>
          <a:prstGeom prst="rect">
            <a:avLst/>
          </a:prstGeom>
          <a:noFill/>
        </p:spPr>
        <p:txBody>
          <a:bodyPr wrap="none">
            <a:spAutoFit/>
          </a:bodyPr>
          <a:lstStyle/>
          <a:p>
            <a:pPr>
              <a:defRPr sz="2000" i="1">
                <a:solidFill>
                  <a:srgbClr val="9CA3AF"/>
                </a:solidFill>
              </a:defRPr>
            </a:pPr>
            <a:r>
              <a:t>Claude isn't limited to what ships out of the box</a:t>
            </a:r>
          </a:p>
        </p:txBody>
      </p:sp>
      <p:sp>
        <p:nvSpPr>
          <p:cNvPr id="4" name="Rounded Rectangle 3"/>
          <p:cNvSpPr/>
          <p:nvPr/>
        </p:nvSpPr>
        <p:spPr>
          <a:xfrm>
            <a:off x="45720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lgn="ctr">
              <a:defRPr sz="3000"/>
            </a:pPr>
            <a:r>
              <a:t>🔌</a:t>
            </a:r>
          </a:p>
        </p:txBody>
      </p:sp>
      <p:sp>
        <p:nvSpPr>
          <p:cNvPr id="6" name="TextBox 5"/>
          <p:cNvSpPr txBox="1"/>
          <p:nvPr/>
        </p:nvSpPr>
        <p:spPr>
          <a:xfrm>
            <a:off x="731520" y="2377440"/>
            <a:ext cx="4754880" cy="457200"/>
          </a:xfrm>
          <a:prstGeom prst="rect">
            <a:avLst/>
          </a:prstGeom>
          <a:noFill/>
        </p:spPr>
        <p:txBody>
          <a:bodyPr wrap="none">
            <a:spAutoFit/>
          </a:bodyPr>
          <a:lstStyle/>
          <a:p>
            <a:pPr algn="ctr">
              <a:defRPr sz="2200" b="1">
                <a:solidFill>
                  <a:srgbClr val="FFFFFF"/>
                </a:solidFill>
              </a:defRPr>
            </a:pPr>
            <a:r>
              <a:t>Integrations Panel</a:t>
            </a:r>
          </a:p>
        </p:txBody>
      </p:sp>
      <p:sp>
        <p:nvSpPr>
          <p:cNvPr id="7" name="TextBox 6"/>
          <p:cNvSpPr txBox="1"/>
          <p:nvPr/>
        </p:nvSpPr>
        <p:spPr>
          <a:xfrm>
            <a:off x="731520" y="2834640"/>
            <a:ext cx="4754880" cy="457200"/>
          </a:xfrm>
          <a:prstGeom prst="rect">
            <a:avLst/>
          </a:prstGeom>
          <a:noFill/>
        </p:spPr>
        <p:txBody>
          <a:bodyPr wrap="none">
            <a:spAutoFit/>
          </a:bodyPr>
          <a:lstStyle/>
          <a:p>
            <a:pPr algn="ctr">
              <a:defRPr sz="1500" i="1">
                <a:solidFill>
                  <a:srgbClr val="14B8A6"/>
                </a:solidFill>
              </a:defRPr>
            </a:pPr>
            <a:r>
              <a:t>Connect Claude to tools</a:t>
            </a:r>
            <a:br/>
            <a:r>
              <a:t>you already use:</a:t>
            </a:r>
          </a:p>
        </p:txBody>
      </p:sp>
      <p:sp>
        <p:nvSpPr>
          <p:cNvPr id="8" name="TextBox 7"/>
          <p:cNvSpPr txBox="1"/>
          <p:nvPr/>
        </p:nvSpPr>
        <p:spPr>
          <a:xfrm>
            <a:off x="731520" y="3383280"/>
            <a:ext cx="4754880" cy="2286000"/>
          </a:xfrm>
          <a:prstGeom prst="rect">
            <a:avLst/>
          </a:prstGeom>
          <a:noFill/>
        </p:spPr>
        <p:txBody>
          <a:bodyPr wrap="square">
            <a:spAutoFit/>
          </a:bodyPr>
          <a:lstStyle/>
          <a:p>
            <a:pPr algn="ctr">
              <a:defRPr sz="1500">
                <a:solidFill>
                  <a:srgbClr val="D1D5DB"/>
                </a:solidFill>
              </a:defRPr>
            </a:pPr>
            <a:r>
              <a:t>Slack  •  Notion  •  Jira</a:t>
            </a:r>
            <a:br/>
            <a:r>
              <a:t>Salesforce  •  Asana  •  Zapier</a:t>
            </a:r>
            <a:br/>
            <a:r>
              <a:t>Google Workspace  •  GitHub</a:t>
            </a:r>
            <a:br/>
            <a:br/>
            <a:r>
              <a:t>Enable in Settings → Integrations</a:t>
            </a:r>
            <a:br/>
            <a:r>
              <a:t>Claude pulls and pushes data</a:t>
            </a:r>
            <a:br/>
            <a:r>
              <a:t>directly — no switching apps</a:t>
            </a:r>
          </a:p>
        </p:txBody>
      </p:sp>
      <p:sp>
        <p:nvSpPr>
          <p:cNvPr id="9" name="Rounded Rectangle 8"/>
          <p:cNvSpPr/>
          <p:nvPr/>
        </p:nvSpPr>
        <p:spPr>
          <a:xfrm>
            <a:off x="621792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920240"/>
            <a:ext cx="4754880" cy="457200"/>
          </a:xfrm>
          <a:prstGeom prst="rect">
            <a:avLst/>
          </a:prstGeom>
          <a:noFill/>
        </p:spPr>
        <p:txBody>
          <a:bodyPr wrap="none">
            <a:spAutoFit/>
          </a:bodyPr>
          <a:lstStyle/>
          <a:p>
            <a:pPr algn="ctr">
              <a:defRPr sz="3000"/>
            </a:pPr>
            <a:r>
              <a:t>🔧</a:t>
            </a:r>
          </a:p>
        </p:txBody>
      </p:sp>
      <p:sp>
        <p:nvSpPr>
          <p:cNvPr id="11" name="TextBox 10"/>
          <p:cNvSpPr txBox="1"/>
          <p:nvPr/>
        </p:nvSpPr>
        <p:spPr>
          <a:xfrm>
            <a:off x="6492240" y="2377440"/>
            <a:ext cx="4754880" cy="457200"/>
          </a:xfrm>
          <a:prstGeom prst="rect">
            <a:avLst/>
          </a:prstGeom>
          <a:noFill/>
        </p:spPr>
        <p:txBody>
          <a:bodyPr wrap="none">
            <a:spAutoFit/>
          </a:bodyPr>
          <a:lstStyle/>
          <a:p>
            <a:pPr algn="ctr">
              <a:defRPr sz="2200" b="1">
                <a:solidFill>
                  <a:srgbClr val="FFFFFF"/>
                </a:solidFill>
              </a:defRPr>
            </a:pPr>
            <a:r>
              <a:t>Model Context Protocol (MCP)</a:t>
            </a:r>
          </a:p>
        </p:txBody>
      </p:sp>
      <p:sp>
        <p:nvSpPr>
          <p:cNvPr id="12" name="TextBox 11"/>
          <p:cNvSpPr txBox="1"/>
          <p:nvPr/>
        </p:nvSpPr>
        <p:spPr>
          <a:xfrm>
            <a:off x="6492240" y="2834640"/>
            <a:ext cx="4754880" cy="457200"/>
          </a:xfrm>
          <a:prstGeom prst="rect">
            <a:avLst/>
          </a:prstGeom>
          <a:noFill/>
        </p:spPr>
        <p:txBody>
          <a:bodyPr wrap="none">
            <a:spAutoFit/>
          </a:bodyPr>
          <a:lstStyle/>
          <a:p>
            <a:pPr algn="ctr">
              <a:defRPr sz="1500" i="1">
                <a:solidFill>
                  <a:srgbClr val="14B8A6"/>
                </a:solidFill>
              </a:defRPr>
            </a:pPr>
            <a:r>
              <a:t>Your IT team can build</a:t>
            </a:r>
            <a:br/>
            <a:r>
              <a:t>custom connectors:</a:t>
            </a:r>
          </a:p>
        </p:txBody>
      </p:sp>
      <p:sp>
        <p:nvSpPr>
          <p:cNvPr id="13" name="TextBox 12"/>
          <p:cNvSpPr txBox="1"/>
          <p:nvPr/>
        </p:nvSpPr>
        <p:spPr>
          <a:xfrm>
            <a:off x="6492240" y="3383280"/>
            <a:ext cx="4754880" cy="2286000"/>
          </a:xfrm>
          <a:prstGeom prst="rect">
            <a:avLst/>
          </a:prstGeom>
          <a:noFill/>
        </p:spPr>
        <p:txBody>
          <a:bodyPr wrap="square">
            <a:spAutoFit/>
          </a:bodyPr>
          <a:lstStyle/>
          <a:p>
            <a:pPr algn="ctr">
              <a:defRPr sz="1500">
                <a:solidFill>
                  <a:srgbClr val="D1D5DB"/>
                </a:solidFill>
              </a:defRPr>
            </a:pPr>
            <a:r>
              <a:t>Connect to internal databases</a:t>
            </a:r>
            <a:br/>
            <a:r>
              <a:t>Query proprietary APIs</a:t>
            </a:r>
            <a:br/>
            <a:r>
              <a:t>Access company knowledge bases</a:t>
            </a:r>
            <a:br/>
            <a:r>
              <a:t>Integrate with any system</a:t>
            </a:r>
            <a:br/>
            <a:br/>
            <a:r>
              <a:t>Open standard by Anthropic</a:t>
            </a:r>
            <a:br/>
            <a:r>
              <a:t>Growing ecosystem of connectors</a:t>
            </a:r>
            <a:br/>
            <a:r>
              <a:t>Technical deep-dive in Day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920E337-D44A-4148-B6B4-463D6CF2BDB0}">
  <we:reference id="f5f369e5-aa35-49d7-ad7b-638152ddb008" version="1.0.0.0" store="EXCatalog" storeType="EXCatalog"/>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56</TotalTime>
  <Words>13659</Words>
  <Application>Microsoft Office PowerPoint</Application>
  <PresentationFormat>Widescreen</PresentationFormat>
  <Paragraphs>1642</Paragraphs>
  <Slides>86</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86</vt:i4>
      </vt:variant>
    </vt:vector>
  </HeadingPairs>
  <TitlesOfParts>
    <vt:vector size="8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2026-02-16T14:31:01Z</dcterms:modified>
  <cp:category/>
</cp:coreProperties>
</file>