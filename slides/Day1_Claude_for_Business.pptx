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367" r:id="rId111"/>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7" r:id="rId37"/>
    <p:sldId id="272" r:id="rId39"/>
    <p:sldId id="273" r:id="rId40"/>
    <p:sldId id="274" r:id="rId41"/>
    <p:sldId id="275" r:id="rId42"/>
    <p:sldId id="276" r:id="rId43"/>
    <p:sldId id="343" r:id="rId44"/>
    <p:sldId id="298" r:id="rId45"/>
    <p:sldId id="348" r:id="rId46"/>
    <p:sldId id="356" r:id="rId100"/>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57" r:id="rId101"/>
    <p:sldId id="358" r:id="rId102"/>
    <p:sldId id="359" r:id="rId103"/>
    <p:sldId id="360" r:id="rId104"/>
    <p:sldId id="362" r:id="rId106"/>
    <p:sldId id="363" r:id="rId107"/>
    <p:sldId id="364" r:id="rId108"/>
    <p:sldId id="365" r:id="rId109"/>
    <p:sldId id="366" r:id="rId110"/>
    <p:sldId id="361" r:id="rId105"/>
    <p:sldId id="325" r:id="rId77"/>
    <p:sldId id="326" r:id="rId78"/>
    <p:sldId id="327" r:id="rId79"/>
    <p:sldId id="345" r:id="rId80"/>
    <p:sldId id="328" r:id="rId81"/>
    <p:sldId id="329" r:id="rId82"/>
    <p:sldId id="330" r:id="rId83"/>
    <p:sldId id="331" r:id="rId84"/>
    <p:sldId id="332" r:id="rId85"/>
    <p:sldId id="333" r:id="rId86"/>
    <p:sldId id="355"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38.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90.xml"/><Relationship Id="rId78" Type="http://schemas.openxmlformats.org/officeDocument/2006/relationships/slide" Target="slides/slide91.xml"/><Relationship Id="rId79" Type="http://schemas.openxmlformats.org/officeDocument/2006/relationships/slide" Target="slides/slide92.xml"/><Relationship Id="rId80" Type="http://schemas.openxmlformats.org/officeDocument/2006/relationships/slide" Target="slides/slide93.xml"/><Relationship Id="rId81" Type="http://schemas.openxmlformats.org/officeDocument/2006/relationships/slide" Target="slides/slide94.xml"/><Relationship Id="rId82" Type="http://schemas.openxmlformats.org/officeDocument/2006/relationships/slide" Target="slides/slide95.xml"/><Relationship Id="rId83" Type="http://schemas.openxmlformats.org/officeDocument/2006/relationships/slide" Target="slides/slide96.xml"/><Relationship Id="rId84" Type="http://schemas.openxmlformats.org/officeDocument/2006/relationships/slide" Target="slides/slide97.xml"/><Relationship Id="rId85" Type="http://schemas.openxmlformats.org/officeDocument/2006/relationships/slide" Target="slides/slide98.xml"/><Relationship Id="rId86" Type="http://schemas.openxmlformats.org/officeDocument/2006/relationships/slide" Target="slides/slide99.xml"/><Relationship Id="rId87" Type="http://schemas.openxmlformats.org/officeDocument/2006/relationships/slide" Target="slides/slide36.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36.xml"/><Relationship Id="rId96" Type="http://schemas.openxmlformats.org/officeDocument/2006/relationships/slide" Target="slides/slide37.xml"/><Relationship Id="rId97" Type="http://schemas.openxmlformats.org/officeDocument/2006/relationships/slide" Target="slides/slide78.xml"/><Relationship Id="rId98" Type="http://schemas.openxmlformats.org/officeDocument/2006/relationships/slide" Target="slides/slide79.xml"/><Relationship Id="rId99" Type="http://schemas.openxmlformats.org/officeDocument/2006/relationships/slide" Target="slides/slide100.xml"/><Relationship Id="rId100" Type="http://schemas.openxmlformats.org/officeDocument/2006/relationships/slide" Target="slides/slide47.xml"/><Relationship Id="rId101" Type="http://schemas.openxmlformats.org/officeDocument/2006/relationships/slide" Target="slides/slide80.xml"/><Relationship Id="rId102" Type="http://schemas.openxmlformats.org/officeDocument/2006/relationships/slide" Target="slides/slide81.xml"/><Relationship Id="rId103" Type="http://schemas.openxmlformats.org/officeDocument/2006/relationships/slide" Target="slides/slide82.xml"/><Relationship Id="rId104" Type="http://schemas.openxmlformats.org/officeDocument/2006/relationships/slide" Target="slides/slide83.xml"/><Relationship Id="rId105" Type="http://schemas.openxmlformats.org/officeDocument/2006/relationships/slide" Target="slides/slide89.xml"/><Relationship Id="rId106" Type="http://schemas.openxmlformats.org/officeDocument/2006/relationships/slide" Target="slides/slide84.xml"/><Relationship Id="rId107" Type="http://schemas.openxmlformats.org/officeDocument/2006/relationships/slide" Target="slides/slide85.xml"/><Relationship Id="rId108" Type="http://schemas.openxmlformats.org/officeDocument/2006/relationships/slide" Target="slides/slide86.xml"/><Relationship Id="rId109" Type="http://schemas.openxmlformats.org/officeDocument/2006/relationships/slide" Target="slides/slide87.xml"/><Relationship Id="rId110" Type="http://schemas.openxmlformats.org/officeDocument/2006/relationships/slide" Target="slides/slide88.xml"/><Relationship Id="rId111"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7 min</a:t>
            </a:r>
          </a:p>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p>
            <a:r>
              <a:t>ASK THE CLASS:</a:t>
            </a:r>
          </a:p>
          <a:p>
            <a:r>
              <a:t>   "How many of you knew about the voice mode button?"</a:t>
            </a:r>
          </a:p>
          <a:p>
            <a:r>
              <a:t>   [PAUSE for 30-60 seconds]</a:t>
            </a:r>
          </a:p>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p>
            <a:r>
              <a:t>TRANSITION:</a:t>
            </a:r>
          </a:p>
          <a:p>
            <a:r>
              <a:t>   Voice mode is so powerful it deserves its own demo - let's dive deeper</a:t>
            </a:r>
          </a:p>
          <a:p/>
          <a:p>
            <a:r>
              <a:t>[ADDITIONAL CALLOUT: Research Mode]</a:t>
            </a:r>
          </a:p>
          <a:p>
            <a:r>
              <a:t>See that Research option in the plus menu? This is Claude's deep research mode. Instead of a quick answer, Claude does multi-step investigation — searches multiple sources, synthesizes findings, takes a few minutes but gives you a thorough briefing. Think of it as assigning a research analyst a question. Great for competitive analysis, market research, or any question where you need depth over speed. We won't lab this today, but try it on your own — ask Claude to research a competitor or an industry trend.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3 min</a:t>
            </a:r>
          </a:p>
          <a:p/>
          <a:p>
            <a:r>
              <a:t>OPEN WITH:</a:t>
            </a:r>
          </a:p>
          <a:p>
            <a:r>
              <a:t>   Instead of uploading files, Claude can read directly from your tools</a:t>
            </a:r>
          </a:p>
          <a:p/>
          <a:p>
            <a:r>
              <a:t>KEY POINTS:</a:t>
            </a:r>
          </a:p>
          <a:p>
            <a:r>
              <a:t>   * Integrations = Claude connects to external tools</a:t>
            </a:r>
          </a:p>
          <a:p>
            <a:r>
              <a:t>   * Currently: GitHub, Google Docs (more coming)</a:t>
            </a:r>
          </a:p>
          <a:p>
            <a:r>
              <a:t>   * No file upload needed - Claude reads directly</a:t>
            </a:r>
          </a:p>
          <a:p>
            <a:r>
              <a:t>   * Stays in sync with live data</a:t>
            </a:r>
          </a:p>
          <a:p/>
          <a:p>
            <a:r>
              <a:t>REAL-WORLD EXAMPLE:</a:t>
            </a:r>
          </a:p>
          <a:p>
            <a:r>
              <a:t>   Ask 'Review my Google Doc proposal' - Claude opens it, reads it, suggests edits. No download/upload.</a:t>
            </a:r>
          </a:p>
          <a:p/>
          <a:p>
            <a:r>
              <a:t>TRANSITION:</a:t>
            </a:r>
          </a:p>
          <a:p>
            <a:r>
              <a:t>   Let's look at each integration</a:t>
            </a:r>
          </a:p>
          <a:p/>
          <a:p>
            <a:r>
              <a:t>[ADDITIONAL CALLOUT: Canva Integration]</a:t>
            </a:r>
          </a:p>
          <a:p>
            <a:r>
              <a:t>One integration worth knowing about — Canva. In the plus menu, you'll see 'Add from Canva.' This lets you pull your Canva designs directly into Claude. Why does that matter? You can ask Claude to analyze a marketing flyer, suggest copy improvements, or adapt a design's text for a different audience — all without downloading and uploading files. If your team uses Canva for marketing materials, this is a time-saver.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Marketing plugin is one of the A-tier Cowork plugins we just covered. The standout command is /marketing:draft-content. Point it at your brand-voice.md file, specify audience and goal, and it produces content that sounds like your brand, not generic AI voice. The campaign planning workflow builds multi-channel plans with messaging, timing, and metrics per channel. It connects to Slack, Canva, HubSpot, Amplitude, Notion, and more. The key: feed it your brand voice file first. Without that, output is generic. With it, output is indistinguishable from your best writer.</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Sales plugin is A-tier for a reason. /sales:call-prep pulls CRM context via HubSpot or Close connectors, researches the prospect company, identifies recent news and triggers, and produces a structured briefing with talking points, objections, competitive positioning, and next steps. The battlecard command /sales:battlecard is particularly strong. Feed it your product info and a competitor and it builds side-by-side comparison with specific rebuttal language. Not generic talking points, actual responses mapped to specific competitor claims. One sales manager said it replaced 90 minutes of pre-call prep. He now does it in under 10.</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a:p/>
          <a:p>
            <a:r>
              <a:t>[ADDITIONAL CALLOUT: Use Style]</a:t>
            </a:r>
          </a:p>
          <a:p>
            <a:r>
              <a:t>Quick tip — in the plus menu at the bottom of any chat, you'll see 'Use style.' This lets you apply a preset writing style to that specific conversation. Anthropic includes defaults like Formal, Concise, and Explanatory, but you can also create your own custom styles. Think of it this way: Personal Preferences are your global defaults. Use Style is your per-conversation override. Writing a board report? Switch to Formal. Quick Slack message? Switch to Concise. Preferences set the baseline, styles let you flex.</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a:t>
            </a:r>
          </a:p>
          <a:p>
            <a:r>
              <a:t/>
            </a:r>
          </a:p>
          <a:p>
            <a:r>
              <a:t>Thank you all for a great day. You have been an engaged and thoughtful group, and I am confident you will see real productivity gains starting this week.</a:t>
            </a:r>
          </a:p>
          <a:p>
            <a:r>
              <a:t/>
            </a:r>
          </a:p>
          <a:p>
            <a:r>
              <a:t>Remember: the key to success with AI is consistency. Use Claude a little every day, iterate your prompts, and build it into your routine. The skills you practiced today become second nature within two to three weeks.</a:t>
            </a:r>
          </a:p>
          <a:p>
            <a:r>
              <a:t/>
            </a:r>
          </a:p>
          <a:p>
            <a:r>
              <a:t>My contact information is on the screen. Do not hesitate to reach out with questions or success stories. Have a great rest of your day.</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Here is where Claude goes from chatbot to work operating system. Anthropic launched 21 Cowork plugins and 11 of them caused the SaaSpocalypse. Thomson Reuters dropped 18 percent. LegalZoom crashed 20 percent. 285 billion in stock value evaporated. A 20 dollar subscription doing 40 percent of what 150 dollar enterprise software does. S-tier: Data Analysis is the standout. Drop a CSV, type /data:explore, Claude reads every column, flags anomalies, suggests analyses. One user found a 14,000 dollar per month pricing anomaly in 8 minutes that the data team missed for 2 quarters. A-tier: Sales replaced 90 minutes of pre-call prep with 10. Legal automates 60 percent of junior associate work. B-tier needs customization but frameworks are excellent. Key insight: plugins are just markdown files. No code, no infrastructure. If you can write a good prompt, you can build a plugin.</a:t>
            </a:r>
          </a:p>
          <a:p>
            <a:br/>
            <a:br/>
            <a:r>
              <a:t>THE 5 LEVELS OF COWORK — Use this framework to explain the progression:</a:t>
            </a:r>
            <a:br/>
            <a:br/>
            <a:r>
              <a:t>Level 1 — File Management: Point Cowork at a folder and it organizes, moves, finds, and summarizes files. "Grab all images on my desktop and put them in an images folder" — 50 files moved without touching anything.</a:t>
            </a:r>
            <a:br/>
            <a:br/>
            <a:r>
              <a:t>Level 2 — Browser Automation: Install the Claude Chrome extension and Cowork operates inside your browser. Research a lead and create a competitive analysis doc. Analyze YouTube comment sentiment. Even edit a Canva design and download it as PDF. Browser tasks are slower — start them and come back.</a:t>
            </a:r>
            <a:br/>
            <a:br/>
            <a:r>
              <a:t>Level 3 — Connectors: Gmail, Google Calendar, Notion, Fireflies, even your bank. Setup takes 30 seconds per service. Then chain them: "Pull action items from my last Fireflies meeting and create a Notion doc organized by person." One prompt, two platforms.</a:t>
            </a:r>
            <a:br/>
            <a:br/>
            <a:r>
              <a:t>Level 4 — Reusable Skills: Walk Claude through a task once, refine it, save it as a skill. Next time, one prompt runs the whole process. YouTube transcript to newsletter, client onboarding docs, whatever you repeat weekly.</a:t>
            </a:r>
            <a:br/>
            <a:br/>
            <a:r>
              <a:t>Level 5 — Plugins: Bundle multiple skills and connectors into a shareable package. Build once, distribute to your team.</a:t>
            </a:r>
            <a:br/>
            <a:br/>
            <a:r>
              <a:t>THE KEY DISTINCTION — Cowork vs Code: "Cowork runs your day-to-day operations. Code builds your systems." Both automate work, but they solve different problems. Cowork is your assistant using your computer. Code is hiring a developer to build custom software.</a:t>
            </a:r>
            <a:b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Let me show you what is inside a plugin. Skills are domain expertise loaded automatically. Slash commands are structured workflows like /sales:call-prep. Connectors are live integrations via MCP, the same protocol covered in the advanced course. Sub-agents are parallel workers for complex tasks. Market signal: first wave was horizontal functions every company needs. That triggered the SaaSpocalypse. Second wave went vertical: investment banking, PE, HR, engineering. That is building a platform. Plugins are just markdown files. No code, no infrastructure. 2,000 GitHub stars. Anthropic invites every company to build their own. PwC is building industry-specific plugins. For those taking Days 2 and 3, you will learn to build all these components yourself. Everything powering these plugins is exactly what we teach in the advanced course.</a:t>
            </a:r>
          </a:p>
          <a:p>
            <a:br/>
            <a:br/>
            <a:r>
              <a:t>CONNECTOR EXAMPLES — When showing the plugin ecosystem, mention specific connectors students can relate to: Gmail, Google Calendar, Notion, Fireflies for meeting notes, bank accounts for financial data. The power is chaining them — ask one question that pulls from multiple services simultaneously.</a:t>
            </a:r>
            <a:br/>
            <a:br/>
            <a:r>
              <a:t>BROWSER AUTOMATION EXAMPLES — These get the biggest reaction: Research a company and write a 500-word competitive analysis. Analyze sentiment from YouTube comments. Open Canva, change a title, download as PDF. Wild but real.</a:t>
            </a:r>
            <a:br/>
            <a:br/>
            <a:r>
              <a:t>WHERE TO START — Tell students: Pick one repetitive task. Something you do weekly that takes 20-30 minutes. Walk Cowork through it. Save it as a skill. That single skill pays for the subscription in saved time within the first month.</a:t>
            </a:r>
            <a:b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slide that saves people weeks of confusion. Three ways to use Claude, same AI underneath, totally different workflows. Chat is what everyone starts with. You type, Claude answers. Like texting a very smart stranger. The problem: every conversation starts blank. You copy-paste context every single time. When the chat ends, everything is gone. Use Chat for quick questions and brainstorming when you do not need Claude to know your style. Cowork is the mode you should use 80 percent of the time. This is where Claude sits on your desktop, reads your actual files, and creates new ones directly in your folders. The output quality jumps dramatically because Claude reads your context files, your style guides, your examples. It sounds like you, not like AI. Plugins and slash commands only work in Cowork. Extended Thinking is on by default in Cowork. Projects are for recurring work. Set up a Project once with your files and instructions, and every new chat inside that Project already has your context. Think weekly newsletters, monthly reports, any task you do repeatedly where you are tired of re-explaining everything. The key distinction that most people miss: in Chat, context dies when the conversation ends. In Cowork, context persists as long as you are in the same folder. In Projects, context is permanent across every chat. That is the real difference. My recommendation: start everything in Cowork. Drop to Chat for truly quick questions. Elevate to Projects for anything you do more than twice a month.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
            <a:ext cx="11247120" cy="640080"/>
          </a:xfrm>
          <a:prstGeom prst="rect">
            <a:avLst/>
          </a:prstGeom>
          <a:noFill/>
        </p:spPr>
        <p:txBody>
          <a:bodyPr wrap="square">
            <a:spAutoFit/>
          </a:bodyPr>
          <a:lstStyle/>
          <a:p>
            <a:pPr algn="l"/>
            <a:r>
              <a:rPr sz="2800" b="1">
                <a:solidFill>
                  <a:srgbClr val="FFFFFF"/>
                </a:solidFill>
              </a:rPr>
              <a:t>Chat vs. Cowork vs. Projects: Pick the Right Mode</a:t>
            </a:r>
          </a:p>
        </p:txBody>
      </p:sp>
      <p:sp>
        <p:nvSpPr>
          <p:cNvPr id="3" name="TextBox 2"/>
          <p:cNvSpPr txBox="1"/>
          <p:nvPr/>
        </p:nvSpPr>
        <p:spPr>
          <a:xfrm>
            <a:off x="457200" y="731520"/>
            <a:ext cx="11247120" cy="365760"/>
          </a:xfrm>
          <a:prstGeom prst="rect">
            <a:avLst/>
          </a:prstGeom>
          <a:noFill/>
        </p:spPr>
        <p:txBody>
          <a:bodyPr wrap="square">
            <a:spAutoFit/>
          </a:bodyPr>
          <a:lstStyle/>
          <a:p>
            <a:pPr algn="l"/>
            <a:r>
              <a:rPr sz="1400" b="0">
                <a:solidFill>
                  <a:srgbClr val="B0B8C8"/>
                </a:solidFill>
              </a:rPr>
              <a:t>Same AI. Three different ways to use it. Here's how to pick.</a:t>
            </a:r>
          </a:p>
        </p:txBody>
      </p:sp>
      <p:sp>
        <p:nvSpPr>
          <p:cNvPr id="4" name="Rounded Rectangle 3"/>
          <p:cNvSpPr/>
          <p:nvPr/>
        </p:nvSpPr>
        <p:spPr>
          <a:xfrm>
            <a:off x="274320" y="1188720"/>
            <a:ext cx="3520000" cy="4480000"/>
          </a:xfrm>
          <a:prstGeom prst="roundRect">
            <a:avLst/>
          </a:prstGeom>
          <a:solidFill>
            <a:srgbClr val="141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25880"/>
            <a:ext cx="3154240" cy="365760"/>
          </a:xfrm>
          <a:prstGeom prst="rect">
            <a:avLst/>
          </a:prstGeom>
          <a:noFill/>
        </p:spPr>
        <p:txBody>
          <a:bodyPr wrap="square">
            <a:spAutoFit/>
          </a:bodyPr>
          <a:lstStyle/>
          <a:p>
            <a:pPr algn="l"/>
            <a:r>
              <a:rPr sz="1800" b="1">
                <a:solidFill>
                  <a:srgbClr val="00D4AA"/>
                </a:solidFill>
              </a:rPr>
              <a:t>💬 Chat</a:t>
            </a:r>
          </a:p>
        </p:txBody>
      </p:sp>
      <p:sp>
        <p:nvSpPr>
          <p:cNvPr id="6" name="TextBox 5"/>
          <p:cNvSpPr txBox="1"/>
          <p:nvPr/>
        </p:nvSpPr>
        <p:spPr>
          <a:xfrm>
            <a:off x="457200" y="1691640"/>
            <a:ext cx="3154240" cy="457200"/>
          </a:xfrm>
          <a:prstGeom prst="rect">
            <a:avLst/>
          </a:prstGeom>
          <a:noFill/>
        </p:spPr>
        <p:txBody>
          <a:bodyPr wrap="square">
            <a:spAutoFit/>
          </a:bodyPr>
          <a:lstStyle/>
          <a:p>
            <a:pPr algn="l"/>
            <a:r>
              <a:rPr sz="1100" b="1">
                <a:solidFill>
                  <a:srgbClr val="B0B8C8"/>
                </a:solidFill>
              </a:rPr>
              <a:t>Texting a very smart stranger</a:t>
            </a:r>
          </a:p>
        </p:txBody>
      </p:sp>
      <p:sp>
        <p:nvSpPr>
          <p:cNvPr id="7" name="TextBox 6"/>
          <p:cNvSpPr txBox="1"/>
          <p:nvPr/>
        </p:nvSpPr>
        <p:spPr>
          <a:xfrm>
            <a:off x="457200" y="2057400"/>
            <a:ext cx="3154240" cy="3428440"/>
          </a:xfrm>
          <a:prstGeom prst="rect">
            <a:avLst/>
          </a:prstGeom>
          <a:noFill/>
        </p:spPr>
        <p:txBody>
          <a:bodyPr wrap="square">
            <a:spAutoFit/>
          </a:bodyPr>
          <a:lstStyle/>
          <a:p>
            <a:pPr algn="l"/>
            <a:r>
              <a:rPr sz="1000" b="0">
                <a:solidFill>
                  <a:srgbClr val="B0B8C8"/>
                </a:solidFill>
              </a:rPr>
              <a:t>You type, Claude answers.
✅ Quick questions
✅ Brainstorming
✅ Don't need your style/voice
✅ Want an answer fast
Identity: Starts blank every time
Context: Copy-paste each session
Persistence: Gone when chat ends
Access: Browser, phone, desktop
Setup: Zero — open and type</a:t>
            </a:r>
          </a:p>
        </p:txBody>
      </p:sp>
      <p:sp>
        <p:nvSpPr>
          <p:cNvPr id="8" name="Rounded Rectangle 7"/>
          <p:cNvSpPr/>
          <p:nvPr/>
        </p:nvSpPr>
        <p:spPr>
          <a:xfrm>
            <a:off x="3994320" y="1188720"/>
            <a:ext cx="3520000" cy="4480000"/>
          </a:xfrm>
          <a:prstGeom prst="roundRect">
            <a:avLst/>
          </a:prstGeom>
          <a:solidFill>
            <a:srgbClr val="141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77200" y="1325880"/>
            <a:ext cx="3154240" cy="365760"/>
          </a:xfrm>
          <a:prstGeom prst="rect">
            <a:avLst/>
          </a:prstGeom>
          <a:noFill/>
        </p:spPr>
        <p:txBody>
          <a:bodyPr wrap="square">
            <a:spAutoFit/>
          </a:bodyPr>
          <a:lstStyle/>
          <a:p>
            <a:pPr algn="l"/>
            <a:r>
              <a:rPr sz="1800" b="1">
                <a:solidFill>
                  <a:srgbClr val="00D4AA"/>
                </a:solidFill>
              </a:rPr>
              <a:t>🖥️ Cowork  ← Use 80% of the time</a:t>
            </a:r>
          </a:p>
        </p:txBody>
      </p:sp>
      <p:sp>
        <p:nvSpPr>
          <p:cNvPr id="10" name="TextBox 9"/>
          <p:cNvSpPr txBox="1"/>
          <p:nvPr/>
        </p:nvSpPr>
        <p:spPr>
          <a:xfrm>
            <a:off x="4177200" y="1691640"/>
            <a:ext cx="3154240" cy="457200"/>
          </a:xfrm>
          <a:prstGeom prst="rect">
            <a:avLst/>
          </a:prstGeom>
          <a:noFill/>
        </p:spPr>
        <p:txBody>
          <a:bodyPr wrap="square">
            <a:spAutoFit/>
          </a:bodyPr>
          <a:lstStyle/>
          <a:p>
            <a:pPr algn="l"/>
            <a:r>
              <a:rPr sz="1100" b="1">
                <a:solidFill>
                  <a:srgbClr val="B0B8C8"/>
                </a:solidFill>
              </a:rPr>
              <a:t>An assistant who read every brief</a:t>
            </a:r>
          </a:p>
        </p:txBody>
      </p:sp>
      <p:sp>
        <p:nvSpPr>
          <p:cNvPr id="11" name="TextBox 10"/>
          <p:cNvSpPr txBox="1"/>
          <p:nvPr/>
        </p:nvSpPr>
        <p:spPr>
          <a:xfrm>
            <a:off x="4177200" y="2057400"/>
            <a:ext cx="3154240" cy="3428440"/>
          </a:xfrm>
          <a:prstGeom prst="rect">
            <a:avLst/>
          </a:prstGeom>
          <a:noFill/>
        </p:spPr>
        <p:txBody>
          <a:bodyPr wrap="square">
            <a:spAutoFit/>
          </a:bodyPr>
          <a:lstStyle/>
          <a:p>
            <a:pPr algn="l"/>
            <a:r>
              <a:rPr sz="1000" b="0">
                <a:solidFill>
                  <a:srgbClr val="B0B8C8"/>
                </a:solidFill>
              </a:rPr>
              <a:t>Claude sits on your desktop.
Reads your files. Creates new ones.
✅ Real work (analysis, spreadsheets)
✅ Create actual files in your folders
✅ Sounds like you, not AI
✅ Long, deep sessions
✅ Plugins + slash commands
Identity: From your context files
Context: Write .md files once
Persistence: Same folder = same context
Access: Desktop app only
Setup: ~10 min (folder + files)</a:t>
            </a:r>
          </a:p>
        </p:txBody>
      </p:sp>
      <p:sp>
        <p:nvSpPr>
          <p:cNvPr id="12" name="Rounded Rectangle 11"/>
          <p:cNvSpPr/>
          <p:nvPr/>
        </p:nvSpPr>
        <p:spPr>
          <a:xfrm>
            <a:off x="7714320" y="1188720"/>
            <a:ext cx="3520000" cy="4480000"/>
          </a:xfrm>
          <a:prstGeom prst="roundRect">
            <a:avLst/>
          </a:prstGeom>
          <a:solidFill>
            <a:srgbClr val="141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97200" y="1325880"/>
            <a:ext cx="3154240" cy="365760"/>
          </a:xfrm>
          <a:prstGeom prst="rect">
            <a:avLst/>
          </a:prstGeom>
          <a:noFill/>
        </p:spPr>
        <p:txBody>
          <a:bodyPr wrap="square">
            <a:spAutoFit/>
          </a:bodyPr>
          <a:lstStyle/>
          <a:p>
            <a:pPr algn="l"/>
            <a:r>
              <a:rPr sz="1800" b="1">
                <a:solidFill>
                  <a:srgbClr val="00D4AA"/>
                </a:solidFill>
              </a:rPr>
              <a:t>📁 Projects</a:t>
            </a:r>
          </a:p>
        </p:txBody>
      </p:sp>
      <p:sp>
        <p:nvSpPr>
          <p:cNvPr id="14" name="TextBox 13"/>
          <p:cNvSpPr txBox="1"/>
          <p:nvPr/>
        </p:nvSpPr>
        <p:spPr>
          <a:xfrm>
            <a:off x="7897200" y="1691640"/>
            <a:ext cx="3154240" cy="457200"/>
          </a:xfrm>
          <a:prstGeom prst="rect">
            <a:avLst/>
          </a:prstGeom>
          <a:noFill/>
        </p:spPr>
        <p:txBody>
          <a:bodyPr wrap="square">
            <a:spAutoFit/>
          </a:bodyPr>
          <a:lstStyle/>
          <a:p>
            <a:pPr algn="l"/>
            <a:r>
              <a:rPr sz="1100" b="1">
                <a:solidFill>
                  <a:srgbClr val="B0B8C8"/>
                </a:solidFill>
              </a:rPr>
              <a:t>A team member who knows your playbook</a:t>
            </a:r>
          </a:p>
        </p:txBody>
      </p:sp>
      <p:sp>
        <p:nvSpPr>
          <p:cNvPr id="15" name="TextBox 14"/>
          <p:cNvSpPr txBox="1"/>
          <p:nvPr/>
        </p:nvSpPr>
        <p:spPr>
          <a:xfrm>
            <a:off x="7897200" y="2057400"/>
            <a:ext cx="3154240" cy="3428440"/>
          </a:xfrm>
          <a:prstGeom prst="rect">
            <a:avLst/>
          </a:prstGeom>
          <a:noFill/>
        </p:spPr>
        <p:txBody>
          <a:bodyPr wrap="square">
            <a:spAutoFit/>
          </a:bodyPr>
          <a:lstStyle/>
          <a:p>
            <a:pPr algn="l"/>
            <a:r>
              <a:rPr sz="1000" b="0">
                <a:solidFill>
                  <a:srgbClr val="B0B8C8"/>
                </a:solidFill>
              </a:rPr>
              <a:t>A saved workspace. Upload once,
Claude remembers it.
✅ Recurring tasks (newsletter, reports)
✅ Tired of repeating yourself
✅ Context saved forever
✅ Every new chat has your files
Identity: From uploaded files
Context: Upload + instructions once
Persistence: Permanent across chats
Access: Browser, phone, desktop
Setup: ~5 min (create + upload)</a:t>
            </a:r>
          </a:p>
        </p:txBody>
      </p:sp>
      <p:sp>
        <p:nvSpPr>
          <p:cNvPr id="16" name="TextBox 15"/>
          <p:cNvSpPr txBox="1"/>
          <p:nvPr/>
        </p:nvSpPr>
        <p:spPr>
          <a:xfrm>
            <a:off x="457200" y="5806440"/>
            <a:ext cx="11247120" cy="365760"/>
          </a:xfrm>
          <a:prstGeom prst="rect">
            <a:avLst/>
          </a:prstGeom>
          <a:noFill/>
        </p:spPr>
        <p:txBody>
          <a:bodyPr wrap="square">
            <a:spAutoFit/>
          </a:bodyPr>
          <a:lstStyle/>
          <a:p>
            <a:pPr algn="l"/>
            <a:r>
              <a:rPr sz="1200" b="0">
                <a:solidFill>
                  <a:srgbClr val="00D4AA"/>
                </a:solidFill>
              </a:rPr>
              <a:t>Quick tasks → Chat  •  Deep sessions → Cowork  •  Recurring work → Projects  •  Extended Thinking: always turn it 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3108960"/>
          </a:xfrm>
          <a:prstGeom prst="rect">
            <a:avLst/>
          </a:prstGeom>
          <a:noFill/>
        </p:spPr>
        <p:txBody>
          <a:bodyPr wrap="square">
            <a:spAutoFit/>
          </a:bodyPr>
          <a:lstStyle/>
          <a:p>
            <a:pPr>
              <a:spcAft>
                <a:spcPts val="600"/>
              </a:spcAft>
              <a:defRPr sz="1500">
                <a:solidFill>
                  <a:srgbClr val="D1D5DB"/>
                </a:solidFill>
              </a:defRPr>
            </a:pPr>
            <a:r>
              <a:t>✅  Artifacts — documents, code, visualizations</a:t>
            </a:r>
          </a:p>
          <a:p>
            <a:pPr>
              <a:spcAft>
                <a:spcPts val="600"/>
              </a:spcAft>
              <a:defRPr sz="1500">
                <a:solidFill>
                  <a:srgbClr val="D1D5DB"/>
                </a:solidFill>
              </a:defRPr>
            </a:pPr>
            <a:r>
              <a:t>✅  AI-powered artifacts — interactive apps &amp; prototypes</a:t>
            </a:r>
          </a:p>
          <a:p>
            <a:pPr>
              <a:spcAft>
                <a:spcPts val="600"/>
              </a:spcAft>
              <a:defRPr sz="1500">
                <a:solidFill>
                  <a:srgbClr val="D1D5DB"/>
                </a:solidFill>
              </a:defRPr>
            </a:pPr>
            <a:r>
              <a:t>✅  Code execution &amp; file creation</a:t>
            </a:r>
          </a:p>
          <a:p>
            <a:pPr>
              <a:spcAft>
                <a:spcPts val="600"/>
              </a:spcAft>
              <a:defRPr sz="1500">
                <a:solidFill>
                  <a:srgbClr val="D1D5DB"/>
                </a:solidFill>
              </a:defRPr>
            </a:pPr>
            <a:r>
              <a:t>✅  Memory — search past chats + learn from history</a:t>
            </a:r>
          </a:p>
          <a:p>
            <a:pPr>
              <a:spcAft>
                <a:spcPts val="600"/>
              </a:spcAft>
              <a:defRPr sz="1500">
                <a:solidFill>
                  <a:srgbClr val="D1D5DB"/>
                </a:solidFill>
              </a:defRPr>
            </a:pPr>
            <a:r>
              <a:t>✅  Skills — repeatable instructions for any chat</a:t>
            </a:r>
          </a:p>
        </p:txBody>
      </p:sp>
      <p:sp>
        <p:nvSpPr>
          <p:cNvPr id="7" name="Rounded Rectangle 6"/>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Settings</a:t>
            </a:r>
          </a:p>
        </p:txBody>
      </p:sp>
      <p:sp>
        <p:nvSpPr>
          <p:cNvPr id="9" name="TextBox 8"/>
          <p:cNvSpPr txBox="1"/>
          <p:nvPr/>
        </p:nvSpPr>
        <p:spPr>
          <a:xfrm>
            <a:off x="6492240" y="2468880"/>
            <a:ext cx="4754880" cy="3108960"/>
          </a:xfrm>
          <a:prstGeom prst="rect">
            <a:avLst/>
          </a:prstGeom>
          <a:noFill/>
        </p:spPr>
        <p:txBody>
          <a:bodyPr wrap="square">
            <a:spAutoFit/>
          </a:bodyPr>
          <a:lstStyle/>
          <a:p>
            <a:pPr>
              <a:spcAft>
                <a:spcPts val="600"/>
              </a:spcAft>
              <a:defRPr sz="1500">
                <a:solidFill>
                  <a:srgbClr val="D1D5DB"/>
                </a:solidFill>
              </a:defRPr>
            </a:pPr>
            <a:r>
              <a:t>🔒  "Help improve Claude" — training toggle (OFF on paid)</a:t>
            </a:r>
          </a:p>
          <a:p>
            <a:pPr>
              <a:spcAft>
                <a:spcPts val="600"/>
              </a:spcAft>
              <a:defRPr sz="1500">
                <a:solidFill>
                  <a:srgbClr val="D1D5DB"/>
                </a:solidFill>
              </a:defRPr>
            </a:pPr>
            <a:r>
              <a:t>📦  Export data — download all your conversations</a:t>
            </a:r>
          </a:p>
          <a:p>
            <a:pPr>
              <a:spcAft>
                <a:spcPts val="600"/>
              </a:spcAft>
              <a:defRPr sz="1500">
                <a:solidFill>
                  <a:srgbClr val="D1D5DB"/>
                </a:solidFill>
              </a:defRPr>
            </a:pPr>
            <a:r>
              <a:t>🔗  Shared chats — control who sees what</a:t>
            </a:r>
          </a:p>
          <a:p>
            <a:pPr>
              <a:spcAft>
                <a:spcPts val="600"/>
              </a:spcAft>
              <a:defRPr sz="1500">
                <a:solidFill>
                  <a:srgbClr val="D1D5DB"/>
                </a:solidFill>
              </a:defRPr>
            </a:pPr>
            <a:r>
              <a:t>🧠  Memory preferences — view, edit, delete memories</a:t>
            </a:r>
          </a:p>
          <a:p>
            <a:pPr>
              <a:spcAft>
                <a:spcPts val="600"/>
              </a:spcAft>
              <a:defRPr sz="1500">
                <a:solidFill>
                  <a:srgbClr val="D1D5DB"/>
                </a:solidFill>
              </a:defRPr>
            </a:pPr>
            <a:r>
              <a:t>📍  Location metadata — coarse city/region (optional)</a:t>
            </a:r>
          </a:p>
          <a:p>
            <a:pPr>
              <a:spcAft>
                <a:spcPts val="600"/>
              </a:spcAft>
              <a:defRPr sz="1500">
                <a:solidFill>
                  <a:srgbClr val="D1D5DB"/>
                </a:solidFill>
              </a:defRPr>
            </a:pPr>
            <a:r>
              <a:t>🕶️  Incognito chats — not saved, not trained 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Data Analysis Is Storytelling</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Know what to ask for — most people stop at level one</a:t>
            </a:r>
          </a:p>
        </p:txBody>
      </p:sp>
      <p:sp>
        <p:nvSpPr>
          <p:cNvPr id="4" name="Rounded Rectangle 3"/>
          <p:cNvSpPr/>
          <p:nvPr/>
        </p:nvSpPr>
        <p:spPr>
          <a:xfrm>
            <a:off x="274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920240"/>
            <a:ext cx="1920240" cy="457200"/>
          </a:xfrm>
          <a:prstGeom prst="rect">
            <a:avLst/>
          </a:prstGeom>
          <a:noFill/>
        </p:spPr>
        <p:txBody>
          <a:bodyPr wrap="none">
            <a:spAutoFit/>
          </a:bodyPr>
          <a:lstStyle/>
          <a:p>
            <a:pPr algn="ctr">
              <a:defRPr sz="2800"/>
            </a:pPr>
            <a:r>
              <a:t>📊</a:t>
            </a:r>
          </a:p>
        </p:txBody>
      </p:sp>
      <p:sp>
        <p:nvSpPr>
          <p:cNvPr id="6" name="TextBox 5"/>
          <p:cNvSpPr txBox="1"/>
          <p:nvPr/>
        </p:nvSpPr>
        <p:spPr>
          <a:xfrm>
            <a:off x="365760" y="2377440"/>
            <a:ext cx="1920240" cy="365760"/>
          </a:xfrm>
          <a:prstGeom prst="rect">
            <a:avLst/>
          </a:prstGeom>
          <a:noFill/>
        </p:spPr>
        <p:txBody>
          <a:bodyPr wrap="none">
            <a:spAutoFit/>
          </a:bodyPr>
          <a:lstStyle/>
          <a:p>
            <a:pPr algn="ctr">
              <a:defRPr sz="1800" b="1">
                <a:solidFill>
                  <a:srgbClr val="FFFFFF"/>
                </a:solidFill>
              </a:defRPr>
            </a:pPr>
            <a:r>
              <a:t>Descriptive</a:t>
            </a:r>
          </a:p>
        </p:txBody>
      </p:sp>
      <p:sp>
        <p:nvSpPr>
          <p:cNvPr id="7" name="TextBox 6"/>
          <p:cNvSpPr txBox="1"/>
          <p:nvPr/>
        </p:nvSpPr>
        <p:spPr>
          <a:xfrm>
            <a:off x="365760" y="2743200"/>
            <a:ext cx="1920240" cy="365760"/>
          </a:xfrm>
          <a:prstGeom prst="rect">
            <a:avLst/>
          </a:prstGeom>
          <a:noFill/>
        </p:spPr>
        <p:txBody>
          <a:bodyPr wrap="none">
            <a:spAutoFit/>
          </a:bodyPr>
          <a:lstStyle/>
          <a:p>
            <a:pPr algn="ctr">
              <a:defRPr sz="1200" i="1">
                <a:solidFill>
                  <a:srgbClr val="14B8A6"/>
                </a:solidFill>
              </a:defRPr>
            </a:pPr>
            <a:r>
              <a:t>Summarize past data</a:t>
            </a:r>
          </a:p>
        </p:txBody>
      </p:sp>
      <p:sp>
        <p:nvSpPr>
          <p:cNvPr id="8" name="TextBox 7"/>
          <p:cNvSpPr txBox="1"/>
          <p:nvPr/>
        </p:nvSpPr>
        <p:spPr>
          <a:xfrm>
            <a:off x="365760" y="3200400"/>
            <a:ext cx="1920240" cy="2194560"/>
          </a:xfrm>
          <a:prstGeom prst="rect">
            <a:avLst/>
          </a:prstGeom>
          <a:noFill/>
        </p:spPr>
        <p:txBody>
          <a:bodyPr wrap="square">
            <a:spAutoFit/>
          </a:bodyPr>
          <a:lstStyle/>
          <a:p>
            <a:pPr algn="ctr">
              <a:defRPr sz="1200">
                <a:solidFill>
                  <a:srgbClr val="D1D5DB"/>
                </a:solidFill>
              </a:defRPr>
            </a:pPr>
            <a:r>
              <a:t>"What happened?"</a:t>
            </a:r>
            <a:br/>
            <a:r>
              <a:t>Q4 revenue was $2.1M</a:t>
            </a:r>
            <a:br/>
            <a:r>
              <a:t>across 4 regions</a:t>
            </a:r>
          </a:p>
        </p:txBody>
      </p:sp>
      <p:sp>
        <p:nvSpPr>
          <p:cNvPr id="9" name="Rounded Rectangle 8"/>
          <p:cNvSpPr/>
          <p:nvPr/>
        </p:nvSpPr>
        <p:spPr>
          <a:xfrm>
            <a:off x="2560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60" y="1920240"/>
            <a:ext cx="1920240" cy="457200"/>
          </a:xfrm>
          <a:prstGeom prst="rect">
            <a:avLst/>
          </a:prstGeom>
          <a:noFill/>
        </p:spPr>
        <p:txBody>
          <a:bodyPr wrap="none">
            <a:spAutoFit/>
          </a:bodyPr>
          <a:lstStyle/>
          <a:p>
            <a:pPr algn="ctr">
              <a:defRPr sz="2800"/>
            </a:pPr>
            <a:r>
              <a:t>🔍</a:t>
            </a:r>
          </a:p>
        </p:txBody>
      </p:sp>
      <p:sp>
        <p:nvSpPr>
          <p:cNvPr id="11" name="TextBox 10"/>
          <p:cNvSpPr txBox="1"/>
          <p:nvPr/>
        </p:nvSpPr>
        <p:spPr>
          <a:xfrm>
            <a:off x="2651760" y="2377440"/>
            <a:ext cx="1920240" cy="365760"/>
          </a:xfrm>
          <a:prstGeom prst="rect">
            <a:avLst/>
          </a:prstGeom>
          <a:noFill/>
        </p:spPr>
        <p:txBody>
          <a:bodyPr wrap="none">
            <a:spAutoFit/>
          </a:bodyPr>
          <a:lstStyle/>
          <a:p>
            <a:pPr algn="ctr">
              <a:defRPr sz="1800" b="1">
                <a:solidFill>
                  <a:srgbClr val="FFFFFF"/>
                </a:solidFill>
              </a:defRPr>
            </a:pPr>
            <a:r>
              <a:t>Diagnostic</a:t>
            </a:r>
          </a:p>
        </p:txBody>
      </p:sp>
      <p:sp>
        <p:nvSpPr>
          <p:cNvPr id="12" name="TextBox 11"/>
          <p:cNvSpPr txBox="1"/>
          <p:nvPr/>
        </p:nvSpPr>
        <p:spPr>
          <a:xfrm>
            <a:off x="2651760" y="2743200"/>
            <a:ext cx="1920240" cy="365760"/>
          </a:xfrm>
          <a:prstGeom prst="rect">
            <a:avLst/>
          </a:prstGeom>
          <a:noFill/>
        </p:spPr>
        <p:txBody>
          <a:bodyPr wrap="none">
            <a:spAutoFit/>
          </a:bodyPr>
          <a:lstStyle/>
          <a:p>
            <a:pPr algn="ctr">
              <a:defRPr sz="1200" i="1">
                <a:solidFill>
                  <a:srgbClr val="14B8A6"/>
                </a:solidFill>
              </a:defRPr>
            </a:pPr>
            <a:r>
              <a:t>Explain past data</a:t>
            </a:r>
          </a:p>
        </p:txBody>
      </p:sp>
      <p:sp>
        <p:nvSpPr>
          <p:cNvPr id="13" name="TextBox 12"/>
          <p:cNvSpPr txBox="1"/>
          <p:nvPr/>
        </p:nvSpPr>
        <p:spPr>
          <a:xfrm>
            <a:off x="2651760" y="3200400"/>
            <a:ext cx="1920240" cy="2194560"/>
          </a:xfrm>
          <a:prstGeom prst="rect">
            <a:avLst/>
          </a:prstGeom>
          <a:noFill/>
        </p:spPr>
        <p:txBody>
          <a:bodyPr wrap="square">
            <a:spAutoFit/>
          </a:bodyPr>
          <a:lstStyle/>
          <a:p>
            <a:pPr algn="ctr">
              <a:defRPr sz="1200">
                <a:solidFill>
                  <a:srgbClr val="D1D5DB"/>
                </a:solidFill>
              </a:defRPr>
            </a:pPr>
            <a:r>
              <a:t>"Why did it happen?"</a:t>
            </a:r>
            <a:br/>
            <a:r>
              <a:t>Northeast dropped 15%</a:t>
            </a:r>
            <a:br/>
            <a:r>
              <a:t>due to rep turnover</a:t>
            </a:r>
          </a:p>
        </p:txBody>
      </p:sp>
      <p:sp>
        <p:nvSpPr>
          <p:cNvPr id="14" name="Rounded Rectangle 13"/>
          <p:cNvSpPr/>
          <p:nvPr/>
        </p:nvSpPr>
        <p:spPr>
          <a:xfrm>
            <a:off x="4846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1920240"/>
            <a:ext cx="1920240" cy="457200"/>
          </a:xfrm>
          <a:prstGeom prst="rect">
            <a:avLst/>
          </a:prstGeom>
          <a:noFill/>
        </p:spPr>
        <p:txBody>
          <a:bodyPr wrap="none">
            <a:spAutoFit/>
          </a:bodyPr>
          <a:lstStyle/>
          <a:p>
            <a:pPr algn="ctr">
              <a:defRPr sz="2800"/>
            </a:pPr>
            <a:r>
              <a:t>📈</a:t>
            </a:r>
          </a:p>
        </p:txBody>
      </p:sp>
      <p:sp>
        <p:nvSpPr>
          <p:cNvPr id="16" name="TextBox 15"/>
          <p:cNvSpPr txBox="1"/>
          <p:nvPr/>
        </p:nvSpPr>
        <p:spPr>
          <a:xfrm>
            <a:off x="4937759" y="2377440"/>
            <a:ext cx="1920240" cy="365760"/>
          </a:xfrm>
          <a:prstGeom prst="rect">
            <a:avLst/>
          </a:prstGeom>
          <a:noFill/>
        </p:spPr>
        <p:txBody>
          <a:bodyPr wrap="none">
            <a:spAutoFit/>
          </a:bodyPr>
          <a:lstStyle/>
          <a:p>
            <a:pPr algn="ctr">
              <a:defRPr sz="1800" b="1">
                <a:solidFill>
                  <a:srgbClr val="FFFFFF"/>
                </a:solidFill>
              </a:defRPr>
            </a:pPr>
            <a:r>
              <a:t>Predictive</a:t>
            </a:r>
          </a:p>
        </p:txBody>
      </p:sp>
      <p:sp>
        <p:nvSpPr>
          <p:cNvPr id="17" name="TextBox 16"/>
          <p:cNvSpPr txBox="1"/>
          <p:nvPr/>
        </p:nvSpPr>
        <p:spPr>
          <a:xfrm>
            <a:off x="4937759" y="2743200"/>
            <a:ext cx="1920240" cy="365760"/>
          </a:xfrm>
          <a:prstGeom prst="rect">
            <a:avLst/>
          </a:prstGeom>
          <a:noFill/>
        </p:spPr>
        <p:txBody>
          <a:bodyPr wrap="none">
            <a:spAutoFit/>
          </a:bodyPr>
          <a:lstStyle/>
          <a:p>
            <a:pPr algn="ctr">
              <a:defRPr sz="1200" i="1">
                <a:solidFill>
                  <a:srgbClr val="14B8A6"/>
                </a:solidFill>
              </a:defRPr>
            </a:pPr>
            <a:r>
              <a:t>Forecast future data</a:t>
            </a:r>
          </a:p>
        </p:txBody>
      </p:sp>
      <p:sp>
        <p:nvSpPr>
          <p:cNvPr id="18" name="TextBox 17"/>
          <p:cNvSpPr txBox="1"/>
          <p:nvPr/>
        </p:nvSpPr>
        <p:spPr>
          <a:xfrm>
            <a:off x="4937759" y="3200400"/>
            <a:ext cx="1920240" cy="2194560"/>
          </a:xfrm>
          <a:prstGeom prst="rect">
            <a:avLst/>
          </a:prstGeom>
          <a:noFill/>
        </p:spPr>
        <p:txBody>
          <a:bodyPr wrap="square">
            <a:spAutoFit/>
          </a:bodyPr>
          <a:lstStyle/>
          <a:p>
            <a:pPr algn="ctr">
              <a:defRPr sz="1200">
                <a:solidFill>
                  <a:srgbClr val="D1D5DB"/>
                </a:solidFill>
              </a:defRPr>
            </a:pPr>
            <a:r>
              <a:t>"What will happen?"</a:t>
            </a:r>
            <a:br/>
            <a:r>
              <a:t>Q1 forecast: $2.4M</a:t>
            </a:r>
            <a:br/>
            <a:r>
              <a:t>based on pipeline</a:t>
            </a:r>
          </a:p>
        </p:txBody>
      </p:sp>
      <p:sp>
        <p:nvSpPr>
          <p:cNvPr id="19" name="Rounded Rectangle 18"/>
          <p:cNvSpPr/>
          <p:nvPr/>
        </p:nvSpPr>
        <p:spPr>
          <a:xfrm>
            <a:off x="7132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59" y="1920240"/>
            <a:ext cx="1920240" cy="457200"/>
          </a:xfrm>
          <a:prstGeom prst="rect">
            <a:avLst/>
          </a:prstGeom>
          <a:noFill/>
        </p:spPr>
        <p:txBody>
          <a:bodyPr wrap="none">
            <a:spAutoFit/>
          </a:bodyPr>
          <a:lstStyle/>
          <a:p>
            <a:pPr algn="ctr">
              <a:defRPr sz="2800"/>
            </a:pPr>
            <a:r>
              <a:t>💡</a:t>
            </a:r>
          </a:p>
        </p:txBody>
      </p:sp>
      <p:sp>
        <p:nvSpPr>
          <p:cNvPr id="21" name="TextBox 20"/>
          <p:cNvSpPr txBox="1"/>
          <p:nvPr/>
        </p:nvSpPr>
        <p:spPr>
          <a:xfrm>
            <a:off x="7223759" y="2377440"/>
            <a:ext cx="1920240" cy="365760"/>
          </a:xfrm>
          <a:prstGeom prst="rect">
            <a:avLst/>
          </a:prstGeom>
          <a:noFill/>
        </p:spPr>
        <p:txBody>
          <a:bodyPr wrap="none">
            <a:spAutoFit/>
          </a:bodyPr>
          <a:lstStyle/>
          <a:p>
            <a:pPr algn="ctr">
              <a:defRPr sz="1800" b="1">
                <a:solidFill>
                  <a:srgbClr val="FFFFFF"/>
                </a:solidFill>
              </a:defRPr>
            </a:pPr>
            <a:r>
              <a:t>Prescriptive</a:t>
            </a:r>
          </a:p>
        </p:txBody>
      </p:sp>
      <p:sp>
        <p:nvSpPr>
          <p:cNvPr id="22" name="TextBox 21"/>
          <p:cNvSpPr txBox="1"/>
          <p:nvPr/>
        </p:nvSpPr>
        <p:spPr>
          <a:xfrm>
            <a:off x="7223759" y="2743200"/>
            <a:ext cx="1920240" cy="365760"/>
          </a:xfrm>
          <a:prstGeom prst="rect">
            <a:avLst/>
          </a:prstGeom>
          <a:noFill/>
        </p:spPr>
        <p:txBody>
          <a:bodyPr wrap="none">
            <a:spAutoFit/>
          </a:bodyPr>
          <a:lstStyle/>
          <a:p>
            <a:pPr algn="ctr">
              <a:defRPr sz="1200" i="1">
                <a:solidFill>
                  <a:srgbClr val="14B8A6"/>
                </a:solidFill>
              </a:defRPr>
            </a:pPr>
            <a:r>
              <a:t>Optimize future data</a:t>
            </a:r>
          </a:p>
        </p:txBody>
      </p:sp>
      <p:sp>
        <p:nvSpPr>
          <p:cNvPr id="23" name="TextBox 22"/>
          <p:cNvSpPr txBox="1"/>
          <p:nvPr/>
        </p:nvSpPr>
        <p:spPr>
          <a:xfrm>
            <a:off x="7223759" y="3200400"/>
            <a:ext cx="1920240" cy="2194560"/>
          </a:xfrm>
          <a:prstGeom prst="rect">
            <a:avLst/>
          </a:prstGeom>
          <a:noFill/>
        </p:spPr>
        <p:txBody>
          <a:bodyPr wrap="square">
            <a:spAutoFit/>
          </a:bodyPr>
          <a:lstStyle/>
          <a:p>
            <a:pPr algn="ctr">
              <a:defRPr sz="1200">
                <a:solidFill>
                  <a:srgbClr val="D1D5DB"/>
                </a:solidFill>
              </a:defRPr>
            </a:pPr>
            <a:r>
              <a:t>"What should we do?"</a:t>
            </a:r>
            <a:br/>
            <a:r>
              <a:t>Reallocate territory,</a:t>
            </a:r>
            <a:br/>
            <a:r>
              <a:t>hire 2 reps in NE</a:t>
            </a:r>
          </a:p>
        </p:txBody>
      </p:sp>
      <p:sp>
        <p:nvSpPr>
          <p:cNvPr id="24" name="Rounded Rectangle 23"/>
          <p:cNvSpPr/>
          <p:nvPr/>
        </p:nvSpPr>
        <p:spPr>
          <a:xfrm>
            <a:off x="9418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0" y="1920240"/>
            <a:ext cx="1920240" cy="457200"/>
          </a:xfrm>
          <a:prstGeom prst="rect">
            <a:avLst/>
          </a:prstGeom>
          <a:noFill/>
        </p:spPr>
        <p:txBody>
          <a:bodyPr wrap="none">
            <a:spAutoFit/>
          </a:bodyPr>
          <a:lstStyle/>
          <a:p>
            <a:pPr algn="ctr">
              <a:defRPr sz="2800"/>
            </a:pPr>
            <a:r>
              <a:t>🤖</a:t>
            </a:r>
          </a:p>
        </p:txBody>
      </p:sp>
      <p:sp>
        <p:nvSpPr>
          <p:cNvPr id="26" name="TextBox 25"/>
          <p:cNvSpPr txBox="1"/>
          <p:nvPr/>
        </p:nvSpPr>
        <p:spPr>
          <a:xfrm>
            <a:off x="9509760" y="2377440"/>
            <a:ext cx="1920240" cy="365760"/>
          </a:xfrm>
          <a:prstGeom prst="rect">
            <a:avLst/>
          </a:prstGeom>
          <a:noFill/>
        </p:spPr>
        <p:txBody>
          <a:bodyPr wrap="none">
            <a:spAutoFit/>
          </a:bodyPr>
          <a:lstStyle/>
          <a:p>
            <a:pPr algn="ctr">
              <a:defRPr sz="1800" b="1">
                <a:solidFill>
                  <a:srgbClr val="FFFFFF"/>
                </a:solidFill>
              </a:defRPr>
            </a:pPr>
            <a:r>
              <a:t>AI</a:t>
            </a:r>
          </a:p>
        </p:txBody>
      </p:sp>
      <p:sp>
        <p:nvSpPr>
          <p:cNvPr id="27" name="TextBox 26"/>
          <p:cNvSpPr txBox="1"/>
          <p:nvPr/>
        </p:nvSpPr>
        <p:spPr>
          <a:xfrm>
            <a:off x="9509760" y="2743200"/>
            <a:ext cx="1920240" cy="365760"/>
          </a:xfrm>
          <a:prstGeom prst="rect">
            <a:avLst/>
          </a:prstGeom>
          <a:noFill/>
        </p:spPr>
        <p:txBody>
          <a:bodyPr wrap="none">
            <a:spAutoFit/>
          </a:bodyPr>
          <a:lstStyle/>
          <a:p>
            <a:pPr algn="ctr">
              <a:defRPr sz="1200" i="1">
                <a:solidFill>
                  <a:srgbClr val="14B8A6"/>
                </a:solidFill>
              </a:defRPr>
            </a:pPr>
            <a:r>
              <a:t>Learn from data</a:t>
            </a:r>
          </a:p>
        </p:txBody>
      </p:sp>
      <p:sp>
        <p:nvSpPr>
          <p:cNvPr id="28" name="TextBox 27"/>
          <p:cNvSpPr txBox="1"/>
          <p:nvPr/>
        </p:nvSpPr>
        <p:spPr>
          <a:xfrm>
            <a:off x="9509760" y="3200400"/>
            <a:ext cx="1920240" cy="2194560"/>
          </a:xfrm>
          <a:prstGeom prst="rect">
            <a:avLst/>
          </a:prstGeom>
          <a:noFill/>
        </p:spPr>
        <p:txBody>
          <a:bodyPr wrap="square">
            <a:spAutoFit/>
          </a:bodyPr>
          <a:lstStyle/>
          <a:p>
            <a:pPr algn="ctr">
              <a:defRPr sz="1200">
                <a:solidFill>
                  <a:srgbClr val="D1D5DB"/>
                </a:solidFill>
              </a:defRPr>
            </a:pPr>
            <a:r>
              <a:t>"What patterns exist?"</a:t>
            </a:r>
            <a:br/>
            <a:r>
              <a:t>3-year trend shows</a:t>
            </a:r>
            <a:br/>
            <a:r>
              <a:t>Q4 always dips 8-12%</a:t>
            </a:r>
          </a:p>
        </p:txBody>
      </p:sp>
      <p:sp>
        <p:nvSpPr>
          <p:cNvPr id="29" name="TextBox 28"/>
          <p:cNvSpPr txBox="1"/>
          <p:nvPr/>
        </p:nvSpPr>
        <p:spPr>
          <a:xfrm>
            <a:off x="457200" y="5760720"/>
            <a:ext cx="11247120" cy="365760"/>
          </a:xfrm>
          <a:prstGeom prst="rect">
            <a:avLst/>
          </a:prstGeom>
          <a:noFill/>
        </p:spPr>
        <p:txBody>
          <a:bodyPr wrap="none">
            <a:spAutoFit/>
          </a:bodyPr>
          <a:lstStyle/>
          <a:p>
            <a:pPr algn="ctr">
              <a:defRPr sz="1500" i="1">
                <a:solidFill>
                  <a:srgbClr val="14B8A6"/>
                </a:solidFill>
              </a:defRPr>
            </a:pPr>
            <a:r>
              <a:t>Claude handles all five levels. The quality of your analysis depends on which level you ask for.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What Are Skills?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Repeatable instructions Claude follows in any chat — your saved workflows</a:t>
            </a:r>
          </a:p>
        </p:txBody>
      </p:sp>
      <p:sp>
        <p:nvSpPr>
          <p:cNvPr id="4" name="Rounded Rectangle 3"/>
          <p:cNvSpPr/>
          <p:nvPr/>
        </p:nvSpPr>
        <p:spPr>
          <a:xfrm>
            <a:off x="457200"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3108960"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3108960" cy="365760"/>
          </a:xfrm>
          <a:prstGeom prst="rect">
            <a:avLst/>
          </a:prstGeom>
          <a:noFill/>
        </p:spPr>
        <p:txBody>
          <a:bodyPr wrap="none">
            <a:spAutoFit/>
          </a:bodyPr>
          <a:lstStyle/>
          <a:p>
            <a:pPr algn="ctr">
              <a:defRPr sz="1600" b="1">
                <a:solidFill>
                  <a:srgbClr val="FFFFFF"/>
                </a:solidFill>
              </a:defRPr>
            </a:pPr>
            <a:r>
              <a:t>Reusable</a:t>
            </a:r>
          </a:p>
        </p:txBody>
      </p:sp>
      <p:sp>
        <p:nvSpPr>
          <p:cNvPr id="7" name="TextBox 6"/>
          <p:cNvSpPr txBox="1"/>
          <p:nvPr/>
        </p:nvSpPr>
        <p:spPr>
          <a:xfrm>
            <a:off x="640080" y="2651760"/>
            <a:ext cx="3108960" cy="1463039"/>
          </a:xfrm>
          <a:prstGeom prst="rect">
            <a:avLst/>
          </a:prstGeom>
          <a:noFill/>
        </p:spPr>
        <p:txBody>
          <a:bodyPr wrap="square">
            <a:spAutoFit/>
          </a:bodyPr>
          <a:lstStyle/>
          <a:p>
            <a:pPr algn="ctr">
              <a:defRPr sz="1300">
                <a:solidFill>
                  <a:srgbClr val="D1D5DB"/>
                </a:solidFill>
              </a:defRPr>
            </a:pPr>
            <a:r>
              <a:t>Create once, use forever.</a:t>
            </a:r>
            <a:br/>
            <a:r>
              <a:t>Skills apply across all</a:t>
            </a:r>
            <a:br/>
            <a:r>
              <a:t>your conversations.</a:t>
            </a:r>
            <a:br/>
            <a:r>
              <a:t>No re-explaining needed.</a:t>
            </a:r>
          </a:p>
        </p:txBody>
      </p:sp>
      <p:sp>
        <p:nvSpPr>
          <p:cNvPr id="8" name="Rounded Rectangle 7"/>
          <p:cNvSpPr/>
          <p:nvPr/>
        </p:nvSpPr>
        <p:spPr>
          <a:xfrm>
            <a:off x="4206240"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874519"/>
            <a:ext cx="3108960" cy="365760"/>
          </a:xfrm>
          <a:prstGeom prst="rect">
            <a:avLst/>
          </a:prstGeom>
          <a:noFill/>
        </p:spPr>
        <p:txBody>
          <a:bodyPr wrap="none">
            <a:spAutoFit/>
          </a:bodyPr>
          <a:lstStyle/>
          <a:p>
            <a:pPr algn="ctr">
              <a:defRPr sz="2600"/>
            </a:pPr>
            <a:r>
              <a:t>📋</a:t>
            </a:r>
          </a:p>
        </p:txBody>
      </p:sp>
      <p:sp>
        <p:nvSpPr>
          <p:cNvPr id="10" name="TextBox 9"/>
          <p:cNvSpPr txBox="1"/>
          <p:nvPr/>
        </p:nvSpPr>
        <p:spPr>
          <a:xfrm>
            <a:off x="4389120" y="2240280"/>
            <a:ext cx="3108960" cy="365760"/>
          </a:xfrm>
          <a:prstGeom prst="rect">
            <a:avLst/>
          </a:prstGeom>
          <a:noFill/>
        </p:spPr>
        <p:txBody>
          <a:bodyPr wrap="none">
            <a:spAutoFit/>
          </a:bodyPr>
          <a:lstStyle/>
          <a:p>
            <a:pPr algn="ctr">
              <a:defRPr sz="1600" b="1">
                <a:solidFill>
                  <a:srgbClr val="FFFFFF"/>
                </a:solidFill>
              </a:defRPr>
            </a:pPr>
            <a:r>
              <a:t>Consistent</a:t>
            </a:r>
          </a:p>
        </p:txBody>
      </p:sp>
      <p:sp>
        <p:nvSpPr>
          <p:cNvPr id="11" name="TextBox 10"/>
          <p:cNvSpPr txBox="1"/>
          <p:nvPr/>
        </p:nvSpPr>
        <p:spPr>
          <a:xfrm>
            <a:off x="4389120" y="2651760"/>
            <a:ext cx="3108960" cy="1463039"/>
          </a:xfrm>
          <a:prstGeom prst="rect">
            <a:avLst/>
          </a:prstGeom>
          <a:noFill/>
        </p:spPr>
        <p:txBody>
          <a:bodyPr wrap="square">
            <a:spAutoFit/>
          </a:bodyPr>
          <a:lstStyle/>
          <a:p>
            <a:pPr algn="ctr">
              <a:defRPr sz="1300">
                <a:solidFill>
                  <a:srgbClr val="D1D5DB"/>
                </a:solidFill>
              </a:defRPr>
            </a:pPr>
            <a:r>
              <a:t>Same output format</a:t>
            </a:r>
            <a:br/>
            <a:r>
              <a:t>every time. Reports,</a:t>
            </a:r>
            <a:br/>
            <a:r>
              <a:t>emails, analysis —</a:t>
            </a:r>
            <a:br/>
            <a:r>
              <a:t>always your way.</a:t>
            </a:r>
          </a:p>
        </p:txBody>
      </p:sp>
      <p:sp>
        <p:nvSpPr>
          <p:cNvPr id="12" name="Rounded Rectangle 11"/>
          <p:cNvSpPr/>
          <p:nvPr/>
        </p:nvSpPr>
        <p:spPr>
          <a:xfrm>
            <a:off x="7955279"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874519"/>
            <a:ext cx="3108960" cy="365760"/>
          </a:xfrm>
          <a:prstGeom prst="rect">
            <a:avLst/>
          </a:prstGeom>
          <a:noFill/>
        </p:spPr>
        <p:txBody>
          <a:bodyPr wrap="none">
            <a:spAutoFit/>
          </a:bodyPr>
          <a:lstStyle/>
          <a:p>
            <a:pPr algn="ctr">
              <a:defRPr sz="2600"/>
            </a:pPr>
            <a:r>
              <a:t>⚡</a:t>
            </a:r>
          </a:p>
        </p:txBody>
      </p:sp>
      <p:sp>
        <p:nvSpPr>
          <p:cNvPr id="14" name="TextBox 13"/>
          <p:cNvSpPr txBox="1"/>
          <p:nvPr/>
        </p:nvSpPr>
        <p:spPr>
          <a:xfrm>
            <a:off x="8138159" y="2240280"/>
            <a:ext cx="3108960" cy="365760"/>
          </a:xfrm>
          <a:prstGeom prst="rect">
            <a:avLst/>
          </a:prstGeom>
          <a:noFill/>
        </p:spPr>
        <p:txBody>
          <a:bodyPr wrap="none">
            <a:spAutoFit/>
          </a:bodyPr>
          <a:lstStyle/>
          <a:p>
            <a:pPr algn="ctr">
              <a:defRPr sz="1600" b="1">
                <a:solidFill>
                  <a:srgbClr val="FFFFFF"/>
                </a:solidFill>
              </a:defRPr>
            </a:pPr>
            <a:r>
              <a:t>Instant</a:t>
            </a:r>
          </a:p>
        </p:txBody>
      </p:sp>
      <p:sp>
        <p:nvSpPr>
          <p:cNvPr id="15" name="TextBox 14"/>
          <p:cNvSpPr txBox="1"/>
          <p:nvPr/>
        </p:nvSpPr>
        <p:spPr>
          <a:xfrm>
            <a:off x="8138159" y="2651760"/>
            <a:ext cx="3108960" cy="1463039"/>
          </a:xfrm>
          <a:prstGeom prst="rect">
            <a:avLst/>
          </a:prstGeom>
          <a:noFill/>
        </p:spPr>
        <p:txBody>
          <a:bodyPr wrap="square">
            <a:spAutoFit/>
          </a:bodyPr>
          <a:lstStyle/>
          <a:p>
            <a:pPr algn="ctr">
              <a:defRPr sz="1300">
                <a:solidFill>
                  <a:srgbClr val="D1D5DB"/>
                </a:solidFill>
              </a:defRPr>
            </a:pPr>
            <a:r>
              <a:t>One click to activate.</a:t>
            </a:r>
            <a:br/>
            <a:r>
              <a:t>No copying prompts.</a:t>
            </a:r>
            <a:br/>
            <a:r>
              <a:t>No remembering steps.</a:t>
            </a:r>
            <a:br/>
            <a:r>
              <a:t>Just results.</a:t>
            </a:r>
          </a:p>
        </p:txBody>
      </p:sp>
      <p:sp>
        <p:nvSpPr>
          <p:cNvPr id="16" name="TextBox 15"/>
          <p:cNvSpPr txBox="1"/>
          <p:nvPr/>
        </p:nvSpPr>
        <p:spPr>
          <a:xfrm>
            <a:off x="457200" y="4754880"/>
            <a:ext cx="11247120" cy="914400"/>
          </a:xfrm>
          <a:prstGeom prst="rect">
            <a:avLst/>
          </a:prstGeom>
          <a:noFill/>
        </p:spPr>
        <p:txBody>
          <a:bodyPr wrap="square">
            <a:spAutoFit/>
          </a:bodyPr>
          <a:lstStyle/>
          <a:p>
            <a:pPr algn="ctr">
              <a:defRPr sz="1400">
                <a:solidFill>
                  <a:srgbClr val="14B8A6"/>
                </a:solidFill>
              </a:defRPr>
            </a:pPr>
            <a:r>
              <a:t>Think of Skills as the difference between giving directions every time vs. saving the address.</a:t>
            </a:r>
            <a:br/>
            <a:r>
              <a:t>Preferences = who you are  •  Projects = what you're working on  •  Skills = how you work</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Creating a Skill — Three Ways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Settings → Skills → New Skill</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3108960"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3108960" cy="365760"/>
          </a:xfrm>
          <a:prstGeom prst="rect">
            <a:avLst/>
          </a:prstGeom>
          <a:noFill/>
        </p:spPr>
        <p:txBody>
          <a:bodyPr wrap="none">
            <a:spAutoFit/>
          </a:bodyPr>
          <a:lstStyle/>
          <a:p>
            <a:pPr algn="ctr">
              <a:defRPr sz="1600" b="1">
                <a:solidFill>
                  <a:srgbClr val="FFFFFF"/>
                </a:solidFill>
              </a:defRPr>
            </a:pPr>
            <a:r>
              <a:t>Create with Claude</a:t>
            </a:r>
          </a:p>
        </p:txBody>
      </p:sp>
      <p:sp>
        <p:nvSpPr>
          <p:cNvPr id="7" name="TextBox 6"/>
          <p:cNvSpPr txBox="1"/>
          <p:nvPr/>
        </p:nvSpPr>
        <p:spPr>
          <a:xfrm>
            <a:off x="640080" y="2651760"/>
            <a:ext cx="3108960" cy="2103120"/>
          </a:xfrm>
          <a:prstGeom prst="rect">
            <a:avLst/>
          </a:prstGeom>
          <a:noFill/>
        </p:spPr>
        <p:txBody>
          <a:bodyPr wrap="square">
            <a:spAutoFit/>
          </a:bodyPr>
          <a:lstStyle/>
          <a:p>
            <a:pPr algn="ctr">
              <a:defRPr sz="1300">
                <a:solidFill>
                  <a:srgbClr val="D1D5DB"/>
                </a:solidFill>
              </a:defRPr>
            </a:pPr>
            <a:r>
              <a:t>Have a conversation.</a:t>
            </a:r>
            <a:br/>
            <a:r>
              <a:t>Describe what you want.</a:t>
            </a:r>
            <a:br/>
            <a:r>
              <a:t>Claude builds the skill</a:t>
            </a:r>
            <a:br/>
            <a:r>
              <a:t>for you step by step.</a:t>
            </a:r>
            <a:br/>
            <a:br/>
            <a:r>
              <a:t>Best for: Complex skills</a:t>
            </a:r>
            <a:br/>
            <a:r>
              <a:t>with multiple steps</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874519"/>
            <a:ext cx="3108960" cy="365760"/>
          </a:xfrm>
          <a:prstGeom prst="rect">
            <a:avLst/>
          </a:prstGeom>
          <a:noFill/>
        </p:spPr>
        <p:txBody>
          <a:bodyPr wrap="none">
            <a:spAutoFit/>
          </a:bodyPr>
          <a:lstStyle/>
          <a:p>
            <a:pPr algn="ctr">
              <a:defRPr sz="2600"/>
            </a:pPr>
            <a:r>
              <a:t>✍️</a:t>
            </a:r>
          </a:p>
        </p:txBody>
      </p:sp>
      <p:sp>
        <p:nvSpPr>
          <p:cNvPr id="10" name="TextBox 9"/>
          <p:cNvSpPr txBox="1"/>
          <p:nvPr/>
        </p:nvSpPr>
        <p:spPr>
          <a:xfrm>
            <a:off x="4389120" y="2240280"/>
            <a:ext cx="3108960" cy="365760"/>
          </a:xfrm>
          <a:prstGeom prst="rect">
            <a:avLst/>
          </a:prstGeom>
          <a:noFill/>
        </p:spPr>
        <p:txBody>
          <a:bodyPr wrap="none">
            <a:spAutoFit/>
          </a:bodyPr>
          <a:lstStyle/>
          <a:p>
            <a:pPr algn="ctr">
              <a:defRPr sz="1600" b="1">
                <a:solidFill>
                  <a:srgbClr val="FFFFFF"/>
                </a:solidFill>
              </a:defRPr>
            </a:pPr>
            <a:r>
              <a:t>Write Instructions</a:t>
            </a:r>
          </a:p>
        </p:txBody>
      </p:sp>
      <p:sp>
        <p:nvSpPr>
          <p:cNvPr id="11" name="TextBox 10"/>
          <p:cNvSpPr txBox="1"/>
          <p:nvPr/>
        </p:nvSpPr>
        <p:spPr>
          <a:xfrm>
            <a:off x="4389120" y="2651760"/>
            <a:ext cx="3108960" cy="2103120"/>
          </a:xfrm>
          <a:prstGeom prst="rect">
            <a:avLst/>
          </a:prstGeom>
          <a:noFill/>
        </p:spPr>
        <p:txBody>
          <a:bodyPr wrap="square">
            <a:spAutoFit/>
          </a:bodyPr>
          <a:lstStyle/>
          <a:p>
            <a:pPr algn="ctr">
              <a:defRPr sz="1300">
                <a:solidFill>
                  <a:srgbClr val="D1D5DB"/>
                </a:solidFill>
              </a:defRPr>
            </a:pPr>
            <a:r>
              <a:t>Type your own rules.</a:t>
            </a:r>
            <a:br/>
            <a:r>
              <a:t>Plain English works.</a:t>
            </a:r>
            <a:br/>
            <a:r>
              <a:t>Be specific about</a:t>
            </a:r>
            <a:br/>
            <a:r>
              <a:t>format, tone, length.</a:t>
            </a:r>
            <a:br/>
            <a:br/>
            <a:r>
              <a:t>Best for: Simple skills</a:t>
            </a:r>
            <a:br/>
            <a:r>
              <a:t>you can describe easily</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874519"/>
            <a:ext cx="3108960" cy="365760"/>
          </a:xfrm>
          <a:prstGeom prst="rect">
            <a:avLst/>
          </a:prstGeom>
          <a:noFill/>
        </p:spPr>
        <p:txBody>
          <a:bodyPr wrap="none">
            <a:spAutoFit/>
          </a:bodyPr>
          <a:lstStyle/>
          <a:p>
            <a:pPr algn="ctr">
              <a:defRPr sz="2600"/>
            </a:pPr>
            <a:r>
              <a:t>📤</a:t>
            </a:r>
          </a:p>
        </p:txBody>
      </p:sp>
      <p:sp>
        <p:nvSpPr>
          <p:cNvPr id="14" name="TextBox 13"/>
          <p:cNvSpPr txBox="1"/>
          <p:nvPr/>
        </p:nvSpPr>
        <p:spPr>
          <a:xfrm>
            <a:off x="8138159" y="2240280"/>
            <a:ext cx="3108960" cy="365760"/>
          </a:xfrm>
          <a:prstGeom prst="rect">
            <a:avLst/>
          </a:prstGeom>
          <a:noFill/>
        </p:spPr>
        <p:txBody>
          <a:bodyPr wrap="none">
            <a:spAutoFit/>
          </a:bodyPr>
          <a:lstStyle/>
          <a:p>
            <a:pPr algn="ctr">
              <a:defRPr sz="1600" b="1">
                <a:solidFill>
                  <a:srgbClr val="FFFFFF"/>
                </a:solidFill>
              </a:defRPr>
            </a:pPr>
            <a:r>
              <a:t>Upload a Skill</a:t>
            </a:r>
          </a:p>
        </p:txBody>
      </p:sp>
      <p:sp>
        <p:nvSpPr>
          <p:cNvPr id="15" name="TextBox 14"/>
          <p:cNvSpPr txBox="1"/>
          <p:nvPr/>
        </p:nvSpPr>
        <p:spPr>
          <a:xfrm>
            <a:off x="8138159" y="2651760"/>
            <a:ext cx="3108960" cy="2103120"/>
          </a:xfrm>
          <a:prstGeom prst="rect">
            <a:avLst/>
          </a:prstGeom>
          <a:noFill/>
        </p:spPr>
        <p:txBody>
          <a:bodyPr wrap="square">
            <a:spAutoFit/>
          </a:bodyPr>
          <a:lstStyle/>
          <a:p>
            <a:pPr algn="ctr">
              <a:defRPr sz="1300">
                <a:solidFill>
                  <a:srgbClr val="D1D5DB"/>
                </a:solidFill>
              </a:defRPr>
            </a:pPr>
            <a:r>
              <a:t>Import .zip, .skill,</a:t>
            </a:r>
            <a:br/>
            <a:r>
              <a:t>or .md files.</a:t>
            </a:r>
            <a:br/>
            <a:r>
              <a:t>Share skills between</a:t>
            </a:r>
            <a:br/>
            <a:r>
              <a:t>accounts and teams.</a:t>
            </a:r>
            <a:br/>
            <a:br/>
            <a:r>
              <a:t>Best for: Skills from</a:t>
            </a:r>
            <a:br/>
            <a:r>
              <a:t>colleagues or community</a:t>
            </a:r>
          </a:p>
        </p:txBody>
      </p:sp>
      <p:sp>
        <p:nvSpPr>
          <p:cNvPr id="16" name="TextBox 15"/>
          <p:cNvSpPr txBox="1"/>
          <p:nvPr/>
        </p:nvSpPr>
        <p:spPr>
          <a:xfrm>
            <a:off x="457200" y="5303520"/>
            <a:ext cx="11247120" cy="457200"/>
          </a:xfrm>
          <a:prstGeom prst="rect">
            <a:avLst/>
          </a:prstGeom>
          <a:noFill/>
        </p:spPr>
        <p:txBody>
          <a:bodyPr wrap="none">
            <a:spAutoFit/>
          </a:bodyPr>
          <a:lstStyle/>
          <a:p>
            <a:pPr algn="ctr">
              <a:defRPr sz="1400" i="1">
                <a:solidFill>
                  <a:srgbClr val="14B8A6"/>
                </a:solidFill>
              </a:defRPr>
            </a:pPr>
            <a:r>
              <a:t>Pro tip: Start with 'Create with Claude' — it interviews you about what you need and builds the perfect skill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Skills You Should Build</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Start with your most repeated tasks — if you do it weekly, make it a Skill</a:t>
            </a:r>
          </a:p>
        </p:txBody>
      </p:sp>
      <p:sp>
        <p:nvSpPr>
          <p:cNvPr id="4" name="Rounded Rectangle 3"/>
          <p:cNvSpPr/>
          <p:nvPr/>
        </p:nvSpPr>
        <p:spPr>
          <a:xfrm>
            <a:off x="457200" y="16459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83080"/>
            <a:ext cx="4937759" cy="365760"/>
          </a:xfrm>
          <a:prstGeom prst="rect">
            <a:avLst/>
          </a:prstGeom>
          <a:noFill/>
        </p:spPr>
        <p:txBody>
          <a:bodyPr wrap="none">
            <a:spAutoFit/>
          </a:bodyPr>
          <a:lstStyle/>
          <a:p>
            <a:pPr algn="ctr">
              <a:defRPr sz="2600"/>
            </a:pPr>
            <a:r>
              <a:t>📧</a:t>
            </a:r>
          </a:p>
        </p:txBody>
      </p:sp>
      <p:sp>
        <p:nvSpPr>
          <p:cNvPr id="6" name="TextBox 5"/>
          <p:cNvSpPr txBox="1"/>
          <p:nvPr/>
        </p:nvSpPr>
        <p:spPr>
          <a:xfrm>
            <a:off x="640080" y="2148840"/>
            <a:ext cx="4937759" cy="365760"/>
          </a:xfrm>
          <a:prstGeom prst="rect">
            <a:avLst/>
          </a:prstGeom>
          <a:noFill/>
        </p:spPr>
        <p:txBody>
          <a:bodyPr wrap="none">
            <a:spAutoFit/>
          </a:bodyPr>
          <a:lstStyle/>
          <a:p>
            <a:pPr algn="ctr">
              <a:defRPr sz="1600" b="1">
                <a:solidFill>
                  <a:srgbClr val="FFFFFF"/>
                </a:solidFill>
              </a:defRPr>
            </a:pPr>
            <a:r>
              <a:t>Email Templates</a:t>
            </a:r>
          </a:p>
        </p:txBody>
      </p:sp>
      <p:sp>
        <p:nvSpPr>
          <p:cNvPr id="7" name="TextBox 6"/>
          <p:cNvSpPr txBox="1"/>
          <p:nvPr/>
        </p:nvSpPr>
        <p:spPr>
          <a:xfrm>
            <a:off x="640080" y="2560320"/>
            <a:ext cx="4937759" cy="91440"/>
          </a:xfrm>
          <a:prstGeom prst="rect">
            <a:avLst/>
          </a:prstGeom>
          <a:noFill/>
        </p:spPr>
        <p:txBody>
          <a:bodyPr wrap="square">
            <a:spAutoFit/>
          </a:bodyPr>
          <a:lstStyle/>
          <a:p>
            <a:pPr algn="ctr">
              <a:defRPr sz="1300">
                <a:solidFill>
                  <a:srgbClr val="D1D5DB"/>
                </a:solidFill>
              </a:defRPr>
            </a:pPr>
            <a:r>
              <a:t>Meeting follow-ups, client updates,</a:t>
            </a:r>
            <a:br/>
            <a:r>
              <a:t>project status — consistent tone every time</a:t>
            </a:r>
          </a:p>
        </p:txBody>
      </p:sp>
      <p:sp>
        <p:nvSpPr>
          <p:cNvPr id="8" name="Rounded Rectangle 7"/>
          <p:cNvSpPr/>
          <p:nvPr/>
        </p:nvSpPr>
        <p:spPr>
          <a:xfrm>
            <a:off x="457200" y="30175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154679"/>
            <a:ext cx="4937759" cy="365760"/>
          </a:xfrm>
          <a:prstGeom prst="rect">
            <a:avLst/>
          </a:prstGeom>
          <a:noFill/>
        </p:spPr>
        <p:txBody>
          <a:bodyPr wrap="none">
            <a:spAutoFit/>
          </a:bodyPr>
          <a:lstStyle/>
          <a:p>
            <a:pPr algn="ctr">
              <a:defRPr sz="2600"/>
            </a:pPr>
            <a:r>
              <a:t>📊</a:t>
            </a:r>
          </a:p>
        </p:txBody>
      </p:sp>
      <p:sp>
        <p:nvSpPr>
          <p:cNvPr id="10" name="TextBox 9"/>
          <p:cNvSpPr txBox="1"/>
          <p:nvPr/>
        </p:nvSpPr>
        <p:spPr>
          <a:xfrm>
            <a:off x="640080" y="3520439"/>
            <a:ext cx="4937759" cy="365760"/>
          </a:xfrm>
          <a:prstGeom prst="rect">
            <a:avLst/>
          </a:prstGeom>
          <a:noFill/>
        </p:spPr>
        <p:txBody>
          <a:bodyPr wrap="none">
            <a:spAutoFit/>
          </a:bodyPr>
          <a:lstStyle/>
          <a:p>
            <a:pPr algn="ctr">
              <a:defRPr sz="1600" b="1">
                <a:solidFill>
                  <a:srgbClr val="FFFFFF"/>
                </a:solidFill>
              </a:defRPr>
            </a:pPr>
            <a:r>
              <a:t>Report Formatting</a:t>
            </a:r>
          </a:p>
        </p:txBody>
      </p:sp>
      <p:sp>
        <p:nvSpPr>
          <p:cNvPr id="11" name="TextBox 10"/>
          <p:cNvSpPr txBox="1"/>
          <p:nvPr/>
        </p:nvSpPr>
        <p:spPr>
          <a:xfrm>
            <a:off x="640080" y="3931920"/>
            <a:ext cx="4937759" cy="91440"/>
          </a:xfrm>
          <a:prstGeom prst="rect">
            <a:avLst/>
          </a:prstGeom>
          <a:noFill/>
        </p:spPr>
        <p:txBody>
          <a:bodyPr wrap="square">
            <a:spAutoFit/>
          </a:bodyPr>
          <a:lstStyle/>
          <a:p>
            <a:pPr algn="ctr">
              <a:defRPr sz="1300">
                <a:solidFill>
                  <a:srgbClr val="D1D5DB"/>
                </a:solidFill>
              </a:defRPr>
            </a:pPr>
            <a:r>
              <a:t>Weekly status, monthly metrics,</a:t>
            </a:r>
            <a:br/>
            <a:r>
              <a:t>quarterly reviews — same structure always</a:t>
            </a:r>
          </a:p>
        </p:txBody>
      </p:sp>
      <p:sp>
        <p:nvSpPr>
          <p:cNvPr id="12" name="Rounded Rectangle 11"/>
          <p:cNvSpPr/>
          <p:nvPr/>
        </p:nvSpPr>
        <p:spPr>
          <a:xfrm>
            <a:off x="457200" y="43891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526280"/>
            <a:ext cx="4937759" cy="365760"/>
          </a:xfrm>
          <a:prstGeom prst="rect">
            <a:avLst/>
          </a:prstGeom>
          <a:noFill/>
        </p:spPr>
        <p:txBody>
          <a:bodyPr wrap="none">
            <a:spAutoFit/>
          </a:bodyPr>
          <a:lstStyle/>
          <a:p>
            <a:pPr algn="ctr">
              <a:defRPr sz="2600"/>
            </a:pPr>
            <a:r>
              <a:t>📝</a:t>
            </a:r>
          </a:p>
        </p:txBody>
      </p:sp>
      <p:sp>
        <p:nvSpPr>
          <p:cNvPr id="14" name="TextBox 13"/>
          <p:cNvSpPr txBox="1"/>
          <p:nvPr/>
        </p:nvSpPr>
        <p:spPr>
          <a:xfrm>
            <a:off x="640080" y="4892040"/>
            <a:ext cx="4937759" cy="365760"/>
          </a:xfrm>
          <a:prstGeom prst="rect">
            <a:avLst/>
          </a:prstGeom>
          <a:noFill/>
        </p:spPr>
        <p:txBody>
          <a:bodyPr wrap="none">
            <a:spAutoFit/>
          </a:bodyPr>
          <a:lstStyle/>
          <a:p>
            <a:pPr algn="ctr">
              <a:defRPr sz="1600" b="1">
                <a:solidFill>
                  <a:srgbClr val="FFFFFF"/>
                </a:solidFill>
              </a:defRPr>
            </a:pPr>
            <a:r>
              <a:t>Document Standards</a:t>
            </a:r>
          </a:p>
        </p:txBody>
      </p:sp>
      <p:sp>
        <p:nvSpPr>
          <p:cNvPr id="15" name="TextBox 14"/>
          <p:cNvSpPr txBox="1"/>
          <p:nvPr/>
        </p:nvSpPr>
        <p:spPr>
          <a:xfrm>
            <a:off x="640080" y="5303520"/>
            <a:ext cx="4937759" cy="91440"/>
          </a:xfrm>
          <a:prstGeom prst="rect">
            <a:avLst/>
          </a:prstGeom>
          <a:noFill/>
        </p:spPr>
        <p:txBody>
          <a:bodyPr wrap="square">
            <a:spAutoFit/>
          </a:bodyPr>
          <a:lstStyle/>
          <a:p>
            <a:pPr algn="ctr">
              <a:defRPr sz="1300">
                <a:solidFill>
                  <a:srgbClr val="D1D5DB"/>
                </a:solidFill>
              </a:defRPr>
            </a:pPr>
            <a:r>
              <a:t>SOPs, proposals, briefs —</a:t>
            </a:r>
            <a:br/>
            <a:r>
              <a:t>your company's format, automatically</a:t>
            </a:r>
          </a:p>
        </p:txBody>
      </p:sp>
      <p:sp>
        <p:nvSpPr>
          <p:cNvPr id="16" name="Rounded Rectangle 15"/>
          <p:cNvSpPr/>
          <p:nvPr/>
        </p:nvSpPr>
        <p:spPr>
          <a:xfrm>
            <a:off x="6217920" y="16459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83080"/>
            <a:ext cx="4937759" cy="365760"/>
          </a:xfrm>
          <a:prstGeom prst="rect">
            <a:avLst/>
          </a:prstGeom>
          <a:noFill/>
        </p:spPr>
        <p:txBody>
          <a:bodyPr wrap="none">
            <a:spAutoFit/>
          </a:bodyPr>
          <a:lstStyle/>
          <a:p>
            <a:pPr algn="ctr">
              <a:defRPr sz="2600"/>
            </a:pPr>
            <a:r>
              <a:t>🔍</a:t>
            </a:r>
          </a:p>
        </p:txBody>
      </p:sp>
      <p:sp>
        <p:nvSpPr>
          <p:cNvPr id="18" name="TextBox 17"/>
          <p:cNvSpPr txBox="1"/>
          <p:nvPr/>
        </p:nvSpPr>
        <p:spPr>
          <a:xfrm>
            <a:off x="6400800" y="2148840"/>
            <a:ext cx="4937759" cy="365760"/>
          </a:xfrm>
          <a:prstGeom prst="rect">
            <a:avLst/>
          </a:prstGeom>
          <a:noFill/>
        </p:spPr>
        <p:txBody>
          <a:bodyPr wrap="none">
            <a:spAutoFit/>
          </a:bodyPr>
          <a:lstStyle/>
          <a:p>
            <a:pPr algn="ctr">
              <a:defRPr sz="1600" b="1">
                <a:solidFill>
                  <a:srgbClr val="FFFFFF"/>
                </a:solidFill>
              </a:defRPr>
            </a:pPr>
            <a:r>
              <a:t>Analysis Frameworks</a:t>
            </a:r>
          </a:p>
        </p:txBody>
      </p:sp>
      <p:sp>
        <p:nvSpPr>
          <p:cNvPr id="19" name="TextBox 18"/>
          <p:cNvSpPr txBox="1"/>
          <p:nvPr/>
        </p:nvSpPr>
        <p:spPr>
          <a:xfrm>
            <a:off x="6400800" y="2560320"/>
            <a:ext cx="4937759" cy="91440"/>
          </a:xfrm>
          <a:prstGeom prst="rect">
            <a:avLst/>
          </a:prstGeom>
          <a:noFill/>
        </p:spPr>
        <p:txBody>
          <a:bodyPr wrap="square">
            <a:spAutoFit/>
          </a:bodyPr>
          <a:lstStyle/>
          <a:p>
            <a:pPr algn="ctr">
              <a:defRPr sz="1300">
                <a:solidFill>
                  <a:srgbClr val="D1D5DB"/>
                </a:solidFill>
              </a:defRPr>
            </a:pPr>
            <a:r>
              <a:t>SWOT, competitive, financial —</a:t>
            </a:r>
            <a:br/>
            <a:r>
              <a:t>structured thinking on demand</a:t>
            </a:r>
          </a:p>
        </p:txBody>
      </p:sp>
      <p:sp>
        <p:nvSpPr>
          <p:cNvPr id="20" name="Rounded Rectangle 19"/>
          <p:cNvSpPr/>
          <p:nvPr/>
        </p:nvSpPr>
        <p:spPr>
          <a:xfrm>
            <a:off x="6217920" y="30175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3154679"/>
            <a:ext cx="4937759" cy="365760"/>
          </a:xfrm>
          <a:prstGeom prst="rect">
            <a:avLst/>
          </a:prstGeom>
          <a:noFill/>
        </p:spPr>
        <p:txBody>
          <a:bodyPr wrap="none">
            <a:spAutoFit/>
          </a:bodyPr>
          <a:lstStyle/>
          <a:p>
            <a:pPr algn="ctr">
              <a:defRPr sz="2600"/>
            </a:pPr>
            <a:r>
              <a:t>💼</a:t>
            </a:r>
          </a:p>
        </p:txBody>
      </p:sp>
      <p:sp>
        <p:nvSpPr>
          <p:cNvPr id="22" name="TextBox 21"/>
          <p:cNvSpPr txBox="1"/>
          <p:nvPr/>
        </p:nvSpPr>
        <p:spPr>
          <a:xfrm>
            <a:off x="6400800" y="3520439"/>
            <a:ext cx="4937759" cy="365760"/>
          </a:xfrm>
          <a:prstGeom prst="rect">
            <a:avLst/>
          </a:prstGeom>
          <a:noFill/>
        </p:spPr>
        <p:txBody>
          <a:bodyPr wrap="none">
            <a:spAutoFit/>
          </a:bodyPr>
          <a:lstStyle/>
          <a:p>
            <a:pPr algn="ctr">
              <a:defRPr sz="1600" b="1">
                <a:solidFill>
                  <a:srgbClr val="FFFFFF"/>
                </a:solidFill>
              </a:defRPr>
            </a:pPr>
            <a:r>
              <a:t>Meeting Prep</a:t>
            </a:r>
          </a:p>
        </p:txBody>
      </p:sp>
      <p:sp>
        <p:nvSpPr>
          <p:cNvPr id="23" name="TextBox 22"/>
          <p:cNvSpPr txBox="1"/>
          <p:nvPr/>
        </p:nvSpPr>
        <p:spPr>
          <a:xfrm>
            <a:off x="6400800" y="3931920"/>
            <a:ext cx="4937759" cy="91440"/>
          </a:xfrm>
          <a:prstGeom prst="rect">
            <a:avLst/>
          </a:prstGeom>
          <a:noFill/>
        </p:spPr>
        <p:txBody>
          <a:bodyPr wrap="square">
            <a:spAutoFit/>
          </a:bodyPr>
          <a:lstStyle/>
          <a:p>
            <a:pPr algn="ctr">
              <a:defRPr sz="1300">
                <a:solidFill>
                  <a:srgbClr val="D1D5DB"/>
                </a:solidFill>
              </a:defRPr>
            </a:pPr>
            <a:r>
              <a:t>Agenda creation, talking points,</a:t>
            </a:r>
            <a:br/>
            <a:r>
              <a:t>pre-read summaries from raw notes</a:t>
            </a:r>
          </a:p>
        </p:txBody>
      </p:sp>
      <p:sp>
        <p:nvSpPr>
          <p:cNvPr id="24" name="Rounded Rectangle 23"/>
          <p:cNvSpPr/>
          <p:nvPr/>
        </p:nvSpPr>
        <p:spPr>
          <a:xfrm>
            <a:off x="6217920" y="43891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526280"/>
            <a:ext cx="4937759" cy="365760"/>
          </a:xfrm>
          <a:prstGeom prst="rect">
            <a:avLst/>
          </a:prstGeom>
          <a:noFill/>
        </p:spPr>
        <p:txBody>
          <a:bodyPr wrap="none">
            <a:spAutoFit/>
          </a:bodyPr>
          <a:lstStyle/>
          <a:p>
            <a:pPr algn="ctr">
              <a:defRPr sz="2600"/>
            </a:pPr>
            <a:r>
              <a:t>✅</a:t>
            </a:r>
          </a:p>
        </p:txBody>
      </p:sp>
      <p:sp>
        <p:nvSpPr>
          <p:cNvPr id="26" name="TextBox 25"/>
          <p:cNvSpPr txBox="1"/>
          <p:nvPr/>
        </p:nvSpPr>
        <p:spPr>
          <a:xfrm>
            <a:off x="6400800" y="4892040"/>
            <a:ext cx="4937759" cy="365760"/>
          </a:xfrm>
          <a:prstGeom prst="rect">
            <a:avLst/>
          </a:prstGeom>
          <a:noFill/>
        </p:spPr>
        <p:txBody>
          <a:bodyPr wrap="none">
            <a:spAutoFit/>
          </a:bodyPr>
          <a:lstStyle/>
          <a:p>
            <a:pPr algn="ctr">
              <a:defRPr sz="1600" b="1">
                <a:solidFill>
                  <a:srgbClr val="FFFFFF"/>
                </a:solidFill>
              </a:defRPr>
            </a:pPr>
            <a:r>
              <a:t>Review Checklists</a:t>
            </a:r>
          </a:p>
        </p:txBody>
      </p:sp>
      <p:sp>
        <p:nvSpPr>
          <p:cNvPr id="27" name="TextBox 26"/>
          <p:cNvSpPr txBox="1"/>
          <p:nvPr/>
        </p:nvSpPr>
        <p:spPr>
          <a:xfrm>
            <a:off x="6400800" y="5303520"/>
            <a:ext cx="4937759" cy="91440"/>
          </a:xfrm>
          <a:prstGeom prst="rect">
            <a:avLst/>
          </a:prstGeom>
          <a:noFill/>
        </p:spPr>
        <p:txBody>
          <a:bodyPr wrap="square">
            <a:spAutoFit/>
          </a:bodyPr>
          <a:lstStyle/>
          <a:p>
            <a:pPr algn="ctr">
              <a:defRPr sz="1300">
                <a:solidFill>
                  <a:srgbClr val="D1D5DB"/>
                </a:solidFill>
              </a:defRPr>
            </a:pPr>
            <a:r>
              <a:t>Contract review, code review,</a:t>
            </a:r>
            <a:br/>
            <a:r>
              <a:t>content review — never miss a step</a:t>
            </a:r>
          </a:p>
        </p:txBody>
      </p:sp>
      <p:sp>
        <p:nvSpPr>
          <p:cNvPr id="28" name="TextBox 27"/>
          <p:cNvSpPr txBox="1"/>
          <p:nvPr/>
        </p:nvSpPr>
        <p:spPr>
          <a:xfrm>
            <a:off x="457200" y="5760720"/>
            <a:ext cx="11247120" cy="365760"/>
          </a:xfrm>
          <a:prstGeom prst="rect">
            <a:avLst/>
          </a:prstGeom>
          <a:noFill/>
        </p:spPr>
        <p:txBody>
          <a:bodyPr wrap="none">
            <a:spAutoFit/>
          </a:bodyPr>
          <a:lstStyle/>
          <a:p>
            <a:pPr algn="ctr">
              <a:defRPr sz="1500" i="1">
                <a:solidFill>
                  <a:srgbClr val="14B8A6"/>
                </a:solidFill>
              </a:defRPr>
            </a:pPr>
            <a:r>
              <a:t>Rule of thumb: If you've written the same prompt 3+ times, it should be a Skill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Managing Your Skills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Settings → Skills — your skill library grows with you</a:t>
            </a:r>
          </a:p>
        </p:txBody>
      </p:sp>
      <p:sp>
        <p:nvSpPr>
          <p:cNvPr id="4" name="Rounded Rectangle 3"/>
          <p:cNvSpPr/>
          <p:nvPr/>
        </p:nvSpPr>
        <p:spPr>
          <a:xfrm>
            <a:off x="457200" y="173736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4937759"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4937759" cy="365760"/>
          </a:xfrm>
          <a:prstGeom prst="rect">
            <a:avLst/>
          </a:prstGeom>
          <a:noFill/>
        </p:spPr>
        <p:txBody>
          <a:bodyPr wrap="none">
            <a:spAutoFit/>
          </a:bodyPr>
          <a:lstStyle/>
          <a:p>
            <a:pPr algn="ctr">
              <a:defRPr sz="1600" b="1">
                <a:solidFill>
                  <a:srgbClr val="FFFFFF"/>
                </a:solidFill>
              </a:defRPr>
            </a:pPr>
            <a:r>
              <a:t>Enable &amp; Disable</a:t>
            </a:r>
          </a:p>
        </p:txBody>
      </p:sp>
      <p:sp>
        <p:nvSpPr>
          <p:cNvPr id="7" name="TextBox 6"/>
          <p:cNvSpPr txBox="1"/>
          <p:nvPr/>
        </p:nvSpPr>
        <p:spPr>
          <a:xfrm>
            <a:off x="640080" y="2651760"/>
            <a:ext cx="4937759" cy="731520"/>
          </a:xfrm>
          <a:prstGeom prst="rect">
            <a:avLst/>
          </a:prstGeom>
          <a:noFill/>
        </p:spPr>
        <p:txBody>
          <a:bodyPr wrap="square">
            <a:spAutoFit/>
          </a:bodyPr>
          <a:lstStyle/>
          <a:p>
            <a:pPr algn="ctr">
              <a:defRPr sz="1300">
                <a:solidFill>
                  <a:srgbClr val="D1D5DB"/>
                </a:solidFill>
              </a:defRPr>
            </a:pPr>
            <a:r>
              <a:t>Toggle skills on/off per conversation.</a:t>
            </a:r>
            <a:br/>
            <a:r>
              <a:t>Keep your library big, activate only what you need.</a:t>
            </a:r>
            <a:br/>
            <a:r>
              <a:t>Skills show in the + menu when enabled.</a:t>
            </a:r>
          </a:p>
        </p:txBody>
      </p:sp>
      <p:sp>
        <p:nvSpPr>
          <p:cNvPr id="8" name="Rounded Rectangle 7"/>
          <p:cNvSpPr/>
          <p:nvPr/>
        </p:nvSpPr>
        <p:spPr>
          <a:xfrm>
            <a:off x="6217920" y="173736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937759" cy="365760"/>
          </a:xfrm>
          <a:prstGeom prst="rect">
            <a:avLst/>
          </a:prstGeom>
          <a:noFill/>
        </p:spPr>
        <p:txBody>
          <a:bodyPr wrap="none">
            <a:spAutoFit/>
          </a:bodyPr>
          <a:lstStyle/>
          <a:p>
            <a:pPr algn="ctr">
              <a:defRPr sz="2600"/>
            </a:pPr>
            <a:r>
              <a:t>✏️</a:t>
            </a:r>
          </a:p>
        </p:txBody>
      </p:sp>
      <p:sp>
        <p:nvSpPr>
          <p:cNvPr id="10" name="TextBox 9"/>
          <p:cNvSpPr txBox="1"/>
          <p:nvPr/>
        </p:nvSpPr>
        <p:spPr>
          <a:xfrm>
            <a:off x="6400800" y="2240280"/>
            <a:ext cx="4937759" cy="365760"/>
          </a:xfrm>
          <a:prstGeom prst="rect">
            <a:avLst/>
          </a:prstGeom>
          <a:noFill/>
        </p:spPr>
        <p:txBody>
          <a:bodyPr wrap="none">
            <a:spAutoFit/>
          </a:bodyPr>
          <a:lstStyle/>
          <a:p>
            <a:pPr algn="ctr">
              <a:defRPr sz="1600" b="1">
                <a:solidFill>
                  <a:srgbClr val="FFFFFF"/>
                </a:solidFill>
              </a:defRPr>
            </a:pPr>
            <a:r>
              <a:t>Edit &amp; Iterate</a:t>
            </a:r>
          </a:p>
        </p:txBody>
      </p:sp>
      <p:sp>
        <p:nvSpPr>
          <p:cNvPr id="11" name="TextBox 10"/>
          <p:cNvSpPr txBox="1"/>
          <p:nvPr/>
        </p:nvSpPr>
        <p:spPr>
          <a:xfrm>
            <a:off x="6400800" y="2651760"/>
            <a:ext cx="4937759" cy="731520"/>
          </a:xfrm>
          <a:prstGeom prst="rect">
            <a:avLst/>
          </a:prstGeom>
          <a:noFill/>
        </p:spPr>
        <p:txBody>
          <a:bodyPr wrap="square">
            <a:spAutoFit/>
          </a:bodyPr>
          <a:lstStyle/>
          <a:p>
            <a:pPr algn="ctr">
              <a:defRPr sz="1300">
                <a:solidFill>
                  <a:srgbClr val="D1D5DB"/>
                </a:solidFill>
              </a:defRPr>
            </a:pPr>
            <a:r>
              <a:t>Skills aren't set in stone. Test, refine, improve.</a:t>
            </a:r>
            <a:br/>
            <a:r>
              <a:t>If the output isn't right, edit the instructions.</a:t>
            </a:r>
            <a:br/>
            <a:r>
              <a:t>Version your skills — save before changing.</a:t>
            </a:r>
          </a:p>
        </p:txBody>
      </p:sp>
      <p:sp>
        <p:nvSpPr>
          <p:cNvPr id="12" name="Rounded Rectangle 11"/>
          <p:cNvSpPr/>
          <p:nvPr/>
        </p:nvSpPr>
        <p:spPr>
          <a:xfrm>
            <a:off x="457200" y="384048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977640"/>
            <a:ext cx="4937759" cy="365760"/>
          </a:xfrm>
          <a:prstGeom prst="rect">
            <a:avLst/>
          </a:prstGeom>
          <a:noFill/>
        </p:spPr>
        <p:txBody>
          <a:bodyPr wrap="none">
            <a:spAutoFit/>
          </a:bodyPr>
          <a:lstStyle/>
          <a:p>
            <a:pPr algn="ctr">
              <a:defRPr sz="2600"/>
            </a:pPr>
            <a:r>
              <a:t>👥</a:t>
            </a:r>
          </a:p>
        </p:txBody>
      </p:sp>
      <p:sp>
        <p:nvSpPr>
          <p:cNvPr id="14" name="TextBox 13"/>
          <p:cNvSpPr txBox="1"/>
          <p:nvPr/>
        </p:nvSpPr>
        <p:spPr>
          <a:xfrm>
            <a:off x="640080" y="4343400"/>
            <a:ext cx="4937759" cy="365760"/>
          </a:xfrm>
          <a:prstGeom prst="rect">
            <a:avLst/>
          </a:prstGeom>
          <a:noFill/>
        </p:spPr>
        <p:txBody>
          <a:bodyPr wrap="none">
            <a:spAutoFit/>
          </a:bodyPr>
          <a:lstStyle/>
          <a:p>
            <a:pPr algn="ctr">
              <a:defRPr sz="1600" b="1">
                <a:solidFill>
                  <a:srgbClr val="FFFFFF"/>
                </a:solidFill>
              </a:defRPr>
            </a:pPr>
            <a:r>
              <a:t>Share with Team</a:t>
            </a:r>
          </a:p>
        </p:txBody>
      </p:sp>
      <p:sp>
        <p:nvSpPr>
          <p:cNvPr id="15" name="TextBox 14"/>
          <p:cNvSpPr txBox="1"/>
          <p:nvPr/>
        </p:nvSpPr>
        <p:spPr>
          <a:xfrm>
            <a:off x="640080" y="4754880"/>
            <a:ext cx="4937759" cy="731520"/>
          </a:xfrm>
          <a:prstGeom prst="rect">
            <a:avLst/>
          </a:prstGeom>
          <a:noFill/>
        </p:spPr>
        <p:txBody>
          <a:bodyPr wrap="square">
            <a:spAutoFit/>
          </a:bodyPr>
          <a:lstStyle/>
          <a:p>
            <a:pPr algn="ctr">
              <a:defRPr sz="1300">
                <a:solidFill>
                  <a:srgbClr val="D1D5DB"/>
                </a:solidFill>
              </a:defRPr>
            </a:pPr>
            <a:r>
              <a:t>Export as .zip or .md file.</a:t>
            </a:r>
            <a:br/>
            <a:r>
              <a:t>Share via email, Slack, or shared drive.</a:t>
            </a:r>
            <a:br/>
            <a:r>
              <a:t>Team-wide consistency without training everyone.</a:t>
            </a:r>
          </a:p>
        </p:txBody>
      </p:sp>
      <p:sp>
        <p:nvSpPr>
          <p:cNvPr id="16" name="Rounded Rectangle 15"/>
          <p:cNvSpPr/>
          <p:nvPr/>
        </p:nvSpPr>
        <p:spPr>
          <a:xfrm>
            <a:off x="6217920" y="384048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977640"/>
            <a:ext cx="4937759" cy="365760"/>
          </a:xfrm>
          <a:prstGeom prst="rect">
            <a:avLst/>
          </a:prstGeom>
          <a:noFill/>
        </p:spPr>
        <p:txBody>
          <a:bodyPr wrap="none">
            <a:spAutoFit/>
          </a:bodyPr>
          <a:lstStyle/>
          <a:p>
            <a:pPr algn="ctr">
              <a:defRPr sz="2600"/>
            </a:pPr>
            <a:r>
              <a:t>🏗️</a:t>
            </a:r>
          </a:p>
        </p:txBody>
      </p:sp>
      <p:sp>
        <p:nvSpPr>
          <p:cNvPr id="18" name="TextBox 17"/>
          <p:cNvSpPr txBox="1"/>
          <p:nvPr/>
        </p:nvSpPr>
        <p:spPr>
          <a:xfrm>
            <a:off x="6400800" y="4343400"/>
            <a:ext cx="4937759" cy="365760"/>
          </a:xfrm>
          <a:prstGeom prst="rect">
            <a:avLst/>
          </a:prstGeom>
          <a:noFill/>
        </p:spPr>
        <p:txBody>
          <a:bodyPr wrap="none">
            <a:spAutoFit/>
          </a:bodyPr>
          <a:lstStyle/>
          <a:p>
            <a:pPr algn="ctr">
              <a:defRPr sz="1600" b="1">
                <a:solidFill>
                  <a:srgbClr val="FFFFFF"/>
                </a:solidFill>
              </a:defRPr>
            </a:pPr>
            <a:r>
              <a:t>Build a Library</a:t>
            </a:r>
          </a:p>
        </p:txBody>
      </p:sp>
      <p:sp>
        <p:nvSpPr>
          <p:cNvPr id="19" name="TextBox 18"/>
          <p:cNvSpPr txBox="1"/>
          <p:nvPr/>
        </p:nvSpPr>
        <p:spPr>
          <a:xfrm>
            <a:off x="6400800" y="4754880"/>
            <a:ext cx="4937759" cy="731520"/>
          </a:xfrm>
          <a:prstGeom prst="rect">
            <a:avLst/>
          </a:prstGeom>
          <a:noFill/>
        </p:spPr>
        <p:txBody>
          <a:bodyPr wrap="square">
            <a:spAutoFit/>
          </a:bodyPr>
          <a:lstStyle/>
          <a:p>
            <a:pPr algn="ctr">
              <a:defRPr sz="1300">
                <a:solidFill>
                  <a:srgbClr val="D1D5DB"/>
                </a:solidFill>
              </a:defRPr>
            </a:pPr>
            <a:r>
              <a:t>Start with 3-5 core skills.</a:t>
            </a:r>
            <a:br/>
            <a:r>
              <a:t>Add one new skill per week.</a:t>
            </a:r>
            <a:br/>
            <a:r>
              <a:t>In a month, you have a personal AI toolkit</a:t>
            </a:r>
            <a:br/>
            <a:r>
              <a:t>that saves hours every week.</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Cowork: AI That Produces Actual Files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Code for non-developers — works with files on your computer</a:t>
            </a:r>
          </a:p>
        </p:txBody>
      </p:sp>
      <p:sp>
        <p:nvSpPr>
          <p:cNvPr id="4" name="Rounded Rectangle 3"/>
          <p:cNvSpPr/>
          <p:nvPr/>
        </p:nvSpPr>
        <p:spPr>
          <a:xfrm>
            <a:off x="274320" y="1737360"/>
            <a:ext cx="2743200" cy="36576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74519"/>
            <a:ext cx="2377440" cy="365760"/>
          </a:xfrm>
          <a:prstGeom prst="rect">
            <a:avLst/>
          </a:prstGeom>
          <a:noFill/>
        </p:spPr>
        <p:txBody>
          <a:bodyPr wrap="none">
            <a:spAutoFit/>
          </a:bodyPr>
          <a:lstStyle/>
          <a:p>
            <a:pPr algn="ctr">
              <a:defRPr sz="2600"/>
            </a:pPr>
            <a:r>
              <a:t>📁</a:t>
            </a:r>
          </a:p>
        </p:txBody>
      </p:sp>
      <p:sp>
        <p:nvSpPr>
          <p:cNvPr id="6" name="TextBox 5"/>
          <p:cNvSpPr txBox="1"/>
          <p:nvPr/>
        </p:nvSpPr>
        <p:spPr>
          <a:xfrm>
            <a:off x="457200" y="2240280"/>
            <a:ext cx="2377440" cy="365760"/>
          </a:xfrm>
          <a:prstGeom prst="rect">
            <a:avLst/>
          </a:prstGeom>
          <a:noFill/>
        </p:spPr>
        <p:txBody>
          <a:bodyPr wrap="none">
            <a:spAutoFit/>
          </a:bodyPr>
          <a:lstStyle/>
          <a:p>
            <a:pPr algn="ctr">
              <a:defRPr sz="1600" b="1">
                <a:solidFill>
                  <a:srgbClr val="FFFFFF"/>
                </a:solidFill>
              </a:defRPr>
            </a:pPr>
            <a:r>
              <a:t>File Operations</a:t>
            </a:r>
          </a:p>
        </p:txBody>
      </p:sp>
      <p:sp>
        <p:nvSpPr>
          <p:cNvPr id="7" name="TextBox 6"/>
          <p:cNvSpPr txBox="1"/>
          <p:nvPr/>
        </p:nvSpPr>
        <p:spPr>
          <a:xfrm>
            <a:off x="457200" y="2651760"/>
            <a:ext cx="2377440" cy="2560320"/>
          </a:xfrm>
          <a:prstGeom prst="rect">
            <a:avLst/>
          </a:prstGeom>
          <a:noFill/>
        </p:spPr>
        <p:txBody>
          <a:bodyPr wrap="square">
            <a:spAutoFit/>
          </a:bodyPr>
          <a:lstStyle/>
          <a:p>
            <a:pPr algn="ctr">
              <a:defRPr sz="1200">
                <a:solidFill>
                  <a:srgbClr val="D1D5DB"/>
                </a:solidFill>
              </a:defRPr>
            </a:pPr>
            <a:r>
              <a:t>Organize 300+ files in minutes</a:t>
            </a:r>
            <a:br/>
            <a:r>
              <a:t>by reading actual contents —</a:t>
            </a:r>
            <a:br/>
            <a:r>
              <a:t>not just filenames.</a:t>
            </a:r>
            <a:br/>
            <a:br/>
            <a:r>
              <a:t>Receipt photos → sorted</a:t>
            </a:r>
            <a:br/>
            <a:r>
              <a:t>by vendor, date, category</a:t>
            </a:r>
          </a:p>
        </p:txBody>
      </p:sp>
      <p:sp>
        <p:nvSpPr>
          <p:cNvPr id="8" name="Rounded Rectangle 7"/>
          <p:cNvSpPr/>
          <p:nvPr/>
        </p:nvSpPr>
        <p:spPr>
          <a:xfrm>
            <a:off x="3200400" y="1737360"/>
            <a:ext cx="2743200" cy="36576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3280" y="1874519"/>
            <a:ext cx="2377440" cy="365760"/>
          </a:xfrm>
          <a:prstGeom prst="rect">
            <a:avLst/>
          </a:prstGeom>
          <a:noFill/>
        </p:spPr>
        <p:txBody>
          <a:bodyPr wrap="none">
            <a:spAutoFit/>
          </a:bodyPr>
          <a:lstStyle/>
          <a:p>
            <a:pPr algn="ctr">
              <a:defRPr sz="2600"/>
            </a:pPr>
            <a:r>
              <a:t>📊</a:t>
            </a:r>
          </a:p>
        </p:txBody>
      </p:sp>
      <p:sp>
        <p:nvSpPr>
          <p:cNvPr id="10" name="TextBox 9"/>
          <p:cNvSpPr txBox="1"/>
          <p:nvPr/>
        </p:nvSpPr>
        <p:spPr>
          <a:xfrm>
            <a:off x="3383280" y="2240280"/>
            <a:ext cx="2377440" cy="365760"/>
          </a:xfrm>
          <a:prstGeom prst="rect">
            <a:avLst/>
          </a:prstGeom>
          <a:noFill/>
        </p:spPr>
        <p:txBody>
          <a:bodyPr wrap="none">
            <a:spAutoFit/>
          </a:bodyPr>
          <a:lstStyle/>
          <a:p>
            <a:pPr algn="ctr">
              <a:defRPr sz="1600" b="1">
                <a:solidFill>
                  <a:srgbClr val="FFFFFF"/>
                </a:solidFill>
              </a:defRPr>
            </a:pPr>
            <a:r>
              <a:t>Real Documents</a:t>
            </a:r>
          </a:p>
        </p:txBody>
      </p:sp>
      <p:sp>
        <p:nvSpPr>
          <p:cNvPr id="11" name="TextBox 10"/>
          <p:cNvSpPr txBox="1"/>
          <p:nvPr/>
        </p:nvSpPr>
        <p:spPr>
          <a:xfrm>
            <a:off x="3383280" y="2651760"/>
            <a:ext cx="2377440" cy="2560320"/>
          </a:xfrm>
          <a:prstGeom prst="rect">
            <a:avLst/>
          </a:prstGeom>
          <a:noFill/>
        </p:spPr>
        <p:txBody>
          <a:bodyPr wrap="square">
            <a:spAutoFit/>
          </a:bodyPr>
          <a:lstStyle/>
          <a:p>
            <a:pPr algn="ctr">
              <a:defRPr sz="1200">
                <a:solidFill>
                  <a:srgbClr val="D1D5DB"/>
                </a:solidFill>
              </a:defRPr>
            </a:pPr>
            <a:r>
              <a:t>Creates actual files:</a:t>
            </a:r>
            <a:br/>
            <a:r>
              <a:t>Excel with working formulas</a:t>
            </a:r>
            <a:br/>
            <a:r>
              <a:t>PowerPoint with real slides</a:t>
            </a:r>
            <a:br/>
            <a:r>
              <a:t>Word with proper formatting</a:t>
            </a:r>
            <a:br/>
            <a:br/>
            <a:r>
              <a:t>Not text you copy-paste</a:t>
            </a:r>
          </a:p>
        </p:txBody>
      </p:sp>
      <p:sp>
        <p:nvSpPr>
          <p:cNvPr id="12" name="Rounded Rectangle 11"/>
          <p:cNvSpPr/>
          <p:nvPr/>
        </p:nvSpPr>
        <p:spPr>
          <a:xfrm>
            <a:off x="6126480" y="1737360"/>
            <a:ext cx="2743200" cy="36576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874519"/>
            <a:ext cx="2377440" cy="365760"/>
          </a:xfrm>
          <a:prstGeom prst="rect">
            <a:avLst/>
          </a:prstGeom>
          <a:noFill/>
        </p:spPr>
        <p:txBody>
          <a:bodyPr wrap="none">
            <a:spAutoFit/>
          </a:bodyPr>
          <a:lstStyle/>
          <a:p>
            <a:pPr algn="ctr">
              <a:defRPr sz="2600"/>
            </a:pPr>
            <a:r>
              <a:t>🔍</a:t>
            </a:r>
          </a:p>
        </p:txBody>
      </p:sp>
      <p:sp>
        <p:nvSpPr>
          <p:cNvPr id="14" name="TextBox 13"/>
          <p:cNvSpPr txBox="1"/>
          <p:nvPr/>
        </p:nvSpPr>
        <p:spPr>
          <a:xfrm>
            <a:off x="6309360" y="2240280"/>
            <a:ext cx="2377440" cy="365760"/>
          </a:xfrm>
          <a:prstGeom prst="rect">
            <a:avLst/>
          </a:prstGeom>
          <a:noFill/>
        </p:spPr>
        <p:txBody>
          <a:bodyPr wrap="none">
            <a:spAutoFit/>
          </a:bodyPr>
          <a:lstStyle/>
          <a:p>
            <a:pPr algn="ctr">
              <a:defRPr sz="1600" b="1">
                <a:solidFill>
                  <a:srgbClr val="FFFFFF"/>
                </a:solidFill>
              </a:defRPr>
            </a:pPr>
            <a:r>
              <a:t>Research Synthesis</a:t>
            </a:r>
          </a:p>
        </p:txBody>
      </p:sp>
      <p:sp>
        <p:nvSpPr>
          <p:cNvPr id="15" name="TextBox 14"/>
          <p:cNvSpPr txBox="1"/>
          <p:nvPr/>
        </p:nvSpPr>
        <p:spPr>
          <a:xfrm>
            <a:off x="6309360" y="2651760"/>
            <a:ext cx="2377440" cy="2560320"/>
          </a:xfrm>
          <a:prstGeom prst="rect">
            <a:avLst/>
          </a:prstGeom>
          <a:noFill/>
        </p:spPr>
        <p:txBody>
          <a:bodyPr wrap="square">
            <a:spAutoFit/>
          </a:bodyPr>
          <a:lstStyle/>
          <a:p>
            <a:pPr algn="ctr">
              <a:defRPr sz="1200">
                <a:solidFill>
                  <a:srgbClr val="D1D5DB"/>
                </a:solidFill>
              </a:defRPr>
            </a:pPr>
            <a:r>
              <a:t>Read 20 documents at once.</a:t>
            </a:r>
            <a:br/>
            <a:r>
              <a:t>Find patterns across sources.</a:t>
            </a:r>
            <a:br/>
            <a:r>
              <a:t>Cite specific files.</a:t>
            </a:r>
            <a:br/>
            <a:r>
              <a:t>Flag contradictions.</a:t>
            </a:r>
            <a:br/>
            <a:br/>
            <a:r>
              <a:t>Hours of work → minutes</a:t>
            </a:r>
          </a:p>
        </p:txBody>
      </p:sp>
      <p:sp>
        <p:nvSpPr>
          <p:cNvPr id="16" name="Rounded Rectangle 15"/>
          <p:cNvSpPr/>
          <p:nvPr/>
        </p:nvSpPr>
        <p:spPr>
          <a:xfrm>
            <a:off x="9052560" y="1737360"/>
            <a:ext cx="2743200" cy="36576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0" y="1874519"/>
            <a:ext cx="2377440" cy="365760"/>
          </a:xfrm>
          <a:prstGeom prst="rect">
            <a:avLst/>
          </a:prstGeom>
          <a:noFill/>
        </p:spPr>
        <p:txBody>
          <a:bodyPr wrap="none">
            <a:spAutoFit/>
          </a:bodyPr>
          <a:lstStyle/>
          <a:p>
            <a:pPr algn="ctr">
              <a:defRPr sz="2600"/>
            </a:pPr>
            <a:r>
              <a:t>🤖</a:t>
            </a:r>
          </a:p>
        </p:txBody>
      </p:sp>
      <p:sp>
        <p:nvSpPr>
          <p:cNvPr id="18" name="TextBox 17"/>
          <p:cNvSpPr txBox="1"/>
          <p:nvPr/>
        </p:nvSpPr>
        <p:spPr>
          <a:xfrm>
            <a:off x="9235440" y="2240280"/>
            <a:ext cx="2377440" cy="365760"/>
          </a:xfrm>
          <a:prstGeom prst="rect">
            <a:avLst/>
          </a:prstGeom>
          <a:noFill/>
        </p:spPr>
        <p:txBody>
          <a:bodyPr wrap="none">
            <a:spAutoFit/>
          </a:bodyPr>
          <a:lstStyle/>
          <a:p>
            <a:pPr algn="ctr">
              <a:defRPr sz="1600" b="1">
                <a:solidFill>
                  <a:srgbClr val="FFFFFF"/>
                </a:solidFill>
              </a:defRPr>
            </a:pPr>
            <a:r>
              <a:t>AI Employee</a:t>
            </a:r>
          </a:p>
        </p:txBody>
      </p:sp>
      <p:sp>
        <p:nvSpPr>
          <p:cNvPr id="19" name="TextBox 18"/>
          <p:cNvSpPr txBox="1"/>
          <p:nvPr/>
        </p:nvSpPr>
        <p:spPr>
          <a:xfrm>
            <a:off x="9235440" y="2651760"/>
            <a:ext cx="2377440" cy="2560320"/>
          </a:xfrm>
          <a:prstGeom prst="rect">
            <a:avLst/>
          </a:prstGeom>
          <a:noFill/>
        </p:spPr>
        <p:txBody>
          <a:bodyPr wrap="square">
            <a:spAutoFit/>
          </a:bodyPr>
          <a:lstStyle/>
          <a:p>
            <a:pPr algn="ctr">
              <a:defRPr sz="1200">
                <a:solidFill>
                  <a:srgbClr val="D1D5DB"/>
                </a:solidFill>
              </a:defRPr>
            </a:pPr>
            <a:r>
              <a:t>Delegate outcomes,</a:t>
            </a:r>
            <a:br/>
            <a:r>
              <a:t>not tasks. Step away.</a:t>
            </a:r>
            <a:br/>
            <a:r>
              <a:t>Come back to finished work.</a:t>
            </a:r>
            <a:br/>
            <a:br/>
            <a:r>
              <a:t>Batch multiple tasks</a:t>
            </a:r>
            <a:br/>
            <a:r>
              <a:t>in a single session</a:t>
            </a:r>
          </a:p>
        </p:txBody>
      </p:sp>
      <p:sp>
        <p:nvSpPr>
          <p:cNvPr id="20" name="TextBox 19"/>
          <p:cNvSpPr txBox="1"/>
          <p:nvPr/>
        </p:nvSpPr>
        <p:spPr>
          <a:xfrm>
            <a:off x="457200" y="5669280"/>
            <a:ext cx="11247120" cy="457200"/>
          </a:xfrm>
          <a:prstGeom prst="rect">
            <a:avLst/>
          </a:prstGeom>
          <a:noFill/>
        </p:spPr>
        <p:txBody>
          <a:bodyPr wrap="none">
            <a:spAutoFit/>
          </a:bodyPr>
          <a:lstStyle/>
          <a:p>
            <a:pPr algn="ctr">
              <a:defRPr sz="1400" i="1">
                <a:solidFill>
                  <a:srgbClr val="14B8A6"/>
                </a:solidFill>
              </a:defRPr>
            </a:pPr>
            <a:r>
              <a:t>macOS Desktop app • Claude Pro ($20/mo) • Research Preview • Grant access to one folder at a 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The "Done" Framework</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Before you delegate anything to AI, answer three questions</a:t>
            </a:r>
          </a:p>
        </p:txBody>
      </p:sp>
      <p:sp>
        <p:nvSpPr>
          <p:cNvPr id="4" name="Oval 3"/>
          <p:cNvSpPr/>
          <p:nvPr/>
        </p:nvSpPr>
        <p:spPr>
          <a:xfrm>
            <a:off x="457200" y="164592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defRPr>
            </a:pPr>
            <a:r>
              <a:t>1</a:t>
            </a:r>
          </a:p>
        </p:txBody>
      </p:sp>
      <p:sp>
        <p:nvSpPr>
          <p:cNvPr id="5" name="TextBox 4"/>
          <p:cNvSpPr txBox="1"/>
          <p:nvPr/>
        </p:nvSpPr>
        <p:spPr>
          <a:xfrm>
            <a:off x="1188720" y="1554480"/>
            <a:ext cx="3657600" cy="365760"/>
          </a:xfrm>
          <a:prstGeom prst="rect">
            <a:avLst/>
          </a:prstGeom>
          <a:noFill/>
        </p:spPr>
        <p:txBody>
          <a:bodyPr wrap="none">
            <a:spAutoFit/>
          </a:bodyPr>
          <a:lstStyle/>
          <a:p>
            <a:pPr>
              <a:defRPr sz="1800" b="1">
                <a:solidFill>
                  <a:srgbClr val="FFFFFF"/>
                </a:solidFill>
              </a:defRPr>
            </a:pPr>
            <a:r>
              <a:t>What does "done" look like?</a:t>
            </a:r>
          </a:p>
        </p:txBody>
      </p:sp>
      <p:sp>
        <p:nvSpPr>
          <p:cNvPr id="6" name="TextBox 5"/>
          <p:cNvSpPr txBox="1"/>
          <p:nvPr/>
        </p:nvSpPr>
        <p:spPr>
          <a:xfrm>
            <a:off x="1188720" y="1965960"/>
            <a:ext cx="4572000" cy="365760"/>
          </a:xfrm>
          <a:prstGeom prst="rect">
            <a:avLst/>
          </a:prstGeom>
          <a:noFill/>
        </p:spPr>
        <p:txBody>
          <a:bodyPr wrap="none">
            <a:spAutoFit/>
          </a:bodyPr>
          <a:lstStyle/>
          <a:p>
            <a:pPr>
              <a:defRPr sz="1300">
                <a:solidFill>
                  <a:srgbClr val="9CA3AF"/>
                </a:solidFill>
              </a:defRPr>
            </a:pPr>
            <a:r>
              <a:t>❌  "Create an expense report"</a:t>
            </a:r>
          </a:p>
        </p:txBody>
      </p:sp>
      <p:sp>
        <p:nvSpPr>
          <p:cNvPr id="7" name="TextBox 6"/>
          <p:cNvSpPr txBox="1"/>
          <p:nvPr/>
        </p:nvSpPr>
        <p:spPr>
          <a:xfrm>
            <a:off x="6217920" y="1554480"/>
            <a:ext cx="5486400" cy="1188720"/>
          </a:xfrm>
          <a:prstGeom prst="rect">
            <a:avLst/>
          </a:prstGeom>
          <a:noFill/>
        </p:spPr>
        <p:txBody>
          <a:bodyPr wrap="square">
            <a:spAutoFit/>
          </a:bodyPr>
          <a:lstStyle/>
          <a:p>
            <a:pPr>
              <a:defRPr sz="1300">
                <a:solidFill>
                  <a:srgbClr val="D1D5DB"/>
                </a:solidFill>
              </a:defRPr>
            </a:pPr>
            <a:r>
              <a:t>✅  "Excel with columns for date, vendor,</a:t>
            </a:r>
            <a:br/>
            <a:r>
              <a:t>     amount, category — sorted by date,</a:t>
            </a:r>
            <a:br/>
            <a:r>
              <a:t>     sum total at bottom"</a:t>
            </a:r>
          </a:p>
        </p:txBody>
      </p:sp>
      <p:sp>
        <p:nvSpPr>
          <p:cNvPr id="8" name="Oval 7"/>
          <p:cNvSpPr/>
          <p:nvPr/>
        </p:nvSpPr>
        <p:spPr>
          <a:xfrm>
            <a:off x="457200" y="31089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defRPr>
            </a:pPr>
            <a:r>
              <a:t>2</a:t>
            </a:r>
          </a:p>
        </p:txBody>
      </p:sp>
      <p:sp>
        <p:nvSpPr>
          <p:cNvPr id="9" name="TextBox 8"/>
          <p:cNvSpPr txBox="1"/>
          <p:nvPr/>
        </p:nvSpPr>
        <p:spPr>
          <a:xfrm>
            <a:off x="1188720" y="3017520"/>
            <a:ext cx="3657600" cy="365760"/>
          </a:xfrm>
          <a:prstGeom prst="rect">
            <a:avLst/>
          </a:prstGeom>
          <a:noFill/>
        </p:spPr>
        <p:txBody>
          <a:bodyPr wrap="none">
            <a:spAutoFit/>
          </a:bodyPr>
          <a:lstStyle/>
          <a:p>
            <a:pPr>
              <a:defRPr sz="1800" b="1">
                <a:solidFill>
                  <a:srgbClr val="FFFFFF"/>
                </a:solidFill>
              </a:defRPr>
            </a:pPr>
            <a:r>
              <a:t>What context does Claude need?</a:t>
            </a:r>
          </a:p>
        </p:txBody>
      </p:sp>
      <p:sp>
        <p:nvSpPr>
          <p:cNvPr id="10" name="TextBox 9"/>
          <p:cNvSpPr txBox="1"/>
          <p:nvPr/>
        </p:nvSpPr>
        <p:spPr>
          <a:xfrm>
            <a:off x="1188720" y="3429000"/>
            <a:ext cx="4572000" cy="365760"/>
          </a:xfrm>
          <a:prstGeom prst="rect">
            <a:avLst/>
          </a:prstGeom>
          <a:noFill/>
        </p:spPr>
        <p:txBody>
          <a:bodyPr wrap="none">
            <a:spAutoFit/>
          </a:bodyPr>
          <a:lstStyle/>
          <a:p>
            <a:pPr>
              <a:defRPr sz="1300">
                <a:solidFill>
                  <a:srgbClr val="9CA3AF"/>
                </a:solidFill>
              </a:defRPr>
            </a:pPr>
            <a:r>
              <a:t>❌  (Assumes Claude knows your preferences)</a:t>
            </a:r>
          </a:p>
        </p:txBody>
      </p:sp>
      <p:sp>
        <p:nvSpPr>
          <p:cNvPr id="11" name="TextBox 10"/>
          <p:cNvSpPr txBox="1"/>
          <p:nvPr/>
        </p:nvSpPr>
        <p:spPr>
          <a:xfrm>
            <a:off x="6217920" y="3017520"/>
            <a:ext cx="5486400" cy="1188720"/>
          </a:xfrm>
          <a:prstGeom prst="rect">
            <a:avLst/>
          </a:prstGeom>
          <a:noFill/>
        </p:spPr>
        <p:txBody>
          <a:bodyPr wrap="square">
            <a:spAutoFit/>
          </a:bodyPr>
          <a:lstStyle/>
          <a:p>
            <a:pPr>
              <a:defRPr sz="1300">
                <a:solidFill>
                  <a:srgbClr val="D1D5DB"/>
                </a:solidFill>
              </a:defRPr>
            </a:pPr>
            <a:r>
              <a:t>✅  "Use our company template.</a:t>
            </a:r>
            <a:br/>
            <a:r>
              <a:t>     Categories: Travel, Meals, Software,</a:t>
            </a:r>
            <a:br/>
            <a:r>
              <a:t>     Office. Flag anything over $500."</a:t>
            </a:r>
          </a:p>
        </p:txBody>
      </p:sp>
      <p:sp>
        <p:nvSpPr>
          <p:cNvPr id="12" name="Oval 11"/>
          <p:cNvSpPr/>
          <p:nvPr/>
        </p:nvSpPr>
        <p:spPr>
          <a:xfrm>
            <a:off x="457200" y="457200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defRPr>
            </a:pPr>
            <a:r>
              <a:t>3</a:t>
            </a:r>
          </a:p>
        </p:txBody>
      </p:sp>
      <p:sp>
        <p:nvSpPr>
          <p:cNvPr id="13" name="TextBox 12"/>
          <p:cNvSpPr txBox="1"/>
          <p:nvPr/>
        </p:nvSpPr>
        <p:spPr>
          <a:xfrm>
            <a:off x="1188720" y="4480560"/>
            <a:ext cx="3657600" cy="365760"/>
          </a:xfrm>
          <a:prstGeom prst="rect">
            <a:avLst/>
          </a:prstGeom>
          <a:noFill/>
        </p:spPr>
        <p:txBody>
          <a:bodyPr wrap="none">
            <a:spAutoFit/>
          </a:bodyPr>
          <a:lstStyle/>
          <a:p>
            <a:pPr>
              <a:defRPr sz="1800" b="1">
                <a:solidFill>
                  <a:srgbClr val="FFFFFF"/>
                </a:solidFill>
              </a:defRPr>
            </a:pPr>
            <a:r>
              <a:t>What constraints matter?</a:t>
            </a:r>
          </a:p>
        </p:txBody>
      </p:sp>
      <p:sp>
        <p:nvSpPr>
          <p:cNvPr id="14" name="TextBox 13"/>
          <p:cNvSpPr txBox="1"/>
          <p:nvPr/>
        </p:nvSpPr>
        <p:spPr>
          <a:xfrm>
            <a:off x="1188720" y="4892040"/>
            <a:ext cx="4572000" cy="365760"/>
          </a:xfrm>
          <a:prstGeom prst="rect">
            <a:avLst/>
          </a:prstGeom>
          <a:noFill/>
        </p:spPr>
        <p:txBody>
          <a:bodyPr wrap="none">
            <a:spAutoFit/>
          </a:bodyPr>
          <a:lstStyle/>
          <a:p>
            <a:pPr>
              <a:defRPr sz="1300">
                <a:solidFill>
                  <a:srgbClr val="9CA3AF"/>
                </a:solidFill>
              </a:defRPr>
            </a:pPr>
            <a:r>
              <a:t>❌  (No boundaries stated)</a:t>
            </a:r>
          </a:p>
        </p:txBody>
      </p:sp>
      <p:sp>
        <p:nvSpPr>
          <p:cNvPr id="15" name="TextBox 14"/>
          <p:cNvSpPr txBox="1"/>
          <p:nvPr/>
        </p:nvSpPr>
        <p:spPr>
          <a:xfrm>
            <a:off x="6217920" y="4480560"/>
            <a:ext cx="5486400" cy="1188720"/>
          </a:xfrm>
          <a:prstGeom prst="rect">
            <a:avLst/>
          </a:prstGeom>
          <a:noFill/>
        </p:spPr>
        <p:txBody>
          <a:bodyPr wrap="square">
            <a:spAutoFit/>
          </a:bodyPr>
          <a:lstStyle/>
          <a:p>
            <a:pPr>
              <a:defRPr sz="1300">
                <a:solidFill>
                  <a:srgbClr val="D1D5DB"/>
                </a:solidFill>
              </a:defRPr>
            </a:pPr>
            <a:r>
              <a:t>✅  "Don't delete any files, just move them.</a:t>
            </a:r>
            <a:br/>
            <a:r>
              <a:t>     Keep original filenames with date prefix.</a:t>
            </a:r>
            <a:br/>
            <a:r>
              <a:t>     Only process files from the last 90 days."</a:t>
            </a:r>
          </a:p>
        </p:txBody>
      </p:sp>
      <p:sp>
        <p:nvSpPr>
          <p:cNvPr id="16" name="TextBox 15"/>
          <p:cNvSpPr txBox="1"/>
          <p:nvPr/>
        </p:nvSpPr>
        <p:spPr>
          <a:xfrm>
            <a:off x="457200" y="5852160"/>
            <a:ext cx="11247120" cy="365760"/>
          </a:xfrm>
          <a:prstGeom prst="rect">
            <a:avLst/>
          </a:prstGeom>
          <a:noFill/>
        </p:spPr>
        <p:txBody>
          <a:bodyPr wrap="none">
            <a:spAutoFit/>
          </a:bodyPr>
          <a:lstStyle/>
          <a:p>
            <a:pPr algn="ctr">
              <a:defRPr sz="1500" i="1">
                <a:solidFill>
                  <a:srgbClr val="14B8A6"/>
                </a:solidFill>
              </a:defRPr>
            </a:pPr>
            <a:r>
              <a:t>Golden rule: Always say "don't delete anything" unless you specifically want deletions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The AI Employee Mindset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Stop chatting. Start delegating.</a:t>
            </a:r>
          </a:p>
        </p:txBody>
      </p:sp>
      <p:sp>
        <p:nvSpPr>
          <p:cNvPr id="4" name="Rounded Rectangle 3"/>
          <p:cNvSpPr/>
          <p:nvPr/>
        </p:nvSpPr>
        <p:spPr>
          <a:xfrm>
            <a:off x="457200" y="1645920"/>
            <a:ext cx="5303520" cy="4114800"/>
          </a:xfrm>
          <a:prstGeom prst="roundRect">
            <a:avLst/>
          </a:prstGeom>
          <a:solidFill>
            <a:srgbClr val="141A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4754880" cy="457200"/>
          </a:xfrm>
          <a:prstGeom prst="rect">
            <a:avLst/>
          </a:prstGeom>
          <a:noFill/>
        </p:spPr>
        <p:txBody>
          <a:bodyPr wrap="none">
            <a:spAutoFit/>
          </a:bodyPr>
          <a:lstStyle/>
          <a:p>
            <a:pPr>
              <a:defRPr sz="2000" b="1">
                <a:solidFill>
                  <a:srgbClr val="EF4444"/>
                </a:solidFill>
              </a:defRPr>
            </a:pPr>
            <a:r>
              <a:t>❌ Chatbot Thinking</a:t>
            </a:r>
          </a:p>
        </p:txBody>
      </p:sp>
      <p:sp>
        <p:nvSpPr>
          <p:cNvPr id="6" name="TextBox 5"/>
          <p:cNvSpPr txBox="1"/>
          <p:nvPr/>
        </p:nvSpPr>
        <p:spPr>
          <a:xfrm>
            <a:off x="731520" y="2468880"/>
            <a:ext cx="4754880" cy="457200"/>
          </a:xfrm>
          <a:prstGeom prst="rect">
            <a:avLst/>
          </a:prstGeom>
          <a:noFill/>
        </p:spPr>
        <p:txBody>
          <a:bodyPr wrap="none">
            <a:spAutoFit/>
          </a:bodyPr>
          <a:lstStyle/>
          <a:p>
            <a:pPr>
              <a:defRPr sz="1500">
                <a:solidFill>
                  <a:srgbClr val="9CA3AF"/>
                </a:solidFill>
              </a:defRPr>
            </a:pPr>
            <a:r>
              <a:t>Give task → Wait → Get result</a:t>
            </a:r>
          </a:p>
        </p:txBody>
      </p:sp>
      <p:sp>
        <p:nvSpPr>
          <p:cNvPr id="7" name="TextBox 6"/>
          <p:cNvSpPr txBox="1"/>
          <p:nvPr/>
        </p:nvSpPr>
        <p:spPr>
          <a:xfrm>
            <a:off x="731520" y="2926080"/>
            <a:ext cx="4754880" cy="457200"/>
          </a:xfrm>
          <a:prstGeom prst="rect">
            <a:avLst/>
          </a:prstGeom>
          <a:noFill/>
        </p:spPr>
        <p:txBody>
          <a:bodyPr wrap="none">
            <a:spAutoFit/>
          </a:bodyPr>
          <a:lstStyle/>
          <a:p>
            <a:pPr>
              <a:defRPr sz="1500">
                <a:solidFill>
                  <a:srgbClr val="9CA3AF"/>
                </a:solidFill>
              </a:defRPr>
            </a:pPr>
            <a:r>
              <a:t>Give next task → Wait → Get result</a:t>
            </a:r>
          </a:p>
        </p:txBody>
      </p:sp>
      <p:sp>
        <p:nvSpPr>
          <p:cNvPr id="8" name="TextBox 7"/>
          <p:cNvSpPr txBox="1"/>
          <p:nvPr/>
        </p:nvSpPr>
        <p:spPr>
          <a:xfrm>
            <a:off x="731520" y="3383280"/>
            <a:ext cx="4754880" cy="457200"/>
          </a:xfrm>
          <a:prstGeom prst="rect">
            <a:avLst/>
          </a:prstGeom>
          <a:noFill/>
        </p:spPr>
        <p:txBody>
          <a:bodyPr wrap="none">
            <a:spAutoFit/>
          </a:bodyPr>
          <a:lstStyle/>
          <a:p>
            <a:pPr>
              <a:defRPr sz="1500">
                <a:solidFill>
                  <a:srgbClr val="9CA3AF"/>
                </a:solidFill>
              </a:defRPr>
            </a:pPr>
            <a:r>
              <a:t>Give next task → Wait → Get result</a:t>
            </a:r>
          </a:p>
        </p:txBody>
      </p:sp>
      <p:sp>
        <p:nvSpPr>
          <p:cNvPr id="9" name="TextBox 8"/>
          <p:cNvSpPr txBox="1"/>
          <p:nvPr/>
        </p:nvSpPr>
        <p:spPr>
          <a:xfrm>
            <a:off x="731520" y="3840480"/>
            <a:ext cx="4754880" cy="457200"/>
          </a:xfrm>
          <a:prstGeom prst="rect">
            <a:avLst/>
          </a:prstGeom>
          <a:noFill/>
        </p:spPr>
        <p:txBody>
          <a:bodyPr wrap="none">
            <a:spAutoFit/>
          </a:bodyPr>
          <a:lstStyle/>
          <a:p>
            <a:pPr>
              <a:defRPr sz="1500">
                <a:solidFill>
                  <a:srgbClr val="9CA3AF"/>
                </a:solidFill>
              </a:defRPr>
            </a:pPr>
          </a:p>
        </p:txBody>
      </p:sp>
      <p:sp>
        <p:nvSpPr>
          <p:cNvPr id="10" name="TextBox 9"/>
          <p:cNvSpPr txBox="1"/>
          <p:nvPr/>
        </p:nvSpPr>
        <p:spPr>
          <a:xfrm>
            <a:off x="731520" y="4297680"/>
            <a:ext cx="4754880" cy="457200"/>
          </a:xfrm>
          <a:prstGeom prst="rect">
            <a:avLst/>
          </a:prstGeom>
          <a:noFill/>
        </p:spPr>
        <p:txBody>
          <a:bodyPr wrap="none">
            <a:spAutoFit/>
          </a:bodyPr>
          <a:lstStyle/>
          <a:p>
            <a:pPr>
              <a:defRPr sz="1500">
                <a:solidFill>
                  <a:srgbClr val="EF4444"/>
                </a:solidFill>
              </a:defRPr>
            </a:pPr>
            <a:r>
              <a:t>3 sessions. 3 waits. Fragmented context.</a:t>
            </a:r>
          </a:p>
        </p:txBody>
      </p:sp>
      <p:sp>
        <p:nvSpPr>
          <p:cNvPr id="11" name="Rounded Rectangle 10"/>
          <p:cNvSpPr/>
          <p:nvPr/>
        </p:nvSpPr>
        <p:spPr>
          <a:xfrm>
            <a:off x="6217920" y="164592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828800"/>
            <a:ext cx="4754880" cy="457200"/>
          </a:xfrm>
          <a:prstGeom prst="rect">
            <a:avLst/>
          </a:prstGeom>
          <a:noFill/>
        </p:spPr>
        <p:txBody>
          <a:bodyPr wrap="none">
            <a:spAutoFit/>
          </a:bodyPr>
          <a:lstStyle/>
          <a:p>
            <a:pPr>
              <a:defRPr sz="2000" b="1">
                <a:solidFill>
                  <a:srgbClr val="14B8A6"/>
                </a:solidFill>
              </a:defRPr>
            </a:pPr>
            <a:r>
              <a:t>✅ AI Employee Thinking</a:t>
            </a:r>
          </a:p>
        </p:txBody>
      </p:sp>
      <p:sp>
        <p:nvSpPr>
          <p:cNvPr id="13" name="TextBox 12"/>
          <p:cNvSpPr txBox="1"/>
          <p:nvPr/>
        </p:nvSpPr>
        <p:spPr>
          <a:xfrm>
            <a:off x="6492240" y="2468880"/>
            <a:ext cx="4754880" cy="457200"/>
          </a:xfrm>
          <a:prstGeom prst="rect">
            <a:avLst/>
          </a:prstGeom>
          <a:noFill/>
        </p:spPr>
        <p:txBody>
          <a:bodyPr wrap="none">
            <a:spAutoFit/>
          </a:bodyPr>
          <a:lstStyle/>
          <a:p>
            <a:pPr>
              <a:defRPr sz="1500">
                <a:solidFill>
                  <a:srgbClr val="D1D5DB"/>
                </a:solidFill>
              </a:defRPr>
            </a:pPr>
            <a:r>
              <a:t>Brain dump ALL tasks in one prompt</a:t>
            </a:r>
          </a:p>
        </p:txBody>
      </p:sp>
      <p:sp>
        <p:nvSpPr>
          <p:cNvPr id="14" name="TextBox 13"/>
          <p:cNvSpPr txBox="1"/>
          <p:nvPr/>
        </p:nvSpPr>
        <p:spPr>
          <a:xfrm>
            <a:off x="6492240" y="2926080"/>
            <a:ext cx="4754880" cy="457200"/>
          </a:xfrm>
          <a:prstGeom prst="rect">
            <a:avLst/>
          </a:prstGeom>
          <a:noFill/>
        </p:spPr>
        <p:txBody>
          <a:bodyPr wrap="none">
            <a:spAutoFit/>
          </a:bodyPr>
          <a:lstStyle/>
          <a:p>
            <a:pPr>
              <a:defRPr sz="1500">
                <a:solidFill>
                  <a:srgbClr val="D1D5DB"/>
                </a:solidFill>
              </a:defRPr>
            </a:pPr>
            <a:r>
              <a:t>Hand off → Go do your real work</a:t>
            </a:r>
          </a:p>
        </p:txBody>
      </p:sp>
      <p:sp>
        <p:nvSpPr>
          <p:cNvPr id="15" name="TextBox 14"/>
          <p:cNvSpPr txBox="1"/>
          <p:nvPr/>
        </p:nvSpPr>
        <p:spPr>
          <a:xfrm>
            <a:off x="6492240" y="3383280"/>
            <a:ext cx="4754880" cy="457200"/>
          </a:xfrm>
          <a:prstGeom prst="rect">
            <a:avLst/>
          </a:prstGeom>
          <a:noFill/>
        </p:spPr>
        <p:txBody>
          <a:bodyPr wrap="none">
            <a:spAutoFit/>
          </a:bodyPr>
          <a:lstStyle/>
          <a:p>
            <a:pPr>
              <a:defRPr sz="1500">
                <a:solidFill>
                  <a:srgbClr val="D1D5DB"/>
                </a:solidFill>
              </a:defRPr>
            </a:pPr>
            <a:r>
              <a:t>Come back to finished results</a:t>
            </a:r>
          </a:p>
        </p:txBody>
      </p:sp>
      <p:sp>
        <p:nvSpPr>
          <p:cNvPr id="16" name="TextBox 15"/>
          <p:cNvSpPr txBox="1"/>
          <p:nvPr/>
        </p:nvSpPr>
        <p:spPr>
          <a:xfrm>
            <a:off x="6492240" y="3840480"/>
            <a:ext cx="4754880" cy="457200"/>
          </a:xfrm>
          <a:prstGeom prst="rect">
            <a:avLst/>
          </a:prstGeom>
          <a:noFill/>
        </p:spPr>
        <p:txBody>
          <a:bodyPr wrap="none">
            <a:spAutoFit/>
          </a:bodyPr>
          <a:lstStyle/>
          <a:p>
            <a:pPr>
              <a:defRPr sz="1500">
                <a:solidFill>
                  <a:srgbClr val="D1D5DB"/>
                </a:solidFill>
              </a:defRPr>
            </a:pPr>
            <a:r>
              <a:t>Review → Give feedback → Iterate</a:t>
            </a:r>
          </a:p>
        </p:txBody>
      </p:sp>
      <p:sp>
        <p:nvSpPr>
          <p:cNvPr id="17" name="TextBox 16"/>
          <p:cNvSpPr txBox="1"/>
          <p:nvPr/>
        </p:nvSpPr>
        <p:spPr>
          <a:xfrm>
            <a:off x="6492240" y="4297680"/>
            <a:ext cx="4754880" cy="457200"/>
          </a:xfrm>
          <a:prstGeom prst="rect">
            <a:avLst/>
          </a:prstGeom>
          <a:noFill/>
        </p:spPr>
        <p:txBody>
          <a:bodyPr wrap="none">
            <a:spAutoFit/>
          </a:bodyPr>
          <a:lstStyle/>
          <a:p>
            <a:pPr>
              <a:defRPr sz="1500">
                <a:solidFill>
                  <a:srgbClr val="14B8A6"/>
                </a:solidFill>
              </a:defRPr>
            </a:pPr>
            <a:r>
              <a:t>1 session. Batched. Full context.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3200" b="1">
                <a:solidFill>
                  <a:srgbClr val="FFFFFF"/>
                </a:solidFill>
              </a:rPr>
              <a:t>Cowork Plugins: Your AI Department</a:t>
            </a:r>
          </a:p>
        </p:txBody>
      </p:sp>
      <p:sp>
        <p:nvSpPr>
          <p:cNvPr id="3" name="TextBox 2"/>
          <p:cNvSpPr txBox="1"/>
          <p:nvPr/>
        </p:nvSpPr>
        <p:spPr>
          <a:xfrm>
            <a:off x="457200" y="1005840"/>
            <a:ext cx="11247120" cy="457200"/>
          </a:xfrm>
          <a:prstGeom prst="rect">
            <a:avLst/>
          </a:prstGeom>
          <a:noFill/>
        </p:spPr>
        <p:txBody>
          <a:bodyPr wrap="square">
            <a:spAutoFit/>
          </a:bodyPr>
          <a:lstStyle/>
          <a:p>
            <a:pPr algn="l"/>
            <a:r>
              <a:rPr sz="1600" b="0">
                <a:solidFill>
                  <a:srgbClr val="B0B8C8"/>
                </a:solidFill>
              </a:rPr>
              <a:t>21 pre-built plugins — install in seconds, customize for your role</a:t>
            </a:r>
          </a:p>
        </p:txBody>
      </p:sp>
      <p:sp>
        <p:nvSpPr>
          <p:cNvPr id="4" name="Rounded Rectangle 3"/>
          <p:cNvSpPr/>
          <p:nvPr/>
        </p:nvSpPr>
        <p:spPr>
          <a:xfrm>
            <a:off x="274320" y="1737360"/>
            <a:ext cx="3520000" cy="4114800"/>
          </a:xfrm>
          <a:prstGeom prst="roundRect">
            <a:avLst/>
          </a:prstGeom>
          <a:solidFill>
            <a:srgbClr val="141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74520"/>
            <a:ext cx="3154240" cy="457200"/>
          </a:xfrm>
          <a:prstGeom prst="rect">
            <a:avLst/>
          </a:prstGeom>
          <a:noFill/>
        </p:spPr>
        <p:txBody>
          <a:bodyPr wrap="square">
            <a:spAutoFit/>
          </a:bodyPr>
          <a:lstStyle/>
          <a:p>
            <a:pPr algn="l"/>
            <a:r>
              <a:rPr sz="1600" b="1">
                <a:solidFill>
                  <a:srgbClr val="00D4AA"/>
                </a:solidFill>
              </a:rPr>
              <a:t>⭐ S-Tier: Install Today</a:t>
            </a:r>
          </a:p>
        </p:txBody>
      </p:sp>
      <p:sp>
        <p:nvSpPr>
          <p:cNvPr id="6" name="TextBox 5"/>
          <p:cNvSpPr txBox="1"/>
          <p:nvPr/>
        </p:nvSpPr>
        <p:spPr>
          <a:xfrm>
            <a:off x="457200" y="2286000"/>
            <a:ext cx="3154240" cy="3429000"/>
          </a:xfrm>
          <a:prstGeom prst="rect">
            <a:avLst/>
          </a:prstGeom>
          <a:noFill/>
        </p:spPr>
        <p:txBody>
          <a:bodyPr wrap="square">
            <a:spAutoFit/>
          </a:bodyPr>
          <a:lstStyle/>
          <a:p>
            <a:pPr algn="l"/>
            <a:r>
              <a:rPr sz="1100" b="0">
                <a:solidFill>
                  <a:srgbClr val="B0B8C8"/>
                </a:solidFill>
              </a:rPr>
              <a:t>Data Analysis
• Drop a CSV → full analysis in minutes
• Finds patterns your team missed
• Connects to Snowflake, BigQuery
Productivity
• AI chief of staff for your day
• Tasks, calendar, priorities
• Connects to Slack, Notion, Jira</a:t>
            </a:r>
          </a:p>
        </p:txBody>
      </p:sp>
      <p:sp>
        <p:nvSpPr>
          <p:cNvPr id="7" name="Rounded Rectangle 6"/>
          <p:cNvSpPr/>
          <p:nvPr/>
        </p:nvSpPr>
        <p:spPr>
          <a:xfrm>
            <a:off x="3994320" y="1737360"/>
            <a:ext cx="3520000" cy="4114800"/>
          </a:xfrm>
          <a:prstGeom prst="roundRect">
            <a:avLst/>
          </a:prstGeom>
          <a:solidFill>
            <a:srgbClr val="141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77200" y="1874520"/>
            <a:ext cx="3154240" cy="457200"/>
          </a:xfrm>
          <a:prstGeom prst="rect">
            <a:avLst/>
          </a:prstGeom>
          <a:noFill/>
        </p:spPr>
        <p:txBody>
          <a:bodyPr wrap="square">
            <a:spAutoFit/>
          </a:bodyPr>
          <a:lstStyle/>
          <a:p>
            <a:pPr algn="l"/>
            <a:r>
              <a:rPr sz="1600" b="1">
                <a:solidFill>
                  <a:srgbClr val="00D4AA"/>
                </a:solidFill>
              </a:rPr>
              <a:t>🏆 A-Tier: For Your Role</a:t>
            </a:r>
          </a:p>
        </p:txBody>
      </p:sp>
      <p:sp>
        <p:nvSpPr>
          <p:cNvPr id="9" name="TextBox 8"/>
          <p:cNvSpPr txBox="1"/>
          <p:nvPr/>
        </p:nvSpPr>
        <p:spPr>
          <a:xfrm>
            <a:off x="4177200" y="2286000"/>
            <a:ext cx="3154240" cy="3429000"/>
          </a:xfrm>
          <a:prstGeom prst="rect">
            <a:avLst/>
          </a:prstGeom>
          <a:noFill/>
        </p:spPr>
        <p:txBody>
          <a:bodyPr wrap="square">
            <a:spAutoFit/>
          </a:bodyPr>
          <a:lstStyle/>
          <a:p>
            <a:pPr algn="l"/>
            <a:r>
              <a:rPr sz="1100" b="0">
                <a:solidFill>
                  <a:srgbClr val="B0B8C8"/>
                </a:solidFill>
              </a:rPr>
              <a:t>Sales → /sales:call-prep
• 90-min prep → 10 minutes
• Battlecards with real rebuttals
Legal → Contract review, NDA triage
• The plugin that crashed $285B
Product Mgmt → /write-spec
Marketing → /draft-content
Finance → PwC partnership</a:t>
            </a:r>
          </a:p>
        </p:txBody>
      </p:sp>
      <p:sp>
        <p:nvSpPr>
          <p:cNvPr id="10" name="Rounded Rectangle 9"/>
          <p:cNvSpPr/>
          <p:nvPr/>
        </p:nvSpPr>
        <p:spPr>
          <a:xfrm>
            <a:off x="7714320" y="1737360"/>
            <a:ext cx="3520000" cy="4114800"/>
          </a:xfrm>
          <a:prstGeom prst="roundRect">
            <a:avLst/>
          </a:prstGeom>
          <a:solidFill>
            <a:srgbClr val="141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97200" y="1874520"/>
            <a:ext cx="3154240" cy="457200"/>
          </a:xfrm>
          <a:prstGeom prst="rect">
            <a:avLst/>
          </a:prstGeom>
          <a:noFill/>
        </p:spPr>
        <p:txBody>
          <a:bodyPr wrap="square">
            <a:spAutoFit/>
          </a:bodyPr>
          <a:lstStyle/>
          <a:p>
            <a:pPr algn="l"/>
            <a:r>
              <a:rPr sz="1600" b="1">
                <a:solidFill>
                  <a:srgbClr val="00D4AA"/>
                </a:solidFill>
              </a:rPr>
              <a:t>🔧 B-Tier: Customize First</a:t>
            </a:r>
          </a:p>
        </p:txBody>
      </p:sp>
      <p:sp>
        <p:nvSpPr>
          <p:cNvPr id="12" name="TextBox 11"/>
          <p:cNvSpPr txBox="1"/>
          <p:nvPr/>
        </p:nvSpPr>
        <p:spPr>
          <a:xfrm>
            <a:off x="7897200" y="2286000"/>
            <a:ext cx="3154240" cy="3429000"/>
          </a:xfrm>
          <a:prstGeom prst="rect">
            <a:avLst/>
          </a:prstGeom>
          <a:noFill/>
        </p:spPr>
        <p:txBody>
          <a:bodyPr wrap="square">
            <a:spAutoFit/>
          </a:bodyPr>
          <a:lstStyle/>
          <a:p>
            <a:pPr algn="l"/>
            <a:r>
              <a:rPr sz="1100" b="0">
                <a:solidFill>
                  <a:srgbClr val="B0B8C8"/>
                </a:solidFill>
              </a:rPr>
              <a:t>Customer Support
HR (New Feb 24)
Engineering (New Feb 24)
Operations (New Feb 24)
Design (New Feb 24)
Financial Analysis
Investment Banking
Equity Research
Private Equity
Brand Voice (Tribe AI)</a:t>
            </a:r>
          </a:p>
        </p:txBody>
      </p:sp>
      <p:sp>
        <p:nvSpPr>
          <p:cNvPr id="13" name="TextBox 12"/>
          <p:cNvSpPr txBox="1"/>
          <p:nvPr/>
        </p:nvSpPr>
        <p:spPr>
          <a:xfrm>
            <a:off x="457200" y="5989320"/>
            <a:ext cx="11247120" cy="365760"/>
          </a:xfrm>
          <a:prstGeom prst="rect">
            <a:avLst/>
          </a:prstGeom>
          <a:noFill/>
        </p:spPr>
        <p:txBody>
          <a:bodyPr wrap="square">
            <a:spAutoFit/>
          </a:bodyPr>
          <a:lstStyle/>
          <a:p>
            <a:pPr algn="l"/>
            <a:r>
              <a:rPr sz="1200" b="0">
                <a:solidFill>
                  <a:srgbClr val="B0B8C8"/>
                </a:solidFill>
              </a:rPr>
              <a:t>Plugins = Skills + Slash Commands + MCP Connectors + Sub-agents  •  Just markdown files — anyone can build one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lgn="l"/>
            <a:r>
              <a:rPr sz="3200" b="1">
                <a:solidFill>
                  <a:srgbClr val="FFFFFF"/>
                </a:solidFill>
              </a:rPr>
              <a:t>The Plugin Ecosystem: Why This Changes Everything</a:t>
            </a:r>
          </a:p>
        </p:txBody>
      </p:sp>
      <p:sp>
        <p:nvSpPr>
          <p:cNvPr id="3" name="TextBox 2"/>
          <p:cNvSpPr txBox="1"/>
          <p:nvPr/>
        </p:nvSpPr>
        <p:spPr>
          <a:xfrm>
            <a:off x="457200" y="1005840"/>
            <a:ext cx="11247120" cy="457200"/>
          </a:xfrm>
          <a:prstGeom prst="rect">
            <a:avLst/>
          </a:prstGeom>
          <a:noFill/>
        </p:spPr>
        <p:txBody>
          <a:bodyPr wrap="square">
            <a:spAutoFit/>
          </a:bodyPr>
          <a:lstStyle/>
          <a:p>
            <a:pPr algn="l"/>
            <a:r>
              <a:rPr sz="1600" b="0">
                <a:solidFill>
                  <a:srgbClr val="B0B8C8"/>
                </a:solidFill>
              </a:rPr>
              <a:t>From chatbot to AI operating system for work</a:t>
            </a:r>
          </a:p>
        </p:txBody>
      </p:sp>
      <p:sp>
        <p:nvSpPr>
          <p:cNvPr id="4" name="Rounded Rectangle 3"/>
          <p:cNvSpPr/>
          <p:nvPr/>
        </p:nvSpPr>
        <p:spPr>
          <a:xfrm>
            <a:off x="274320" y="1737360"/>
            <a:ext cx="5394960" cy="3840480"/>
          </a:xfrm>
          <a:prstGeom prst="roundRect">
            <a:avLst/>
          </a:prstGeom>
          <a:solidFill>
            <a:srgbClr val="141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74520"/>
            <a:ext cx="5029200" cy="457200"/>
          </a:xfrm>
          <a:prstGeom prst="rect">
            <a:avLst/>
          </a:prstGeom>
          <a:noFill/>
        </p:spPr>
        <p:txBody>
          <a:bodyPr wrap="square">
            <a:spAutoFit/>
          </a:bodyPr>
          <a:lstStyle/>
          <a:p>
            <a:pPr algn="l"/>
            <a:r>
              <a:rPr sz="1800" b="1">
                <a:solidFill>
                  <a:srgbClr val="00D4AA"/>
                </a:solidFill>
              </a:rPr>
              <a:t>Plugin Architecture</a:t>
            </a:r>
          </a:p>
        </p:txBody>
      </p:sp>
      <p:sp>
        <p:nvSpPr>
          <p:cNvPr id="6" name="TextBox 5"/>
          <p:cNvSpPr txBox="1"/>
          <p:nvPr/>
        </p:nvSpPr>
        <p:spPr>
          <a:xfrm>
            <a:off x="457200" y="2331720"/>
            <a:ext cx="5029200" cy="3063240"/>
          </a:xfrm>
          <a:prstGeom prst="rect">
            <a:avLst/>
          </a:prstGeom>
          <a:noFill/>
        </p:spPr>
        <p:txBody>
          <a:bodyPr wrap="square">
            <a:spAutoFit/>
          </a:bodyPr>
          <a:lstStyle/>
          <a:p>
            <a:pPr algn="l"/>
            <a:r>
              <a:rPr sz="1200" b="0">
                <a:solidFill>
                  <a:srgbClr val="B0B8C8"/>
                </a:solidFill>
              </a:rPr>
              <a:t>Each plugin = four components:
📚 Skills — Domain expertise loaded automatically
      (like CLAUDE.md for a specific job)
⚡ Slash Commands — Structured workflows
      /sales:call-prep  /data:explore  /write-spec
🔗 Connectors — Live integrations via MCP
      Slack, HubSpot, Snowflake, Jira, Notion...
🤖 Sub-agents — Parallel workers
      Claude spins up specialists as needed</a:t>
            </a:r>
          </a:p>
        </p:txBody>
      </p:sp>
      <p:sp>
        <p:nvSpPr>
          <p:cNvPr id="7" name="Rounded Rectangle 6"/>
          <p:cNvSpPr/>
          <p:nvPr/>
        </p:nvSpPr>
        <p:spPr>
          <a:xfrm>
            <a:off x="5852160" y="1737360"/>
            <a:ext cx="5943600" cy="3840480"/>
          </a:xfrm>
          <a:prstGeom prst="roundRect">
            <a:avLst/>
          </a:prstGeom>
          <a:solidFill>
            <a:srgbClr val="141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4800" y="1874520"/>
            <a:ext cx="5578080" cy="457200"/>
          </a:xfrm>
          <a:prstGeom prst="rect">
            <a:avLst/>
          </a:prstGeom>
          <a:noFill/>
        </p:spPr>
        <p:txBody>
          <a:bodyPr wrap="square">
            <a:spAutoFit/>
          </a:bodyPr>
          <a:lstStyle/>
          <a:p>
            <a:pPr algn="l"/>
            <a:r>
              <a:rPr sz="1800" b="1">
                <a:solidFill>
                  <a:srgbClr val="00D4AA"/>
                </a:solidFill>
              </a:rPr>
              <a:t>The Market Signal</a:t>
            </a:r>
          </a:p>
        </p:txBody>
      </p:sp>
      <p:sp>
        <p:nvSpPr>
          <p:cNvPr id="9" name="TextBox 8"/>
          <p:cNvSpPr txBox="1"/>
          <p:nvPr/>
        </p:nvSpPr>
        <p:spPr>
          <a:xfrm>
            <a:off x="6034800" y="2331720"/>
            <a:ext cx="5578080" cy="3063240"/>
          </a:xfrm>
          <a:prstGeom prst="rect">
            <a:avLst/>
          </a:prstGeom>
          <a:noFill/>
        </p:spPr>
        <p:txBody>
          <a:bodyPr wrap="square">
            <a:spAutoFit/>
          </a:bodyPr>
          <a:lstStyle/>
          <a:p>
            <a:pPr algn="l"/>
            <a:r>
              <a:rPr sz="1200" b="0">
                <a:solidFill>
                  <a:srgbClr val="B0B8C8"/>
                </a:solidFill>
              </a:rPr>
              <a:t>$285 Billion in stock value erased
Jan 30 → 11 horizontal plugins launch
Feb 3  → Thomson Reuters -18%, LegalZoom -20%
Feb 24 → 10 vertical plugins added
Wave 1: Every company needs these
   Productivity, Sales, Marketing, Data, Legal, Finance
Wave 2: Your specific industry
   Investment Banking, PE, Equity Research,
   HR, Engineering, Design, Operations
Anthropic's play: AI operating system for work.
Plugins are the app store.</a:t>
            </a:r>
          </a:p>
        </p:txBody>
      </p:sp>
      <p:sp>
        <p:nvSpPr>
          <p:cNvPr id="10" name="TextBox 9"/>
          <p:cNvSpPr txBox="1"/>
          <p:nvPr/>
        </p:nvSpPr>
        <p:spPr>
          <a:xfrm>
            <a:off x="457200" y="5806440"/>
            <a:ext cx="11247120" cy="457200"/>
          </a:xfrm>
          <a:prstGeom prst="rect">
            <a:avLst/>
          </a:prstGeom>
          <a:noFill/>
        </p:spPr>
        <p:txBody>
          <a:bodyPr wrap="square">
            <a:spAutoFit/>
          </a:bodyPr>
          <a:lstStyle/>
          <a:p>
            <a:pPr algn="l"/>
            <a:r>
              <a:rPr sz="1200" b="0">
                <a:solidFill>
                  <a:srgbClr val="00D4AA"/>
                </a:solidFill>
              </a:rPr>
              <a:t>"We expect every knowledge worker will feel about Cowork the way engineers feel about Claude Code" — Kate Jensen, Anthropic</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LAB 4: Build Your Own Skill</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Take your best prompt from today and turn it into a reusable Skill</a:t>
            </a:r>
          </a:p>
        </p:txBody>
      </p:sp>
      <p:sp>
        <p:nvSpPr>
          <p:cNvPr id="4" name="Oval 3"/>
          <p:cNvSpPr/>
          <p:nvPr/>
        </p:nvSpPr>
        <p:spPr>
          <a:xfrm>
            <a:off x="137160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1</a:t>
            </a:r>
          </a:p>
        </p:txBody>
      </p:sp>
      <p:sp>
        <p:nvSpPr>
          <p:cNvPr id="5" name="TextBox 4"/>
          <p:cNvSpPr txBox="1"/>
          <p:nvPr/>
        </p:nvSpPr>
        <p:spPr>
          <a:xfrm>
            <a:off x="274320" y="2468880"/>
            <a:ext cx="2743200" cy="457200"/>
          </a:xfrm>
          <a:prstGeom prst="rect">
            <a:avLst/>
          </a:prstGeom>
          <a:noFill/>
        </p:spPr>
        <p:txBody>
          <a:bodyPr wrap="none">
            <a:spAutoFit/>
          </a:bodyPr>
          <a:lstStyle/>
          <a:p>
            <a:pPr algn="ctr">
              <a:defRPr sz="1800" b="1">
                <a:solidFill>
                  <a:srgbClr val="FFFFFF"/>
                </a:solidFill>
              </a:defRPr>
            </a:pPr>
            <a:r>
              <a:t>Pick Your Prompt</a:t>
            </a:r>
          </a:p>
        </p:txBody>
      </p:sp>
      <p:sp>
        <p:nvSpPr>
          <p:cNvPr id="6" name="TextBox 5"/>
          <p:cNvSpPr txBox="1"/>
          <p:nvPr/>
        </p:nvSpPr>
        <p:spPr>
          <a:xfrm>
            <a:off x="274320" y="3017520"/>
            <a:ext cx="2743200" cy="1828800"/>
          </a:xfrm>
          <a:prstGeom prst="rect">
            <a:avLst/>
          </a:prstGeom>
          <a:noFill/>
        </p:spPr>
        <p:txBody>
          <a:bodyPr wrap="square">
            <a:spAutoFit/>
          </a:bodyPr>
          <a:lstStyle/>
          <a:p>
            <a:pPr algn="ctr">
              <a:defRPr sz="1300">
                <a:solidFill>
                  <a:srgbClr val="D1D5DB"/>
                </a:solidFill>
              </a:defRPr>
            </a:pPr>
            <a:r>
              <a:t>Choose the prompt from today's labs</a:t>
            </a:r>
            <a:br/>
            <a:r>
              <a:t>that was most useful to your work</a:t>
            </a:r>
          </a:p>
        </p:txBody>
      </p:sp>
      <p:sp>
        <p:nvSpPr>
          <p:cNvPr id="7" name="Oval 6"/>
          <p:cNvSpPr/>
          <p:nvPr/>
        </p:nvSpPr>
        <p:spPr>
          <a:xfrm>
            <a:off x="4251959"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2</a:t>
            </a:r>
          </a:p>
        </p:txBody>
      </p:sp>
      <p:sp>
        <p:nvSpPr>
          <p:cNvPr id="8" name="TextBox 7"/>
          <p:cNvSpPr txBox="1"/>
          <p:nvPr/>
        </p:nvSpPr>
        <p:spPr>
          <a:xfrm>
            <a:off x="3154679" y="2468880"/>
            <a:ext cx="2743200" cy="457200"/>
          </a:xfrm>
          <a:prstGeom prst="rect">
            <a:avLst/>
          </a:prstGeom>
          <a:noFill/>
        </p:spPr>
        <p:txBody>
          <a:bodyPr wrap="none">
            <a:spAutoFit/>
          </a:bodyPr>
          <a:lstStyle/>
          <a:p>
            <a:pPr algn="ctr">
              <a:defRPr sz="1800" b="1">
                <a:solidFill>
                  <a:srgbClr val="FFFFFF"/>
                </a:solidFill>
              </a:defRPr>
            </a:pPr>
            <a:r>
              <a:t>Create the Skill</a:t>
            </a:r>
          </a:p>
        </p:txBody>
      </p:sp>
      <p:sp>
        <p:nvSpPr>
          <p:cNvPr id="9" name="TextBox 8"/>
          <p:cNvSpPr txBox="1"/>
          <p:nvPr/>
        </p:nvSpPr>
        <p:spPr>
          <a:xfrm>
            <a:off x="3154679" y="3017520"/>
            <a:ext cx="2743200" cy="1828800"/>
          </a:xfrm>
          <a:prstGeom prst="rect">
            <a:avLst/>
          </a:prstGeom>
          <a:noFill/>
        </p:spPr>
        <p:txBody>
          <a:bodyPr wrap="square">
            <a:spAutoFit/>
          </a:bodyPr>
          <a:lstStyle/>
          <a:p>
            <a:pPr algn="ctr">
              <a:defRPr sz="1300">
                <a:solidFill>
                  <a:srgbClr val="D1D5DB"/>
                </a:solidFill>
              </a:defRPr>
            </a:pPr>
            <a:r>
              <a:t>Settings → Skills → New Skill →</a:t>
            </a:r>
            <a:br/>
            <a:r>
              <a:t>'Create with Claude' — describe what</a:t>
            </a:r>
            <a:br/>
            <a:r>
              <a:t>you want it to do</a:t>
            </a:r>
          </a:p>
        </p:txBody>
      </p:sp>
      <p:sp>
        <p:nvSpPr>
          <p:cNvPr id="10" name="Oval 9"/>
          <p:cNvSpPr/>
          <p:nvPr/>
        </p:nvSpPr>
        <p:spPr>
          <a:xfrm>
            <a:off x="713232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3</a:t>
            </a:r>
          </a:p>
        </p:txBody>
      </p:sp>
      <p:sp>
        <p:nvSpPr>
          <p:cNvPr id="11" name="TextBox 10"/>
          <p:cNvSpPr txBox="1"/>
          <p:nvPr/>
        </p:nvSpPr>
        <p:spPr>
          <a:xfrm>
            <a:off x="6035040" y="2468880"/>
            <a:ext cx="2743200" cy="457200"/>
          </a:xfrm>
          <a:prstGeom prst="rect">
            <a:avLst/>
          </a:prstGeom>
          <a:noFill/>
        </p:spPr>
        <p:txBody>
          <a:bodyPr wrap="none">
            <a:spAutoFit/>
          </a:bodyPr>
          <a:lstStyle/>
          <a:p>
            <a:pPr algn="ctr">
              <a:defRPr sz="1800" b="1">
                <a:solidFill>
                  <a:srgbClr val="FFFFFF"/>
                </a:solidFill>
              </a:defRPr>
            </a:pPr>
            <a:r>
              <a:t>Test It</a:t>
            </a:r>
          </a:p>
        </p:txBody>
      </p:sp>
      <p:sp>
        <p:nvSpPr>
          <p:cNvPr id="12" name="TextBox 11"/>
          <p:cNvSpPr txBox="1"/>
          <p:nvPr/>
        </p:nvSpPr>
        <p:spPr>
          <a:xfrm>
            <a:off x="6035040" y="3017520"/>
            <a:ext cx="2743200" cy="1828800"/>
          </a:xfrm>
          <a:prstGeom prst="rect">
            <a:avLst/>
          </a:prstGeom>
          <a:noFill/>
        </p:spPr>
        <p:txBody>
          <a:bodyPr wrap="square">
            <a:spAutoFit/>
          </a:bodyPr>
          <a:lstStyle/>
          <a:p>
            <a:pPr algn="ctr">
              <a:defRPr sz="1300">
                <a:solidFill>
                  <a:srgbClr val="D1D5DB"/>
                </a:solidFill>
              </a:defRPr>
            </a:pPr>
            <a:r>
              <a:t>Open a new chat, activate your Skill,</a:t>
            </a:r>
            <a:br/>
            <a:r>
              <a:t>and give it fresh input. Does it produce</a:t>
            </a:r>
            <a:br/>
            <a:r>
              <a:t>the same quality output?</a:t>
            </a:r>
          </a:p>
        </p:txBody>
      </p:sp>
      <p:sp>
        <p:nvSpPr>
          <p:cNvPr id="13" name="Oval 12"/>
          <p:cNvSpPr/>
          <p:nvPr/>
        </p:nvSpPr>
        <p:spPr>
          <a:xfrm>
            <a:off x="1001268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4</a:t>
            </a:r>
          </a:p>
        </p:txBody>
      </p:sp>
      <p:sp>
        <p:nvSpPr>
          <p:cNvPr id="14" name="TextBox 13"/>
          <p:cNvSpPr txBox="1"/>
          <p:nvPr/>
        </p:nvSpPr>
        <p:spPr>
          <a:xfrm>
            <a:off x="8915400" y="2468880"/>
            <a:ext cx="2743200" cy="457200"/>
          </a:xfrm>
          <a:prstGeom prst="rect">
            <a:avLst/>
          </a:prstGeom>
          <a:noFill/>
        </p:spPr>
        <p:txBody>
          <a:bodyPr wrap="none">
            <a:spAutoFit/>
          </a:bodyPr>
          <a:lstStyle/>
          <a:p>
            <a:pPr algn="ctr">
              <a:defRPr sz="1800" b="1">
                <a:solidFill>
                  <a:srgbClr val="FFFFFF"/>
                </a:solidFill>
              </a:defRPr>
            </a:pPr>
            <a:r>
              <a:t>Refine</a:t>
            </a:r>
          </a:p>
        </p:txBody>
      </p:sp>
      <p:sp>
        <p:nvSpPr>
          <p:cNvPr id="15" name="TextBox 14"/>
          <p:cNvSpPr txBox="1"/>
          <p:nvPr/>
        </p:nvSpPr>
        <p:spPr>
          <a:xfrm>
            <a:off x="8915400" y="3017520"/>
            <a:ext cx="2743200" cy="1828800"/>
          </a:xfrm>
          <a:prstGeom prst="rect">
            <a:avLst/>
          </a:prstGeom>
          <a:noFill/>
        </p:spPr>
        <p:txBody>
          <a:bodyPr wrap="square">
            <a:spAutoFit/>
          </a:bodyPr>
          <a:lstStyle/>
          <a:p>
            <a:pPr algn="ctr">
              <a:defRPr sz="1300">
                <a:solidFill>
                  <a:srgbClr val="D1D5DB"/>
                </a:solidFill>
              </a:defRPr>
            </a:pPr>
            <a:r>
              <a:t>Edit the instructions if needed.</a:t>
            </a:r>
            <a:br/>
            <a:r>
              <a:t>Add specifics about format, tone,</a:t>
            </a:r>
            <a:br/>
            <a:r>
              <a:t>length, or audience</a:t>
            </a:r>
          </a:p>
        </p:txBody>
      </p:sp>
      <p:sp>
        <p:nvSpPr>
          <p:cNvPr id="16" name="TextBox 15"/>
          <p:cNvSpPr txBox="1"/>
          <p:nvPr/>
        </p:nvSpPr>
        <p:spPr>
          <a:xfrm>
            <a:off x="457200" y="5029200"/>
            <a:ext cx="11247120" cy="365760"/>
          </a:xfrm>
          <a:prstGeom prst="rect">
            <a:avLst/>
          </a:prstGeom>
          <a:noFill/>
        </p:spPr>
        <p:txBody>
          <a:bodyPr wrap="none">
            <a:spAutoFit/>
          </a:bodyPr>
          <a:lstStyle/>
          <a:p>
            <a:pPr algn="ctr">
              <a:defRPr sz="2000" b="1">
                <a:solidFill>
                  <a:srgbClr val="14B8A6"/>
                </a:solidFill>
              </a:defRPr>
            </a:pPr>
            <a:r>
              <a:t>⏱️ 10 minutes</a:t>
            </a:r>
          </a:p>
        </p:txBody>
      </p:sp>
      <p:sp>
        <p:nvSpPr>
          <p:cNvPr id="17" name="TextBox 16"/>
          <p:cNvSpPr txBox="1"/>
          <p:nvPr/>
        </p:nvSpPr>
        <p:spPr>
          <a:xfrm>
            <a:off x="457200" y="5486400"/>
            <a:ext cx="11247120" cy="457200"/>
          </a:xfrm>
          <a:prstGeom prst="rect">
            <a:avLst/>
          </a:prstGeom>
          <a:noFill/>
        </p:spPr>
        <p:txBody>
          <a:bodyPr wrap="none">
            <a:spAutoFit/>
          </a:bodyPr>
          <a:lstStyle/>
          <a:p>
            <a:pPr algn="ctr">
              <a:defRPr sz="1400" i="1">
                <a:solidFill>
                  <a:srgbClr val="9CA3AF"/>
                </a:solidFill>
              </a:defRPr>
            </a:pPr>
            <a:r>
              <a:t>Idea starters: Weekly report formatter  •  Email tone matcher  •  Meeting notes → action items  •  Data analysis template</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5</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47120" cy="1371600"/>
          </a:xfrm>
          <a:prstGeom prst="rect">
            <a:avLst/>
          </a:prstGeom>
          <a:noFill/>
        </p:spPr>
        <p:txBody>
          <a:bodyPr wrap="none">
            <a:spAutoFit/>
          </a:bodyPr>
          <a:lstStyle/>
          <a:p>
            <a:pPr algn="ctr">
              <a:defRPr sz="5600" b="1">
                <a:solidFill>
                  <a:srgbClr val="FFFFFF"/>
                </a:solidFill>
              </a:defRPr>
            </a:pPr>
            <a:r>
              <a:t>Thank You</a:t>
            </a:r>
          </a:p>
        </p:txBody>
      </p:sp>
      <p:sp>
        <p:nvSpPr>
          <p:cNvPr id="3" name="TextBox 2"/>
          <p:cNvSpPr txBox="1"/>
          <p:nvPr/>
        </p:nvSpPr>
        <p:spPr>
          <a:xfrm>
            <a:off x="457200" y="3657600"/>
            <a:ext cx="11247120" cy="457200"/>
          </a:xfrm>
          <a:prstGeom prst="rect">
            <a:avLst/>
          </a:prstGeom>
          <a:noFill/>
        </p:spPr>
        <p:txBody>
          <a:bodyPr wrap="none">
            <a:spAutoFit/>
          </a:bodyPr>
          <a:lstStyle/>
          <a:p>
            <a:pPr algn="ctr">
              <a:defRPr sz="2000">
                <a:solidFill>
                  <a:srgbClr val="14B8A6"/>
                </a:solidFill>
              </a:defRPr>
            </a:pPr>
            <a:r>
              <a:t>scott@aiacopilot.com  •  aiacopilot.com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