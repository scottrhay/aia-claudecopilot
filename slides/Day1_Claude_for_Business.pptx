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1"/>
  </p:notesMasterIdLst>
  <p:sldIdLst>
    <p:sldId id="256" r:id="rId2"/>
    <p:sldId id="257" r:id="rId3"/>
    <p:sldId id="258" r:id="rId4"/>
    <p:sldId id="259" r:id="rId5"/>
    <p:sldId id="260" r:id="rId6"/>
    <p:sldId id="261" r:id="rId7"/>
    <p:sldId id="262" r:id="rId8"/>
    <p:sldId id="263" r:id="rId9"/>
    <p:sldId id="342" r:id="rId94"/>
    <p:sldId id="264" r:id="rId10"/>
    <p:sldId id="338" r:id="rId90"/>
    <p:sldId id="265" r:id="rId11"/>
    <p:sldId id="266" r:id="rId12"/>
    <p:sldId id="267" r:id="rId13"/>
    <p:sldId id="268" r:id="rId14"/>
    <p:sldId id="269" r:id="rId15"/>
    <p:sldId id="270" r:id="rId16"/>
    <p:sldId id="271" r:id="rId17"/>
    <p:sldId id="335" r:id="rId87"/>
    <p:sldId id="336" r:id="rId88"/>
    <p:sldId id="337" r:id="rId89"/>
    <p:sldId id="272" r:id="rId18"/>
    <p:sldId id="273" r:id="rId19"/>
    <p:sldId id="274" r:id="rId20"/>
    <p:sldId id="275" r:id="rId21"/>
    <p:sldId id="276" r:id="rId22"/>
    <p:sldId id="277" r:id="rId23"/>
    <p:sldId id="278" r:id="rId24"/>
    <p:sldId id="279" r:id="rId25"/>
    <p:sldId id="280" r:id="rId26"/>
    <p:sldId id="281" r:id="rId27"/>
    <p:sldId id="282" r:id="rId28"/>
    <p:sldId id="339" r:id="rId91"/>
    <p:sldId id="283" r:id="rId29"/>
    <p:sldId id="284" r:id="rId30"/>
    <p:sldId id="285" r:id="rId31"/>
    <p:sldId id="286" r:id="rId32"/>
    <p:sldId id="287" r:id="rId33"/>
    <p:sldId id="288" r:id="rId34"/>
    <p:sldId id="340" r:id="rId92"/>
    <p:sldId id="289" r:id="rId35"/>
    <p:sldId id="290" r:id="rId36"/>
    <p:sldId id="291" r:id="rId37"/>
    <p:sldId id="292" r:id="rId38"/>
    <p:sldId id="293" r:id="rId39"/>
    <p:sldId id="294" r:id="rId40"/>
    <p:sldId id="341" r:id="rId93"/>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2" d="100"/>
          <a:sy n="82" d="100"/>
        </p:scale>
        <p:origin x="691" y="28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slide" Target="slides/slide23.xml"/><Relationship Id="rId21" Type="http://schemas.openxmlformats.org/officeDocument/2006/relationships/slide" Target="slides/slide24.xml"/><Relationship Id="rId22" Type="http://schemas.openxmlformats.org/officeDocument/2006/relationships/slide" Target="slides/slide25.xml"/><Relationship Id="rId23" Type="http://schemas.openxmlformats.org/officeDocument/2006/relationships/slide" Target="slides/slide26.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3.xml"/><Relationship Id="rId30" Type="http://schemas.openxmlformats.org/officeDocument/2006/relationships/slide" Target="slides/slide34.xml"/><Relationship Id="rId31" Type="http://schemas.openxmlformats.org/officeDocument/2006/relationships/slide" Target="slides/slide35.xml"/><Relationship Id="rId32" Type="http://schemas.openxmlformats.org/officeDocument/2006/relationships/slide" Target="slides/slide36.xml"/><Relationship Id="rId33" Type="http://schemas.openxmlformats.org/officeDocument/2006/relationships/slide" Target="slides/slide37.xml"/><Relationship Id="rId34" Type="http://schemas.openxmlformats.org/officeDocument/2006/relationships/slide" Target="slides/slide38.xml"/><Relationship Id="rId35" Type="http://schemas.openxmlformats.org/officeDocument/2006/relationships/slide" Target="slides/slide40.xml"/><Relationship Id="rId36" Type="http://schemas.openxmlformats.org/officeDocument/2006/relationships/slide" Target="slides/slide41.xml"/><Relationship Id="rId37" Type="http://schemas.openxmlformats.org/officeDocument/2006/relationships/slide" Target="slides/slide42.xml"/><Relationship Id="rId38" Type="http://schemas.openxmlformats.org/officeDocument/2006/relationships/slide" Target="slides/slide43.xml"/><Relationship Id="rId39" Type="http://schemas.openxmlformats.org/officeDocument/2006/relationships/slide" Target="slides/slide44.xml"/><Relationship Id="rId40" Type="http://schemas.openxmlformats.org/officeDocument/2006/relationships/slide" Target="slides/slide45.xml"/><Relationship Id="rId41" Type="http://schemas.openxmlformats.org/officeDocument/2006/relationships/slide" Target="slides/slide47.xml"/><Relationship Id="rId42" Type="http://schemas.openxmlformats.org/officeDocument/2006/relationships/slide" Target="slides/slide48.xml"/><Relationship Id="rId43" Type="http://schemas.openxmlformats.org/officeDocument/2006/relationships/slide" Target="slides/slide49.xml"/><Relationship Id="rId44" Type="http://schemas.openxmlformats.org/officeDocument/2006/relationships/slide" Target="slides/slide50.xml"/><Relationship Id="rId45" Type="http://schemas.openxmlformats.org/officeDocument/2006/relationships/slide" Target="slides/slide51.xml"/><Relationship Id="rId46" Type="http://schemas.openxmlformats.org/officeDocument/2006/relationships/slide" Target="slides/slide52.xml"/><Relationship Id="rId47" Type="http://schemas.openxmlformats.org/officeDocument/2006/relationships/slide" Target="slides/slide53.xml"/><Relationship Id="rId48" Type="http://schemas.openxmlformats.org/officeDocument/2006/relationships/slide" Target="slides/slide54.xml"/><Relationship Id="rId49" Type="http://schemas.openxmlformats.org/officeDocument/2006/relationships/slide" Target="slides/slide55.xml"/><Relationship Id="rId50" Type="http://schemas.openxmlformats.org/officeDocument/2006/relationships/slide" Target="slides/slide56.xml"/><Relationship Id="rId51" Type="http://schemas.openxmlformats.org/officeDocument/2006/relationships/slide" Target="slides/slide57.xml"/><Relationship Id="rId52" Type="http://schemas.openxmlformats.org/officeDocument/2006/relationships/slide" Target="slides/slide58.xml"/><Relationship Id="rId53" Type="http://schemas.openxmlformats.org/officeDocument/2006/relationships/slide" Target="slides/slide59.xml"/><Relationship Id="rId54" Type="http://schemas.openxmlformats.org/officeDocument/2006/relationships/slide" Target="slides/slide60.xml"/><Relationship Id="rId55" Type="http://schemas.openxmlformats.org/officeDocument/2006/relationships/slide" Target="slides/slide61.xml"/><Relationship Id="rId56" Type="http://schemas.openxmlformats.org/officeDocument/2006/relationships/slide" Target="slides/slide62.xml"/><Relationship Id="rId57" Type="http://schemas.openxmlformats.org/officeDocument/2006/relationships/slide" Target="slides/slide63.xml"/><Relationship Id="rId58" Type="http://schemas.openxmlformats.org/officeDocument/2006/relationships/slide" Target="slides/slide64.xml"/><Relationship Id="rId59" Type="http://schemas.openxmlformats.org/officeDocument/2006/relationships/slide" Target="slides/slide65.xml"/><Relationship Id="rId60" Type="http://schemas.openxmlformats.org/officeDocument/2006/relationships/slide" Target="slides/slide66.xml"/><Relationship Id="rId61" Type="http://schemas.openxmlformats.org/officeDocument/2006/relationships/slide" Target="slides/slide67.xml"/><Relationship Id="rId62" Type="http://schemas.openxmlformats.org/officeDocument/2006/relationships/slide" Target="slides/slide68.xml"/><Relationship Id="rId63" Type="http://schemas.openxmlformats.org/officeDocument/2006/relationships/slide" Target="slides/slide69.xml"/><Relationship Id="rId64" Type="http://schemas.openxmlformats.org/officeDocument/2006/relationships/slide" Target="slides/slide70.xml"/><Relationship Id="rId65" Type="http://schemas.openxmlformats.org/officeDocument/2006/relationships/slide" Target="slides/slide71.xml"/><Relationship Id="rId66" Type="http://schemas.openxmlformats.org/officeDocument/2006/relationships/slide" Target="slides/slide72.xml"/><Relationship Id="rId67" Type="http://schemas.openxmlformats.org/officeDocument/2006/relationships/slide" Target="slides/slide73.xml"/><Relationship Id="rId68" Type="http://schemas.openxmlformats.org/officeDocument/2006/relationships/slide" Target="slides/slide74.xml"/><Relationship Id="rId69" Type="http://schemas.openxmlformats.org/officeDocument/2006/relationships/slide" Target="slides/slide75.xml"/><Relationship Id="rId70" Type="http://schemas.openxmlformats.org/officeDocument/2006/relationships/slide" Target="slides/slide76.xml"/><Relationship Id="rId71" Type="http://schemas.openxmlformats.org/officeDocument/2006/relationships/slide" Target="slides/slide77.xml"/><Relationship Id="rId72" Type="http://schemas.openxmlformats.org/officeDocument/2006/relationships/slide" Target="slides/slide78.xml"/><Relationship Id="rId73" Type="http://schemas.openxmlformats.org/officeDocument/2006/relationships/slide" Target="slides/slide79.xml"/><Relationship Id="rId74" Type="http://schemas.openxmlformats.org/officeDocument/2006/relationships/slide" Target="slides/slide80.xml"/><Relationship Id="rId75" Type="http://schemas.openxmlformats.org/officeDocument/2006/relationships/slide" Target="slides/slide81.xml"/><Relationship Id="rId76" Type="http://schemas.openxmlformats.org/officeDocument/2006/relationships/slide" Target="slides/slide82.xml"/><Relationship Id="rId77" Type="http://schemas.openxmlformats.org/officeDocument/2006/relationships/slide" Target="slides/slide83.xml"/><Relationship Id="rId78" Type="http://schemas.openxmlformats.org/officeDocument/2006/relationships/slide" Target="slides/slide84.xml"/><Relationship Id="rId79" Type="http://schemas.openxmlformats.org/officeDocument/2006/relationships/slide" Target="slides/slide85.xml"/><Relationship Id="rId80" Type="http://schemas.openxmlformats.org/officeDocument/2006/relationships/slide" Target="slides/slide86.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 Id="rId86" Type="http://schemas.microsoft.com/office/2016/11/relationships/changesInfo" Target="changesInfos/changesInfo1.xml"/><Relationship Id="rId87" Type="http://schemas.openxmlformats.org/officeDocument/2006/relationships/slide" Target="slides/slide18.xml"/><Relationship Id="rId88" Type="http://schemas.openxmlformats.org/officeDocument/2006/relationships/slide" Target="slides/slide19.xml"/><Relationship Id="rId89" Type="http://schemas.openxmlformats.org/officeDocument/2006/relationships/slide" Target="slides/slide20.xml"/><Relationship Id="rId90" Type="http://schemas.openxmlformats.org/officeDocument/2006/relationships/slide" Target="slides/slide10.xml"/><Relationship Id="rId91" Type="http://schemas.openxmlformats.org/officeDocument/2006/relationships/slide" Target="slides/slide32.xml"/><Relationship Id="rId92" Type="http://schemas.openxmlformats.org/officeDocument/2006/relationships/slide" Target="slides/slide39.xml"/><Relationship Id="rId93" Type="http://schemas.openxmlformats.org/officeDocument/2006/relationships/slide" Target="slides/slide46.xml"/><Relationship Id="rId94" Type="http://schemas.openxmlformats.org/officeDocument/2006/relationships/slide" Target="slides/slide8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844FE0EC-1ACE-457A-A062-606521DBE677}"/>
    <pc:docChg chg="undo custSel modSld">
      <pc:chgData name="Scott Hay" userId="e95d3f44-f6c0-414c-b281-41a9346c1b81" providerId="ADAL" clId="{844FE0EC-1ACE-457A-A062-606521DBE677}" dt="2026-02-13T19:40:22.844" v="66" actId="1037"/>
      <pc:docMkLst>
        <pc:docMk/>
      </pc:docMkLst>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pc:chgData name="Scott Hay" userId="e95d3f44-f6c0-414c-b281-41a9346c1b81" providerId="ADAL" clId="{844FE0EC-1ACE-457A-A062-606521DBE677}" dt="2026-02-13T19:38:40.257" v="42" actId="1440"/>
        <pc:sldMkLst>
          <pc:docMk/>
          <pc:sldMk cId="0" sldId="316"/>
        </pc:sldMkLst>
        <pc:spChg chg="del">
          <ac:chgData name="Scott Hay" userId="e95d3f44-f6c0-414c-b281-41a9346c1b81" providerId="ADAL" clId="{844FE0EC-1ACE-457A-A062-606521DBE677}" dt="2026-02-13T19:38:14.299" v="38" actId="478"/>
          <ac:spMkLst>
            <pc:docMk/>
            <pc:sldMk cId="0" sldId="316"/>
            <ac:spMk id="3"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Morning: Understanding Claude and how to talk to it effectively</a:t>
            </a:r>
          </a:p>
          <a:p>
            <a:r>
              <a:t>   * Afternoon: Practical tools - Excel add-in and working with files</a:t>
            </a:r>
          </a:p>
          <a:p>
            <a:r>
              <a:t>   * Two 15-minute breaks plus 1-hour lunch</a:t>
            </a:r>
          </a:p>
          <a:p>
            <a:r>
              <a:t>   * Hands-on practice twice today</a:t>
            </a:r>
          </a:p>
          <a:p>
            <a:endParaRPr/>
          </a:p>
          <a:p>
            <a:r>
              <a:t>TRANSITION:</a:t>
            </a:r>
          </a:p>
          <a:p>
            <a:r>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4 min</a:t>
            </a:r>
          </a:p>
          <a:p/>
          <a:p>
            <a:r>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p>
            <a:r>
              <a:t>So this isn't emerging technology. This is the new infrastructure. And Claude is at the center of enterprise adoption.</a:t>
            </a:r>
          </a:p>
          <a:p/>
          <a:p>
            <a:r>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p>
            <a:r>
              <a:t>Sonnet is your daily driver. It balances intelligence with speed and cost. For 90 percent of business tasks — writing emails, analyzing documents, creating reports, building spreadsheets — Sonnet is the right choice. Most of what we'll do today uses Sonnet.</a:t>
            </a:r>
          </a:p>
          <a:p/>
          <a:p>
            <a:r>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p>
            <a:r>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Sometimes you need Claude to think harder - that's Extended Thinking</a:t>
            </a:r>
          </a:p>
          <a:p>
            <a:endParaRPr/>
          </a:p>
          <a:p>
            <a:r>
              <a:t>KEY POINTS:</a:t>
            </a:r>
          </a:p>
          <a:p>
            <a:r>
              <a:t>   * Extended Thinking = Claude shows its reasoning process</a:t>
            </a:r>
          </a:p>
          <a:p>
            <a:r>
              <a:t>   * Like 'think step-by-step' but automatic and deeper</a:t>
            </a:r>
          </a:p>
          <a:p>
            <a:r>
              <a:t>   * Takes longer but produces better results for complex tasks</a:t>
            </a:r>
          </a:p>
          <a:p>
            <a:r>
              <a:t>   * You see the thinking unfold in real-time</a:t>
            </a:r>
          </a:p>
          <a:p>
            <a:endParaRPr/>
          </a:p>
          <a:p>
            <a:r>
              <a:t>REAL-WORLD EXAMPLE:</a:t>
            </a:r>
          </a:p>
          <a:p>
            <a:r>
              <a:t>   Complex financial analysis: Claude breaks down assumptions, checks logic, identifies edge cases - you see all of it.</a:t>
            </a:r>
          </a:p>
          <a:p>
            <a:endParaRPr/>
          </a:p>
          <a:p>
            <a:r>
              <a:t>TRANSITION:</a:t>
            </a:r>
          </a:p>
          <a:p>
            <a:r>
              <a:t>   When should you use it?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Extended Thinking costs more tokens (longer responses)</a:t>
            </a:r>
          </a:p>
          <a:p>
            <a:r>
              <a:t>   * Worth it for complex tasks</a:t>
            </a:r>
          </a:p>
          <a:p>
            <a:r>
              <a:t>   * Toggle on/off per conversation</a:t>
            </a:r>
          </a:p>
          <a:p>
            <a:r>
              <a:t>   * Default: Regular mode for most work</a:t>
            </a:r>
          </a:p>
          <a:p>
            <a:endParaRPr/>
          </a:p>
          <a:p>
            <a:r>
              <a:t>ASK THE CLASS:</a:t>
            </a:r>
          </a:p>
          <a:p>
            <a:r>
              <a:t>   "What's a complex task in YOUR work where seeing Claude's reasoning would help?"</a:t>
            </a:r>
          </a:p>
          <a:p>
            <a:r>
              <a:t>   [PAUSE for 30-60 seconds]</a:t>
            </a:r>
          </a:p>
          <a:p>
            <a:endParaRPr/>
          </a:p>
          <a:p>
            <a:r>
              <a:t>TRANSITION:</a:t>
            </a:r>
          </a:p>
          <a:p>
            <a:r>
              <a:t>   Now let's see the full Claude ecosystem</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4 min</a:t>
            </a:r>
          </a:p>
          <a:p/>
          <a:p>
            <a:r>
              <a:t>Here's what makes Claude different from every other AI assistant on the market — and I'm going to give you the numbers to prove it.</a:t>
            </a:r>
          </a:p>
          <a:p/>
          <a:p>
            <a:r>
              <a:t>First, the enterprise story. TELUS — 57,000 employees — deployed Claude across their entire organization. Result? Half a million staff hours saved and over $90 million in business benefit. That's not a pilot. That's production at scale.</a:t>
            </a:r>
          </a:p>
          <a:p/>
          <a:p>
            <a:r>
              <a:t>Zapier built over 800 internal AI agents powered by Claude. Their adoption rate? 89 percent. That wasn't mandated from the top — it was organic. People chose to use it because it made them faster.</a:t>
            </a:r>
          </a:p>
          <a:p/>
          <a:p>
            <a:r>
              <a:t>Bridgewater Associates — one of the most secretive, security-conscious hedge funds in the world — uses Claude Opus for investment research. They cut reporting time by 50 to 70 percent with analyst-level precision. If Bridgewater trusts it with their financial models, that tells you something about the security posture.</a:t>
            </a:r>
          </a:p>
          <a:p/>
          <a:p>
            <a:r>
              <a:t>Now, competitive positioning. GitHub Copilot is the industry standard for code autocomplete — 110 millisecond response time, inline suggestions. It's great at what it does. But Claude is a different category entirely. Copilot autocompletes your lines. Claude reads your entire codebase, understands the architecture, runs terminal commands, edits multiple files, and explains what it did and why.</a:t>
            </a:r>
          </a:p>
          <a:p/>
          <a:p>
            <a:r>
              <a:t>Claude has a 200,000 token context window versus Copilot's file-based approach. It has native terminal access, custom commands, skills, hooks, MCP integration — none of which Copilot offers. For business users, Claude is the only AI assistant that handles document creation, data analysis, Excel formulas, and complex multi-step workflows in a single conversation.</a:t>
            </a:r>
          </a:p>
          <a:p/>
          <a:p>
            <a:r>
              <a:t>The key stat: 300,000 business customers. 24 percent of major banks. 38 percent of retail chatbots. This isn't early-adopter territory anymore — this is mainstream enterprise adoption.</a:t>
            </a:r>
          </a:p>
          <a:p/>
          <a:p>
            <a:r>
              <a:t>SOURCE: Anthropic enterprise case studies (datastudios.org), UncoverAlpha market analysis 2026.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p>
            <a:r>
              <a:t>Let me ground these capabilities in real numbers.</a:t>
            </a:r>
          </a:p>
          <a:p/>
          <a:p>
            <a:r>
              <a:t>82 percent of enterprises now use generative AI weekly — that's up from 72 percent just last year. Global AI investment hit $225.8 billion in 2025, literally double the year before. This isn't a trend. This is a phase change.</a:t>
            </a:r>
          </a:p>
          <a:p/>
          <a:p>
            <a:r>
              <a:t>But here's the number that matters: only 5 percent of organizations have integrated AI at scale into their actual workflows. 82 percent are experimenting. 5 percent are operating. That gap — between experimenting and operating — is exactly what today's training closes.</a:t>
            </a:r>
          </a:p>
          <a:p/>
          <a:p>
            <a:r>
              <a:t>Newfront Insurance uses Claude for HR support, contract review, and knowledge management. They achieved 60 percent cost savings and reclaimed one month per year per employee. Not in theory — in production.</a:t>
            </a:r>
          </a:p>
          <a:p/>
          <a:p>
            <a:r>
              <a:t>Cognizant — 350,000 employees — adopted Claude in late 2025 for enterprise AI transformation. When a company that size makes that bet, pay attention.</a:t>
            </a:r>
          </a:p>
          <a:p/>
          <a:p>
            <a:r>
              <a:t>The coding and automation numbers are equally striking: 77 percent automation rate on coding and debugging tasks, the highest of any task category. Development teams report 30 percent faster PR cycles. And employees are 3 times more likely to use AI than their leaders expect — which means if you haven't rolled out a governed AI strategy, your people are already using ungoverned tools.</a:t>
            </a:r>
          </a:p>
          <a:p/>
          <a:p>
            <a:r>
              <a:t>SOURCES: Wharton 2025 AI Report, Vention 2026 Report, McKinsey, Anthropic case studies.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the most underused feature in Claude - and it's a massive productivity gain. Let me show you.</a:t>
            </a:r>
          </a:p>
          <a:p>
            <a:endParaRPr/>
          </a:p>
          <a:p>
            <a:r>
              <a:t>KEY POINTS:</a:t>
            </a:r>
          </a:p>
          <a:p>
            <a:r>
              <a:t>   * Where: Microphone icon, top right next to model selector</a:t>
            </a:r>
          </a:p>
          <a:p>
            <a:r>
              <a:t>   * How: Click mic, speak naturally, Claude transcribes real-time, you can edit before sending</a:t>
            </a:r>
          </a:p>
          <a:p>
            <a:r>
              <a:t>   * Speed: 3-5× faster than typing for complex multi-part prompts</a:t>
            </a:r>
          </a:p>
          <a:p>
            <a:r>
              <a:t>   * Best for: Brainstorming, meeting summaries (speak your notes), long detailed requests, hands-free work</a:t>
            </a:r>
          </a:p>
          <a:p>
            <a:r>
              <a:t>   * Pro tip: You can edit the transcription before hitting send - catches any errors</a:t>
            </a:r>
          </a:p>
          <a:p>
            <a:r>
              <a:t>   * Accuracy: Very good, works with industry terms and technical language</a:t>
            </a:r>
          </a:p>
          <a:p>
            <a:r>
              <a:t>   * Privacy: Voice processed securely, not stored after transcription</a:t>
            </a:r>
          </a:p>
          <a:p>
            <a:endParaRPr/>
          </a:p>
          <a:p>
            <a:r>
              <a:t>ASK THE CLASS:</a:t>
            </a:r>
          </a:p>
          <a:p>
            <a:r>
              <a:t>   "Think of a task you did this week that involved typing a long explanation - would voice mode have saved you time?"</a:t>
            </a:r>
          </a:p>
          <a:p>
            <a:r>
              <a:t>   [PAUSE for 30-60 seconds]</a:t>
            </a:r>
          </a:p>
          <a:p>
            <a:endParaRPr/>
          </a:p>
          <a:p>
            <a:r>
              <a:t>REAL-WORLD EXAMPLE:</a:t>
            </a:r>
          </a:p>
          <a:p>
            <a:r>
              <a:t>   After a client meeting, instead of typing up notes, open Claude voice mode and just talk through what happened for 2 minutes. Claude transcribes it, you say 'turn this into a professional summary with action items' - done in 3 minutes instead of 15.</a:t>
            </a:r>
          </a:p>
          <a:p>
            <a:endParaRPr/>
          </a:p>
          <a:p>
            <a:r>
              <a:t>DEMO:</a:t>
            </a:r>
          </a:p>
          <a:p>
            <a:r>
              <a:t>   LIVE DEMO: Click microphone button (top right). Speak a complex prompt: 'I need you to review this meeting transcript, pull out the top 5 action items with owners and due dates, identify any decisions that were made, and flag anything that needs follow-up with the executive team. Format as a bulleted summary I can send to my boss.' Show Claude transcribing in real-time, let them see the transcription appear, then send. Compare: This would take 60+ seconds to type, took 8 seconds to speak.</a:t>
            </a:r>
          </a:p>
          <a:p>
            <a:endParaRPr/>
          </a:p>
          <a:p>
            <a:r>
              <a:t>TRANSITION:</a:t>
            </a:r>
          </a:p>
          <a:p>
            <a:r>
              <a:t>   Now let's talk about personalizing Claude so it knows YOU and your preferences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p>
            <a:r>
              <a:t>This might be the most important slide in the deck.</a:t>
            </a:r>
          </a:p>
          <a:p/>
          <a:p>
            <a:r>
              <a:t>95 percent of enterprise AI projects fail to reach production. MIT's 2025 study — 150 leaders, 300 deployments. The number one root cause? No clear business problem. Companies buy AI and then figure out what to do with it. That's backwards.</a:t>
            </a:r>
          </a:p>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p>
            <a:r>
              <a:t>Zillow's AI-powered home-buying algorithm is the cautionary tale. They trusted the model's real estate valuations without sufficient human oversight. Result: $500 million in losses and 25 percent of their workforce laid off.</a:t>
            </a:r>
          </a:p>
          <a:p/>
          <a:p>
            <a:r>
              <a:t>So when should you NOT use AI? When you can't define the success criteria. When the cost of being wrong exceeds the value of being fast. When you don't have a human review step. When the data isn't clean enough to trust.</a:t>
            </a:r>
          </a:p>
          <a:p/>
          <a:p>
            <a:r>
              <a:t>42 percent of firms now drop most AI projects before they reach production — that's up from 17 percent the prior year. Companies are learning that killing bad projects early is smarter than pushing failed experiments into production.</a:t>
            </a:r>
          </a:p>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p>
            <a:r>
              <a:t>This is the slide that matters to every IT leader and CISO in the room. Let me address the objections head-on.</a:t>
            </a:r>
          </a:p>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p>
            <a:r>
              <a:t>The bottom line for your CISO: the risk isn't using AI. The risk is using AI without governance. 58 percent of CISOs feel unprepared to report AI risks to their board. This training — and the frameworks we're teaching — gives you something board-reportable.</a:t>
            </a:r>
          </a:p>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You've learned the basics, practiced in the lab, and seen the iterate-to-great pattern. Now here's the bigger picture.</a:t>
            </a:r>
          </a:p>
          <a:p>
            <a:endParaRPr/>
          </a:p>
          <a:p>
            <a:r>
              <a:t>KEY POINTS:</a:t>
            </a:r>
          </a:p>
          <a:p>
            <a:r>
              <a:t>   * The 20% who survived didn't have better prompting skills</a:t>
            </a:r>
          </a:p>
          <a:p>
            <a:r>
              <a:t>   * They learned 6 judgment skills (management skills, not tech skills):</a:t>
            </a:r>
          </a:p>
          <a:p>
            <a:r>
              <a:t>   * 1. Context Assembly - what info to give AI, what to withhold</a:t>
            </a:r>
          </a:p>
          <a:p>
            <a:r>
              <a:t>   * 2. Quality Judgment - when to trust output vs. verify</a:t>
            </a:r>
          </a:p>
          <a:p>
            <a:r>
              <a:t>   * 3. Task Decomposition - breaking work into AI-sized chunks</a:t>
            </a:r>
          </a:p>
          <a:p>
            <a:r>
              <a:t>   * 4. Iterative Refinement - moving from 70% to 95%</a:t>
            </a:r>
          </a:p>
          <a:p>
            <a:r>
              <a:t>   * 5. Workflow Integration - embedded in process, not side tool</a:t>
            </a:r>
          </a:p>
          <a:p>
            <a:r>
              <a:t>   * 6. Frontier Recognition - knowing when AI can't help</a:t>
            </a:r>
          </a:p>
          <a:p>
            <a:r>
              <a:t>   * Ethan Mollick (Wharton): 'The best users of AI are good managers'</a:t>
            </a:r>
          </a:p>
          <a:p>
            <a:endParaRPr/>
          </a:p>
          <a:p>
            <a:r>
              <a:t>ASK THE CLASS:</a:t>
            </a:r>
          </a:p>
          <a:p>
            <a:r>
              <a:t>   "Which of these 6 skills do you think will be hardest for your team?"</a:t>
            </a:r>
          </a:p>
          <a:p>
            <a:r>
              <a:t>   [PAUSE for 30-60 seconds]</a:t>
            </a:r>
          </a:p>
          <a:p>
            <a:endParaRPr/>
          </a:p>
          <a:p>
            <a:r>
              <a:t>TRANSITION:</a:t>
            </a:r>
          </a:p>
          <a:p>
            <a:r>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in Excel: Best when working IN the spreadsheet and need real-time help</a:t>
            </a:r>
          </a:p>
          <a:p>
            <a:r>
              <a:t>   * Claude.ai: Best when you want to analyze a file deeply without opening Excel</a:t>
            </a:r>
          </a:p>
          <a:p>
            <a:r>
              <a:t>   * M365 Copilot: Best for creating PivotTables, charts, automated insights (if you have it)</a:t>
            </a:r>
          </a:p>
          <a:p>
            <a:r>
              <a:t>   * They complement each other - not either/or</a:t>
            </a:r>
          </a:p>
          <a:p>
            <a:endParaRPr/>
          </a:p>
          <a:p>
            <a:r>
              <a:t>TRANSITION:</a:t>
            </a:r>
          </a:p>
          <a:p>
            <a:r>
              <a:t>   15-minute break, then we'll cover Artifacts and file handling</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Final lab - create real deliverables you can use at work tomorrow. Focus on document outputs.</a:t>
            </a:r>
          </a:p>
          <a:p>
            <a:endParaRPr/>
          </a:p>
          <a:p>
            <a:r>
              <a:t>KEY POINTS:</a:t>
            </a:r>
          </a:p>
          <a:p>
            <a:r>
              <a:t>   * Lab guide has all sample files: PDFs, CSVs, email templates</a:t>
            </a:r>
          </a:p>
          <a:p>
            <a:r>
              <a:t>   * Exercise 2: Upload PDF, get polished executive summary (real workflow)</a:t>
            </a:r>
          </a:p>
          <a:p>
            <a:r>
              <a:t>   * Exercise 3: This is powerful - CSV data becomes PowerPoint deck outline</a:t>
            </a:r>
          </a:p>
          <a:p>
            <a:r>
              <a:t>   * All outputs use artifacts - professional formatting, copy-paste ready</a:t>
            </a:r>
          </a:p>
          <a:p>
            <a:r>
              <a:t>   * Try all four if time allows, minimum 2 exercises</a:t>
            </a:r>
          </a:p>
          <a:p>
            <a:r>
              <a:t>   * Save your best artifacts - these are templates for future work</a:t>
            </a:r>
          </a:p>
          <a:p>
            <a:r>
              <a:t>   * I'll be walking around - show me your best output!</a:t>
            </a:r>
          </a:p>
          <a:p>
            <a:endParaRPr/>
          </a:p>
          <a:p>
            <a:r>
              <a:t>DEMO:</a:t>
            </a:r>
          </a:p>
          <a:p>
            <a:r>
              <a:t>   Show lab guide - point out sample files folder. Emphasize artifact outputs for each exercise.</a:t>
            </a:r>
          </a:p>
          <a:p>
            <a:endParaRPr/>
          </a:p>
          <a:p>
            <a:r>
              <a:t>TRANSITION:</a:t>
            </a:r>
          </a:p>
          <a:p>
            <a:r>
              <a:t>   Take 45 minutes. We'll reconvene at 3:15 for wrap-up and Q&amp;A.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p>
            <a:r>
              <a:t>You now have practical skills that 40 percent of the US workforce is learning right now. The difference? You learned them systematically, with frameworks, not through trial and error.</a:t>
            </a:r>
          </a:p>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p>
            <a:r>
              <a:t>Let me leave you with the framing that matters.</a:t>
            </a:r>
          </a:p>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p>
            <a:r>
              <a:t>These projects don't fail because the technology doesn't work. They fail because of implementation. No clear business problem. Unrealistic timelines. Poor integration with existing workflows. Lack of governance.</a:t>
            </a:r>
          </a:p>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p>
            <a:r>
              <a:t>75 percent of leaders who DO implement AI properly see positive ROI. 89 percent agree it enhances rather than replaces employee skills. The technology works. The question is whether you have the discipline to implement it right.</a:t>
            </a:r>
          </a:p>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Landscape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Interface &amp; Projects</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Prompt Engineering</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Lab 1</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Lab 2</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325880"/>
            <a:ext cx="10728655" cy="731520"/>
          </a:xfrm>
          <a:prstGeom prst="rect">
            <a:avLst/>
          </a:prstGeom>
          <a:noFill/>
        </p:spPr>
        <p:txBody>
          <a:bodyPr wrap="square">
            <a:spAutoFit/>
          </a:bodyPr>
          <a:lstStyle/>
          <a:p>
            <a:pPr>
              <a:defRPr sz="2200">
                <a:solidFill>
                  <a:srgbClr val="FFFFFF"/>
                </a:solidFill>
              </a:defRPr>
            </a:pPr>
            <a:r>
              <a:t>Choose the right Claude model for different tasks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993392"/>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039112"/>
            <a:ext cx="10728655" cy="731520"/>
          </a:xfrm>
          <a:prstGeom prst="rect">
            <a:avLst/>
          </a:prstGeom>
          <a:noFill/>
        </p:spPr>
        <p:txBody>
          <a:bodyPr wrap="square">
            <a:spAutoFit/>
          </a:bodyPr>
          <a:lstStyle/>
          <a:p>
            <a:pPr>
              <a:defRPr sz="2200">
                <a:solidFill>
                  <a:srgbClr val="FFFFFF"/>
                </a:solidFill>
              </a:defRPr>
            </a:pPr>
            <a:r>
              <a:t>Navigate Claude.ai interface and manage Projects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706624"/>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2752344"/>
            <a:ext cx="10728655" cy="731520"/>
          </a:xfrm>
          <a:prstGeom prst="rect">
            <a:avLst/>
          </a:prstGeom>
          <a:noFill/>
        </p:spPr>
        <p:txBody>
          <a:bodyPr wrap="square">
            <a:spAutoFit/>
          </a:bodyPr>
          <a:lstStyle/>
          <a:p>
            <a:pPr>
              <a:defRPr sz="2200">
                <a:solidFill>
                  <a:srgbClr val="FFFFFF"/>
                </a:solidFill>
              </a:defRPr>
            </a:pPr>
            <a:r>
              <a:t>Write effective prompts and use Extended Thinking for complex tasks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419856"/>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465576"/>
            <a:ext cx="10728655" cy="731520"/>
          </a:xfrm>
          <a:prstGeom prst="rect">
            <a:avLst/>
          </a:prstGeom>
          <a:noFill/>
        </p:spPr>
        <p:txBody>
          <a:bodyPr wrap="square">
            <a:spAutoFit/>
          </a:bodyPr>
          <a:lstStyle/>
          <a:p>
            <a:pPr>
              <a:defRPr sz="2200">
                <a:solidFill>
                  <a:srgbClr val="FFFFFF"/>
                </a:solidFill>
              </a:defRPr>
            </a:pPr>
            <a:r>
              <a:t>Use Claude in Excel for formula assistance and data analysis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133087"/>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178808"/>
            <a:ext cx="10728655" cy="731520"/>
          </a:xfrm>
          <a:prstGeom prst="rect">
            <a:avLst/>
          </a:prstGeom>
          <a:noFill/>
        </p:spPr>
        <p:txBody>
          <a:bodyPr wrap="square">
            <a:spAutoFit/>
          </a:bodyPr>
          <a:lstStyle/>
          <a:p>
            <a:pPr>
              <a:defRPr sz="2200">
                <a:solidFill>
                  <a:srgbClr val="FFFFFF"/>
                </a:solidFill>
              </a:defRPr>
            </a:pPr>
            <a:r>
              <a:t>Use artifacts for code, documents, and diagrams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8463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4892040"/>
            <a:ext cx="10728655" cy="731520"/>
          </a:xfrm>
          <a:prstGeom prst="rect">
            <a:avLst/>
          </a:prstGeom>
          <a:noFill/>
        </p:spPr>
        <p:txBody>
          <a:bodyPr wrap="square">
            <a:spAutoFit/>
          </a:bodyPr>
          <a:lstStyle/>
          <a:p>
            <a:pPr>
              <a:defRPr sz="2200">
                <a:solidFill>
                  <a:srgbClr val="FFFFFF"/>
                </a:solidFill>
              </a:defRPr>
            </a:pPr>
            <a:r>
              <a:t>Apply Claude to common business workflows</a:t>
            </a:r>
          </a:p>
        </p:txBody>
      </p:sp>
      <p:sp>
        <p:nvSpPr>
          <p:cNvPr id="20" name="TextBox 19"/>
          <p:cNvSpPr txBox="1"/>
          <p:nvPr/>
        </p:nvSpPr>
        <p:spPr>
          <a:xfrm>
            <a:off x="457200" y="5559552"/>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605272"/>
            <a:ext cx="10728655" cy="731520"/>
          </a:xfrm>
          <a:prstGeom prst="rect">
            <a:avLst/>
          </a:prstGeom>
          <a:noFill/>
        </p:spPr>
        <p:txBody>
          <a:bodyPr wrap="square">
            <a:spAutoFit/>
          </a:bodyPr>
          <a:lstStyle/>
          <a:p>
            <a:pPr>
              <a:defRPr sz="2200">
                <a:solidFill>
                  <a:srgbClr val="FFFFFF"/>
                </a:solidFill>
              </a:defRPr>
            </a:pPr>
            <a:r>
              <a:t>Configure Claude Desktop, Voice Mode, and Personal Preferences</a:t>
            </a:r>
          </a:p>
        </p:txBody>
      </p:sp>
      <p:sp>
        <p:nvSpPr>
          <p:cNvPr id="20" name="TextBox 19"/>
          <p:cNvSpPr txBox="1"/>
          <p:nvPr/>
        </p:nvSpPr>
        <p:spPr>
          <a:xfrm>
            <a:off x="457200" y="6272784"/>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6318504"/>
            <a:ext cx="10728655" cy="731520"/>
          </a:xfrm>
          <a:prstGeom prst="rect">
            <a:avLst/>
          </a:prstGeom>
          <a:noFill/>
        </p:spPr>
        <p:txBody>
          <a:bodyPr wrap="square">
            <a:spAutoFit/>
          </a:bodyPr>
          <a:lstStyle/>
          <a:p>
            <a:pPr>
              <a:defRPr sz="2200">
                <a:solidFill>
                  <a:srgbClr val="FFFFFF"/>
                </a:solidFill>
              </a:defRPr>
            </a:pPr>
            <a:r>
              <a:t>Understand Claude's security model and data privacy controls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H</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Haiku</a:t>
            </a:r>
            <a:br/>
            <a:r>
              <a:t>Fastest • Lowest cost</a:t>
            </a:r>
            <a:br/>
            <a: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S</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Sonnet</a:t>
            </a:r>
            <a:br/>
            <a:r>
              <a:t>Balanced • Most work</a:t>
            </a:r>
            <a:br/>
            <a: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O</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Opus</a:t>
            </a:r>
            <a:br/>
            <a:r>
              <a:t>Most capable</a:t>
            </a:r>
            <a:br/>
            <a:r>
              <a:t>Critical decisions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responses needed</a:t>
            </a:r>
          </a:p>
          <a:p>
            <a:pPr>
              <a:spcAft>
                <a:spcPts val="1200"/>
              </a:spcAft>
              <a:defRPr sz="1800">
                <a:solidFill>
                  <a:srgbClr val="FFFFFF"/>
                </a:solidFill>
              </a:defRPr>
            </a:pPr>
            <a:r>
              <a:t>  Straightforward tasks</a:t>
            </a:r>
          </a:p>
          <a:p>
            <a:pPr>
              <a:spcAft>
                <a:spcPts val="1200"/>
              </a:spcAft>
              <a:defRPr sz="1800">
                <a:solidFill>
                  <a:srgbClr val="FFFFFF"/>
                </a:solidFill>
              </a:defRPr>
            </a:pPr>
            <a:r>
              <a:t>  Iterating many times</a:t>
            </a:r>
          </a:p>
          <a:p>
            <a:pPr>
              <a:spcAft>
                <a:spcPts val="1200"/>
              </a:spcAft>
              <a:defRPr sz="1800">
                <a:solidFill>
                  <a:srgbClr val="FFFFFF"/>
                </a:solidFill>
              </a:defRPr>
            </a:pPr>
            <a:r>
              <a:t>  General productivity</a:t>
            </a:r>
          </a:p>
          <a:p>
            <a:pPr>
              <a:spcAft>
                <a:spcPts val="1200"/>
              </a:spcAft>
              <a:defRPr sz="1800">
                <a:solidFill>
                  <a:srgbClr val="FFFFFF"/>
                </a:solidFill>
              </a:defRPr>
            </a:pPr>
            <a: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Stakes are high</a:t>
            </a:r>
          </a:p>
          <a:p>
            <a:pPr>
              <a:spcAft>
                <a:spcPts val="1200"/>
              </a:spcAft>
              <a:defRPr sz="1800">
                <a:solidFill>
                  <a:srgbClr val="FFFFFF"/>
                </a:solidFill>
              </a:defRPr>
            </a:pPr>
            <a:r>
              <a:t>  Complexity is high</a:t>
            </a:r>
          </a:p>
          <a:p>
            <a:pPr>
              <a:spcAft>
                <a:spcPts val="1200"/>
              </a:spcAft>
              <a:defRPr sz="1800">
                <a:solidFill>
                  <a:srgbClr val="FFFFFF"/>
                </a:solidFill>
              </a:defRPr>
            </a:pPr>
            <a:r>
              <a:t>  Quality &gt; speed</a:t>
            </a:r>
          </a:p>
          <a:p>
            <a:pPr>
              <a:spcAft>
                <a:spcPts val="1200"/>
              </a:spcAft>
              <a:defRPr sz="1800">
                <a:solidFill>
                  <a:srgbClr val="FFFFFF"/>
                </a:solidFill>
              </a:defRPr>
            </a:pPr>
            <a:r>
              <a:t>  Critical decisions</a:t>
            </a:r>
          </a:p>
          <a:p>
            <a:pPr>
              <a:spcAft>
                <a:spcPts val="1200"/>
              </a:spcAft>
              <a:defRPr sz="1800">
                <a:solidFill>
                  <a:srgbClr val="FFFFFF"/>
                </a:solidFill>
              </a:defRPr>
            </a:pPr>
            <a:r>
              <a:t>  Best output needed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Claude's advanced reasoning capability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Complex analysis (multi-step)</a:t>
            </a:r>
          </a:p>
          <a:p>
            <a:pPr>
              <a:spcAft>
                <a:spcPts val="1200"/>
              </a:spcAft>
              <a:defRPr sz="1800">
                <a:solidFill>
                  <a:srgbClr val="FFFFFF"/>
                </a:solidFill>
              </a:defRPr>
            </a:pPr>
            <a:r>
              <a:t>  High-stakes decisions</a:t>
            </a:r>
          </a:p>
          <a:p>
            <a:pPr>
              <a:spcAft>
                <a:spcPts val="1200"/>
              </a:spcAft>
              <a:defRPr sz="1800">
                <a:solidFill>
                  <a:srgbClr val="FFFFFF"/>
                </a:solidFill>
              </a:defRPr>
            </a:pPr>
            <a:r>
              <a:t>  Technical problem-solving</a:t>
            </a:r>
          </a:p>
          <a:p>
            <a:pPr>
              <a:spcAft>
                <a:spcPts val="1200"/>
              </a:spcAft>
              <a:defRPr sz="1800">
                <a:solidFill>
                  <a:srgbClr val="FFFFFF"/>
                </a:solidFill>
              </a:defRPr>
            </a:pPr>
            <a:r>
              <a:t>  Detailed planning</a:t>
            </a:r>
          </a:p>
          <a:p>
            <a:pPr>
              <a:spcAft>
                <a:spcPts val="1200"/>
              </a:spcAft>
              <a:defRPr sz="1800">
                <a:solidFill>
                  <a:srgbClr val="FFFFFF"/>
                </a:solidFill>
              </a:defRPr>
            </a:pPr>
            <a: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questions</a:t>
            </a:r>
          </a:p>
          <a:p>
            <a:pPr>
              <a:spcAft>
                <a:spcPts val="1200"/>
              </a:spcAft>
              <a:defRPr sz="1800">
                <a:solidFill>
                  <a:srgbClr val="FFFFFF"/>
                </a:solidFill>
              </a:defRPr>
            </a:pPr>
            <a:r>
              <a:t>  Quick drafts</a:t>
            </a:r>
          </a:p>
          <a:p>
            <a:pPr>
              <a:spcAft>
                <a:spcPts val="1200"/>
              </a:spcAft>
              <a:defRPr sz="1800">
                <a:solidFill>
                  <a:srgbClr val="FFFFFF"/>
                </a:solidFill>
              </a:defRPr>
            </a:pPr>
            <a:r>
              <a:t>  Straightforward tasks</a:t>
            </a:r>
          </a:p>
          <a:p>
            <a:pPr>
              <a:spcAft>
                <a:spcPts val="1200"/>
              </a:spcAft>
              <a:defRPr sz="1800">
                <a:solidFill>
                  <a:srgbClr val="FFFFFF"/>
                </a:solidFill>
              </a:defRPr>
            </a:pPr>
            <a:r>
              <a:t>  Speed matters</a:t>
            </a:r>
          </a:p>
          <a:p>
            <a:pPr>
              <a:spcAft>
                <a:spcPts val="1200"/>
              </a:spcAft>
              <a:defRPr sz="1800">
                <a:solidFill>
                  <a:srgbClr val="FFFFFF"/>
                </a:solidFill>
              </a:defRPr>
            </a:pPr>
            <a:r>
              <a:t>  Casual brainstorming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Makes Claude Different?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Long context • Accurate • Safe • Versatile • Citations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810208" y="1716834"/>
            <a:ext cx="10571584" cy="375090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457200" y="365760"/>
            <a:ext cx="137160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0972800" cy="365760"/>
          </a:xfrm>
          <a:prstGeom prst="rect">
            <a:avLst/>
          </a:prstGeom>
          <a:noFill/>
        </p:spPr>
        <p:txBody>
          <a:bodyPr wrap="none">
            <a:spAutoFit/>
          </a:bodyPr>
          <a:lstStyle/>
          <a:p>
            <a:pPr>
              <a:defRPr sz="1400" b="1">
                <a:solidFill>
                  <a:srgbClr val="14B8A6"/>
                </a:solidFill>
              </a:defRPr>
            </a:pPr>
            <a:r>
              <a:t>ENGINEERING PRINCIPLE</a:t>
            </a:r>
          </a:p>
        </p:txBody>
      </p:sp>
      <p:sp>
        <p:nvSpPr>
          <p:cNvPr id="4" name="TextBox 3"/>
          <p:cNvSpPr txBox="1"/>
          <p:nvPr/>
        </p:nvSpPr>
        <p:spPr>
          <a:xfrm>
            <a:off x="457200" y="1097280"/>
            <a:ext cx="10972800" cy="1828800"/>
          </a:xfrm>
          <a:prstGeom prst="rect">
            <a:avLst/>
          </a:prstGeom>
          <a:noFill/>
        </p:spPr>
        <p:txBody>
          <a:bodyPr wrap="square">
            <a:spAutoFit/>
          </a:bodyPr>
          <a:lstStyle/>
          <a:p>
            <a:pPr>
              <a:defRPr sz="4000" b="1">
                <a:solidFill>
                  <a:srgbClr val="FFFFFF"/>
                </a:solidFill>
              </a:defRPr>
            </a:pPr>
            <a:r>
              <a:t>Separate Memory from Compute from Interface</a:t>
            </a:r>
          </a:p>
        </p:txBody>
      </p:sp>
      <p:sp>
        <p:nvSpPr>
          <p:cNvPr id="5" name="TextBox 4"/>
          <p:cNvSpPr txBox="1"/>
          <p:nvPr/>
        </p:nvSpPr>
        <p:spPr>
          <a:xfrm>
            <a:off x="457200" y="3200400"/>
            <a:ext cx="10058400" cy="3200400"/>
          </a:xfrm>
          <a:prstGeom prst="rect">
            <a:avLst/>
          </a:prstGeom>
          <a:noFill/>
        </p:spPr>
        <p:txBody>
          <a:bodyPr wrap="square">
            <a:spAutoFit/>
          </a:bodyPr>
          <a:lstStyle/>
          <a:p>
            <a:pPr>
              <a:defRPr sz="2000">
                <a:solidFill>
                  <a:srgbClr val="9CA3AF"/>
                </a:solidFill>
              </a:defRPr>
            </a:pPr>
            <a:r>
              <a:t>Same Claude brain via chat, Desktop, API, Excel, automation. The interface changes — the intelligence doesn't.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Claude's Current Capabilities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10B981"/>
                </a:solidFill>
              </a:defRPr>
            </a:pPr>
            <a:r>
              <a:t>✅ What Claude Can Do Now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Web search &amp; real-time data (news, market prices, weather)</a:t>
            </a:r>
          </a:p>
          <a:p>
            <a:pPr>
              <a:spcAft>
                <a:spcPts val="1200"/>
              </a:spcAft>
              <a:defRPr sz="1800">
                <a:solidFill>
                  <a:srgbClr val="FFFFFF"/>
                </a:solidFill>
              </a:defRPr>
            </a:pPr>
            <a:r>
              <a:t>  Image search and web page fetching</a:t>
            </a:r>
          </a:p>
          <a:p>
            <a:pPr>
              <a:spcAft>
                <a:spcPts val="1200"/>
              </a:spcAft>
              <a:defRPr sz="1800">
                <a:solidFill>
                  <a:srgbClr val="FFFFFF"/>
                </a:solidFill>
              </a:defRPr>
            </a:pPr>
            <a:r>
              <a:t>  Memory across conversations (persistent context)</a:t>
            </a:r>
          </a:p>
          <a:p>
            <a:pPr>
              <a:spcAft>
                <a:spcPts val="1200"/>
              </a:spcAft>
              <a:defRPr sz="1800">
                <a:solidFill>
                  <a:srgbClr val="FFFFFF"/>
                </a:solidFill>
              </a:defRPr>
            </a:pPr>
            <a:r>
              <a:t>  Knowledge through May 2025 + web for current info</a:t>
            </a:r>
          </a:p>
          <a:p>
            <a:pPr>
              <a:spcAft>
                <a:spcPts val="1200"/>
              </a:spcAft>
              <a:defRPr sz="1800">
                <a:solidFill>
                  <a:srgbClr val="FFFFFF"/>
                </a:solidFill>
              </a:defRPr>
            </a:pPr>
            <a:r>
              <a:t>  File analysis (PDFs, images, CSV, code)</a:t>
            </a:r>
          </a:p>
          <a:p>
            <a:pPr>
              <a:spcAft>
                <a:spcPts val="1200"/>
              </a:spcAft>
              <a:defRPr sz="1800">
                <a:solidFill>
                  <a:srgbClr val="FFFFFF"/>
                </a:solidFill>
              </a:defRPr>
            </a:pPr>
            <a:r>
              <a:t>  Long conversations (200K context window)</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 Best Practices (Still Important)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source docs for accuracy (better than web search)</a:t>
            </a:r>
          </a:p>
          <a:p>
            <a:pPr>
              <a:spcAft>
                <a:spcPts val="1200"/>
              </a:spcAft>
              <a:defRPr sz="1800">
                <a:solidFill>
                  <a:srgbClr val="FFFFFF"/>
                </a:solidFill>
              </a:defRPr>
            </a:pPr>
            <a:r>
              <a:t>  Verify facts on critical decisions (hallucination still possible)</a:t>
            </a:r>
          </a:p>
          <a:p>
            <a:pPr>
              <a:spcAft>
                <a:spcPts val="1200"/>
              </a:spcAft>
              <a:defRPr sz="1800">
                <a:solidFill>
                  <a:srgbClr val="FFFFFF"/>
                </a:solidFill>
              </a:defRPr>
            </a:pPr>
            <a:r>
              <a:t>  Use Projects for persistent work context</a:t>
            </a:r>
          </a:p>
          <a:p>
            <a:pPr>
              <a:spcAft>
                <a:spcPts val="1200"/>
              </a:spcAft>
              <a:defRPr sz="1800">
                <a:solidFill>
                  <a:srgbClr val="FFFFFF"/>
                </a:solidFill>
              </a:defRPr>
            </a:pPr>
            <a:r>
              <a:t>  Ground responses: 'Based only on uploaded doc'</a:t>
            </a:r>
          </a:p>
          <a:p>
            <a:pPr>
              <a:spcAft>
                <a:spcPts val="1200"/>
              </a:spcAft>
              <a:defRPr sz="1800">
                <a:solidFill>
                  <a:srgbClr val="FFFFFF"/>
                </a:solidFill>
              </a:defRPr>
            </a:pPr>
            <a:r>
              <a:t>  Review outputs - you own the final decision</a:t>
            </a:r>
          </a:p>
          <a:p>
            <a:pPr>
              <a:spcAft>
                <a:spcPts val="1200"/>
              </a:spcAft>
              <a:defRPr sz="1800">
                <a:solidFill>
                  <a:srgbClr val="FFFFFF"/>
                </a:solidFill>
              </a:defRPr>
            </a:pPr>
            <a:r>
              <a:t>  Check sensitive data before sharing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Desktop App: Autonomous Features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78D4"/>
                </a:solidFill>
              </a:defRPr>
            </a:pPr>
            <a:r>
              <a:t>Claude.ai (What You Know)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Back-and-forth conversation</a:t>
            </a:r>
          </a:p>
          <a:p>
            <a:pPr>
              <a:spcAft>
                <a:spcPts val="1200"/>
              </a:spcAft>
              <a:defRPr sz="1800">
                <a:solidFill>
                  <a:srgbClr val="FFFFFF"/>
                </a:solidFill>
              </a:defRPr>
            </a:pPr>
            <a:r>
              <a:t>  You ask → Claude answers → repeat</a:t>
            </a:r>
          </a:p>
          <a:p>
            <a:pPr>
              <a:spcAft>
                <a:spcPts val="1200"/>
              </a:spcAft>
              <a:defRPr sz="1800">
                <a:solidFill>
                  <a:srgbClr val="FFFFFF"/>
                </a:solidFill>
              </a:defRPr>
            </a:pPr>
            <a:r>
              <a:t>  You stay in the chat the whole time</a:t>
            </a:r>
          </a:p>
          <a:p>
            <a:pPr>
              <a:spcAft>
                <a:spcPts val="1200"/>
              </a:spcAft>
              <a:defRPr sz="1800">
                <a:solidFill>
                  <a:srgbClr val="FFFFFF"/>
                </a:solidFill>
              </a:defRPr>
            </a:pPr>
            <a:r>
              <a:t>  Great for real-time collaboration</a:t>
            </a:r>
          </a:p>
          <a:p>
            <a:pPr>
              <a:spcAft>
                <a:spcPts val="1200"/>
              </a:spcAft>
              <a:defRPr sz="1800">
                <a:solidFill>
                  <a:srgbClr val="FFFFFF"/>
                </a:solidFill>
              </a:defRPr>
            </a:pPr>
            <a:r>
              <a:t>  Immediate feedback and iteration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Claude for Work (NEW Preview)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Three modes: Chat, Cowork, Code tabs</a:t>
            </a:r>
          </a:p>
          <a:p>
            <a:pPr>
              <a:spcAft>
                <a:spcPts val="1200"/>
              </a:spcAft>
              <a:defRPr sz="1800">
                <a:solidFill>
                  <a:srgbClr val="FFFFFF"/>
                </a:solidFill>
              </a:defRPr>
            </a:pPr>
            <a:r>
              <a:t>  Set goal → Walk away → Come back later</a:t>
            </a:r>
          </a:p>
          <a:p>
            <a:pPr>
              <a:spcAft>
                <a:spcPts val="1200"/>
              </a:spcAft>
              <a:defRPr sz="1800">
                <a:solidFill>
                  <a:srgbClr val="FFFFFF"/>
                </a:solidFill>
              </a:defRPr>
            </a:pPr>
            <a:r>
              <a:t>  Works autonomously in background</a:t>
            </a:r>
          </a:p>
          <a:p>
            <a:pPr>
              <a:spcAft>
                <a:spcPts val="1200"/>
              </a:spcAft>
              <a:defRPr sz="1800">
                <a:solidFill>
                  <a:srgbClr val="FFFFFF"/>
                </a:solidFill>
              </a:defRPr>
            </a:pPr>
            <a:r>
              <a:t>  Handles complex multi-step tasks</a:t>
            </a:r>
          </a:p>
          <a:p>
            <a:pPr>
              <a:spcAft>
                <a:spcPts val="1200"/>
              </a:spcAft>
              <a:defRPr sz="1800">
                <a:solidFill>
                  <a:srgbClr val="FFFFFF"/>
                </a:solidFill>
              </a:defRPr>
            </a:pPr>
            <a:r>
              <a:t>  Task presets: 'Optimize my week', 'Organize screenshots', etc.</a:t>
            </a:r>
          </a:p>
          <a:p>
            <a:pPr>
              <a:spcAft>
                <a:spcPts val="1200"/>
              </a:spcAft>
              <a:defRPr sz="1800">
                <a:solidFill>
                  <a:srgbClr val="FFFFFF"/>
                </a:solidFill>
              </a:defRPr>
            </a:pPr>
            <a:r>
              <a:t>  You check in when YOU want</a:t>
            </a:r>
          </a:p>
          <a:p>
            <a:pPr>
              <a:spcAft>
                <a:spcPts val="1200"/>
              </a:spcAft>
              <a:defRPr sz="1800">
                <a:solidFill>
                  <a:srgbClr val="FFFFFF"/>
                </a:solidFill>
              </a:defRPr>
            </a:pPr>
            <a:r>
              <a:t>  Available: Windows + Mac Preview</a:t>
            </a:r>
          </a:p>
          <a:p>
            <a:pPr>
              <a:spcAft>
                <a:spcPts val="1200"/>
              </a:spcAft>
              <a:defRPr sz="1800">
                <a:solidFill>
                  <a:srgbClr val="FFFFFF"/>
                </a:solidFill>
              </a:defRPr>
            </a:pPr>
            <a:r>
              <a:t>  Plugin integration (customize workflows)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When to Use Claude for Work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PERFECT FOR: Complex multi-step tasks (2+ hours of work)</a:t>
            </a:r>
          </a:p>
          <a:p>
            <a:pPr>
              <a:spcBef>
                <a:spcPts val="800"/>
              </a:spcBef>
              <a:spcAft>
                <a:spcPts val="800"/>
              </a:spcAft>
              <a:defRPr sz="2200">
                <a:solidFill>
                  <a:srgbClr val="FFFFFF"/>
                </a:solidFill>
              </a:defRPr>
            </a:pPr>
            <a:r>
              <a:t>     • Competitive research &amp; analysis</a:t>
            </a:r>
          </a:p>
          <a:p>
            <a:pPr>
              <a:spcBef>
                <a:spcPts val="800"/>
              </a:spcBef>
              <a:spcAft>
                <a:spcPts val="800"/>
              </a:spcAft>
              <a:defRPr sz="2200">
                <a:solidFill>
                  <a:srgbClr val="FFFFFF"/>
                </a:solidFill>
              </a:defRPr>
            </a:pPr>
            <a:r>
              <a:t>     • Writing long documents (PRDs, reports, proposals)</a:t>
            </a:r>
          </a:p>
          <a:p>
            <a:pPr>
              <a:spcBef>
                <a:spcPts val="800"/>
              </a:spcBef>
              <a:spcAft>
                <a:spcPts val="800"/>
              </a:spcAft>
              <a:defRPr sz="2200">
                <a:solidFill>
                  <a:srgbClr val="FFFFFF"/>
                </a:solidFill>
              </a:defRPr>
            </a:pPr>
            <a:r>
              <a:t>     • Data analysis across multiple files</a:t>
            </a:r>
          </a:p>
          <a:p>
            <a:pPr>
              <a:spcBef>
                <a:spcPts val="800"/>
              </a:spcBef>
              <a:spcAft>
                <a:spcPts val="800"/>
              </a:spcAft>
              <a:defRPr sz="2200">
                <a:solidFill>
                  <a:srgbClr val="FFFFFF"/>
                </a:solidFill>
              </a:defRPr>
            </a:pPr>
            <a:r>
              <a:t>     • Content creation with multiple iterations</a:t>
            </a:r>
          </a:p>
          <a:p>
            <a:pPr>
              <a:spcBef>
                <a:spcPts val="800"/>
              </a:spcBef>
              <a:spcAft>
                <a:spcPts val="800"/>
              </a:spcAft>
              <a:defRPr sz="2200">
                <a:solidFill>
                  <a:srgbClr val="FFFFFF"/>
                </a:solidFill>
              </a:defRPr>
            </a:pPr>
            <a:r>
              <a:t>  ❌ NOT IDEAL FOR: Quick questions, real-time collaboration, learning/exploration</a:t>
            </a:r>
          </a:p>
          <a:p>
            <a:pPr>
              <a:spcBef>
                <a:spcPts val="800"/>
              </a:spcBef>
              <a:spcAft>
                <a:spcPts val="800"/>
              </a:spcAft>
              <a:defRPr sz="2200">
                <a:solidFill>
                  <a:srgbClr val="FFFFFF"/>
                </a:solidFill>
              </a:defRPr>
            </a:pPr>
            <a:r>
              <a:t>  🎯 THE RULE: If you'd normally block 2+ hours on calendar → Use Cowork. Quick task → Use Claude.ai</a:t>
            </a:r>
          </a:p>
          <a:p>
            <a:pPr>
              <a:spcBef>
                <a:spcPts val="800"/>
              </a:spcBef>
              <a:spcAft>
                <a:spcPts val="800"/>
              </a:spcAft>
              <a:defRPr sz="2200">
                <a:solidFill>
                  <a:srgbClr val="FFFFFF"/>
                </a:solidFill>
              </a:defRPr>
            </a:pPr>
            <a:r>
              <a:t>  💻 HOW TO GET IT: Download Claude Desktop App (Windows/Mac) - Pro/Team subscribers get autonomous features in Preview</a:t>
            </a:r>
          </a:p>
          <a:p>
            <a:pPr>
              <a:spcBef>
                <a:spcPts val="800"/>
              </a:spcBef>
              <a:spcAft>
                <a:spcPts val="800"/>
              </a:spcAft>
              <a:defRPr sz="2200">
                <a:solidFill>
                  <a:srgbClr val="FFFFFF"/>
                </a:solidFill>
              </a:defRPr>
            </a:pPr>
            <a:r>
              <a:t>  ⚠️ PREVIEW NOTE: Early access = expect bugs, limited rollout, features evolving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 &amp; Projects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Voice Mode: Your Productivity Superpower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3× faster than typing for complex prompts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457200" y="365760"/>
            <a:ext cx="137160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0972800" cy="365760"/>
          </a:xfrm>
          <a:prstGeom prst="rect">
            <a:avLst/>
          </a:prstGeom>
          <a:noFill/>
        </p:spPr>
        <p:txBody>
          <a:bodyPr wrap="none">
            <a:spAutoFit/>
          </a:bodyPr>
          <a:lstStyle/>
          <a:p>
            <a:pPr>
              <a:defRPr sz="1400" b="1">
                <a:solidFill>
                  <a:srgbClr val="14B8A6"/>
                </a:solidFill>
              </a:defRPr>
            </a:pPr>
            <a:r>
              <a:t>ENGINEERING PRINCIPLE</a:t>
            </a:r>
          </a:p>
        </p:txBody>
      </p:sp>
      <p:sp>
        <p:nvSpPr>
          <p:cNvPr id="4" name="TextBox 3"/>
          <p:cNvSpPr txBox="1"/>
          <p:nvPr/>
        </p:nvSpPr>
        <p:spPr>
          <a:xfrm>
            <a:off x="457200" y="1097280"/>
            <a:ext cx="10972800" cy="1828800"/>
          </a:xfrm>
          <a:prstGeom prst="rect">
            <a:avLst/>
          </a:prstGeom>
          <a:noFill/>
        </p:spPr>
        <p:txBody>
          <a:bodyPr wrap="square">
            <a:spAutoFit/>
          </a:bodyPr>
          <a:lstStyle/>
          <a:p>
            <a:pPr>
              <a:defRPr sz="4000" b="1">
                <a:solidFill>
                  <a:srgbClr val="FFFFFF"/>
                </a:solidFill>
              </a:defRPr>
            </a:pPr>
            <a:r>
              <a:t>Reduce the Human's Job to One Reliable Behavior</a:t>
            </a:r>
          </a:p>
        </p:txBody>
      </p:sp>
      <p:sp>
        <p:nvSpPr>
          <p:cNvPr id="5" name="TextBox 4"/>
          <p:cNvSpPr txBox="1"/>
          <p:nvPr/>
        </p:nvSpPr>
        <p:spPr>
          <a:xfrm>
            <a:off x="457200" y="3200400"/>
            <a:ext cx="10058400" cy="3200400"/>
          </a:xfrm>
          <a:prstGeom prst="rect">
            <a:avLst/>
          </a:prstGeom>
          <a:noFill/>
        </p:spPr>
        <p:txBody>
          <a:bodyPr wrap="square">
            <a:spAutoFit/>
          </a:bodyPr>
          <a:lstStyle/>
          <a:p>
            <a:pPr>
              <a:defRPr sz="2000">
                <a:solidFill>
                  <a:srgbClr val="9CA3AF"/>
                </a:solidFill>
              </a:defRPr>
            </a:pPr>
            <a:r>
              <a:t>Your ONE job: brain dump. Claude handles structuring, formatting, routing. The messier the input, the more value.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tretch>
            <a:fillRect/>
          </a:stretch>
        </p:blipFill>
        <p:spPr>
          <a:xfrm>
            <a:off x="457200" y="1188720"/>
            <a:ext cx="8229600" cy="530352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457200" y="365760"/>
            <a:ext cx="137160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0972800" cy="365760"/>
          </a:xfrm>
          <a:prstGeom prst="rect">
            <a:avLst/>
          </a:prstGeom>
          <a:noFill/>
        </p:spPr>
        <p:txBody>
          <a:bodyPr wrap="none">
            <a:spAutoFit/>
          </a:bodyPr>
          <a:lstStyle/>
          <a:p>
            <a:pPr>
              <a:defRPr sz="1400" b="1">
                <a:solidFill>
                  <a:srgbClr val="14B8A6"/>
                </a:solidFill>
              </a:defRPr>
            </a:pPr>
            <a:r>
              <a:t>ENGINEERING PRINCIPLE</a:t>
            </a:r>
          </a:p>
        </p:txBody>
      </p:sp>
      <p:sp>
        <p:nvSpPr>
          <p:cNvPr id="4" name="TextBox 3"/>
          <p:cNvSpPr txBox="1"/>
          <p:nvPr/>
        </p:nvSpPr>
        <p:spPr>
          <a:xfrm>
            <a:off x="457200" y="1097280"/>
            <a:ext cx="10972800" cy="1828800"/>
          </a:xfrm>
          <a:prstGeom prst="rect">
            <a:avLst/>
          </a:prstGeom>
          <a:noFill/>
        </p:spPr>
        <p:txBody>
          <a:bodyPr wrap="square">
            <a:spAutoFit/>
          </a:bodyPr>
          <a:lstStyle/>
          <a:p>
            <a:pPr>
              <a:defRPr sz="4000" b="1">
                <a:solidFill>
                  <a:srgbClr val="FFFFFF"/>
                </a:solidFill>
              </a:defRPr>
            </a:pPr>
            <a:r>
              <a:t>Treat Prompts Like APIs, Not Creative Writing</a:t>
            </a:r>
          </a:p>
        </p:txBody>
      </p:sp>
      <p:sp>
        <p:nvSpPr>
          <p:cNvPr id="5" name="TextBox 4"/>
          <p:cNvSpPr txBox="1"/>
          <p:nvPr/>
        </p:nvSpPr>
        <p:spPr>
          <a:xfrm>
            <a:off x="457200" y="3200400"/>
            <a:ext cx="10058400" cy="3200400"/>
          </a:xfrm>
          <a:prstGeom prst="rect">
            <a:avLst/>
          </a:prstGeom>
          <a:noFill/>
        </p:spPr>
        <p:txBody>
          <a:bodyPr wrap="square">
            <a:spAutoFit/>
          </a:bodyPr>
          <a:lstStyle/>
          <a:p>
            <a:pPr>
              <a:defRPr sz="2000">
                <a:solidFill>
                  <a:srgbClr val="9CA3AF"/>
                </a:solidFill>
              </a:defRPr>
            </a:pPr>
            <a:r>
              <a:t>Great prompts have defined inputs, expected outputs, and error handling — just like API contracts.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699801" y="1800808"/>
            <a:ext cx="10635523" cy="441338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457200" y="365760"/>
            <a:ext cx="137160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0972800" cy="365760"/>
          </a:xfrm>
          <a:prstGeom prst="rect">
            <a:avLst/>
          </a:prstGeom>
          <a:noFill/>
        </p:spPr>
        <p:txBody>
          <a:bodyPr wrap="none">
            <a:spAutoFit/>
          </a:bodyPr>
          <a:lstStyle/>
          <a:p>
            <a:pPr>
              <a:defRPr sz="1400" b="1">
                <a:solidFill>
                  <a:srgbClr val="14B8A6"/>
                </a:solidFill>
              </a:defRPr>
            </a:pPr>
            <a:r>
              <a:t>ENGINEERING PRINCIPLE</a:t>
            </a:r>
          </a:p>
        </p:txBody>
      </p:sp>
      <p:sp>
        <p:nvSpPr>
          <p:cNvPr id="4" name="TextBox 3"/>
          <p:cNvSpPr txBox="1"/>
          <p:nvPr/>
        </p:nvSpPr>
        <p:spPr>
          <a:xfrm>
            <a:off x="457200" y="1097280"/>
            <a:ext cx="10972800" cy="1828800"/>
          </a:xfrm>
          <a:prstGeom prst="rect">
            <a:avLst/>
          </a:prstGeom>
          <a:noFill/>
        </p:spPr>
        <p:txBody>
          <a:bodyPr wrap="square">
            <a:spAutoFit/>
          </a:bodyPr>
          <a:lstStyle/>
          <a:p>
            <a:pPr>
              <a:defRPr sz="4000" b="1">
                <a:solidFill>
                  <a:srgbClr val="FFFFFF"/>
                </a:solidFill>
              </a:defRPr>
            </a:pPr>
            <a:r>
              <a:t>Build Trust Mechanisms, Not Just Capabilities</a:t>
            </a:r>
          </a:p>
        </p:txBody>
      </p:sp>
      <p:sp>
        <p:nvSpPr>
          <p:cNvPr id="5" name="TextBox 4"/>
          <p:cNvSpPr txBox="1"/>
          <p:nvPr/>
        </p:nvSpPr>
        <p:spPr>
          <a:xfrm>
            <a:off x="457200" y="3200400"/>
            <a:ext cx="10058400" cy="3200400"/>
          </a:xfrm>
          <a:prstGeom prst="rect">
            <a:avLst/>
          </a:prstGeom>
          <a:noFill/>
        </p:spPr>
        <p:txBody>
          <a:bodyPr wrap="square">
            <a:spAutoFit/>
          </a:bodyPr>
          <a:lstStyle/>
          <a:p>
            <a:pPr>
              <a:defRPr sz="2000">
                <a:solidFill>
                  <a:srgbClr val="9CA3AF"/>
                </a:solidFill>
              </a:defRPr>
            </a:pPr>
            <a:r>
              <a:t>Verification &gt; capability. Confidence flags, source citations, uncertainty markers. Trust earned through transparency.</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Practical Prompting &amp; Documents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Transform 3 vague prompts using GOLDEN framework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Create a professional report from data (15 min) - artifact output</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Generate presentation outline with speaker notes (10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Analyze uploaded PDF and create summary (10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success with the class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Beyond Prompting: The 6 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When to Use Claude in Excel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Formula help while building → Claude in Excel</a:t>
            </a:r>
          </a:p>
          <a:p>
            <a:pPr>
              <a:spcBef>
                <a:spcPts val="800"/>
              </a:spcBef>
              <a:spcAft>
                <a:spcPts val="800"/>
              </a:spcAft>
              <a:defRPr sz="2200">
                <a:solidFill>
                  <a:srgbClr val="FFFFFF"/>
                </a:solidFill>
              </a:defRPr>
            </a:pPr>
            <a:r>
              <a:t>  Deep analysis of uploaded file → Claude.ai</a:t>
            </a:r>
          </a:p>
          <a:p>
            <a:pPr>
              <a:spcBef>
                <a:spcPts val="800"/>
              </a:spcBef>
              <a:spcAft>
                <a:spcPts val="800"/>
              </a:spcAft>
              <a:defRPr sz="2200">
                <a:solidFill>
                  <a:srgbClr val="FFFFFF"/>
                </a:solidFill>
              </a:defRPr>
            </a:pPr>
            <a:r>
              <a:t>  PivotTables, chart creation → M365 Copilot</a:t>
            </a:r>
          </a:p>
          <a:p>
            <a:pPr>
              <a:spcBef>
                <a:spcPts val="800"/>
              </a:spcBef>
              <a:spcAft>
                <a:spcPts val="800"/>
              </a:spcAft>
              <a:defRPr sz="2200">
                <a:solidFill>
                  <a:srgbClr val="FFFFFF"/>
                </a:solidFill>
              </a:defRPr>
            </a:pPr>
            <a:r>
              <a:t>  Multi-file analysis → Claude.ai</a:t>
            </a:r>
          </a:p>
          <a:p>
            <a:pPr>
              <a:spcBef>
                <a:spcPts val="800"/>
              </a:spcBef>
              <a:spcAft>
                <a:spcPts val="800"/>
              </a:spcAft>
              <a:defRPr sz="2200">
                <a:solidFill>
                  <a:srgbClr val="FFFFFF"/>
                </a:solidFill>
              </a:defRPr>
            </a:pPr>
            <a:r>
              <a:t>  Learning/debugging formulas → Claude in Excel</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Legal review: 'Review this contract for potential risks'</a:t>
            </a:r>
          </a:p>
          <a:p>
            <a:pPr>
              <a:spcBef>
                <a:spcPts val="800"/>
              </a:spcBef>
              <a:spcAft>
                <a:spcPts val="800"/>
              </a:spcAft>
              <a:defRPr sz="2200">
                <a:solidFill>
                  <a:srgbClr val="FFFFFF"/>
                </a:solidFill>
              </a:defRPr>
            </a:pPr>
            <a:r>
              <a:t>  Research synthesis: 'I've uploaded 5 papers. What are common findings?'</a:t>
            </a:r>
          </a:p>
          <a:p>
            <a:pPr>
              <a:spcBef>
                <a:spcPts val="800"/>
              </a:spcBef>
              <a:spcAft>
                <a:spcPts val="800"/>
              </a:spcAft>
              <a:defRPr sz="2200">
                <a:solidFill>
                  <a:srgbClr val="FFFFFF"/>
                </a:solidFill>
              </a:defRPr>
            </a:pPr>
            <a:r>
              <a:t>  Data extraction: 'Extract all dates, names, and dollar amounts into a table'</a:t>
            </a:r>
          </a:p>
          <a:p>
            <a:pPr>
              <a:spcBef>
                <a:spcPts val="800"/>
              </a:spcBef>
              <a:spcAft>
                <a:spcPts val="800"/>
              </a:spcAft>
              <a:defRPr sz="2200">
                <a:solidFill>
                  <a:srgbClr val="FFFFFF"/>
                </a:solidFill>
              </a:defRPr>
            </a:pPr>
            <a:r>
              <a:t>  Comparison: 'Compare these two proposals and highlight differences'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Document Creation Workshop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Email series (3 versions for A/B testing) - 10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Executive summary from long PDF report - 15 min</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Data analysis → PowerPoint deck (CSV to slides) - 15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Claude in Excel - formula assistance - 5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favorite output with the class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Microsoft Runs Both. Shouldn't You?</a:t>
            </a:r>
          </a:p>
        </p:txBody>
      </p:sp>
      <p:sp>
        <p:nvSpPr>
          <p:cNvPr id="3" name="TextBox 2"/>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Microsoft mandated its engineers test Claude Code alongside Copilot — and submit comparative feedback.</a:t>
            </a:r>
          </a:p>
        </p:txBody>
      </p:sp>
      <p:sp>
        <p:nvSpPr>
          <p:cNvPr id="4" name="TextBox 3"/>
          <p:cNvSpPr txBox="1"/>
          <p:nvPr/>
        </p:nvSpPr>
        <p:spPr>
          <a:xfrm>
            <a:off x="457200" y="1828800"/>
            <a:ext cx="5029200" cy="457200"/>
          </a:xfrm>
          <a:prstGeom prst="rect">
            <a:avLst/>
          </a:prstGeom>
          <a:noFill/>
        </p:spPr>
        <p:txBody>
          <a:bodyPr wrap="none">
            <a:spAutoFit/>
          </a:bodyPr>
          <a:lstStyle/>
          <a:p>
            <a:pPr algn="ctr">
              <a:defRPr sz="2800" b="1">
                <a:solidFill>
                  <a:srgbClr val="FFFFFF"/>
                </a:solidFill>
              </a:defRPr>
            </a:pPr>
            <a:r>
              <a:t>GitHub Copilot</a:t>
            </a:r>
          </a:p>
        </p:txBody>
      </p:sp>
      <p:sp>
        <p:nvSpPr>
          <p:cNvPr id="5" name="TextBox 4"/>
          <p:cNvSpPr txBox="1"/>
          <p:nvPr/>
        </p:nvSpPr>
        <p:spPr>
          <a:xfrm>
            <a:off x="6217920" y="1828800"/>
            <a:ext cx="5029200" cy="457200"/>
          </a:xfrm>
          <a:prstGeom prst="rect">
            <a:avLst/>
          </a:prstGeom>
          <a:noFill/>
        </p:spPr>
        <p:txBody>
          <a:bodyPr wrap="none">
            <a:spAutoFit/>
          </a:bodyPr>
          <a:lstStyle/>
          <a:p>
            <a:pPr algn="ctr">
              <a:defRPr sz="2800" b="1">
                <a:solidFill>
                  <a:srgbClr val="FFFFFF"/>
                </a:solidFill>
              </a:defRPr>
            </a:pPr>
            <a:r>
              <a:t>Claude Code</a:t>
            </a:r>
          </a:p>
        </p:txBody>
      </p:sp>
      <p:sp>
        <p:nvSpPr>
          <p:cNvPr id="6" name="TextBox 5"/>
          <p:cNvSpPr txBox="1"/>
          <p:nvPr/>
        </p:nvSpPr>
        <p:spPr>
          <a:xfrm>
            <a:off x="457200" y="2377440"/>
            <a:ext cx="5029200" cy="3200400"/>
          </a:xfrm>
          <a:prstGeom prst="rect">
            <a:avLst/>
          </a:prstGeom>
          <a:noFill/>
        </p:spPr>
        <p:txBody>
          <a:bodyPr wrap="square">
            <a:spAutoFit/>
          </a:bodyPr>
          <a:lstStyle/>
          <a:p>
            <a:pPr>
              <a:spcAft>
                <a:spcPts val="800"/>
              </a:spcAft>
              <a:defRPr sz="1800">
                <a:solidFill>
                  <a:srgbClr val="D1D5DB"/>
                </a:solidFill>
              </a:defRPr>
            </a:pPr>
            <a:r>
              <a:t>•  40-55% productivity gain</a:t>
            </a:r>
          </a:p>
          <a:p>
            <a:pPr>
              <a:spcAft>
                <a:spcPts val="800"/>
              </a:spcAft>
              <a:defRPr sz="1800">
                <a:solidFill>
                  <a:srgbClr val="D1D5DB"/>
                </a:solidFill>
              </a:defRPr>
            </a:pPr>
            <a:r>
              <a:t>•  Best: IDE autocomplete, inline suggestions</a:t>
            </a:r>
          </a:p>
          <a:p>
            <a:pPr>
              <a:spcAft>
                <a:spcPts val="800"/>
              </a:spcAft>
              <a:defRPr sz="1800">
                <a:solidFill>
                  <a:srgbClr val="D1D5DB"/>
                </a:solidFill>
              </a:defRPr>
            </a:pPr>
            <a:r>
              <a:t>•  Best: Boilerplate, data science, MS ecosystem</a:t>
            </a:r>
          </a:p>
          <a:p>
            <a:pPr>
              <a:spcAft>
                <a:spcPts val="800"/>
              </a:spcAft>
              <a:defRPr sz="1800">
                <a:solidFill>
                  <a:srgbClr val="D1D5DB"/>
                </a:solidFill>
              </a:defRPr>
            </a:pPr>
            <a:r>
              <a:t>•  15M developers, 42% market share</a:t>
            </a:r>
          </a:p>
          <a:p>
            <a:pPr>
              <a:spcAft>
                <a:spcPts val="800"/>
              </a:spcAft>
              <a:defRPr sz="1800">
                <a:solidFill>
                  <a:srgbClr val="D1D5DB"/>
                </a:solidFill>
              </a:defRPr>
            </a:pPr>
            <a:r>
              <a:t>•  110ms response time</a:t>
            </a:r>
          </a:p>
        </p:txBody>
      </p:sp>
      <p:sp>
        <p:nvSpPr>
          <p:cNvPr id="7" name="TextBox 6"/>
          <p:cNvSpPr txBox="1"/>
          <p:nvPr/>
        </p:nvSpPr>
        <p:spPr>
          <a:xfrm>
            <a:off x="6217920" y="2377440"/>
            <a:ext cx="5029200" cy="3200400"/>
          </a:xfrm>
          <a:prstGeom prst="rect">
            <a:avLst/>
          </a:prstGeom>
          <a:noFill/>
        </p:spPr>
        <p:txBody>
          <a:bodyPr wrap="square">
            <a:spAutoFit/>
          </a:bodyPr>
          <a:lstStyle/>
          <a:p>
            <a:pPr>
              <a:spcAft>
                <a:spcPts val="800"/>
              </a:spcAft>
              <a:defRPr sz="1800">
                <a:solidFill>
                  <a:srgbClr val="D1D5DB"/>
                </a:solidFill>
              </a:defRPr>
            </a:pPr>
            <a:r>
              <a:t>•  48% productivity, 77.2% SWE-bench</a:t>
            </a:r>
          </a:p>
          <a:p>
            <a:pPr>
              <a:spcAft>
                <a:spcPts val="800"/>
              </a:spcAft>
              <a:defRPr sz="1800">
                <a:solidFill>
                  <a:srgbClr val="D1D5DB"/>
                </a:solidFill>
              </a:defRPr>
            </a:pPr>
            <a:r>
              <a:t>•  Best: Complex reasoning, multi-file edits</a:t>
            </a:r>
          </a:p>
          <a:p>
            <a:pPr>
              <a:spcAft>
                <a:spcPts val="800"/>
              </a:spcAft>
              <a:defRPr sz="1800">
                <a:solidFill>
                  <a:srgbClr val="D1D5DB"/>
                </a:solidFill>
              </a:defRPr>
            </a:pPr>
            <a:r>
              <a:t>•  Best: Backend, CLI, infra, large codebases</a:t>
            </a:r>
          </a:p>
          <a:p>
            <a:pPr>
              <a:spcAft>
                <a:spcPts val="800"/>
              </a:spcAft>
              <a:defRPr sz="1800">
                <a:solidFill>
                  <a:srgbClr val="D1D5DB"/>
                </a:solidFill>
              </a:defRPr>
            </a:pPr>
            <a:r>
              <a:t>•  Terminal-native, growing fast</a:t>
            </a:r>
          </a:p>
          <a:p>
            <a:pPr>
              <a:spcAft>
                <a:spcPts val="800"/>
              </a:spcAft>
              <a:defRPr sz="1800">
                <a:solidFill>
                  <a:srgbClr val="D1D5DB"/>
                </a:solidFill>
              </a:defRPr>
            </a:pPr>
            <a:r>
              <a:t>•  200K token context window</a:t>
            </a:r>
          </a:p>
        </p:txBody>
      </p:sp>
      <p:sp>
        <p:nvSpPr>
          <p:cNvPr id="8" name="Rectangle 7"/>
          <p:cNvSpPr/>
          <p:nvPr/>
        </p:nvSpPr>
        <p:spPr>
          <a:xfrm>
            <a:off x="5852160" y="1828800"/>
            <a:ext cx="27432" cy="3657600"/>
          </a:xfrm>
          <a:prstGeom prst="rect">
            <a:avLst/>
          </a:prstGeom>
          <a:solidFill>
            <a:srgbClr val="4B55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5943600"/>
            <a:ext cx="11247120" cy="731520"/>
          </a:xfrm>
          <a:prstGeom prst="rect">
            <a:avLst/>
          </a:prstGeom>
          <a:noFill/>
        </p:spPr>
        <p:txBody>
          <a:bodyPr wrap="square">
            <a:spAutoFit/>
          </a:bodyPr>
          <a:lstStyle/>
          <a:p>
            <a:pPr algn="ctr">
              <a:defRPr sz="1800" b="1">
                <a:solidFill>
                  <a:srgbClr val="0078D4"/>
                </a:solidFill>
              </a:defRPr>
            </a:pPr>
            <a:r>
              <a:t>Your instructor is a Microsoft Certified Trainer who teaches both Copilot and Claude Code — the same multi-tool approach Microsoft uses internally.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12538</Words>
  <Application>Microsoft Office PowerPoint</Application>
  <PresentationFormat>Widescreen</PresentationFormat>
  <Paragraphs>1641</Paragraphs>
  <Slides>79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2026-02-13T19:42:29Z</dcterms:modified>
  <cp:category/>
</cp:coreProperties>
</file>