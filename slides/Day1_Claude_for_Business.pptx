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70"/>
  </p:notesMasterIdLst>
  <p:sldIdLst>
    <p:sldId id="256" r:id="rId2"/>
    <p:sldId id="257" r:id="rId3"/>
    <p:sldId id="258" r:id="rId4"/>
    <p:sldId id="264" r:id="rId5"/>
    <p:sldId id="268" r:id="rId6"/>
    <p:sldId id="269" r:id="rId7"/>
    <p:sldId id="281" r:id="rId8"/>
    <p:sldId id="282" r:id="rId9"/>
    <p:sldId id="283" r:id="rId10"/>
    <p:sldId id="284" r:id="rId11"/>
    <p:sldId id="285" r:id="rId12"/>
    <p:sldId id="286" r:id="rId13"/>
    <p:sldId id="287" r:id="rId14"/>
    <p:sldId id="296" r:id="rId28"/>
    <p:sldId id="288" r:id="rId15"/>
    <p:sldId id="289" r:id="rId16"/>
    <p:sldId id="290" r:id="rId17"/>
    <p:sldId id="291" r:id="rId18"/>
    <p:sldId id="292" r:id="rId19"/>
    <p:sldId id="294" r:id="rId21"/>
    <p:sldId id="295" r:id="rId22"/>
    <p:sldId id="297" r:id="rId29"/>
    <p:sldId id="293" r:id="rId20"/>
    <p:sldId id="280" r:id="rId23"/>
    <p:sldId id="271" r:id="rId24"/>
    <p:sldId id="335" r:id="rId25"/>
    <p:sldId id="336" r:id="rId26"/>
    <p:sldId id="337" r:id="rId27"/>
    <p:sldId id="346" r:id="rId38"/>
    <p:sldId id="347" r:id="rId39"/>
    <p:sldId id="272" r:id="rId30"/>
    <p:sldId id="273" r:id="rId31"/>
    <p:sldId id="274" r:id="rId32"/>
    <p:sldId id="275" r:id="rId33"/>
    <p:sldId id="276" r:id="rId34"/>
    <p:sldId id="343" r:id="rId35"/>
    <p:sldId id="298" r:id="rId36"/>
    <p:sldId id="277" r:id="rId37"/>
    <p:sldId id="299" r:id="rId40"/>
    <p:sldId id="300" r:id="rId41"/>
    <p:sldId id="301" r:id="rId42"/>
    <p:sldId id="302" r:id="rId43"/>
    <p:sldId id="303" r:id="rId44"/>
    <p:sldId id="304" r:id="rId45"/>
    <p:sldId id="305" r:id="rId46"/>
    <p:sldId id="306" r:id="rId47"/>
    <p:sldId id="307" r:id="rId48"/>
    <p:sldId id="308" r:id="rId49"/>
    <p:sldId id="344" r:id="rId50"/>
    <p:sldId id="309" r:id="rId51"/>
    <p:sldId id="310" r:id="rId52"/>
    <p:sldId id="311" r:id="rId53"/>
    <p:sldId id="312" r:id="rId54"/>
    <p:sldId id="313" r:id="rId55"/>
    <p:sldId id="314" r:id="rId56"/>
    <p:sldId id="315" r:id="rId57"/>
    <p:sldId id="316" r:id="rId58"/>
    <p:sldId id="317" r:id="rId59"/>
    <p:sldId id="318" r:id="rId60"/>
    <p:sldId id="319" r:id="rId61"/>
    <p:sldId id="345" r:id="rId62"/>
    <p:sldId id="328" r:id="rId63"/>
    <p:sldId id="329" r:id="rId64"/>
    <p:sldId id="330" r:id="rId65"/>
    <p:sldId id="331" r:id="rId66"/>
    <p:sldId id="332" r:id="rId67"/>
    <p:sldId id="333" r:id="rId68"/>
    <p:sldId id="334" r:id="rId6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A8C2843-E5FF-413E-AF65-23AFCC76FC85}" v="8" dt="2026-02-16T00:14:18.705"/>
    <p1510:client id="{8A2C6AB8-6D9A-4FFF-AEDA-02DF086C3C35}" v="1" dt="2026-02-16T05:32:55.391"/>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77320" autoAdjust="0"/>
  </p:normalViewPr>
  <p:slideViewPr>
    <p:cSldViewPr snapToGrid="0" snapToObjects="1">
      <p:cViewPr varScale="1">
        <p:scale>
          <a:sx n="64" d="100"/>
          <a:sy n="64" d="100"/>
        </p:scale>
        <p:origin x="1354" y="27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4.xml"/><Relationship Id="rId24" Type="http://schemas.openxmlformats.org/officeDocument/2006/relationships/slide" Target="slides/slide25.xml"/><Relationship Id="rId25" Type="http://schemas.openxmlformats.org/officeDocument/2006/relationships/slide" Target="slides/slide26.xml"/><Relationship Id="rId26" Type="http://schemas.openxmlformats.org/officeDocument/2006/relationships/slide" Target="slides/slide27.xml"/><Relationship Id="rId27" Type="http://schemas.openxmlformats.org/officeDocument/2006/relationships/slide" Target="slides/slide28.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31.xml"/><Relationship Id="rId31" Type="http://schemas.openxmlformats.org/officeDocument/2006/relationships/slide" Target="slides/slide32.xml"/><Relationship Id="rId32" Type="http://schemas.openxmlformats.org/officeDocument/2006/relationships/slide" Target="slides/slide33.xml"/><Relationship Id="rId33" Type="http://schemas.openxmlformats.org/officeDocument/2006/relationships/slide" Target="slides/slide34.xml"/><Relationship Id="rId34" Type="http://schemas.openxmlformats.org/officeDocument/2006/relationships/slide" Target="slides/slide35.xml"/><Relationship Id="rId35" Type="http://schemas.openxmlformats.org/officeDocument/2006/relationships/slide" Target="slides/slide36.xml"/><Relationship Id="rId36" Type="http://schemas.openxmlformats.org/officeDocument/2006/relationships/slide" Target="slides/slide37.xml"/><Relationship Id="rId37" Type="http://schemas.openxmlformats.org/officeDocument/2006/relationships/slide" Target="slides/slide38.xml"/><Relationship Id="rId38" Type="http://schemas.openxmlformats.org/officeDocument/2006/relationships/slide" Target="slides/slide29.xml"/><Relationship Id="rId39" Type="http://schemas.openxmlformats.org/officeDocument/2006/relationships/slide" Target="slides/slide30.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notesMaster" Target="notesMasters/notesMaster1.xml"/><Relationship Id="rId71" Type="http://schemas.openxmlformats.org/officeDocument/2006/relationships/presProps" Target="presProps.xml"/><Relationship Id="rId72" Type="http://schemas.openxmlformats.org/officeDocument/2006/relationships/viewProps" Target="viewProps.xml"/><Relationship Id="rId73" Type="http://schemas.openxmlformats.org/officeDocument/2006/relationships/theme" Target="theme/theme1.xml"/><Relationship Id="rId74" Type="http://schemas.openxmlformats.org/officeDocument/2006/relationships/tableStyles" Target="tableStyles.xml"/><Relationship Id="rId75" Type="http://schemas.microsoft.com/office/2016/11/relationships/changesInfo" Target="changesInfos/changesInfo1.xml"/><Relationship Id="rId76"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cott Hay" userId="e95d3f44-f6c0-414c-b281-41a9346c1b81" providerId="ADAL" clId="{4D76341F-F64C-4A8E-A4EF-1A11730F38E9}"/>
    <pc:docChg chg="undo custSel addSld delSld modSld sldOrd">
      <pc:chgData name="Scott Hay" userId="e95d3f44-f6c0-414c-b281-41a9346c1b81" providerId="ADAL" clId="{4D76341F-F64C-4A8E-A4EF-1A11730F38E9}" dt="2026-02-16T05:46:54.708" v="151" actId="403"/>
      <pc:docMkLst>
        <pc:docMk/>
      </pc:docMkLst>
      <pc:sldChg chg="del">
        <pc:chgData name="Scott Hay" userId="e95d3f44-f6c0-414c-b281-41a9346c1b81" providerId="ADAL" clId="{4D76341F-F64C-4A8E-A4EF-1A11730F38E9}" dt="2026-02-16T00:13:51.846" v="97" actId="2696"/>
        <pc:sldMkLst>
          <pc:docMk/>
          <pc:sldMk cId="0" sldId="259"/>
        </pc:sldMkLst>
      </pc:sldChg>
      <pc:sldChg chg="add">
        <pc:chgData name="Scott Hay" userId="e95d3f44-f6c0-414c-b281-41a9346c1b81" providerId="ADAL" clId="{4D76341F-F64C-4A8E-A4EF-1A11730F38E9}" dt="2026-02-16T00:14:18.702" v="98"/>
        <pc:sldMkLst>
          <pc:docMk/>
          <pc:sldMk cId="3926669599" sldId="259"/>
        </pc:sldMkLst>
      </pc:sldChg>
      <pc:sldChg chg="del">
        <pc:chgData name="Scott Hay" userId="e95d3f44-f6c0-414c-b281-41a9346c1b81" providerId="ADAL" clId="{4D76341F-F64C-4A8E-A4EF-1A11730F38E9}" dt="2026-02-16T00:13:51.846" v="97" actId="2696"/>
        <pc:sldMkLst>
          <pc:docMk/>
          <pc:sldMk cId="0" sldId="260"/>
        </pc:sldMkLst>
      </pc:sldChg>
      <pc:sldChg chg="add">
        <pc:chgData name="Scott Hay" userId="e95d3f44-f6c0-414c-b281-41a9346c1b81" providerId="ADAL" clId="{4D76341F-F64C-4A8E-A4EF-1A11730F38E9}" dt="2026-02-16T00:14:18.702" v="98"/>
        <pc:sldMkLst>
          <pc:docMk/>
          <pc:sldMk cId="1144083189" sldId="260"/>
        </pc:sldMkLst>
      </pc:sldChg>
      <pc:sldChg chg="addSp modSp del mod modNotesTx">
        <pc:chgData name="Scott Hay" userId="e95d3f44-f6c0-414c-b281-41a9346c1b81" providerId="ADAL" clId="{4D76341F-F64C-4A8E-A4EF-1A11730F38E9}" dt="2026-02-16T00:13:51.846" v="97" actId="2696"/>
        <pc:sldMkLst>
          <pc:docMk/>
          <pc:sldMk cId="0" sldId="261"/>
        </pc:sldMkLst>
        <pc:picChg chg="add mod">
          <ac:chgData name="Scott Hay" userId="e95d3f44-f6c0-414c-b281-41a9346c1b81" providerId="ADAL" clId="{4D76341F-F64C-4A8E-A4EF-1A11730F38E9}" dt="2026-02-15T23:58:10.300" v="23" actId="1076"/>
          <ac:picMkLst>
            <pc:docMk/>
            <pc:sldMk cId="0" sldId="261"/>
            <ac:picMk id="5" creationId="{ED40630E-5EFE-2DDC-31BA-D0ADD91A91EC}"/>
          </ac:picMkLst>
        </pc:picChg>
      </pc:sldChg>
      <pc:sldChg chg="add">
        <pc:chgData name="Scott Hay" userId="e95d3f44-f6c0-414c-b281-41a9346c1b81" providerId="ADAL" clId="{4D76341F-F64C-4A8E-A4EF-1A11730F38E9}" dt="2026-02-16T00:14:18.702" v="98"/>
        <pc:sldMkLst>
          <pc:docMk/>
          <pc:sldMk cId="1472014220" sldId="261"/>
        </pc:sldMkLst>
      </pc:sldChg>
      <pc:sldChg chg="del">
        <pc:chgData name="Scott Hay" userId="e95d3f44-f6c0-414c-b281-41a9346c1b81" providerId="ADAL" clId="{4D76341F-F64C-4A8E-A4EF-1A11730F38E9}" dt="2026-02-16T00:13:51.846" v="97" actId="2696"/>
        <pc:sldMkLst>
          <pc:docMk/>
          <pc:sldMk cId="0" sldId="262"/>
        </pc:sldMkLst>
      </pc:sldChg>
      <pc:sldChg chg="add">
        <pc:chgData name="Scott Hay" userId="e95d3f44-f6c0-414c-b281-41a9346c1b81" providerId="ADAL" clId="{4D76341F-F64C-4A8E-A4EF-1A11730F38E9}" dt="2026-02-16T00:14:18.702" v="98"/>
        <pc:sldMkLst>
          <pc:docMk/>
          <pc:sldMk cId="2492605623" sldId="262"/>
        </pc:sldMkLst>
      </pc:sldChg>
      <pc:sldChg chg="del">
        <pc:chgData name="Scott Hay" userId="e95d3f44-f6c0-414c-b281-41a9346c1b81" providerId="ADAL" clId="{4D76341F-F64C-4A8E-A4EF-1A11730F38E9}" dt="2026-02-16T00:03:04.302" v="24" actId="47"/>
        <pc:sldMkLst>
          <pc:docMk/>
          <pc:sldMk cId="0" sldId="263"/>
        </pc:sldMkLst>
      </pc:sldChg>
      <pc:sldChg chg="modSp mod">
        <pc:chgData name="Scott Hay" userId="e95d3f44-f6c0-414c-b281-41a9346c1b81" providerId="ADAL" clId="{4D76341F-F64C-4A8E-A4EF-1A11730F38E9}" dt="2026-02-15T23:39:28.478" v="9" actId="14100"/>
        <pc:sldMkLst>
          <pc:docMk/>
          <pc:sldMk cId="0" sldId="264"/>
        </pc:sldMkLst>
        <pc:picChg chg="mod">
          <ac:chgData name="Scott Hay" userId="e95d3f44-f6c0-414c-b281-41a9346c1b81" providerId="ADAL" clId="{4D76341F-F64C-4A8E-A4EF-1A11730F38E9}" dt="2026-02-15T23:39:28.478" v="9" actId="14100"/>
          <ac:picMkLst>
            <pc:docMk/>
            <pc:sldMk cId="0" sldId="264"/>
            <ac:picMk id="3" creationId="{00000000-0000-0000-0000-000000000000}"/>
          </ac:picMkLst>
        </pc:picChg>
      </pc:sldChg>
      <pc:sldChg chg="del">
        <pc:chgData name="Scott Hay" userId="e95d3f44-f6c0-414c-b281-41a9346c1b81" providerId="ADAL" clId="{4D76341F-F64C-4A8E-A4EF-1A11730F38E9}" dt="2026-02-15T23:32:53.781" v="5" actId="47"/>
        <pc:sldMkLst>
          <pc:docMk/>
          <pc:sldMk cId="0" sldId="265"/>
        </pc:sldMkLst>
      </pc:sldChg>
      <pc:sldChg chg="del">
        <pc:chgData name="Scott Hay" userId="e95d3f44-f6c0-414c-b281-41a9346c1b81" providerId="ADAL" clId="{4D76341F-F64C-4A8E-A4EF-1A11730F38E9}" dt="2026-02-16T00:09:57.552" v="91" actId="2696"/>
        <pc:sldMkLst>
          <pc:docMk/>
          <pc:sldMk cId="0" sldId="266"/>
        </pc:sldMkLst>
      </pc:sldChg>
      <pc:sldChg chg="add">
        <pc:chgData name="Scott Hay" userId="e95d3f44-f6c0-414c-b281-41a9346c1b81" providerId="ADAL" clId="{4D76341F-F64C-4A8E-A4EF-1A11730F38E9}" dt="2026-02-16T00:11:01.500" v="96"/>
        <pc:sldMkLst>
          <pc:docMk/>
          <pc:sldMk cId="850379057" sldId="266"/>
        </pc:sldMkLst>
      </pc:sldChg>
      <pc:sldChg chg="add del setBg">
        <pc:chgData name="Scott Hay" userId="e95d3f44-f6c0-414c-b281-41a9346c1b81" providerId="ADAL" clId="{4D76341F-F64C-4A8E-A4EF-1A11730F38E9}" dt="2026-02-16T00:10:43.057" v="93"/>
        <pc:sldMkLst>
          <pc:docMk/>
          <pc:sldMk cId="2918238191" sldId="266"/>
        </pc:sldMkLst>
      </pc:sldChg>
      <pc:sldChg chg="add del setBg">
        <pc:chgData name="Scott Hay" userId="e95d3f44-f6c0-414c-b281-41a9346c1b81" providerId="ADAL" clId="{4D76341F-F64C-4A8E-A4EF-1A11730F38E9}" dt="2026-02-16T00:10:55.933" v="95"/>
        <pc:sldMkLst>
          <pc:docMk/>
          <pc:sldMk cId="2990663366" sldId="266"/>
        </pc:sldMkLst>
      </pc:sldChg>
      <pc:sldChg chg="del">
        <pc:chgData name="Scott Hay" userId="e95d3f44-f6c0-414c-b281-41a9346c1b81" providerId="ADAL" clId="{4D76341F-F64C-4A8E-A4EF-1A11730F38E9}" dt="2026-02-16T00:09:57.552" v="91" actId="2696"/>
        <pc:sldMkLst>
          <pc:docMk/>
          <pc:sldMk cId="0" sldId="267"/>
        </pc:sldMkLst>
      </pc:sldChg>
      <pc:sldChg chg="add del setBg">
        <pc:chgData name="Scott Hay" userId="e95d3f44-f6c0-414c-b281-41a9346c1b81" providerId="ADAL" clId="{4D76341F-F64C-4A8E-A4EF-1A11730F38E9}" dt="2026-02-16T00:10:43.057" v="93"/>
        <pc:sldMkLst>
          <pc:docMk/>
          <pc:sldMk cId="926414627" sldId="267"/>
        </pc:sldMkLst>
      </pc:sldChg>
      <pc:sldChg chg="add del setBg">
        <pc:chgData name="Scott Hay" userId="e95d3f44-f6c0-414c-b281-41a9346c1b81" providerId="ADAL" clId="{4D76341F-F64C-4A8E-A4EF-1A11730F38E9}" dt="2026-02-16T00:10:55.933" v="95"/>
        <pc:sldMkLst>
          <pc:docMk/>
          <pc:sldMk cId="2757433383" sldId="267"/>
        </pc:sldMkLst>
      </pc:sldChg>
      <pc:sldChg chg="add">
        <pc:chgData name="Scott Hay" userId="e95d3f44-f6c0-414c-b281-41a9346c1b81" providerId="ADAL" clId="{4D76341F-F64C-4A8E-A4EF-1A11730F38E9}" dt="2026-02-16T00:11:01.500" v="96"/>
        <pc:sldMkLst>
          <pc:docMk/>
          <pc:sldMk cId="2759189787" sldId="267"/>
        </pc:sldMkLst>
      </pc:sldChg>
      <pc:sldChg chg="del">
        <pc:chgData name="Scott Hay" userId="e95d3f44-f6c0-414c-b281-41a9346c1b81" providerId="ADAL" clId="{4D76341F-F64C-4A8E-A4EF-1A11730F38E9}" dt="2026-02-16T00:30:50.198" v="99" actId="47"/>
        <pc:sldMkLst>
          <pc:docMk/>
          <pc:sldMk cId="0" sldId="270"/>
        </pc:sldMkLst>
      </pc:sldChg>
      <pc:sldChg chg="modSp mod">
        <pc:chgData name="Scott Hay" userId="e95d3f44-f6c0-414c-b281-41a9346c1b81" providerId="ADAL" clId="{4D76341F-F64C-4A8E-A4EF-1A11730F38E9}" dt="2026-02-16T00:06:21.030" v="86" actId="1037"/>
        <pc:sldMkLst>
          <pc:docMk/>
          <pc:sldMk cId="0" sldId="283"/>
        </pc:sldMkLst>
        <pc:picChg chg="mod modCrop">
          <ac:chgData name="Scott Hay" userId="e95d3f44-f6c0-414c-b281-41a9346c1b81" providerId="ADAL" clId="{4D76341F-F64C-4A8E-A4EF-1A11730F38E9}" dt="2026-02-16T00:06:21.030" v="86" actId="1037"/>
          <ac:picMkLst>
            <pc:docMk/>
            <pc:sldMk cId="0" sldId="283"/>
            <ac:picMk id="3" creationId="{00000000-0000-0000-0000-000000000000}"/>
          </ac:picMkLst>
        </pc:picChg>
      </pc:sldChg>
      <pc:sldChg chg="modSp mod">
        <pc:chgData name="Scott Hay" userId="e95d3f44-f6c0-414c-b281-41a9346c1b81" providerId="ADAL" clId="{4D76341F-F64C-4A8E-A4EF-1A11730F38E9}" dt="2026-02-16T00:07:22.698" v="89" actId="14100"/>
        <pc:sldMkLst>
          <pc:docMk/>
          <pc:sldMk cId="0" sldId="290"/>
        </pc:sldMkLst>
        <pc:picChg chg="mod">
          <ac:chgData name="Scott Hay" userId="e95d3f44-f6c0-414c-b281-41a9346c1b81" providerId="ADAL" clId="{4D76341F-F64C-4A8E-A4EF-1A11730F38E9}" dt="2026-02-16T00:07:22.698" v="89" actId="14100"/>
          <ac:picMkLst>
            <pc:docMk/>
            <pc:sldMk cId="0" sldId="290"/>
            <ac:picMk id="3" creationId="{00000000-0000-0000-0000-000000000000}"/>
          </ac:picMkLst>
        </pc:picChg>
      </pc:sldChg>
      <pc:sldChg chg="modSp mod">
        <pc:chgData name="Scott Hay" userId="e95d3f44-f6c0-414c-b281-41a9346c1b81" providerId="ADAL" clId="{4D76341F-F64C-4A8E-A4EF-1A11730F38E9}" dt="2026-02-16T05:45:17.159" v="118" actId="1036"/>
        <pc:sldMkLst>
          <pc:docMk/>
          <pc:sldMk cId="0" sldId="295"/>
        </pc:sldMkLst>
        <pc:spChg chg="mod">
          <ac:chgData name="Scott Hay" userId="e95d3f44-f6c0-414c-b281-41a9346c1b81" providerId="ADAL" clId="{4D76341F-F64C-4A8E-A4EF-1A11730F38E9}" dt="2026-02-16T05:45:17.159" v="118" actId="1036"/>
          <ac:spMkLst>
            <pc:docMk/>
            <pc:sldMk cId="0" sldId="295"/>
            <ac:spMk id="6" creationId="{00000000-0000-0000-0000-000000000000}"/>
          </ac:spMkLst>
        </pc:spChg>
      </pc:sldChg>
      <pc:sldChg chg="modSp mod">
        <pc:chgData name="Scott Hay" userId="e95d3f44-f6c0-414c-b281-41a9346c1b81" providerId="ADAL" clId="{4D76341F-F64C-4A8E-A4EF-1A11730F38E9}" dt="2026-02-16T00:32:16.053" v="111" actId="20577"/>
        <pc:sldMkLst>
          <pc:docMk/>
          <pc:sldMk cId="0" sldId="297"/>
        </pc:sldMkLst>
        <pc:spChg chg="mod">
          <ac:chgData name="Scott Hay" userId="e95d3f44-f6c0-414c-b281-41a9346c1b81" providerId="ADAL" clId="{4D76341F-F64C-4A8E-A4EF-1A11730F38E9}" dt="2026-02-16T00:32:16.053" v="111" actId="20577"/>
          <ac:spMkLst>
            <pc:docMk/>
            <pc:sldMk cId="0" sldId="297"/>
            <ac:spMk id="2" creationId="{00000000-0000-0000-0000-000000000000}"/>
          </ac:spMkLst>
        </pc:spChg>
      </pc:sldChg>
      <pc:sldChg chg="ord">
        <pc:chgData name="Scott Hay" userId="e95d3f44-f6c0-414c-b281-41a9346c1b81" providerId="ADAL" clId="{4D76341F-F64C-4A8E-A4EF-1A11730F38E9}" dt="2026-02-16T00:33:08.420" v="114" actId="20578"/>
        <pc:sldMkLst>
          <pc:docMk/>
          <pc:sldMk cId="0" sldId="337"/>
        </pc:sldMkLst>
      </pc:sldChg>
      <pc:sldChg chg="del modNotes">
        <pc:chgData name="Scott Hay" userId="e95d3f44-f6c0-414c-b281-41a9346c1b81" providerId="ADAL" clId="{4D76341F-F64C-4A8E-A4EF-1A11730F38E9}" dt="2026-02-15T23:25:05.102" v="1" actId="47"/>
        <pc:sldMkLst>
          <pc:docMk/>
          <pc:sldMk cId="0" sldId="338"/>
        </pc:sldMkLst>
      </pc:sldChg>
      <pc:sldChg chg="add del">
        <pc:chgData name="Scott Hay" userId="e95d3f44-f6c0-414c-b281-41a9346c1b81" providerId="ADAL" clId="{4D76341F-F64C-4A8E-A4EF-1A11730F38E9}" dt="2026-02-16T00:04:40.493" v="25" actId="47"/>
        <pc:sldMkLst>
          <pc:docMk/>
          <pc:sldMk cId="0" sldId="339"/>
        </pc:sldMkLst>
      </pc:sldChg>
      <pc:sldChg chg="del">
        <pc:chgData name="Scott Hay" userId="e95d3f44-f6c0-414c-b281-41a9346c1b81" providerId="ADAL" clId="{4D76341F-F64C-4A8E-A4EF-1A11730F38E9}" dt="2026-02-16T00:07:04.760" v="87" actId="47"/>
        <pc:sldMkLst>
          <pc:docMk/>
          <pc:sldMk cId="0" sldId="340"/>
        </pc:sldMkLst>
      </pc:sldChg>
      <pc:sldChg chg="del">
        <pc:chgData name="Scott Hay" userId="e95d3f44-f6c0-414c-b281-41a9346c1b81" providerId="ADAL" clId="{4D76341F-F64C-4A8E-A4EF-1A11730F38E9}" dt="2026-02-16T00:08:55.773" v="90" actId="47"/>
        <pc:sldMkLst>
          <pc:docMk/>
          <pc:sldMk cId="0" sldId="341"/>
        </pc:sldMkLst>
      </pc:sldChg>
      <pc:sldChg chg="del ord">
        <pc:chgData name="Scott Hay" userId="e95d3f44-f6c0-414c-b281-41a9346c1b81" providerId="ADAL" clId="{4D76341F-F64C-4A8E-A4EF-1A11730F38E9}" dt="2026-02-16T00:09:57.552" v="91" actId="2696"/>
        <pc:sldMkLst>
          <pc:docMk/>
          <pc:sldMk cId="0" sldId="342"/>
        </pc:sldMkLst>
      </pc:sldChg>
      <pc:sldChg chg="add del setBg">
        <pc:chgData name="Scott Hay" userId="e95d3f44-f6c0-414c-b281-41a9346c1b81" providerId="ADAL" clId="{4D76341F-F64C-4A8E-A4EF-1A11730F38E9}" dt="2026-02-16T00:10:43.057" v="93"/>
        <pc:sldMkLst>
          <pc:docMk/>
          <pc:sldMk cId="1044156836" sldId="342"/>
        </pc:sldMkLst>
      </pc:sldChg>
      <pc:sldChg chg="add del setBg">
        <pc:chgData name="Scott Hay" userId="e95d3f44-f6c0-414c-b281-41a9346c1b81" providerId="ADAL" clId="{4D76341F-F64C-4A8E-A4EF-1A11730F38E9}" dt="2026-02-16T00:10:55.933" v="95"/>
        <pc:sldMkLst>
          <pc:docMk/>
          <pc:sldMk cId="2971214577" sldId="342"/>
        </pc:sldMkLst>
      </pc:sldChg>
      <pc:sldChg chg="add">
        <pc:chgData name="Scott Hay" userId="e95d3f44-f6c0-414c-b281-41a9346c1b81" providerId="ADAL" clId="{4D76341F-F64C-4A8E-A4EF-1A11730F38E9}" dt="2026-02-16T00:11:01.500" v="96"/>
        <pc:sldMkLst>
          <pc:docMk/>
          <pc:sldMk cId="4130797633" sldId="342"/>
        </pc:sldMkLst>
      </pc:sldChg>
      <pc:sldChg chg="modSp mod">
        <pc:chgData name="Scott Hay" userId="e95d3f44-f6c0-414c-b281-41a9346c1b81" providerId="ADAL" clId="{4D76341F-F64C-4A8E-A4EF-1A11730F38E9}" dt="2026-02-16T05:45:36.269" v="130" actId="403"/>
        <pc:sldMkLst>
          <pc:docMk/>
          <pc:sldMk cId="0" sldId="343"/>
        </pc:sldMkLst>
        <pc:spChg chg="mod">
          <ac:chgData name="Scott Hay" userId="e95d3f44-f6c0-414c-b281-41a9346c1b81" providerId="ADAL" clId="{4D76341F-F64C-4A8E-A4EF-1A11730F38E9}" dt="2026-02-16T05:45:36.269" v="130" actId="403"/>
          <ac:spMkLst>
            <pc:docMk/>
            <pc:sldMk cId="0" sldId="343"/>
            <ac:spMk id="2" creationId="{00000000-0000-0000-0000-000000000000}"/>
          </ac:spMkLst>
        </pc:spChg>
        <pc:spChg chg="mod">
          <ac:chgData name="Scott Hay" userId="e95d3f44-f6c0-414c-b281-41a9346c1b81" providerId="ADAL" clId="{4D76341F-F64C-4A8E-A4EF-1A11730F38E9}" dt="2026-02-16T05:45:27.349" v="125" actId="20577"/>
          <ac:spMkLst>
            <pc:docMk/>
            <pc:sldMk cId="0" sldId="343"/>
            <ac:spMk id="3" creationId="{00000000-0000-0000-0000-000000000000}"/>
          </ac:spMkLst>
        </pc:spChg>
      </pc:sldChg>
      <pc:sldChg chg="modSp mod">
        <pc:chgData name="Scott Hay" userId="e95d3f44-f6c0-414c-b281-41a9346c1b81" providerId="ADAL" clId="{4D76341F-F64C-4A8E-A4EF-1A11730F38E9}" dt="2026-02-16T05:46:34.889" v="141" actId="403"/>
        <pc:sldMkLst>
          <pc:docMk/>
          <pc:sldMk cId="0" sldId="344"/>
        </pc:sldMkLst>
        <pc:spChg chg="mod">
          <ac:chgData name="Scott Hay" userId="e95d3f44-f6c0-414c-b281-41a9346c1b81" providerId="ADAL" clId="{4D76341F-F64C-4A8E-A4EF-1A11730F38E9}" dt="2026-02-16T05:46:34.889" v="141" actId="403"/>
          <ac:spMkLst>
            <pc:docMk/>
            <pc:sldMk cId="0" sldId="344"/>
            <ac:spMk id="2" creationId="{00000000-0000-0000-0000-000000000000}"/>
          </ac:spMkLst>
        </pc:spChg>
        <pc:spChg chg="mod">
          <ac:chgData name="Scott Hay" userId="e95d3f44-f6c0-414c-b281-41a9346c1b81" providerId="ADAL" clId="{4D76341F-F64C-4A8E-A4EF-1A11730F38E9}" dt="2026-02-16T05:46:26.193" v="137" actId="20577"/>
          <ac:spMkLst>
            <pc:docMk/>
            <pc:sldMk cId="0" sldId="344"/>
            <ac:spMk id="3" creationId="{00000000-0000-0000-0000-000000000000}"/>
          </ac:spMkLst>
        </pc:spChg>
      </pc:sldChg>
      <pc:sldChg chg="modSp mod">
        <pc:chgData name="Scott Hay" userId="e95d3f44-f6c0-414c-b281-41a9346c1b81" providerId="ADAL" clId="{4D76341F-F64C-4A8E-A4EF-1A11730F38E9}" dt="2026-02-16T05:46:54.708" v="151" actId="403"/>
        <pc:sldMkLst>
          <pc:docMk/>
          <pc:sldMk cId="0" sldId="345"/>
        </pc:sldMkLst>
        <pc:spChg chg="mod">
          <ac:chgData name="Scott Hay" userId="e95d3f44-f6c0-414c-b281-41a9346c1b81" providerId="ADAL" clId="{4D76341F-F64C-4A8E-A4EF-1A11730F38E9}" dt="2026-02-16T05:46:54.708" v="151" actId="403"/>
          <ac:spMkLst>
            <pc:docMk/>
            <pc:sldMk cId="0" sldId="345"/>
            <ac:spMk id="2" creationId="{00000000-0000-0000-0000-000000000000}"/>
          </ac:spMkLst>
        </pc:spChg>
        <pc:spChg chg="mod">
          <ac:chgData name="Scott Hay" userId="e95d3f44-f6c0-414c-b281-41a9346c1b81" providerId="ADAL" clId="{4D76341F-F64C-4A8E-A4EF-1A11730F38E9}" dt="2026-02-16T05:46:49.353" v="148" actId="20577"/>
          <ac:spMkLst>
            <pc:docMk/>
            <pc:sldMk cId="0" sldId="345"/>
            <ac:spMk id="3" creationId="{00000000-0000-0000-0000-000000000000}"/>
          </ac:spMkLst>
        </pc:spChg>
      </pc:sldChg>
    </pc:docChg>
  </pc:docChgLst>
  <pc:docChgLst>
    <pc:chgData name="Scott Hay" userId="e95d3f44-f6c0-414c-b281-41a9346c1b81" providerId="ADAL" clId="{844FE0EC-1ACE-457A-A062-606521DBE677}"/>
    <pc:docChg chg="undo custSel modSld">
      <pc:chgData name="Scott Hay" userId="e95d3f44-f6c0-414c-b281-41a9346c1b81" providerId="ADAL" clId="{844FE0EC-1ACE-457A-A062-606521DBE677}" dt="2026-02-16T05:33:03.771" v="336" actId="20577"/>
      <pc:docMkLst>
        <pc:docMk/>
      </pc:docMkLst>
      <pc:sldChg chg="modSp mod">
        <pc:chgData name="Scott Hay" userId="e95d3f44-f6c0-414c-b281-41a9346c1b81" providerId="ADAL" clId="{844FE0EC-1ACE-457A-A062-606521DBE677}" dt="2026-02-16T05:33:03.771" v="336" actId="20577"/>
        <pc:sldMkLst>
          <pc:docMk/>
          <pc:sldMk cId="0" sldId="257"/>
        </pc:sldMkLst>
        <pc:spChg chg="mod">
          <ac:chgData name="Scott Hay" userId="e95d3f44-f6c0-414c-b281-41a9346c1b81" providerId="ADAL" clId="{844FE0EC-1ACE-457A-A062-606521DBE677}" dt="2026-02-16T05:26:16.054" v="138" actId="20577"/>
          <ac:spMkLst>
            <pc:docMk/>
            <pc:sldMk cId="0" sldId="257"/>
            <ac:spMk id="7" creationId="{00000000-0000-0000-0000-000000000000}"/>
          </ac:spMkLst>
        </pc:spChg>
        <pc:spChg chg="mod">
          <ac:chgData name="Scott Hay" userId="e95d3f44-f6c0-414c-b281-41a9346c1b81" providerId="ADAL" clId="{844FE0EC-1ACE-457A-A062-606521DBE677}" dt="2026-02-16T05:28:51.105" v="178" actId="20577"/>
          <ac:spMkLst>
            <pc:docMk/>
            <pc:sldMk cId="0" sldId="257"/>
            <ac:spMk id="10" creationId="{00000000-0000-0000-0000-000000000000}"/>
          </ac:spMkLst>
        </pc:spChg>
        <pc:spChg chg="mod">
          <ac:chgData name="Scott Hay" userId="e95d3f44-f6c0-414c-b281-41a9346c1b81" providerId="ADAL" clId="{844FE0EC-1ACE-457A-A062-606521DBE677}" dt="2026-02-16T05:28:59.390" v="188" actId="20577"/>
          <ac:spMkLst>
            <pc:docMk/>
            <pc:sldMk cId="0" sldId="257"/>
            <ac:spMk id="12" creationId="{00000000-0000-0000-0000-000000000000}"/>
          </ac:spMkLst>
        </pc:spChg>
        <pc:spChg chg="mod">
          <ac:chgData name="Scott Hay" userId="e95d3f44-f6c0-414c-b281-41a9346c1b81" providerId="ADAL" clId="{844FE0EC-1ACE-457A-A062-606521DBE677}" dt="2026-02-16T05:32:24.568" v="295" actId="20577"/>
          <ac:spMkLst>
            <pc:docMk/>
            <pc:sldMk cId="0" sldId="257"/>
            <ac:spMk id="17" creationId="{00000000-0000-0000-0000-000000000000}"/>
          </ac:spMkLst>
        </pc:spChg>
        <pc:spChg chg="mod">
          <ac:chgData name="Scott Hay" userId="e95d3f44-f6c0-414c-b281-41a9346c1b81" providerId="ADAL" clId="{844FE0EC-1ACE-457A-A062-606521DBE677}" dt="2026-02-16T05:29:27.484" v="201" actId="20577"/>
          <ac:spMkLst>
            <pc:docMk/>
            <pc:sldMk cId="0" sldId="257"/>
            <ac:spMk id="21" creationId="{00000000-0000-0000-0000-000000000000}"/>
          </ac:spMkLst>
        </pc:spChg>
        <pc:spChg chg="mod">
          <ac:chgData name="Scott Hay" userId="e95d3f44-f6c0-414c-b281-41a9346c1b81" providerId="ADAL" clId="{844FE0EC-1ACE-457A-A062-606521DBE677}" dt="2026-02-16T05:32:31.807" v="314" actId="20577"/>
          <ac:spMkLst>
            <pc:docMk/>
            <pc:sldMk cId="0" sldId="257"/>
            <ac:spMk id="27" creationId="{00000000-0000-0000-0000-000000000000}"/>
          </ac:spMkLst>
        </pc:spChg>
        <pc:spChg chg="mod">
          <ac:chgData name="Scott Hay" userId="e95d3f44-f6c0-414c-b281-41a9346c1b81" providerId="ADAL" clId="{844FE0EC-1ACE-457A-A062-606521DBE677}" dt="2026-02-16T05:32:49.952" v="320" actId="20577"/>
          <ac:spMkLst>
            <pc:docMk/>
            <pc:sldMk cId="0" sldId="257"/>
            <ac:spMk id="30" creationId="{00000000-0000-0000-0000-000000000000}"/>
          </ac:spMkLst>
        </pc:spChg>
        <pc:spChg chg="mod">
          <ac:chgData name="Scott Hay" userId="e95d3f44-f6c0-414c-b281-41a9346c1b81" providerId="ADAL" clId="{844FE0EC-1ACE-457A-A062-606521DBE677}" dt="2026-02-16T05:32:56.445" v="327" actId="20577"/>
          <ac:spMkLst>
            <pc:docMk/>
            <pc:sldMk cId="0" sldId="257"/>
            <ac:spMk id="37" creationId="{00000000-0000-0000-0000-000000000000}"/>
          </ac:spMkLst>
        </pc:spChg>
        <pc:spChg chg="mod">
          <ac:chgData name="Scott Hay" userId="e95d3f44-f6c0-414c-b281-41a9346c1b81" providerId="ADAL" clId="{844FE0EC-1ACE-457A-A062-606521DBE677}" dt="2026-02-16T05:33:03.771" v="336" actId="20577"/>
          <ac:spMkLst>
            <pc:docMk/>
            <pc:sldMk cId="0" sldId="257"/>
            <ac:spMk id="41" creationId="{00000000-0000-0000-0000-000000000000}"/>
          </ac:spMkLst>
        </pc:spChg>
      </pc:sldChg>
      <pc:sldChg chg="modSp mod">
        <pc:chgData name="Scott Hay" userId="e95d3f44-f6c0-414c-b281-41a9346c1b81" providerId="ADAL" clId="{844FE0EC-1ACE-457A-A062-606521DBE677}" dt="2026-02-13T19:36:24.797" v="8" actId="1076"/>
        <pc:sldMkLst>
          <pc:docMk/>
          <pc:sldMk cId="0" sldId="264"/>
        </pc:sldMkLst>
        <pc:spChg chg="mod">
          <ac:chgData name="Scott Hay" userId="e95d3f44-f6c0-414c-b281-41a9346c1b81" providerId="ADAL" clId="{844FE0EC-1ACE-457A-A062-606521DBE677}" dt="2026-02-13T19:36:24.797" v="8" actId="1076"/>
          <ac:spMkLst>
            <pc:docMk/>
            <pc:sldMk cId="0" sldId="264"/>
            <ac:spMk id="2" creationId="{00000000-0000-0000-0000-000000000000}"/>
          </ac:spMkLst>
        </pc:spChg>
        <pc:picChg chg="mod modCrop">
          <ac:chgData name="Scott Hay" userId="e95d3f44-f6c0-414c-b281-41a9346c1b81" providerId="ADAL" clId="{844FE0EC-1ACE-457A-A062-606521DBE677}" dt="2026-02-13T19:36:17.917" v="7" actId="732"/>
          <ac:picMkLst>
            <pc:docMk/>
            <pc:sldMk cId="0" sldId="264"/>
            <ac:picMk id="3" creationId="{00000000-0000-0000-0000-000000000000}"/>
          </ac:picMkLst>
        </pc:picChg>
      </pc:sldChg>
      <pc:sldChg chg="modSp mod">
        <pc:chgData name="Scott Hay" userId="e95d3f44-f6c0-414c-b281-41a9346c1b81" providerId="ADAL" clId="{844FE0EC-1ACE-457A-A062-606521DBE677}" dt="2026-02-13T19:36:34.759" v="9" actId="14100"/>
        <pc:sldMkLst>
          <pc:docMk/>
          <pc:sldMk cId="0" sldId="269"/>
        </pc:sldMkLst>
        <pc:picChg chg="mod">
          <ac:chgData name="Scott Hay" userId="e95d3f44-f6c0-414c-b281-41a9346c1b81" providerId="ADAL" clId="{844FE0EC-1ACE-457A-A062-606521DBE677}" dt="2026-02-13T19:36:34.759" v="9" actId="14100"/>
          <ac:picMkLst>
            <pc:docMk/>
            <pc:sldMk cId="0" sldId="269"/>
            <ac:picMk id="3" creationId="{00000000-0000-0000-0000-000000000000}"/>
          </ac:picMkLst>
        </pc:picChg>
      </pc:sldChg>
      <pc:sldChg chg="modSp mod">
        <pc:chgData name="Scott Hay" userId="e95d3f44-f6c0-414c-b281-41a9346c1b81" providerId="ADAL" clId="{844FE0EC-1ACE-457A-A062-606521DBE677}" dt="2026-02-13T19:37:17.061" v="34" actId="1038"/>
        <pc:sldMkLst>
          <pc:docMk/>
          <pc:sldMk cId="0" sldId="290"/>
        </pc:sldMkLst>
        <pc:spChg chg="mod">
          <ac:chgData name="Scott Hay" userId="e95d3f44-f6c0-414c-b281-41a9346c1b81" providerId="ADAL" clId="{844FE0EC-1ACE-457A-A062-606521DBE677}" dt="2026-02-13T19:37:07.954" v="13" actId="1076"/>
          <ac:spMkLst>
            <pc:docMk/>
            <pc:sldMk cId="0" sldId="290"/>
            <ac:spMk id="2" creationId="{00000000-0000-0000-0000-000000000000}"/>
          </ac:spMkLst>
        </pc:spChg>
        <pc:picChg chg="mod modCrop">
          <ac:chgData name="Scott Hay" userId="e95d3f44-f6c0-414c-b281-41a9346c1b81" providerId="ADAL" clId="{844FE0EC-1ACE-457A-A062-606521DBE677}" dt="2026-02-13T19:37:17.061" v="34" actId="1038"/>
          <ac:picMkLst>
            <pc:docMk/>
            <pc:sldMk cId="0" sldId="290"/>
            <ac:picMk id="3" creationId="{00000000-0000-0000-0000-000000000000}"/>
          </ac:picMkLst>
        </pc:picChg>
      </pc:sldChg>
      <pc:sldChg chg="modSp mod">
        <pc:chgData name="Scott Hay" userId="e95d3f44-f6c0-414c-b281-41a9346c1b81" providerId="ADAL" clId="{844FE0EC-1ACE-457A-A062-606521DBE677}" dt="2026-02-13T19:40:22.844" v="66" actId="1037"/>
        <pc:sldMkLst>
          <pc:docMk/>
          <pc:sldMk cId="0" sldId="301"/>
        </pc:sldMkLst>
        <pc:spChg chg="mod">
          <ac:chgData name="Scott Hay" userId="e95d3f44-f6c0-414c-b281-41a9346c1b81" providerId="ADAL" clId="{844FE0EC-1ACE-457A-A062-606521DBE677}" dt="2026-02-13T19:40:22.844" v="66" actId="1037"/>
          <ac:spMkLst>
            <pc:docMk/>
            <pc:sldMk cId="0" sldId="301"/>
            <ac:spMk id="4" creationId="{00000000-0000-0000-0000-000000000000}"/>
          </ac:spMkLst>
        </pc:spChg>
        <pc:spChg chg="mod">
          <ac:chgData name="Scott Hay" userId="e95d3f44-f6c0-414c-b281-41a9346c1b81" providerId="ADAL" clId="{844FE0EC-1ACE-457A-A062-606521DBE677}" dt="2026-02-13T19:40:22.844" v="66" actId="1037"/>
          <ac:spMkLst>
            <pc:docMk/>
            <pc:sldMk cId="0" sldId="301"/>
            <ac:spMk id="6" creationId="{00000000-0000-0000-0000-000000000000}"/>
          </ac:spMkLst>
        </pc:spChg>
        <pc:spChg chg="mod">
          <ac:chgData name="Scott Hay" userId="e95d3f44-f6c0-414c-b281-41a9346c1b81" providerId="ADAL" clId="{844FE0EC-1ACE-457A-A062-606521DBE677}" dt="2026-02-13T19:40:22.844" v="66" actId="1037"/>
          <ac:spMkLst>
            <pc:docMk/>
            <pc:sldMk cId="0" sldId="301"/>
            <ac:spMk id="7" creationId="{00000000-0000-0000-0000-000000000000}"/>
          </ac:spMkLst>
        </pc:spChg>
        <pc:spChg chg="mod">
          <ac:chgData name="Scott Hay" userId="e95d3f44-f6c0-414c-b281-41a9346c1b81" providerId="ADAL" clId="{844FE0EC-1ACE-457A-A062-606521DBE677}" dt="2026-02-13T19:40:22.844" v="66" actId="1037"/>
          <ac:spMkLst>
            <pc:docMk/>
            <pc:sldMk cId="0" sldId="301"/>
            <ac:spMk id="10" creationId="{00000000-0000-0000-0000-000000000000}"/>
          </ac:spMkLst>
        </pc:spChg>
        <pc:spChg chg="mod">
          <ac:chgData name="Scott Hay" userId="e95d3f44-f6c0-414c-b281-41a9346c1b81" providerId="ADAL" clId="{844FE0EC-1ACE-457A-A062-606521DBE677}" dt="2026-02-13T19:40:22.844" v="66" actId="1037"/>
          <ac:spMkLst>
            <pc:docMk/>
            <pc:sldMk cId="0" sldId="301"/>
            <ac:spMk id="11" creationId="{00000000-0000-0000-0000-000000000000}"/>
          </ac:spMkLst>
        </pc:spChg>
        <pc:spChg chg="mod">
          <ac:chgData name="Scott Hay" userId="e95d3f44-f6c0-414c-b281-41a9346c1b81" providerId="ADAL" clId="{844FE0EC-1ACE-457A-A062-606521DBE677}" dt="2026-02-13T19:40:22.844" v="66" actId="1037"/>
          <ac:spMkLst>
            <pc:docMk/>
            <pc:sldMk cId="0" sldId="301"/>
            <ac:spMk id="13" creationId="{00000000-0000-0000-0000-000000000000}"/>
          </ac:spMkLst>
        </pc:spChg>
        <pc:spChg chg="mod">
          <ac:chgData name="Scott Hay" userId="e95d3f44-f6c0-414c-b281-41a9346c1b81" providerId="ADAL" clId="{844FE0EC-1ACE-457A-A062-606521DBE677}" dt="2026-02-13T19:40:22.844" v="66" actId="1037"/>
          <ac:spMkLst>
            <pc:docMk/>
            <pc:sldMk cId="0" sldId="301"/>
            <ac:spMk id="18" creationId="{00000000-0000-0000-0000-000000000000}"/>
          </ac:spMkLst>
        </pc:spChg>
        <pc:spChg chg="mod">
          <ac:chgData name="Scott Hay" userId="e95d3f44-f6c0-414c-b281-41a9346c1b81" providerId="ADAL" clId="{844FE0EC-1ACE-457A-A062-606521DBE677}" dt="2026-02-13T19:40:22.844" v="66" actId="1037"/>
          <ac:spMkLst>
            <pc:docMk/>
            <pc:sldMk cId="0" sldId="301"/>
            <ac:spMk id="19" creationId="{00000000-0000-0000-0000-000000000000}"/>
          </ac:spMkLst>
        </pc:spChg>
        <pc:spChg chg="mod">
          <ac:chgData name="Scott Hay" userId="e95d3f44-f6c0-414c-b281-41a9346c1b81" providerId="ADAL" clId="{844FE0EC-1ACE-457A-A062-606521DBE677}" dt="2026-02-13T19:40:22.844" v="66" actId="1037"/>
          <ac:spMkLst>
            <pc:docMk/>
            <pc:sldMk cId="0" sldId="301"/>
            <ac:spMk id="20" creationId="{00000000-0000-0000-0000-000000000000}"/>
          </ac:spMkLst>
        </pc:spChg>
        <pc:spChg chg="mod">
          <ac:chgData name="Scott Hay" userId="e95d3f44-f6c0-414c-b281-41a9346c1b81" providerId="ADAL" clId="{844FE0EC-1ACE-457A-A062-606521DBE677}" dt="2026-02-13T19:40:22.844" v="66" actId="1037"/>
          <ac:spMkLst>
            <pc:docMk/>
            <pc:sldMk cId="0" sldId="301"/>
            <ac:spMk id="21" creationId="{00000000-0000-0000-0000-000000000000}"/>
          </ac:spMkLst>
        </pc:spChg>
      </pc:sldChg>
      <pc:sldChg chg="delSp modSp mod">
        <pc:chgData name="Scott Hay" userId="e95d3f44-f6c0-414c-b281-41a9346c1b81" providerId="ADAL" clId="{844FE0EC-1ACE-457A-A062-606521DBE677}" dt="2026-02-13T19:38:40.257" v="42" actId="1440"/>
        <pc:sldMkLst>
          <pc:docMk/>
          <pc:sldMk cId="0" sldId="316"/>
        </pc:sldMkLst>
        <pc:picChg chg="mod">
          <ac:chgData name="Scott Hay" userId="e95d3f44-f6c0-414c-b281-41a9346c1b81" providerId="ADAL" clId="{844FE0EC-1ACE-457A-A062-606521DBE677}" dt="2026-02-13T19:38:40.257" v="42" actId="1440"/>
          <ac:picMkLst>
            <pc:docMk/>
            <pc:sldMk cId="0" sldId="316"/>
            <ac:picMk id="5" creationId="{00000000-0000-0000-0000-000000000000}"/>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3464083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Welcome! Today we're diving deep into Claude AI - by the end you'll be confidently using AI for daily work.</a:t>
            </a:r>
          </a:p>
          <a:p>
            <a:endParaRPr/>
          </a:p>
          <a:p>
            <a:r>
              <a:t>KEY POINTS:</a:t>
            </a:r>
          </a:p>
          <a:p>
            <a:r>
              <a:t>   * 6.5 hours total: Morning (Claude basics + prompting), Afternoon (Excel + files)</a:t>
            </a:r>
          </a:p>
          <a:p>
            <a:r>
              <a:t>   * Two hands-on labs today</a:t>
            </a:r>
          </a:p>
          <a:p>
            <a:r>
              <a:t>   * Tomorrow: Technical track (Claude Code CLI) - optional for business users</a:t>
            </a:r>
          </a:p>
          <a:p>
            <a:endParaRPr/>
          </a:p>
          <a:p>
            <a:r>
              <a:t>TRANSITION:</a:t>
            </a:r>
          </a:p>
          <a:p>
            <a:r>
              <a:t>   Let's start with the agenda</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KEY POINTS:</a:t>
            </a:r>
          </a:p>
          <a:p>
            <a:r>
              <a:t>   * Morning: Understanding Claude and how to talk to it effectively</a:t>
            </a:r>
          </a:p>
          <a:p>
            <a:r>
              <a:t>   * Afternoon: Practical tools - Excel add-in and working with files</a:t>
            </a:r>
          </a:p>
          <a:p>
            <a:r>
              <a:t>   * Two 15-minute breaks plus 1-hour lunch</a:t>
            </a:r>
          </a:p>
          <a:p>
            <a:r>
              <a:t>   * Hands-on practice twice today</a:t>
            </a:r>
          </a:p>
          <a:p>
            <a:endParaRPr/>
          </a:p>
          <a:p>
            <a:r>
              <a:t>TRANSITION:</a:t>
            </a:r>
          </a:p>
          <a:p>
            <a:r>
              <a:t>   Let's see what you'll be able to do by end of day</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These are measurable - by EOD you WILL be able to do each of these</a:t>
            </a:r>
          </a:p>
          <a:p>
            <a:r>
              <a:t>   * Not just theory - you'll practice each skill in labs</a:t>
            </a:r>
          </a:p>
          <a:p>
            <a:r>
              <a:t>   * Focus is practical application, not AI theory</a:t>
            </a:r>
          </a:p>
          <a:p>
            <a:endParaRPr/>
          </a:p>
          <a:p>
            <a:r>
              <a:t>ASK THE CLASS:</a:t>
            </a:r>
          </a:p>
          <a:p>
            <a:r>
              <a:t>   "Quick poll: How many have used Claude before? How many used ChatGPT or other AI?"</a:t>
            </a:r>
          </a:p>
          <a:p>
            <a:r>
              <a:t>   [PAUSE for 30-60 seconds]</a:t>
            </a:r>
          </a:p>
          <a:p>
            <a:endParaRPr/>
          </a:p>
          <a:p>
            <a:r>
              <a:t>TRANSITION:</a:t>
            </a:r>
          </a:p>
          <a:p>
            <a:r>
              <a:t>   Let's start with the basics - what IS Claude?</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Today: Focus on #1 (claude.ai web) and #5 (Excel add-in)</a:t>
            </a:r>
          </a:p>
          <a:p>
            <a:r>
              <a:t>   * Tomorrow: Deep dive on #4 (Claude Code CLI) for technical users</a:t>
            </a:r>
          </a:p>
          <a:p>
            <a:r>
              <a:t>   * Desktop app: Chat (real-time), Cowork (autonomous agent), Code (developer mode)</a:t>
            </a:r>
          </a:p>
          <a:p>
            <a:r>
              <a:t>   * Claude in Chrome: Browser automation agent - currently in beta preview</a:t>
            </a:r>
          </a:p>
          <a:p>
            <a:r>
              <a:t>   * API: For developers building Claude into their own apps</a:t>
            </a:r>
          </a:p>
          <a:p>
            <a:endParaRPr/>
          </a:p>
          <a:p>
            <a:r>
              <a:t>TRANSITION:</a:t>
            </a:r>
          </a:p>
          <a:p>
            <a:r>
              <a:t>   Let's explore the claude.ai interface</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7 min</a:t>
            </a:r>
          </a:p>
          <a:p>
            <a:endParaRPr/>
          </a:p>
          <a:p>
            <a:r>
              <a:t>KEY POINTS:</a:t>
            </a:r>
          </a:p>
          <a:p>
            <a:r>
              <a:t>   * Left sidebar: New chat starts fresh conversation, Search finds old chats, Code mode optimizes workspace for coding</a:t>
            </a:r>
          </a:p>
          <a:p>
            <a:r>
              <a:t>   * Starred conversations: Pin important chats for quick access</a:t>
            </a:r>
          </a:p>
          <a:p>
            <a:r>
              <a:t>   * Prompt area: Type or paste questions, click + to attach files (CSV, PDF, images, docs)</a:t>
            </a:r>
          </a:p>
          <a:p>
            <a:r>
              <a:t>   * Style buttons: Quick presets for response tone - Write (polished), Learn (educational), Code (technical), Life stuff (casual), Claude's choice (automatic)</a:t>
            </a:r>
          </a:p>
          <a:p>
            <a:r>
              <a:t>   * Voice mode button (microphone, top right): GAME CHANGER - speak instead of type, 3× faster for complex prompts</a:t>
            </a:r>
          </a:p>
          <a:p>
            <a:r>
              <a:t>   * Model selector: Switch Haiku/Sonnet/Opus mid-conversation based on task complexity</a:t>
            </a:r>
          </a:p>
          <a:p>
            <a:r>
              <a:t>   * Artifacts panel: Appears when Claude generates code, documents, diagrams - you can edit inline</a:t>
            </a:r>
          </a:p>
          <a:p>
            <a:endParaRPr/>
          </a:p>
          <a:p>
            <a:r>
              <a:t>ASK THE CLASS:</a:t>
            </a:r>
          </a:p>
          <a:p>
            <a:r>
              <a:t>   "How many of you knew about the voice mode button?"</a:t>
            </a:r>
          </a:p>
          <a:p>
            <a:r>
              <a:t>   [PAUSE for 30-60 seconds]</a:t>
            </a:r>
          </a:p>
          <a:p>
            <a:endParaRPr/>
          </a:p>
          <a:p>
            <a:r>
              <a:t>REAL-WORLD EXAMPLE:</a:t>
            </a:r>
          </a:p>
          <a:p>
            <a:r>
              <a:t>   Voice mode example: Instead of typing 'Analyze this sales data, find top 3 trends compared to last quarter, flag any products declining over 15%, create a chart' (takes 30+ seconds to type) - just speak it in 5 seconds. Huge time saver for complex prompts.</a:t>
            </a:r>
          </a:p>
          <a:p>
            <a:endParaRPr/>
          </a:p>
          <a:p>
            <a:r>
              <a:t>DEMO:</a:t>
            </a:r>
          </a:p>
          <a:p>
            <a:r>
              <a:t>   LIVE DEMO: Comprehensive UI walkthrough. Open claude.ai, systematically show every UI element students will use: (1) Left sidebar - New chat, Search, Code mode dropdown, Starred/Recents; (2) Chat window - Prompt area, Attachment button (+), Style buttons (Write/Learn/Code/Life stuff/Claude's choice); (3) Top right - Model selector, Voice mode button (microphone icon - emphasize this!); (4) Response area - Artifacts panel. Spend 2 minutes on Voice mode showing the mic button.</a:t>
            </a:r>
          </a:p>
          <a:p>
            <a:endParaRPr/>
          </a:p>
          <a:p>
            <a:r>
              <a:t>TRANSITION:</a:t>
            </a:r>
          </a:p>
          <a:p>
            <a:r>
              <a:t>   Voice mode is so powerful it deserves its own demo - let's dive deeper</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Claude is brilliant but LITERAL. It doesn't know what you know. The better you describe what you want, the better the output.</a:t>
            </a:r>
          </a:p>
          <a:p>
            <a:endParaRPr/>
          </a:p>
          <a:p>
            <a:r>
              <a:t>KEY POINTS:</a:t>
            </a:r>
          </a:p>
          <a:p>
            <a:r>
              <a:t>   * Prompt = your instruction to the AI</a:t>
            </a:r>
          </a:p>
          <a:p>
            <a:r>
              <a:t>   * Claude now has memory and user preferences, so it knows some context about you automatically</a:t>
            </a:r>
          </a:p>
          <a:p>
            <a:r>
              <a:t>   * For specialized work, Projects add domain-specific context (documents, instructions)</a:t>
            </a:r>
          </a:p>
          <a:p>
            <a:r>
              <a:t>   * Specificity matters: Vague prompts = vague outputs</a:t>
            </a:r>
          </a:p>
          <a:p>
            <a:r>
              <a:t>   * Good news: Prompting is a learnable skill</a:t>
            </a:r>
          </a:p>
          <a:p>
            <a:endParaRPr/>
          </a:p>
          <a:p>
            <a:r>
              <a:t>REAL-WORLD EXAMPLE:</a:t>
            </a:r>
          </a:p>
          <a:p>
            <a:r>
              <a:t>   Vague: 'Write something about marketing' → Claude asks clarifying questions. Specific: 'Write a 200-word product announcement for our new CRM feature targeting sales managers. Highlight time savings and ROI. Professional tone.' → Claude delivers exactly what you need.</a:t>
            </a:r>
          </a:p>
          <a:p>
            <a:endParaRPr/>
          </a:p>
          <a:p>
            <a:r>
              <a:t>TRANSITION:</a:t>
            </a:r>
          </a:p>
          <a:p>
            <a:r>
              <a:t>   I'm going to teach you a framework that makes prompting easy: GOLDEN</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KEY POINTS:</a:t>
            </a:r>
          </a:p>
          <a:p>
            <a:r>
              <a:t>   * GOLDEN is an acronym - easy to remember</a:t>
            </a:r>
          </a:p>
          <a:p>
            <a:r>
              <a:t>   * We'll go through each letter on next slides</a:t>
            </a:r>
          </a:p>
          <a:p>
            <a:r>
              <a:t>   * You don't need ALL six every time, but thinking through them helps</a:t>
            </a:r>
          </a:p>
          <a:p>
            <a:endParaRPr/>
          </a:p>
          <a:p>
            <a:r>
              <a:t>TRANSITION:</a:t>
            </a:r>
          </a:p>
          <a:p>
            <a:r>
              <a:t>   First three: Goal, Output, Length - let's see the rest</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KEY POINTS:</a:t>
            </a:r>
          </a:p>
          <a:p>
            <a:r>
              <a:t>   * Details: Specific info to include (data, names, dates, etc.)</a:t>
            </a:r>
          </a:p>
          <a:p>
            <a:r>
              <a:t>   * Examples: Attach a sample or describe what good output looks like</a:t>
            </a:r>
          </a:p>
          <a:p>
            <a:r>
              <a:t>   * No-gos: What to avoid (jargon, certain topics, formats, etc.)</a:t>
            </a:r>
          </a:p>
          <a:p>
            <a:endParaRPr/>
          </a:p>
          <a:p>
            <a:r>
              <a:t>TRANSITION:</a:t>
            </a:r>
          </a:p>
          <a:p>
            <a:r>
              <a:t>   Let's see GOLDEN in action with a real example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Left: Claude would ask 20 follow-up questions</a:t>
            </a:r>
          </a:p>
          <a:p>
            <a:r>
              <a:t>   * Right: Claude delivers exactly what you need on first try</a:t>
            </a:r>
          </a:p>
          <a:p>
            <a:r>
              <a:t>   * You don't always need ALL six letters - but thinking through them helps</a:t>
            </a:r>
          </a:p>
          <a:p>
            <a:r>
              <a:t>   * Examples can be attached files or described in words</a:t>
            </a:r>
          </a:p>
          <a:p>
            <a:endParaRPr/>
          </a:p>
          <a:p>
            <a:r>
              <a:t>DEMO:</a:t>
            </a:r>
          </a:p>
          <a:p>
            <a:r>
              <a:t>   OPTIONAL DEMO: Show both prompts in Claude and compare outputs (if time allows)</a:t>
            </a:r>
          </a:p>
          <a:p>
            <a:endParaRPr/>
          </a:p>
          <a:p>
            <a:r>
              <a:t>TRANSITION:</a:t>
            </a:r>
          </a:p>
          <a:p>
            <a:r>
              <a:t>   GOLDEN is great, but there's another tool: XML tags</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Most common mistake: Being too vague</a:t>
            </a:r>
          </a:p>
          <a:p>
            <a:r>
              <a:t>   * Second most common: Assuming Claude knows context it doesn't have</a:t>
            </a:r>
          </a:p>
          <a:p>
            <a:r>
              <a:t>   * Third: Expecting perfection on first try instead of iterating</a:t>
            </a:r>
          </a:p>
          <a:p>
            <a:r>
              <a:t>   * Remember: Claude is brilliant but literal - it needs clear instructions</a:t>
            </a:r>
          </a:p>
          <a:p>
            <a:endParaRPr/>
          </a:p>
          <a:p>
            <a:r>
              <a:t>TRANSITION:</a:t>
            </a:r>
          </a:p>
          <a:p>
            <a:r>
              <a:t>   Speaking of iterating - let's talk about that</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Think of Claude as a colleague. You wouldn't fire someone for not nailing it on the first draft - you'd give feedback and refine together.</a:t>
            </a:r>
          </a:p>
          <a:p>
            <a:endParaRPr/>
          </a:p>
          <a:p>
            <a:r>
              <a:t>KEY POINTS:</a:t>
            </a:r>
          </a:p>
          <a:p>
            <a:r>
              <a:t>   * How to iterate: 'Make it shorter', 'Add more detail about X', 'Change tone to formal', 'Convert to bullet points'</a:t>
            </a:r>
          </a:p>
          <a:p>
            <a:r>
              <a:t>   * Claude keeps context from earlier in the conversation</a:t>
            </a:r>
          </a:p>
          <a:p>
            <a:r>
              <a:t>   * Usually 2-3 iterations gets you to exactly what you need</a:t>
            </a:r>
          </a:p>
          <a:p>
            <a:r>
              <a:t>   * This is NORMAL workflow, not a failure of the AI or your prompting</a:t>
            </a:r>
          </a:p>
          <a:p>
            <a:endParaRPr/>
          </a:p>
          <a:p>
            <a:r>
              <a:t>REAL-WORLD EXAMPLE:</a:t>
            </a:r>
          </a:p>
          <a:p>
            <a:r>
              <a:t>   I often start with 'Draft an email about X' → 'Make it more concise' → 'Add a call to action at the end' → Perfect.</a:t>
            </a:r>
          </a:p>
          <a:p>
            <a:endParaRPr/>
          </a:p>
          <a:p>
            <a:r>
              <a:t>TRANSITION:</a:t>
            </a:r>
          </a:p>
          <a:p>
            <a:r>
              <a:t>   Final tips for leveling up your prompting</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Examples are powerful - Claude can match tone, format, style from samples</a:t>
            </a:r>
          </a:p>
          <a:p>
            <a:r>
              <a:t>   * Audience matters - a CFO needs different language than a developer</a:t>
            </a:r>
          </a:p>
          <a:p>
            <a:r>
              <a:t>   * Constraints prevent scope creep - set word limits, format rules, etc.</a:t>
            </a:r>
          </a:p>
          <a:p>
            <a:r>
              <a:t>   * Multiple versions give you options to choose from or combine</a:t>
            </a:r>
          </a:p>
          <a:p>
            <a:r>
              <a:t>   * Asking for reasoning helps you learn and builds trust</a:t>
            </a:r>
          </a:p>
          <a:p>
            <a:endParaRPr/>
          </a:p>
          <a:p>
            <a:r>
              <a:t>TRANSITION:</a:t>
            </a:r>
          </a:p>
          <a:p>
            <a:r>
              <a:t>   Your assignment: Practice these techniques this week</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Let me show you the difference between prompts that get mediocre results and prompts that get great results</a:t>
            </a:r>
          </a:p>
          <a:p>
            <a:endParaRPr/>
          </a:p>
          <a:p>
            <a:r>
              <a:t>KEY POINTS:</a:t>
            </a:r>
          </a:p>
          <a:p>
            <a:r>
              <a:t>   * Vague prompts = vague results (Claude doesn't know what you need)</a:t>
            </a:r>
          </a:p>
          <a:p>
            <a:r>
              <a:t>   * Specific prompts = specific results (give context, constraints, format)</a:t>
            </a:r>
          </a:p>
          <a:p>
            <a:r>
              <a:t>   * Notice the pattern: Who, what, why, how (format/length/tone)</a:t>
            </a:r>
          </a:p>
          <a:p>
            <a:r>
              <a:t>   * These are real prompts you can copy and adapt today</a:t>
            </a:r>
          </a:p>
          <a:p>
            <a:r>
              <a:t>   * The best prompts include: audience, purpose, constraints, desired format</a:t>
            </a:r>
          </a:p>
          <a:p>
            <a:endParaRPr/>
          </a:p>
          <a:p>
            <a:r>
              <a:t>ASK THE CLASS:</a:t>
            </a:r>
          </a:p>
          <a:p>
            <a:r>
              <a:t>   "Which of these vague prompts sounds like something you've tried?"</a:t>
            </a:r>
          </a:p>
          <a:p>
            <a:r>
              <a:t>   [PAUSE for 30-60 seconds]</a:t>
            </a:r>
          </a:p>
          <a:p>
            <a:endParaRPr/>
          </a:p>
          <a:p>
            <a:r>
              <a:t>REAL-WORLD EXAMPLE:</a:t>
            </a:r>
          </a:p>
          <a:p>
            <a:r>
              <a:t>   Email example: Instead of 'write email about meeting' → tell Claude who it's to, what meeting, what you need from them, and tone (formal/casual)</a:t>
            </a:r>
          </a:p>
          <a:p>
            <a:endParaRPr/>
          </a:p>
          <a:p>
            <a:r>
              <a:t>TRANSITION:</a:t>
            </a:r>
          </a:p>
          <a:p>
            <a:r>
              <a:t>   Now that you know what good prompts look like, how do you know when Claude's output is good?</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This is Quality Judgment - skill #2 from our success framework. Knowing when to trust AI is as important as knowing how to use it.</a:t>
            </a:r>
          </a:p>
          <a:p>
            <a:endParaRPr/>
          </a:p>
          <a:p>
            <a:r>
              <a:t>KEY POINTS:</a:t>
            </a:r>
          </a:p>
          <a:p>
            <a:r>
              <a:t>   * Green light: Low stakes, you know the domain, easy to spot errors</a:t>
            </a:r>
          </a:p>
          <a:p>
            <a:r>
              <a:t>   * Yellow light: Important but verifiable - check facts, numbers, key claims</a:t>
            </a:r>
          </a:p>
          <a:p>
            <a:r>
              <a:t>   * Red light: High stakes, specialized knowledge, or personal/sensitive - AI assists, you own it</a:t>
            </a:r>
          </a:p>
          <a:p>
            <a:r>
              <a:t>   * Most people trust everything (risky) or trust nothing (inefficient)</a:t>
            </a:r>
          </a:p>
          <a:p>
            <a:r>
              <a:t>   * The skill is knowing which tasks are which color for YOUR role</a:t>
            </a:r>
          </a:p>
          <a:p>
            <a:r>
              <a:t>   * This prevents the 19% accuracy DROP when AI is used wrong (BCG study)</a:t>
            </a:r>
          </a:p>
          <a:p>
            <a:endParaRPr/>
          </a:p>
          <a:p>
            <a:r>
              <a:t>ASK THE CLASS:</a:t>
            </a:r>
          </a:p>
          <a:p>
            <a:r>
              <a:t>   "What's a yellow light task in your role - important but verifiable?"</a:t>
            </a:r>
          </a:p>
          <a:p>
            <a:r>
              <a:t>   [PAUSE for 30-60 seconds]</a:t>
            </a:r>
          </a:p>
          <a:p>
            <a:endParaRPr/>
          </a:p>
          <a:p>
            <a:r>
              <a:t>REAL-WORLD EXAMPLE:</a:t>
            </a:r>
          </a:p>
          <a:p>
            <a:r>
              <a:t>   Marketing email draft? Green light - trust it. Financial forecast? Yellow light - verify the numbers. Contract language? Red light - lawyer reviews, AI assists with formatting.</a:t>
            </a:r>
          </a:p>
          <a:p>
            <a:endParaRPr/>
          </a:p>
          <a:p>
            <a:r>
              <a:t>TRANSITION:</a:t>
            </a:r>
          </a:p>
          <a:p>
            <a:r>
              <a:t>   Speaking of what to use AI for, here are the most common wins</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These are the top 10 things people actually use Claude for every day. Pick 2-3 to try this week.</a:t>
            </a:r>
          </a:p>
          <a:p>
            <a:endParaRPr/>
          </a:p>
          <a:p>
            <a:r>
              <a:t>KEY POINTS:</a:t>
            </a:r>
          </a:p>
          <a:p>
            <a:r>
              <a:t>   * Email drafting is #1 - most immediate time savings</a:t>
            </a:r>
          </a:p>
          <a:p>
            <a:r>
              <a:t>   * Meeting summaries save 15-30 min per meeting</a:t>
            </a:r>
          </a:p>
          <a:p>
            <a:r>
              <a:t>   * Data analysis works great when you pair Excel + Claude Chat</a:t>
            </a:r>
          </a:p>
          <a:p>
            <a:r>
              <a:t>   * Brainstorming: Quantity first (AI), then you select quality (human)</a:t>
            </a:r>
          </a:p>
          <a:p>
            <a:r>
              <a:t>   * Document summarization: Feed Claude the doc, ask for executive summary</a:t>
            </a:r>
          </a:p>
          <a:p>
            <a:r>
              <a:t>   * Don't try all 10 at once - pick 2-3 that hit your daily pain points</a:t>
            </a:r>
          </a:p>
          <a:p>
            <a:r>
              <a:t>   * Low-hanging fruit: Email, summaries, brainstorming (all green light)</a:t>
            </a:r>
          </a:p>
          <a:p>
            <a:endParaRPr/>
          </a:p>
          <a:p>
            <a:r>
              <a:t>ASK THE CLASS:</a:t>
            </a:r>
          </a:p>
          <a:p>
            <a:r>
              <a:t>   "Which 2 of these would save you the most time this week?"</a:t>
            </a:r>
          </a:p>
          <a:p>
            <a:r>
              <a:t>   [PAUSE for 30-60 seconds]</a:t>
            </a:r>
          </a:p>
          <a:p>
            <a:endParaRPr/>
          </a:p>
          <a:p>
            <a:r>
              <a:t>REAL-WORLD EXAMPLE:</a:t>
            </a:r>
          </a:p>
          <a:p>
            <a:r>
              <a:t>   Start with #1 (email) and #2 (meeting summaries) this week. Once those are habit, add #3 or #4 next week.</a:t>
            </a:r>
          </a:p>
          <a:p>
            <a:endParaRPr/>
          </a:p>
          <a:p>
            <a:r>
              <a:t>TRANSITION:</a:t>
            </a:r>
          </a:p>
          <a:p>
            <a:r>
              <a:t>   Now let's practice these techniques in Lab 1</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Generic prompts get generic results. Here are proven patterns for your specific role.</a:t>
            </a:r>
          </a:p>
          <a:p>
            <a:endParaRPr/>
          </a:p>
          <a:p>
            <a:r>
              <a:t>KEY POINTS:</a:t>
            </a:r>
          </a:p>
          <a:p>
            <a:r>
              <a:t>   * Each role has common tasks that benefit from templates</a:t>
            </a:r>
          </a:p>
          <a:p>
            <a:r>
              <a:t>   * Notice the pattern: [Action] + [Content] + [Constraints/Focus]</a:t>
            </a:r>
          </a:p>
          <a:p>
            <a:r>
              <a:t>   * Steal these patterns and customize for your work</a:t>
            </a:r>
          </a:p>
          <a:p>
            <a:r>
              <a:t>   * Marketing: Always specify target audience and desired tone</a:t>
            </a:r>
          </a:p>
          <a:p>
            <a:r>
              <a:t>   * Finance: Always set variance thresholds and ask for explanations</a:t>
            </a:r>
          </a:p>
          <a:p>
            <a:r>
              <a:t>   * HR: Always include competencies and behavioral examples</a:t>
            </a:r>
          </a:p>
          <a:p>
            <a:r>
              <a:t>   * Save your best prompts - reuse and refine them</a:t>
            </a:r>
          </a:p>
          <a:p>
            <a:endParaRPr/>
          </a:p>
          <a:p>
            <a:r>
              <a:t>ASK THE CLASS:</a:t>
            </a:r>
          </a:p>
          <a:p>
            <a:r>
              <a:t>   "What's a task you do weekly that could benefit from a saved prompt template?"</a:t>
            </a:r>
          </a:p>
          <a:p>
            <a:r>
              <a:t>   [PAUSE for 30-60 seconds]</a:t>
            </a:r>
          </a:p>
          <a:p>
            <a:endParaRPr/>
          </a:p>
          <a:p>
            <a:r>
              <a:t>REAL-WORLD EXAMPLE:</a:t>
            </a:r>
          </a:p>
          <a:p>
            <a:r>
              <a:t>   Finance manager uses 'Analyze budget, flag &gt;10% variance, explain causes' every month. Takes 2 minutes, saves 30 minutes of spreadsheet work. Same prompt, different data each time.</a:t>
            </a:r>
          </a:p>
          <a:p>
            <a:endParaRPr/>
          </a:p>
          <a:p>
            <a:r>
              <a:t>TRANSITION:</a:t>
            </a:r>
          </a:p>
          <a:p>
            <a:r>
              <a:t>   These patterns work great, but there are times when you should NOT use AI - let's talk about boundaries</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3 min</a:t>
            </a:r>
          </a:p>
          <a:p>
            <a:endParaRPr/>
          </a:p>
          <a:p>
            <a:r>
              <a:t>This might be the most important slide in the deck.</a:t>
            </a:r>
          </a:p>
          <a:p>
            <a:endParaRPr/>
          </a:p>
          <a:p>
            <a:r>
              <a:t>95 percent of enterprise AI projects fail to reach production. MIT's 2025 study — 150 leaders, 300 deployments. The number one root cause? No clear business problem. Companies buy AI and then figure out what to do with it. That's backwards.</a:t>
            </a:r>
          </a:p>
          <a:p>
            <a:endParaRPr/>
          </a:p>
          <a:p>
            <a:r>
              <a:t>The second most common failure: unrealistic timelines. Executives demand 6-month ROI on something that realistically takes 18 to 36 months for full transformation. Quick wins? Absolutely — you can get those in 30 days. But enterprise-wide transformation requires sustained investment.</a:t>
            </a:r>
          </a:p>
          <a:p>
            <a:endParaRPr/>
          </a:p>
          <a:p>
            <a:r>
              <a:t>Zillow's AI-powered home-buying algorithm is the cautionary tale. They trusted the model's real estate valuations without sufficient human oversight. Result: $500 million in losses and 25 percent of their workforce laid off.</a:t>
            </a:r>
          </a:p>
          <a:p>
            <a:endParaRPr/>
          </a:p>
          <a:p>
            <a:r>
              <a:t>So when should you NOT use AI? When you can't define the success criteria. When the cost of being wrong exceeds the value of being fast. When you don't have a human review step. When the data isn't clean enough to trust.</a:t>
            </a:r>
          </a:p>
          <a:p>
            <a:endParaRPr/>
          </a:p>
          <a:p>
            <a:r>
              <a:t>42 percent of firms now drop most AI projects before they reach production — that's up from 17 percent the prior year. Companies are learning that killing bad projects early is smarter than pushing failed experiments into production.</a:t>
            </a:r>
          </a:p>
          <a:p>
            <a:endParaRPr/>
          </a:p>
          <a:p>
            <a:r>
              <a:t>The discipline to say "not this, not now" is what separates the 5 percent who succeed from the 95 percent who don't.</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5 min</a:t>
            </a:r>
          </a:p>
          <a:p>
            <a:endParaRPr/>
          </a:p>
          <a:p>
            <a:r>
              <a:t>This is the slide that matters to every IT leader and CISO in the room. Let me address the objections head-on.</a:t>
            </a:r>
          </a:p>
          <a:p>
            <a:endParaRPr/>
          </a:p>
          <a:p>
            <a:r>
              <a:t>Objection one: "Our data goes to a third party." 76 percent of CISOs cite visibility gaps in GenAI environments. That's a real concern. Here's Anthropic's answer: Claude Enterprise offers data isolation, no-training guarantees on your data, and SOC 2 compliance. Your prompts and outputs are not used to train the model. Period.</a:t>
            </a:r>
          </a:p>
          <a:p>
            <a:endParaRPr/>
          </a:p>
          <a:p>
            <a:r>
              <a:t>Objection two: "Shadow AI is already happening." This is the uncomfortable truth. 40 to 60 percent of code output in enterprises is already AI-generated, and much of it is untracked. 70 percent of organizations have more than 40 percent AI-generated code with no governance. The question isn't whether your people are using AI — they are. The question is whether you're governing it or ignoring it.</a:t>
            </a:r>
          </a:p>
          <a:p>
            <a:endParaRPr/>
          </a:p>
          <a:p>
            <a:r>
              <a:t>Objection three: "Vibe coding — developers shipping code they don't understand." This is a legitimate risk. The fix isn't banning AI — it's training. Mandatory code reviews, static analysis in the IDE, and CLAUDE.md conventions that enforce your coding standards automatically.</a:t>
            </a:r>
          </a:p>
          <a:p>
            <a:endParaRPr/>
          </a:p>
          <a:p>
            <a:r>
              <a:t>Objection four: compliance. SOC 2, HIPAA, FedRAMP. Anthropic's enterprise tier addresses data isolation, vendor audits, and no-retention policies. If Bridgewater Associates — under the strictest financial security standards in the world — trusts Claude, your compliance team can work with this.</a:t>
            </a:r>
          </a:p>
          <a:p>
            <a:endParaRPr/>
          </a:p>
          <a:p>
            <a:r>
              <a:t>Objection five: over-privileged agents. Claude Code's permission model is read-only by default. Every file write, every terminal command requires explicit approval. Hooks give you PreToolUse and PostToolUse guardrails — automated gates that can block operations before they execute.</a:t>
            </a:r>
          </a:p>
          <a:p>
            <a:endParaRPr/>
          </a:p>
          <a:p>
            <a:r>
              <a:t>The bottom line for your CISO: the risk isn't using AI. The risk is using AI without governance. 58 percent of CISOs feel unprepared to report AI risks to their board. This training — and the frameworks we're teaching — gives you something board-reportable.</a:t>
            </a:r>
          </a:p>
          <a:p>
            <a:endParaRPr/>
          </a:p>
          <a:p>
            <a:r>
              <a:t>SOURCES: Checkmarx CISO survey, BeyondIdentity, Sentra, Cerbos enterprise research 2025-2026.</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Time to practice! You'll work through 4 real-world scenarios - prompting, document creation, analysis.</a:t>
            </a:r>
          </a:p>
          <a:p>
            <a:endParaRPr/>
          </a:p>
          <a:p>
            <a:r>
              <a:t>KEY POINTS:</a:t>
            </a:r>
          </a:p>
          <a:p>
            <a:r>
              <a:t>   * Lab guide in handout has detailed instructions and sample data</a:t>
            </a:r>
          </a:p>
          <a:p>
            <a:r>
              <a:t>   * Focus on creating useful outputs: reports, outlines, summaries</a:t>
            </a:r>
          </a:p>
          <a:p>
            <a:r>
              <a:t>   * All exercises use artifacts - you'll see real documents generated</a:t>
            </a:r>
          </a:p>
          <a:p>
            <a:r>
              <a:t>   * Work at your own pace - minimum 2 exercises, all 4 if time allows</a:t>
            </a:r>
          </a:p>
          <a:p>
            <a:r>
              <a:t>   * Raise hand if stuck - I'm here to help</a:t>
            </a:r>
          </a:p>
          <a:p>
            <a:r>
              <a:t>   * Save artifacts you create - you can use them as templates later</a:t>
            </a:r>
          </a:p>
          <a:p>
            <a:endParaRPr/>
          </a:p>
          <a:p>
            <a:r>
              <a:t>DEMO:</a:t>
            </a:r>
          </a:p>
          <a:p>
            <a:r>
              <a:t>   Show lab handout quickly - point out the 4 exercises and sample data files</a:t>
            </a:r>
          </a:p>
          <a:p>
            <a:endParaRPr/>
          </a:p>
          <a:p>
            <a:r>
              <a:t>TRANSITION:</a:t>
            </a:r>
          </a:p>
          <a:p>
            <a:r>
              <a:t>   In the lab, you may have noticed your first prompt didn't give exactly what you wanted. That's normal - let me show you the pattern the best users follow</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6 min</a:t>
            </a:r>
          </a:p>
          <a:p>
            <a:endParaRPr/>
          </a:p>
          <a:p>
            <a:r>
              <a:t>OPEN WITH:</a:t>
            </a:r>
          </a:p>
          <a:p>
            <a:r>
              <a:t>   This is one of the most important features that almost nobody knows about. Personal Preferences lets you tell Claude about YOU - once - and it remembers forever.</a:t>
            </a:r>
          </a:p>
          <a:p>
            <a:endParaRPr/>
          </a:p>
          <a:p>
            <a:r>
              <a:t>KEY POINTS:</a:t>
            </a:r>
          </a:p>
          <a:p>
            <a:r>
              <a:t>   * Personal Preferences field: Free-form text, 2-3 paragraphs about you</a:t>
            </a:r>
          </a:p>
          <a:p>
            <a:r>
              <a:t>   * What to include: Your role, industry/company, expertise level, communication preferences (concise/detailed, formal/casual)</a:t>
            </a:r>
          </a:p>
          <a:p>
            <a:r>
              <a:t>   * Applies globally: Every conversation, every project, forever</a:t>
            </a:r>
          </a:p>
          <a:p>
            <a:r>
              <a:t>   * Time savings: 30 seconds per chat × 10 chats/day = 5 minutes/day saved on context setup</a:t>
            </a:r>
          </a:p>
          <a:p>
            <a:r>
              <a:t>   * Quality improvement: Industry-specific examples, role-appropriate recommendations, consistent tone</a:t>
            </a:r>
          </a:p>
          <a:p>
            <a:r>
              <a:t>   * Template: 'I am a [role] at [company type] in [industry]. My expertise: [areas]. Communication preferences: [concise/detailed], [formal/casual], [beginner/expert] level.'</a:t>
            </a:r>
          </a:p>
          <a:p>
            <a:endParaRPr/>
          </a:p>
          <a:p>
            <a:r>
              <a:t>ASK THE CLASS:</a:t>
            </a:r>
          </a:p>
          <a:p>
            <a:r>
              <a:t>   "What would you put in your Personal Preferences? Think about what you explain over and over in different chats."</a:t>
            </a:r>
          </a:p>
          <a:p>
            <a:r>
              <a:t>   [PAUSE for 30-60 seconds]</a:t>
            </a:r>
          </a:p>
          <a:p>
            <a:endParaRPr/>
          </a:p>
          <a:p>
            <a:r>
              <a:t>REAL-WORLD EXAMPLE:</a:t>
            </a:r>
          </a:p>
          <a:p>
            <a:r>
              <a:t>   Marketing manager example: 'I am a Marketing Manager at a B2B SaaS company in healthcare technology. My expertise: content strategy, demand generation, analytics. Preferences: Concise responses with actionable takeaways, professional tone, intermediate technical level. We sell to hospital CFOs with long sales cycles.' Now EVERY chat Claude knows this - no repeating yourself.</a:t>
            </a:r>
          </a:p>
          <a:p>
            <a:endParaRPr/>
          </a:p>
          <a:p>
            <a:r>
              <a:t>DEMO:</a:t>
            </a:r>
          </a:p>
          <a:p>
            <a:r>
              <a:t>   Show Settings &gt; General &gt; Profile. Show the Personal Preferences field. Show a filled example (use your own or the marketing manager template). Emphasize: This is global, applies everywhere, massive time saver.</a:t>
            </a:r>
          </a:p>
          <a:p>
            <a:endParaRPr/>
          </a:p>
          <a:p>
            <a:r>
              <a:t>TRANSITION:</a:t>
            </a:r>
          </a:p>
          <a:p>
            <a:r>
              <a:t>   With your interface mastered and preferences set, let's talk about Projects - a way to add context to specific workstreams</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rPr dirty="0"/>
              <a:t>DURATION: 4 min</a:t>
            </a:r>
          </a:p>
          <a:p>
            <a:endParaRPr dirty="0"/>
          </a:p>
          <a:p>
            <a:r>
              <a:rPr dirty="0"/>
              <a:t>Let's look at what else lives in Settings beyond Personal Preferences.</a:t>
            </a:r>
          </a:p>
          <a:p>
            <a:endParaRPr dirty="0"/>
          </a:p>
          <a:p>
            <a:r>
              <a:rPr dirty="0"/>
              <a:t>First card — Profile and Account. This is where you manage your display name, email, and subscription plan. More importantly, this is where your usage dashboard lives. If you're on a Pro or Team plan, you can see exactly how many messages you've sent, which models you've used, and how close you are to your limits. For team administrators, this is where you manage seats and billing.</a:t>
            </a:r>
          </a:p>
          <a:p>
            <a:endParaRPr dirty="0"/>
          </a:p>
          <a:p>
            <a:r>
              <a:rPr dirty="0"/>
              <a:t>Second card — Privacy and Security. This is the one your IT team cares about. Three critical settings here. First, the training opt-out toggle. By default on paid plans, your conversations are NOT used to train Claude. Verify this is set correctly. Second, conversation history controls — you can disable history entirely if you're working with sensitive data. Third, data handling — on Claude Enterprise and Team plans, Anthropic commits to data isolation and zero retention. I mentioned earlier that 76 percent of CISOs cite visibility gaps in AI environments. This settings panel is how you close that gap. Show your CISO this page.</a:t>
            </a:r>
          </a:p>
          <a:p>
            <a:endParaRPr dirty="0"/>
          </a:p>
          <a:p>
            <a:r>
              <a:rPr dirty="0"/>
              <a:t>Third card — Model and Performance. This is where you set your default model. Most of you should default to Sonnet for daily work — it's the best balance of speed, intelligence, and cost. You can switch to Opus for complex analysis tasks without changing your default. The Extended Thinking toggle lives here too — turn it on when you need Claude to reason through multi-step problems. And response preferences let you control output length and style.</a:t>
            </a:r>
          </a:p>
          <a:p>
            <a:endParaRPr dirty="0"/>
          </a:p>
          <a:p>
            <a:r>
              <a:rPr dirty="0"/>
              <a:t>Pro tip: spend five minutes in Settings before you do anything else with Claude. Most people never look at these controls and miss features that would save them hours.</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You just experienced this in the lab - your first prompt probably needed refinement. This is the pattern professionals use.</a:t>
            </a:r>
          </a:p>
          <a:p>
            <a:endParaRPr/>
          </a:p>
          <a:p>
            <a:r>
              <a:t>KEY POINTS:</a:t>
            </a:r>
          </a:p>
          <a:p>
            <a:r>
              <a:t>   * Common mistake: Expect AI to nail it first time, abandon when it doesn't</a:t>
            </a:r>
          </a:p>
          <a:p>
            <a:r>
              <a:t>   * Success pattern: Start messy, iterate to great</a:t>
            </a:r>
          </a:p>
          <a:p>
            <a:r>
              <a:t>   * First draft is 70% - that's GOOD (saves you hours)</a:t>
            </a:r>
          </a:p>
          <a:p>
            <a:r>
              <a:t>   * 2-3 refinement passes get you to 95%</a:t>
            </a:r>
          </a:p>
          <a:p>
            <a:r>
              <a:t>   * You polish the final 5% (your unique expertise)</a:t>
            </a:r>
          </a:p>
          <a:p>
            <a:r>
              <a:t>   * Think of AI as a smart intern - you wouldn't expect perfection first time</a:t>
            </a:r>
          </a:p>
          <a:p>
            <a:endParaRPr/>
          </a:p>
          <a:p>
            <a:r>
              <a:t>REAL-WORLD EXAMPLE:</a:t>
            </a:r>
          </a:p>
          <a:p>
            <a:r>
              <a:t>   Marketing email: First draft has tone wrong. Tell Claude 'more casual, less corporate.' Second draft is 85%. Tell Claude 'add specific ROI numbers.' Third draft is 95%. You add company-specific context for final 100%.</a:t>
            </a:r>
          </a:p>
          <a:p>
            <a:endParaRPr/>
          </a:p>
          <a:p>
            <a:r>
              <a:t>TRANSITION:</a:t>
            </a:r>
          </a:p>
          <a:p>
            <a:r>
              <a:t>   This iterative approach is one of 6 critical skills that separate successful AI users from those who give up</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TIME: 4 min</a:t>
            </a:r>
          </a:p>
          <a:p>
            <a:endParaRPr dirty="0"/>
          </a:p>
          <a:p>
            <a:r>
              <a:rPr dirty="0"/>
              <a:t>OPEN WITH:</a:t>
            </a:r>
          </a:p>
          <a:p>
            <a:r>
              <a:rPr dirty="0"/>
              <a:t>   You've learned the basics, practiced in the lab, and seen the iterate-to-great pattern. Now here's the bigger picture.</a:t>
            </a:r>
          </a:p>
          <a:p>
            <a:endParaRPr dirty="0"/>
          </a:p>
          <a:p>
            <a:r>
              <a:rPr dirty="0"/>
              <a:t>KEY POINTS:</a:t>
            </a:r>
          </a:p>
          <a:p>
            <a:r>
              <a:rPr dirty="0"/>
              <a:t>   * The 20% who survived didn't have better prompting skills</a:t>
            </a:r>
          </a:p>
          <a:p>
            <a:r>
              <a:rPr dirty="0"/>
              <a:t>   * They learned 6 judgment skills (management skills, not tech skills):</a:t>
            </a:r>
          </a:p>
          <a:p>
            <a:r>
              <a:rPr dirty="0"/>
              <a:t>   * 1. Context Assembly - what info to give AI, what to withhold</a:t>
            </a:r>
          </a:p>
          <a:p>
            <a:r>
              <a:rPr dirty="0"/>
              <a:t>   * 2. Quality Judgment - when to trust output vs. verify</a:t>
            </a:r>
          </a:p>
          <a:p>
            <a:r>
              <a:rPr dirty="0"/>
              <a:t>   * 3. Task Decomposition - breaking work into AI-sized chunks</a:t>
            </a:r>
          </a:p>
          <a:p>
            <a:r>
              <a:rPr dirty="0"/>
              <a:t>   * 4. Iterative Refinement - moving from 70% to 95%</a:t>
            </a:r>
          </a:p>
          <a:p>
            <a:r>
              <a:rPr dirty="0"/>
              <a:t>   * 5. Workflow Integration - embedded in process, not side tool</a:t>
            </a:r>
          </a:p>
          <a:p>
            <a:r>
              <a:rPr dirty="0"/>
              <a:t>   * 6. Frontier Recognition - knowing when AI can't help</a:t>
            </a:r>
          </a:p>
          <a:p>
            <a:r>
              <a:rPr dirty="0"/>
              <a:t>   * Ethan Mollick (Wharton): 'The best users of AI are good managers'</a:t>
            </a:r>
          </a:p>
          <a:p>
            <a:endParaRPr dirty="0"/>
          </a:p>
          <a:p>
            <a:r>
              <a:rPr dirty="0"/>
              <a:t>ASK THE CLASS:</a:t>
            </a:r>
          </a:p>
          <a:p>
            <a:r>
              <a:rPr dirty="0"/>
              <a:t>   "Which of these 6 skills do you think will be hardest for your team?"</a:t>
            </a:r>
          </a:p>
          <a:p>
            <a:r>
              <a:rPr dirty="0"/>
              <a:t>   [PAUSE for 30-60 seconds]</a:t>
            </a:r>
          </a:p>
          <a:p>
            <a:endParaRPr dirty="0"/>
          </a:p>
          <a:p>
            <a:r>
              <a:rPr dirty="0"/>
              <a:t>TRANSITION:</a:t>
            </a:r>
          </a:p>
          <a:p>
            <a:r>
              <a:rPr dirty="0"/>
              <a:t>   With these 6 skills in mind, let's break for lunch. When we come back, we'll apply this to Excel</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 now has persistent memory across all conversations - it remembers you. But Projects go further: they give Claude specialized knowledge for specific workstreams, with shared team access.</a:t>
            </a:r>
          </a:p>
          <a:p>
            <a:endParaRPr/>
          </a:p>
          <a:p>
            <a:r>
              <a:t>KEY POINTS:</a:t>
            </a:r>
          </a:p>
          <a:p>
            <a:r>
              <a:t>   * Projects = scoped context and knowledge for specific workstreams (different from Claude's general memory)</a:t>
            </a:r>
          </a:p>
          <a:p>
            <a:r>
              <a:t>   * Claude's memory remembers YOU across all chats. Projects give Claude specialized DOMAIN knowledge.</a:t>
            </a:r>
          </a:p>
          <a:p>
            <a:r>
              <a:t>   * Think of it as a shared team workspace with custom knowledge</a:t>
            </a:r>
          </a:p>
          <a:p>
            <a:r>
              <a:t>   * You can add: Custom instructions (how to behave), Reference documents (PDFs, spreadsheets, etc.)</a:t>
            </a:r>
          </a:p>
          <a:p>
            <a:r>
              <a:t>   * Team members can collaborate in the same Project</a:t>
            </a:r>
          </a:p>
          <a:p>
            <a:endParaRPr/>
          </a:p>
          <a:p>
            <a:r>
              <a:t>REAL-WORLD EXAMPLE:</a:t>
            </a:r>
          </a:p>
          <a:p>
            <a:r>
              <a:t>   Marketing team created a 'Brand Voice' Project with their style guide, competitor research, and past campaigns. Now every team member gets consistent, on-brand content.</a:t>
            </a:r>
          </a:p>
          <a:p>
            <a:endParaRPr/>
          </a:p>
          <a:p>
            <a:r>
              <a:t>TRANSITION:</a:t>
            </a:r>
          </a:p>
          <a:p>
            <a:r>
              <a:t>   Let's see how to create one</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6 min</a:t>
            </a:r>
          </a:p>
          <a:p>
            <a:endParaRPr/>
          </a:p>
          <a:p>
            <a:r>
              <a:t>KEY POINTS:</a:t>
            </a:r>
          </a:p>
          <a:p>
            <a:r>
              <a:t>   * Name it something clear - you'll have many Projects eventually</a:t>
            </a:r>
          </a:p>
          <a:p>
            <a:r>
              <a:t>   * Custom instructions: How should Claude behave? What context does it need?</a:t>
            </a:r>
          </a:p>
          <a:p>
            <a:r>
              <a:t>   * Documents: PDFs, Word, Excel - Claude reads and indexes all of them</a:t>
            </a:r>
          </a:p>
          <a:p>
            <a:r>
              <a:t>   * Once created, all conversations in that Project have this context</a:t>
            </a:r>
          </a:p>
          <a:p>
            <a:endParaRPr/>
          </a:p>
          <a:p>
            <a:r>
              <a:t>DEMO:</a:t>
            </a:r>
          </a:p>
          <a:p>
            <a:r>
              <a:t>   LIVE DEMO: Create a Project called 'Sales Proposals'. Add custom instruction: 'You're helping the sales team write proposals. Our fiscal year is April-March. Always compare to prior year.' Upload a sample proposal PDF. Ask: 'Draft a proposal for new CRM system.'</a:t>
            </a:r>
          </a:p>
          <a:p>
            <a:endParaRPr/>
          </a:p>
          <a:p>
            <a:r>
              <a:t>TRANSITION:</a:t>
            </a:r>
          </a:p>
          <a:p>
            <a:r>
              <a:t>   What goes into custom instructions? Let's look at examples</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Custom instructions are your 'team handbook' for Claude</a:t>
            </a:r>
          </a:p>
          <a:p>
            <a:r>
              <a:t>   * Include anything you'd tell a new human team member</a:t>
            </a:r>
          </a:p>
          <a:p>
            <a:r>
              <a:t>   * Can reference uploaded documents: 'Follow the style guide in Brand_Voice.pdf'</a:t>
            </a:r>
          </a:p>
          <a:p>
            <a:r>
              <a:t>   * Keep it focused - 3-5 key guidelines work better than pages of rules</a:t>
            </a:r>
          </a:p>
          <a:p>
            <a:endParaRPr/>
          </a:p>
          <a:p>
            <a:r>
              <a:t>REAL-WORLD EXAMPLE:</a:t>
            </a:r>
          </a:p>
          <a:p>
            <a:r>
              <a:t>   Finance team's instructions: 'Fiscal year April-March. Audience: executives (non-technical). Always use USD. Compare to prior quarter AND prior year. Highlight variances &gt;10%.'</a:t>
            </a:r>
          </a:p>
          <a:p>
            <a:endParaRPr/>
          </a:p>
          <a:p>
            <a:r>
              <a:t>TRANSITION:</a:t>
            </a:r>
          </a:p>
          <a:p>
            <a:r>
              <a:t>   Now let's talk about when to use Projects vs regular chat</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Projects: Anything you'll do more than once. Monthly reports, client proposals, code reviews.</a:t>
            </a:r>
          </a:p>
          <a:p>
            <a:r>
              <a:t>   * Regular chat: Random questions, one-time tasks, exploring new topics</a:t>
            </a:r>
          </a:p>
          <a:p>
            <a:r>
              <a:t>   * You can always move a conversation into a Project later if you realize it's recurring</a:t>
            </a:r>
          </a:p>
          <a:p>
            <a:r>
              <a:t>   * Most power users have 5-10 Projects for their common workflows</a:t>
            </a:r>
          </a:p>
          <a:p>
            <a:endParaRPr/>
          </a:p>
          <a:p>
            <a:r>
              <a:t>ASK THE CLASS:</a:t>
            </a:r>
          </a:p>
          <a:p>
            <a:r>
              <a:t>   "What's ONE task you do monthly that would benefit from a Project?"</a:t>
            </a:r>
          </a:p>
          <a:p>
            <a:r>
              <a:t>   [PAUSE for 30-60 seconds]</a:t>
            </a:r>
          </a:p>
          <a:p>
            <a:endParaRPr/>
          </a:p>
          <a:p>
            <a:r>
              <a:t>TRANSITION:</a:t>
            </a:r>
          </a:p>
          <a:p>
            <a:r>
              <a:t>   Before the break, quick tips for power users</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Keyboard shortcuts save time - learn Cmd/Ctrl+K</a:t>
            </a:r>
          </a:p>
          <a:p>
            <a:r>
              <a:t>   * Search is powerful - you can find that conversation from last month</a:t>
            </a:r>
          </a:p>
          <a:p>
            <a:r>
              <a:t>   * Iteration is key: Don't delete and start over, just say 'make it shorter' or 'add more detail'</a:t>
            </a:r>
          </a:p>
          <a:p>
            <a:r>
              <a:t>   * Think conversation, not one-shot query</a:t>
            </a:r>
          </a:p>
          <a:p>
            <a:endParaRPr/>
          </a:p>
          <a:p>
            <a:r>
              <a:t>TRANSITION:</a:t>
            </a:r>
          </a:p>
          <a:p>
            <a:r>
              <a:t>   15-minute break. When we return: Prompt engineering - how to talk to AI effectively</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You don't need to be a data analyst to get insights from your data. Claude can analyze files directly.</a:t>
            </a:r>
          </a:p>
          <a:p>
            <a:endParaRPr/>
          </a:p>
          <a:p>
            <a:r>
              <a:t>KEY POINTS:</a:t>
            </a:r>
          </a:p>
          <a:p>
            <a:r>
              <a:t>   * Upload CSV, Excel, or paste data directly into Claude.ai</a:t>
            </a:r>
          </a:p>
          <a:p>
            <a:r>
              <a:t>   * Ask questions in plain English: 'What are the top 3 trends?'</a:t>
            </a:r>
          </a:p>
          <a:p>
            <a:r>
              <a:t>   * Claude can create charts, spot patterns, calculate metrics</a:t>
            </a:r>
          </a:p>
          <a:p>
            <a:r>
              <a:t>   * No coding required - just upload and ask</a:t>
            </a:r>
          </a:p>
          <a:p>
            <a:r>
              <a:t>   * Works with sales data, survey results, financial reports, anything tabular</a:t>
            </a:r>
          </a:p>
          <a:p>
            <a:endParaRPr/>
          </a:p>
          <a:p>
            <a:r>
              <a:t>REAL-WORLD EXAMPLE:</a:t>
            </a:r>
          </a:p>
          <a:p>
            <a:r>
              <a:t>   Upload monthly sales CSV, ask 'Which products are declining?' - Claude analyzes, creates chart, flags the issues.</a:t>
            </a:r>
          </a:p>
          <a:p>
            <a:endParaRPr/>
          </a:p>
          <a:p>
            <a:r>
              <a:t>TRANSITION:</a:t>
            </a:r>
          </a:p>
          <a:p>
            <a:r>
              <a:t>   But when should you use Claude.ai directly vs Claude in Excel?</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15C318-5F1F-F80D-938E-F8A08E8E3A5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C5151CC-8B2A-F718-EF45-D9B57AEC6CC1}"/>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35BE5E34-B5B4-A94B-E835-3901220AAFAB}"/>
              </a:ext>
            </a:extLst>
          </p:cNvPr>
          <p:cNvSpPr>
            <a:spLocks noGrp="1"/>
          </p:cNvSpPr>
          <p:nvPr>
            <p:ph type="body" sz="quarter" idx="3"/>
          </p:nvPr>
        </p:nvSpPr>
        <p:spPr/>
        <p:txBody>
          <a:bodyPr/>
          <a:lstStyle/>
          <a:p>
            <a:r>
              <a:t>TIME: 5 min</a:t>
            </a:r>
          </a:p>
          <a:p>
            <a:endParaRPr/>
          </a:p>
          <a:p>
            <a:r>
              <a:t>OPEN WITH:</a:t>
            </a:r>
          </a:p>
          <a:p>
            <a:r>
              <a:t>   The Claude desktop app is evolving - it's adding autonomous agent capabilities. This is where Anthropic is taking the platform. Download the desktop app, you get these features.</a:t>
            </a:r>
          </a:p>
          <a:p>
            <a:endParaRPr/>
          </a:p>
          <a:p>
            <a:r>
              <a:t>KEY POINTS:</a:t>
            </a:r>
          </a:p>
          <a:p>
            <a:r>
              <a:t>   * Claude Desktop App (Windows + Mac) is adding autonomous agent capabilities</a:t>
            </a:r>
          </a:p>
          <a:p>
            <a:r>
              <a:t>   * This is the direction: Desktop = advanced interface with autonomous work, Web = real-time collaboration</a:t>
            </a:r>
          </a:p>
          <a:p>
            <a:r>
              <a:t>   * Download desktop app → You get web features PLUS autonomous agents as they roll out</a:t>
            </a:r>
          </a:p>
          <a:p>
            <a:r>
              <a:t>   * UI: Three tabs at top - Chat (regular), Cowork (autonomous), Code (developer)</a:t>
            </a:r>
          </a:p>
          <a:p>
            <a:r>
              <a:t>   * Cowork interface: Pick preset task OR type custom command, choose folder, select model, click 'Let's go'</a:t>
            </a:r>
          </a:p>
          <a:p>
            <a:r>
              <a:t>   * You set direction with detail level: High-level overview, MVP scoping, Detailed spec, or custom</a:t>
            </a:r>
          </a:p>
          <a:p>
            <a:r>
              <a:t>   * Claude works in background while you attend meetings, work on other tasks, or go to lunch</a:t>
            </a:r>
          </a:p>
          <a:p>
            <a:r>
              <a:t>   * Check progress when ready - it's still working if you don't check in</a:t>
            </a:r>
          </a:p>
          <a:p>
            <a:r>
              <a:t>   * PREVIEW status: Early access for Claude Pro/Team subscribers, expect some rough edges</a:t>
            </a:r>
          </a:p>
          <a:p>
            <a:r>
              <a:t>   * This is where AI is heading - we'll explore these concepts deeply on Day 4 (Agent Teams)</a:t>
            </a:r>
          </a:p>
          <a:p>
            <a:r>
              <a:t>   * Task presets like 'Optimize my week', 'Organize screenshots', 'Find insights in files' - one-click delegation</a:t>
            </a:r>
          </a:p>
          <a:p>
            <a:endParaRPr/>
          </a:p>
          <a:p>
            <a:r>
              <a:t>ASK THE CLASS:</a:t>
            </a:r>
          </a:p>
          <a:p>
            <a:r>
              <a:t>   "What's a task you do monthly that takes 2-3 hours you'd love to delegate completely?"</a:t>
            </a:r>
          </a:p>
          <a:p>
            <a:r>
              <a:t>   [PAUSE for 30-60 seconds]</a:t>
            </a:r>
          </a:p>
          <a:p>
            <a:endParaRPr/>
          </a:p>
          <a:p>
            <a:r>
              <a:t>REAL-WORLD EXAMPLE:</a:t>
            </a:r>
          </a:p>
          <a:p>
            <a:r>
              <a:t>   Product manager scenario: You need competitive analysis of 5 products. Claude.ai: You spend 45 minutes prompting back-and-forth. Claude for Work: Tell it 'Research 5 competitors, analyze features, create comparison table with pricing', choose detail level, walk away. Come back in an hour to polished analysis.</a:t>
            </a:r>
          </a:p>
          <a:p>
            <a:endParaRPr/>
          </a:p>
          <a:p>
            <a:r>
              <a:t>TRANSITION:</a:t>
            </a:r>
          </a:p>
          <a:p>
            <a:r>
              <a:t>   Let me show you what kinds of tasks work best with this</a:t>
            </a:r>
          </a:p>
        </p:txBody>
      </p:sp>
      <p:sp>
        <p:nvSpPr>
          <p:cNvPr id="4" name="Slide Number Placeholder 3">
            <a:extLst>
              <a:ext uri="{FF2B5EF4-FFF2-40B4-BE49-F238E27FC236}">
                <a16:creationId xmlns:a16="http://schemas.microsoft.com/office/drawing/2014/main" id="{7F3407F3-9F10-26DD-E643-5064369FE00E}"/>
              </a:ext>
            </a:extLst>
          </p:cNvPr>
          <p:cNvSpPr>
            <a:spLocks noGrp="1"/>
          </p:cNvSpPr>
          <p:nvPr>
            <p:ph type="sldNum" sz="quarter" idx="5"/>
          </p:nvPr>
        </p:nvSpPr>
        <p:spPr/>
      </p:sp>
    </p:spTree>
    <p:extLst>
      <p:ext uri="{BB962C8B-B14F-4D97-AF65-F5344CB8AC3E}">
        <p14:creationId xmlns:p14="http://schemas.microsoft.com/office/powerpoint/2010/main" val="1765566828"/>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F03715-F889-D3A1-81D9-0611A9F9734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BEFEB6C-2005-C671-BADF-3ABC78EFB807}"/>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50F8EDA6-5234-5946-2B56-259BBBAEB6C0}"/>
              </a:ext>
            </a:extLst>
          </p:cNvPr>
          <p:cNvSpPr>
            <a:spLocks noGrp="1"/>
          </p:cNvSpPr>
          <p:nvPr>
            <p:ph type="body" sz="quarter" idx="3"/>
          </p:nvPr>
        </p:nvSpPr>
        <p:spPr/>
        <p:txBody>
          <a:bodyPr/>
          <a:lstStyle/>
          <a:p>
            <a:r>
              <a:t>TIME: 4 min</a:t>
            </a:r>
          </a:p>
          <a:p>
            <a:endParaRPr/>
          </a:p>
          <a:p>
            <a:r>
              <a:t>OPEN WITH:</a:t>
            </a:r>
          </a:p>
          <a:p>
            <a:r>
              <a:t>   Not every task needs autonomous work. Here's when it makes sense vs when Claude.ai is better.</a:t>
            </a:r>
          </a:p>
          <a:p>
            <a:endParaRPr/>
          </a:p>
          <a:p>
            <a:r>
              <a:t>KEY POINTS:</a:t>
            </a:r>
          </a:p>
          <a:p>
            <a:r>
              <a:t>   * Desktop app UI: Chat tab (real-time), Cowork tab (autonomous), Code tab (developer mode)</a:t>
            </a:r>
          </a:p>
          <a:p>
            <a:r>
              <a:t>   * Sweet spot: Tasks requiring 2+ hours of focused work with multiple steps</a:t>
            </a:r>
          </a:p>
          <a:p>
            <a:r>
              <a:t>   * Examples: Monthly competitive analysis, quarterly board deck, annual strategic plan, large data migration planning</a:t>
            </a:r>
          </a:p>
          <a:p>
            <a:r>
              <a:t>   * NOT for: Quick answers, learning how something works, iterating on ideas in real-time</a:t>
            </a:r>
          </a:p>
          <a:p>
            <a:r>
              <a:t>   * Workflow: New task → Pick preset or type custom → Choose folder (optional) → Select model → 'Let's go' → Claude works autonomously</a:t>
            </a:r>
          </a:p>
          <a:p>
            <a:r>
              <a:t>   * Decision framework: Would you normally calendar-block time for this? → Cowork. Quick interrupt? → Claude.ai</a:t>
            </a:r>
          </a:p>
          <a:p>
            <a:r>
              <a:t>   * Access: Download from claude.ai if you have Preview access (Pro/Team subscribers)</a:t>
            </a:r>
          </a:p>
          <a:p>
            <a:r>
              <a:t>   * Access: Download Claude Desktop App from claude.ai - autonomous features rolling out to Pro/Team subscribers</a:t>
            </a:r>
          </a:p>
          <a:p>
            <a:r>
              <a:t>   * This bridges to Agent Teams concept (Day 4) - autonomous work vs supervised assistance</a:t>
            </a:r>
          </a:p>
          <a:p>
            <a:r>
              <a:t>   * This shows Anthropic's direction: Desktop app = advanced interface for power users and autonomous work</a:t>
            </a:r>
          </a:p>
          <a:p>
            <a:endParaRPr/>
          </a:p>
          <a:p>
            <a:r>
              <a:t>ASK THE CLASS:</a:t>
            </a:r>
          </a:p>
          <a:p>
            <a:r>
              <a:t>   "Look at your calendar - what recurring task would you delegate to an autonomous agent?"</a:t>
            </a:r>
          </a:p>
          <a:p>
            <a:r>
              <a:t>   [PAUSE for 30-60 seconds]</a:t>
            </a:r>
          </a:p>
          <a:p>
            <a:endParaRPr/>
          </a:p>
          <a:p>
            <a:r>
              <a:t>REAL-WORLD EXAMPLE:</a:t>
            </a:r>
          </a:p>
          <a:p>
            <a:r>
              <a:t>   Monthly reporting scenario: You compile data from 5 systems, create visualizations, write executive summary, format for board. Normally 4 hours of work. Tell Cowork 'Create monthly board report from these 5 files, include exec summary highlighting top 3 wins and 2 risks, create 3 charts showing trend data.' Work on something else for 3 hours, review polished draft.</a:t>
            </a:r>
          </a:p>
          <a:p>
            <a:endParaRPr/>
          </a:p>
          <a:p>
            <a:r>
              <a:t>TRANSITION:</a:t>
            </a:r>
          </a:p>
          <a:p>
            <a:r>
              <a:t>   That's the cutting edge - autonomous agents working for you. Now let's master the core interface everyone has access to today: Claude.ai</a:t>
            </a:r>
          </a:p>
        </p:txBody>
      </p:sp>
      <p:sp>
        <p:nvSpPr>
          <p:cNvPr id="4" name="Slide Number Placeholder 3">
            <a:extLst>
              <a:ext uri="{FF2B5EF4-FFF2-40B4-BE49-F238E27FC236}">
                <a16:creationId xmlns:a16="http://schemas.microsoft.com/office/drawing/2014/main" id="{67A2F13A-6EAD-F4FB-360A-03C89FB7E82A}"/>
              </a:ext>
            </a:extLst>
          </p:cNvPr>
          <p:cNvSpPr>
            <a:spLocks noGrp="1"/>
          </p:cNvSpPr>
          <p:nvPr>
            <p:ph type="sldNum" sz="quarter" idx="5"/>
          </p:nvPr>
        </p:nvSpPr>
        <p:spPr/>
      </p:sp>
    </p:spTree>
    <p:extLst>
      <p:ext uri="{BB962C8B-B14F-4D97-AF65-F5344CB8AC3E}">
        <p14:creationId xmlns:p14="http://schemas.microsoft.com/office/powerpoint/2010/main" val="294267664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Raise your hand if you've ever wrestled with an Excel formula for 20 minutes. This changes that.</a:t>
            </a:r>
          </a:p>
          <a:p>
            <a:endParaRPr/>
          </a:p>
          <a:p>
            <a:r>
              <a:t>KEY POINTS:</a:t>
            </a:r>
          </a:p>
          <a:p>
            <a:r>
              <a:t>   * Excel add-in powered by Claude AI</a:t>
            </a:r>
          </a:p>
          <a:p>
            <a:r>
              <a:t>   * Sidebar appears directly in your spreadsheet</a:t>
            </a:r>
          </a:p>
          <a:p>
            <a:r>
              <a:t>   * KEY DIFFERENCE: Unlike uploading to claude.ai, the add-in SEES your actual spreadsheet context</a:t>
            </a:r>
          </a:p>
          <a:p>
            <a:r>
              <a:t>   * Helps with formulas, analysis, explanations</a:t>
            </a:r>
          </a:p>
          <a:p>
            <a:endParaRPr/>
          </a:p>
          <a:p>
            <a:r>
              <a:t>REAL-WORLD EXAMPLE:</a:t>
            </a:r>
          </a:p>
          <a:p>
            <a:r>
              <a:t>   Last week I was building a budget variance report. Instead of googling VLOOKUP syntax, I just asked Claude 'How do I match customer names from Sheet2?' - got the formula with explanation in 10 seconds.</a:t>
            </a:r>
          </a:p>
          <a:p>
            <a:endParaRPr/>
          </a:p>
          <a:p>
            <a:r>
              <a:t>TRANSITION:</a:t>
            </a:r>
          </a:p>
          <a:p>
            <a:r>
              <a:t>   Let's install it</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KEY POINTS:</a:t>
            </a:r>
          </a:p>
          <a:p>
            <a:r>
              <a:t>   * Requires Claude Enterprise license (check with your admin)</a:t>
            </a:r>
          </a:p>
          <a:p>
            <a:r>
              <a:t>   * One-time setup per device</a:t>
            </a:r>
          </a:p>
          <a:p>
            <a:r>
              <a:t>   * Keyboard shortcut: Ctrl+Alt+C (Win) / Ctrl+Option+C (Mac) to open sidebar</a:t>
            </a:r>
          </a:p>
          <a:p>
            <a:r>
              <a:t>   * Works with Excel 365, Excel 2019+, and Excel for Web</a:t>
            </a:r>
          </a:p>
          <a:p>
            <a:endParaRPr/>
          </a:p>
          <a:p>
            <a:r>
              <a:t>DEMO:</a:t>
            </a:r>
          </a:p>
          <a:p>
            <a:r>
              <a:t>   LIVE DEMO: Install Claude in Excel (or show already-installed version). Open add-in sidebar (Ctrl+Alt+C). Show it has access to spreadsheet context.</a:t>
            </a:r>
          </a:p>
          <a:p>
            <a:endParaRPr/>
          </a:p>
          <a:p>
            <a:r>
              <a:t>TRANSITION:</a:t>
            </a:r>
          </a:p>
          <a:p>
            <a:r>
              <a:t>   Three main ways people use this add-in</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Formula Help: Most common use case. 'Write this formula', 'Debug this error', 'Explain what this does'</a:t>
            </a:r>
          </a:p>
          <a:p>
            <a:r>
              <a:t>   * Data Analysis: 'What trends do you see?', 'Any outliers?', 'Suggest visualizations'</a:t>
            </a:r>
          </a:p>
          <a:p>
            <a:r>
              <a:t>   * Financial Modeling: 'Build a DCF', 'Check my assumptions', 'Validate this NPV formula'</a:t>
            </a:r>
          </a:p>
          <a:p>
            <a:r>
              <a:t>   * We'll demo each one</a:t>
            </a:r>
          </a:p>
          <a:p>
            <a:endParaRPr/>
          </a:p>
          <a:p>
            <a:r>
              <a:t>TRANSITION:</a:t>
            </a:r>
          </a:p>
          <a:p>
            <a:r>
              <a:t>   Let's start with formula assistance - the #1 use case</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7 min</a:t>
            </a:r>
          </a:p>
          <a:p>
            <a:endParaRPr/>
          </a:p>
          <a:p>
            <a:r>
              <a:t>KEY POINTS:</a:t>
            </a:r>
          </a:p>
          <a:p>
            <a:r>
              <a:t>   * Claude EXPLAINS formulas, not just writes them - you learn as you go</a:t>
            </a:r>
          </a:p>
          <a:p>
            <a:r>
              <a:t>   * Handles complex nested formulas, array formulas, new Excel 365 functions</a:t>
            </a:r>
          </a:p>
          <a:p>
            <a:r>
              <a:t>   * Debugging: Paste your broken formula, Claude finds the error</a:t>
            </a:r>
          </a:p>
          <a:p>
            <a:r>
              <a:t>   * Plain English explanations for formulas you inherited</a:t>
            </a:r>
          </a:p>
          <a:p>
            <a:endParaRPr/>
          </a:p>
          <a:p>
            <a:r>
              <a:t>DEMO:</a:t>
            </a:r>
          </a:p>
          <a:p>
            <a:r>
              <a:t>   LIVE DEMO: Open sample spreadsheet with sales data. Show 3 prompts:</a:t>
            </a:r>
          </a:p>
          <a:p>
            <a:r>
              <a:t>1. 'Write a formula to calculate YoY growth for column D'</a:t>
            </a:r>
          </a:p>
          <a:p>
            <a:r>
              <a:t>2. 'What's wrong with this formula? =SUM(A1:A10/B1:B10)'</a:t>
            </a:r>
          </a:p>
          <a:p>
            <a:r>
              <a:t>3. 'Explain this VLOOKUP in plain English: =VLOOKUP(A2,Sheet2!A:C,3,FALSE)'</a:t>
            </a:r>
          </a:p>
          <a:p>
            <a:endParaRPr/>
          </a:p>
          <a:p>
            <a:r>
              <a:t>TRANSITION:</a:t>
            </a:r>
          </a:p>
          <a:p>
            <a:r>
              <a:t>   Next: Data analysis help</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6 min</a:t>
            </a:r>
          </a:p>
          <a:p>
            <a:endParaRPr/>
          </a:p>
          <a:p>
            <a:r>
              <a:t>KEY POINTS:</a:t>
            </a:r>
          </a:p>
          <a:p>
            <a:r>
              <a:t>   * Claude sees your actual data and can spot patterns</a:t>
            </a:r>
          </a:p>
          <a:p>
            <a:r>
              <a:t>   * Great for exploratory analysis: 'What should I look at here?'</a:t>
            </a:r>
          </a:p>
          <a:p>
            <a:r>
              <a:t>   * Visualization suggestions based on your data structure</a:t>
            </a:r>
          </a:p>
          <a:p>
            <a:r>
              <a:t>   * Can help with data cleaning: 'How do I remove duplicates based on column A?'</a:t>
            </a:r>
          </a:p>
          <a:p>
            <a:endParaRPr/>
          </a:p>
          <a:p>
            <a:r>
              <a:t>DEMO:</a:t>
            </a:r>
          </a:p>
          <a:p>
            <a:r>
              <a:t>   DEMO: Use sample dataset (quarterly revenue by region). Show prompts:</a:t>
            </a:r>
          </a:p>
          <a:p>
            <a:r>
              <a:t>1. 'What trends do you see in columns B-D over the last 6 months?'</a:t>
            </a:r>
          </a:p>
          <a:p>
            <a:r>
              <a:t>2. 'Are there any outliers in this revenue data?'</a:t>
            </a:r>
          </a:p>
          <a:p>
            <a:r>
              <a:t>3. 'Suggest 3 ways to visualize quarterly sales by region'</a:t>
            </a:r>
          </a:p>
          <a:p>
            <a:endParaRPr/>
          </a:p>
          <a:p>
            <a:r>
              <a:t>TRANSITION:</a:t>
            </a:r>
          </a:p>
          <a:p>
            <a:r>
              <a:t>   Finally: Financial modeling</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Financial modeling is complex - Claude is a great assistant but NOT a substitute for your judgment</a:t>
            </a:r>
          </a:p>
          <a:p>
            <a:r>
              <a:t>   * Use it to: Build structure, check logic, validate assumptions, explain complex formulas</a:t>
            </a:r>
          </a:p>
          <a:p>
            <a:r>
              <a:t>   * DO NOT blindly trust outputs - especially for high-stakes financial decisions</a:t>
            </a:r>
          </a:p>
          <a:p>
            <a:r>
              <a:t>   * Best practice: Ask Claude to explain its reasoning, then verify with a second pair of eyes</a:t>
            </a:r>
          </a:p>
          <a:p>
            <a:endParaRPr/>
          </a:p>
          <a:p>
            <a:r>
              <a:t>REAL-WORLD EXAMPLE:</a:t>
            </a:r>
          </a:p>
          <a:p>
            <a:r>
              <a:t>   CFO used Claude to build initial DCF structure in 20 minutes (usually takes 2 hours). Then validated assumptions with finance team. Time saved: 90 minutes. Accuracy: Still 100% (because he verified).</a:t>
            </a:r>
          </a:p>
          <a:p>
            <a:endParaRPr/>
          </a:p>
          <a:p>
            <a:r>
              <a:t>TRANSITION:</a:t>
            </a:r>
          </a:p>
          <a:p>
            <a:r>
              <a:t>   Best practices for using Claude in Excel</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Specificity matters: 'Calculate variance' is vague. 'Calculate variance % for columns C and D' is clear.</a:t>
            </a:r>
          </a:p>
          <a:p>
            <a:r>
              <a:t>   * Security: If your data is confidential, check your org's policy on AI tools</a:t>
            </a:r>
          </a:p>
          <a:p>
            <a:r>
              <a:t>   * Verification is mandatory for financial/critical formulas</a:t>
            </a:r>
          </a:p>
          <a:p>
            <a:r>
              <a:t>   * Think assistant, not autopilot</a:t>
            </a:r>
          </a:p>
          <a:p>
            <a:endParaRPr/>
          </a:p>
          <a:p>
            <a:r>
              <a:t>TRANSITION:</a:t>
            </a:r>
          </a:p>
          <a:p>
            <a:r>
              <a:t>   Real-world workflow example</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Scenario: Monthly expense variance report (common finance task)</a:t>
            </a:r>
          </a:p>
          <a:p>
            <a:r>
              <a:t>   * Step 1-2: Start with the core calculation</a:t>
            </a:r>
          </a:p>
          <a:p>
            <a:r>
              <a:t>   * Step 3-4: Refine - add formatting to highlight key items</a:t>
            </a:r>
          </a:p>
          <a:p>
            <a:r>
              <a:t>   * Step 5-6: Generate the summary narrative for your boss</a:t>
            </a:r>
          </a:p>
          <a:p>
            <a:r>
              <a:t>   * Total time: ~10 minutes. Manual time: ~40 minutes. Time saved: 30 minutes.</a:t>
            </a:r>
          </a:p>
          <a:p>
            <a:r>
              <a:t>   * This is a realistic workflow - build, refine, summarize</a:t>
            </a:r>
          </a:p>
          <a:p>
            <a:endParaRPr/>
          </a:p>
          <a:p>
            <a:r>
              <a:t>TRANSITION:</a:t>
            </a:r>
          </a:p>
          <a:p>
            <a:r>
              <a:t>   When should you use Claude in Excel vs other tools?</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Claude in Excel: Best when working IN the spreadsheet and need real-time help</a:t>
            </a:r>
          </a:p>
          <a:p>
            <a:r>
              <a:t>   * Claude.ai: Best when you want to analyze a file deeply without opening Excel</a:t>
            </a:r>
          </a:p>
          <a:p>
            <a:r>
              <a:t>   * M365 Copilot: Best for creating PivotTables, charts, automated insights (if you have it)</a:t>
            </a:r>
          </a:p>
          <a:p>
            <a:r>
              <a:t>   * They complement each other - not either/or</a:t>
            </a:r>
          </a:p>
          <a:p>
            <a:endParaRPr/>
          </a:p>
          <a:p>
            <a:r>
              <a:t>TRANSITION:</a:t>
            </a:r>
          </a:p>
          <a:p>
            <a:r>
              <a:t>   15-minute break, then we'll cover Artifacts and file handling</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Artifacts are Claude's way of saying 'Here's something you can use directly' - not just conversation, but actual deliverables.</a:t>
            </a:r>
          </a:p>
          <a:p>
            <a:endParaRPr/>
          </a:p>
          <a:p>
            <a:r>
              <a:t>KEY POINTS:</a:t>
            </a:r>
          </a:p>
          <a:p>
            <a:r>
              <a:t>   * Artifacts appear when Claude creates: Code, Documents, Diagrams, Data visualizations, HTML pages</a:t>
            </a:r>
          </a:p>
          <a:p>
            <a:r>
              <a:t>   * Separate panel on the right side of claude.ai</a:t>
            </a:r>
          </a:p>
          <a:p>
            <a:r>
              <a:t>   * You can: View, Edit, Iterate, Download, Copy, Remix</a:t>
            </a:r>
          </a:p>
          <a:p>
            <a:r>
              <a:t>   * Think of it as Claude's 'workspace' - where it builds things for you</a:t>
            </a:r>
          </a:p>
          <a:p>
            <a:endParaRPr/>
          </a:p>
          <a:p>
            <a:r>
              <a:t>TRANSITION:</a:t>
            </a:r>
          </a:p>
          <a:p>
            <a:r>
              <a:t>   Let's see what you can do with artifacts</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View: See the final result (code runs, markdown renders, diagrams display)</a:t>
            </a:r>
          </a:p>
          <a:p>
            <a:r>
              <a:t>   * Edit: Click directly into the artifact and modify it yourself</a:t>
            </a:r>
          </a:p>
          <a:p>
            <a:r>
              <a:t>   * Download: Save as file (HTML, markdown, code file, etc.)</a:t>
            </a:r>
          </a:p>
          <a:p>
            <a:r>
              <a:t>   * Also: Copy to clipboard, ask Claude to modify it, use as starting point for new work</a:t>
            </a:r>
          </a:p>
          <a:p>
            <a:endParaRPr/>
          </a:p>
          <a:p>
            <a:r>
              <a:t>DEMO:</a:t>
            </a:r>
          </a:p>
          <a:p>
            <a:r>
              <a:t>   DEMO: 'Create a simple flowchart showing our sales process.' Show artifact panel appearing, how to download, how to iterate ('Add a decision point for budget approval').</a:t>
            </a:r>
          </a:p>
          <a:p>
            <a:endParaRPr/>
          </a:p>
          <a:p>
            <a:r>
              <a:t>TRANSITION:</a:t>
            </a:r>
          </a:p>
          <a:p>
            <a:r>
              <a:t>   Common business use cases for artifacts</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Email templates: 'Create a template for customer onboarding emails'</a:t>
            </a:r>
          </a:p>
          <a:p>
            <a:r>
              <a:t>   * Meeting agendas: 'Draft agenda for quarterly business review'</a:t>
            </a:r>
          </a:p>
          <a:p>
            <a:r>
              <a:t>   * Project proposals: 'Write proposal for new CRM implementation'</a:t>
            </a:r>
          </a:p>
          <a:p>
            <a:r>
              <a:t>   * Data summaries: 'Summarize this CSV in a formatted table'</a:t>
            </a:r>
          </a:p>
          <a:p>
            <a:r>
              <a:t>   * Process flowcharts: 'Diagram our customer support escalation process'</a:t>
            </a:r>
          </a:p>
          <a:p>
            <a:r>
              <a:t>   * Presentation outlines: 'Create outline for board presentation on Q4 results'</a:t>
            </a:r>
          </a:p>
          <a:p>
            <a:endParaRPr/>
          </a:p>
          <a:p>
            <a:r>
              <a:t>TRANSITION:</a:t>
            </a:r>
          </a:p>
          <a:p>
            <a:r>
              <a:t>   Now let's talk about file uploads</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Claude can read and analyze most common file types</a:t>
            </a:r>
          </a:p>
          <a:p>
            <a:r>
              <a:t>   * PDFs: Full text extraction, can handle scanned docs (OCR)</a:t>
            </a:r>
          </a:p>
          <a:p>
            <a:r>
              <a:t>   * PowerPoint: Claude reads .pptx files directly - no need to convert to PDF first</a:t>
            </a:r>
          </a:p>
          <a:p>
            <a:r>
              <a:t>   * Images: Can describe, extract text, analyze charts</a:t>
            </a:r>
          </a:p>
          <a:p>
            <a:r>
              <a:t>   * Multiple files: Upload up to 5-10 at once for comparison</a:t>
            </a:r>
          </a:p>
          <a:p>
            <a:r>
              <a:t>   * File size limits depend on your plan (check settings)</a:t>
            </a:r>
          </a:p>
          <a:p>
            <a:endParaRPr/>
          </a:p>
          <a:p>
            <a:r>
              <a:t>TRANSITION:</a:t>
            </a:r>
          </a:p>
          <a:p>
            <a:r>
              <a:t>   Example workflows for document analysis</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Legal review: NOT a substitute for lawyer, but great for initial screening</a:t>
            </a:r>
          </a:p>
          <a:p>
            <a:r>
              <a:t>   * Research synthesis: Can compare multiple documents, find patterns</a:t>
            </a:r>
          </a:p>
          <a:p>
            <a:r>
              <a:t>   * Data extraction: Pulls structured data from unstructured docs</a:t>
            </a:r>
          </a:p>
          <a:p>
            <a:r>
              <a:t>   * Comparison: Side-by-side analysis of multiple files</a:t>
            </a:r>
          </a:p>
          <a:p>
            <a:endParaRPr/>
          </a:p>
          <a:p>
            <a:r>
              <a:t>DEMO:</a:t>
            </a:r>
          </a:p>
          <a:p>
            <a:r>
              <a:t>   DEMO: Upload a sample PDF (contract or report). Show prompts: 'Summarize key points', 'Extract action items into a list', 'What risks do you see?'</a:t>
            </a:r>
          </a:p>
          <a:p>
            <a:endParaRPr/>
          </a:p>
          <a:p>
            <a:r>
              <a:t>TRANSITION:</a:t>
            </a:r>
          </a:p>
          <a:p>
            <a:r>
              <a:t>   Images and screenshots</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Image capabilities: Describe content, Extract text (OCR), Analyze charts/diagrams, Compare images, Explain visual concepts</a:t>
            </a:r>
          </a:p>
          <a:p>
            <a:r>
              <a:t>   * Great for: UI/UX review, chart analysis, whiteboard photos, error screenshots</a:t>
            </a:r>
          </a:p>
          <a:p>
            <a:r>
              <a:t>   * Accuracy: Very good for printed text, charts. Less accurate for handwriting.</a:t>
            </a:r>
          </a:p>
          <a:p>
            <a:r>
              <a:t>   * Desktop app has screenshot capture built in (Win+Shift+S on Windows, Cmd+Shift+5 on Mac)</a:t>
            </a:r>
          </a:p>
          <a:p>
            <a:endParaRPr/>
          </a:p>
          <a:p>
            <a:r>
              <a:t>DEMO:</a:t>
            </a:r>
          </a:p>
          <a:p>
            <a:r>
              <a:t>   DEMO: Upload a screenshot of a dashboard or chart. Ask: 'What does this chart show?', 'Extract the text from this screenshot', 'Compare these two UI mockups'.</a:t>
            </a:r>
          </a:p>
          <a:p>
            <a:endParaRPr/>
          </a:p>
          <a:p>
            <a:r>
              <a:t>TRANSITION:</a:t>
            </a:r>
          </a:p>
          <a:p>
            <a:r>
              <a:t>   Best practices for file-based work</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Claude isn't just text - it can analyze images, charts, screenshots, diagrams</a:t>
            </a:r>
          </a:p>
          <a:p>
            <a:endParaRPr/>
          </a:p>
          <a:p>
            <a:r>
              <a:t>KEY POINTS:</a:t>
            </a:r>
          </a:p>
          <a:p>
            <a:r>
              <a:t>   * Upload any image - Claude describes it</a:t>
            </a:r>
          </a:p>
          <a:p>
            <a:r>
              <a:t>   * Works with: Screenshots, photos, charts, diagrams, handwriting</a:t>
            </a:r>
          </a:p>
          <a:p>
            <a:r>
              <a:t>   * Can extract text (OCR) from images</a:t>
            </a:r>
          </a:p>
          <a:p>
            <a:r>
              <a:t>   * Useful for debugging, documentation, analysis</a:t>
            </a:r>
          </a:p>
          <a:p>
            <a:endParaRPr/>
          </a:p>
          <a:p>
            <a:r>
              <a:t>REAL-WORLD EXAMPLE:</a:t>
            </a:r>
          </a:p>
          <a:p>
            <a:r>
              <a:t>   Screenshot an error message, ask 'What's wrong?' Claude reads it, explains the issue, suggests fix.</a:t>
            </a:r>
          </a:p>
          <a:p>
            <a:endParaRPr/>
          </a:p>
          <a:p>
            <a:r>
              <a:t>TRANSITION:</a:t>
            </a:r>
          </a:p>
          <a:p>
            <a:r>
              <a:t>   Common vision use cases</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Charts: 'Explain this graph' - Claude interprets trends</a:t>
            </a:r>
          </a:p>
          <a:p>
            <a:r>
              <a:t>   * Debugging: Screenshot error, Claude identifies issue</a:t>
            </a:r>
          </a:p>
          <a:p>
            <a:r>
              <a:t>   * Docs: Photo of whiteboard, Claude transcribes it</a:t>
            </a:r>
          </a:p>
          <a:p>
            <a:r>
              <a:t>   * Also: UI review, diagram explanation, photo analysis</a:t>
            </a:r>
          </a:p>
          <a:p>
            <a:endParaRPr/>
          </a:p>
          <a:p>
            <a:r>
              <a:t>ASK THE CLASS:</a:t>
            </a:r>
          </a:p>
          <a:p>
            <a:r>
              <a:t>   "What images or screenshots do you work with regularly?"</a:t>
            </a:r>
          </a:p>
          <a:p>
            <a:r>
              <a:t>   [PAUSE for 30-60 seconds]</a:t>
            </a:r>
          </a:p>
          <a:p>
            <a:endParaRPr/>
          </a:p>
          <a:p>
            <a:r>
              <a:t>TRANSITION:</a:t>
            </a:r>
          </a:p>
          <a:p>
            <a:r>
              <a:t>   Tips for working with images effectively</a:t>
            </a:r>
          </a:p>
        </p:txBody>
      </p:sp>
      <p:sp>
        <p:nvSpPr>
          <p:cNvPr id="4" name="Slide Number Placeholder 3"/>
          <p:cNvSpPr>
            <a:spLocks noGrp="1"/>
          </p:cNvSpPr>
          <p:nvPr>
            <p:ph type="sldNum" sz="quarter" idx="5"/>
          </p:nvPr>
        </p:nvSpPr>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Descriptive names: 'Q4_Report.pdf' better than 'Document1.pdf'</a:t>
            </a:r>
          </a:p>
          <a:p>
            <a:r>
              <a:t>   * Context: Don't just upload and say 'Analyze this' - specify WHAT to analyze</a:t>
            </a:r>
          </a:p>
          <a:p>
            <a:r>
              <a:t>   * Verification: Always spot-check extracted data for accuracy</a:t>
            </a:r>
          </a:p>
          <a:p>
            <a:r>
              <a:t>   * Security: Check your org's policy on uploading confidential files to AI</a:t>
            </a:r>
          </a:p>
          <a:p>
            <a:endParaRPr/>
          </a:p>
          <a:p>
            <a:r>
              <a:t>TRANSITION:</a:t>
            </a:r>
          </a:p>
          <a:p>
            <a:r>
              <a:t>   Time for hands-on practice - Lab 2</a:t>
            </a:r>
          </a:p>
        </p:txBody>
      </p:sp>
      <p:sp>
        <p:nvSpPr>
          <p:cNvPr id="4" name="Slide Number Placeholder 3"/>
          <p:cNvSpPr>
            <a:spLocks noGrp="1"/>
          </p:cNvSpPr>
          <p:nvPr>
            <p:ph type="sldNum" sz="quarter" idx="5"/>
          </p:nvPr>
        </p:nvSpPr>
        <p:spPr/>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2 min</a:t>
            </a:r>
          </a:p>
          <a:p>
            <a:endParaRPr/>
          </a:p>
          <a:p>
            <a:r>
              <a:t>Let's take stock. Today we covered the Claude model family and when to use each tier. We navigated the Claude.ai interface, set up Projects with custom instructions, and configured your Personal Preferences. We practiced prompt engineering with the GOLDEN framework and saw how iteration produces consistently better results.</a:t>
            </a:r>
          </a:p>
          <a:p>
            <a:endParaRPr/>
          </a:p>
          <a:p>
            <a:r>
              <a:t>We explored Claude in Excel for formula assistance and data analysis. We built artifacts — documents, code, and diagrams that Claude creates as standalone deliverables. And we addressed the security and privacy model head-on, including the five objections your CISO will raise and the answers to each one.</a:t>
            </a:r>
          </a:p>
          <a:p>
            <a:endParaRPr/>
          </a:p>
          <a:p>
            <a:r>
              <a:t>You now have practical skills that 40 percent of the US workforce is learning right now. The difference? You learned them systematically, with frameworks, not through trial and error.</a:t>
            </a:r>
          </a:p>
          <a:p>
            <a:endParaRPr/>
          </a:p>
          <a:p>
            <a:r>
              <a:t>Remember the stat: 89 percent of leaders who implement AI properly agree it enhances rather than replaces employee skills. You're enhancing your skills today. Not being replaced by them.</a:t>
            </a:r>
          </a:p>
        </p:txBody>
      </p:sp>
      <p:sp>
        <p:nvSpPr>
          <p:cNvPr id="4" name="Slide Number Placeholder 3"/>
          <p:cNvSpPr>
            <a:spLocks noGrp="1"/>
          </p:cNvSpPr>
          <p:nvPr>
            <p:ph type="sldNum" sz="quarter" idx="5"/>
          </p:nvPr>
        </p:nvSpPr>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3 min</a:t>
            </a:r>
          </a:p>
          <a:p>
            <a:endParaRPr/>
          </a:p>
          <a:p>
            <a:r>
              <a:t>Let me leave you with the framing that matters.</a:t>
            </a:r>
          </a:p>
          <a:p>
            <a:endParaRPr/>
          </a:p>
          <a:p>
            <a:r>
              <a:t>95 percent of enterprise AI projects fail to reach production or deliver measurable ROI. That's MIT's 2025 finding from 150 leader interviews and 300 deployments. Global losses from failed AI projects hit $644 billion last year alone. Zillow's AI-powered home-buying algorithm cost them $500 million in losses and 25 percent of their workforce.</a:t>
            </a:r>
          </a:p>
          <a:p>
            <a:endParaRPr/>
          </a:p>
          <a:p>
            <a:r>
              <a:t>These projects don't fail because the technology doesn't work. They fail because of implementation. No clear business problem. Unrealistic timelines. Poor integration with existing workflows. Lack of governance.</a:t>
            </a:r>
          </a:p>
          <a:p>
            <a:endParaRPr/>
          </a:p>
          <a:p>
            <a:r>
              <a:t>Everything we covered today — the GOLDEN framework, Projects for organized context, Extended Thinking for complex analysis, the security model, the permission architecture — these are the implementation disciplines that separate the 5 percent who succeed from the 95 percent who don't.</a:t>
            </a:r>
          </a:p>
          <a:p>
            <a:endParaRPr/>
          </a:p>
          <a:p>
            <a:r>
              <a:t>75 percent of leaders who DO implement AI properly see positive ROI. 89 percent agree it enhances rather than replaces employee skills. The technology works. The question is whether you have the discipline to implement it right.</a:t>
            </a:r>
          </a:p>
          <a:p>
            <a:endParaRPr/>
          </a:p>
          <a:p>
            <a:r>
              <a:t>GitHub Copilot has a certification. It teaches you autocomplete. What we taught today — and what we'll go deeper on in Days 2 and 3 — covers autonomous agent development, memory architecture, multi-agent orchestration, and enterprise governance. Nobody else teaches this. You're in the 1 percent who will know how to actually use these tools.</a:t>
            </a:r>
          </a:p>
          <a:p>
            <a:endParaRPr/>
          </a:p>
          <a:p>
            <a:r>
              <a:t>SOURCES: MIT 2025 State of AI, Fortune, Pythian Enterprise Research, Wharton 2025 AI Report.</a:t>
            </a:r>
          </a:p>
        </p:txBody>
      </p:sp>
      <p:sp>
        <p:nvSpPr>
          <p:cNvPr id="4" name="Slide Number Placeholder 3"/>
          <p:cNvSpPr>
            <a:spLocks noGrp="1"/>
          </p:cNvSpPr>
          <p:nvPr>
            <p:ph type="sldNum" sz="quarter" idx="5"/>
          </p:nvPr>
        </p:nvSpPr>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KEY POINTS:</a:t>
            </a:r>
          </a:p>
          <a:p>
            <a:r>
              <a:t>   * docs.claude.com has comprehensive, always up-to-date documentation</a:t>
            </a:r>
          </a:p>
          <a:p>
            <a:r>
              <a:t>   * Support site has troubleshooting for common issues</a:t>
            </a:r>
          </a:p>
          <a:p>
            <a:r>
              <a:t>   * Blog (anthropic.com/news) has product announcements and case studies</a:t>
            </a:r>
          </a:p>
          <a:p>
            <a:r>
              <a:t>   * Trust Center has full security and compliance documentation</a:t>
            </a:r>
          </a:p>
          <a:p>
            <a:r>
              <a:t>   * Handouts: Take these with you for reference</a:t>
            </a:r>
          </a:p>
          <a:p>
            <a:endParaRPr/>
          </a:p>
          <a:p>
            <a:r>
              <a:t>TRANSITION:</a:t>
            </a:r>
          </a:p>
          <a:p>
            <a:r>
              <a:t>   Optional practice assignment for this week</a:t>
            </a:r>
          </a:p>
        </p:txBody>
      </p:sp>
      <p:sp>
        <p:nvSpPr>
          <p:cNvPr id="4" name="Slide Number Placeholder 3"/>
          <p:cNvSpPr>
            <a:spLocks noGrp="1"/>
          </p:cNvSpPr>
          <p:nvPr>
            <p:ph type="sldNum" sz="quarter" idx="5"/>
          </p:nvPr>
        </p:nvSpPr>
        <p:spPr/>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KEY POINTS:</a:t>
            </a:r>
          </a:p>
          <a:p>
            <a:r>
              <a:t>   * This is optional but highly recommended</a:t>
            </a:r>
          </a:p>
          <a:p>
            <a:r>
              <a:t>   * Real-world practice cements learning</a:t>
            </a:r>
          </a:p>
          <a:p>
            <a:r>
              <a:t>   * Start with low-stakes tasks</a:t>
            </a:r>
          </a:p>
          <a:p>
            <a:r>
              <a:t>   * Track time saved - you'll be surprised</a:t>
            </a:r>
          </a:p>
          <a:p>
            <a:r>
              <a:t>   * Share wins with your team</a:t>
            </a:r>
          </a:p>
          <a:p>
            <a:endParaRPr/>
          </a:p>
          <a:p>
            <a:r>
              <a:t>TRANSITION:</a:t>
            </a:r>
          </a:p>
          <a:p>
            <a:r>
              <a:t>   Q&amp;A time</a:t>
            </a:r>
          </a:p>
        </p:txBody>
      </p:sp>
      <p:sp>
        <p:nvSpPr>
          <p:cNvPr id="4" name="Slide Number Placeholder 3"/>
          <p:cNvSpPr>
            <a:spLocks noGrp="1"/>
          </p:cNvSpPr>
          <p:nvPr>
            <p:ph type="sldNum" sz="quarter" idx="5"/>
          </p:nvPr>
        </p:nvSpPr>
        <p:spPr/>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15-20 min</a:t>
            </a:r>
          </a:p>
          <a:p>
            <a:endParaRPr/>
          </a:p>
          <a:p>
            <a:r>
              <a:t>KEY POINTS:</a:t>
            </a:r>
          </a:p>
          <a:p>
            <a:r>
              <a:t>   * Open floor for any questions</a:t>
            </a:r>
          </a:p>
          <a:p>
            <a:r>
              <a:t>   * Common Q: Licensing - talk to your admin about Claude Enterprise</a:t>
            </a:r>
          </a:p>
          <a:p>
            <a:r>
              <a:t>   * Common Q: Security - Claude Enterprise has SOC2, HIPAA compliance options</a:t>
            </a:r>
          </a:p>
          <a:p>
            <a:r>
              <a:t>   * Common Q: vs Copilot - they complement each other, use both</a:t>
            </a:r>
          </a:p>
          <a:p>
            <a:r>
              <a:t>   * Share contact info for follow-up questions</a:t>
            </a:r>
          </a:p>
          <a:p>
            <a:endParaRPr/>
          </a:p>
          <a:p>
            <a:r>
              <a:t>TRANSITION:</a:t>
            </a:r>
          </a:p>
          <a:p>
            <a:r>
              <a:t>   Thank you!</a:t>
            </a:r>
          </a:p>
        </p:txBody>
      </p:sp>
      <p:sp>
        <p:nvSpPr>
          <p:cNvPr id="4" name="Slide Number Placeholder 3"/>
          <p:cNvSpPr>
            <a:spLocks noGrp="1"/>
          </p:cNvSpPr>
          <p:nvPr>
            <p:ph type="sldNum" sz="quarter" idx="5"/>
          </p:nvPr>
        </p:nvSpPr>
        <p:spPr/>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KEY POINTS:</a:t>
            </a:r>
          </a:p>
          <a:p>
            <a:r>
              <a:t>   * Thank you for your attention today</a:t>
            </a:r>
          </a:p>
          <a:p>
            <a:r>
              <a:t>   * Practice what you learned this week</a:t>
            </a:r>
          </a:p>
          <a:p>
            <a:r>
              <a:t>   * Reach out if you have questions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2/16/2026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2/16/2026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2/16/2026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2/16/2026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2/16/2026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2/16/2026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2/16/2026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2/16/2026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2/16/2026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5.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2286000"/>
            <a:ext cx="11277295" cy="2286000"/>
          </a:xfrm>
          <a:prstGeom prst="rect">
            <a:avLst/>
          </a:prstGeom>
          <a:noFill/>
        </p:spPr>
        <p:txBody>
          <a:bodyPr wrap="square">
            <a:spAutoFit/>
          </a:bodyPr>
          <a:lstStyle/>
          <a:p>
            <a:pPr algn="ctr">
              <a:defRPr sz="8000" b="1">
                <a:solidFill>
                  <a:srgbClr val="00D4AA"/>
                </a:solidFill>
              </a:defRPr>
            </a:pPr>
            <a:r>
              <a:t>Claude for Business</a:t>
            </a:r>
          </a:p>
        </p:txBody>
      </p:sp>
      <p:sp>
        <p:nvSpPr>
          <p:cNvPr id="3" name="Rectangle 2"/>
          <p:cNvSpPr/>
          <p:nvPr/>
        </p:nvSpPr>
        <p:spPr>
          <a:xfrm>
            <a:off x="0" y="4754880"/>
            <a:ext cx="12191695"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5029200"/>
            <a:ext cx="11277295" cy="457200"/>
          </a:xfrm>
          <a:prstGeom prst="rect">
            <a:avLst/>
          </a:prstGeom>
          <a:noFill/>
        </p:spPr>
        <p:txBody>
          <a:bodyPr wrap="none">
            <a:spAutoFit/>
          </a:bodyPr>
          <a:lstStyle/>
          <a:p>
            <a:pPr algn="r">
              <a:defRPr sz="2000">
                <a:solidFill>
                  <a:srgbClr val="8B95A5"/>
                </a:solidFill>
              </a:defRPr>
            </a:pPr>
            <a:r>
              <a:t>- © 2026 AIA Copilot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Today's Agenda</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457200" y="1645920"/>
            <a:ext cx="5410047" cy="64008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94360" y="1645920"/>
            <a:ext cx="5135727" cy="640080"/>
          </a:xfrm>
          <a:prstGeom prst="rect">
            <a:avLst/>
          </a:prstGeom>
          <a:noFill/>
        </p:spPr>
        <p:txBody>
          <a:bodyPr wrap="none" anchor="ctr">
            <a:spAutoFit/>
          </a:bodyPr>
          <a:lstStyle/>
          <a:p>
            <a:pPr>
              <a:defRPr sz="1800" b="1">
                <a:solidFill>
                  <a:srgbClr val="0B0F1A"/>
                </a:solidFill>
              </a:defRPr>
            </a:pPr>
            <a:r>
              <a:t>Morning  (9:00 AM - 12:00 PM)</a:t>
            </a:r>
          </a:p>
        </p:txBody>
      </p:sp>
      <p:sp>
        <p:nvSpPr>
          <p:cNvPr id="6" name="Rectangle 5"/>
          <p:cNvSpPr/>
          <p:nvPr/>
        </p:nvSpPr>
        <p:spPr>
          <a:xfrm>
            <a:off x="457200" y="246888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94360" y="2551063"/>
            <a:ext cx="4221327" cy="338554"/>
          </a:xfrm>
          <a:prstGeom prst="rect">
            <a:avLst/>
          </a:prstGeom>
          <a:noFill/>
        </p:spPr>
        <p:txBody>
          <a:bodyPr wrap="square" anchor="ctr">
            <a:spAutoFit/>
          </a:bodyPr>
          <a:lstStyle/>
          <a:p>
            <a:pPr>
              <a:defRPr sz="1600">
                <a:solidFill>
                  <a:srgbClr val="FFFFFF"/>
                </a:solidFill>
              </a:defRPr>
            </a:pPr>
            <a:r>
              <a:t>Claude </a:t>
            </a:r>
            <a:r>
              <a:rPr lang="en-US" dirty="0"/>
              <a:t>Interface</a:t>
            </a:r>
            <a:endParaRPr/>
          </a:p>
        </p:txBody>
      </p:sp>
      <p:sp>
        <p:nvSpPr>
          <p:cNvPr id="8" name="Rounded Rectangle 7"/>
          <p:cNvSpPr/>
          <p:nvPr/>
        </p:nvSpPr>
        <p:spPr>
          <a:xfrm>
            <a:off x="4815687" y="25603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815687" y="256032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10" name="TextBox 9"/>
          <p:cNvSpPr txBox="1"/>
          <p:nvPr/>
        </p:nvSpPr>
        <p:spPr>
          <a:xfrm>
            <a:off x="594360" y="3053983"/>
            <a:ext cx="4221327" cy="338554"/>
          </a:xfrm>
          <a:prstGeom prst="rect">
            <a:avLst/>
          </a:prstGeom>
          <a:noFill/>
        </p:spPr>
        <p:txBody>
          <a:bodyPr wrap="square" anchor="ctr">
            <a:spAutoFit/>
          </a:bodyPr>
          <a:lstStyle/>
          <a:p>
            <a:pPr>
              <a:defRPr sz="1600">
                <a:solidFill>
                  <a:srgbClr val="FFFFFF"/>
                </a:solidFill>
              </a:defRPr>
            </a:pPr>
            <a:r>
              <a:rPr lang="en-US" dirty="0"/>
              <a:t>Prompt Engineering &amp; Lab 1</a:t>
            </a:r>
            <a:endParaRPr/>
          </a:p>
        </p:txBody>
      </p:sp>
      <p:sp>
        <p:nvSpPr>
          <p:cNvPr id="11" name="Rounded Rectangle 10"/>
          <p:cNvSpPr/>
          <p:nvPr/>
        </p:nvSpPr>
        <p:spPr>
          <a:xfrm>
            <a:off x="4815687" y="30632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942507" y="3077066"/>
            <a:ext cx="660758" cy="292388"/>
          </a:xfrm>
          <a:prstGeom prst="rect">
            <a:avLst/>
          </a:prstGeom>
          <a:noFill/>
        </p:spPr>
        <p:txBody>
          <a:bodyPr wrap="none" anchor="ctr">
            <a:spAutoFit/>
          </a:bodyPr>
          <a:lstStyle/>
          <a:p>
            <a:pPr algn="ctr">
              <a:defRPr sz="1300" b="1">
                <a:solidFill>
                  <a:srgbClr val="00D4AA"/>
                </a:solidFill>
              </a:defRPr>
            </a:pPr>
            <a:r>
              <a:rPr lang="en-US" dirty="0"/>
              <a:t>60 </a:t>
            </a:r>
            <a:r>
              <a:t>min</a:t>
            </a:r>
          </a:p>
        </p:txBody>
      </p:sp>
      <p:sp>
        <p:nvSpPr>
          <p:cNvPr id="13" name="Rectangle 12"/>
          <p:cNvSpPr/>
          <p:nvPr/>
        </p:nvSpPr>
        <p:spPr>
          <a:xfrm>
            <a:off x="457200" y="347472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594360" y="3474720"/>
            <a:ext cx="4221327" cy="502920"/>
          </a:xfrm>
          <a:prstGeom prst="rect">
            <a:avLst/>
          </a:prstGeom>
          <a:noFill/>
        </p:spPr>
        <p:txBody>
          <a:bodyPr wrap="square" anchor="ctr">
            <a:spAutoFit/>
          </a:bodyPr>
          <a:lstStyle/>
          <a:p>
            <a:pPr>
              <a:defRPr sz="1600" i="1">
                <a:solidFill>
                  <a:srgbClr val="8B95A5"/>
                </a:solidFill>
              </a:defRPr>
            </a:pPr>
            <a:r>
              <a:t>Break</a:t>
            </a:r>
          </a:p>
        </p:txBody>
      </p:sp>
      <p:sp>
        <p:nvSpPr>
          <p:cNvPr id="15" name="Rounded Rectangle 14"/>
          <p:cNvSpPr/>
          <p:nvPr/>
        </p:nvSpPr>
        <p:spPr>
          <a:xfrm>
            <a:off x="4815687" y="3566160"/>
            <a:ext cx="914400" cy="320040"/>
          </a:xfrm>
          <a:prstGeom prst="roundRect">
            <a:avLst/>
          </a:prstGeom>
          <a:solidFill>
            <a:srgbClr val="141A26"/>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815687" y="3566160"/>
            <a:ext cx="914400" cy="320040"/>
          </a:xfrm>
          <a:prstGeom prst="rect">
            <a:avLst/>
          </a:prstGeom>
          <a:noFill/>
        </p:spPr>
        <p:txBody>
          <a:bodyPr wrap="none" anchor="ctr">
            <a:spAutoFit/>
          </a:bodyPr>
          <a:lstStyle/>
          <a:p>
            <a:pPr algn="ctr">
              <a:defRPr sz="1300" b="1">
                <a:solidFill>
                  <a:srgbClr val="00D4AA"/>
                </a:solidFill>
              </a:defRPr>
            </a:pPr>
            <a:r>
              <a:t>15 min</a:t>
            </a:r>
          </a:p>
        </p:txBody>
      </p:sp>
      <p:sp>
        <p:nvSpPr>
          <p:cNvPr id="17" name="TextBox 16"/>
          <p:cNvSpPr txBox="1"/>
          <p:nvPr/>
        </p:nvSpPr>
        <p:spPr>
          <a:xfrm>
            <a:off x="594360" y="4059823"/>
            <a:ext cx="4221327" cy="338554"/>
          </a:xfrm>
          <a:prstGeom prst="rect">
            <a:avLst/>
          </a:prstGeom>
          <a:noFill/>
        </p:spPr>
        <p:txBody>
          <a:bodyPr wrap="square" anchor="ctr">
            <a:spAutoFit/>
          </a:bodyPr>
          <a:lstStyle/>
          <a:p>
            <a:pPr>
              <a:defRPr sz="1600">
                <a:solidFill>
                  <a:srgbClr val="FFFFFF"/>
                </a:solidFill>
              </a:defRPr>
            </a:pPr>
            <a:r>
              <a:rPr lang="en-US" dirty="0"/>
              <a:t>Claude Settings</a:t>
            </a:r>
            <a:endParaRPr/>
          </a:p>
        </p:txBody>
      </p:sp>
      <p:sp>
        <p:nvSpPr>
          <p:cNvPr id="18" name="Rounded Rectangle 17"/>
          <p:cNvSpPr/>
          <p:nvPr/>
        </p:nvSpPr>
        <p:spPr>
          <a:xfrm>
            <a:off x="4815687" y="406908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815687" y="406908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20" name="Rectangle 19"/>
          <p:cNvSpPr/>
          <p:nvPr/>
        </p:nvSpPr>
        <p:spPr>
          <a:xfrm>
            <a:off x="457200" y="448056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94360" y="4562743"/>
            <a:ext cx="4221327" cy="338554"/>
          </a:xfrm>
          <a:prstGeom prst="rect">
            <a:avLst/>
          </a:prstGeom>
          <a:noFill/>
        </p:spPr>
        <p:txBody>
          <a:bodyPr wrap="square" anchor="ctr">
            <a:spAutoFit/>
          </a:bodyPr>
          <a:lstStyle/>
          <a:p>
            <a:pPr>
              <a:defRPr sz="1600">
                <a:solidFill>
                  <a:srgbClr val="FFFFFF"/>
                </a:solidFill>
              </a:defRPr>
            </a:pPr>
            <a:r>
              <a:rPr lang="en-US" dirty="0"/>
              <a:t>Projects &amp; </a:t>
            </a:r>
            <a:r>
              <a:t>Lab </a:t>
            </a:r>
            <a:r>
              <a:rPr lang="en-US" dirty="0"/>
              <a:t>2</a:t>
            </a:r>
            <a:endParaRPr/>
          </a:p>
        </p:txBody>
      </p:sp>
      <p:sp>
        <p:nvSpPr>
          <p:cNvPr id="22" name="Rounded Rectangle 21"/>
          <p:cNvSpPr/>
          <p:nvPr/>
        </p:nvSpPr>
        <p:spPr>
          <a:xfrm>
            <a:off x="4815687" y="457200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815687" y="457200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24" name="Rounded Rectangle 23"/>
          <p:cNvSpPr/>
          <p:nvPr/>
        </p:nvSpPr>
        <p:spPr>
          <a:xfrm>
            <a:off x="6324447" y="1645920"/>
            <a:ext cx="5410047" cy="64008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461607" y="1645920"/>
            <a:ext cx="5135727" cy="640080"/>
          </a:xfrm>
          <a:prstGeom prst="rect">
            <a:avLst/>
          </a:prstGeom>
          <a:noFill/>
        </p:spPr>
        <p:txBody>
          <a:bodyPr wrap="none" anchor="ctr">
            <a:spAutoFit/>
          </a:bodyPr>
          <a:lstStyle/>
          <a:p>
            <a:pPr>
              <a:defRPr sz="1800" b="1">
                <a:solidFill>
                  <a:srgbClr val="0B0F1A"/>
                </a:solidFill>
              </a:defRPr>
            </a:pPr>
            <a:r>
              <a:t>Afternoon  (1:00 PM - 4:00 PM)</a:t>
            </a:r>
          </a:p>
        </p:txBody>
      </p:sp>
      <p:sp>
        <p:nvSpPr>
          <p:cNvPr id="26" name="Rectangle 25"/>
          <p:cNvSpPr/>
          <p:nvPr/>
        </p:nvSpPr>
        <p:spPr>
          <a:xfrm>
            <a:off x="6324447" y="246888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461607" y="2551063"/>
            <a:ext cx="4221327" cy="338554"/>
          </a:xfrm>
          <a:prstGeom prst="rect">
            <a:avLst/>
          </a:prstGeom>
          <a:noFill/>
        </p:spPr>
        <p:txBody>
          <a:bodyPr wrap="square" anchor="ctr">
            <a:spAutoFit/>
          </a:bodyPr>
          <a:lstStyle/>
          <a:p>
            <a:pPr>
              <a:defRPr sz="1600">
                <a:solidFill>
                  <a:srgbClr val="FFFFFF"/>
                </a:solidFill>
              </a:defRPr>
            </a:pPr>
            <a:r>
              <a:rPr lang="en-US" dirty="0"/>
              <a:t>Analysis Prompts &amp; </a:t>
            </a:r>
            <a:r>
              <a:t>Claude in Excel</a:t>
            </a:r>
          </a:p>
        </p:txBody>
      </p:sp>
      <p:sp>
        <p:nvSpPr>
          <p:cNvPr id="28" name="Rounded Rectangle 27"/>
          <p:cNvSpPr/>
          <p:nvPr/>
        </p:nvSpPr>
        <p:spPr>
          <a:xfrm>
            <a:off x="10682935" y="25603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10682935" y="256032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30" name="TextBox 29"/>
          <p:cNvSpPr txBox="1"/>
          <p:nvPr/>
        </p:nvSpPr>
        <p:spPr>
          <a:xfrm>
            <a:off x="6461607" y="3053983"/>
            <a:ext cx="4221327" cy="338554"/>
          </a:xfrm>
          <a:prstGeom prst="rect">
            <a:avLst/>
          </a:prstGeom>
          <a:noFill/>
        </p:spPr>
        <p:txBody>
          <a:bodyPr wrap="square" anchor="ctr">
            <a:spAutoFit/>
          </a:bodyPr>
          <a:lstStyle/>
          <a:p>
            <a:pPr>
              <a:defRPr sz="1600">
                <a:solidFill>
                  <a:srgbClr val="FFFFFF"/>
                </a:solidFill>
              </a:defRPr>
            </a:pPr>
            <a:r>
              <a:rPr lang="en-US" dirty="0"/>
              <a:t>Lab 3</a:t>
            </a:r>
            <a:endParaRPr/>
          </a:p>
        </p:txBody>
      </p:sp>
      <p:sp>
        <p:nvSpPr>
          <p:cNvPr id="31" name="Rounded Rectangle 30"/>
          <p:cNvSpPr/>
          <p:nvPr/>
        </p:nvSpPr>
        <p:spPr>
          <a:xfrm>
            <a:off x="10682935" y="30632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10682935" y="306324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33" name="Rectangle 32"/>
          <p:cNvSpPr/>
          <p:nvPr/>
        </p:nvSpPr>
        <p:spPr>
          <a:xfrm>
            <a:off x="6324447" y="347472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6461607" y="3474720"/>
            <a:ext cx="4221327" cy="502920"/>
          </a:xfrm>
          <a:prstGeom prst="rect">
            <a:avLst/>
          </a:prstGeom>
          <a:noFill/>
        </p:spPr>
        <p:txBody>
          <a:bodyPr wrap="square" anchor="ctr">
            <a:spAutoFit/>
          </a:bodyPr>
          <a:lstStyle/>
          <a:p>
            <a:pPr>
              <a:defRPr sz="1600" i="1">
                <a:solidFill>
                  <a:srgbClr val="8B95A5"/>
                </a:solidFill>
              </a:defRPr>
            </a:pPr>
            <a:r>
              <a:t>Break</a:t>
            </a:r>
          </a:p>
        </p:txBody>
      </p:sp>
      <p:sp>
        <p:nvSpPr>
          <p:cNvPr id="35" name="Rounded Rectangle 34"/>
          <p:cNvSpPr/>
          <p:nvPr/>
        </p:nvSpPr>
        <p:spPr>
          <a:xfrm>
            <a:off x="10682935" y="3566160"/>
            <a:ext cx="914400" cy="320040"/>
          </a:xfrm>
          <a:prstGeom prst="roundRect">
            <a:avLst/>
          </a:prstGeom>
          <a:solidFill>
            <a:srgbClr val="141A26"/>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10682935" y="3566160"/>
            <a:ext cx="914400" cy="320040"/>
          </a:xfrm>
          <a:prstGeom prst="rect">
            <a:avLst/>
          </a:prstGeom>
          <a:noFill/>
        </p:spPr>
        <p:txBody>
          <a:bodyPr wrap="none" anchor="ctr">
            <a:spAutoFit/>
          </a:bodyPr>
          <a:lstStyle/>
          <a:p>
            <a:pPr algn="ctr">
              <a:defRPr sz="1300" b="1">
                <a:solidFill>
                  <a:srgbClr val="00D4AA"/>
                </a:solidFill>
              </a:defRPr>
            </a:pPr>
            <a:r>
              <a:t>15 min</a:t>
            </a:r>
          </a:p>
        </p:txBody>
      </p:sp>
      <p:sp>
        <p:nvSpPr>
          <p:cNvPr id="37" name="TextBox 36"/>
          <p:cNvSpPr txBox="1"/>
          <p:nvPr/>
        </p:nvSpPr>
        <p:spPr>
          <a:xfrm>
            <a:off x="6461607" y="4059823"/>
            <a:ext cx="4221327" cy="338554"/>
          </a:xfrm>
          <a:prstGeom prst="rect">
            <a:avLst/>
          </a:prstGeom>
          <a:noFill/>
        </p:spPr>
        <p:txBody>
          <a:bodyPr wrap="square" anchor="ctr">
            <a:spAutoFit/>
          </a:bodyPr>
          <a:lstStyle/>
          <a:p>
            <a:pPr>
              <a:defRPr sz="1600">
                <a:solidFill>
                  <a:srgbClr val="FFFFFF"/>
                </a:solidFill>
              </a:defRPr>
            </a:pPr>
            <a:r>
              <a:rPr lang="en-US" dirty="0"/>
              <a:t>Artifacts &amp; Files</a:t>
            </a:r>
          </a:p>
        </p:txBody>
      </p:sp>
      <p:sp>
        <p:nvSpPr>
          <p:cNvPr id="38" name="Rounded Rectangle 37"/>
          <p:cNvSpPr/>
          <p:nvPr/>
        </p:nvSpPr>
        <p:spPr>
          <a:xfrm>
            <a:off x="10682935" y="406908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10682935" y="406908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40" name="Rectangle 39"/>
          <p:cNvSpPr/>
          <p:nvPr/>
        </p:nvSpPr>
        <p:spPr>
          <a:xfrm>
            <a:off x="6324447" y="448056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6461607" y="4562743"/>
            <a:ext cx="4221327" cy="338554"/>
          </a:xfrm>
          <a:prstGeom prst="rect">
            <a:avLst/>
          </a:prstGeom>
          <a:noFill/>
        </p:spPr>
        <p:txBody>
          <a:bodyPr wrap="square" anchor="ctr">
            <a:spAutoFit/>
          </a:bodyPr>
          <a:lstStyle/>
          <a:p>
            <a:pPr>
              <a:defRPr sz="1600">
                <a:solidFill>
                  <a:srgbClr val="FFFFFF"/>
                </a:solidFill>
              </a:defRPr>
            </a:pPr>
            <a:r>
              <a:rPr lang="en-US" dirty="0"/>
              <a:t>Lab 4, </a:t>
            </a:r>
            <a:r>
              <a:t>Wrap-up &amp; Q&amp;A</a:t>
            </a:r>
          </a:p>
        </p:txBody>
      </p:sp>
      <p:sp>
        <p:nvSpPr>
          <p:cNvPr id="42" name="Rounded Rectangle 41"/>
          <p:cNvSpPr/>
          <p:nvPr/>
        </p:nvSpPr>
        <p:spPr>
          <a:xfrm>
            <a:off x="10682935" y="457200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10682935" y="4572000"/>
            <a:ext cx="914400" cy="320040"/>
          </a:xfrm>
          <a:prstGeom prst="rect">
            <a:avLst/>
          </a:prstGeom>
          <a:noFill/>
        </p:spPr>
        <p:txBody>
          <a:bodyPr wrap="none" anchor="ctr">
            <a:spAutoFit/>
          </a:bodyPr>
          <a:lstStyle/>
          <a:p>
            <a:pPr algn="ctr">
              <a:defRPr sz="1300" b="1">
                <a:solidFill>
                  <a:srgbClr val="00D4AA"/>
                </a:solidFill>
              </a:defRPr>
            </a:pPr>
            <a:r>
              <a:t>45 min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Learning Objectives</a:t>
            </a:r>
          </a:p>
        </p:txBody>
      </p:sp>
      <p:sp>
        <p:nvSpPr>
          <p:cNvPr id="4" name="Oval 3"/>
          <p:cNvSpPr/>
          <p:nvPr/>
        </p:nvSpPr>
        <p:spPr>
          <a:xfrm>
            <a:off x="457200" y="1280160"/>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v</a:t>
            </a:r>
          </a:p>
        </p:txBody>
      </p:sp>
      <p:sp>
        <p:nvSpPr>
          <p:cNvPr id="5" name="TextBox 4"/>
          <p:cNvSpPr txBox="1"/>
          <p:nvPr/>
        </p:nvSpPr>
        <p:spPr>
          <a:xfrm>
            <a:off x="1005840" y="1298448"/>
            <a:ext cx="10725912" cy="502920"/>
          </a:xfrm>
          <a:prstGeom prst="rect">
            <a:avLst/>
          </a:prstGeom>
          <a:noFill/>
        </p:spPr>
        <p:txBody>
          <a:bodyPr wrap="square">
            <a:spAutoFit/>
          </a:bodyPr>
          <a:lstStyle/>
          <a:p>
            <a:pPr>
              <a:defRPr sz="2200">
                <a:solidFill>
                  <a:srgbClr val="FFFFFF"/>
                </a:solidFill>
              </a:defRPr>
            </a:pPr>
            <a:r>
              <a:rPr dirty="0"/>
              <a:t>Choose the right Claude model for different tasks</a:t>
            </a:r>
          </a:p>
        </p:txBody>
      </p:sp>
      <p:sp>
        <p:nvSpPr>
          <p:cNvPr id="6" name="Oval 5"/>
          <p:cNvSpPr/>
          <p:nvPr/>
        </p:nvSpPr>
        <p:spPr>
          <a:xfrm>
            <a:off x="457200" y="1938528"/>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v</a:t>
            </a:r>
          </a:p>
        </p:txBody>
      </p:sp>
      <p:sp>
        <p:nvSpPr>
          <p:cNvPr id="7" name="TextBox 6"/>
          <p:cNvSpPr txBox="1"/>
          <p:nvPr/>
        </p:nvSpPr>
        <p:spPr>
          <a:xfrm>
            <a:off x="1005840" y="1956816"/>
            <a:ext cx="10725912" cy="502920"/>
          </a:xfrm>
          <a:prstGeom prst="rect">
            <a:avLst/>
          </a:prstGeom>
          <a:noFill/>
        </p:spPr>
        <p:txBody>
          <a:bodyPr wrap="square">
            <a:spAutoFit/>
          </a:bodyPr>
          <a:lstStyle/>
          <a:p>
            <a:pPr>
              <a:defRPr sz="2200">
                <a:solidFill>
                  <a:srgbClr val="FFFFFF"/>
                </a:solidFill>
              </a:defRPr>
            </a:pPr>
            <a:r>
              <a:t>Navigate Claude.ai interface and manage Projects</a:t>
            </a:r>
          </a:p>
        </p:txBody>
      </p:sp>
      <p:sp>
        <p:nvSpPr>
          <p:cNvPr id="8" name="Oval 7"/>
          <p:cNvSpPr/>
          <p:nvPr/>
        </p:nvSpPr>
        <p:spPr>
          <a:xfrm>
            <a:off x="457200" y="2596896"/>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v</a:t>
            </a:r>
          </a:p>
        </p:txBody>
      </p:sp>
      <p:sp>
        <p:nvSpPr>
          <p:cNvPr id="9" name="TextBox 8"/>
          <p:cNvSpPr txBox="1"/>
          <p:nvPr/>
        </p:nvSpPr>
        <p:spPr>
          <a:xfrm>
            <a:off x="1005840" y="2615184"/>
            <a:ext cx="10725912" cy="502920"/>
          </a:xfrm>
          <a:prstGeom prst="rect">
            <a:avLst/>
          </a:prstGeom>
          <a:noFill/>
        </p:spPr>
        <p:txBody>
          <a:bodyPr wrap="square">
            <a:spAutoFit/>
          </a:bodyPr>
          <a:lstStyle/>
          <a:p>
            <a:pPr>
              <a:defRPr sz="2200">
                <a:solidFill>
                  <a:srgbClr val="FFFFFF"/>
                </a:solidFill>
              </a:defRPr>
            </a:pPr>
            <a:r>
              <a:t>Write effective prompts and use Extended Thinking for complex tasks</a:t>
            </a:r>
          </a:p>
        </p:txBody>
      </p:sp>
      <p:sp>
        <p:nvSpPr>
          <p:cNvPr id="10" name="Oval 9"/>
          <p:cNvSpPr/>
          <p:nvPr/>
        </p:nvSpPr>
        <p:spPr>
          <a:xfrm>
            <a:off x="457200" y="3255264"/>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v</a:t>
            </a:r>
          </a:p>
        </p:txBody>
      </p:sp>
      <p:sp>
        <p:nvSpPr>
          <p:cNvPr id="11" name="TextBox 10"/>
          <p:cNvSpPr txBox="1"/>
          <p:nvPr/>
        </p:nvSpPr>
        <p:spPr>
          <a:xfrm>
            <a:off x="1005840" y="3273552"/>
            <a:ext cx="10725912" cy="502920"/>
          </a:xfrm>
          <a:prstGeom prst="rect">
            <a:avLst/>
          </a:prstGeom>
          <a:noFill/>
        </p:spPr>
        <p:txBody>
          <a:bodyPr wrap="square">
            <a:spAutoFit/>
          </a:bodyPr>
          <a:lstStyle/>
          <a:p>
            <a:pPr>
              <a:defRPr sz="2200">
                <a:solidFill>
                  <a:srgbClr val="FFFFFF"/>
                </a:solidFill>
              </a:defRPr>
            </a:pPr>
            <a:r>
              <a:t>Use Claude in Excel for formula assistance and data analysis</a:t>
            </a:r>
          </a:p>
        </p:txBody>
      </p:sp>
      <p:sp>
        <p:nvSpPr>
          <p:cNvPr id="12" name="Oval 11"/>
          <p:cNvSpPr/>
          <p:nvPr/>
        </p:nvSpPr>
        <p:spPr>
          <a:xfrm>
            <a:off x="457200" y="3913631"/>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v</a:t>
            </a:r>
          </a:p>
        </p:txBody>
      </p:sp>
      <p:sp>
        <p:nvSpPr>
          <p:cNvPr id="13" name="TextBox 12"/>
          <p:cNvSpPr txBox="1"/>
          <p:nvPr/>
        </p:nvSpPr>
        <p:spPr>
          <a:xfrm>
            <a:off x="1005840" y="3931919"/>
            <a:ext cx="10725912" cy="502920"/>
          </a:xfrm>
          <a:prstGeom prst="rect">
            <a:avLst/>
          </a:prstGeom>
          <a:noFill/>
        </p:spPr>
        <p:txBody>
          <a:bodyPr wrap="square">
            <a:spAutoFit/>
          </a:bodyPr>
          <a:lstStyle/>
          <a:p>
            <a:pPr>
              <a:defRPr sz="2200">
                <a:solidFill>
                  <a:srgbClr val="FFFFFF"/>
                </a:solidFill>
              </a:defRPr>
            </a:pPr>
            <a:r>
              <a:t>Use artifacts for code, documents, and diagrams</a:t>
            </a:r>
          </a:p>
        </p:txBody>
      </p:sp>
      <p:sp>
        <p:nvSpPr>
          <p:cNvPr id="14" name="Oval 13"/>
          <p:cNvSpPr/>
          <p:nvPr/>
        </p:nvSpPr>
        <p:spPr>
          <a:xfrm>
            <a:off x="457200" y="4572000"/>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v</a:t>
            </a:r>
          </a:p>
        </p:txBody>
      </p:sp>
      <p:sp>
        <p:nvSpPr>
          <p:cNvPr id="15" name="TextBox 14"/>
          <p:cNvSpPr txBox="1"/>
          <p:nvPr/>
        </p:nvSpPr>
        <p:spPr>
          <a:xfrm>
            <a:off x="1005840" y="4590288"/>
            <a:ext cx="10725912" cy="502920"/>
          </a:xfrm>
          <a:prstGeom prst="rect">
            <a:avLst/>
          </a:prstGeom>
          <a:noFill/>
        </p:spPr>
        <p:txBody>
          <a:bodyPr wrap="square">
            <a:spAutoFit/>
          </a:bodyPr>
          <a:lstStyle/>
          <a:p>
            <a:pPr>
              <a:defRPr sz="2200">
                <a:solidFill>
                  <a:srgbClr val="FFFFFF"/>
                </a:solidFill>
              </a:defRPr>
            </a:pPr>
            <a:r>
              <a:t>Apply Claude to common business workflows</a:t>
            </a:r>
          </a:p>
        </p:txBody>
      </p:sp>
      <p:sp>
        <p:nvSpPr>
          <p:cNvPr id="16" name="Oval 15"/>
          <p:cNvSpPr/>
          <p:nvPr/>
        </p:nvSpPr>
        <p:spPr>
          <a:xfrm>
            <a:off x="457200" y="5230368"/>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v</a:t>
            </a:r>
          </a:p>
        </p:txBody>
      </p:sp>
      <p:sp>
        <p:nvSpPr>
          <p:cNvPr id="17" name="TextBox 16"/>
          <p:cNvSpPr txBox="1"/>
          <p:nvPr/>
        </p:nvSpPr>
        <p:spPr>
          <a:xfrm>
            <a:off x="1005840" y="5248656"/>
            <a:ext cx="10725912" cy="502920"/>
          </a:xfrm>
          <a:prstGeom prst="rect">
            <a:avLst/>
          </a:prstGeom>
          <a:noFill/>
        </p:spPr>
        <p:txBody>
          <a:bodyPr wrap="square">
            <a:spAutoFit/>
          </a:bodyPr>
          <a:lstStyle/>
          <a:p>
            <a:pPr>
              <a:defRPr sz="2200">
                <a:solidFill>
                  <a:srgbClr val="FFFFFF"/>
                </a:solidFill>
              </a:defRPr>
            </a:pPr>
            <a:r>
              <a:t>Configure Claude Desktop, Voice Mode, and Personal Preferences</a:t>
            </a:r>
          </a:p>
        </p:txBody>
      </p:sp>
      <p:sp>
        <p:nvSpPr>
          <p:cNvPr id="18" name="Oval 17"/>
          <p:cNvSpPr/>
          <p:nvPr/>
        </p:nvSpPr>
        <p:spPr>
          <a:xfrm>
            <a:off x="457200" y="5888736"/>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v</a:t>
            </a:r>
          </a:p>
        </p:txBody>
      </p:sp>
      <p:sp>
        <p:nvSpPr>
          <p:cNvPr id="19" name="TextBox 18"/>
          <p:cNvSpPr txBox="1"/>
          <p:nvPr/>
        </p:nvSpPr>
        <p:spPr>
          <a:xfrm>
            <a:off x="1005840" y="5907023"/>
            <a:ext cx="10725912" cy="502920"/>
          </a:xfrm>
          <a:prstGeom prst="rect">
            <a:avLst/>
          </a:prstGeom>
          <a:noFill/>
        </p:spPr>
        <p:txBody>
          <a:bodyPr wrap="square">
            <a:spAutoFit/>
          </a:bodyPr>
          <a:lstStyle/>
          <a:p>
            <a:pPr>
              <a:defRPr sz="2200">
                <a:solidFill>
                  <a:srgbClr val="FFFFFF"/>
                </a:solidFill>
              </a:defRPr>
            </a:pPr>
            <a:r>
              <a:t>Understand Claude's security model and data privacy controls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544907"/>
            <a:ext cx="8229600" cy="731520"/>
          </a:xfrm>
          <a:prstGeom prst="rect">
            <a:avLst/>
          </a:prstGeom>
          <a:noFill/>
        </p:spPr>
        <p:txBody>
          <a:bodyPr wrap="square">
            <a:spAutoFit/>
          </a:bodyPr>
          <a:lstStyle/>
          <a:p>
            <a:r>
              <a:rPr sz="3200" b="1" dirty="0">
                <a:solidFill>
                  <a:srgbClr val="FFFFFF"/>
                </a:solidFill>
              </a:rPr>
              <a:t>Claude Ecosystem</a:t>
            </a:r>
          </a:p>
        </p:txBody>
      </p:sp>
      <p:pic>
        <p:nvPicPr>
          <p:cNvPr id="3" name="Picture 2" descr="claude-ecosystem.png"/>
          <p:cNvPicPr>
            <a:picLocks noChangeAspect="1"/>
          </p:cNvPicPr>
          <p:nvPr/>
        </p:nvPicPr>
        <p:blipFill>
          <a:blip r:embed="rId3"/>
          <a:srcRect t="21119" b="23825"/>
          <a:stretch>
            <a:fillRect/>
          </a:stretch>
        </p:blipFill>
        <p:spPr>
          <a:xfrm>
            <a:off x="45509" y="1716833"/>
            <a:ext cx="12014482" cy="4262861"/>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Claude.ai Interface &amp; Projects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Your AI workspace</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640080"/>
          </a:xfrm>
          <a:prstGeom prst="rect">
            <a:avLst/>
          </a:prstGeom>
          <a:noFill/>
        </p:spPr>
        <p:txBody>
          <a:bodyPr wrap="none">
            <a:spAutoFit/>
          </a:bodyPr>
          <a:lstStyle/>
          <a:p>
            <a:pPr>
              <a:defRPr sz="3200" b="1">
                <a:solidFill>
                  <a:srgbClr val="FFFFFF"/>
                </a:solidFill>
              </a:defRPr>
            </a:pPr>
            <a:r>
              <a:t>Claude.ai Interface Tour</a:t>
            </a:r>
          </a:p>
        </p:txBody>
      </p:sp>
      <p:pic>
        <p:nvPicPr>
          <p:cNvPr id="3" name="Picture 2" descr="claude-ai-interface.png"/>
          <p:cNvPicPr>
            <a:picLocks noChangeAspect="1"/>
          </p:cNvPicPr>
          <p:nvPr/>
        </p:nvPicPr>
        <p:blipFill>
          <a:blip r:embed="rId3"/>
          <a:stretch>
            <a:fillRect/>
          </a:stretch>
        </p:blipFill>
        <p:spPr>
          <a:xfrm>
            <a:off x="914399" y="1645919"/>
            <a:ext cx="10598079" cy="4586929"/>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Prompt Engineering Essentials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How to Get Great Results from AI</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is a Prompt?</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Your instruction to the AI - quality in, quality out</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274320"/>
            <a:ext cx="8229600" cy="731520"/>
          </a:xfrm>
          <a:prstGeom prst="rect">
            <a:avLst/>
          </a:prstGeom>
          <a:noFill/>
        </p:spPr>
        <p:txBody>
          <a:bodyPr wrap="square">
            <a:spAutoFit/>
          </a:bodyPr>
          <a:lstStyle/>
          <a:p>
            <a:r>
              <a:rPr sz="3200" b="1">
                <a:solidFill>
                  <a:srgbClr val="FFFFFF"/>
                </a:solidFill>
              </a:rPr>
              <a:t>The GOLDEN Framework</a:t>
            </a:r>
          </a:p>
        </p:txBody>
      </p:sp>
      <p:pic>
        <p:nvPicPr>
          <p:cNvPr id="3" name="Picture 2" descr="golden-framework.png"/>
          <p:cNvPicPr>
            <a:picLocks noChangeAspect="1"/>
          </p:cNvPicPr>
          <p:nvPr/>
        </p:nvPicPr>
        <p:blipFill>
          <a:blip r:embed="rId3"/>
          <a:srcRect l="17693" t="4697" r="32273" b="18827"/>
          <a:stretch>
            <a:fillRect/>
          </a:stretch>
        </p:blipFill>
        <p:spPr>
          <a:xfrm>
            <a:off x="493284" y="1251283"/>
            <a:ext cx="5325980" cy="5246089"/>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The GOLDEN Framework (cont.)</a:t>
            </a:r>
          </a:p>
        </p:txBody>
      </p:sp>
      <p:sp>
        <p:nvSpPr>
          <p:cNvPr id="3" name="Rounded Rectangle 2"/>
          <p:cNvSpPr/>
          <p:nvPr/>
        </p:nvSpPr>
        <p:spPr>
          <a:xfrm>
            <a:off x="230108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D</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2000" b="1">
                <a:solidFill>
                  <a:srgbClr val="FFFFFF"/>
                </a:solidFill>
              </a:defRPr>
            </a:pPr>
            <a:r>
              <a:t>Details</a:t>
            </a:r>
            <a:br/>
            <a:r>
              <a:t>What to include?</a:t>
            </a:r>
          </a:p>
        </p:txBody>
      </p:sp>
      <p:sp>
        <p:nvSpPr>
          <p:cNvPr id="7" name="Rounded Rectangle 6"/>
          <p:cNvSpPr/>
          <p:nvPr/>
        </p:nvSpPr>
        <p:spPr>
          <a:xfrm>
            <a:off x="495284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E</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2000" b="1">
                <a:solidFill>
                  <a:srgbClr val="FFFFFF"/>
                </a:solidFill>
              </a:defRPr>
            </a:pPr>
            <a:r>
              <a:t>Examples</a:t>
            </a:r>
            <a:br/>
            <a:r>
              <a:t>Show what good looks like</a:t>
            </a:r>
          </a:p>
        </p:txBody>
      </p:sp>
      <p:sp>
        <p:nvSpPr>
          <p:cNvPr id="11" name="Rounded Rectangle 10"/>
          <p:cNvSpPr/>
          <p:nvPr/>
        </p:nvSpPr>
        <p:spPr>
          <a:xfrm>
            <a:off x="760460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N</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2000" b="1">
                <a:solidFill>
                  <a:srgbClr val="FFFFFF"/>
                </a:solidFill>
              </a:defRPr>
            </a:pPr>
            <a:r>
              <a:t>No-gos</a:t>
            </a:r>
            <a:br/>
            <a:r>
              <a:t>What to avoid</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GOLDEN Framework Example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Before (Vague)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Write about our Q4 results.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After (GOLDEN)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G: Summary of Q4 for board</a:t>
            </a:r>
          </a:p>
          <a:p>
            <a:pPr>
              <a:spcAft>
                <a:spcPts val="1200"/>
              </a:spcAft>
              <a:defRPr sz="1800">
                <a:solidFill>
                  <a:srgbClr val="FFFFFF"/>
                </a:solidFill>
              </a:defRPr>
            </a:pPr>
            <a:r>
              <a:t>  O: Executive summary + bullets</a:t>
            </a:r>
          </a:p>
          <a:p>
            <a:pPr>
              <a:spcAft>
                <a:spcPts val="1200"/>
              </a:spcAft>
              <a:defRPr sz="1800">
                <a:solidFill>
                  <a:srgbClr val="FFFFFF"/>
                </a:solidFill>
              </a:defRPr>
            </a:pPr>
            <a:r>
              <a:t>  L: One page max (500 words)</a:t>
            </a:r>
          </a:p>
          <a:p>
            <a:pPr>
              <a:spcAft>
                <a:spcPts val="1200"/>
              </a:spcAft>
              <a:defRPr sz="1800">
                <a:solidFill>
                  <a:srgbClr val="FFFFFF"/>
                </a:solidFill>
              </a:defRPr>
            </a:pPr>
            <a:r>
              <a:t>  D: Revenue, margin, YoY compare</a:t>
            </a:r>
          </a:p>
          <a:p>
            <a:pPr>
              <a:spcAft>
                <a:spcPts val="1200"/>
              </a:spcAft>
              <a:defRPr sz="1800">
                <a:solidFill>
                  <a:srgbClr val="FFFFFF"/>
                </a:solidFill>
              </a:defRPr>
            </a:pPr>
            <a:r>
              <a:t>  E: Like last quarter's report</a:t>
            </a:r>
          </a:p>
          <a:p>
            <a:pPr>
              <a:spcAft>
                <a:spcPts val="1200"/>
              </a:spcAft>
              <a:defRPr sz="1800">
                <a:solidFill>
                  <a:srgbClr val="FFFFFF"/>
                </a:solidFill>
              </a:defRPr>
            </a:pPr>
            <a:r>
              <a:t>  N: No raw data tables/jargon</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Common Prompting Mistakes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What NOT to Do</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Too vague: 'Help me with this'</a:t>
            </a:r>
          </a:p>
          <a:p>
            <a:pPr>
              <a:spcAft>
                <a:spcPts val="1200"/>
              </a:spcAft>
              <a:defRPr sz="1800">
                <a:solidFill>
                  <a:srgbClr val="FFFFFF"/>
                </a:solidFill>
              </a:defRPr>
            </a:pPr>
            <a:r>
              <a:t>  Too long: 5 paragraphs of background</a:t>
            </a:r>
          </a:p>
          <a:p>
            <a:pPr>
              <a:spcAft>
                <a:spcPts val="1200"/>
              </a:spcAft>
              <a:defRPr sz="1800">
                <a:solidFill>
                  <a:srgbClr val="FFFFFF"/>
                </a:solidFill>
              </a:defRPr>
            </a:pPr>
            <a:r>
              <a:t>  No format specified</a:t>
            </a:r>
          </a:p>
          <a:p>
            <a:pPr>
              <a:spcAft>
                <a:spcPts val="1200"/>
              </a:spcAft>
              <a:defRPr sz="1800">
                <a:solidFill>
                  <a:srgbClr val="FFFFFF"/>
                </a:solidFill>
              </a:defRPr>
            </a:pPr>
            <a:r>
              <a:t>  Assuming context: 'That project'</a:t>
            </a:r>
          </a:p>
          <a:p>
            <a:pPr>
              <a:spcAft>
                <a:spcPts val="1200"/>
              </a:spcAft>
              <a:defRPr sz="1800">
                <a:solidFill>
                  <a:srgbClr val="FFFFFF"/>
                </a:solidFill>
              </a:defRPr>
            </a:pPr>
            <a:r>
              <a:t>  One-shot expectation</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What TO Do</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Be specific about goal</a:t>
            </a:r>
          </a:p>
          <a:p>
            <a:pPr>
              <a:spcAft>
                <a:spcPts val="1200"/>
              </a:spcAft>
              <a:defRPr sz="1800">
                <a:solidFill>
                  <a:srgbClr val="FFFFFF"/>
                </a:solidFill>
              </a:defRPr>
            </a:pPr>
            <a:r>
              <a:t>  Give context concisely</a:t>
            </a:r>
          </a:p>
          <a:p>
            <a:pPr>
              <a:spcAft>
                <a:spcPts val="1200"/>
              </a:spcAft>
              <a:defRPr sz="1800">
                <a:solidFill>
                  <a:srgbClr val="FFFFFF"/>
                </a:solidFill>
              </a:defRPr>
            </a:pPr>
            <a:r>
              <a:t>  Specify desired format</a:t>
            </a:r>
          </a:p>
          <a:p>
            <a:pPr>
              <a:spcAft>
                <a:spcPts val="1200"/>
              </a:spcAft>
              <a:defRPr sz="1800">
                <a:solidFill>
                  <a:srgbClr val="FFFFFF"/>
                </a:solidFill>
              </a:defRPr>
            </a:pPr>
            <a:r>
              <a:t>  Provide all needed info</a:t>
            </a:r>
          </a:p>
          <a:p>
            <a:pPr>
              <a:spcAft>
                <a:spcPts val="1200"/>
              </a:spcAft>
              <a:defRPr sz="1800">
                <a:solidFill>
                  <a:srgbClr val="FFFFFF"/>
                </a:solidFill>
              </a:defRPr>
            </a:pPr>
            <a:r>
              <a:t>  Iterate and refine</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Iterating on Results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First response is rarely perfect - that's OK!</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Pro Tips for Better Prompts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Use examples: 'Like this template' (attach sample)</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Specify audience: 'For executives' vs 'For engineers'</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Set constraints: 'No jargon' / 'Must fit one page'</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Ask for alternatives: 'Give me 3 different versions'</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Request explanations: 'Explain your reasoning'</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Real Prompt Examples You Can Steal</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 Vague Prompt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Write me an email about the meeting</a:t>
            </a:r>
          </a:p>
          <a:p>
            <a:pPr>
              <a:spcAft>
                <a:spcPts val="1200"/>
              </a:spcAft>
              <a:defRPr sz="1800">
                <a:solidFill>
                  <a:srgbClr val="FFFFFF"/>
                </a:solidFill>
              </a:defRPr>
            </a:pPr>
            <a:r>
              <a:t>  Analyze this data</a:t>
            </a:r>
          </a:p>
          <a:p>
            <a:pPr>
              <a:spcAft>
                <a:spcPts val="1200"/>
              </a:spcAft>
              <a:defRPr sz="1800">
                <a:solidFill>
                  <a:srgbClr val="FFFFFF"/>
                </a:solidFill>
              </a:defRPr>
            </a:pPr>
            <a:r>
              <a:t>  Help me brainstorm ideas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 Specific Prompt</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Write a 3-paragraph follow-up email to John thanking him for the budget meeting and requesting the Q2 forecast spreadsheet by Friday</a:t>
            </a:r>
          </a:p>
          <a:p>
            <a:pPr>
              <a:spcAft>
                <a:spcPts val="1200"/>
              </a:spcAft>
              <a:defRPr sz="1800">
                <a:solidFill>
                  <a:srgbClr val="FFFFFF"/>
                </a:solidFill>
              </a:defRPr>
            </a:pPr>
            <a:r>
              <a:t>  Analyze this sales data for top 3 trends, compare to last quarter, and flag any products declining &gt;15%</a:t>
            </a:r>
          </a:p>
          <a:p>
            <a:pPr>
              <a:spcAft>
                <a:spcPts val="1200"/>
              </a:spcAft>
              <a:defRPr sz="1800">
                <a:solidFill>
                  <a:srgbClr val="FFFFFF"/>
                </a:solidFill>
              </a:defRPr>
            </a:pPr>
            <a:r>
              <a:t>  Generate 10 campaign ideas for launching our new CRM to finance teams, focusing on time-saved messaging</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1602"/>
            <a:ext cx="8229600" cy="731520"/>
          </a:xfrm>
          <a:prstGeom prst="rect">
            <a:avLst/>
          </a:prstGeom>
          <a:noFill/>
        </p:spPr>
        <p:txBody>
          <a:bodyPr wrap="square">
            <a:spAutoFit/>
          </a:bodyPr>
          <a:lstStyle/>
          <a:p>
            <a:r>
              <a:rPr sz="3200" b="1" dirty="0">
                <a:solidFill>
                  <a:srgbClr val="FFFFFF"/>
                </a:solidFill>
              </a:rPr>
              <a:t>How to Know When Output Is Good</a:t>
            </a:r>
          </a:p>
        </p:txBody>
      </p:sp>
      <p:pic>
        <p:nvPicPr>
          <p:cNvPr id="3" name="Picture 2" descr="traffic-light-trust.png"/>
          <p:cNvPicPr>
            <a:picLocks noChangeAspect="1"/>
          </p:cNvPicPr>
          <p:nvPr/>
        </p:nvPicPr>
        <p:blipFill>
          <a:blip r:embed="rId3"/>
          <a:srcRect t="11541" b="24068"/>
          <a:stretch>
            <a:fillRect/>
          </a:stretch>
        </p:blipFill>
        <p:spPr>
          <a:xfrm>
            <a:off x="236607" y="1800808"/>
            <a:ext cx="11636116" cy="4828592"/>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Top 10 Quick Wins with Claude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1. Email drafting &amp; responses (save 30-60 min/day)</a:t>
            </a:r>
          </a:p>
          <a:p>
            <a:pPr>
              <a:spcBef>
                <a:spcPts val="800"/>
              </a:spcBef>
              <a:spcAft>
                <a:spcPts val="800"/>
              </a:spcAft>
              <a:defRPr sz="2200">
                <a:solidFill>
                  <a:srgbClr val="FFFFFF"/>
                </a:solidFill>
              </a:defRPr>
            </a:pPr>
            <a:r>
              <a:t>  2. Meeting summaries &amp; action items (from notes or transcripts)</a:t>
            </a:r>
          </a:p>
          <a:p>
            <a:pPr>
              <a:spcBef>
                <a:spcPts val="800"/>
              </a:spcBef>
              <a:spcAft>
                <a:spcPts val="800"/>
              </a:spcAft>
              <a:defRPr sz="2200">
                <a:solidFill>
                  <a:srgbClr val="FFFFFF"/>
                </a:solidFill>
              </a:defRPr>
            </a:pPr>
            <a:r>
              <a:t>  3. Data analysis &amp; trend spotting (Excel + Claude Chat)</a:t>
            </a:r>
          </a:p>
          <a:p>
            <a:pPr>
              <a:spcBef>
                <a:spcPts val="800"/>
              </a:spcBef>
              <a:spcAft>
                <a:spcPts val="800"/>
              </a:spcAft>
              <a:defRPr sz="2200">
                <a:solidFill>
                  <a:srgbClr val="FFFFFF"/>
                </a:solidFill>
              </a:defRPr>
            </a:pPr>
            <a:r>
              <a:t>  4. Brainstorming &amp; ideation (10× more ideas in same time)</a:t>
            </a:r>
          </a:p>
          <a:p>
            <a:pPr>
              <a:spcBef>
                <a:spcPts val="800"/>
              </a:spcBef>
              <a:spcAft>
                <a:spcPts val="800"/>
              </a:spcAft>
              <a:defRPr sz="2200">
                <a:solidFill>
                  <a:srgbClr val="FFFFFF"/>
                </a:solidFill>
              </a:defRPr>
            </a:pPr>
            <a:r>
              <a:t>  5. Document summarization (20-page report → 1-page brief)</a:t>
            </a:r>
          </a:p>
          <a:p>
            <a:pPr>
              <a:spcBef>
                <a:spcPts val="800"/>
              </a:spcBef>
              <a:spcAft>
                <a:spcPts val="800"/>
              </a:spcAft>
              <a:defRPr sz="2200">
                <a:solidFill>
                  <a:srgbClr val="FFFFFF"/>
                </a:solidFill>
              </a:defRPr>
            </a:pPr>
            <a:r>
              <a:t>  6. Content repurposing (blog → social posts → email)</a:t>
            </a:r>
          </a:p>
          <a:p>
            <a:pPr>
              <a:spcBef>
                <a:spcPts val="800"/>
              </a:spcBef>
              <a:spcAft>
                <a:spcPts val="800"/>
              </a:spcAft>
              <a:defRPr sz="2200">
                <a:solidFill>
                  <a:srgbClr val="FFFFFF"/>
                </a:solidFill>
              </a:defRPr>
            </a:pPr>
            <a:r>
              <a:t>  7. Research synthesis (compare 5 sources, find patterns)</a:t>
            </a:r>
          </a:p>
          <a:p>
            <a:pPr>
              <a:spcBef>
                <a:spcPts val="800"/>
              </a:spcBef>
              <a:spcAft>
                <a:spcPts val="800"/>
              </a:spcAft>
              <a:defRPr sz="2200">
                <a:solidFill>
                  <a:srgbClr val="FFFFFF"/>
                </a:solidFill>
              </a:defRPr>
            </a:pPr>
            <a:r>
              <a:t>  8. Presentation outlines (structure before slides)</a:t>
            </a:r>
          </a:p>
          <a:p>
            <a:pPr>
              <a:spcBef>
                <a:spcPts val="800"/>
              </a:spcBef>
              <a:spcAft>
                <a:spcPts val="800"/>
              </a:spcAft>
              <a:defRPr sz="2200">
                <a:solidFill>
                  <a:srgbClr val="FFFFFF"/>
                </a:solidFill>
              </a:defRPr>
            </a:pPr>
            <a:r>
              <a:t>  9. Process documentation ('how I do X' → written procedure)</a:t>
            </a:r>
          </a:p>
          <a:p>
            <a:pPr>
              <a:spcBef>
                <a:spcPts val="800"/>
              </a:spcBef>
              <a:spcAft>
                <a:spcPts val="800"/>
              </a:spcAft>
              <a:defRPr sz="2200">
                <a:solidFill>
                  <a:srgbClr val="FFFFFF"/>
                </a:solidFill>
              </a:defRPr>
            </a:pPr>
            <a:r>
              <a:t>  10. Learning new topics (explain like I'm 5, then go deeper)</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Prompting Patterns by Role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Marketing: 'Create 3 versions of this message for A/B testing, target audience is [persona]'</a:t>
            </a:r>
          </a:p>
          <a:p>
            <a:pPr>
              <a:spcBef>
                <a:spcPts val="800"/>
              </a:spcBef>
              <a:spcAft>
                <a:spcPts val="800"/>
              </a:spcAft>
              <a:defRPr sz="2200">
                <a:solidFill>
                  <a:srgbClr val="FFFFFF"/>
                </a:solidFill>
              </a:defRPr>
            </a:pPr>
            <a:r>
              <a:t>  Finance: 'Analyze this budget data, flag variances &gt;10%, explain likely causes'</a:t>
            </a:r>
          </a:p>
          <a:p>
            <a:pPr>
              <a:spcBef>
                <a:spcPts val="800"/>
              </a:spcBef>
              <a:spcAft>
                <a:spcPts val="800"/>
              </a:spcAft>
              <a:defRPr sz="2200">
                <a:solidFill>
                  <a:srgbClr val="FFFFFF"/>
                </a:solidFill>
              </a:defRPr>
            </a:pPr>
            <a:r>
              <a:t>  HR: 'Draft interview questions for [role], focus on [skills], include behavioral examples'</a:t>
            </a:r>
          </a:p>
          <a:p>
            <a:pPr>
              <a:spcBef>
                <a:spcPts val="800"/>
              </a:spcBef>
              <a:spcAft>
                <a:spcPts val="800"/>
              </a:spcAft>
              <a:defRPr sz="2200">
                <a:solidFill>
                  <a:srgbClr val="FFFFFF"/>
                </a:solidFill>
              </a:defRPr>
            </a:pPr>
            <a:r>
              <a:t>  Sales: 'Summarize this discovery call transcript, identify pain points and buying signals'</a:t>
            </a:r>
          </a:p>
          <a:p>
            <a:pPr>
              <a:spcBef>
                <a:spcPts val="800"/>
              </a:spcBef>
              <a:spcAft>
                <a:spcPts val="800"/>
              </a:spcAft>
              <a:defRPr sz="2200">
                <a:solidFill>
                  <a:srgbClr val="FFFFFF"/>
                </a:solidFill>
              </a:defRPr>
            </a:pPr>
            <a:r>
              <a:t>  Operations: 'Review this process document, suggest efficiency improvements, highlight risks'</a:t>
            </a:r>
          </a:p>
          <a:p>
            <a:pPr>
              <a:spcBef>
                <a:spcPts val="800"/>
              </a:spcBef>
              <a:spcAft>
                <a:spcPts val="800"/>
              </a:spcAft>
              <a:defRPr sz="2200">
                <a:solidFill>
                  <a:srgbClr val="FFFFFF"/>
                </a:solidFill>
              </a:defRPr>
            </a:pPr>
            <a:r>
              <a:t>  Product: 'Generate user stories for [feature], include acceptance criteria and edge cases'</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When NOT to Use AI</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 Don't Use AI For:</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Final legal/medical/financial advice</a:t>
            </a:r>
          </a:p>
          <a:p>
            <a:pPr>
              <a:spcAft>
                <a:spcPts val="1200"/>
              </a:spcAft>
              <a:defRPr sz="1800">
                <a:solidFill>
                  <a:srgbClr val="FFFFFF"/>
                </a:solidFill>
              </a:defRPr>
            </a:pPr>
            <a:r>
              <a:t>  Decisions with sensitive personal data</a:t>
            </a:r>
          </a:p>
          <a:p>
            <a:pPr>
              <a:spcAft>
                <a:spcPts val="1200"/>
              </a:spcAft>
              <a:defRPr sz="1800">
                <a:solidFill>
                  <a:srgbClr val="FFFFFF"/>
                </a:solidFill>
              </a:defRPr>
            </a:pPr>
            <a:r>
              <a:t>  Mission-critical without verification</a:t>
            </a:r>
          </a:p>
          <a:p>
            <a:pPr>
              <a:spcAft>
                <a:spcPts val="1200"/>
              </a:spcAft>
              <a:defRPr sz="1800">
                <a:solidFill>
                  <a:srgbClr val="FFFFFF"/>
                </a:solidFill>
              </a:defRPr>
            </a:pPr>
            <a:r>
              <a:t>  Representing your company officially</a:t>
            </a:r>
          </a:p>
          <a:p>
            <a:pPr>
              <a:spcAft>
                <a:spcPts val="1200"/>
              </a:spcAft>
              <a:defRPr sz="1800">
                <a:solidFill>
                  <a:srgbClr val="FFFFFF"/>
                </a:solidFill>
              </a:defRPr>
            </a:pPr>
            <a:r>
              <a:t>  Anything requiring ethical judgment</a:t>
            </a:r>
          </a:p>
          <a:p>
            <a:pPr>
              <a:spcAft>
                <a:spcPts val="1200"/>
              </a:spcAft>
              <a:defRPr sz="1800">
                <a:solidFill>
                  <a:srgbClr val="FFFFFF"/>
                </a:solidFill>
              </a:defRPr>
            </a:pPr>
            <a:r>
              <a:t>  Tasks requiring guaranteed 100% accuracy</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 DO Use AI For:</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Drafts that you'll review/edit</a:t>
            </a:r>
          </a:p>
          <a:p>
            <a:pPr>
              <a:spcAft>
                <a:spcPts val="1200"/>
              </a:spcAft>
              <a:defRPr sz="1800">
                <a:solidFill>
                  <a:srgbClr val="FFFFFF"/>
                </a:solidFill>
              </a:defRPr>
            </a:pPr>
            <a:r>
              <a:t>  Brainstorming and exploration</a:t>
            </a:r>
          </a:p>
          <a:p>
            <a:pPr>
              <a:spcAft>
                <a:spcPts val="1200"/>
              </a:spcAft>
              <a:defRPr sz="1800">
                <a:solidFill>
                  <a:srgbClr val="FFFFFF"/>
                </a:solidFill>
              </a:defRPr>
            </a:pPr>
            <a:r>
              <a:t>  Summarizing your own documents</a:t>
            </a:r>
          </a:p>
          <a:p>
            <a:pPr>
              <a:spcAft>
                <a:spcPts val="1200"/>
              </a:spcAft>
              <a:defRPr sz="1800">
                <a:solidFill>
                  <a:srgbClr val="FFFFFF"/>
                </a:solidFill>
              </a:defRPr>
            </a:pPr>
            <a:r>
              <a:t>  Learning new topics</a:t>
            </a:r>
          </a:p>
          <a:p>
            <a:pPr>
              <a:spcAft>
                <a:spcPts val="1200"/>
              </a:spcAft>
              <a:defRPr sz="1800">
                <a:solidFill>
                  <a:srgbClr val="FFFFFF"/>
                </a:solidFill>
              </a:defRPr>
            </a:pPr>
            <a:r>
              <a:t>  Formatting and restructuring</a:t>
            </a:r>
          </a:p>
          <a:p>
            <a:pPr>
              <a:spcAft>
                <a:spcPts val="1200"/>
              </a:spcAft>
              <a:defRPr sz="1800">
                <a:solidFill>
                  <a:srgbClr val="FFFFFF"/>
                </a:solidFill>
              </a:defRPr>
            </a:pPr>
            <a:r>
              <a:t>  Analyzing data you understand</a:t>
            </a:r>
          </a:p>
          <a:p>
            <a:pPr>
              <a:spcAft>
                <a:spcPts val="1200"/>
              </a:spcAft>
              <a:defRPr sz="1800">
                <a:solidFill>
                  <a:srgbClr val="FFFFFF"/>
                </a:solidFill>
              </a:defRPr>
            </a:pPr>
            <a:r>
              <a:t>  Quick real-time lookups (news, prices, weather)</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Security &amp; Privacy: What You Need to Know</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 DATA HANDLING: Your conversations are NOT used to train Claude models (Enterprise/Team plans)</a:t>
            </a:r>
          </a:p>
          <a:p>
            <a:pPr>
              <a:spcBef>
                <a:spcPts val="800"/>
              </a:spcBef>
              <a:spcAft>
                <a:spcPts val="800"/>
              </a:spcAft>
              <a:defRPr sz="2200">
                <a:solidFill>
                  <a:srgbClr val="FFFFFF"/>
                </a:solidFill>
              </a:defRPr>
            </a:pPr>
            <a:r>
              <a:t>  🛡️ COMPLIANCE: SOC 2 Type 2, HIPAA-eligible, GDPR compliant</a:t>
            </a:r>
          </a:p>
          <a:p>
            <a:pPr>
              <a:spcBef>
                <a:spcPts val="800"/>
              </a:spcBef>
              <a:spcAft>
                <a:spcPts val="800"/>
              </a:spcAft>
              <a:defRPr sz="2200">
                <a:solidFill>
                  <a:srgbClr val="FFFFFF"/>
                </a:solidFill>
              </a:defRPr>
            </a:pPr>
            <a:r>
              <a:t>  📁 PROJECTS: Custom instructions and knowledge base stay within your organization</a:t>
            </a:r>
          </a:p>
          <a:p>
            <a:pPr>
              <a:spcBef>
                <a:spcPts val="800"/>
              </a:spcBef>
              <a:spcAft>
                <a:spcPts val="800"/>
              </a:spcAft>
              <a:defRPr sz="2200">
                <a:solidFill>
                  <a:srgbClr val="FFFFFF"/>
                </a:solidFill>
              </a:defRPr>
            </a:pPr>
            <a:r>
              <a:t>  ⏰ RETENTION: Conversations retained for 30 days for safety/abuse monitoring, then deleted</a:t>
            </a:r>
          </a:p>
          <a:p>
            <a:pPr>
              <a:spcBef>
                <a:spcPts val="800"/>
              </a:spcBef>
              <a:spcAft>
                <a:spcPts val="800"/>
              </a:spcAft>
              <a:defRPr sz="2200">
                <a:solidFill>
                  <a:srgbClr val="FFFFFF"/>
                </a:solidFill>
              </a:defRPr>
            </a:pPr>
            <a:r>
              <a:t>  🚫 WHAT TO AVOID: Don't paste passwords, API keys, or PII you wouldn't put in any cloud tool</a:t>
            </a:r>
          </a:p>
          <a:p>
            <a:pPr>
              <a:spcBef>
                <a:spcPts val="800"/>
              </a:spcBef>
              <a:spcAft>
                <a:spcPts val="800"/>
              </a:spcAft>
              <a:defRPr sz="2200">
                <a:solidFill>
                  <a:srgbClr val="FFFFFF"/>
                </a:solidFill>
              </a:defRPr>
            </a:pPr>
            <a:r>
              <a:t>  ✅ ENTERPRISE ADD-ONS: Extended data retention controls, SSO, audit logs available</a:t>
            </a:r>
          </a:p>
          <a:p>
            <a:pPr>
              <a:spcBef>
                <a:spcPts val="800"/>
              </a:spcBef>
              <a:spcAft>
                <a:spcPts val="800"/>
              </a:spcAft>
              <a:defRPr sz="2200">
                <a:solidFill>
                  <a:srgbClr val="FFFFFF"/>
                </a:solidFill>
              </a:defRPr>
            </a:pPr>
            <a:r>
              <a:t>  📋 FULL DETAILS: Trust Center at anthropic.com/trust</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ounded Rectangle 1"/>
          <p:cNvSpPr/>
          <p:nvPr/>
        </p:nvSpPr>
        <p:spPr>
          <a:xfrm>
            <a:off x="457200" y="365760"/>
            <a:ext cx="1097280" cy="45720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429768"/>
            <a:ext cx="1097280" cy="365760"/>
          </a:xfrm>
          <a:prstGeom prst="rect">
            <a:avLst/>
          </a:prstGeom>
          <a:noFill/>
        </p:spPr>
        <p:txBody>
          <a:bodyPr wrap="none">
            <a:spAutoFit/>
          </a:bodyPr>
          <a:lstStyle/>
          <a:p>
            <a:pPr algn="ctr">
              <a:defRPr sz="1800" b="1">
                <a:solidFill>
                  <a:srgbClr val="0B0F1A"/>
                </a:solidFill>
              </a:defRPr>
            </a:pPr>
            <a:r>
              <a:t>LAB</a:t>
            </a:r>
          </a:p>
        </p:txBody>
      </p:sp>
      <p:sp>
        <p:nvSpPr>
          <p:cNvPr id="4" name="Rounded Rectangle 3"/>
          <p:cNvSpPr/>
          <p:nvPr/>
        </p:nvSpPr>
        <p:spPr>
          <a:xfrm>
            <a:off x="10362895" y="365760"/>
            <a:ext cx="1371600" cy="457200"/>
          </a:xfrm>
          <a:prstGeom prst="roundRect">
            <a:avLst/>
          </a:prstGeom>
          <a:solidFill>
            <a:srgbClr val="141A26"/>
          </a:solidFill>
          <a:ln>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0362895" y="429768"/>
            <a:ext cx="1371600" cy="365760"/>
          </a:xfrm>
          <a:prstGeom prst="rect">
            <a:avLst/>
          </a:prstGeom>
          <a:noFill/>
        </p:spPr>
        <p:txBody>
          <a:bodyPr wrap="none">
            <a:spAutoFit/>
          </a:bodyPr>
          <a:lstStyle/>
          <a:p>
            <a:pPr algn="ctr">
              <a:defRPr sz="1400" b="1">
                <a:solidFill>
                  <a:srgbClr val="00D4AA"/>
                </a:solidFill>
              </a:defRPr>
            </a:pPr>
            <a:r>
              <a:t>45 minutes</a:t>
            </a:r>
          </a:p>
        </p:txBody>
      </p:sp>
      <p:sp>
        <p:nvSpPr>
          <p:cNvPr id="6" name="TextBox 5"/>
          <p:cNvSpPr txBox="1"/>
          <p:nvPr/>
        </p:nvSpPr>
        <p:spPr>
          <a:xfrm>
            <a:off x="457200" y="1005840"/>
            <a:ext cx="11277295" cy="731520"/>
          </a:xfrm>
          <a:prstGeom prst="rect">
            <a:avLst/>
          </a:prstGeom>
          <a:noFill/>
        </p:spPr>
        <p:txBody>
          <a:bodyPr wrap="none">
            <a:spAutoFit/>
          </a:bodyPr>
          <a:lstStyle/>
          <a:p>
            <a:pPr>
              <a:defRPr sz="3200" b="1">
                <a:solidFill>
                  <a:srgbClr val="FFFFFF"/>
                </a:solidFill>
              </a:defRPr>
            </a:pPr>
            <a:r>
              <a:rPr dirty="0"/>
              <a:t>Lab 1: Practical Prompting &amp; Documents</a:t>
            </a:r>
          </a:p>
        </p:txBody>
      </p:sp>
      <p:sp>
        <p:nvSpPr>
          <p:cNvPr id="7" name="Rectangle 6"/>
          <p:cNvSpPr/>
          <p:nvPr/>
        </p:nvSpPr>
        <p:spPr>
          <a:xfrm>
            <a:off x="457200" y="1737360"/>
            <a:ext cx="27432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457200" y="201168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 y="2011680"/>
            <a:ext cx="457200" cy="457200"/>
          </a:xfrm>
          <a:prstGeom prst="rect">
            <a:avLst/>
          </a:prstGeom>
          <a:noFill/>
        </p:spPr>
        <p:txBody>
          <a:bodyPr wrap="none" anchor="ctr">
            <a:spAutoFit/>
          </a:bodyPr>
          <a:lstStyle/>
          <a:p>
            <a:pPr algn="ctr">
              <a:defRPr sz="1800" b="1">
                <a:solidFill>
                  <a:srgbClr val="0B0F1A"/>
                </a:solidFill>
              </a:defRPr>
            </a:pPr>
            <a:r>
              <a:t>1</a:t>
            </a:r>
          </a:p>
        </p:txBody>
      </p:sp>
      <p:sp>
        <p:nvSpPr>
          <p:cNvPr id="10" name="TextBox 9"/>
          <p:cNvSpPr txBox="1"/>
          <p:nvPr/>
        </p:nvSpPr>
        <p:spPr>
          <a:xfrm>
            <a:off x="1097280" y="2084832"/>
            <a:ext cx="10637215" cy="640080"/>
          </a:xfrm>
          <a:prstGeom prst="rect">
            <a:avLst/>
          </a:prstGeom>
          <a:noFill/>
        </p:spPr>
        <p:txBody>
          <a:bodyPr wrap="square">
            <a:normAutofit/>
          </a:bodyPr>
          <a:lstStyle/>
          <a:p>
            <a:pPr>
              <a:defRPr sz="1800">
                <a:solidFill>
                  <a:srgbClr val="FFFFFF"/>
                </a:solidFill>
              </a:defRPr>
            </a:pPr>
            <a:r>
              <a:t>Exercise 1: Transform 3 vague prompts using GOLDEN framework (10 min)</a:t>
            </a:r>
          </a:p>
        </p:txBody>
      </p:sp>
      <p:sp>
        <p:nvSpPr>
          <p:cNvPr id="11" name="Oval 10"/>
          <p:cNvSpPr/>
          <p:nvPr/>
        </p:nvSpPr>
        <p:spPr>
          <a:xfrm>
            <a:off x="457200" y="278892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7200" y="2788920"/>
            <a:ext cx="457200" cy="457200"/>
          </a:xfrm>
          <a:prstGeom prst="rect">
            <a:avLst/>
          </a:prstGeom>
          <a:noFill/>
        </p:spPr>
        <p:txBody>
          <a:bodyPr wrap="none" anchor="ctr">
            <a:spAutoFit/>
          </a:bodyPr>
          <a:lstStyle/>
          <a:p>
            <a:pPr algn="ctr">
              <a:defRPr sz="1800" b="1">
                <a:solidFill>
                  <a:srgbClr val="0B0F1A"/>
                </a:solidFill>
              </a:defRPr>
            </a:pPr>
            <a:r>
              <a:t>2</a:t>
            </a:r>
          </a:p>
        </p:txBody>
      </p:sp>
      <p:sp>
        <p:nvSpPr>
          <p:cNvPr id="13" name="TextBox 12"/>
          <p:cNvSpPr txBox="1"/>
          <p:nvPr/>
        </p:nvSpPr>
        <p:spPr>
          <a:xfrm>
            <a:off x="1097280" y="2862072"/>
            <a:ext cx="10637215" cy="640080"/>
          </a:xfrm>
          <a:prstGeom prst="rect">
            <a:avLst/>
          </a:prstGeom>
          <a:noFill/>
        </p:spPr>
        <p:txBody>
          <a:bodyPr wrap="square">
            <a:normAutofit/>
          </a:bodyPr>
          <a:lstStyle/>
          <a:p>
            <a:pPr>
              <a:defRPr sz="1800">
                <a:solidFill>
                  <a:srgbClr val="FFFFFF"/>
                </a:solidFill>
              </a:defRPr>
            </a:pPr>
            <a:r>
              <a:t>Exercise 2: Create a professional report from data (15 min) - artifact output</a:t>
            </a:r>
          </a:p>
        </p:txBody>
      </p:sp>
      <p:sp>
        <p:nvSpPr>
          <p:cNvPr id="14" name="Oval 13"/>
          <p:cNvSpPr/>
          <p:nvPr/>
        </p:nvSpPr>
        <p:spPr>
          <a:xfrm>
            <a:off x="457200" y="356616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57200" y="3566160"/>
            <a:ext cx="457200" cy="457200"/>
          </a:xfrm>
          <a:prstGeom prst="rect">
            <a:avLst/>
          </a:prstGeom>
          <a:noFill/>
        </p:spPr>
        <p:txBody>
          <a:bodyPr wrap="none" anchor="ctr">
            <a:spAutoFit/>
          </a:bodyPr>
          <a:lstStyle/>
          <a:p>
            <a:pPr algn="ctr">
              <a:defRPr sz="1800" b="1">
                <a:solidFill>
                  <a:srgbClr val="0B0F1A"/>
                </a:solidFill>
              </a:defRPr>
            </a:pPr>
            <a:r>
              <a:t>3</a:t>
            </a:r>
          </a:p>
        </p:txBody>
      </p:sp>
      <p:sp>
        <p:nvSpPr>
          <p:cNvPr id="16" name="TextBox 15"/>
          <p:cNvSpPr txBox="1"/>
          <p:nvPr/>
        </p:nvSpPr>
        <p:spPr>
          <a:xfrm>
            <a:off x="1097280" y="3639312"/>
            <a:ext cx="10637215" cy="640080"/>
          </a:xfrm>
          <a:prstGeom prst="rect">
            <a:avLst/>
          </a:prstGeom>
          <a:noFill/>
        </p:spPr>
        <p:txBody>
          <a:bodyPr wrap="square">
            <a:normAutofit/>
          </a:bodyPr>
          <a:lstStyle/>
          <a:p>
            <a:pPr>
              <a:defRPr sz="1800">
                <a:solidFill>
                  <a:srgbClr val="FFFFFF"/>
                </a:solidFill>
              </a:defRPr>
            </a:pPr>
            <a:r>
              <a:t>Exercise 3: Generate presentation outline with speaker notes (10 min)</a:t>
            </a:r>
          </a:p>
        </p:txBody>
      </p:sp>
      <p:sp>
        <p:nvSpPr>
          <p:cNvPr id="17" name="Oval 16"/>
          <p:cNvSpPr/>
          <p:nvPr/>
        </p:nvSpPr>
        <p:spPr>
          <a:xfrm>
            <a:off x="457200" y="434340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457200" y="4343400"/>
            <a:ext cx="457200" cy="457200"/>
          </a:xfrm>
          <a:prstGeom prst="rect">
            <a:avLst/>
          </a:prstGeom>
          <a:noFill/>
        </p:spPr>
        <p:txBody>
          <a:bodyPr wrap="none" anchor="ctr">
            <a:spAutoFit/>
          </a:bodyPr>
          <a:lstStyle/>
          <a:p>
            <a:pPr algn="ctr">
              <a:defRPr sz="1800" b="1">
                <a:solidFill>
                  <a:srgbClr val="0B0F1A"/>
                </a:solidFill>
              </a:defRPr>
            </a:pPr>
            <a:r>
              <a:t>4</a:t>
            </a:r>
          </a:p>
        </p:txBody>
      </p:sp>
      <p:sp>
        <p:nvSpPr>
          <p:cNvPr id="19" name="TextBox 18"/>
          <p:cNvSpPr txBox="1"/>
          <p:nvPr/>
        </p:nvSpPr>
        <p:spPr>
          <a:xfrm>
            <a:off x="1097280" y="4416552"/>
            <a:ext cx="10637215" cy="640080"/>
          </a:xfrm>
          <a:prstGeom prst="rect">
            <a:avLst/>
          </a:prstGeom>
          <a:noFill/>
        </p:spPr>
        <p:txBody>
          <a:bodyPr wrap="square">
            <a:normAutofit/>
          </a:bodyPr>
          <a:lstStyle/>
          <a:p>
            <a:pPr>
              <a:defRPr sz="1800">
                <a:solidFill>
                  <a:srgbClr val="FFFFFF"/>
                </a:solidFill>
              </a:defRPr>
            </a:pPr>
            <a:r>
              <a:t>Exercise 4: Analyze uploaded PDF and create summary (10 min)</a:t>
            </a:r>
          </a:p>
        </p:txBody>
      </p:sp>
      <p:sp>
        <p:nvSpPr>
          <p:cNvPr id="20" name="Oval 19"/>
          <p:cNvSpPr/>
          <p:nvPr/>
        </p:nvSpPr>
        <p:spPr>
          <a:xfrm>
            <a:off x="457200" y="512064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7200" y="5120640"/>
            <a:ext cx="457200" cy="457200"/>
          </a:xfrm>
          <a:prstGeom prst="rect">
            <a:avLst/>
          </a:prstGeom>
          <a:noFill/>
        </p:spPr>
        <p:txBody>
          <a:bodyPr wrap="none" anchor="ctr">
            <a:spAutoFit/>
          </a:bodyPr>
          <a:lstStyle/>
          <a:p>
            <a:pPr algn="ctr">
              <a:defRPr sz="1800" b="1">
                <a:solidFill>
                  <a:srgbClr val="0B0F1A"/>
                </a:solidFill>
              </a:defRPr>
            </a:pPr>
            <a:r>
              <a:t>5</a:t>
            </a:r>
          </a:p>
        </p:txBody>
      </p:sp>
      <p:sp>
        <p:nvSpPr>
          <p:cNvPr id="22" name="TextBox 21"/>
          <p:cNvSpPr txBox="1"/>
          <p:nvPr/>
        </p:nvSpPr>
        <p:spPr>
          <a:xfrm>
            <a:off x="1097280" y="5193792"/>
            <a:ext cx="10637215" cy="640080"/>
          </a:xfrm>
          <a:prstGeom prst="rect">
            <a:avLst/>
          </a:prstGeom>
          <a:noFill/>
        </p:spPr>
        <p:txBody>
          <a:bodyPr wrap="square">
            <a:normAutofit/>
          </a:bodyPr>
          <a:lstStyle/>
          <a:p>
            <a:pPr>
              <a:defRPr sz="1800">
                <a:solidFill>
                  <a:srgbClr val="FFFFFF"/>
                </a:solidFill>
              </a:defRPr>
            </a:pPr>
            <a:r>
              <a:t>Share one success with the class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Success Pattern: Iterate to Great</a:t>
            </a:r>
          </a:p>
        </p:txBody>
      </p:sp>
      <p:sp>
        <p:nvSpPr>
          <p:cNvPr id="3" name="Rounded Rectangle 2"/>
          <p:cNvSpPr/>
          <p:nvPr/>
        </p:nvSpPr>
        <p:spPr>
          <a:xfrm>
            <a:off x="2941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3604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6041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TextBox 5"/>
          <p:cNvSpPr txBox="1"/>
          <p:nvPr/>
        </p:nvSpPr>
        <p:spPr>
          <a:xfrm>
            <a:off x="2941167" y="1371600"/>
            <a:ext cx="822960" cy="822960"/>
          </a:xfrm>
          <a:prstGeom prst="rect">
            <a:avLst/>
          </a:prstGeom>
          <a:noFill/>
        </p:spPr>
        <p:txBody>
          <a:bodyPr wrap="none" anchor="ctr">
            <a:spAutoFit/>
          </a:bodyPr>
          <a:lstStyle/>
          <a:p>
            <a:pPr algn="ctr">
              <a:defRPr sz="2800" b="1">
                <a:solidFill>
                  <a:srgbClr val="00D4AA"/>
                </a:solidFill>
              </a:defRPr>
            </a:pPr>
            <a:r>
              <a:t>1</a:t>
            </a:r>
          </a:p>
        </p:txBody>
      </p:sp>
      <p:sp>
        <p:nvSpPr>
          <p:cNvPr id="7" name="Right Arrow 6"/>
          <p:cNvSpPr/>
          <p:nvPr/>
        </p:nvSpPr>
        <p:spPr>
          <a:xfrm>
            <a:off x="3855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4312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4975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9757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1" name="TextBox 10"/>
          <p:cNvSpPr txBox="1"/>
          <p:nvPr/>
        </p:nvSpPr>
        <p:spPr>
          <a:xfrm>
            <a:off x="4312767" y="1371600"/>
            <a:ext cx="822960" cy="822960"/>
          </a:xfrm>
          <a:prstGeom prst="rect">
            <a:avLst/>
          </a:prstGeom>
          <a:noFill/>
        </p:spPr>
        <p:txBody>
          <a:bodyPr wrap="none" anchor="ctr">
            <a:spAutoFit/>
          </a:bodyPr>
          <a:lstStyle/>
          <a:p>
            <a:pPr algn="ctr">
              <a:defRPr sz="2800" b="1">
                <a:solidFill>
                  <a:srgbClr val="00D4AA"/>
                </a:solidFill>
              </a:defRPr>
            </a:pPr>
            <a:r>
              <a:t>2</a:t>
            </a:r>
          </a:p>
        </p:txBody>
      </p:sp>
      <p:sp>
        <p:nvSpPr>
          <p:cNvPr id="12" name="Right Arrow 11"/>
          <p:cNvSpPr/>
          <p:nvPr/>
        </p:nvSpPr>
        <p:spPr>
          <a:xfrm>
            <a:off x="5227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5684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6347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3473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6" name="TextBox 15"/>
          <p:cNvSpPr txBox="1"/>
          <p:nvPr/>
        </p:nvSpPr>
        <p:spPr>
          <a:xfrm>
            <a:off x="5684367" y="1371600"/>
            <a:ext cx="822960" cy="822960"/>
          </a:xfrm>
          <a:prstGeom prst="rect">
            <a:avLst/>
          </a:prstGeom>
          <a:noFill/>
        </p:spPr>
        <p:txBody>
          <a:bodyPr wrap="none" anchor="ctr">
            <a:spAutoFit/>
          </a:bodyPr>
          <a:lstStyle/>
          <a:p>
            <a:pPr algn="ctr">
              <a:defRPr sz="2800" b="1">
                <a:solidFill>
                  <a:srgbClr val="00D4AA"/>
                </a:solidFill>
              </a:defRPr>
            </a:pPr>
            <a:r>
              <a:t>3</a:t>
            </a:r>
          </a:p>
        </p:txBody>
      </p:sp>
      <p:sp>
        <p:nvSpPr>
          <p:cNvPr id="17" name="Right Arrow 16"/>
          <p:cNvSpPr/>
          <p:nvPr/>
        </p:nvSpPr>
        <p:spPr>
          <a:xfrm>
            <a:off x="6598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7055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7718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7189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21" name="TextBox 20"/>
          <p:cNvSpPr txBox="1"/>
          <p:nvPr/>
        </p:nvSpPr>
        <p:spPr>
          <a:xfrm>
            <a:off x="7055967" y="1371600"/>
            <a:ext cx="822960" cy="822960"/>
          </a:xfrm>
          <a:prstGeom prst="rect">
            <a:avLst/>
          </a:prstGeom>
          <a:noFill/>
        </p:spPr>
        <p:txBody>
          <a:bodyPr wrap="none" anchor="ctr">
            <a:spAutoFit/>
          </a:bodyPr>
          <a:lstStyle/>
          <a:p>
            <a:pPr algn="ctr">
              <a:defRPr sz="2800" b="1">
                <a:solidFill>
                  <a:srgbClr val="00D4AA"/>
                </a:solidFill>
              </a:defRPr>
            </a:pPr>
            <a:r>
              <a:t>4</a:t>
            </a:r>
          </a:p>
        </p:txBody>
      </p:sp>
      <p:sp>
        <p:nvSpPr>
          <p:cNvPr id="22" name="Right Arrow 21"/>
          <p:cNvSpPr/>
          <p:nvPr/>
        </p:nvSpPr>
        <p:spPr>
          <a:xfrm>
            <a:off x="7970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8427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9090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0905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6" name="TextBox 25"/>
          <p:cNvSpPr txBox="1"/>
          <p:nvPr/>
        </p:nvSpPr>
        <p:spPr>
          <a:xfrm>
            <a:off x="8427567" y="1371600"/>
            <a:ext cx="822960" cy="822960"/>
          </a:xfrm>
          <a:prstGeom prst="rect">
            <a:avLst/>
          </a:prstGeom>
          <a:noFill/>
        </p:spPr>
        <p:txBody>
          <a:bodyPr wrap="none" anchor="ctr">
            <a:spAutoFit/>
          </a:bodyPr>
          <a:lstStyle/>
          <a:p>
            <a:pPr algn="ctr">
              <a:defRPr sz="2800" b="1">
                <a:solidFill>
                  <a:srgbClr val="00D4AA"/>
                </a:solidFill>
              </a:defRPr>
            </a:pPr>
            <a:r>
              <a:t>5</a:t>
            </a:r>
          </a:p>
        </p:txBody>
      </p:sp>
      <p:sp>
        <p:nvSpPr>
          <p:cNvPr id="27" name="TextBox 26"/>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28" name="TextBox 27"/>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Start: Ask Claude for first draft (70% quality)</a:t>
            </a:r>
          </a:p>
        </p:txBody>
      </p:sp>
      <p:sp>
        <p:nvSpPr>
          <p:cNvPr id="29" name="TextBox 28"/>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30" name="TextBox 29"/>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Review: Identify what's missing or wrong</a:t>
            </a:r>
          </a:p>
        </p:txBody>
      </p:sp>
      <p:sp>
        <p:nvSpPr>
          <p:cNvPr id="31" name="TextBox 30"/>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2" name="TextBox 31"/>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Refine: Give specific feedback to Claude</a:t>
            </a:r>
          </a:p>
        </p:txBody>
      </p:sp>
      <p:sp>
        <p:nvSpPr>
          <p:cNvPr id="33" name="TextBox 32"/>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4" name="TextBox 33"/>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Iterate: Repeat 2-3 times (85% → 95% quality)</a:t>
            </a:r>
          </a:p>
        </p:txBody>
      </p:sp>
      <p:sp>
        <p:nvSpPr>
          <p:cNvPr id="35" name="TextBox 34"/>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36" name="TextBox 35"/>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Finish: Human polish the final 5%</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892552"/>
          </a:xfrm>
          <a:prstGeom prst="rect">
            <a:avLst/>
          </a:prstGeom>
          <a:noFill/>
        </p:spPr>
        <p:txBody>
          <a:bodyPr wrap="square">
            <a:spAutoFit/>
          </a:bodyPr>
          <a:lstStyle/>
          <a:p>
            <a:pPr algn="ctr">
              <a:defRPr sz="5200" b="1">
                <a:solidFill>
                  <a:srgbClr val="FFFFFF"/>
                </a:solidFill>
              </a:defRPr>
            </a:pPr>
            <a:r>
              <a:rPr dirty="0"/>
              <a:t>Beyond Prompting: </a:t>
            </a:r>
            <a:r>
              <a:rPr lang="en-US" dirty="0"/>
              <a:t>Key </a:t>
            </a:r>
            <a:r>
              <a:rPr dirty="0"/>
              <a:t>Success Skills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What separates the 20% who succeed from the 80% who quit</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Break</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15 minutes | 10:15 AM - 10:30 AM</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Personalize Claude with Settings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Personal Preferences (The Big One)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Where: Settings (gear) &gt; General &gt; Profile</a:t>
            </a:r>
          </a:p>
          <a:p>
            <a:pPr>
              <a:spcAft>
                <a:spcPts val="1200"/>
              </a:spcAft>
              <a:defRPr sz="1800">
                <a:solidFill>
                  <a:srgbClr val="FFFFFF"/>
                </a:solidFill>
              </a:defRPr>
            </a:pPr>
            <a:r>
              <a:t>  What: Your bio, role, industry, preferences</a:t>
            </a:r>
          </a:p>
          <a:p>
            <a:pPr>
              <a:spcAft>
                <a:spcPts val="1200"/>
              </a:spcAft>
              <a:defRPr sz="1800">
                <a:solidFill>
                  <a:srgbClr val="FFFFFF"/>
                </a:solidFill>
              </a:defRPr>
            </a:pPr>
            <a:r>
              <a:t>  Applies to ALL conversations forever</a:t>
            </a:r>
          </a:p>
          <a:p>
            <a:pPr>
              <a:spcAft>
                <a:spcPts val="1200"/>
              </a:spcAft>
              <a:defRPr sz="1800">
                <a:solidFill>
                  <a:srgbClr val="FFFFFF"/>
                </a:solidFill>
              </a:defRPr>
            </a:pPr>
            <a:r>
              <a:t>  Write once, never repeat context</a:t>
            </a:r>
          </a:p>
          <a:p>
            <a:pPr>
              <a:spcAft>
                <a:spcPts val="1200"/>
              </a:spcAft>
              <a:defRPr sz="1800">
                <a:solidFill>
                  <a:srgbClr val="FFFFFF"/>
                </a:solidFill>
              </a:defRPr>
            </a:pPr>
            <a:r>
              <a:t>  Claude tailors responses to YOUR role</a:t>
            </a:r>
          </a:p>
          <a:p>
            <a:pPr>
              <a:spcAft>
                <a:spcPts val="1200"/>
              </a:spcAft>
              <a:defRPr sz="1800">
                <a:solidFill>
                  <a:srgbClr val="FFFFFF"/>
                </a:solidFill>
              </a:defRPr>
            </a:pPr>
            <a:r>
              <a:t>  Example: 'I'm a finance manager at a healthcare company...'</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Other Useful Settings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Work function: Set your job role</a:t>
            </a:r>
          </a:p>
          <a:p>
            <a:pPr>
              <a:spcAft>
                <a:spcPts val="1200"/>
              </a:spcAft>
              <a:defRPr sz="1800">
                <a:solidFill>
                  <a:srgbClr val="FFFFFF"/>
                </a:solidFill>
              </a:defRPr>
            </a:pPr>
            <a:r>
              <a:t>  Notifications: Get alerts for long tasks</a:t>
            </a:r>
          </a:p>
          <a:p>
            <a:pPr>
              <a:spcAft>
                <a:spcPts val="1200"/>
              </a:spcAft>
              <a:defRPr sz="1800">
                <a:solidFill>
                  <a:srgbClr val="FFFFFF"/>
                </a:solidFill>
              </a:defRPr>
            </a:pPr>
            <a:r>
              <a:t>  Appearance: Light/dark mode, font size</a:t>
            </a:r>
          </a:p>
          <a:p>
            <a:pPr>
              <a:spcAft>
                <a:spcPts val="1200"/>
              </a:spcAft>
              <a:defRPr sz="1800">
                <a:solidFill>
                  <a:srgbClr val="FFFFFF"/>
                </a:solidFill>
              </a:defRPr>
            </a:pPr>
            <a:r>
              <a:t>  Account, Privacy, Billing available</a:t>
            </a:r>
          </a:p>
          <a:p>
            <a:pPr>
              <a:spcAft>
                <a:spcPts val="1200"/>
              </a:spcAft>
              <a:defRPr sz="1800">
                <a:solidFill>
                  <a:srgbClr val="FFFFFF"/>
                </a:solidFill>
              </a:defRPr>
            </a:pPr>
            <a:r>
              <a:t>  Response completions (useful for Claude Code)</a:t>
            </a:r>
          </a:p>
          <a:p>
            <a:pPr>
              <a:spcAft>
                <a:spcPts val="1200"/>
              </a:spcAft>
              <a:defRPr sz="1800">
                <a:solidFill>
                  <a:srgbClr val="FFFFFF"/>
                </a:solidFill>
              </a:defRPr>
            </a:pPr>
            <a:r>
              <a:t>  Explore on your own</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600" cy="822960"/>
          </a:xfrm>
          <a:prstGeom prst="rect">
            <a:avLst/>
          </a:prstGeom>
          <a:noFill/>
        </p:spPr>
        <p:txBody>
          <a:bodyPr wrap="none">
            <a:spAutoFit/>
          </a:bodyPr>
          <a:lstStyle/>
          <a:p>
            <a:pPr>
              <a:defRPr sz="4000" b="1">
                <a:solidFill>
                  <a:srgbClr val="FFFFFF"/>
                </a:solidFill>
              </a:defRPr>
            </a:pPr>
            <a:r>
              <a:t>First-Time Setup: Configuring Claude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600" cy="4572000"/>
          </a:xfrm>
          <a:prstGeom prst="rect">
            <a:avLst/>
          </a:prstGeom>
          <a:noFill/>
        </p:spPr>
        <p:txBody>
          <a:bodyPr wrap="square">
            <a:spAutoFit/>
          </a:bodyPr>
          <a:lstStyle/>
          <a:p>
            <a:pPr>
              <a:spcBef>
                <a:spcPts val="800"/>
              </a:spcBef>
              <a:spcAft>
                <a:spcPts val="800"/>
              </a:spcAft>
              <a:defRPr sz="2200">
                <a:solidFill>
                  <a:srgbClr val="FFFFFF"/>
                </a:solidFill>
              </a:defRPr>
            </a:pPr>
            <a:r>
              <a:t>  Step 1: Click the gear icon (⚙️) → Settings panel opens</a:t>
            </a:r>
          </a:p>
          <a:p>
            <a:pPr>
              <a:spcBef>
                <a:spcPts val="800"/>
              </a:spcBef>
              <a:spcAft>
                <a:spcPts val="800"/>
              </a:spcAft>
              <a:defRPr sz="2200">
                <a:solidFill>
                  <a:srgbClr val="FFFFFF"/>
                </a:solidFill>
              </a:defRPr>
            </a:pPr>
            <a:r>
              <a:t>  Step 2: General → Profile → Write your Personal Preferences</a:t>
            </a:r>
          </a:p>
          <a:p>
            <a:pPr>
              <a:spcBef>
                <a:spcPts val="800"/>
              </a:spcBef>
              <a:spcAft>
                <a:spcPts val="800"/>
              </a:spcAft>
              <a:defRPr sz="2200">
                <a:solidFill>
                  <a:srgbClr val="FFFFFF"/>
                </a:solidFill>
              </a:defRPr>
            </a:pPr>
            <a:r>
              <a:t>  Step 3: Set your Work Function (role dropdown) and Industry</a:t>
            </a:r>
          </a:p>
          <a:p>
            <a:pPr>
              <a:spcBef>
                <a:spcPts val="800"/>
              </a:spcBef>
              <a:spcAft>
                <a:spcPts val="800"/>
              </a:spcAft>
              <a:defRPr sz="2200">
                <a:solidFill>
                  <a:srgbClr val="FFFFFF"/>
                </a:solidFill>
              </a:defRPr>
            </a:pPr>
            <a:r>
              <a:t>  Step 4: Appearance → Choose light/dark mode, adjust font size</a:t>
            </a:r>
          </a:p>
          <a:p>
            <a:pPr>
              <a:spcBef>
                <a:spcPts val="800"/>
              </a:spcBef>
              <a:spcAft>
                <a:spcPts val="800"/>
              </a:spcAft>
              <a:defRPr sz="2200">
                <a:solidFill>
                  <a:srgbClr val="FFFFFF"/>
                </a:solidFill>
              </a:defRPr>
            </a:pPr>
            <a:r>
              <a:t>  Step 5: Notifications → Enable for long-running tasks</a:t>
            </a:r>
          </a:p>
          <a:p>
            <a:pPr>
              <a:spcBef>
                <a:spcPts val="800"/>
              </a:spcBef>
              <a:spcAft>
                <a:spcPts val="800"/>
              </a:spcAft>
              <a:defRPr sz="2200">
                <a:solidFill>
                  <a:srgbClr val="FFFFFF"/>
                </a:solidFill>
              </a:defRPr>
            </a:pPr>
            <a:r>
              <a:t>  Step 6: Privacy → Review data usage settings</a:t>
            </a:r>
          </a:p>
          <a:p>
            <a:pPr>
              <a:spcBef>
                <a:spcPts val="800"/>
              </a:spcBef>
              <a:spcAft>
                <a:spcPts val="800"/>
              </a:spcAft>
              <a:defRPr sz="2200">
                <a:solidFill>
                  <a:srgbClr val="FFFFFF"/>
                </a:solidFill>
              </a:defRPr>
            </a:pPr>
            <a:r>
              <a:t>  Do this ONCE — Claude remembers across every conversation</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600" cy="731520"/>
          </a:xfrm>
          <a:prstGeom prst="rect">
            <a:avLst/>
          </a:prstGeom>
          <a:noFill/>
        </p:spPr>
        <p:txBody>
          <a:bodyPr wrap="none">
            <a:spAutoFit/>
          </a:bodyPr>
          <a:lstStyle/>
          <a:p>
            <a:pPr algn="ctr">
              <a:defRPr sz="3600" b="1">
                <a:solidFill>
                  <a:srgbClr val="FFFFFF"/>
                </a:solidFill>
              </a:defRPr>
            </a:pPr>
            <a:r>
              <a:t>Writing Your Personal Preferences</a:t>
            </a:r>
          </a:p>
        </p:txBody>
      </p:sp>
      <p:sp>
        <p:nvSpPr>
          <p:cNvPr id="3" name="Rounded Rectangle 2"/>
          <p:cNvSpPr/>
          <p:nvPr/>
        </p:nvSpPr>
        <p:spPr>
          <a:xfrm>
            <a:off x="914400" y="1645920"/>
            <a:ext cx="10363200"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TEXT</a:t>
            </a:r>
          </a:p>
        </p:txBody>
      </p:sp>
      <p:sp>
        <p:nvSpPr>
          <p:cNvPr id="5" name="TextBox 4"/>
          <p:cNvSpPr txBox="1"/>
          <p:nvPr/>
        </p:nvSpPr>
        <p:spPr>
          <a:xfrm>
            <a:off x="1097280" y="2194560"/>
            <a:ext cx="9997440" cy="3291840"/>
          </a:xfrm>
          <a:prstGeom prst="rect">
            <a:avLst/>
          </a:prstGeom>
          <a:noFill/>
        </p:spPr>
        <p:txBody>
          <a:bodyPr wrap="none">
            <a:spAutoFit/>
          </a:bodyPr>
          <a:lstStyle/>
          <a:p>
            <a:pPr>
              <a:defRPr sz="1800">
                <a:solidFill>
                  <a:srgbClr val="FFFFFF"/>
                </a:solidFill>
                <a:latin typeface="Consolas"/>
              </a:defRPr>
            </a:pPr>
            <a:r>
              <a:t>TEMPLATE — Paste into Settings &gt; Profile:</a:t>
            </a:r>
            <a:br/>
            <a:br/>
            <a:r>
              <a:t>I am a [your role] at [company type] in [industry].</a:t>
            </a:r>
            <a:br/>
            <a:r>
              <a:t>My expertise: [your areas of strength].</a:t>
            </a:r>
            <a:br/>
            <a:r>
              <a:t>My team: [who you work with, their roles].</a:t>
            </a:r>
            <a:br/>
            <a:br/>
            <a:r>
              <a:t>Communication style: [concise/detailed], [formal/casual].</a:t>
            </a:r>
            <a:br/>
            <a:r>
              <a:t>Always include: [actionable next steps / data / examples].</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600" cy="914400"/>
          </a:xfrm>
          <a:prstGeom prst="rect">
            <a:avLst/>
          </a:prstGeom>
          <a:noFill/>
        </p:spPr>
        <p:txBody>
          <a:bodyPr wrap="none">
            <a:spAutoFit/>
          </a:bodyPr>
          <a:lstStyle/>
          <a:p>
            <a:pPr algn="ctr">
              <a:defRPr sz="4000" b="1">
                <a:solidFill>
                  <a:srgbClr val="FFFFFF"/>
                </a:solidFill>
              </a:defRPr>
            </a:pPr>
            <a:r>
              <a:t>Settings Deep Dive</a:t>
            </a:r>
          </a:p>
        </p:txBody>
      </p:sp>
      <p:sp>
        <p:nvSpPr>
          <p:cNvPr id="3" name="Rounded Rectangle 2"/>
          <p:cNvSpPr/>
          <p:nvPr/>
        </p:nvSpPr>
        <p:spPr>
          <a:xfrm>
            <a:off x="2301240"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7040"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7040"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6" name="TextBox 5"/>
          <p:cNvSpPr txBox="1"/>
          <p:nvPr/>
        </p:nvSpPr>
        <p:spPr>
          <a:xfrm>
            <a:off x="2392680" y="3657600"/>
            <a:ext cx="2103120" cy="1371600"/>
          </a:xfrm>
          <a:prstGeom prst="rect">
            <a:avLst/>
          </a:prstGeom>
          <a:noFill/>
        </p:spPr>
        <p:txBody>
          <a:bodyPr wrap="square">
            <a:normAutofit/>
          </a:bodyPr>
          <a:lstStyle/>
          <a:p>
            <a:pPr algn="ctr">
              <a:defRPr sz="1600" b="1">
                <a:solidFill>
                  <a:srgbClr val="FFFFFF"/>
                </a:solidFill>
              </a:defRPr>
            </a:pPr>
            <a:r>
              <a:t>Profile &amp; Account</a:t>
            </a:r>
          </a:p>
          <a:p>
            <a:pPr algn="ctr">
              <a:defRPr sz="1200">
                <a:solidFill>
                  <a:srgbClr val="9CA3AF"/>
                </a:solidFill>
              </a:defRPr>
            </a:pPr>
            <a:r>
              <a:t>Display name, email,</a:t>
            </a:r>
            <a:br/>
            <a:r>
              <a:t>plan management,</a:t>
            </a:r>
            <a:br/>
            <a:r>
              <a:t>usage dashboard</a:t>
            </a:r>
          </a:p>
        </p:txBody>
      </p:sp>
      <p:sp>
        <p:nvSpPr>
          <p:cNvPr id="7" name="Rounded Rectangle 6"/>
          <p:cNvSpPr/>
          <p:nvPr/>
        </p:nvSpPr>
        <p:spPr>
          <a:xfrm>
            <a:off x="4953000"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800"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800"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0" name="TextBox 9"/>
          <p:cNvSpPr txBox="1"/>
          <p:nvPr/>
        </p:nvSpPr>
        <p:spPr>
          <a:xfrm>
            <a:off x="5044440" y="3657600"/>
            <a:ext cx="2103120" cy="1371600"/>
          </a:xfrm>
          <a:prstGeom prst="rect">
            <a:avLst/>
          </a:prstGeom>
          <a:noFill/>
        </p:spPr>
        <p:txBody>
          <a:bodyPr wrap="square">
            <a:normAutofit/>
          </a:bodyPr>
          <a:lstStyle/>
          <a:p>
            <a:pPr algn="ctr">
              <a:defRPr sz="1600" b="1">
                <a:solidFill>
                  <a:srgbClr val="FFFFFF"/>
                </a:solidFill>
              </a:defRPr>
            </a:pPr>
            <a:r>
              <a:t>Privacy &amp; Security</a:t>
            </a:r>
          </a:p>
          <a:p>
            <a:pPr algn="ctr">
              <a:defRPr sz="1200">
                <a:solidFill>
                  <a:srgbClr val="9CA3AF"/>
                </a:solidFill>
              </a:defRPr>
            </a:pPr>
            <a:r>
              <a:t>Data handling, training</a:t>
            </a:r>
            <a:br/>
            <a:r>
              <a:t>opt-out, conversation</a:t>
            </a:r>
            <a:br/>
            <a:r>
              <a:t>history controls</a:t>
            </a:r>
          </a:p>
        </p:txBody>
      </p:sp>
      <p:sp>
        <p:nvSpPr>
          <p:cNvPr id="11" name="Rounded Rectangle 10"/>
          <p:cNvSpPr/>
          <p:nvPr/>
        </p:nvSpPr>
        <p:spPr>
          <a:xfrm>
            <a:off x="7604760"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560"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560"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4" name="TextBox 13"/>
          <p:cNvSpPr txBox="1"/>
          <p:nvPr/>
        </p:nvSpPr>
        <p:spPr>
          <a:xfrm>
            <a:off x="7696200" y="3657600"/>
            <a:ext cx="2103120" cy="1371600"/>
          </a:xfrm>
          <a:prstGeom prst="rect">
            <a:avLst/>
          </a:prstGeom>
          <a:noFill/>
        </p:spPr>
        <p:txBody>
          <a:bodyPr wrap="square">
            <a:normAutofit/>
          </a:bodyPr>
          <a:lstStyle/>
          <a:p>
            <a:pPr algn="ctr">
              <a:defRPr sz="1600" b="1">
                <a:solidFill>
                  <a:srgbClr val="FFFFFF"/>
                </a:solidFill>
              </a:defRPr>
            </a:pPr>
            <a:r>
              <a:t>Model &amp; Performance</a:t>
            </a:r>
          </a:p>
          <a:p>
            <a:pPr algn="ctr">
              <a:defRPr sz="1200">
                <a:solidFill>
                  <a:srgbClr val="9CA3AF"/>
                </a:solidFill>
              </a:defRPr>
            </a:pPr>
            <a:r>
              <a:t>Default model selection,</a:t>
            </a:r>
            <a:br/>
            <a:r>
              <a:t>Extended Thinking toggle,</a:t>
            </a:r>
            <a:br/>
            <a:r>
              <a:t>response preferences</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a:extLst>
            <a:ext uri="{FF2B5EF4-FFF2-40B4-BE49-F238E27FC236}">
              <a16:creationId xmlns:a16="http://schemas.microsoft.com/office/drawing/2014/main" id="{166B4A3C-B798-1A33-1D51-98F193E8BD0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512AD6E-847D-17B1-15AD-6F52430D57A3}"/>
              </a:ext>
            </a:extLst>
          </p:cNvPr>
          <p:cNvSpPr txBox="1"/>
          <p:nvPr/>
        </p:nvSpPr>
        <p:spPr>
          <a:xfrm>
            <a:off x="457200" y="457200"/>
            <a:ext cx="11277295"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b="1">
                <a:solidFill>
                  <a:srgbClr val="FFFFFF"/>
                </a:solidFill>
              </a:defRPr>
            </a:pPr>
            <a:r>
              <a:rPr kumimoji="0" sz="3600" b="1" i="0" u="none" strike="noStrike" kern="1200" cap="none" spc="0" normalizeH="0" baseline="0" noProof="0">
                <a:ln>
                  <a:noFill/>
                </a:ln>
                <a:solidFill>
                  <a:srgbClr val="FFFFFF"/>
                </a:solidFill>
                <a:effectLst/>
                <a:uLnTx/>
                <a:uFillTx/>
                <a:latin typeface="Calibri"/>
                <a:ea typeface="+mn-ea"/>
                <a:cs typeface="+mn-cs"/>
              </a:rPr>
              <a:t>Claude Desktop App: Autonomous Features</a:t>
            </a:r>
          </a:p>
        </p:txBody>
      </p:sp>
      <p:sp>
        <p:nvSpPr>
          <p:cNvPr id="3" name="Rectangle 2">
            <a:extLst>
              <a:ext uri="{FF2B5EF4-FFF2-40B4-BE49-F238E27FC236}">
                <a16:creationId xmlns:a16="http://schemas.microsoft.com/office/drawing/2014/main" id="{F2342D46-CB66-679A-1AF0-A4EC62C02D83}"/>
              </a:ext>
            </a:extLst>
          </p:cNvPr>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4" name="TextBox 3">
            <a:extLst>
              <a:ext uri="{FF2B5EF4-FFF2-40B4-BE49-F238E27FC236}">
                <a16:creationId xmlns:a16="http://schemas.microsoft.com/office/drawing/2014/main" id="{73C77848-149A-A14D-E3EE-836747772290}"/>
              </a:ext>
            </a:extLst>
          </p:cNvPr>
          <p:cNvSpPr txBox="1"/>
          <p:nvPr/>
        </p:nvSpPr>
        <p:spPr>
          <a:xfrm>
            <a:off x="457200" y="1463040"/>
            <a:ext cx="5364327"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800" b="1">
                <a:solidFill>
                  <a:srgbClr val="0078D4"/>
                </a:solidFill>
              </a:defRPr>
            </a:pPr>
            <a:r>
              <a:rPr kumimoji="0" sz="2800" b="1" i="0" u="none" strike="noStrike" kern="1200" cap="none" spc="0" normalizeH="0" baseline="0" noProof="0">
                <a:ln>
                  <a:noFill/>
                </a:ln>
                <a:solidFill>
                  <a:srgbClr val="0078D4"/>
                </a:solidFill>
                <a:effectLst/>
                <a:uLnTx/>
                <a:uFillTx/>
                <a:latin typeface="Calibri"/>
                <a:ea typeface="+mn-ea"/>
                <a:cs typeface="+mn-cs"/>
              </a:rPr>
              <a:t>Claude.ai (What You Know)</a:t>
            </a:r>
          </a:p>
        </p:txBody>
      </p:sp>
      <p:sp>
        <p:nvSpPr>
          <p:cNvPr id="5" name="TextBox 4">
            <a:extLst>
              <a:ext uri="{FF2B5EF4-FFF2-40B4-BE49-F238E27FC236}">
                <a16:creationId xmlns:a16="http://schemas.microsoft.com/office/drawing/2014/main" id="{1C183914-50C0-E52E-1C75-A7BCAB4D4A0A}"/>
              </a:ext>
            </a:extLst>
          </p:cNvPr>
          <p:cNvSpPr txBox="1"/>
          <p:nvPr/>
        </p:nvSpPr>
        <p:spPr>
          <a:xfrm>
            <a:off x="457200" y="2286000"/>
            <a:ext cx="5364327" cy="365760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Back-and-forth conversation</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You ask → Claude answers → repeat</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You stay in the chat the whole time</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Great for real-time collaboration</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Immediate feedback and iteration</a:t>
            </a:r>
          </a:p>
        </p:txBody>
      </p:sp>
      <p:sp>
        <p:nvSpPr>
          <p:cNvPr id="6" name="TextBox 5">
            <a:extLst>
              <a:ext uri="{FF2B5EF4-FFF2-40B4-BE49-F238E27FC236}">
                <a16:creationId xmlns:a16="http://schemas.microsoft.com/office/drawing/2014/main" id="{1B1B1D5D-E934-7C33-E35D-0D76F7A0930D}"/>
              </a:ext>
            </a:extLst>
          </p:cNvPr>
          <p:cNvSpPr txBox="1"/>
          <p:nvPr/>
        </p:nvSpPr>
        <p:spPr>
          <a:xfrm>
            <a:off x="6370167" y="1463040"/>
            <a:ext cx="5364327"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800" b="1">
                <a:solidFill>
                  <a:srgbClr val="00D4AA"/>
                </a:solidFill>
              </a:defRPr>
            </a:pPr>
            <a:r>
              <a:rPr kumimoji="0" sz="2800" b="1" i="0" u="none" strike="noStrike" kern="1200" cap="none" spc="0" normalizeH="0" baseline="0" noProof="0">
                <a:ln>
                  <a:noFill/>
                </a:ln>
                <a:solidFill>
                  <a:srgbClr val="00D4AA"/>
                </a:solidFill>
                <a:effectLst/>
                <a:uLnTx/>
                <a:uFillTx/>
                <a:latin typeface="Calibri"/>
                <a:ea typeface="+mn-ea"/>
                <a:cs typeface="+mn-cs"/>
              </a:rPr>
              <a:t>Claude for Work (NEW Preview)</a:t>
            </a:r>
          </a:p>
        </p:txBody>
      </p:sp>
      <p:sp>
        <p:nvSpPr>
          <p:cNvPr id="7" name="TextBox 6">
            <a:extLst>
              <a:ext uri="{FF2B5EF4-FFF2-40B4-BE49-F238E27FC236}">
                <a16:creationId xmlns:a16="http://schemas.microsoft.com/office/drawing/2014/main" id="{9AEEBC51-4FB4-1A8D-646C-94CAA517A4B3}"/>
              </a:ext>
            </a:extLst>
          </p:cNvPr>
          <p:cNvSpPr txBox="1"/>
          <p:nvPr/>
        </p:nvSpPr>
        <p:spPr>
          <a:xfrm>
            <a:off x="6370167" y="2286000"/>
            <a:ext cx="5364327" cy="365760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Three modes: Chat, Cowork, Code tabs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Set goal → Walk away → Come back later</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Works autonomously in background</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Handles complex multi-step tasks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Task presets: 'Optimize my week', 'Organize screenshots', etc.</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You check in when YOU want</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Available: Windows + Mac Preview</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Plugin integration (customize workflows)</a:t>
            </a:r>
          </a:p>
        </p:txBody>
      </p:sp>
    </p:spTree>
    <p:extLst>
      <p:ext uri="{BB962C8B-B14F-4D97-AF65-F5344CB8AC3E}">
        <p14:creationId xmlns:p14="http://schemas.microsoft.com/office/powerpoint/2010/main" val="85037905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a:extLst>
            <a:ext uri="{FF2B5EF4-FFF2-40B4-BE49-F238E27FC236}">
              <a16:creationId xmlns:a16="http://schemas.microsoft.com/office/drawing/2014/main" id="{7EDBD57A-7338-0E26-CEAB-6C95F15A17F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BB6F2101-4F98-C246-7F6A-CA3CC9B094DC}"/>
              </a:ext>
            </a:extLst>
          </p:cNvPr>
          <p:cNvSpPr txBox="1"/>
          <p:nvPr/>
        </p:nvSpPr>
        <p:spPr>
          <a:xfrm>
            <a:off x="457200" y="365760"/>
            <a:ext cx="11277295" cy="82296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4000" b="1">
                <a:solidFill>
                  <a:srgbClr val="FFFFFF"/>
                </a:solidFill>
              </a:defRPr>
            </a:pPr>
            <a:r>
              <a:rPr kumimoji="0" sz="4000" b="1" i="0" u="none" strike="noStrike" kern="1200" cap="none" spc="0" normalizeH="0" baseline="0" noProof="0">
                <a:ln>
                  <a:noFill/>
                </a:ln>
                <a:solidFill>
                  <a:srgbClr val="FFFFFF"/>
                </a:solidFill>
                <a:effectLst/>
                <a:uLnTx/>
                <a:uFillTx/>
                <a:latin typeface="Calibri"/>
                <a:ea typeface="+mn-ea"/>
                <a:cs typeface="+mn-cs"/>
              </a:rPr>
              <a:t>When to Use Claude for Work</a:t>
            </a:r>
          </a:p>
        </p:txBody>
      </p:sp>
      <p:sp>
        <p:nvSpPr>
          <p:cNvPr id="3" name="Rectangle 2">
            <a:extLst>
              <a:ext uri="{FF2B5EF4-FFF2-40B4-BE49-F238E27FC236}">
                <a16:creationId xmlns:a16="http://schemas.microsoft.com/office/drawing/2014/main" id="{D1BA573A-E4B7-822F-B58F-C8B4687FAE8F}"/>
              </a:ext>
            </a:extLst>
          </p:cNvPr>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4" name="TextBox 3">
            <a:extLst>
              <a:ext uri="{FF2B5EF4-FFF2-40B4-BE49-F238E27FC236}">
                <a16:creationId xmlns:a16="http://schemas.microsoft.com/office/drawing/2014/main" id="{DF607436-CA4A-12EA-4CC2-583FD5C95E76}"/>
              </a:ext>
            </a:extLst>
          </p:cNvPr>
          <p:cNvSpPr txBox="1"/>
          <p:nvPr/>
        </p:nvSpPr>
        <p:spPr>
          <a:xfrm>
            <a:off x="457200" y="1463040"/>
            <a:ext cx="11277295" cy="4572000"/>
          </a:xfrm>
          <a:prstGeom prst="rect">
            <a:avLst/>
          </a:prstGeom>
          <a:noFill/>
        </p:spPr>
        <p:txBody>
          <a:bodyPr wrap="square">
            <a:spAutoFit/>
          </a:bodyPr>
          <a:lstStyle/>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a:ln>
                  <a:noFill/>
                </a:ln>
                <a:solidFill>
                  <a:srgbClr val="FFFFFF"/>
                </a:solidFill>
                <a:effectLst/>
                <a:uLnTx/>
                <a:uFillTx/>
                <a:latin typeface="Calibri"/>
                <a:ea typeface="+mn-ea"/>
                <a:cs typeface="+mn-cs"/>
              </a:rPr>
              <a:t>  ✅ PERFECT FOR: Complex multi-step tasks (2+ hours of work)</a:t>
            </a:r>
          </a:p>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a:ln>
                  <a:noFill/>
                </a:ln>
                <a:solidFill>
                  <a:srgbClr val="FFFFFF"/>
                </a:solidFill>
                <a:effectLst/>
                <a:uLnTx/>
                <a:uFillTx/>
                <a:latin typeface="Calibri"/>
                <a:ea typeface="+mn-ea"/>
                <a:cs typeface="+mn-cs"/>
              </a:rPr>
              <a:t>     • Competitive research &amp; analysis</a:t>
            </a:r>
          </a:p>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a:ln>
                  <a:noFill/>
                </a:ln>
                <a:solidFill>
                  <a:srgbClr val="FFFFFF"/>
                </a:solidFill>
                <a:effectLst/>
                <a:uLnTx/>
                <a:uFillTx/>
                <a:latin typeface="Calibri"/>
                <a:ea typeface="+mn-ea"/>
                <a:cs typeface="+mn-cs"/>
              </a:rPr>
              <a:t>     • Writing long documents (PRDs, reports, proposals)</a:t>
            </a:r>
          </a:p>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a:ln>
                  <a:noFill/>
                </a:ln>
                <a:solidFill>
                  <a:srgbClr val="FFFFFF"/>
                </a:solidFill>
                <a:effectLst/>
                <a:uLnTx/>
                <a:uFillTx/>
                <a:latin typeface="Calibri"/>
                <a:ea typeface="+mn-ea"/>
                <a:cs typeface="+mn-cs"/>
              </a:rPr>
              <a:t>     • Data analysis across multiple files</a:t>
            </a:r>
          </a:p>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a:ln>
                  <a:noFill/>
                </a:ln>
                <a:solidFill>
                  <a:srgbClr val="FFFFFF"/>
                </a:solidFill>
                <a:effectLst/>
                <a:uLnTx/>
                <a:uFillTx/>
                <a:latin typeface="Calibri"/>
                <a:ea typeface="+mn-ea"/>
                <a:cs typeface="+mn-cs"/>
              </a:rPr>
              <a:t>     • Content creation with multiple iterations</a:t>
            </a:r>
          </a:p>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a:ln>
                  <a:noFill/>
                </a:ln>
                <a:solidFill>
                  <a:srgbClr val="FFFFFF"/>
                </a:solidFill>
                <a:effectLst/>
                <a:uLnTx/>
                <a:uFillTx/>
                <a:latin typeface="Calibri"/>
                <a:ea typeface="+mn-ea"/>
                <a:cs typeface="+mn-cs"/>
              </a:rPr>
              <a:t>  ❌ NOT IDEAL FOR: Quick questions, real-time collaboration, learning/exploration</a:t>
            </a:r>
          </a:p>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a:ln>
                  <a:noFill/>
                </a:ln>
                <a:solidFill>
                  <a:srgbClr val="FFFFFF"/>
                </a:solidFill>
                <a:effectLst/>
                <a:uLnTx/>
                <a:uFillTx/>
                <a:latin typeface="Calibri"/>
                <a:ea typeface="+mn-ea"/>
                <a:cs typeface="+mn-cs"/>
              </a:rPr>
              <a:t>  🎯 THE RULE: If you'd normally block 2+ hours on calendar → Use Cowork. Quick task → Use Claude.ai</a:t>
            </a:r>
          </a:p>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a:ln>
                  <a:noFill/>
                </a:ln>
                <a:solidFill>
                  <a:srgbClr val="FFFFFF"/>
                </a:solidFill>
                <a:effectLst/>
                <a:uLnTx/>
                <a:uFillTx/>
                <a:latin typeface="Calibri"/>
                <a:ea typeface="+mn-ea"/>
                <a:cs typeface="+mn-cs"/>
              </a:rPr>
              <a:t>  💻 HOW TO GET IT: Download Claude Desktop App (Windows/Mac) - Pro/Team subscribers get autonomous features in Preview</a:t>
            </a:r>
          </a:p>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a:ln>
                  <a:noFill/>
                </a:ln>
                <a:solidFill>
                  <a:srgbClr val="FFFFFF"/>
                </a:solidFill>
                <a:effectLst/>
                <a:uLnTx/>
                <a:uFillTx/>
                <a:latin typeface="Calibri"/>
                <a:ea typeface="+mn-ea"/>
                <a:cs typeface="+mn-cs"/>
              </a:rPr>
              <a:t>  ⚠️ PREVIEW NOTE: Early access = expect bugs, limited rollout, features evolving</a:t>
            </a:r>
          </a:p>
        </p:txBody>
      </p:sp>
    </p:spTree>
    <p:extLst>
      <p:ext uri="{BB962C8B-B14F-4D97-AF65-F5344CB8AC3E}">
        <p14:creationId xmlns:p14="http://schemas.microsoft.com/office/powerpoint/2010/main" val="275918978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are Projects?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Scoped knowledge bases for specific workstreams</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Creating a Project</a:t>
            </a:r>
          </a:p>
        </p:txBody>
      </p:sp>
      <p:sp>
        <p:nvSpPr>
          <p:cNvPr id="3" name="Rectangle 2"/>
          <p:cNvSpPr/>
          <p:nvPr/>
        </p:nvSpPr>
        <p:spPr>
          <a:xfrm>
            <a:off x="1280160" y="3273552"/>
            <a:ext cx="8635745" cy="36576"/>
          </a:xfrm>
          <a:prstGeom prst="rect">
            <a:avLst/>
          </a:prstGeom>
          <a:solidFill>
            <a:srgbClr val="2D3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914400"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914400" y="2926080"/>
            <a:ext cx="731520" cy="731520"/>
          </a:xfrm>
          <a:prstGeom prst="rect">
            <a:avLst/>
          </a:prstGeom>
          <a:noFill/>
        </p:spPr>
        <p:txBody>
          <a:bodyPr wrap="none" anchor="ctr">
            <a:spAutoFit/>
          </a:bodyPr>
          <a:lstStyle/>
          <a:p>
            <a:pPr algn="ctr">
              <a:defRPr sz="2800" b="1">
                <a:solidFill>
                  <a:srgbClr val="0B0F1A"/>
                </a:solidFill>
              </a:defRPr>
            </a:pPr>
            <a:r>
              <a:t>1</a:t>
            </a:r>
          </a:p>
        </p:txBody>
      </p:sp>
      <p:sp>
        <p:nvSpPr>
          <p:cNvPr id="6" name="TextBox 5"/>
          <p:cNvSpPr txBox="1"/>
          <p:nvPr/>
        </p:nvSpPr>
        <p:spPr>
          <a:xfrm>
            <a:off x="457200" y="3840480"/>
            <a:ext cx="1645920" cy="1371600"/>
          </a:xfrm>
          <a:prstGeom prst="rect">
            <a:avLst/>
          </a:prstGeom>
          <a:noFill/>
        </p:spPr>
        <p:txBody>
          <a:bodyPr wrap="square">
            <a:normAutofit/>
          </a:bodyPr>
          <a:lstStyle/>
          <a:p>
            <a:pPr algn="ctr">
              <a:defRPr sz="1800" b="1">
                <a:solidFill>
                  <a:srgbClr val="FFFFFF"/>
                </a:solidFill>
              </a:defRPr>
            </a:pPr>
            <a:r>
              <a:t>Click 'Projects' in sidebar</a:t>
            </a:r>
          </a:p>
        </p:txBody>
      </p:sp>
      <p:sp>
        <p:nvSpPr>
          <p:cNvPr id="7" name="Oval 6"/>
          <p:cNvSpPr/>
          <p:nvPr/>
        </p:nvSpPr>
        <p:spPr>
          <a:xfrm>
            <a:off x="2641549"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641549" y="2926080"/>
            <a:ext cx="731520" cy="731520"/>
          </a:xfrm>
          <a:prstGeom prst="rect">
            <a:avLst/>
          </a:prstGeom>
          <a:noFill/>
        </p:spPr>
        <p:txBody>
          <a:bodyPr wrap="none" anchor="ctr">
            <a:spAutoFit/>
          </a:bodyPr>
          <a:lstStyle/>
          <a:p>
            <a:pPr algn="ctr">
              <a:defRPr sz="2800" b="1">
                <a:solidFill>
                  <a:srgbClr val="0B0F1A"/>
                </a:solidFill>
              </a:defRPr>
            </a:pPr>
            <a:r>
              <a:t>2</a:t>
            </a:r>
          </a:p>
        </p:txBody>
      </p:sp>
      <p:sp>
        <p:nvSpPr>
          <p:cNvPr id="9" name="TextBox 8"/>
          <p:cNvSpPr txBox="1"/>
          <p:nvPr/>
        </p:nvSpPr>
        <p:spPr>
          <a:xfrm>
            <a:off x="2184349" y="3840480"/>
            <a:ext cx="1645920" cy="1371600"/>
          </a:xfrm>
          <a:prstGeom prst="rect">
            <a:avLst/>
          </a:prstGeom>
          <a:noFill/>
        </p:spPr>
        <p:txBody>
          <a:bodyPr wrap="square">
            <a:normAutofit/>
          </a:bodyPr>
          <a:lstStyle/>
          <a:p>
            <a:pPr algn="ctr">
              <a:defRPr sz="1800" b="1">
                <a:solidFill>
                  <a:srgbClr val="FFFFFF"/>
                </a:solidFill>
              </a:defRPr>
            </a:pPr>
            <a:r>
              <a:t>Click '+ New Project'</a:t>
            </a:r>
          </a:p>
        </p:txBody>
      </p:sp>
      <p:sp>
        <p:nvSpPr>
          <p:cNvPr id="10" name="Oval 9"/>
          <p:cNvSpPr/>
          <p:nvPr/>
        </p:nvSpPr>
        <p:spPr>
          <a:xfrm>
            <a:off x="4368698"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368698" y="2926080"/>
            <a:ext cx="731520" cy="731520"/>
          </a:xfrm>
          <a:prstGeom prst="rect">
            <a:avLst/>
          </a:prstGeom>
          <a:noFill/>
        </p:spPr>
        <p:txBody>
          <a:bodyPr wrap="none" anchor="ctr">
            <a:spAutoFit/>
          </a:bodyPr>
          <a:lstStyle/>
          <a:p>
            <a:pPr algn="ctr">
              <a:defRPr sz="2800" b="1">
                <a:solidFill>
                  <a:srgbClr val="0B0F1A"/>
                </a:solidFill>
              </a:defRPr>
            </a:pPr>
            <a:r>
              <a:t>3</a:t>
            </a:r>
          </a:p>
        </p:txBody>
      </p:sp>
      <p:sp>
        <p:nvSpPr>
          <p:cNvPr id="12" name="TextBox 11"/>
          <p:cNvSpPr txBox="1"/>
          <p:nvPr/>
        </p:nvSpPr>
        <p:spPr>
          <a:xfrm>
            <a:off x="3911498" y="3840480"/>
            <a:ext cx="1645920" cy="1371600"/>
          </a:xfrm>
          <a:prstGeom prst="rect">
            <a:avLst/>
          </a:prstGeom>
          <a:noFill/>
        </p:spPr>
        <p:txBody>
          <a:bodyPr wrap="square">
            <a:normAutofit/>
          </a:bodyPr>
          <a:lstStyle/>
          <a:p>
            <a:pPr algn="ctr">
              <a:defRPr sz="1800" b="1">
                <a:solidFill>
                  <a:srgbClr val="FFFFFF"/>
                </a:solidFill>
              </a:defRPr>
            </a:pPr>
            <a:r>
              <a:t>Name your project</a:t>
            </a:r>
          </a:p>
        </p:txBody>
      </p:sp>
      <p:sp>
        <p:nvSpPr>
          <p:cNvPr id="13" name="Oval 12"/>
          <p:cNvSpPr/>
          <p:nvPr/>
        </p:nvSpPr>
        <p:spPr>
          <a:xfrm>
            <a:off x="6095847"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095847" y="2926080"/>
            <a:ext cx="731520" cy="731520"/>
          </a:xfrm>
          <a:prstGeom prst="rect">
            <a:avLst/>
          </a:prstGeom>
          <a:noFill/>
        </p:spPr>
        <p:txBody>
          <a:bodyPr wrap="none" anchor="ctr">
            <a:spAutoFit/>
          </a:bodyPr>
          <a:lstStyle/>
          <a:p>
            <a:pPr algn="ctr">
              <a:defRPr sz="2800" b="1">
                <a:solidFill>
                  <a:srgbClr val="0B0F1A"/>
                </a:solidFill>
              </a:defRPr>
            </a:pPr>
            <a:r>
              <a:t>4</a:t>
            </a:r>
          </a:p>
        </p:txBody>
      </p:sp>
      <p:sp>
        <p:nvSpPr>
          <p:cNvPr id="15" name="TextBox 14"/>
          <p:cNvSpPr txBox="1"/>
          <p:nvPr/>
        </p:nvSpPr>
        <p:spPr>
          <a:xfrm>
            <a:off x="5638647" y="3840480"/>
            <a:ext cx="1645920" cy="1371600"/>
          </a:xfrm>
          <a:prstGeom prst="rect">
            <a:avLst/>
          </a:prstGeom>
          <a:noFill/>
        </p:spPr>
        <p:txBody>
          <a:bodyPr wrap="square">
            <a:normAutofit/>
          </a:bodyPr>
          <a:lstStyle/>
          <a:p>
            <a:pPr algn="ctr">
              <a:defRPr sz="1800" b="1">
                <a:solidFill>
                  <a:srgbClr val="FFFFFF"/>
                </a:solidFill>
              </a:defRPr>
            </a:pPr>
            <a:r>
              <a:t>Add custom instructions</a:t>
            </a:r>
          </a:p>
        </p:txBody>
      </p:sp>
      <p:sp>
        <p:nvSpPr>
          <p:cNvPr id="16" name="Oval 15"/>
          <p:cNvSpPr/>
          <p:nvPr/>
        </p:nvSpPr>
        <p:spPr>
          <a:xfrm>
            <a:off x="7822996"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822996" y="2926080"/>
            <a:ext cx="731520" cy="731520"/>
          </a:xfrm>
          <a:prstGeom prst="rect">
            <a:avLst/>
          </a:prstGeom>
          <a:noFill/>
        </p:spPr>
        <p:txBody>
          <a:bodyPr wrap="none" anchor="ctr">
            <a:spAutoFit/>
          </a:bodyPr>
          <a:lstStyle/>
          <a:p>
            <a:pPr algn="ctr">
              <a:defRPr sz="2800" b="1">
                <a:solidFill>
                  <a:srgbClr val="0B0F1A"/>
                </a:solidFill>
              </a:defRPr>
            </a:pPr>
            <a:r>
              <a:t>5</a:t>
            </a:r>
          </a:p>
        </p:txBody>
      </p:sp>
      <p:sp>
        <p:nvSpPr>
          <p:cNvPr id="18" name="TextBox 17"/>
          <p:cNvSpPr txBox="1"/>
          <p:nvPr/>
        </p:nvSpPr>
        <p:spPr>
          <a:xfrm>
            <a:off x="7365796" y="3840480"/>
            <a:ext cx="1645920" cy="1371600"/>
          </a:xfrm>
          <a:prstGeom prst="rect">
            <a:avLst/>
          </a:prstGeom>
          <a:noFill/>
        </p:spPr>
        <p:txBody>
          <a:bodyPr wrap="square">
            <a:normAutofit/>
          </a:bodyPr>
          <a:lstStyle/>
          <a:p>
            <a:pPr algn="ctr">
              <a:defRPr sz="1800" b="1">
                <a:solidFill>
                  <a:srgbClr val="FFFFFF"/>
                </a:solidFill>
              </a:defRPr>
            </a:pPr>
            <a:r>
              <a:t>Upload reference documents</a:t>
            </a:r>
          </a:p>
        </p:txBody>
      </p:sp>
      <p:sp>
        <p:nvSpPr>
          <p:cNvPr id="19" name="Oval 18"/>
          <p:cNvSpPr/>
          <p:nvPr/>
        </p:nvSpPr>
        <p:spPr>
          <a:xfrm>
            <a:off x="9550145"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9550145" y="2926080"/>
            <a:ext cx="731520" cy="731520"/>
          </a:xfrm>
          <a:prstGeom prst="rect">
            <a:avLst/>
          </a:prstGeom>
          <a:noFill/>
        </p:spPr>
        <p:txBody>
          <a:bodyPr wrap="none" anchor="ctr">
            <a:spAutoFit/>
          </a:bodyPr>
          <a:lstStyle/>
          <a:p>
            <a:pPr algn="ctr">
              <a:defRPr sz="2800" b="1">
                <a:solidFill>
                  <a:srgbClr val="0B0F1A"/>
                </a:solidFill>
              </a:defRPr>
            </a:pPr>
            <a:r>
              <a:t>6</a:t>
            </a:r>
          </a:p>
        </p:txBody>
      </p:sp>
      <p:sp>
        <p:nvSpPr>
          <p:cNvPr id="21" name="TextBox 20"/>
          <p:cNvSpPr txBox="1"/>
          <p:nvPr/>
        </p:nvSpPr>
        <p:spPr>
          <a:xfrm>
            <a:off x="9092945" y="3840480"/>
            <a:ext cx="1645920" cy="1371600"/>
          </a:xfrm>
          <a:prstGeom prst="rect">
            <a:avLst/>
          </a:prstGeom>
          <a:noFill/>
        </p:spPr>
        <p:txBody>
          <a:bodyPr wrap="square">
            <a:normAutofit/>
          </a:bodyPr>
          <a:lstStyle/>
          <a:p>
            <a:pPr algn="ctr">
              <a:defRPr sz="1800" b="1">
                <a:solidFill>
                  <a:srgbClr val="FFFFFF"/>
                </a:solidFill>
              </a:defRPr>
            </a:pPr>
            <a:r>
              <a:t>Start chatting</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Custom Instructions - What to Include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Tone &amp; style: 'Write in professional, concise tone'</a:t>
            </a:r>
          </a:p>
          <a:p>
            <a:pPr>
              <a:spcBef>
                <a:spcPts val="800"/>
              </a:spcBef>
              <a:spcAft>
                <a:spcPts val="800"/>
              </a:spcAft>
              <a:defRPr sz="2200">
                <a:solidFill>
                  <a:srgbClr val="FFFFFF"/>
                </a:solidFill>
              </a:defRPr>
            </a:pPr>
            <a:r>
              <a:t>  Format preferences: 'Use bullet points for action items'</a:t>
            </a:r>
          </a:p>
          <a:p>
            <a:pPr>
              <a:spcBef>
                <a:spcPts val="800"/>
              </a:spcBef>
              <a:spcAft>
                <a:spcPts val="800"/>
              </a:spcAft>
              <a:defRPr sz="2200">
                <a:solidFill>
                  <a:srgbClr val="FFFFFF"/>
                </a:solidFill>
              </a:defRPr>
            </a:pPr>
            <a:r>
              <a:t>  Domain knowledge: 'Our fiscal year: April-March'</a:t>
            </a:r>
          </a:p>
          <a:p>
            <a:pPr>
              <a:spcBef>
                <a:spcPts val="800"/>
              </a:spcBef>
              <a:spcAft>
                <a:spcPts val="800"/>
              </a:spcAft>
              <a:defRPr sz="2200">
                <a:solidFill>
                  <a:srgbClr val="FFFFFF"/>
                </a:solidFill>
              </a:defRPr>
            </a:pPr>
            <a:r>
              <a:t>  Constraints: 'Keep responses under 500 words unless asked'</a:t>
            </a:r>
          </a:p>
          <a:p>
            <a:pPr>
              <a:spcBef>
                <a:spcPts val="800"/>
              </a:spcBef>
              <a:spcAft>
                <a:spcPts val="800"/>
              </a:spcAft>
              <a:defRPr sz="2200">
                <a:solidFill>
                  <a:srgbClr val="FFFFFF"/>
                </a:solidFill>
              </a:defRPr>
            </a:pPr>
            <a:r>
              <a:t>  Audience: 'You're helping C-suite executives (non-technical)'</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Projects vs. Regular Chat</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Use Projects When</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Recurring task</a:t>
            </a:r>
          </a:p>
          <a:p>
            <a:pPr>
              <a:spcAft>
                <a:spcPts val="1200"/>
              </a:spcAft>
              <a:defRPr sz="1800">
                <a:solidFill>
                  <a:srgbClr val="FFFFFF"/>
                </a:solidFill>
              </a:defRPr>
            </a:pPr>
            <a:r>
              <a:t>  Reference documents needed</a:t>
            </a:r>
          </a:p>
          <a:p>
            <a:pPr>
              <a:spcAft>
                <a:spcPts val="1200"/>
              </a:spcAft>
              <a:defRPr sz="1800">
                <a:solidFill>
                  <a:srgbClr val="FFFFFF"/>
                </a:solidFill>
              </a:defRPr>
            </a:pPr>
            <a:r>
              <a:t>  Team collaboration</a:t>
            </a:r>
          </a:p>
          <a:p>
            <a:pPr>
              <a:spcAft>
                <a:spcPts val="1200"/>
              </a:spcAft>
              <a:defRPr sz="1800">
                <a:solidFill>
                  <a:srgbClr val="FFFFFF"/>
                </a:solidFill>
              </a:defRPr>
            </a:pPr>
            <a:r>
              <a:t>  Consistent behavior wanted</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8B95A5"/>
                </a:solidFill>
              </a:defRPr>
            </a:pPr>
            <a:r>
              <a:t>Use Regular Chat When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One-off question</a:t>
            </a:r>
          </a:p>
          <a:p>
            <a:pPr>
              <a:spcAft>
                <a:spcPts val="1200"/>
              </a:spcAft>
              <a:defRPr sz="1800">
                <a:solidFill>
                  <a:srgbClr val="FFFFFF"/>
                </a:solidFill>
              </a:defRPr>
            </a:pPr>
            <a:r>
              <a:t>  Quick brainstorming</a:t>
            </a:r>
          </a:p>
          <a:p>
            <a:pPr>
              <a:spcAft>
                <a:spcPts val="1200"/>
              </a:spcAft>
              <a:defRPr sz="1800">
                <a:solidFill>
                  <a:srgbClr val="FFFFFF"/>
                </a:solidFill>
              </a:defRPr>
            </a:pPr>
            <a:r>
              <a:t>  No persistent context needed</a:t>
            </a:r>
          </a:p>
          <a:p>
            <a:pPr>
              <a:spcAft>
                <a:spcPts val="1200"/>
              </a:spcAft>
              <a:defRPr sz="1800">
                <a:solidFill>
                  <a:srgbClr val="FFFFFF"/>
                </a:solidFill>
              </a:defRPr>
            </a:pPr>
            <a:r>
              <a:t>  Experimenting/exploring</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Power User Tips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Cmd/Ctrl+K for new chat (keyboard shortcut)</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Search history to find past conversations</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Star important chats to pin them</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Use Projects for templates and reusable formats</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Iterate, don't start over - refine in same chat</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1F2D3D"/>
        </a:solidFill>
        <a:effectLst/>
      </p:bgPr>
    </p:bg>
    <p:spTree>
      <p:nvGrpSpPr>
        <p:cNvPr id="1" name=""/>
        <p:cNvGrpSpPr/>
        <p:nvPr/>
      </p:nvGrpSpPr>
      <p:grpSpPr>
        <a:xfrm>
          <a:off x="0" y="0"/>
          <a:ext cx="0" cy="0"/>
          <a:chOff x="0" y="0"/>
          <a:chExt cx="0" cy="0"/>
        </a:xfrm>
      </p:grpSpPr>
      <p:sp>
        <p:nvSpPr>
          <p:cNvPr id="2" name="Rounded Rectangle 1"/>
          <p:cNvSpPr/>
          <p:nvPr/>
        </p:nvSpPr>
        <p:spPr>
          <a:xfrm>
            <a:off x="457200" y="365760"/>
            <a:ext cx="1097280" cy="457200"/>
          </a:xfrm>
          <a:prstGeom prst="round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rPr sz="1600" dirty="0"/>
              <a:t>LAB</a:t>
            </a:r>
          </a:p>
        </p:txBody>
      </p:sp>
      <p:sp>
        <p:nvSpPr>
          <p:cNvPr id="3" name="TextBox 2"/>
          <p:cNvSpPr txBox="1"/>
          <p:nvPr/>
        </p:nvSpPr>
        <p:spPr>
          <a:xfrm>
            <a:off x="457200" y="1005840"/>
            <a:ext cx="7045518" cy="646331"/>
          </a:xfrm>
          <a:prstGeom prst="rect">
            <a:avLst/>
          </a:prstGeom>
          <a:noFill/>
        </p:spPr>
        <p:txBody>
          <a:bodyPr wrap="none">
            <a:spAutoFit/>
          </a:bodyPr>
          <a:lstStyle/>
          <a:p>
            <a:pPr>
              <a:defRPr sz="3600" b="1">
                <a:solidFill>
                  <a:srgbClr val="FFFFFF"/>
                </a:solidFill>
              </a:defRPr>
            </a:pPr>
            <a:r>
              <a:rPr lang="en-US" dirty="0"/>
              <a:t>Lab 2: </a:t>
            </a:r>
            <a:r>
              <a:rPr dirty="0"/>
              <a:t>Configure Your AI Workspace</a:t>
            </a:r>
          </a:p>
        </p:txBody>
      </p:sp>
      <p:sp>
        <p:nvSpPr>
          <p:cNvPr id="4" name="TextBox 3"/>
          <p:cNvSpPr txBox="1"/>
          <p:nvPr/>
        </p:nvSpPr>
        <p:spPr>
          <a:xfrm>
            <a:off x="457200" y="1737360"/>
            <a:ext cx="11247120" cy="457200"/>
          </a:xfrm>
          <a:prstGeom prst="rect">
            <a:avLst/>
          </a:prstGeom>
          <a:noFill/>
        </p:spPr>
        <p:txBody>
          <a:bodyPr wrap="none">
            <a:spAutoFit/>
          </a:bodyPr>
          <a:lstStyle/>
          <a:p>
            <a:pPr>
              <a:defRPr sz="1800" i="1">
                <a:solidFill>
                  <a:srgbClr val="9CA3AF"/>
                </a:solidFill>
              </a:defRPr>
            </a:pPr>
            <a:r>
              <a:t>45 minutes  •  Settings, Preferences, and your first Project</a:t>
            </a:r>
          </a:p>
        </p:txBody>
      </p:sp>
      <p:sp>
        <p:nvSpPr>
          <p:cNvPr id="5" name="Rounded Rectangle 4"/>
          <p:cNvSpPr/>
          <p:nvPr/>
        </p:nvSpPr>
        <p:spPr>
          <a:xfrm>
            <a:off x="457200" y="2468880"/>
            <a:ext cx="256032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2651760"/>
            <a:ext cx="2194560" cy="548640"/>
          </a:xfrm>
          <a:prstGeom prst="rect">
            <a:avLst/>
          </a:prstGeom>
          <a:noFill/>
        </p:spPr>
        <p:txBody>
          <a:bodyPr wrap="none">
            <a:spAutoFit/>
          </a:bodyPr>
          <a:lstStyle/>
          <a:p>
            <a:pPr algn="ctr">
              <a:defRPr sz="3000"/>
            </a:pPr>
            <a:r>
              <a:t>⚙️</a:t>
            </a:r>
          </a:p>
        </p:txBody>
      </p:sp>
      <p:sp>
        <p:nvSpPr>
          <p:cNvPr id="7" name="TextBox 6"/>
          <p:cNvSpPr txBox="1"/>
          <p:nvPr/>
        </p:nvSpPr>
        <p:spPr>
          <a:xfrm>
            <a:off x="640080" y="3200400"/>
            <a:ext cx="2194560" cy="457200"/>
          </a:xfrm>
          <a:prstGeom prst="rect">
            <a:avLst/>
          </a:prstGeom>
          <a:noFill/>
        </p:spPr>
        <p:txBody>
          <a:bodyPr wrap="none">
            <a:spAutoFit/>
          </a:bodyPr>
          <a:lstStyle/>
          <a:p>
            <a:pPr algn="ctr">
              <a:defRPr sz="1800" b="1">
                <a:solidFill>
                  <a:srgbClr val="FFFFFF"/>
                </a:solidFill>
              </a:defRPr>
            </a:pPr>
            <a:r>
              <a:t>Configure Settings</a:t>
            </a:r>
          </a:p>
        </p:txBody>
      </p:sp>
      <p:sp>
        <p:nvSpPr>
          <p:cNvPr id="8" name="TextBox 7"/>
          <p:cNvSpPr txBox="1"/>
          <p:nvPr/>
        </p:nvSpPr>
        <p:spPr>
          <a:xfrm>
            <a:off x="640080" y="3749039"/>
            <a:ext cx="2194560" cy="1645920"/>
          </a:xfrm>
          <a:prstGeom prst="rect">
            <a:avLst/>
          </a:prstGeom>
          <a:noFill/>
        </p:spPr>
        <p:txBody>
          <a:bodyPr wrap="square">
            <a:spAutoFit/>
          </a:bodyPr>
          <a:lstStyle/>
          <a:p>
            <a:pPr algn="ctr">
              <a:defRPr sz="1300">
                <a:solidFill>
                  <a:srgbClr val="D1D5DB"/>
                </a:solidFill>
              </a:defRPr>
            </a:pPr>
            <a:r>
              <a:t>Review privacy controls,</a:t>
            </a:r>
            <a:br/>
            <a:r>
              <a:t>set default model,</a:t>
            </a:r>
            <a:br/>
            <a:r>
              <a:t>enable Extended Thinking,</a:t>
            </a:r>
            <a:br/>
            <a:r>
              <a:t>verify training opt-out.</a:t>
            </a:r>
          </a:p>
        </p:txBody>
      </p:sp>
      <p:sp>
        <p:nvSpPr>
          <p:cNvPr id="9" name="TextBox 8"/>
          <p:cNvSpPr txBox="1"/>
          <p:nvPr/>
        </p:nvSpPr>
        <p:spPr>
          <a:xfrm>
            <a:off x="640080" y="5303520"/>
            <a:ext cx="2194560" cy="365760"/>
          </a:xfrm>
          <a:prstGeom prst="rect">
            <a:avLst/>
          </a:prstGeom>
          <a:noFill/>
        </p:spPr>
        <p:txBody>
          <a:bodyPr wrap="none">
            <a:spAutoFit/>
          </a:bodyPr>
          <a:lstStyle/>
          <a:p>
            <a:pPr algn="ctr">
              <a:defRPr sz="1200" i="1">
                <a:solidFill>
                  <a:srgbClr val="14B8A6"/>
                </a:solidFill>
              </a:defRPr>
            </a:pPr>
            <a:r>
              <a:t>10 min</a:t>
            </a:r>
          </a:p>
        </p:txBody>
      </p:sp>
      <p:sp>
        <p:nvSpPr>
          <p:cNvPr id="10" name="Rounded Rectangle 9"/>
          <p:cNvSpPr/>
          <p:nvPr/>
        </p:nvSpPr>
        <p:spPr>
          <a:xfrm>
            <a:off x="3291840" y="2468880"/>
            <a:ext cx="256032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474720" y="2651760"/>
            <a:ext cx="2194560" cy="548640"/>
          </a:xfrm>
          <a:prstGeom prst="rect">
            <a:avLst/>
          </a:prstGeom>
          <a:noFill/>
        </p:spPr>
        <p:txBody>
          <a:bodyPr wrap="none">
            <a:spAutoFit/>
          </a:bodyPr>
          <a:lstStyle/>
          <a:p>
            <a:pPr algn="ctr">
              <a:defRPr sz="3000"/>
            </a:pPr>
            <a:r>
              <a:t>✍️</a:t>
            </a:r>
          </a:p>
        </p:txBody>
      </p:sp>
      <p:sp>
        <p:nvSpPr>
          <p:cNvPr id="12" name="TextBox 11"/>
          <p:cNvSpPr txBox="1"/>
          <p:nvPr/>
        </p:nvSpPr>
        <p:spPr>
          <a:xfrm>
            <a:off x="3474720" y="3200400"/>
            <a:ext cx="2194560" cy="457200"/>
          </a:xfrm>
          <a:prstGeom prst="rect">
            <a:avLst/>
          </a:prstGeom>
          <a:noFill/>
        </p:spPr>
        <p:txBody>
          <a:bodyPr wrap="none">
            <a:spAutoFit/>
          </a:bodyPr>
          <a:lstStyle/>
          <a:p>
            <a:pPr algn="ctr">
              <a:defRPr sz="1800" b="1">
                <a:solidFill>
                  <a:srgbClr val="FFFFFF"/>
                </a:solidFill>
              </a:defRPr>
            </a:pPr>
            <a:r>
              <a:t>Personal Preferences</a:t>
            </a:r>
          </a:p>
        </p:txBody>
      </p:sp>
      <p:sp>
        <p:nvSpPr>
          <p:cNvPr id="13" name="TextBox 12"/>
          <p:cNvSpPr txBox="1"/>
          <p:nvPr/>
        </p:nvSpPr>
        <p:spPr>
          <a:xfrm>
            <a:off x="3474720" y="3749039"/>
            <a:ext cx="2194560" cy="1645920"/>
          </a:xfrm>
          <a:prstGeom prst="rect">
            <a:avLst/>
          </a:prstGeom>
          <a:noFill/>
        </p:spPr>
        <p:txBody>
          <a:bodyPr wrap="square">
            <a:spAutoFit/>
          </a:bodyPr>
          <a:lstStyle/>
          <a:p>
            <a:pPr algn="ctr">
              <a:defRPr sz="1300">
                <a:solidFill>
                  <a:srgbClr val="D1D5DB"/>
                </a:solidFill>
              </a:defRPr>
            </a:pPr>
            <a:r>
              <a:t>Write your preferences:</a:t>
            </a:r>
            <a:br/>
            <a:r>
              <a:t>role, tone, format style.</a:t>
            </a:r>
            <a:br/>
            <a:r>
              <a:t>Test before/after with</a:t>
            </a:r>
            <a:br/>
            <a:r>
              <a:t>the same prompt.</a:t>
            </a:r>
          </a:p>
        </p:txBody>
      </p:sp>
      <p:sp>
        <p:nvSpPr>
          <p:cNvPr id="14" name="TextBox 13"/>
          <p:cNvSpPr txBox="1"/>
          <p:nvPr/>
        </p:nvSpPr>
        <p:spPr>
          <a:xfrm>
            <a:off x="3474720" y="5303520"/>
            <a:ext cx="2194560" cy="365760"/>
          </a:xfrm>
          <a:prstGeom prst="rect">
            <a:avLst/>
          </a:prstGeom>
          <a:noFill/>
        </p:spPr>
        <p:txBody>
          <a:bodyPr wrap="none">
            <a:spAutoFit/>
          </a:bodyPr>
          <a:lstStyle/>
          <a:p>
            <a:pPr algn="ctr">
              <a:defRPr sz="1200" i="1">
                <a:solidFill>
                  <a:srgbClr val="14B8A6"/>
                </a:solidFill>
              </a:defRPr>
            </a:pPr>
            <a:r>
              <a:t>10 min</a:t>
            </a:r>
          </a:p>
        </p:txBody>
      </p:sp>
      <p:sp>
        <p:nvSpPr>
          <p:cNvPr id="15" name="Rounded Rectangle 14"/>
          <p:cNvSpPr/>
          <p:nvPr/>
        </p:nvSpPr>
        <p:spPr>
          <a:xfrm>
            <a:off x="6126480" y="2468880"/>
            <a:ext cx="256032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309360" y="2651760"/>
            <a:ext cx="2194560" cy="548640"/>
          </a:xfrm>
          <a:prstGeom prst="rect">
            <a:avLst/>
          </a:prstGeom>
          <a:noFill/>
        </p:spPr>
        <p:txBody>
          <a:bodyPr wrap="none">
            <a:spAutoFit/>
          </a:bodyPr>
          <a:lstStyle/>
          <a:p>
            <a:pPr algn="ctr">
              <a:defRPr sz="3000"/>
            </a:pPr>
            <a:r>
              <a:t>📁</a:t>
            </a:r>
          </a:p>
        </p:txBody>
      </p:sp>
      <p:sp>
        <p:nvSpPr>
          <p:cNvPr id="17" name="TextBox 16"/>
          <p:cNvSpPr txBox="1"/>
          <p:nvPr/>
        </p:nvSpPr>
        <p:spPr>
          <a:xfrm>
            <a:off x="6309360" y="3200400"/>
            <a:ext cx="2194560" cy="457200"/>
          </a:xfrm>
          <a:prstGeom prst="rect">
            <a:avLst/>
          </a:prstGeom>
          <a:noFill/>
        </p:spPr>
        <p:txBody>
          <a:bodyPr wrap="none">
            <a:spAutoFit/>
          </a:bodyPr>
          <a:lstStyle/>
          <a:p>
            <a:pPr algn="ctr">
              <a:defRPr sz="1800" b="1">
                <a:solidFill>
                  <a:srgbClr val="FFFFFF"/>
                </a:solidFill>
              </a:defRPr>
            </a:pPr>
            <a:r>
              <a:t>Build a Project</a:t>
            </a:r>
          </a:p>
        </p:txBody>
      </p:sp>
      <p:sp>
        <p:nvSpPr>
          <p:cNvPr id="18" name="TextBox 17"/>
          <p:cNvSpPr txBox="1"/>
          <p:nvPr/>
        </p:nvSpPr>
        <p:spPr>
          <a:xfrm>
            <a:off x="6309360" y="3749039"/>
            <a:ext cx="2194560" cy="1645920"/>
          </a:xfrm>
          <a:prstGeom prst="rect">
            <a:avLst/>
          </a:prstGeom>
          <a:noFill/>
        </p:spPr>
        <p:txBody>
          <a:bodyPr wrap="square">
            <a:spAutoFit/>
          </a:bodyPr>
          <a:lstStyle/>
          <a:p>
            <a:pPr algn="ctr">
              <a:defRPr sz="1300">
                <a:solidFill>
                  <a:srgbClr val="D1D5DB"/>
                </a:solidFill>
              </a:defRPr>
            </a:pPr>
            <a:r>
              <a:t>Create a Project for your</a:t>
            </a:r>
            <a:br/>
            <a:r>
              <a:t>job role. Add custom</a:t>
            </a:r>
            <a:br/>
            <a:r>
              <a:t>instructions + upload</a:t>
            </a:r>
            <a:br/>
            <a:r>
              <a:t>a work document.</a:t>
            </a:r>
          </a:p>
        </p:txBody>
      </p:sp>
      <p:sp>
        <p:nvSpPr>
          <p:cNvPr id="19" name="TextBox 18"/>
          <p:cNvSpPr txBox="1"/>
          <p:nvPr/>
        </p:nvSpPr>
        <p:spPr>
          <a:xfrm>
            <a:off x="6309360" y="5303520"/>
            <a:ext cx="2194560" cy="365760"/>
          </a:xfrm>
          <a:prstGeom prst="rect">
            <a:avLst/>
          </a:prstGeom>
          <a:noFill/>
        </p:spPr>
        <p:txBody>
          <a:bodyPr wrap="none">
            <a:spAutoFit/>
          </a:bodyPr>
          <a:lstStyle/>
          <a:p>
            <a:pPr algn="ctr">
              <a:defRPr sz="1200" i="1">
                <a:solidFill>
                  <a:srgbClr val="14B8A6"/>
                </a:solidFill>
              </a:defRPr>
            </a:pPr>
            <a:r>
              <a:t>15 min</a:t>
            </a:r>
          </a:p>
        </p:txBody>
      </p:sp>
      <p:sp>
        <p:nvSpPr>
          <p:cNvPr id="20" name="Rounded Rectangle 19"/>
          <p:cNvSpPr/>
          <p:nvPr/>
        </p:nvSpPr>
        <p:spPr>
          <a:xfrm>
            <a:off x="8961120" y="2468880"/>
            <a:ext cx="256032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9144000" y="2651760"/>
            <a:ext cx="2194560" cy="548640"/>
          </a:xfrm>
          <a:prstGeom prst="rect">
            <a:avLst/>
          </a:prstGeom>
          <a:noFill/>
        </p:spPr>
        <p:txBody>
          <a:bodyPr wrap="none">
            <a:spAutoFit/>
          </a:bodyPr>
          <a:lstStyle/>
          <a:p>
            <a:pPr algn="ctr">
              <a:defRPr sz="3000"/>
            </a:pPr>
            <a:r>
              <a:t>🧪</a:t>
            </a:r>
          </a:p>
        </p:txBody>
      </p:sp>
      <p:sp>
        <p:nvSpPr>
          <p:cNvPr id="22" name="TextBox 21"/>
          <p:cNvSpPr txBox="1"/>
          <p:nvPr/>
        </p:nvSpPr>
        <p:spPr>
          <a:xfrm>
            <a:off x="9144000" y="3200400"/>
            <a:ext cx="2194560" cy="457200"/>
          </a:xfrm>
          <a:prstGeom prst="rect">
            <a:avLst/>
          </a:prstGeom>
          <a:noFill/>
        </p:spPr>
        <p:txBody>
          <a:bodyPr wrap="none">
            <a:spAutoFit/>
          </a:bodyPr>
          <a:lstStyle/>
          <a:p>
            <a:pPr algn="ctr">
              <a:defRPr sz="1800" b="1">
                <a:solidFill>
                  <a:srgbClr val="FFFFFF"/>
                </a:solidFill>
              </a:defRPr>
            </a:pPr>
            <a:r>
              <a:t>Test Your Setup</a:t>
            </a:r>
          </a:p>
        </p:txBody>
      </p:sp>
      <p:sp>
        <p:nvSpPr>
          <p:cNvPr id="23" name="TextBox 22"/>
          <p:cNvSpPr txBox="1"/>
          <p:nvPr/>
        </p:nvSpPr>
        <p:spPr>
          <a:xfrm>
            <a:off x="9144000" y="3749039"/>
            <a:ext cx="2194560" cy="1645920"/>
          </a:xfrm>
          <a:prstGeom prst="rect">
            <a:avLst/>
          </a:prstGeom>
          <a:noFill/>
        </p:spPr>
        <p:txBody>
          <a:bodyPr wrap="square">
            <a:spAutoFit/>
          </a:bodyPr>
          <a:lstStyle/>
          <a:p>
            <a:pPr algn="ctr">
              <a:defRPr sz="1300">
                <a:solidFill>
                  <a:srgbClr val="D1D5DB"/>
                </a:solidFill>
              </a:defRPr>
            </a:pPr>
            <a:r>
              <a:t>Run 3 prompts in your</a:t>
            </a:r>
            <a:br/>
            <a:r>
              <a:t>Project. Compare output</a:t>
            </a:r>
            <a:br/>
            <a:r>
              <a:t>to a regular chat.</a:t>
            </a:r>
            <a:br/>
            <a:r>
              <a:t>Refine instructions.</a:t>
            </a:r>
          </a:p>
        </p:txBody>
      </p:sp>
      <p:sp>
        <p:nvSpPr>
          <p:cNvPr id="24" name="TextBox 23"/>
          <p:cNvSpPr txBox="1"/>
          <p:nvPr/>
        </p:nvSpPr>
        <p:spPr>
          <a:xfrm>
            <a:off x="9144000" y="5303520"/>
            <a:ext cx="2194560" cy="365760"/>
          </a:xfrm>
          <a:prstGeom prst="rect">
            <a:avLst/>
          </a:prstGeom>
          <a:noFill/>
        </p:spPr>
        <p:txBody>
          <a:bodyPr wrap="none">
            <a:spAutoFit/>
          </a:bodyPr>
          <a:lstStyle/>
          <a:p>
            <a:pPr algn="ctr">
              <a:defRPr sz="1200" i="1">
                <a:solidFill>
                  <a:srgbClr val="14B8A6"/>
                </a:solidFill>
              </a:defRPr>
            </a:pPr>
            <a:r>
              <a:t>10 min</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Lunch Break</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1 hour | 12:00 PM - 1:00 PM</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Claude Can Analyze Your Data Files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Upload → Ask → Get insights and charts</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Claude in Excel</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AI-Powered Spreadsheet Assistant</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is Claude in Excel?</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Excel add-in that sees your actual spreadsheet</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Installation Walkthrough</a:t>
            </a:r>
          </a:p>
        </p:txBody>
      </p:sp>
      <p:sp>
        <p:nvSpPr>
          <p:cNvPr id="3" name="Rectangle 2"/>
          <p:cNvSpPr/>
          <p:nvPr/>
        </p:nvSpPr>
        <p:spPr>
          <a:xfrm>
            <a:off x="1830665" y="3273552"/>
            <a:ext cx="8635745" cy="36576"/>
          </a:xfrm>
          <a:prstGeom prst="rect">
            <a:avLst/>
          </a:prstGeom>
          <a:solidFill>
            <a:srgbClr val="2D3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1464905"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464905" y="2926080"/>
            <a:ext cx="731520" cy="731520"/>
          </a:xfrm>
          <a:prstGeom prst="rect">
            <a:avLst/>
          </a:prstGeom>
          <a:noFill/>
        </p:spPr>
        <p:txBody>
          <a:bodyPr wrap="none" anchor="ctr">
            <a:spAutoFit/>
          </a:bodyPr>
          <a:lstStyle/>
          <a:p>
            <a:pPr algn="ctr">
              <a:defRPr sz="2800" b="1">
                <a:solidFill>
                  <a:srgbClr val="0B0F1A"/>
                </a:solidFill>
              </a:defRPr>
            </a:pPr>
            <a:r>
              <a:t>1</a:t>
            </a:r>
          </a:p>
        </p:txBody>
      </p:sp>
      <p:sp>
        <p:nvSpPr>
          <p:cNvPr id="6" name="TextBox 5"/>
          <p:cNvSpPr txBox="1"/>
          <p:nvPr/>
        </p:nvSpPr>
        <p:spPr>
          <a:xfrm>
            <a:off x="1007705" y="3840480"/>
            <a:ext cx="1645920" cy="1371600"/>
          </a:xfrm>
          <a:prstGeom prst="rect">
            <a:avLst/>
          </a:prstGeom>
          <a:noFill/>
        </p:spPr>
        <p:txBody>
          <a:bodyPr wrap="square">
            <a:normAutofit/>
          </a:bodyPr>
          <a:lstStyle/>
          <a:p>
            <a:pPr algn="ctr">
              <a:defRPr sz="1800" b="1">
                <a:solidFill>
                  <a:srgbClr val="FFFFFF"/>
                </a:solidFill>
              </a:defRPr>
            </a:pPr>
            <a:r>
              <a:t>Open Excel</a:t>
            </a:r>
          </a:p>
        </p:txBody>
      </p:sp>
      <p:sp>
        <p:nvSpPr>
          <p:cNvPr id="7" name="Oval 6"/>
          <p:cNvSpPr/>
          <p:nvPr/>
        </p:nvSpPr>
        <p:spPr>
          <a:xfrm>
            <a:off x="3192054"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192054" y="2926080"/>
            <a:ext cx="731520" cy="731520"/>
          </a:xfrm>
          <a:prstGeom prst="rect">
            <a:avLst/>
          </a:prstGeom>
          <a:noFill/>
        </p:spPr>
        <p:txBody>
          <a:bodyPr wrap="none" anchor="ctr">
            <a:spAutoFit/>
          </a:bodyPr>
          <a:lstStyle/>
          <a:p>
            <a:pPr algn="ctr">
              <a:defRPr sz="2800" b="1">
                <a:solidFill>
                  <a:srgbClr val="0B0F1A"/>
                </a:solidFill>
              </a:defRPr>
            </a:pPr>
            <a:r>
              <a:t>2</a:t>
            </a:r>
          </a:p>
        </p:txBody>
      </p:sp>
      <p:sp>
        <p:nvSpPr>
          <p:cNvPr id="9" name="TextBox 8"/>
          <p:cNvSpPr txBox="1"/>
          <p:nvPr/>
        </p:nvSpPr>
        <p:spPr>
          <a:xfrm>
            <a:off x="2734854" y="3840480"/>
            <a:ext cx="1645920" cy="1371600"/>
          </a:xfrm>
          <a:prstGeom prst="rect">
            <a:avLst/>
          </a:prstGeom>
          <a:noFill/>
        </p:spPr>
        <p:txBody>
          <a:bodyPr wrap="square">
            <a:normAutofit/>
          </a:bodyPr>
          <a:lstStyle/>
          <a:p>
            <a:pPr algn="ctr">
              <a:defRPr sz="1800" b="1">
                <a:solidFill>
                  <a:srgbClr val="FFFFFF"/>
                </a:solidFill>
              </a:defRPr>
            </a:pPr>
            <a:r>
              <a:t>Insert &gt; Get Add-ins</a:t>
            </a:r>
          </a:p>
        </p:txBody>
      </p:sp>
      <p:sp>
        <p:nvSpPr>
          <p:cNvPr id="10" name="Oval 9"/>
          <p:cNvSpPr/>
          <p:nvPr/>
        </p:nvSpPr>
        <p:spPr>
          <a:xfrm>
            <a:off x="4919203"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919203" y="2926080"/>
            <a:ext cx="731520" cy="731520"/>
          </a:xfrm>
          <a:prstGeom prst="rect">
            <a:avLst/>
          </a:prstGeom>
          <a:noFill/>
        </p:spPr>
        <p:txBody>
          <a:bodyPr wrap="none" anchor="ctr">
            <a:spAutoFit/>
          </a:bodyPr>
          <a:lstStyle/>
          <a:p>
            <a:pPr algn="ctr">
              <a:defRPr sz="2800" b="1">
                <a:solidFill>
                  <a:srgbClr val="0B0F1A"/>
                </a:solidFill>
              </a:defRPr>
            </a:pPr>
            <a:r>
              <a:t>3</a:t>
            </a:r>
          </a:p>
        </p:txBody>
      </p:sp>
      <p:sp>
        <p:nvSpPr>
          <p:cNvPr id="12" name="TextBox 11"/>
          <p:cNvSpPr txBox="1"/>
          <p:nvPr/>
        </p:nvSpPr>
        <p:spPr>
          <a:xfrm>
            <a:off x="4462003" y="3840480"/>
            <a:ext cx="1645920" cy="1371600"/>
          </a:xfrm>
          <a:prstGeom prst="rect">
            <a:avLst/>
          </a:prstGeom>
          <a:noFill/>
        </p:spPr>
        <p:txBody>
          <a:bodyPr wrap="square">
            <a:normAutofit/>
          </a:bodyPr>
          <a:lstStyle/>
          <a:p>
            <a:pPr algn="ctr">
              <a:defRPr sz="1800" b="1">
                <a:solidFill>
                  <a:srgbClr val="FFFFFF"/>
                </a:solidFill>
              </a:defRPr>
            </a:pPr>
            <a:r>
              <a:t>Search 'Claude in Excel'</a:t>
            </a:r>
          </a:p>
        </p:txBody>
      </p:sp>
      <p:sp>
        <p:nvSpPr>
          <p:cNvPr id="13" name="Oval 12"/>
          <p:cNvSpPr/>
          <p:nvPr/>
        </p:nvSpPr>
        <p:spPr>
          <a:xfrm>
            <a:off x="6646352"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646352" y="2926080"/>
            <a:ext cx="731520" cy="731520"/>
          </a:xfrm>
          <a:prstGeom prst="rect">
            <a:avLst/>
          </a:prstGeom>
          <a:noFill/>
        </p:spPr>
        <p:txBody>
          <a:bodyPr wrap="none" anchor="ctr">
            <a:spAutoFit/>
          </a:bodyPr>
          <a:lstStyle/>
          <a:p>
            <a:pPr algn="ctr">
              <a:defRPr sz="2800" b="1">
                <a:solidFill>
                  <a:srgbClr val="0B0F1A"/>
                </a:solidFill>
              </a:defRPr>
            </a:pPr>
            <a:r>
              <a:t>4</a:t>
            </a:r>
          </a:p>
        </p:txBody>
      </p:sp>
      <p:sp>
        <p:nvSpPr>
          <p:cNvPr id="15" name="TextBox 14"/>
          <p:cNvSpPr txBox="1"/>
          <p:nvPr/>
        </p:nvSpPr>
        <p:spPr>
          <a:xfrm>
            <a:off x="6189152" y="3840480"/>
            <a:ext cx="1645920" cy="1371600"/>
          </a:xfrm>
          <a:prstGeom prst="rect">
            <a:avLst/>
          </a:prstGeom>
          <a:noFill/>
        </p:spPr>
        <p:txBody>
          <a:bodyPr wrap="square">
            <a:normAutofit/>
          </a:bodyPr>
          <a:lstStyle/>
          <a:p>
            <a:pPr algn="ctr">
              <a:defRPr sz="1800" b="1">
                <a:solidFill>
                  <a:srgbClr val="FFFFFF"/>
                </a:solidFill>
              </a:defRPr>
            </a:pPr>
            <a:r>
              <a:rPr dirty="0"/>
              <a:t>Click Add</a:t>
            </a:r>
          </a:p>
        </p:txBody>
      </p:sp>
      <p:sp>
        <p:nvSpPr>
          <p:cNvPr id="16" name="Oval 15"/>
          <p:cNvSpPr/>
          <p:nvPr/>
        </p:nvSpPr>
        <p:spPr>
          <a:xfrm>
            <a:off x="8373501"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373501" y="2926080"/>
            <a:ext cx="731520" cy="731520"/>
          </a:xfrm>
          <a:prstGeom prst="rect">
            <a:avLst/>
          </a:prstGeom>
          <a:noFill/>
        </p:spPr>
        <p:txBody>
          <a:bodyPr wrap="none" anchor="ctr">
            <a:spAutoFit/>
          </a:bodyPr>
          <a:lstStyle/>
          <a:p>
            <a:pPr algn="ctr">
              <a:defRPr sz="2800" b="1">
                <a:solidFill>
                  <a:srgbClr val="0B0F1A"/>
                </a:solidFill>
              </a:defRPr>
            </a:pPr>
            <a:r>
              <a:t>5</a:t>
            </a:r>
          </a:p>
        </p:txBody>
      </p:sp>
      <p:sp>
        <p:nvSpPr>
          <p:cNvPr id="18" name="TextBox 17"/>
          <p:cNvSpPr txBox="1"/>
          <p:nvPr/>
        </p:nvSpPr>
        <p:spPr>
          <a:xfrm>
            <a:off x="7916301" y="3840480"/>
            <a:ext cx="1645920" cy="1371600"/>
          </a:xfrm>
          <a:prstGeom prst="rect">
            <a:avLst/>
          </a:prstGeom>
          <a:noFill/>
        </p:spPr>
        <p:txBody>
          <a:bodyPr wrap="square">
            <a:normAutofit/>
          </a:bodyPr>
          <a:lstStyle/>
          <a:p>
            <a:pPr algn="ctr">
              <a:defRPr sz="1800" b="1">
                <a:solidFill>
                  <a:srgbClr val="FFFFFF"/>
                </a:solidFill>
              </a:defRPr>
            </a:pPr>
            <a:r>
              <a:t>Sign in with Claude Enterprise</a:t>
            </a:r>
          </a:p>
        </p:txBody>
      </p:sp>
      <p:sp>
        <p:nvSpPr>
          <p:cNvPr id="19" name="Oval 18"/>
          <p:cNvSpPr/>
          <p:nvPr/>
        </p:nvSpPr>
        <p:spPr>
          <a:xfrm>
            <a:off x="10100650"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0100650" y="2926080"/>
            <a:ext cx="731520" cy="731520"/>
          </a:xfrm>
          <a:prstGeom prst="rect">
            <a:avLst/>
          </a:prstGeom>
          <a:noFill/>
        </p:spPr>
        <p:txBody>
          <a:bodyPr wrap="none" anchor="ctr">
            <a:spAutoFit/>
          </a:bodyPr>
          <a:lstStyle/>
          <a:p>
            <a:pPr algn="ctr">
              <a:defRPr sz="2800" b="1">
                <a:solidFill>
                  <a:srgbClr val="0B0F1A"/>
                </a:solidFill>
              </a:defRPr>
            </a:pPr>
            <a:r>
              <a:t>6</a:t>
            </a:r>
          </a:p>
        </p:txBody>
      </p:sp>
      <p:sp>
        <p:nvSpPr>
          <p:cNvPr id="21" name="TextBox 20"/>
          <p:cNvSpPr txBox="1"/>
          <p:nvPr/>
        </p:nvSpPr>
        <p:spPr>
          <a:xfrm>
            <a:off x="9643450" y="3840480"/>
            <a:ext cx="1645920" cy="1371600"/>
          </a:xfrm>
          <a:prstGeom prst="rect">
            <a:avLst/>
          </a:prstGeom>
          <a:noFill/>
        </p:spPr>
        <p:txBody>
          <a:bodyPr wrap="square">
            <a:normAutofit/>
          </a:bodyPr>
          <a:lstStyle/>
          <a:p>
            <a:pPr algn="ctr">
              <a:defRPr sz="1800" b="1">
                <a:solidFill>
                  <a:srgbClr val="FFFFFF"/>
                </a:solidFill>
              </a:defRPr>
            </a:pPr>
            <a:r>
              <a:t>Done!</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Three Main Use Cases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F</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2000" b="1">
                <a:solidFill>
                  <a:srgbClr val="FFFFFF"/>
                </a:solidFill>
              </a:defRPr>
            </a:pPr>
            <a:r>
              <a:t>Formula Help</a:t>
            </a:r>
            <a:br/>
            <a:r>
              <a:t>Write, debug, explain</a:t>
            </a:r>
          </a:p>
        </p:txBody>
      </p:sp>
      <p:sp>
        <p:nvSpPr>
          <p:cNvPr id="7" name="Rounded Rectangle 6"/>
          <p:cNvSpPr/>
          <p:nvPr/>
        </p:nvSpPr>
        <p:spPr>
          <a:xfrm>
            <a:off x="4952847" y="2011680"/>
            <a:ext cx="2286000" cy="3200400"/>
          </a:xfrm>
          <a:prstGeom prst="roundRect">
            <a:avLst/>
          </a:prstGeom>
          <a:solidFill>
            <a:srgbClr val="141A26"/>
          </a:solidFill>
          <a:ln w="254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D</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2000" b="1">
                <a:solidFill>
                  <a:srgbClr val="FFFFFF"/>
                </a:solidFill>
              </a:defRPr>
            </a:pPr>
            <a:r>
              <a:t>Data Analysis</a:t>
            </a:r>
            <a:br/>
            <a:r>
              <a:t>Find patterns, insights</a:t>
            </a:r>
          </a:p>
        </p:txBody>
      </p:sp>
      <p:sp>
        <p:nvSpPr>
          <p:cNvPr id="11" name="Rounded Rectangle 10"/>
          <p:cNvSpPr/>
          <p:nvPr/>
        </p:nvSpPr>
        <p:spPr>
          <a:xfrm>
            <a:off x="7604607"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2000" b="1">
                <a:solidFill>
                  <a:srgbClr val="FFFFFF"/>
                </a:solidFill>
              </a:defRPr>
            </a:pPr>
            <a:r>
              <a:t>Financial Modeling</a:t>
            </a:r>
            <a:br/>
            <a:r>
              <a:t>Build, validate models</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Formula Assistance</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Write, debug, and explain formulas</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Data Analysis Help</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Find patterns, identify trends, suggest insights</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Financial Modeling</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'Help me build a DCF model with these cash flow projections'</a:t>
            </a:r>
          </a:p>
          <a:p>
            <a:pPr>
              <a:spcBef>
                <a:spcPts val="800"/>
              </a:spcBef>
              <a:spcAft>
                <a:spcPts val="800"/>
              </a:spcAft>
              <a:defRPr sz="2200">
                <a:solidFill>
                  <a:srgbClr val="FFFFFF"/>
                </a:solidFill>
              </a:defRPr>
            </a:pPr>
            <a:r>
              <a:t>  'What assumptions am I missing in this budget forecast?'</a:t>
            </a:r>
          </a:p>
          <a:p>
            <a:pPr>
              <a:spcBef>
                <a:spcPts val="800"/>
              </a:spcBef>
              <a:spcAft>
                <a:spcPts val="800"/>
              </a:spcAft>
              <a:defRPr sz="2200">
                <a:solidFill>
                  <a:srgbClr val="FFFFFF"/>
                </a:solidFill>
              </a:defRPr>
            </a:pPr>
            <a:r>
              <a:t>  'Check my NPV formulas for errors'</a:t>
            </a:r>
          </a:p>
          <a:p>
            <a:pPr>
              <a:spcBef>
                <a:spcPts val="800"/>
              </a:spcBef>
              <a:spcAft>
                <a:spcPts val="800"/>
              </a:spcAft>
              <a:defRPr sz="2200">
                <a:solidFill>
                  <a:srgbClr val="FFFFFF"/>
                </a:solidFill>
              </a:defRPr>
            </a:pPr>
            <a:r>
              <a:t>  'Explain this IRR calculation in plain English'</a:t>
            </a:r>
          </a:p>
          <a:p>
            <a:pPr>
              <a:spcBef>
                <a:spcPts val="800"/>
              </a:spcBef>
              <a:spcAft>
                <a:spcPts val="800"/>
              </a:spcAft>
              <a:defRPr sz="2200">
                <a:solidFill>
                  <a:srgbClr val="FFFFFF"/>
                </a:solidFill>
              </a:defRPr>
            </a:pPr>
            <a:r>
              <a:t>  CAUTION: Always validate formulas - Claude helps, you verify</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Best Practices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Do's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Be specific about what you want</a:t>
            </a:r>
          </a:p>
          <a:p>
            <a:pPr>
              <a:spcAft>
                <a:spcPts val="1200"/>
              </a:spcAft>
              <a:defRPr sz="1800">
                <a:solidFill>
                  <a:srgbClr val="FFFFFF"/>
                </a:solidFill>
              </a:defRPr>
            </a:pPr>
            <a:r>
              <a:t>  Include column headers/references</a:t>
            </a:r>
          </a:p>
          <a:p>
            <a:pPr>
              <a:spcAft>
                <a:spcPts val="1200"/>
              </a:spcAft>
              <a:defRPr sz="1800">
                <a:solidFill>
                  <a:srgbClr val="FFFFFF"/>
                </a:solidFill>
              </a:defRPr>
            </a:pPr>
            <a:r>
              <a:t>  Ask Claude to explain, not just generate</a:t>
            </a:r>
          </a:p>
          <a:p>
            <a:pPr>
              <a:spcAft>
                <a:spcPts val="1200"/>
              </a:spcAft>
              <a:defRPr sz="1800">
                <a:solidFill>
                  <a:srgbClr val="FFFFFF"/>
                </a:solidFill>
              </a:defRPr>
            </a:pPr>
            <a:r>
              <a:t>  Iterate - refine the output</a:t>
            </a:r>
          </a:p>
          <a:p>
            <a:pPr>
              <a:spcAft>
                <a:spcPts val="1200"/>
              </a:spcAft>
              <a:defRPr sz="1800">
                <a:solidFill>
                  <a:srgbClr val="FFFFFF"/>
                </a:solidFill>
              </a:defRPr>
            </a:pPr>
            <a:r>
              <a:t>  Verify formulas before using</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Don'ts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Don't blindly copy formulas</a:t>
            </a:r>
          </a:p>
          <a:p>
            <a:pPr>
              <a:spcAft>
                <a:spcPts val="1200"/>
              </a:spcAft>
              <a:defRPr sz="1800">
                <a:solidFill>
                  <a:srgbClr val="FFFFFF"/>
                </a:solidFill>
              </a:defRPr>
            </a:pPr>
            <a:r>
              <a:t>  Don't share sensitive data</a:t>
            </a:r>
          </a:p>
          <a:p>
            <a:pPr>
              <a:spcAft>
                <a:spcPts val="1200"/>
              </a:spcAft>
              <a:defRPr sz="1800">
                <a:solidFill>
                  <a:srgbClr val="FFFFFF"/>
                </a:solidFill>
              </a:defRPr>
            </a:pPr>
            <a:r>
              <a:t>  Don't expect perfection on first try</a:t>
            </a:r>
          </a:p>
          <a:p>
            <a:pPr>
              <a:spcAft>
                <a:spcPts val="1200"/>
              </a:spcAft>
              <a:defRPr sz="1800">
                <a:solidFill>
                  <a:srgbClr val="FFFFFF"/>
                </a:solidFill>
              </a:defRPr>
            </a:pPr>
            <a:r>
              <a:t>  Don't skip verification steps</a:t>
            </a:r>
          </a:p>
          <a:p>
            <a:pPr>
              <a:spcAft>
                <a:spcPts val="1200"/>
              </a:spcAft>
              <a:defRPr sz="1800">
                <a:solidFill>
                  <a:srgbClr val="FFFFFF"/>
                </a:solidFill>
              </a:defRPr>
            </a:pPr>
            <a:r>
              <a:t>  Don't use for critical $ decisions without review</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Real-World Workflow Example</a:t>
            </a:r>
          </a:p>
        </p:txBody>
      </p:sp>
      <p:sp>
        <p:nvSpPr>
          <p:cNvPr id="3" name="Rounded Rectangle 2"/>
          <p:cNvSpPr/>
          <p:nvPr/>
        </p:nvSpPr>
        <p:spPr>
          <a:xfrm>
            <a:off x="2255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18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183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TextBox 5"/>
          <p:cNvSpPr txBox="1"/>
          <p:nvPr/>
        </p:nvSpPr>
        <p:spPr>
          <a:xfrm>
            <a:off x="2255367" y="1371600"/>
            <a:ext cx="822960" cy="822960"/>
          </a:xfrm>
          <a:prstGeom prst="rect">
            <a:avLst/>
          </a:prstGeom>
          <a:noFill/>
        </p:spPr>
        <p:txBody>
          <a:bodyPr wrap="none" anchor="ctr">
            <a:spAutoFit/>
          </a:bodyPr>
          <a:lstStyle/>
          <a:p>
            <a:pPr algn="ctr">
              <a:defRPr sz="2800" b="1">
                <a:solidFill>
                  <a:srgbClr val="00D4AA"/>
                </a:solidFill>
              </a:defRPr>
            </a:pPr>
            <a:r>
              <a:t>1</a:t>
            </a:r>
          </a:p>
        </p:txBody>
      </p:sp>
      <p:sp>
        <p:nvSpPr>
          <p:cNvPr id="7" name="Right Arrow 6"/>
          <p:cNvSpPr/>
          <p:nvPr/>
        </p:nvSpPr>
        <p:spPr>
          <a:xfrm>
            <a:off x="3169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3626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4289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2899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1" name="TextBox 10"/>
          <p:cNvSpPr txBox="1"/>
          <p:nvPr/>
        </p:nvSpPr>
        <p:spPr>
          <a:xfrm>
            <a:off x="3626967" y="1371600"/>
            <a:ext cx="822960" cy="822960"/>
          </a:xfrm>
          <a:prstGeom prst="rect">
            <a:avLst/>
          </a:prstGeom>
          <a:noFill/>
        </p:spPr>
        <p:txBody>
          <a:bodyPr wrap="none" anchor="ctr">
            <a:spAutoFit/>
          </a:bodyPr>
          <a:lstStyle/>
          <a:p>
            <a:pPr algn="ctr">
              <a:defRPr sz="2800" b="1">
                <a:solidFill>
                  <a:srgbClr val="00D4AA"/>
                </a:solidFill>
              </a:defRPr>
            </a:pPr>
            <a:r>
              <a:t>2</a:t>
            </a:r>
          </a:p>
        </p:txBody>
      </p:sp>
      <p:sp>
        <p:nvSpPr>
          <p:cNvPr id="12" name="Right Arrow 11"/>
          <p:cNvSpPr/>
          <p:nvPr/>
        </p:nvSpPr>
        <p:spPr>
          <a:xfrm>
            <a:off x="4541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4998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5661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6615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6" name="TextBox 15"/>
          <p:cNvSpPr txBox="1"/>
          <p:nvPr/>
        </p:nvSpPr>
        <p:spPr>
          <a:xfrm>
            <a:off x="4998567" y="1371600"/>
            <a:ext cx="822960" cy="822960"/>
          </a:xfrm>
          <a:prstGeom prst="rect">
            <a:avLst/>
          </a:prstGeom>
          <a:noFill/>
        </p:spPr>
        <p:txBody>
          <a:bodyPr wrap="none" anchor="ctr">
            <a:spAutoFit/>
          </a:bodyPr>
          <a:lstStyle/>
          <a:p>
            <a:pPr algn="ctr">
              <a:defRPr sz="2800" b="1">
                <a:solidFill>
                  <a:srgbClr val="00D4AA"/>
                </a:solidFill>
              </a:defRPr>
            </a:pPr>
            <a:r>
              <a:t>3</a:t>
            </a:r>
          </a:p>
        </p:txBody>
      </p:sp>
      <p:sp>
        <p:nvSpPr>
          <p:cNvPr id="17" name="Right Arrow 16"/>
          <p:cNvSpPr/>
          <p:nvPr/>
        </p:nvSpPr>
        <p:spPr>
          <a:xfrm>
            <a:off x="59129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6370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7033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0331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21" name="TextBox 20"/>
          <p:cNvSpPr txBox="1"/>
          <p:nvPr/>
        </p:nvSpPr>
        <p:spPr>
          <a:xfrm>
            <a:off x="6370167" y="1371600"/>
            <a:ext cx="822960" cy="822960"/>
          </a:xfrm>
          <a:prstGeom prst="rect">
            <a:avLst/>
          </a:prstGeom>
          <a:noFill/>
        </p:spPr>
        <p:txBody>
          <a:bodyPr wrap="none" anchor="ctr">
            <a:spAutoFit/>
          </a:bodyPr>
          <a:lstStyle/>
          <a:p>
            <a:pPr algn="ctr">
              <a:defRPr sz="2800" b="1">
                <a:solidFill>
                  <a:srgbClr val="00D4AA"/>
                </a:solidFill>
              </a:defRPr>
            </a:pPr>
            <a:r>
              <a:t>4</a:t>
            </a:r>
          </a:p>
        </p:txBody>
      </p:sp>
      <p:sp>
        <p:nvSpPr>
          <p:cNvPr id="22" name="Right Arrow 21"/>
          <p:cNvSpPr/>
          <p:nvPr/>
        </p:nvSpPr>
        <p:spPr>
          <a:xfrm>
            <a:off x="7284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7741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8404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84047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6" name="TextBox 25"/>
          <p:cNvSpPr txBox="1"/>
          <p:nvPr/>
        </p:nvSpPr>
        <p:spPr>
          <a:xfrm>
            <a:off x="7741767" y="1371600"/>
            <a:ext cx="822960" cy="822960"/>
          </a:xfrm>
          <a:prstGeom prst="rect">
            <a:avLst/>
          </a:prstGeom>
          <a:noFill/>
        </p:spPr>
        <p:txBody>
          <a:bodyPr wrap="none" anchor="ctr">
            <a:spAutoFit/>
          </a:bodyPr>
          <a:lstStyle/>
          <a:p>
            <a:pPr algn="ctr">
              <a:defRPr sz="2800" b="1">
                <a:solidFill>
                  <a:srgbClr val="00D4AA"/>
                </a:solidFill>
              </a:defRPr>
            </a:pPr>
            <a:r>
              <a:t>5</a:t>
            </a:r>
          </a:p>
        </p:txBody>
      </p:sp>
      <p:sp>
        <p:nvSpPr>
          <p:cNvPr id="27" name="Right Arrow 26"/>
          <p:cNvSpPr/>
          <p:nvPr/>
        </p:nvSpPr>
        <p:spPr>
          <a:xfrm>
            <a:off x="8656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9113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Oval 28"/>
          <p:cNvSpPr/>
          <p:nvPr/>
        </p:nvSpPr>
        <p:spPr>
          <a:xfrm>
            <a:off x="9776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9776307" y="1211580"/>
            <a:ext cx="320040" cy="320040"/>
          </a:xfrm>
          <a:prstGeom prst="rect">
            <a:avLst/>
          </a:prstGeom>
          <a:noFill/>
        </p:spPr>
        <p:txBody>
          <a:bodyPr wrap="none" anchor="ctr">
            <a:spAutoFit/>
          </a:bodyPr>
          <a:lstStyle/>
          <a:p>
            <a:pPr algn="ctr">
              <a:defRPr sz="1400" b="1">
                <a:solidFill>
                  <a:srgbClr val="0B0F1A"/>
                </a:solidFill>
              </a:defRPr>
            </a:pPr>
            <a:r>
              <a:t>6</a:t>
            </a:r>
          </a:p>
        </p:txBody>
      </p:sp>
      <p:sp>
        <p:nvSpPr>
          <p:cNvPr id="31" name="TextBox 30"/>
          <p:cNvSpPr txBox="1"/>
          <p:nvPr/>
        </p:nvSpPr>
        <p:spPr>
          <a:xfrm>
            <a:off x="9113367" y="1371600"/>
            <a:ext cx="822960" cy="822960"/>
          </a:xfrm>
          <a:prstGeom prst="rect">
            <a:avLst/>
          </a:prstGeom>
          <a:noFill/>
        </p:spPr>
        <p:txBody>
          <a:bodyPr wrap="none" anchor="ctr">
            <a:spAutoFit/>
          </a:bodyPr>
          <a:lstStyle/>
          <a:p>
            <a:pPr algn="ctr">
              <a:defRPr sz="2800" b="1">
                <a:solidFill>
                  <a:srgbClr val="00D4AA"/>
                </a:solidFill>
              </a:defRPr>
            </a:pPr>
            <a:r>
              <a:t>6</a:t>
            </a:r>
          </a:p>
        </p:txBody>
      </p:sp>
      <p:sp>
        <p:nvSpPr>
          <p:cNvPr id="32" name="TextBox 31"/>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33" name="TextBox 32"/>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Open expense report spreadsheet</a:t>
            </a:r>
          </a:p>
        </p:txBody>
      </p:sp>
      <p:sp>
        <p:nvSpPr>
          <p:cNvPr id="34" name="TextBox 33"/>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35" name="TextBox 34"/>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Ask: 'Compare actual vs budget, calculate variance %'</a:t>
            </a:r>
          </a:p>
        </p:txBody>
      </p:sp>
      <p:sp>
        <p:nvSpPr>
          <p:cNvPr id="36" name="TextBox 35"/>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7" name="TextBox 36"/>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Claude provides formula</a:t>
            </a:r>
          </a:p>
        </p:txBody>
      </p:sp>
      <p:sp>
        <p:nvSpPr>
          <p:cNvPr id="38" name="TextBox 37"/>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9" name="TextBox 38"/>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Ask: 'Highlight variances over 10% - how?'</a:t>
            </a:r>
          </a:p>
        </p:txBody>
      </p:sp>
      <p:sp>
        <p:nvSpPr>
          <p:cNvPr id="40" name="TextBox 39"/>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41" name="TextBox 40"/>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Claude suggests conditional formatting</a:t>
            </a:r>
          </a:p>
        </p:txBody>
      </p:sp>
      <p:sp>
        <p:nvSpPr>
          <p:cNvPr id="42" name="TextBox 41"/>
          <p:cNvSpPr txBox="1"/>
          <p:nvPr/>
        </p:nvSpPr>
        <p:spPr>
          <a:xfrm>
            <a:off x="1371600" y="5943600"/>
            <a:ext cx="457200" cy="457200"/>
          </a:xfrm>
          <a:prstGeom prst="rect">
            <a:avLst/>
          </a:prstGeom>
          <a:noFill/>
        </p:spPr>
        <p:txBody>
          <a:bodyPr wrap="none">
            <a:spAutoFit/>
          </a:bodyPr>
          <a:lstStyle/>
          <a:p>
            <a:pPr>
              <a:defRPr sz="2000" b="1">
                <a:solidFill>
                  <a:srgbClr val="00D4AA"/>
                </a:solidFill>
              </a:defRPr>
            </a:pPr>
            <a:r>
              <a:t>6</a:t>
            </a:r>
          </a:p>
        </p:txBody>
      </p:sp>
      <p:sp>
        <p:nvSpPr>
          <p:cNvPr id="43" name="TextBox 42"/>
          <p:cNvSpPr txBox="1"/>
          <p:nvPr/>
        </p:nvSpPr>
        <p:spPr>
          <a:xfrm>
            <a:off x="1828800" y="5943600"/>
            <a:ext cx="8991295" cy="548640"/>
          </a:xfrm>
          <a:prstGeom prst="rect">
            <a:avLst/>
          </a:prstGeom>
          <a:noFill/>
        </p:spPr>
        <p:txBody>
          <a:bodyPr wrap="square">
            <a:spAutoFit/>
          </a:bodyPr>
          <a:lstStyle/>
          <a:p>
            <a:pPr>
              <a:defRPr sz="1800">
                <a:solidFill>
                  <a:srgbClr val="FFFFFF"/>
                </a:solidFill>
              </a:defRPr>
            </a:pPr>
            <a:r>
              <a:t>Ask: 'Draft summary for my manager'</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When to Use Claude in Excel</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Formula help while building → Claude in Excel</a:t>
            </a:r>
          </a:p>
          <a:p>
            <a:pPr>
              <a:spcBef>
                <a:spcPts val="800"/>
              </a:spcBef>
              <a:spcAft>
                <a:spcPts val="800"/>
              </a:spcAft>
              <a:defRPr sz="2200">
                <a:solidFill>
                  <a:srgbClr val="FFFFFF"/>
                </a:solidFill>
              </a:defRPr>
            </a:pPr>
            <a:r>
              <a:t>  Deep analysis of uploaded file → Claude.ai</a:t>
            </a:r>
          </a:p>
          <a:p>
            <a:pPr>
              <a:spcBef>
                <a:spcPts val="800"/>
              </a:spcBef>
              <a:spcAft>
                <a:spcPts val="800"/>
              </a:spcAft>
              <a:defRPr sz="2200">
                <a:solidFill>
                  <a:srgbClr val="FFFFFF"/>
                </a:solidFill>
              </a:defRPr>
            </a:pPr>
            <a:r>
              <a:t>  PivotTables, chart creation → M365 Copilot</a:t>
            </a:r>
          </a:p>
          <a:p>
            <a:pPr>
              <a:spcBef>
                <a:spcPts val="800"/>
              </a:spcBef>
              <a:spcAft>
                <a:spcPts val="800"/>
              </a:spcAft>
              <a:defRPr sz="2200">
                <a:solidFill>
                  <a:srgbClr val="FFFFFF"/>
                </a:solidFill>
              </a:defRPr>
            </a:pPr>
            <a:r>
              <a:t>  Multi-file analysis → Claude.ai</a:t>
            </a:r>
          </a:p>
          <a:p>
            <a:pPr>
              <a:spcBef>
                <a:spcPts val="800"/>
              </a:spcBef>
              <a:spcAft>
                <a:spcPts val="800"/>
              </a:spcAft>
              <a:defRPr sz="2200">
                <a:solidFill>
                  <a:srgbClr val="FFFFFF"/>
                </a:solidFill>
              </a:defRPr>
            </a:pPr>
            <a:r>
              <a:t>  Learning/debugging formulas → Claude in Excel</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1F2D3D"/>
        </a:solidFill>
        <a:effectLst/>
      </p:bgPr>
    </p:bg>
    <p:spTree>
      <p:nvGrpSpPr>
        <p:cNvPr id="1" name=""/>
        <p:cNvGrpSpPr/>
        <p:nvPr/>
      </p:nvGrpSpPr>
      <p:grpSpPr>
        <a:xfrm>
          <a:off x="0" y="0"/>
          <a:ext cx="0" cy="0"/>
          <a:chOff x="0" y="0"/>
          <a:chExt cx="0" cy="0"/>
        </a:xfrm>
      </p:grpSpPr>
      <p:sp>
        <p:nvSpPr>
          <p:cNvPr id="2" name="Rounded Rectangle 1"/>
          <p:cNvSpPr/>
          <p:nvPr/>
        </p:nvSpPr>
        <p:spPr>
          <a:xfrm>
            <a:off x="457200" y="365760"/>
            <a:ext cx="1097280" cy="457200"/>
          </a:xfrm>
          <a:prstGeom prst="round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rPr sz="1600" dirty="0"/>
              <a:t>LAB </a:t>
            </a:r>
          </a:p>
        </p:txBody>
      </p:sp>
      <p:sp>
        <p:nvSpPr>
          <p:cNvPr id="3" name="TextBox 2"/>
          <p:cNvSpPr txBox="1"/>
          <p:nvPr/>
        </p:nvSpPr>
        <p:spPr>
          <a:xfrm>
            <a:off x="457200" y="1005840"/>
            <a:ext cx="5992346" cy="646331"/>
          </a:xfrm>
          <a:prstGeom prst="rect">
            <a:avLst/>
          </a:prstGeom>
          <a:noFill/>
        </p:spPr>
        <p:txBody>
          <a:bodyPr wrap="none">
            <a:spAutoFit/>
          </a:bodyPr>
          <a:lstStyle/>
          <a:p>
            <a:pPr>
              <a:defRPr sz="3600" b="1">
                <a:solidFill>
                  <a:srgbClr val="FFFFFF"/>
                </a:solidFill>
              </a:defRPr>
            </a:pPr>
            <a:r>
              <a:rPr lang="en-US" dirty="0"/>
              <a:t>Lab 3: </a:t>
            </a:r>
            <a:r>
              <a:rPr dirty="0"/>
              <a:t>Data Analysis Challenge</a:t>
            </a:r>
          </a:p>
        </p:txBody>
      </p:sp>
      <p:sp>
        <p:nvSpPr>
          <p:cNvPr id="4" name="TextBox 3"/>
          <p:cNvSpPr txBox="1"/>
          <p:nvPr/>
        </p:nvSpPr>
        <p:spPr>
          <a:xfrm>
            <a:off x="457200" y="1737360"/>
            <a:ext cx="11247120" cy="457200"/>
          </a:xfrm>
          <a:prstGeom prst="rect">
            <a:avLst/>
          </a:prstGeom>
          <a:noFill/>
        </p:spPr>
        <p:txBody>
          <a:bodyPr wrap="none">
            <a:spAutoFit/>
          </a:bodyPr>
          <a:lstStyle/>
          <a:p>
            <a:pPr>
              <a:defRPr sz="1800" i="1">
                <a:solidFill>
                  <a:srgbClr val="9CA3AF"/>
                </a:solidFill>
              </a:defRPr>
            </a:pPr>
            <a:r>
              <a:t>30 minutes  •  Analyze real data in Claude.ai and Excel</a:t>
            </a:r>
          </a:p>
        </p:txBody>
      </p:sp>
      <p:sp>
        <p:nvSpPr>
          <p:cNvPr id="5" name="Rounded Rectangle 4"/>
          <p:cNvSpPr/>
          <p:nvPr/>
        </p:nvSpPr>
        <p:spPr>
          <a:xfrm>
            <a:off x="457200" y="2468880"/>
            <a:ext cx="356616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2651760"/>
            <a:ext cx="3200400" cy="548640"/>
          </a:xfrm>
          <a:prstGeom prst="rect">
            <a:avLst/>
          </a:prstGeom>
          <a:noFill/>
        </p:spPr>
        <p:txBody>
          <a:bodyPr wrap="none">
            <a:spAutoFit/>
          </a:bodyPr>
          <a:lstStyle/>
          <a:p>
            <a:pPr algn="ctr">
              <a:defRPr sz="3000"/>
            </a:pPr>
            <a:r>
              <a:t>📊</a:t>
            </a:r>
          </a:p>
        </p:txBody>
      </p:sp>
      <p:sp>
        <p:nvSpPr>
          <p:cNvPr id="7" name="TextBox 6"/>
          <p:cNvSpPr txBox="1"/>
          <p:nvPr/>
        </p:nvSpPr>
        <p:spPr>
          <a:xfrm>
            <a:off x="640080" y="3200400"/>
            <a:ext cx="3200400" cy="457200"/>
          </a:xfrm>
          <a:prstGeom prst="rect">
            <a:avLst/>
          </a:prstGeom>
          <a:noFill/>
        </p:spPr>
        <p:txBody>
          <a:bodyPr wrap="none">
            <a:spAutoFit/>
          </a:bodyPr>
          <a:lstStyle/>
          <a:p>
            <a:pPr algn="ctr">
              <a:defRPr sz="1800" b="1">
                <a:solidFill>
                  <a:srgbClr val="FFFFFF"/>
                </a:solidFill>
              </a:defRPr>
            </a:pPr>
            <a:r>
              <a:t>Claude.ai Analysis</a:t>
            </a:r>
          </a:p>
        </p:txBody>
      </p:sp>
      <p:sp>
        <p:nvSpPr>
          <p:cNvPr id="8" name="TextBox 7"/>
          <p:cNvSpPr txBox="1"/>
          <p:nvPr/>
        </p:nvSpPr>
        <p:spPr>
          <a:xfrm>
            <a:off x="640080" y="3749039"/>
            <a:ext cx="3200400" cy="1645920"/>
          </a:xfrm>
          <a:prstGeom prst="rect">
            <a:avLst/>
          </a:prstGeom>
          <a:noFill/>
        </p:spPr>
        <p:txBody>
          <a:bodyPr wrap="square">
            <a:spAutoFit/>
          </a:bodyPr>
          <a:lstStyle/>
          <a:p>
            <a:pPr algn="ctr">
              <a:defRPr sz="1300">
                <a:solidFill>
                  <a:srgbClr val="D1D5DB"/>
                </a:solidFill>
              </a:defRPr>
            </a:pPr>
            <a:r>
              <a:t>Upload the Q4 sales CSV.</a:t>
            </a:r>
            <a:br/>
            <a:r>
              <a:t>Ask for insights, trends,</a:t>
            </a:r>
            <a:br/>
            <a:r>
              <a:t>and a summary for your VP.</a:t>
            </a:r>
            <a:br/>
            <a:r>
              <a:t>Iterate to improve output.</a:t>
            </a:r>
          </a:p>
        </p:txBody>
      </p:sp>
      <p:sp>
        <p:nvSpPr>
          <p:cNvPr id="9" name="TextBox 8"/>
          <p:cNvSpPr txBox="1"/>
          <p:nvPr/>
        </p:nvSpPr>
        <p:spPr>
          <a:xfrm>
            <a:off x="640080" y="5303520"/>
            <a:ext cx="3200400" cy="365760"/>
          </a:xfrm>
          <a:prstGeom prst="rect">
            <a:avLst/>
          </a:prstGeom>
          <a:noFill/>
        </p:spPr>
        <p:txBody>
          <a:bodyPr wrap="none">
            <a:spAutoFit/>
          </a:bodyPr>
          <a:lstStyle/>
          <a:p>
            <a:pPr algn="ctr">
              <a:defRPr sz="1200" i="1">
                <a:solidFill>
                  <a:srgbClr val="14B8A6"/>
                </a:solidFill>
              </a:defRPr>
            </a:pPr>
            <a:r>
              <a:t>10 min</a:t>
            </a:r>
          </a:p>
        </p:txBody>
      </p:sp>
      <p:sp>
        <p:nvSpPr>
          <p:cNvPr id="10" name="Rounded Rectangle 9"/>
          <p:cNvSpPr/>
          <p:nvPr/>
        </p:nvSpPr>
        <p:spPr>
          <a:xfrm>
            <a:off x="4206240" y="2468880"/>
            <a:ext cx="356616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389120" y="2651760"/>
            <a:ext cx="3200400" cy="548640"/>
          </a:xfrm>
          <a:prstGeom prst="rect">
            <a:avLst/>
          </a:prstGeom>
          <a:noFill/>
        </p:spPr>
        <p:txBody>
          <a:bodyPr wrap="none">
            <a:spAutoFit/>
          </a:bodyPr>
          <a:lstStyle/>
          <a:p>
            <a:pPr algn="ctr">
              <a:defRPr sz="3000"/>
            </a:pPr>
            <a:r>
              <a:t>📈</a:t>
            </a:r>
          </a:p>
        </p:txBody>
      </p:sp>
      <p:sp>
        <p:nvSpPr>
          <p:cNvPr id="12" name="TextBox 11"/>
          <p:cNvSpPr txBox="1"/>
          <p:nvPr/>
        </p:nvSpPr>
        <p:spPr>
          <a:xfrm>
            <a:off x="4389120" y="3200400"/>
            <a:ext cx="3200400" cy="457200"/>
          </a:xfrm>
          <a:prstGeom prst="rect">
            <a:avLst/>
          </a:prstGeom>
          <a:noFill/>
        </p:spPr>
        <p:txBody>
          <a:bodyPr wrap="none">
            <a:spAutoFit/>
          </a:bodyPr>
          <a:lstStyle/>
          <a:p>
            <a:pPr algn="ctr">
              <a:defRPr sz="1800" b="1">
                <a:solidFill>
                  <a:srgbClr val="FFFFFF"/>
                </a:solidFill>
              </a:defRPr>
            </a:pPr>
            <a:r>
              <a:t>Claude in Excel</a:t>
            </a:r>
          </a:p>
        </p:txBody>
      </p:sp>
      <p:sp>
        <p:nvSpPr>
          <p:cNvPr id="13" name="TextBox 12"/>
          <p:cNvSpPr txBox="1"/>
          <p:nvPr/>
        </p:nvSpPr>
        <p:spPr>
          <a:xfrm>
            <a:off x="4389120" y="3749039"/>
            <a:ext cx="3200400" cy="1645920"/>
          </a:xfrm>
          <a:prstGeom prst="rect">
            <a:avLst/>
          </a:prstGeom>
          <a:noFill/>
        </p:spPr>
        <p:txBody>
          <a:bodyPr wrap="square">
            <a:spAutoFit/>
          </a:bodyPr>
          <a:lstStyle/>
          <a:p>
            <a:pPr algn="ctr">
              <a:defRPr sz="1300">
                <a:solidFill>
                  <a:srgbClr val="D1D5DB"/>
                </a:solidFill>
              </a:defRPr>
            </a:pPr>
            <a:r>
              <a:t>Open the competitor data</a:t>
            </a:r>
            <a:br/>
            <a:r>
              <a:t>in Excel with Claude.</a:t>
            </a:r>
            <a:br/>
            <a:r>
              <a:t>Build a comparison matrix</a:t>
            </a:r>
            <a:br/>
            <a:r>
              <a:t>and highlight key threats.</a:t>
            </a:r>
          </a:p>
        </p:txBody>
      </p:sp>
      <p:sp>
        <p:nvSpPr>
          <p:cNvPr id="14" name="TextBox 13"/>
          <p:cNvSpPr txBox="1"/>
          <p:nvPr/>
        </p:nvSpPr>
        <p:spPr>
          <a:xfrm>
            <a:off x="4389120" y="5303520"/>
            <a:ext cx="3200400" cy="365760"/>
          </a:xfrm>
          <a:prstGeom prst="rect">
            <a:avLst/>
          </a:prstGeom>
          <a:noFill/>
        </p:spPr>
        <p:txBody>
          <a:bodyPr wrap="none">
            <a:spAutoFit/>
          </a:bodyPr>
          <a:lstStyle/>
          <a:p>
            <a:pPr algn="ctr">
              <a:defRPr sz="1200" i="1">
                <a:solidFill>
                  <a:srgbClr val="14B8A6"/>
                </a:solidFill>
              </a:defRPr>
            </a:pPr>
            <a:r>
              <a:t>10 min</a:t>
            </a:r>
          </a:p>
        </p:txBody>
      </p:sp>
      <p:sp>
        <p:nvSpPr>
          <p:cNvPr id="15" name="Rounded Rectangle 14"/>
          <p:cNvSpPr/>
          <p:nvPr/>
        </p:nvSpPr>
        <p:spPr>
          <a:xfrm>
            <a:off x="7955280" y="2468880"/>
            <a:ext cx="356616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138160" y="2651760"/>
            <a:ext cx="3200400" cy="548640"/>
          </a:xfrm>
          <a:prstGeom prst="rect">
            <a:avLst/>
          </a:prstGeom>
          <a:noFill/>
        </p:spPr>
        <p:txBody>
          <a:bodyPr wrap="none">
            <a:spAutoFit/>
          </a:bodyPr>
          <a:lstStyle/>
          <a:p>
            <a:pPr algn="ctr">
              <a:defRPr sz="3000"/>
            </a:pPr>
            <a:r>
              <a:t>📋</a:t>
            </a:r>
          </a:p>
        </p:txBody>
      </p:sp>
      <p:sp>
        <p:nvSpPr>
          <p:cNvPr id="17" name="TextBox 16"/>
          <p:cNvSpPr txBox="1"/>
          <p:nvPr/>
        </p:nvSpPr>
        <p:spPr>
          <a:xfrm>
            <a:off x="8138160" y="3200400"/>
            <a:ext cx="3200400" cy="457200"/>
          </a:xfrm>
          <a:prstGeom prst="rect">
            <a:avLst/>
          </a:prstGeom>
          <a:noFill/>
        </p:spPr>
        <p:txBody>
          <a:bodyPr wrap="none">
            <a:spAutoFit/>
          </a:bodyPr>
          <a:lstStyle/>
          <a:p>
            <a:pPr algn="ctr">
              <a:defRPr sz="1800" b="1">
                <a:solidFill>
                  <a:srgbClr val="FFFFFF"/>
                </a:solidFill>
              </a:defRPr>
            </a:pPr>
            <a:r>
              <a:t>Create Deliverable</a:t>
            </a:r>
          </a:p>
        </p:txBody>
      </p:sp>
      <p:sp>
        <p:nvSpPr>
          <p:cNvPr id="18" name="TextBox 17"/>
          <p:cNvSpPr txBox="1"/>
          <p:nvPr/>
        </p:nvSpPr>
        <p:spPr>
          <a:xfrm>
            <a:off x="8138160" y="3749039"/>
            <a:ext cx="3200400" cy="1645920"/>
          </a:xfrm>
          <a:prstGeom prst="rect">
            <a:avLst/>
          </a:prstGeom>
          <a:noFill/>
        </p:spPr>
        <p:txBody>
          <a:bodyPr wrap="square">
            <a:spAutoFit/>
          </a:bodyPr>
          <a:lstStyle/>
          <a:p>
            <a:pPr algn="ctr">
              <a:defRPr sz="1300">
                <a:solidFill>
                  <a:srgbClr val="D1D5DB"/>
                </a:solidFill>
              </a:defRPr>
            </a:pPr>
            <a:r>
              <a:t>Produce a one-page</a:t>
            </a:r>
            <a:br/>
            <a:r>
              <a:t>Competitive Battle Card</a:t>
            </a:r>
            <a:br/>
            <a:r>
              <a:t>as an artifact. Print-ready,</a:t>
            </a:r>
            <a:br/>
            <a:r>
              <a:t>scannable, actionable.</a:t>
            </a:r>
          </a:p>
        </p:txBody>
      </p:sp>
      <p:sp>
        <p:nvSpPr>
          <p:cNvPr id="19" name="TextBox 18"/>
          <p:cNvSpPr txBox="1"/>
          <p:nvPr/>
        </p:nvSpPr>
        <p:spPr>
          <a:xfrm>
            <a:off x="8138160" y="5303520"/>
            <a:ext cx="3200400" cy="365760"/>
          </a:xfrm>
          <a:prstGeom prst="rect">
            <a:avLst/>
          </a:prstGeom>
          <a:noFill/>
        </p:spPr>
        <p:txBody>
          <a:bodyPr wrap="none">
            <a:spAutoFit/>
          </a:bodyPr>
          <a:lstStyle/>
          <a:p>
            <a:pPr algn="ctr">
              <a:defRPr sz="1200" i="1">
                <a:solidFill>
                  <a:srgbClr val="14B8A6"/>
                </a:solidFill>
              </a:defRPr>
            </a:pPr>
            <a:r>
              <a:t>10 min</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Break</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15 minutes | 2:15 PM - 2:30 PM</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Artifacts &amp; File Handling</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Working with Generated Content</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are Artifacts?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Rich content Claude generates in a separate panel</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Working with Artifacts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V</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2000" b="1">
                <a:solidFill>
                  <a:srgbClr val="FFFFFF"/>
                </a:solidFill>
              </a:defRPr>
            </a:pPr>
            <a:r>
              <a:t>View</a:t>
            </a:r>
            <a:br/>
            <a:r>
              <a:t>See the generated content</a:t>
            </a:r>
          </a:p>
        </p:txBody>
      </p:sp>
      <p:sp>
        <p:nvSpPr>
          <p:cNvPr id="7" name="Rounded Rectangle 6"/>
          <p:cNvSpPr/>
          <p:nvPr/>
        </p:nvSpPr>
        <p:spPr>
          <a:xfrm>
            <a:off x="4952847" y="2011680"/>
            <a:ext cx="2286000" cy="3200400"/>
          </a:xfrm>
          <a:prstGeom prst="roundRect">
            <a:avLst/>
          </a:prstGeom>
          <a:solidFill>
            <a:srgbClr val="141A26"/>
          </a:solidFill>
          <a:ln w="254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E</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2000" b="1">
                <a:solidFill>
                  <a:srgbClr val="FFFFFF"/>
                </a:solidFill>
              </a:defRPr>
            </a:pPr>
            <a:r>
              <a:t>Edit</a:t>
            </a:r>
            <a:br/>
            <a:r>
              <a:t>Click in and make changes</a:t>
            </a:r>
          </a:p>
        </p:txBody>
      </p:sp>
      <p:sp>
        <p:nvSpPr>
          <p:cNvPr id="11" name="Rounded Rectangle 10"/>
          <p:cNvSpPr/>
          <p:nvPr/>
        </p:nvSpPr>
        <p:spPr>
          <a:xfrm>
            <a:off x="7604607"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D</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2000" b="1">
                <a:solidFill>
                  <a:srgbClr val="FFFFFF"/>
                </a:solidFill>
              </a:defRPr>
            </a:pPr>
            <a:r>
              <a:t>Download</a:t>
            </a:r>
            <a:br/>
            <a:r>
              <a:t>Save to your computer</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Common Artifact Use Cases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Email templates</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Meeting agendas</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Project proposals</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Data summaries</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Process flowcharts</a:t>
            </a:r>
          </a:p>
        </p:txBody>
      </p:sp>
      <p:sp>
        <p:nvSpPr>
          <p:cNvPr id="19" name="Oval 18"/>
          <p:cNvSpPr/>
          <p:nvPr/>
        </p:nvSpPr>
        <p:spPr>
          <a:xfrm>
            <a:off x="457200" y="54864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57200" y="54864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21" name="TextBox 20"/>
          <p:cNvSpPr txBox="1"/>
          <p:nvPr/>
        </p:nvSpPr>
        <p:spPr>
          <a:xfrm>
            <a:off x="1005840" y="5532120"/>
            <a:ext cx="10728655" cy="731520"/>
          </a:xfrm>
          <a:prstGeom prst="rect">
            <a:avLst/>
          </a:prstGeom>
          <a:noFill/>
        </p:spPr>
        <p:txBody>
          <a:bodyPr wrap="square">
            <a:spAutoFit/>
          </a:bodyPr>
          <a:lstStyle/>
          <a:p>
            <a:pPr>
              <a:defRPr sz="2200">
                <a:solidFill>
                  <a:srgbClr val="FFFFFF"/>
                </a:solidFill>
              </a:defRPr>
            </a:pPr>
            <a:r>
              <a:t>Presentation outlines</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File Upload Capabilities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Documents: PDFs, Word docs, text files</a:t>
            </a:r>
          </a:p>
          <a:p>
            <a:pPr>
              <a:spcBef>
                <a:spcPts val="800"/>
              </a:spcBef>
              <a:spcAft>
                <a:spcPts val="800"/>
              </a:spcAft>
              <a:defRPr sz="2200">
                <a:solidFill>
                  <a:srgbClr val="FFFFFF"/>
                </a:solidFill>
              </a:defRPr>
            </a:pPr>
            <a:r>
              <a:t>  Spreadsheets: Excel, CSV</a:t>
            </a:r>
          </a:p>
          <a:p>
            <a:pPr>
              <a:spcBef>
                <a:spcPts val="800"/>
              </a:spcBef>
              <a:spcAft>
                <a:spcPts val="800"/>
              </a:spcAft>
              <a:defRPr sz="2200">
                <a:solidFill>
                  <a:srgbClr val="FFFFFF"/>
                </a:solidFill>
              </a:defRPr>
            </a:pPr>
            <a:r>
              <a:t>  Images: Screenshots, diagrams, photos</a:t>
            </a:r>
          </a:p>
          <a:p>
            <a:pPr>
              <a:spcBef>
                <a:spcPts val="800"/>
              </a:spcBef>
              <a:spcAft>
                <a:spcPts val="800"/>
              </a:spcAft>
              <a:defRPr sz="2200">
                <a:solidFill>
                  <a:srgbClr val="FFFFFF"/>
                </a:solidFill>
              </a:defRPr>
            </a:pPr>
            <a:r>
              <a:t>  Code: Source files</a:t>
            </a:r>
          </a:p>
          <a:p>
            <a:pPr>
              <a:spcBef>
                <a:spcPts val="800"/>
              </a:spcBef>
              <a:spcAft>
                <a:spcPts val="800"/>
              </a:spcAft>
              <a:defRPr sz="2200">
                <a:solidFill>
                  <a:srgbClr val="FFFFFF"/>
                </a:solidFill>
              </a:defRPr>
            </a:pPr>
            <a:r>
              <a:t>  Presentations: PowerPoint (.pptx) files directly</a:t>
            </a:r>
          </a:p>
          <a:p>
            <a:pPr>
              <a:spcBef>
                <a:spcPts val="800"/>
              </a:spcBef>
              <a:spcAft>
                <a:spcPts val="800"/>
              </a:spcAft>
              <a:defRPr sz="2200">
                <a:solidFill>
                  <a:srgbClr val="FFFFFF"/>
                </a:solidFill>
              </a:defRPr>
            </a:pPr>
            <a:r>
              <a:t>  Max file sizes: 10-25 MB per file (varies by plan)</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Analyzing Uploaded Documents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Legal review: 'Review this contract for potential risks'</a:t>
            </a:r>
          </a:p>
          <a:p>
            <a:pPr>
              <a:spcBef>
                <a:spcPts val="800"/>
              </a:spcBef>
              <a:spcAft>
                <a:spcPts val="800"/>
              </a:spcAft>
              <a:defRPr sz="2200">
                <a:solidFill>
                  <a:srgbClr val="FFFFFF"/>
                </a:solidFill>
              </a:defRPr>
            </a:pPr>
            <a:r>
              <a:t>  Research synthesis: 'I've uploaded 5 papers. What are common findings?'</a:t>
            </a:r>
          </a:p>
          <a:p>
            <a:pPr>
              <a:spcBef>
                <a:spcPts val="800"/>
              </a:spcBef>
              <a:spcAft>
                <a:spcPts val="800"/>
              </a:spcAft>
              <a:defRPr sz="2200">
                <a:solidFill>
                  <a:srgbClr val="FFFFFF"/>
                </a:solidFill>
              </a:defRPr>
            </a:pPr>
            <a:r>
              <a:t>  Data extraction: 'Extract all dates, names, and dollar amounts into a table'</a:t>
            </a:r>
          </a:p>
          <a:p>
            <a:pPr>
              <a:spcBef>
                <a:spcPts val="800"/>
              </a:spcBef>
              <a:spcAft>
                <a:spcPts val="800"/>
              </a:spcAft>
              <a:defRPr sz="2200">
                <a:solidFill>
                  <a:srgbClr val="FFFFFF"/>
                </a:solidFill>
              </a:defRPr>
            </a:pPr>
            <a:r>
              <a:t>  Comparison: 'Compare these two proposals and highlight differences'</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640080"/>
          </a:xfrm>
          <a:prstGeom prst="rect">
            <a:avLst/>
          </a:prstGeom>
          <a:noFill/>
        </p:spPr>
        <p:txBody>
          <a:bodyPr wrap="none">
            <a:spAutoFit/>
          </a:bodyPr>
          <a:lstStyle/>
          <a:p>
            <a:pPr>
              <a:defRPr sz="3200" b="1">
                <a:solidFill>
                  <a:srgbClr val="FFFFFF"/>
                </a:solidFill>
              </a:defRPr>
            </a:pPr>
            <a:r>
              <a:t>Working with Images</a:t>
            </a:r>
          </a:p>
        </p:txBody>
      </p:sp>
      <p:sp>
        <p:nvSpPr>
          <p:cNvPr id="4" name="TextBox 3"/>
          <p:cNvSpPr txBox="1"/>
          <p:nvPr/>
        </p:nvSpPr>
        <p:spPr>
          <a:xfrm>
            <a:off x="914400" y="3200400"/>
            <a:ext cx="10362895" cy="914400"/>
          </a:xfrm>
          <a:prstGeom prst="rect">
            <a:avLst/>
          </a:prstGeom>
          <a:noFill/>
        </p:spPr>
        <p:txBody>
          <a:bodyPr wrap="none">
            <a:spAutoFit/>
          </a:bodyPr>
          <a:lstStyle/>
          <a:p>
            <a:pPr algn="ctr">
              <a:defRPr sz="2400" b="1">
                <a:solidFill>
                  <a:srgbClr val="8B95A5"/>
                </a:solidFill>
              </a:defRPr>
            </a:pPr>
            <a:r>
              <a:t>[Screenshot Analysis Example]</a:t>
            </a:r>
          </a:p>
        </p:txBody>
      </p:sp>
      <p:pic>
        <p:nvPicPr>
          <p:cNvPr id="5" name="Picture 4" descr="dashboard-vision-example.png"/>
          <p:cNvPicPr>
            <a:picLocks noChangeAspect="1"/>
          </p:cNvPicPr>
          <p:nvPr/>
        </p:nvPicPr>
        <p:blipFill>
          <a:blip r:embed="rId3"/>
          <a:stretch>
            <a:fillRect/>
          </a:stretch>
        </p:blipFill>
        <p:spPr>
          <a:xfrm>
            <a:off x="2799184" y="1191701"/>
            <a:ext cx="6895322" cy="4931797"/>
          </a:xfrm>
          <a:prstGeom prst="rect">
            <a:avLst/>
          </a:prstGeom>
          <a:solidFill>
            <a:srgbClr val="FFFFFF">
              <a:shade val="85000"/>
            </a:srgbClr>
          </a:solidFill>
          <a:ln w="190500" cap="rnd">
            <a:solidFill>
              <a:srgbClr val="FFFFFF"/>
            </a:solidFill>
          </a:ln>
          <a:effectLst>
            <a:outerShdw blurRad="50000" algn="tl" rotWithShape="0">
              <a:srgbClr val="000000">
                <a:alpha val="41000"/>
              </a:srgbClr>
            </a:outerShdw>
          </a:effectLst>
          <a:scene3d>
            <a:camera prst="orthographicFront"/>
            <a:lightRig rig="twoPt" dir="t">
              <a:rot lat="0" lon="0" rev="7800000"/>
            </a:lightRig>
          </a:scene3d>
          <a:sp3d contourW="6350">
            <a:bevelT w="50800" h="16510"/>
            <a:contourClr>
              <a:srgbClr val="C0C0C0"/>
            </a:contourClr>
          </a:sp3d>
        </p:spPr>
      </p:pic>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Vision Capabilities Deep Dive</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Claude can see and understand images</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Vision Use Cases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2000" b="1">
                <a:solidFill>
                  <a:srgbClr val="FFFFFF"/>
                </a:solidFill>
              </a:defRPr>
            </a:pPr>
            <a:r>
              <a:t>Chart Analysis</a:t>
            </a:r>
            <a:br/>
            <a:r>
              <a:t>Interpret graphs and data viz</a:t>
            </a:r>
          </a:p>
        </p:txBody>
      </p:sp>
      <p:sp>
        <p:nvSpPr>
          <p:cNvPr id="7" name="Rounded Rectangle 6"/>
          <p:cNvSpPr/>
          <p:nvPr/>
        </p:nvSpPr>
        <p:spPr>
          <a:xfrm>
            <a:off x="495284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2000" b="1">
                <a:solidFill>
                  <a:srgbClr val="FFFFFF"/>
                </a:solidFill>
              </a:defRPr>
            </a:pPr>
            <a:r>
              <a:t>Debugging</a:t>
            </a:r>
            <a:br/>
            <a:r>
              <a:t>Screenshots of errors/UI</a:t>
            </a:r>
          </a:p>
        </p:txBody>
      </p:sp>
      <p:sp>
        <p:nvSpPr>
          <p:cNvPr id="11" name="Rounded Rectangle 10"/>
          <p:cNvSpPr/>
          <p:nvPr/>
        </p:nvSpPr>
        <p:spPr>
          <a:xfrm>
            <a:off x="7604607" y="2011680"/>
            <a:ext cx="2286000" cy="3200400"/>
          </a:xfrm>
          <a:prstGeom prst="roundRect">
            <a:avLst/>
          </a:prstGeom>
          <a:solidFill>
            <a:srgbClr val="141A26"/>
          </a:solidFill>
          <a:ln w="254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2000" b="1">
                <a:solidFill>
                  <a:srgbClr val="FFFFFF"/>
                </a:solidFill>
              </a:defRPr>
            </a:pPr>
            <a:r>
              <a:t>Document Extraction</a:t>
            </a:r>
            <a:br/>
            <a:r>
              <a:t>OCR from scans/photos</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Tips for File-Based Work</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Do</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Name files descriptively</a:t>
            </a:r>
          </a:p>
          <a:p>
            <a:pPr>
              <a:spcAft>
                <a:spcPts val="1200"/>
              </a:spcAft>
              <a:defRPr sz="1800">
                <a:solidFill>
                  <a:srgbClr val="FFFFFF"/>
                </a:solidFill>
              </a:defRPr>
            </a:pPr>
            <a:r>
              <a:t>  Provide context about what you need</a:t>
            </a:r>
          </a:p>
          <a:p>
            <a:pPr>
              <a:spcAft>
                <a:spcPts val="1200"/>
              </a:spcAft>
              <a:defRPr sz="1800">
                <a:solidFill>
                  <a:srgbClr val="FFFFFF"/>
                </a:solidFill>
              </a:defRPr>
            </a:pPr>
            <a:r>
              <a:t>  Ask specific questions</a:t>
            </a:r>
          </a:p>
          <a:p>
            <a:pPr>
              <a:spcAft>
                <a:spcPts val="1200"/>
              </a:spcAft>
              <a:defRPr sz="1800">
                <a:solidFill>
                  <a:srgbClr val="FFFFFF"/>
                </a:solidFill>
              </a:defRPr>
            </a:pPr>
            <a:r>
              <a:t>  Use Projects for recurring analysis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Don't</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Upload without a clear question</a:t>
            </a:r>
          </a:p>
          <a:p>
            <a:pPr>
              <a:spcAft>
                <a:spcPts val="1200"/>
              </a:spcAft>
              <a:defRPr sz="1800">
                <a:solidFill>
                  <a:srgbClr val="FFFFFF"/>
                </a:solidFill>
              </a:defRPr>
            </a:pPr>
            <a:r>
              <a:t>  Forget to verify extracted data</a:t>
            </a:r>
          </a:p>
          <a:p>
            <a:pPr>
              <a:spcAft>
                <a:spcPts val="1200"/>
              </a:spcAft>
              <a:defRPr sz="1800">
                <a:solidFill>
                  <a:srgbClr val="FFFFFF"/>
                </a:solidFill>
              </a:defRPr>
            </a:pPr>
            <a:r>
              <a:t>  Upload confidential data without checking policies</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rgbClr val="1F2D3D"/>
        </a:solidFill>
        <a:effectLst/>
      </p:bgPr>
    </p:bg>
    <p:spTree>
      <p:nvGrpSpPr>
        <p:cNvPr id="1" name=""/>
        <p:cNvGrpSpPr/>
        <p:nvPr/>
      </p:nvGrpSpPr>
      <p:grpSpPr>
        <a:xfrm>
          <a:off x="0" y="0"/>
          <a:ext cx="0" cy="0"/>
          <a:chOff x="0" y="0"/>
          <a:chExt cx="0" cy="0"/>
        </a:xfrm>
      </p:grpSpPr>
      <p:sp>
        <p:nvSpPr>
          <p:cNvPr id="2" name="Rounded Rectangle 1"/>
          <p:cNvSpPr/>
          <p:nvPr/>
        </p:nvSpPr>
        <p:spPr>
          <a:xfrm>
            <a:off x="457200" y="365760"/>
            <a:ext cx="1097280" cy="457200"/>
          </a:xfrm>
          <a:prstGeom prst="round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rPr sz="1600" dirty="0"/>
              <a:t>LAB</a:t>
            </a:r>
          </a:p>
        </p:txBody>
      </p:sp>
      <p:sp>
        <p:nvSpPr>
          <p:cNvPr id="3" name="TextBox 2"/>
          <p:cNvSpPr txBox="1"/>
          <p:nvPr/>
        </p:nvSpPr>
        <p:spPr>
          <a:xfrm>
            <a:off x="457200" y="1005840"/>
            <a:ext cx="6845144" cy="646331"/>
          </a:xfrm>
          <a:prstGeom prst="rect">
            <a:avLst/>
          </a:prstGeom>
          <a:noFill/>
        </p:spPr>
        <p:txBody>
          <a:bodyPr wrap="none">
            <a:spAutoFit/>
          </a:bodyPr>
          <a:lstStyle/>
          <a:p>
            <a:pPr>
              <a:defRPr sz="3600" b="1">
                <a:solidFill>
                  <a:srgbClr val="FFFFFF"/>
                </a:solidFill>
              </a:defRPr>
            </a:pPr>
            <a:r>
              <a:rPr lang="en-US" dirty="0"/>
              <a:t>Lab 4: </a:t>
            </a:r>
            <a:r>
              <a:rPr dirty="0"/>
              <a:t>Executive Briefing Challenge</a:t>
            </a:r>
          </a:p>
        </p:txBody>
      </p:sp>
      <p:sp>
        <p:nvSpPr>
          <p:cNvPr id="4" name="TextBox 3"/>
          <p:cNvSpPr txBox="1"/>
          <p:nvPr/>
        </p:nvSpPr>
        <p:spPr>
          <a:xfrm>
            <a:off x="457200" y="1737360"/>
            <a:ext cx="11247120" cy="457200"/>
          </a:xfrm>
          <a:prstGeom prst="rect">
            <a:avLst/>
          </a:prstGeom>
          <a:noFill/>
        </p:spPr>
        <p:txBody>
          <a:bodyPr wrap="none">
            <a:spAutoFit/>
          </a:bodyPr>
          <a:lstStyle/>
          <a:p>
            <a:pPr>
              <a:defRPr sz="1800" i="1">
                <a:solidFill>
                  <a:srgbClr val="9CA3AF"/>
                </a:solidFill>
              </a:defRPr>
            </a:pPr>
            <a:r>
              <a:t>30 minutes  •  Tie it all together  •  Real deliverable you'll use Monday</a:t>
            </a:r>
          </a:p>
        </p:txBody>
      </p:sp>
      <p:sp>
        <p:nvSpPr>
          <p:cNvPr id="5" name="Rounded Rectangle 4"/>
          <p:cNvSpPr/>
          <p:nvPr/>
        </p:nvSpPr>
        <p:spPr>
          <a:xfrm>
            <a:off x="457200" y="2468880"/>
            <a:ext cx="356616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2651760"/>
            <a:ext cx="3200400" cy="548640"/>
          </a:xfrm>
          <a:prstGeom prst="rect">
            <a:avLst/>
          </a:prstGeom>
          <a:noFill/>
        </p:spPr>
        <p:txBody>
          <a:bodyPr wrap="none">
            <a:spAutoFit/>
          </a:bodyPr>
          <a:lstStyle/>
          <a:p>
            <a:pPr algn="ctr">
              <a:defRPr sz="3000"/>
            </a:pPr>
            <a:r>
              <a:t>🗂️</a:t>
            </a:r>
          </a:p>
        </p:txBody>
      </p:sp>
      <p:sp>
        <p:nvSpPr>
          <p:cNvPr id="7" name="TextBox 6"/>
          <p:cNvSpPr txBox="1"/>
          <p:nvPr/>
        </p:nvSpPr>
        <p:spPr>
          <a:xfrm>
            <a:off x="640080" y="3200400"/>
            <a:ext cx="3200400" cy="457200"/>
          </a:xfrm>
          <a:prstGeom prst="rect">
            <a:avLst/>
          </a:prstGeom>
          <a:noFill/>
        </p:spPr>
        <p:txBody>
          <a:bodyPr wrap="none">
            <a:spAutoFit/>
          </a:bodyPr>
          <a:lstStyle/>
          <a:p>
            <a:pPr algn="ctr">
              <a:defRPr sz="1800" b="1">
                <a:solidFill>
                  <a:srgbClr val="FFFFFF"/>
                </a:solidFill>
              </a:defRPr>
            </a:pPr>
            <a:r>
              <a:t>Set Up</a:t>
            </a:r>
          </a:p>
        </p:txBody>
      </p:sp>
      <p:sp>
        <p:nvSpPr>
          <p:cNvPr id="8" name="TextBox 7"/>
          <p:cNvSpPr txBox="1"/>
          <p:nvPr/>
        </p:nvSpPr>
        <p:spPr>
          <a:xfrm>
            <a:off x="640080" y="3749039"/>
            <a:ext cx="3200400" cy="1645920"/>
          </a:xfrm>
          <a:prstGeom prst="rect">
            <a:avLst/>
          </a:prstGeom>
          <a:noFill/>
        </p:spPr>
        <p:txBody>
          <a:bodyPr wrap="square">
            <a:spAutoFit/>
          </a:bodyPr>
          <a:lstStyle/>
          <a:p>
            <a:pPr algn="ctr">
              <a:defRPr sz="1300">
                <a:solidFill>
                  <a:srgbClr val="D1D5DB"/>
                </a:solidFill>
              </a:defRPr>
            </a:pPr>
            <a:r>
              <a:t>Create a Project called</a:t>
            </a:r>
            <a:br/>
            <a:r>
              <a:t>'Executive Briefing'.</a:t>
            </a:r>
            <a:br/>
            <a:r>
              <a:t>Add custom instructions.</a:t>
            </a:r>
            <a:br/>
            <a:r>
              <a:t>Upload all provided files.</a:t>
            </a:r>
          </a:p>
        </p:txBody>
      </p:sp>
      <p:sp>
        <p:nvSpPr>
          <p:cNvPr id="9" name="TextBox 8"/>
          <p:cNvSpPr txBox="1"/>
          <p:nvPr/>
        </p:nvSpPr>
        <p:spPr>
          <a:xfrm>
            <a:off x="640080" y="5303520"/>
            <a:ext cx="3200400" cy="365760"/>
          </a:xfrm>
          <a:prstGeom prst="rect">
            <a:avLst/>
          </a:prstGeom>
          <a:noFill/>
        </p:spPr>
        <p:txBody>
          <a:bodyPr wrap="none">
            <a:spAutoFit/>
          </a:bodyPr>
          <a:lstStyle/>
          <a:p>
            <a:pPr algn="ctr">
              <a:defRPr sz="1200" i="1">
                <a:solidFill>
                  <a:srgbClr val="14B8A6"/>
                </a:solidFill>
              </a:defRPr>
            </a:pPr>
            <a:r>
              <a:t>5 min</a:t>
            </a:r>
          </a:p>
        </p:txBody>
      </p:sp>
      <p:sp>
        <p:nvSpPr>
          <p:cNvPr id="10" name="Rounded Rectangle 9"/>
          <p:cNvSpPr/>
          <p:nvPr/>
        </p:nvSpPr>
        <p:spPr>
          <a:xfrm>
            <a:off x="4206240" y="2468880"/>
            <a:ext cx="356616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389120" y="2651760"/>
            <a:ext cx="3200400" cy="548640"/>
          </a:xfrm>
          <a:prstGeom prst="rect">
            <a:avLst/>
          </a:prstGeom>
          <a:noFill/>
        </p:spPr>
        <p:txBody>
          <a:bodyPr wrap="none">
            <a:spAutoFit/>
          </a:bodyPr>
          <a:lstStyle/>
          <a:p>
            <a:pPr algn="ctr">
              <a:defRPr sz="3000"/>
            </a:pPr>
            <a:r>
              <a:t>🔍</a:t>
            </a:r>
          </a:p>
        </p:txBody>
      </p:sp>
      <p:sp>
        <p:nvSpPr>
          <p:cNvPr id="12" name="TextBox 11"/>
          <p:cNvSpPr txBox="1"/>
          <p:nvPr/>
        </p:nvSpPr>
        <p:spPr>
          <a:xfrm>
            <a:off x="4389120" y="3200400"/>
            <a:ext cx="3200400" cy="457200"/>
          </a:xfrm>
          <a:prstGeom prst="rect">
            <a:avLst/>
          </a:prstGeom>
          <a:noFill/>
        </p:spPr>
        <p:txBody>
          <a:bodyPr wrap="none">
            <a:spAutoFit/>
          </a:bodyPr>
          <a:lstStyle/>
          <a:p>
            <a:pPr algn="ctr">
              <a:defRPr sz="1800" b="1">
                <a:solidFill>
                  <a:srgbClr val="FFFFFF"/>
                </a:solidFill>
              </a:defRPr>
            </a:pPr>
            <a:r>
              <a:t>Analyze &amp; Build</a:t>
            </a:r>
          </a:p>
        </p:txBody>
      </p:sp>
      <p:sp>
        <p:nvSpPr>
          <p:cNvPr id="13" name="TextBox 12"/>
          <p:cNvSpPr txBox="1"/>
          <p:nvPr/>
        </p:nvSpPr>
        <p:spPr>
          <a:xfrm>
            <a:off x="4389120" y="3749039"/>
            <a:ext cx="3200400" cy="1645920"/>
          </a:xfrm>
          <a:prstGeom prst="rect">
            <a:avLst/>
          </a:prstGeom>
          <a:noFill/>
        </p:spPr>
        <p:txBody>
          <a:bodyPr wrap="square">
            <a:spAutoFit/>
          </a:bodyPr>
          <a:lstStyle/>
          <a:p>
            <a:pPr algn="ctr">
              <a:defRPr sz="1300">
                <a:solidFill>
                  <a:srgbClr val="D1D5DB"/>
                </a:solidFill>
              </a:defRPr>
            </a:pPr>
            <a:r>
              <a:t>Use prompting skills to</a:t>
            </a:r>
            <a:br/>
            <a:r>
              <a:t>extract insights from</a:t>
            </a:r>
            <a:br/>
            <a:r>
              <a:t>multiple file types.</a:t>
            </a:r>
            <a:br/>
            <a:r>
              <a:t>Iterate until output is sharp.</a:t>
            </a:r>
          </a:p>
        </p:txBody>
      </p:sp>
      <p:sp>
        <p:nvSpPr>
          <p:cNvPr id="14" name="TextBox 13"/>
          <p:cNvSpPr txBox="1"/>
          <p:nvPr/>
        </p:nvSpPr>
        <p:spPr>
          <a:xfrm>
            <a:off x="4389120" y="5303520"/>
            <a:ext cx="3200400" cy="365760"/>
          </a:xfrm>
          <a:prstGeom prst="rect">
            <a:avLst/>
          </a:prstGeom>
          <a:noFill/>
        </p:spPr>
        <p:txBody>
          <a:bodyPr wrap="none">
            <a:spAutoFit/>
          </a:bodyPr>
          <a:lstStyle/>
          <a:p>
            <a:pPr algn="ctr">
              <a:defRPr sz="1200" i="1">
                <a:solidFill>
                  <a:srgbClr val="14B8A6"/>
                </a:solidFill>
              </a:defRPr>
            </a:pPr>
            <a:r>
              <a:t>15 min</a:t>
            </a:r>
          </a:p>
        </p:txBody>
      </p:sp>
      <p:sp>
        <p:nvSpPr>
          <p:cNvPr id="15" name="Rounded Rectangle 14"/>
          <p:cNvSpPr/>
          <p:nvPr/>
        </p:nvSpPr>
        <p:spPr>
          <a:xfrm>
            <a:off x="7955280" y="2468880"/>
            <a:ext cx="356616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138160" y="2651760"/>
            <a:ext cx="3200400" cy="548640"/>
          </a:xfrm>
          <a:prstGeom prst="rect">
            <a:avLst/>
          </a:prstGeom>
          <a:noFill/>
        </p:spPr>
        <p:txBody>
          <a:bodyPr wrap="none">
            <a:spAutoFit/>
          </a:bodyPr>
          <a:lstStyle/>
          <a:p>
            <a:pPr algn="ctr">
              <a:defRPr sz="3000"/>
            </a:pPr>
            <a:r>
              <a:t>✨</a:t>
            </a:r>
          </a:p>
        </p:txBody>
      </p:sp>
      <p:sp>
        <p:nvSpPr>
          <p:cNvPr id="17" name="TextBox 16"/>
          <p:cNvSpPr txBox="1"/>
          <p:nvPr/>
        </p:nvSpPr>
        <p:spPr>
          <a:xfrm>
            <a:off x="8138160" y="3200400"/>
            <a:ext cx="3200400" cy="457200"/>
          </a:xfrm>
          <a:prstGeom prst="rect">
            <a:avLst/>
          </a:prstGeom>
          <a:noFill/>
        </p:spPr>
        <p:txBody>
          <a:bodyPr wrap="none">
            <a:spAutoFit/>
          </a:bodyPr>
          <a:lstStyle/>
          <a:p>
            <a:pPr algn="ctr">
              <a:defRPr sz="1800" b="1">
                <a:solidFill>
                  <a:srgbClr val="FFFFFF"/>
                </a:solidFill>
              </a:defRPr>
            </a:pPr>
            <a:r>
              <a:t>Polish &amp; Present</a:t>
            </a:r>
          </a:p>
        </p:txBody>
      </p:sp>
      <p:sp>
        <p:nvSpPr>
          <p:cNvPr id="18" name="TextBox 17"/>
          <p:cNvSpPr txBox="1"/>
          <p:nvPr/>
        </p:nvSpPr>
        <p:spPr>
          <a:xfrm>
            <a:off x="8138160" y="3749039"/>
            <a:ext cx="3200400" cy="1645920"/>
          </a:xfrm>
          <a:prstGeom prst="rect">
            <a:avLst/>
          </a:prstGeom>
          <a:noFill/>
        </p:spPr>
        <p:txBody>
          <a:bodyPr wrap="square">
            <a:spAutoFit/>
          </a:bodyPr>
          <a:lstStyle/>
          <a:p>
            <a:pPr algn="ctr">
              <a:defRPr sz="1300">
                <a:solidFill>
                  <a:srgbClr val="D1D5DB"/>
                </a:solidFill>
              </a:defRPr>
            </a:pPr>
            <a:r>
              <a:t>Create a polished</a:t>
            </a:r>
            <a:br/>
            <a:r>
              <a:t>executive briefing artifact.</a:t>
            </a:r>
            <a:br/>
            <a:r>
              <a:t>Add charts, format for</a:t>
            </a:r>
            <a:br/>
            <a:r>
              <a:t>your VP. Share with class.</a:t>
            </a:r>
          </a:p>
        </p:txBody>
      </p:sp>
      <p:sp>
        <p:nvSpPr>
          <p:cNvPr id="19" name="TextBox 18"/>
          <p:cNvSpPr txBox="1"/>
          <p:nvPr/>
        </p:nvSpPr>
        <p:spPr>
          <a:xfrm>
            <a:off x="8138160" y="5303520"/>
            <a:ext cx="3200400" cy="365760"/>
          </a:xfrm>
          <a:prstGeom prst="rect">
            <a:avLst/>
          </a:prstGeom>
          <a:noFill/>
        </p:spPr>
        <p:txBody>
          <a:bodyPr wrap="none">
            <a:spAutoFit/>
          </a:bodyPr>
          <a:lstStyle/>
          <a:p>
            <a:pPr algn="ctr">
              <a:defRPr sz="1200" i="1">
                <a:solidFill>
                  <a:srgbClr val="14B8A6"/>
                </a:solidFill>
              </a:defRPr>
            </a:pPr>
            <a:r>
              <a:t>10 min</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Wrap-up &amp; Q&amp;A</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What We Covered Today</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Morning</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Claude model family</a:t>
            </a:r>
          </a:p>
          <a:p>
            <a:pPr>
              <a:spcAft>
                <a:spcPts val="1200"/>
              </a:spcAft>
              <a:defRPr sz="1800">
                <a:solidFill>
                  <a:srgbClr val="FFFFFF"/>
                </a:solidFill>
              </a:defRPr>
            </a:pPr>
            <a:r>
              <a:t>  Claude.ai interface and Projects</a:t>
            </a:r>
          </a:p>
          <a:p>
            <a:pPr>
              <a:spcAft>
                <a:spcPts val="1200"/>
              </a:spcAft>
              <a:defRPr sz="1800">
                <a:solidFill>
                  <a:srgbClr val="FFFFFF"/>
                </a:solidFill>
              </a:defRPr>
            </a:pPr>
            <a:r>
              <a:t>  Prompt engineering (GOLDEN framework)</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78D4"/>
                </a:solidFill>
              </a:defRPr>
            </a:pPr>
            <a:r>
              <a:t>Afternoon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Claude in Excel</a:t>
            </a:r>
          </a:p>
          <a:p>
            <a:pPr>
              <a:spcAft>
                <a:spcPts val="1200"/>
              </a:spcAft>
              <a:defRPr sz="1800">
                <a:solidFill>
                  <a:srgbClr val="FFFFFF"/>
                </a:solidFill>
              </a:defRPr>
            </a:pPr>
            <a:r>
              <a:t>  Artifacts</a:t>
            </a:r>
          </a:p>
          <a:p>
            <a:pPr>
              <a:spcAft>
                <a:spcPts val="1200"/>
              </a:spcAft>
              <a:defRPr sz="1800">
                <a:solidFill>
                  <a:srgbClr val="FFFFFF"/>
                </a:solidFill>
              </a:defRPr>
            </a:pPr>
            <a:r>
              <a:t>  File handling</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Key Takeaways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Be specific in prompts - GOLDEN framework helps</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Use Projects for recurring work</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Iterate, don't start over</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Claude in Excel = in-context help</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Verify AI outputs - Claude helps, you validate</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Resources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Official Docs: docs.claude.com</a:t>
            </a:r>
          </a:p>
          <a:p>
            <a:pPr>
              <a:spcBef>
                <a:spcPts val="800"/>
              </a:spcBef>
              <a:spcAft>
                <a:spcPts val="800"/>
              </a:spcAft>
              <a:defRPr sz="2200">
                <a:solidFill>
                  <a:srgbClr val="FFFFFF"/>
                </a:solidFill>
              </a:defRPr>
            </a:pPr>
            <a:r>
              <a:t>  Support: support.claude.com</a:t>
            </a:r>
          </a:p>
          <a:p>
            <a:pPr>
              <a:spcBef>
                <a:spcPts val="800"/>
              </a:spcBef>
              <a:spcAft>
                <a:spcPts val="800"/>
              </a:spcAft>
              <a:defRPr sz="2200">
                <a:solidFill>
                  <a:srgbClr val="FFFFFF"/>
                </a:solidFill>
              </a:defRPr>
            </a:pPr>
            <a:r>
              <a:t>  Anthropic Blog: anthropic.com/news</a:t>
            </a:r>
          </a:p>
          <a:p>
            <a:pPr>
              <a:spcBef>
                <a:spcPts val="800"/>
              </a:spcBef>
              <a:spcAft>
                <a:spcPts val="800"/>
              </a:spcAft>
              <a:defRPr sz="2200">
                <a:solidFill>
                  <a:srgbClr val="FFFFFF"/>
                </a:solidFill>
              </a:defRPr>
            </a:pPr>
            <a:r>
              <a:t>  Trust Center: anthropic.com/trust</a:t>
            </a:r>
          </a:p>
          <a:p>
            <a:pPr>
              <a:spcBef>
                <a:spcPts val="800"/>
              </a:spcBef>
              <a:spcAft>
                <a:spcPts val="800"/>
              </a:spcAft>
              <a:defRPr sz="2200">
                <a:solidFill>
                  <a:srgbClr val="FFFFFF"/>
                </a:solidFill>
              </a:defRPr>
            </a:pPr>
            <a:r>
              <a:t>  Handouts: Claude Code Quick Reference, Prompt Engineering Cheatsheet</a:t>
            </a: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Practice Assignment (Optional)</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Try 3 tasks with Claude this week:</a:t>
            </a:r>
          </a:p>
          <a:p>
            <a:pPr>
              <a:spcBef>
                <a:spcPts val="800"/>
              </a:spcBef>
              <a:spcAft>
                <a:spcPts val="800"/>
              </a:spcAft>
              <a:defRPr sz="2200">
                <a:solidFill>
                  <a:srgbClr val="FFFFFF"/>
                </a:solidFill>
              </a:defRPr>
            </a:pPr>
            <a:r>
              <a:t>  1. Something you do monthly (turn into a Project)</a:t>
            </a:r>
          </a:p>
          <a:p>
            <a:pPr>
              <a:spcBef>
                <a:spcPts val="800"/>
              </a:spcBef>
              <a:spcAft>
                <a:spcPts val="800"/>
              </a:spcAft>
              <a:defRPr sz="2200">
                <a:solidFill>
                  <a:srgbClr val="FFFFFF"/>
                </a:solidFill>
              </a:defRPr>
            </a:pPr>
            <a:r>
              <a:t>  2. A complex prompt (use GOLDEN framework)</a:t>
            </a:r>
          </a:p>
          <a:p>
            <a:pPr>
              <a:spcBef>
                <a:spcPts val="800"/>
              </a:spcBef>
              <a:spcAft>
                <a:spcPts val="800"/>
              </a:spcAft>
              <a:defRPr sz="2200">
                <a:solidFill>
                  <a:srgbClr val="FFFFFF"/>
                </a:solidFill>
              </a:defRPr>
            </a:pPr>
            <a:r>
              <a:t>  3. Excel formula help or data analysis</a:t>
            </a:r>
          </a:p>
          <a:p>
            <a:pPr>
              <a:spcBef>
                <a:spcPts val="800"/>
              </a:spcBef>
              <a:spcAft>
                <a:spcPts val="800"/>
              </a:spcAft>
              <a:defRPr sz="2200">
                <a:solidFill>
                  <a:srgbClr val="FFFFFF"/>
                </a:solidFill>
              </a:defRPr>
            </a:pPr>
            <a:r>
              <a:t>  Track results: What worked? Time saved?</a:t>
            </a: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Questions?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Licensing and access</a:t>
            </a:r>
          </a:p>
          <a:p>
            <a:pPr>
              <a:spcBef>
                <a:spcPts val="800"/>
              </a:spcBef>
              <a:spcAft>
                <a:spcPts val="800"/>
              </a:spcAft>
              <a:defRPr sz="2200">
                <a:solidFill>
                  <a:srgbClr val="FFFFFF"/>
                </a:solidFill>
              </a:defRPr>
            </a:pPr>
            <a:r>
              <a:t>  Security and data privacy</a:t>
            </a:r>
          </a:p>
          <a:p>
            <a:pPr>
              <a:spcBef>
                <a:spcPts val="800"/>
              </a:spcBef>
              <a:spcAft>
                <a:spcPts val="800"/>
              </a:spcAft>
              <a:defRPr sz="2200">
                <a:solidFill>
                  <a:srgbClr val="FFFFFF"/>
                </a:solidFill>
              </a:defRPr>
            </a:pPr>
            <a:r>
              <a:t>  When to use which tool</a:t>
            </a:r>
          </a:p>
          <a:p>
            <a:pPr>
              <a:spcBef>
                <a:spcPts val="800"/>
              </a:spcBef>
              <a:spcAft>
                <a:spcPts val="800"/>
              </a:spcAft>
              <a:defRPr sz="2200">
                <a:solidFill>
                  <a:srgbClr val="FFFFFF"/>
                </a:solidFill>
              </a:defRPr>
            </a:pPr>
            <a:r>
              <a:t>  Advanced prompting techniques</a:t>
            </a:r>
          </a:p>
          <a:p>
            <a:pPr>
              <a:spcBef>
                <a:spcPts val="800"/>
              </a:spcBef>
              <a:spcAft>
                <a:spcPts val="800"/>
              </a:spcAft>
              <a:defRPr sz="2200">
                <a:solidFill>
                  <a:srgbClr val="FFFFFF"/>
                </a:solidFill>
              </a:defRPr>
            </a:pPr>
            <a:r>
              <a:t>  Real-world use cases</a:t>
            </a: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2286000"/>
            <a:ext cx="11277295" cy="2286000"/>
          </a:xfrm>
          <a:prstGeom prst="rect">
            <a:avLst/>
          </a:prstGeom>
          <a:noFill/>
        </p:spPr>
        <p:txBody>
          <a:bodyPr wrap="square">
            <a:spAutoFit/>
          </a:bodyPr>
          <a:lstStyle/>
          <a:p>
            <a:pPr algn="ctr">
              <a:defRPr sz="8000" b="1">
                <a:solidFill>
                  <a:srgbClr val="00D4AA"/>
                </a:solidFill>
              </a:defRPr>
            </a:pPr>
            <a:r>
              <a:t>Thank You</a:t>
            </a:r>
          </a:p>
        </p:txBody>
      </p:sp>
      <p:sp>
        <p:nvSpPr>
          <p:cNvPr id="3" name="Rectangle 2"/>
          <p:cNvSpPr/>
          <p:nvPr/>
        </p:nvSpPr>
        <p:spPr>
          <a:xfrm>
            <a:off x="0" y="4754880"/>
            <a:ext cx="12191695"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5029200"/>
            <a:ext cx="11277295" cy="457200"/>
          </a:xfrm>
          <a:prstGeom prst="rect">
            <a:avLst/>
          </a:prstGeom>
          <a:noFill/>
        </p:spPr>
        <p:txBody>
          <a:bodyPr wrap="none">
            <a:spAutoFit/>
          </a:bodyPr>
          <a:lstStyle/>
          <a:p>
            <a:pPr algn="r">
              <a:defRPr sz="2000">
                <a:solidFill>
                  <a:srgbClr val="8B95A5"/>
                </a:solidFill>
              </a:defRPr>
            </a:pPr>
            <a:r>
              <a:t>- © 2026 AIA Copilot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58</TotalTime>
  <Words>11200</Words>
  <Application>Microsoft Office PowerPoint</Application>
  <PresentationFormat>Widescreen</PresentationFormat>
  <Paragraphs>1323</Paragraphs>
  <Slides>68</Slides>
  <Notes>56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68</vt:i4>
      </vt:variant>
    </vt:vector>
  </HeadingPairs>
  <TitlesOfParts>
    <vt:vector size="71"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Scott Hay</cp:lastModifiedBy>
  <cp:revision>1</cp:revision>
  <dcterms:created xsi:type="dcterms:W3CDTF">2013-01-27T09:14:16Z</dcterms:created>
  <dcterms:modified xsi:type="dcterms:W3CDTF">2026-02-16T05:47:01Z</dcterms:modified>
  <cp:category/>
</cp:coreProperties>
</file>