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7.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89.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89.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2926080"/>
          </a:xfrm>
          <a:prstGeom prst="rect">
            <a:avLst/>
          </a:prstGeom>
          <a:noFill/>
        </p:spPr>
        <p:txBody>
          <a:bodyPr wrap="square">
            <a:spAutoFit/>
          </a:bodyPr>
          <a:lstStyle/>
          <a:p>
            <a:pPr>
              <a:spcAft>
                <a:spcPts val="800"/>
              </a:spcAft>
              <a:defRPr sz="1600">
                <a:solidFill>
                  <a:srgbClr val="D1D5DB"/>
                </a:solidFill>
              </a:defRPr>
            </a:pPr>
            <a:r>
              <a:t>✅  Artifacts — documents, code, visualizations</a:t>
            </a:r>
          </a:p>
          <a:p>
            <a:pPr>
              <a:spcAft>
                <a:spcPts val="800"/>
              </a:spcAft>
              <a:defRPr sz="1600">
                <a:solidFill>
                  <a:srgbClr val="D1D5DB"/>
                </a:solidFill>
              </a:defRPr>
            </a:pPr>
            <a:r>
              <a:t>✅  Code execution &amp; file creation — docs, spreadsheets, PPTs, PDFs</a:t>
            </a:r>
          </a:p>
          <a:p>
            <a:pPr>
              <a:spcAft>
                <a:spcPts val="800"/>
              </a:spcAft>
              <a:defRPr sz="1600">
                <a:solidFill>
                  <a:srgbClr val="D1D5DB"/>
                </a:solidFill>
              </a:defRPr>
            </a:pPr>
            <a:r>
              <a:t>✅  Web search — Claude finds current information automatically</a:t>
            </a:r>
          </a:p>
          <a:p>
            <a:pPr>
              <a:spcAft>
                <a:spcPts val="800"/>
              </a:spcAft>
              <a:defRPr sz="1600">
                <a:solidFill>
                  <a:srgbClr val="D1D5DB"/>
                </a:solidFill>
              </a:defRPr>
            </a:pPr>
            <a:r>
              <a:t>✅  Memory — search past chats + learn from history</a:t>
            </a:r>
          </a:p>
        </p:txBody>
      </p:sp>
      <p:sp>
        <p:nvSpPr>
          <p:cNvPr id="7" name="Rounded Rectangle 6"/>
          <p:cNvSpPr/>
          <p:nvPr/>
        </p:nvSpPr>
        <p:spPr>
          <a:xfrm>
            <a:off x="621792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Controls</a:t>
            </a:r>
          </a:p>
        </p:txBody>
      </p:sp>
      <p:sp>
        <p:nvSpPr>
          <p:cNvPr id="9" name="TextBox 8"/>
          <p:cNvSpPr txBox="1"/>
          <p:nvPr/>
        </p:nvSpPr>
        <p:spPr>
          <a:xfrm>
            <a:off x="6492240" y="2468880"/>
            <a:ext cx="4754880" cy="2926080"/>
          </a:xfrm>
          <a:prstGeom prst="rect">
            <a:avLst/>
          </a:prstGeom>
          <a:noFill/>
        </p:spPr>
        <p:txBody>
          <a:bodyPr wrap="square">
            <a:spAutoFit/>
          </a:bodyPr>
          <a:lstStyle/>
          <a:p>
            <a:pPr>
              <a:spcAft>
                <a:spcPts val="800"/>
              </a:spcAft>
              <a:defRPr sz="1600">
                <a:solidFill>
                  <a:srgbClr val="D1D5DB"/>
                </a:solidFill>
              </a:defRPr>
            </a:pPr>
            <a:r>
              <a:t>🔒  Training opt-out — paid plans OFF by default</a:t>
            </a:r>
          </a:p>
          <a:p>
            <a:pPr>
              <a:spcAft>
                <a:spcPts val="800"/>
              </a:spcAft>
              <a:defRPr sz="1600">
                <a:solidFill>
                  <a:srgbClr val="D1D5DB"/>
                </a:solidFill>
              </a:defRPr>
            </a:pPr>
            <a:r>
              <a:t>🕶️  Incognito chats — not saved, not used for training, not added to memory</a:t>
            </a:r>
          </a:p>
          <a:p>
            <a:pPr>
              <a:spcAft>
                <a:spcPts val="800"/>
              </a:spcAft>
              <a:defRPr sz="1600">
                <a:solidFill>
                  <a:srgbClr val="D1D5DB"/>
                </a:solidFill>
              </a:defRPr>
            </a:pPr>
            <a:r>
              <a:t>⚠️  30-day retention for abuse detection</a:t>
            </a:r>
          </a:p>
          <a:p>
            <a:pPr>
              <a:spcAft>
                <a:spcPts val="800"/>
              </a:spcAft>
              <a:defRPr sz="1600">
                <a:solidFill>
                  <a:srgbClr val="D1D5DB"/>
                </a:solidFill>
              </a:defRPr>
            </a:pPr>
            <a:r>
              <a:t>🏢  Team/Enterprise — zero data retention, full isolation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