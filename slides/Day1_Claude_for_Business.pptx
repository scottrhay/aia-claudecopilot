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7" r:id="rId37"/>
    <p:sldId id="272" r:id="rId39"/>
    <p:sldId id="273" r:id="rId40"/>
    <p:sldId id="274" r:id="rId41"/>
    <p:sldId id="275" r:id="rId42"/>
    <p:sldId id="276" r:id="rId43"/>
    <p:sldId id="343" r:id="rId44"/>
    <p:sldId id="298" r:id="rId45"/>
    <p:sldId id="348" r:id="rId46"/>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25" r:id="rId77"/>
    <p:sldId id="326" r:id="rId78"/>
    <p:sldId id="327" r:id="rId79"/>
    <p:sldId id="345" r:id="rId80"/>
    <p:sldId id="328" r:id="rId81"/>
    <p:sldId id="329" r:id="rId82"/>
    <p:sldId id="330" r:id="rId83"/>
    <p:sldId id="331" r:id="rId84"/>
    <p:sldId id="332" r:id="rId85"/>
    <p:sldId id="333" r:id="rId86"/>
    <p:sldId id="355"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7.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35.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35.xml"/><Relationship Id="rId96" Type="http://schemas.openxmlformats.org/officeDocument/2006/relationships/slide" Target="slides/slide36.xml"/><Relationship Id="rId97" Type="http://schemas.openxmlformats.org/officeDocument/2006/relationships/slide" Target="slides/slide76.xml"/><Relationship Id="rId98" Type="http://schemas.openxmlformats.org/officeDocument/2006/relationships/slide" Target="slides/slide77.xml"/><Relationship Id="rId99" Type="http://schemas.openxmlformats.org/officeDocument/2006/relationships/slide" Target="slides/slide8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3108960"/>
          </a:xfrm>
          <a:prstGeom prst="rect">
            <a:avLst/>
          </a:prstGeom>
          <a:noFill/>
        </p:spPr>
        <p:txBody>
          <a:bodyPr wrap="square">
            <a:spAutoFit/>
          </a:bodyPr>
          <a:lstStyle/>
          <a:p>
            <a:pPr>
              <a:spcAft>
                <a:spcPts val="600"/>
              </a:spcAft>
              <a:defRPr sz="1500">
                <a:solidFill>
                  <a:srgbClr val="D1D5DB"/>
                </a:solidFill>
              </a:defRPr>
            </a:pPr>
            <a:r>
              <a:t>✅  Artifacts — documents, code, visualizations</a:t>
            </a:r>
          </a:p>
          <a:p>
            <a:pPr>
              <a:spcAft>
                <a:spcPts val="600"/>
              </a:spcAft>
              <a:defRPr sz="1500">
                <a:solidFill>
                  <a:srgbClr val="D1D5DB"/>
                </a:solidFill>
              </a:defRPr>
            </a:pPr>
            <a:r>
              <a:t>✅  AI-powered artifacts — interactive apps &amp; prototypes</a:t>
            </a:r>
          </a:p>
          <a:p>
            <a:pPr>
              <a:spcAft>
                <a:spcPts val="600"/>
              </a:spcAft>
              <a:defRPr sz="1500">
                <a:solidFill>
                  <a:srgbClr val="D1D5DB"/>
                </a:solidFill>
              </a:defRPr>
            </a:pPr>
            <a:r>
              <a:t>✅  Code execution &amp; file creation</a:t>
            </a:r>
          </a:p>
          <a:p>
            <a:pPr>
              <a:spcAft>
                <a:spcPts val="600"/>
              </a:spcAft>
              <a:defRPr sz="1500">
                <a:solidFill>
                  <a:srgbClr val="D1D5DB"/>
                </a:solidFill>
              </a:defRPr>
            </a:pPr>
            <a:r>
              <a:t>✅  Memory — search past chats + learn from history</a:t>
            </a:r>
          </a:p>
          <a:p>
            <a:pPr>
              <a:spcAft>
                <a:spcPts val="600"/>
              </a:spcAft>
              <a:defRPr sz="1500">
                <a:solidFill>
                  <a:srgbClr val="D1D5DB"/>
                </a:solidFill>
              </a:defRPr>
            </a:pPr>
            <a:r>
              <a:t>✅  Skills — repeatable instructions for any chat</a:t>
            </a:r>
          </a:p>
        </p:txBody>
      </p:sp>
      <p:sp>
        <p:nvSpPr>
          <p:cNvPr id="7" name="Rounded Rectangle 6"/>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Settings</a:t>
            </a:r>
          </a:p>
        </p:txBody>
      </p:sp>
      <p:sp>
        <p:nvSpPr>
          <p:cNvPr id="9" name="TextBox 8"/>
          <p:cNvSpPr txBox="1"/>
          <p:nvPr/>
        </p:nvSpPr>
        <p:spPr>
          <a:xfrm>
            <a:off x="6492240" y="2468880"/>
            <a:ext cx="4754880" cy="3108960"/>
          </a:xfrm>
          <a:prstGeom prst="rect">
            <a:avLst/>
          </a:prstGeom>
          <a:noFill/>
        </p:spPr>
        <p:txBody>
          <a:bodyPr wrap="square">
            <a:spAutoFit/>
          </a:bodyPr>
          <a:lstStyle/>
          <a:p>
            <a:pPr>
              <a:spcAft>
                <a:spcPts val="600"/>
              </a:spcAft>
              <a:defRPr sz="1500">
                <a:solidFill>
                  <a:srgbClr val="D1D5DB"/>
                </a:solidFill>
              </a:defRPr>
            </a:pPr>
            <a:r>
              <a:t>🔒  "Help improve Claude" — training toggle (OFF on paid)</a:t>
            </a:r>
          </a:p>
          <a:p>
            <a:pPr>
              <a:spcAft>
                <a:spcPts val="600"/>
              </a:spcAft>
              <a:defRPr sz="1500">
                <a:solidFill>
                  <a:srgbClr val="D1D5DB"/>
                </a:solidFill>
              </a:defRPr>
            </a:pPr>
            <a:r>
              <a:t>📦  Export data — download all your conversations</a:t>
            </a:r>
          </a:p>
          <a:p>
            <a:pPr>
              <a:spcAft>
                <a:spcPts val="600"/>
              </a:spcAft>
              <a:defRPr sz="1500">
                <a:solidFill>
                  <a:srgbClr val="D1D5DB"/>
                </a:solidFill>
              </a:defRPr>
            </a:pPr>
            <a:r>
              <a:t>🔗  Shared chats — control who sees what</a:t>
            </a:r>
          </a:p>
          <a:p>
            <a:pPr>
              <a:spcAft>
                <a:spcPts val="600"/>
              </a:spcAft>
              <a:defRPr sz="1500">
                <a:solidFill>
                  <a:srgbClr val="D1D5DB"/>
                </a:solidFill>
              </a:defRPr>
            </a:pPr>
            <a:r>
              <a:t>🧠  Memory preferences — view, edit, delete memories</a:t>
            </a:r>
          </a:p>
          <a:p>
            <a:pPr>
              <a:spcAft>
                <a:spcPts val="600"/>
              </a:spcAft>
              <a:defRPr sz="1500">
                <a:solidFill>
                  <a:srgbClr val="D1D5DB"/>
                </a:solidFill>
              </a:defRPr>
            </a:pPr>
            <a:r>
              <a:t>📍  Location metadata — coarse city/region (optional)</a:t>
            </a:r>
          </a:p>
          <a:p>
            <a:pPr>
              <a:spcAft>
                <a:spcPts val="600"/>
              </a:spcAft>
              <a:defRPr sz="1500">
                <a:solidFill>
                  <a:srgbClr val="D1D5DB"/>
                </a:solidFill>
              </a:defRPr>
            </a:pPr>
            <a:r>
              <a:t>🕶️  Incognito chats — not saved, not trained 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47120" cy="1371600"/>
          </a:xfrm>
          <a:prstGeom prst="rect">
            <a:avLst/>
          </a:prstGeom>
          <a:noFill/>
        </p:spPr>
        <p:txBody>
          <a:bodyPr wrap="none">
            <a:spAutoFit/>
          </a:bodyPr>
          <a:lstStyle/>
          <a:p>
            <a:pPr algn="ctr">
              <a:defRPr sz="5600" b="1">
                <a:solidFill>
                  <a:srgbClr val="FFFFFF"/>
                </a:solidFill>
              </a:defRPr>
            </a:pPr>
            <a:r>
              <a:t>Thank You</a:t>
            </a:r>
          </a:p>
        </p:txBody>
      </p:sp>
      <p:sp>
        <p:nvSpPr>
          <p:cNvPr id="3" name="TextBox 2"/>
          <p:cNvSpPr txBox="1"/>
          <p:nvPr/>
        </p:nvSpPr>
        <p:spPr>
          <a:xfrm>
            <a:off x="457200" y="3657600"/>
            <a:ext cx="11247120" cy="457200"/>
          </a:xfrm>
          <a:prstGeom prst="rect">
            <a:avLst/>
          </a:prstGeom>
          <a:noFill/>
        </p:spPr>
        <p:txBody>
          <a:bodyPr wrap="none">
            <a:spAutoFit/>
          </a:bodyPr>
          <a:lstStyle/>
          <a:p>
            <a:pPr algn="ctr">
              <a:defRPr sz="2000">
                <a:solidFill>
                  <a:srgbClr val="14B8A6"/>
                </a:solidFill>
              </a:defRPr>
            </a:pPr>
            <a:r>
              <a:t>scott@aiacopilot.com  •  aiacopilot.com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