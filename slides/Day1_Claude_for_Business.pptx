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8"/>
  </p:notesMasterIdLst>
  <p:sldIdLst>
    <p:sldId id="256" r:id="rId2"/>
    <p:sldId id="257" r:id="rId3"/>
    <p:sldId id="258" r:id="rId4"/>
    <p:sldId id="346" r:id="rId5"/>
    <p:sldId id="264" r:id="rId6"/>
    <p:sldId id="268" r:id="rId7"/>
    <p:sldId id="269" r:id="rId8"/>
    <p:sldId id="281" r:id="rId9"/>
    <p:sldId id="282" r:id="rId10"/>
    <p:sldId id="283" r:id="rId11"/>
    <p:sldId id="284" r:id="rId12"/>
    <p:sldId id="285" r:id="rId13"/>
    <p:sldId id="286" r:id="rId14"/>
    <p:sldId id="287" r:id="rId15"/>
    <p:sldId id="296" r:id="rId16"/>
    <p:sldId id="288" r:id="rId17"/>
    <p:sldId id="289" r:id="rId18"/>
    <p:sldId id="290" r:id="rId19"/>
    <p:sldId id="291" r:id="rId20"/>
    <p:sldId id="292" r:id="rId21"/>
    <p:sldId id="294" r:id="rId22"/>
    <p:sldId id="295" r:id="rId23"/>
    <p:sldId id="297" r:id="rId24"/>
    <p:sldId id="293" r:id="rId25"/>
    <p:sldId id="280" r:id="rId26"/>
    <p:sldId id="347" r:id="rId27"/>
    <p:sldId id="259" r:id="rId28"/>
    <p:sldId id="260" r:id="rId29"/>
    <p:sldId id="261" r:id="rId30"/>
    <p:sldId id="262" r:id="rId31"/>
    <p:sldId id="271" r:id="rId32"/>
    <p:sldId id="335" r:id="rId33"/>
    <p:sldId id="336" r:id="rId34"/>
    <p:sldId id="337" r:id="rId35"/>
    <p:sldId id="351" r:id="rId95"/>
    <p:sldId id="352" r:id="rId96"/>
    <p:sldId id="267" r:id="rId37"/>
    <p:sldId id="272" r:id="rId39"/>
    <p:sldId id="273" r:id="rId40"/>
    <p:sldId id="274" r:id="rId41"/>
    <p:sldId id="275" r:id="rId42"/>
    <p:sldId id="276" r:id="rId43"/>
    <p:sldId id="343" r:id="rId44"/>
    <p:sldId id="298" r:id="rId45"/>
    <p:sldId id="348" r:id="rId46"/>
    <p:sldId id="277" r:id="rId47"/>
    <p:sldId id="315" r:id="rId48"/>
    <p:sldId id="279" r:id="rId49"/>
    <p:sldId id="299" r:id="rId50"/>
    <p:sldId id="300" r:id="rId51"/>
    <p:sldId id="301" r:id="rId52"/>
    <p:sldId id="302" r:id="rId53"/>
    <p:sldId id="303" r:id="rId54"/>
    <p:sldId id="304" r:id="rId55"/>
    <p:sldId id="305" r:id="rId56"/>
    <p:sldId id="306" r:id="rId57"/>
    <p:sldId id="307" r:id="rId58"/>
    <p:sldId id="278" r:id="rId59"/>
    <p:sldId id="344" r:id="rId60"/>
    <p:sldId id="309" r:id="rId61"/>
    <p:sldId id="349" r:id="rId62"/>
    <p:sldId id="310" r:id="rId63"/>
    <p:sldId id="311" r:id="rId64"/>
    <p:sldId id="312" r:id="rId65"/>
    <p:sldId id="313" r:id="rId66"/>
    <p:sldId id="314" r:id="rId67"/>
    <p:sldId id="317" r:id="rId68"/>
    <p:sldId id="318" r:id="rId69"/>
    <p:sldId id="316" r:id="rId70"/>
    <p:sldId id="319" r:id="rId71"/>
    <p:sldId id="320" r:id="rId72"/>
    <p:sldId id="321" r:id="rId73"/>
    <p:sldId id="322" r:id="rId74"/>
    <p:sldId id="323" r:id="rId75"/>
    <p:sldId id="350" r:id="rId76"/>
    <p:sldId id="353" r:id="rId97"/>
    <p:sldId id="354" r:id="rId98"/>
    <p:sldId id="325" r:id="rId77"/>
    <p:sldId id="326" r:id="rId78"/>
    <p:sldId id="327" r:id="rId79"/>
    <p:sldId id="345" r:id="rId80"/>
    <p:sldId id="328" r:id="rId81"/>
    <p:sldId id="329" r:id="rId82"/>
    <p:sldId id="330" r:id="rId83"/>
    <p:sldId id="331" r:id="rId84"/>
    <p:sldId id="332" r:id="rId85"/>
    <p:sldId id="333" r:id="rId86"/>
    <p:sldId id="355" r:id="rId9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3" dt="2026-02-16T14:30:33.99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470"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7.xml"/><Relationship Id="rId37" Type="http://schemas.openxmlformats.org/officeDocument/2006/relationships/slide" Target="slides/slide37.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35.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 Id="rId93" Type="http://schemas.microsoft.com/office/2016/11/relationships/changesInfo" Target="changesInfos/changesInfo1.xml"/><Relationship Id="rId94" Type="http://schemas.microsoft.com/office/2015/10/relationships/revisionInfo" Target="revisionInfo.xml"/><Relationship Id="rId95" Type="http://schemas.openxmlformats.org/officeDocument/2006/relationships/slide" Target="slides/slide35.xml"/><Relationship Id="rId96" Type="http://schemas.openxmlformats.org/officeDocument/2006/relationships/slide" Target="slides/slide36.xml"/><Relationship Id="rId97" Type="http://schemas.openxmlformats.org/officeDocument/2006/relationships/slide" Target="slides/slide76.xml"/><Relationship Id="rId98" Type="http://schemas.openxmlformats.org/officeDocument/2006/relationships/slide" Target="slides/slide77.xml"/><Relationship Id="rId99" Type="http://schemas.openxmlformats.org/officeDocument/2006/relationships/slide" Target="slides/slide8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TIME: 7 min</a:t>
            </a:r>
          </a:p>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p>
            <a:r>
              <a:t>ASK THE CLASS:</a:t>
            </a:r>
          </a:p>
          <a:p>
            <a:r>
              <a:t>   "How many of you knew about the voice mode button?"</a:t>
            </a:r>
          </a:p>
          <a:p>
            <a:r>
              <a:t>   [PAUSE for 30-60 seconds]</a:t>
            </a:r>
          </a:p>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p>
            <a:r>
              <a:t>TRANSITION:</a:t>
            </a:r>
          </a:p>
          <a:p>
            <a:r>
              <a:t>   Voice mode is so powerful it deserves its own demo - let's dive deeper</a:t>
            </a:r>
          </a:p>
          <a:p/>
          <a:p>
            <a:r>
              <a:t>[ADDITIONAL CALLOUT: Research Mode]</a:t>
            </a:r>
          </a:p>
          <a:p>
            <a:r>
              <a:t>See that Research option in the plus menu? This is Claude's deep research mode. Instead of a quick answer, Claude does multi-step investigation — searches multiple sources, synthesizes findings, takes a few minutes but gives you a thorough briefing. Think of it as assigning a research analyst a question. Great for competitive analysis, market research, or any question where you need depth over speed. We won't lab this today, but try it on your own — ask Claude to research a competitor or an industry trend.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we're getting to what I consider the most important skill you'll learn today — prompt engineering. And I know that term sounds technical, but really it's just the art of communicating clearly with AI.</a:t>
            </a:r>
          </a:p>
          <a:p/>
          <a:p>
            <a:r>
              <a:t>Here's why this matters so much: the difference between a mediocre AI response and an exceptional one almost always comes down to how you asked the question. I've seen people dismiss Claude as "not that useful" simply because they were giving it vague, one-line prompts. Then when we restructure their prompt with a bit more context and specificity, they're blown away by the results.</a:t>
            </a:r>
          </a:p>
          <a:p/>
          <a:p>
            <a:r>
              <a:t>Think of it this way — if you hired a brilliant new employee and said "write me a report," you'd get something generic. But if you said "write a two-page executive summary of our Q4 sales performance, focusing on the three regions that exceeded targets, written for our board of directors who are non-technical," you'd get something much more useful. Same principle applies to Claude.</a:t>
            </a:r>
          </a:p>
          <a:p/>
          <a:p>
            <a:r>
              <a:t>Research from Anthropic shows that well-structured prompts can improve output quality by 40 to 60 percent compared to basic prompts. That's not a small difference — that's the difference between AI being a novelty and AI being a genuine productivity multiplier.</a:t>
            </a:r>
          </a:p>
          <a:p/>
          <a:p>
            <a:r>
              <a:t>Over the next several slides, we're going to cover the core techniques: giving Claude a role, providing context, being specific about format and length, using examples, and iterating on your prompts. These aren't abstract concepts — each one comes with concrete templates you can adapt for your own work.</a:t>
            </a:r>
          </a:p>
          <a:p/>
          <a:p>
            <a:r>
              <a:t>The best part? These skills transfer across every AI tool you'll ever use. Whether it's Claude, ChatGPT, Gemini, or whatever comes next — good prompting is good prompting. So let's dig into the specifics.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
        <p:nvSpPr>
          <p:cNvPr id="3" name="Notes Placeholder 2"/>
          <p:cNvSpPr>
            <a:spLocks noGrp="1"/>
          </p:cNvSpPr>
          <p:nvPr>
            <p:ph type="body" idx="1"/>
          </p:nvPr>
        </p:nvSpPr>
        <p:spPr/>
        <p:txBody>
          <a:bodyPr/>
          <a:lstStyle/>
          <a:p>
            <a:r>
              <a:t>[DURATION: 1 minute — then 45 minutes lab time]</a:t>
            </a:r>
          </a:p>
          <a:p/>
          <a:p>
            <a:r>
              <a:t>Alright, it's time for our first hands-on lab! This is a 45-minute exercise with four parts. You'll find the full instructions in your lab handout.</a:t>
            </a:r>
          </a:p>
          <a:p/>
          <a:p>
            <a:r>
              <a:t>Quick overview: Part 1 has you write a basic prompt and then improve it using the techniques we just covered. Part 2 is about role-based prompting — you'll give Claude a specific persona. Part 3 focuses on few-shot examples. And Part 4 is a mini-challenge where you'll tackle a real business scenario.</a:t>
            </a:r>
          </a:p>
          <a:p/>
          <a:p>
            <a:r>
              <a:t>Work at your own pace. I'll be walking around to help. If you finish early, try the bonus challenges at the end. Any questions before we start? Great — open Claude.ai and let's go.</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everyone, we're diving into our first section — Claude Interface and Prompt Engineering. This is really the foundation for everything else we'll cover today. We'll start by getting comfortable with the Claude.ai interface, then move into the art and science of writing effective prompts. By the end of this section, you'll have practical techniques you can use immediately. Let's get started.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TIME: 3 min</a:t>
            </a:r>
          </a:p>
          <a:p/>
          <a:p>
            <a:r>
              <a:t>OPEN WITH:</a:t>
            </a:r>
          </a:p>
          <a:p>
            <a:r>
              <a:t>   Instead of uploading files, Claude can read directly from your tools</a:t>
            </a:r>
          </a:p>
          <a:p/>
          <a:p>
            <a:r>
              <a:t>KEY POINTS:</a:t>
            </a:r>
          </a:p>
          <a:p>
            <a:r>
              <a:t>   * Integrations = Claude connects to external tools</a:t>
            </a:r>
          </a:p>
          <a:p>
            <a:r>
              <a:t>   * Currently: GitHub, Google Docs (more coming)</a:t>
            </a:r>
          </a:p>
          <a:p>
            <a:r>
              <a:t>   * No file upload needed - Claude reads directly</a:t>
            </a:r>
          </a:p>
          <a:p>
            <a:r>
              <a:t>   * Stays in sync with live data</a:t>
            </a:r>
          </a:p>
          <a:p/>
          <a:p>
            <a:r>
              <a:t>REAL-WORLD EXAMPLE:</a:t>
            </a:r>
          </a:p>
          <a:p>
            <a:r>
              <a:t>   Ask 'Review my Google Doc proposal' - Claude opens it, reads it, suggests edits. No download/upload.</a:t>
            </a:r>
          </a:p>
          <a:p/>
          <a:p>
            <a:r>
              <a:t>TRANSITION:</a:t>
            </a:r>
          </a:p>
          <a:p>
            <a:r>
              <a:t>   Let's look at each integration</a:t>
            </a:r>
          </a:p>
          <a:p/>
          <a:p>
            <a:r>
              <a:t>[ADDITIONAL CALLOUT: Canva Integration]</a:t>
            </a:r>
          </a:p>
          <a:p>
            <a:r>
              <a:t>One integration worth knowing about — Canva. In the plus menu, you'll see 'Add from Canva.' This lets you pull your Canva designs directly into Claude. Why does that matter? You can ask Claude to analyze a marketing flyer, suggest copy improvements, or adapt a design's text for a different audience — all without downloading and uploading files. If your team uses Canva for marketing materials, this is a time-saver.</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take a tour of the Claude.ai interface. When you first log in, you'll see a clean, conversational layout. On the left side, you have your conversation sidebar — this is where all your past chats live, organized by recency. You can search through them, pin important ones, and organize them into projects.</a:t>
            </a:r>
          </a:p>
          <a:p/>
          <a:p>
            <a:r>
              <a:t>In the center is your main chat area. This is where the magic happens. You type your prompt at the bottom, and Claude's responses appear above. Notice the model selector in the top area — we'll talk more about model choices in Section 2, but for now just know you can switch between different Claude models depending on your task.</a:t>
            </a:r>
          </a:p>
          <a:p/>
          <a:p>
            <a:r>
              <a:t>At the top right, you'll see your account settings and the ability to start a new conversation. One thing I want to emphasize — each conversation in Claude maintains its full context. That means Claude remembers everything you've discussed within that conversation, which is incredibly powerful for iterative work.</a:t>
            </a:r>
          </a:p>
          <a:p/>
          <a:p>
            <a:r>
              <a:t>You'll also notice the artifacts panel on the right side. When Claude generates code, documents, or other structured content, it appears in this separate panel where you can view, copy, and download it. Think of it as Claude's workspace — we'll explore this extensively in Section 4.</a:t>
            </a:r>
          </a:p>
          <a:p/>
          <a:p>
            <a:r>
              <a:t>A few practical tips: Use the slash command menu by typing "/" in the chat box to access quick actions. You can drag and drop files directly into the chat — PDFs, images, spreadsheets, code files. Claude can process files up to 30 megabytes, and it handles most common business formats.</a:t>
            </a:r>
          </a:p>
          <a:p/>
          <a:p>
            <a:r>
              <a:t>For those of you on the Teams or Enterprise plan, you'll also see shared projects and team spaces in your sidebar. This is how organizations build shared prompt libraries and collaborative workflows.</a:t>
            </a:r>
          </a:p>
          <a:p/>
          <a:p>
            <a:r>
              <a:t>Let's move on and talk about the single most important skill for getting value from Claude — prompt engineering.</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Good work on that lab, everyone! Let's take a 10-minute break. Stretch, grab coffee, check your phones. We'll reconvene and dive into Section 2 — Models, Settings, and Projects.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In this next section, we're going to look under the hood a bit. We'll cover the different Claude models and when to use each one, how to configure your settings for maximum productivity, and how to use Projects to organize your work. This is where Claude goes from being a chat tool to being your personalized AI workspace.</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walk through setting up Claude for the first time — or more likely, optimizing your existing setup, since most of you probably already have accounts.</a:t>
            </a:r>
          </a:p>
          <a:p/>
          <a:p>
            <a:r>
              <a:t>First, navigate to your Settings. You'll find this by clicking your profile icon in the bottom-left corner. The settings panel has several tabs, and we're going to hit the important ones.</a:t>
            </a:r>
          </a:p>
          <a:p/>
          <a:p>
            <a:r>
              <a:t>Start with your Profile. Add your name and a profile picture if you want — this helps when you're on a Teams plan and collaborating with colleagues. Claude will also use your name in responses, which makes the interaction feel more natural.</a:t>
            </a:r>
          </a:p>
          <a:p/>
          <a:p>
            <a:r>
              <a:t>Next, check your Plan tab. You want to confirm you're on the right tier for your needs. Free users get limited messages per day with Sonnet. Pro users at twenty dollars per month get priority access, more messages, and access to all models including Opus. Teams plans add collaboration features and admin controls.</a:t>
            </a:r>
          </a:p>
          <a:p/>
          <a:p>
            <a:r>
              <a:t>Now here's the really important one — the Preferences tab. This is where you tell Claude about yourself, your work, and how you want it to communicate. Think of it as Claude's onboarding document about you. We're going to spend the next slide going deep on this because it's a game-changer.</a:t>
            </a:r>
          </a:p>
          <a:p/>
          <a:p>
            <a:r>
              <a:t>Under the Privacy tab, review your data settings. On the Pro plan, you can opt out of your conversations being used for model training. For enterprise users, this is off by default — your data is never used for training.</a:t>
            </a:r>
          </a:p>
          <a:p/>
          <a:p>
            <a:r>
              <a:t>Finally, check your Feature toggles. Make sure artifacts, analysis tool, and web search are enabled — we'll use all of these today. If you're on a plan that supports it, enable Claude's memory feature too.</a:t>
            </a:r>
          </a:p>
          <a:p/>
          <a:p>
            <a:r>
              <a:t>Take a minute to verify your settings match what's on screen. Then let's talk about writing great preferences.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Your personal preferences are honestly one of the most underutilized features in Claude. When done well, they eliminate the need to repeat context in every single conversation. Let me show you what good preferences look like.</a:t>
            </a:r>
          </a:p>
          <a:p/>
          <a:p>
            <a:r>
              <a:t>A strong preferences document has three parts. First, who you are — your role, industry, and expertise level. Something like "I'm a marketing director at a mid-size B2B SaaS company. I have 10 years of experience but I'm not technical — explain code concepts in plain English."</a:t>
            </a:r>
          </a:p>
          <a:p/>
          <a:p>
            <a:r>
              <a:t>Second, how you want Claude to communicate. Be specific here. "Use concise, scannable formats with bullet points. Avoid corporate jargon. When I ask for a draft, give me something I can use with minimal editing — not a template full of brackets." The more specific you are, the less time you spend editing Claude's output.</a:t>
            </a:r>
          </a:p>
          <a:p/>
          <a:p>
            <a:r>
              <a:t>Third, context about your work. "Our key products are X, Y, and Z. Our target audience is enterprise IT buyers. We use HubSpot for marketing automation and Salesforce for CRM." This kind of context means Claude can give you relevant, specific answers instead of generic ones.</a:t>
            </a:r>
          </a:p>
          <a:p/>
          <a:p>
            <a:r>
              <a:t>Here's a real example that made a huge difference for one of my clients. Before preferences, they'd ask Claude to "write a blog post about cloud security" and get a generic 800-word piece. After adding detailed preferences about their company, audience, tone, and content standards, the same simple prompt produced a draft that was 90 percent ready to publish.</a:t>
            </a:r>
          </a:p>
          <a:p/>
          <a:p>
            <a:r>
              <a:t>A few tips: Keep it under 500 words — Claude reads the whole thing every conversation, so don't write a novel. Update it quarterly as your role or priorities change. And don't include sensitive data like passwords or API keys.</a:t>
            </a:r>
          </a:p>
          <a:p/>
          <a:p>
            <a:r>
              <a:t>Let's move on to a brand-new feature that takes personalization even further — Claude's Memory.</a:t>
            </a:r>
          </a:p>
          <a:p/>
          <a:p>
            <a:r>
              <a:t>[ADDITIONAL CALLOUT: Use Style]</a:t>
            </a:r>
          </a:p>
          <a:p>
            <a:r>
              <a:t>Quick tip — in the plus menu at the bottom of any chat, you'll see 'Use style.' This lets you apply a preset writing style to that specific conversation. Anthropic includes defaults like Formal, Concise, and Explanatory, but you can also create your own custom styles. Think of it this way: Personal Preferences are your global defaults. Use Style is your per-conversation override. Writing a board report? Switch to Formal. Quick Slack message? Switch to Concise. Preferences set the baseline, styles let you flex.</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one of the most exciting recent additions to Claude — Memory. This feature, which rolled out to Pro and Teams users, allows Claude to remember information across conversations. This is a fundamental shift from how AI assistants have traditionally worked.</a:t>
            </a:r>
          </a:p>
          <a:p/>
          <a:p>
            <a:r>
              <a:t>Here's how it works. As you chat with Claude, it can save key facts, preferences, and context to its memory. You can also explicitly tell Claude to "remember that our fiscal year starts in April" or "remember I prefer Python over JavaScript." These memories persist across all your future conversations.</a:t>
            </a:r>
          </a:p>
          <a:p/>
          <a:p>
            <a:r>
              <a:t>There are three ways to interact with Memory. First, you can search your past chats — Claude indexes your conversation history so you can find that analysis you did three weeks ago. Second, you can generate memories — Claude can proactively suggest things worth remembering based on your conversations. Third, you can view and edit your memories directly in Settings under the Memory tab.</a:t>
            </a:r>
          </a:p>
          <a:p/>
          <a:p>
            <a:r>
              <a:t>This is particularly powerful for ongoing projects. Imagine you're working on a quarterly business review over several days. With Memory, Claude remembers the data sources you're using, the format your CEO prefers, and the key metrics you've already analyzed. You don't have to re-explain any of that in each new conversation.</a:t>
            </a:r>
          </a:p>
          <a:p/>
          <a:p>
            <a:r>
              <a:t>A few important things to know. Memory is user-specific — your memories are yours alone, even on a Teams plan. You have full control — you can view, edit, or delete any memory at any time. And if you're having a sensitive conversation you don't want remembered, you can use Incognito mode, which we'll cover next.</a:t>
            </a:r>
          </a:p>
          <a:p/>
          <a:p>
            <a:r>
              <a:t>For business users, think of Memory as Claude building an increasingly accurate mental model of you and your work. The more you use it, the better it gets. After a few weeks of regular use, many users report that Claude feels less like a tool and more like a colleague who actually knows your business.</a:t>
            </a:r>
          </a:p>
          <a:p/>
          <a:p>
            <a:r>
              <a:t>Let's look at the full set of capability and privacy controls available to you.</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do a quick tour of all the capability toggles and privacy controls you have access to. This is important because Claude's feature set is modular — you control what's on and what's off.</a:t>
            </a:r>
          </a:p>
          <a:p/>
          <a:p>
            <a:r>
              <a:t>Under Feature Controls, you'll find toggles for Artifacts — that's the side panel where Claude renders documents, code, and visualizations. Make sure this is on. Analysis Tool lets Claude write and execute Python code to analyze data, create charts, and do calculations. Definitely keep this on — we'll use it heavily in Section 3. Web Search allows Claude to search the internet for current information. This is invaluable for research tasks, competitive analysis, and anything where you need up-to-date data.</a:t>
            </a:r>
          </a:p>
          <a:p/>
          <a:p>
            <a:r>
              <a:t>Memory, which we just discussed, can be toggled on or off globally. When it's on, Claude saves context across conversations. When it's off, every conversation starts fresh with no memory of previous chats.</a:t>
            </a:r>
          </a:p>
          <a:p/>
          <a:p>
            <a:r>
              <a:t>Now for privacy controls — this is where it gets really important for business users. Incognito Chats allow you to have conversations that are not saved to your history and not used for any purpose beyond that session. Think of it as private browsing for AI. Use this for sensitive HR discussions, confidential financial analysis, or anything you don't want persisted.</a:t>
            </a:r>
          </a:p>
          <a:p/>
          <a:p>
            <a:r>
              <a:t>Training Data Opt-Out is available on Pro plans and above. When enabled, your conversations are never used to train or improve Anthropic's models. For Enterprise and Teams plans, this is the default — your data is completely siloed.</a:t>
            </a:r>
          </a:p>
          <a:p/>
          <a:p>
            <a:r>
              <a:t>I want to emphasize something — Anthropic has been a leader in AI safety and privacy. Unlike some competitors, they've built these controls in from day one, not as an afterthought. For regulated industries — healthcare, finance, legal — these controls are what make Claude viable for professional use.</a:t>
            </a:r>
          </a:p>
          <a:p/>
          <a:p>
            <a:r>
              <a:t>Take a moment to review your settings and make sure everything is configured the way you want. In our next lab, you'll formalize all of these choices.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45 minutes lab time]</a:t>
            </a:r>
          </a:p>
          <a:p/>
          <a:p>
            <a:r>
              <a:t>Time for Lab 2! This is your chance to build out your personalized Claude workspace. You have 45 minutes and two main tasks.</a:t>
            </a:r>
          </a:p>
          <a:p/>
          <a:p>
            <a:r>
              <a:t>First, configure your settings — go through every tab and optimize for your workflow. Second, write your personal preferences document using the framework we discussed. Third, create a project for your team or department and add relevant context.</a:t>
            </a:r>
          </a:p>
          <a:p/>
          <a:p>
            <a:r>
              <a:t>The lab handout has step-by-step instructions and example preferences for different roles. I'll be circulating to help. Take your time with the preferences — this investment pays dividends in every future conversation.</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60 minutes]</a:t>
            </a:r>
          </a:p>
          <a:p/>
          <a:p>
            <a:r>
              <a:t>Great work this morning, everyone! It's time for lunch. We'll take a full hour — please be back by the posted time. This afternoon we're getting into the really fun stuff: data analysis with Claude and the full integration ecosystem. See you soon!</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from lunch! I hope you're re-energized because this section is where Claude really starts to flex its analytical muscles. We're going to cover how to write analysis-focused prompts, work with data in Claude, and then get hands-on with the Claude in Excel add-in. If you work with spreadsheets — and I know most of you do — this section is going to change your workflow.</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something that gets a lot of people excited — Claude in Excel. This is an official add-in that brings Claude's intelligence directly into your spreadsheets, and it's a game-changer for anyone who lives in Excel.</a:t>
            </a:r>
          </a:p>
          <a:p/>
          <a:p>
            <a:r>
              <a:t>The add-in works through custom functions — you type them right into cells just like SUM or VLOOKUP. The primary function is CLAUDE, which sends a prompt and returns a response directly in the cell. You can reference other cells in your prompt, which means Claude can analyze your actual data in context.</a:t>
            </a:r>
          </a:p>
          <a:p/>
          <a:p>
            <a:r>
              <a:t>Here's a practical example. Say you have a column of customer feedback comments. In the next column, you could write =CLAUDE("Classify this feedback as positive, negative, or neutral: " &amp; A2) and drag it down. In seconds, you've categorized hundreds of comments — a task that might take an intern a full day.</a:t>
            </a:r>
          </a:p>
          <a:p/>
          <a:p>
            <a:r>
              <a:t>But it goes way beyond classification. You can use it for data extraction — pulling dates, names, or dollar amounts from unstructured text. You can use it for translation — converting a column of product descriptions into Spanish. You can even use it for generating formulas — describe what you want in plain English and Claude writes the Excel formula.</a:t>
            </a:r>
          </a:p>
          <a:p/>
          <a:p>
            <a:r>
              <a:t>The add-in supports batch processing, so you can run Claude across thousands of rows. It uses your existing Claude API key, so pricing is based on token usage — typically fractions of a cent per cell. For most business use cases, you're looking at a few dollars to process an entire spreadsheet.</a:t>
            </a:r>
          </a:p>
          <a:p/>
          <a:p>
            <a:r>
              <a:t>Installation is straightforward — it's available in the Microsoft Office Add-ins store. Search for "Claude for Excel," install it, enter your API key, and you're ready to go. We'll walk through the setup in the lab if you haven't done it yet.</a:t>
            </a:r>
          </a:p>
          <a:p/>
          <a:p>
            <a:r>
              <a:t>One important note: the data you send through the add-in goes to Anthropic's API. Make sure your organization's data policies allow this before processing sensitive information. Enterprise customers can route through their own API endpoints for additional security.</a:t>
            </a:r>
          </a:p>
          <a:p/>
          <a:p>
            <a:r>
              <a:t>Let's look at some more advanced use cases before we hit the lab.</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Lab 3 time! This is a 30-minute data analysis challenge. You'll be working with a Q4 sales dataset — it's in your lab materials folder.</a:t>
            </a:r>
          </a:p>
          <a:p/>
          <a:p>
            <a:r>
              <a:t>Your mission: use Claude to analyze the data, identify trends, and create visualizations. The lab has specific questions to answer, but feel free to explore beyond those. Use the analysis tool in Claude.ai, and if you've set up the Excel add-in, try processing some of the data there too.</a:t>
            </a:r>
          </a:p>
          <a:p/>
          <a:p>
            <a:r>
              <a:t>This is the most open-ended lab so far — show me what you can do. I'll be around to help.</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Nice work on that analysis challenge — I saw some really impressive visualizations! Let's take a 10-minute break, and then we'll wrap up the day with Section 4: Artifacts, Files, and Integrations.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final section of the day! We're going to cover Claude's artifact system for creating and managing documents, how to work with files effectively, and then explore the growing ecosystem of Claude integrations — including some brand-new features that just launched. This section shows you how Claude fits into your broader workflow, not just as a standalone tool.</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start with Artifacts and file handling — this is one of Claude's most powerful and most underappreciated features.</a:t>
            </a:r>
          </a:p>
          <a:p/>
          <a:p>
            <a:r>
              <a:t>Artifacts are the documents, code, visualizations, and other structured content that Claude creates in the side panel during your conversations. What makes them special is that they're not just text responses — they're interactive, editable, and downloadable objects.</a:t>
            </a:r>
          </a:p>
          <a:p/>
          <a:p>
            <a:r>
              <a:t>When Claude generates a report, it appears as an artifact you can scroll through, edit inline, and download as a clean document. When it writes code, the artifact includes syntax highlighting and a copy button. When it creates a chart or diagram, you see a rendered visualization you can export.</a:t>
            </a:r>
          </a:p>
          <a:p/>
          <a:p>
            <a:r>
              <a:t>Here's where it gets really useful for business workflows. You can iterate on artifacts across multiple messages. Ask Claude to write a project proposal, then say "make the executive summary more concise" or "add a risk assessment section." Claude modifies the existing artifact rather than generating a whole new document. It's like collaborative editing with an AI partner.</a:t>
            </a:r>
          </a:p>
          <a:p/>
          <a:p>
            <a:r>
              <a:t>For file handling, Claude accepts a wide range of formats — PDF, Word, Excel, PowerPoint, images, CSV, code files, and more. You can upload multiple files in a single conversation, and Claude can cross-reference between them. Imagine uploading last quarter's financial report and this quarter's data and asking Claude to compare performance across the same metrics.</a:t>
            </a:r>
          </a:p>
          <a:p/>
          <a:p>
            <a:r>
              <a:t>A few power-user tips: When working with long documents, ask Claude to summarize first, then drill into specific sections. For spreadsheets, Claude can read the data and create visualizations using the analysis tool. For images, Claude has strong vision capabilities — it can read charts, interpret diagrams, and even extract text from photos of whiteboards.</a:t>
            </a:r>
          </a:p>
          <a:p/>
          <a:p>
            <a:r>
              <a:t>The combination of artifacts and file handling means Claude can serve as your document creation hub — from first draft through final polish. Let's now look at how Claude connects to your other tools.</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we're entering one of the fastest-evolving areas of Claude's ecosystem — integrations. Over the past year, Anthropic has been rapidly building out ways to connect Claude with the tools you already use every day.</a:t>
            </a:r>
          </a:p>
          <a:p/>
          <a:p>
            <a:r>
              <a:t>This matters because the real power of AI isn't in a standalone chat window — it's in having AI woven into your existing workflows. When Claude can read your Slack messages, access your Notion docs, check your Jira tickets, and pull from your Google Drive, it goes from being a helpful assistant to being a true work multiplier.</a:t>
            </a:r>
          </a:p>
          <a:p/>
          <a:p>
            <a:r>
              <a:t>We're going to cover three categories of integrations. First, the built-in integrations — Claude in Excel and Claude in PowerPoint, which are official add-ins built by Anthropic. Second, the Claude for Chrome browser extension, which brings Claude to every website you visit. And third, custom connectors through the integrations panel and MCP protocol, which let you connect Claude to virtually any tool.</a:t>
            </a:r>
          </a:p>
          <a:p/>
          <a:p>
            <a:r>
              <a:t>Each of these represents a different way of thinking about AI integration. The add-ins bring Claude into your existing tools. The browser extension brings Claude to the web. And custom connectors bring your tools to Claude. Together, they create a comprehensive AI layer across your entire work environment.</a:t>
            </a:r>
          </a:p>
          <a:p/>
          <a:p>
            <a:r>
              <a:t>Let me walk you through each one, starting with the newest addition.</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hot off the press — Claude in PowerPoint launched as a research preview on February 5th, just eleven days ago. It runs on Opus 4.6, Anthropic's most capable model, and it's genuinely impressive.</a:t>
            </a:r>
          </a:p>
          <a:p/>
          <a:p>
            <a:r>
              <a:t>Here's what it can do. You can ask Claude to build entire presentations from scratch — give it a topic, an audience, and a desired length, and it creates slides with appropriate layouts, content hierarchy, and even speaker notes. You can edit existing presentations — "make slide 7 more visual" or "add a competitive analysis slide after the market overview." And you can analyze presentations — upload a deck and ask Claude to critique the flow, check for consistency, or suggest improvements.</a:t>
            </a:r>
          </a:p>
          <a:p/>
          <a:p>
            <a:r>
              <a:t>The PowerPoint add-in works similarly to the Excel one — it lives in your ribbon and opens a side panel. But the interaction model is more conversational. You describe what you want in natural language, and Claude manipulates the slides directly. It understands PowerPoint's structure — masters, layouts, placeholders, animations — so the output looks professional, not like a robot threw text on blank slides.</a:t>
            </a:r>
          </a:p>
          <a:p/>
          <a:p>
            <a:r>
              <a:t>A few things that really stand out. First, Claude can maintain your organization's visual branding. If your template has specific fonts, colors, and layouts, Claude works within those constraints. Second, it can convert documents to presentations — give it a Word doc or PDF and say "turn this into a 10-slide executive briefing." Third, it can add and refine speaker notes, which is incredibly useful for presentation prep.</a:t>
            </a:r>
          </a:p>
          <a:p/>
          <a:p>
            <a:r>
              <a:t>Since this is a research preview, expect some rough edges. Complex animations and custom graphics are still limited. But for the core use case of building and editing business presentations, it's already remarkably capable. I've been using it for this very course, and it's saved me hours.</a:t>
            </a:r>
          </a:p>
          <a:p/>
          <a:p>
            <a:r>
              <a:t>If you want early access, check the Anthropic website — they're rolling it out to Pro and Teams users over the next few weeks.</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Claude for Chrome is a browser extension that puts Claude in a side panel on every webpage you visit. And this one is a real productivity booster.</a:t>
            </a:r>
          </a:p>
          <a:p/>
          <a:p>
            <a:r>
              <a:t>When you install the extension, you get a Claude icon in your browser toolbar. Click it, and a panel slides out on the right side of your screen. Here's what makes it special — Claude can see your current page. It has context about what you're looking at, which means you can have conversations about the content right there.</a:t>
            </a:r>
          </a:p>
          <a:p/>
          <a:p>
            <a:r>
              <a:t>Reading a long article? Ask Claude to summarize it. On a competitor's pricing page? Ask Claude to compare it to yours. Reviewing a pull request on GitHub? Ask Claude to explain the code changes. Looking at a complex dashboard? Ask Claude to interpret the data. The use cases are endless because the web is where we spend most of our work time.</a:t>
            </a:r>
          </a:p>
          <a:p/>
          <a:p>
            <a:r>
              <a:t>But it goes beyond just reading pages. Claude for Chrome can automate workflows. It can fill out forms, extract data from tables, and even navigate between pages to complete multi-step tasks. Think of it as a smart assistant that can both see your screen and take actions on your behalf.</a:t>
            </a:r>
          </a:p>
          <a:p/>
          <a:p>
            <a:r>
              <a:t>For business users, some killer use cases include: research synthesis — open five competitor websites and ask Claude to build a comparison matrix. Email drafting — open Gmail and have Claude draft responses based on the email thread. Data entry — have Claude read information from one system and help you enter it into another.</a:t>
            </a:r>
          </a:p>
          <a:p/>
          <a:p>
            <a:r>
              <a:t>The extension respects your privacy settings — it only reads pages when you explicitly invoke it, and it uses your existing Claude account and model preferences. For enterprise users, all data flows through your organization's existing Claude agreement.</a:t>
            </a:r>
          </a:p>
          <a:p/>
          <a:p>
            <a:r>
              <a:t>One tip: pin the extension to your toolbar for quick access. You'll find yourself using it dozens of times a day once you build the habit.</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connecting Claude to your broader tool ecosystem. There are two main approaches here, and both are powerful.</a:t>
            </a:r>
          </a:p>
          <a:p/>
          <a:p>
            <a:r>
              <a:t>First, the built-in Integrations panel. In Claude's settings, you'll find a section called Integrations where you can connect popular business tools directly. As of today, supported integrations include Slack, Google Drive, Notion, Jira, Confluence, and several others. Once connected, Claude can pull information from these tools directly in your conversations.</a:t>
            </a:r>
          </a:p>
          <a:p/>
          <a:p>
            <a:r>
              <a:t>For example, connect Google Drive and you can say "summarize the Q4 planning doc in my Drive." Connect Jira and you can say "what are the open bugs assigned to my team?" Connect Slack and you can say "what did the marketing channel discuss yesterday?" Claude fetches the relevant information and incorporates it into its responses.</a:t>
            </a:r>
          </a:p>
          <a:p/>
          <a:p>
            <a:r>
              <a:t>Setting these up is straightforward — click the integration, authorize with your existing account credentials, and Claude handles the rest. Your IT admin may need to approve certain integrations on Teams and Enterprise plans.</a:t>
            </a:r>
          </a:p>
          <a:p/>
          <a:p>
            <a:r>
              <a:t>The second approach is MCP — the Model Context Protocol. This is Anthropic's open standard for connecting AI models to external tools and data sources. Think of MCP as a universal adapter — it provides a standardized way for Claude to talk to any system, whether it's your internal database, a custom API, or a specialized business application.</a:t>
            </a:r>
          </a:p>
          <a:p/>
          <a:p>
            <a:r>
              <a:t>For non-technical users, MCP means your IT team can build custom connectors that let Claude access company-specific tools. For example, a connector to your proprietary CRM, your internal knowledge base, or your custom reporting system. Once built, you use these connectors just like the built-in ones — natural language requests, and Claude does the rest.</a:t>
            </a:r>
          </a:p>
          <a:p/>
          <a:p>
            <a:r>
              <a:t>The key takeaway here is that Claude isn't a walled garden. It's designed to be the AI layer that sits on top of your entire tool stack. The more you connect, the more useful it becomes.</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that we've seen all the ways Claude can integrate into your workflow, let's look at how different roles can put this all together. Because the real magic happens when you combine multiple capabilities for your specific job function.</a:t>
            </a:r>
          </a:p>
          <a:p/>
          <a:p>
            <a:r>
              <a:t>For marketing professionals, imagine this workflow: You use Claude for Chrome to research competitor campaigns, feed that research into a Claude conversation where you brainstorm positioning, use artifacts to draft campaign copy, and then use the PowerPoint add-in to build the pitch deck for your stakeholders. That entire workflow — research, strategy, content creation, and presentation — used to take a week. With Claude integrated across your tools, it's an afternoon.</a:t>
            </a:r>
          </a:p>
          <a:p/>
          <a:p>
            <a:r>
              <a:t>For sales teams, consider this: Claude reads your CRM data through integrations, analyzes deal pipeline trends using the analysis tool, drafts personalized outreach emails based on prospect research from the Chrome extension, and creates proposal decks in PowerPoint. Your sales reps spend less time on admin and more time actually selling.</a:t>
            </a:r>
          </a:p>
          <a:p/>
          <a:p>
            <a:r>
              <a:t>For project managers, Claude connects to Jira for task tracking, reads Confluence for project documentation, monitors Slack for team updates, and synthesizes all of that into status reports and risk assessments that you can share with leadership.</a:t>
            </a:r>
          </a:p>
          <a:p/>
          <a:p>
            <a:r>
              <a:t>The pattern is the same regardless of your role: connect your data sources, leverage Claude's analytical and creative capabilities, and output directly into the tools where work gets done. Over the next few slides, we'll look at specific workflow examples you can adapt.</a:t>
            </a:r>
          </a:p>
          <a:p/>
          <a:p>
            <a:r>
              <a:t>Now let's put all of this into practice with our final lab.</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This is our capstone lab — the Executive Briefing Challenge. You have 30 minutes to create a complete executive briefing using everything we've covered today.</a:t>
            </a:r>
          </a:p>
          <a:p/>
          <a:p>
            <a:r>
              <a:t>You'll find the scenario in your lab handout — you're preparing a briefing for your company's leadership team on a strategic topic. Use prompt engineering best practices, leverage artifacts for document creation, and if time allows, build a short slide deck using the PowerPoint add-in.</a:t>
            </a:r>
          </a:p>
          <a:p/>
          <a:p>
            <a:r>
              <a:t>This is your chance to show off. Combine techniques, iterate on your outputs, and produce something you'd actually be proud to present. I'll share standout examples at the end.</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And that's a wrap on Day 1! Let's take a moment to reflect on what we covered today.</a:t>
            </a:r>
          </a:p>
          <a:p/>
          <a:p>
            <a:r>
              <a:t>In Section 1, you learned the fundamentals of the Claude interface and prompt engineering — how to communicate with AI effectively. In Section 2, you configured your personal workspace with settings, preferences, and projects. In Section 3, you tackled data analysis and saw how Claude can be a powerful analytical partner, especially with the Excel add-in. And in Section 4, you explored the integration ecosystem — PowerPoint, Chrome, custom connectors — and saw how Claude fits into your broader workflow.</a:t>
            </a:r>
          </a:p>
          <a:p/>
          <a:p>
            <a:r>
              <a:t>Here are my three key takeaways for you. First, prompting is a skill — and like any skill, it improves with practice. Use the frameworks we covered, but don't be afraid to experiment. Second, invest in your setup — those preferences, projects, and memory features compound over time. Ten minutes of configuration now saves hours down the road. Third, think in workflows, not just chats — the real power comes from connecting Claude to your existing tools and processes.</a:t>
            </a:r>
          </a:p>
          <a:p/>
          <a:p>
            <a:r>
              <a:t>For homework — yes, there's homework — I want you to identify one recurring task in your work that takes more than 30 minutes, and try using Claude to cut that time in half. Come to Day 2 ready to share what you tried and what you learned.</a:t>
            </a:r>
          </a:p>
          <a:p/>
          <a:p>
            <a:r>
              <a:t>Day 2 will build on everything from today. We'll go deeper into advanced techniques, explore Claude for teams and organizations, and tackle more complex real-world scenarios.</a:t>
            </a:r>
          </a:p>
          <a:p/>
          <a:p>
            <a:r>
              <a:t>Any questions before we wrap up? I'll stick around for a few minutes if anyone wants to chat one-on-one. Thank you all for your energy and participation today — see you tomorrow!</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a:t>
            </a:r>
          </a:p>
          <a:p>
            <a:r>
              <a:t/>
            </a:r>
          </a:p>
          <a:p>
            <a:r>
              <a:t>Thank you all for a great day. You have been an engaged and thoughtful group, and I am confident you will see real productivity gains starting this week.</a:t>
            </a:r>
          </a:p>
          <a:p>
            <a:r>
              <a:t/>
            </a:r>
          </a:p>
          <a:p>
            <a:r>
              <a:t>Remember: the key to success with AI is consistency. Use Claude a little every day, iterate your prompts, and build it into your routine. The skills you practiced today become second nature within two to three weeks.</a:t>
            </a:r>
          </a:p>
          <a:p>
            <a:r>
              <a:t/>
            </a:r>
          </a:p>
          <a:p>
            <a:r>
              <a:t>My contact information is on the screen. Do not hesitate to reach out with questions or success stories. Have a great rest of your day.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1</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Claude Interface</a:t>
            </a:r>
            <a:br/>
            <a:r>
              <a:t>&amp; Prompt Engineering</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Navigate the tool, then master the core skill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2</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Models, Settings</a:t>
            </a:r>
            <a:br/>
            <a:r>
              <a:t>&amp; Projects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Choose the right engine, configure your workspace, organize your work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Claude's Memory</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Claude remembers context across conversations — so you don't have to repeat yourself</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640080"/>
          </a:xfrm>
          <a:prstGeom prst="rect">
            <a:avLst/>
          </a:prstGeom>
          <a:noFill/>
        </p:spPr>
        <p:txBody>
          <a:bodyPr wrap="square">
            <a:spAutoFit/>
          </a:bodyPr>
          <a:lstStyle/>
          <a:p>
            <a:pPr algn="ctr">
              <a:defRPr sz="1800" b="1">
                <a:solidFill>
                  <a:srgbClr val="FFFFFF"/>
                </a:solidFill>
              </a:defRPr>
            </a:pPr>
            <a:r>
              <a:t>Search &amp; Reference</a:t>
            </a:r>
            <a:br/>
            <a:r>
              <a:t>Past Chats</a:t>
            </a:r>
          </a:p>
        </p:txBody>
      </p:sp>
      <p:sp>
        <p:nvSpPr>
          <p:cNvPr id="7" name="TextBox 6"/>
          <p:cNvSpPr txBox="1"/>
          <p:nvPr/>
        </p:nvSpPr>
        <p:spPr>
          <a:xfrm>
            <a:off x="640080" y="3108960"/>
            <a:ext cx="3108960" cy="1828800"/>
          </a:xfrm>
          <a:prstGeom prst="rect">
            <a:avLst/>
          </a:prstGeom>
          <a:noFill/>
        </p:spPr>
        <p:txBody>
          <a:bodyPr wrap="square">
            <a:spAutoFit/>
          </a:bodyPr>
          <a:lstStyle/>
          <a:p>
            <a:pPr algn="ctr">
              <a:defRPr sz="1400">
                <a:solidFill>
                  <a:srgbClr val="D1D5DB"/>
                </a:solidFill>
              </a:defRPr>
            </a:pPr>
            <a:r>
              <a:t>Claude searches your</a:t>
            </a:r>
            <a:br/>
            <a:r>
              <a:t>previous conversations</a:t>
            </a:r>
            <a:br/>
            <a:r>
              <a:t>for relevant context.</a:t>
            </a:r>
            <a:br/>
            <a:r>
              <a:t>Finds details you forgot.</a:t>
            </a:r>
            <a:br/>
            <a:r>
              <a:t>Works across all chats.</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640080"/>
          </a:xfrm>
          <a:prstGeom prst="rect">
            <a:avLst/>
          </a:prstGeom>
          <a:noFill/>
        </p:spPr>
        <p:txBody>
          <a:bodyPr wrap="square">
            <a:spAutoFit/>
          </a:bodyPr>
          <a:lstStyle/>
          <a:p>
            <a:pPr algn="ctr">
              <a:defRPr sz="1800" b="1">
                <a:solidFill>
                  <a:srgbClr val="FFFFFF"/>
                </a:solidFill>
              </a:defRPr>
            </a:pPr>
            <a:r>
              <a:t>Generate Memory</a:t>
            </a:r>
            <a:br/>
            <a:r>
              <a:t>from History</a:t>
            </a:r>
          </a:p>
        </p:txBody>
      </p:sp>
      <p:sp>
        <p:nvSpPr>
          <p:cNvPr id="11" name="TextBox 10"/>
          <p:cNvSpPr txBox="1"/>
          <p:nvPr/>
        </p:nvSpPr>
        <p:spPr>
          <a:xfrm>
            <a:off x="4389120" y="3108960"/>
            <a:ext cx="3108960" cy="1828800"/>
          </a:xfrm>
          <a:prstGeom prst="rect">
            <a:avLst/>
          </a:prstGeom>
          <a:noFill/>
        </p:spPr>
        <p:txBody>
          <a:bodyPr wrap="square">
            <a:spAutoFit/>
          </a:bodyPr>
          <a:lstStyle/>
          <a:p>
            <a:pPr algn="ctr">
              <a:defRPr sz="1400">
                <a:solidFill>
                  <a:srgbClr val="D1D5DB"/>
                </a:solidFill>
              </a:defRPr>
            </a:pPr>
            <a:r>
              <a:t>Claude builds memory</a:t>
            </a:r>
            <a:br/>
            <a:r>
              <a:t>from your chat patterns.</a:t>
            </a:r>
            <a:br/>
            <a:r>
              <a:t>Remembers preferences,</a:t>
            </a:r>
            <a:br/>
            <a:r>
              <a:t>projects, and context.</a:t>
            </a:r>
            <a:br/>
            <a:r>
              <a:t>Controls both chats</a:t>
            </a:r>
            <a:br/>
            <a:r>
              <a:t>and Projects.</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640080"/>
          </a:xfrm>
          <a:prstGeom prst="rect">
            <a:avLst/>
          </a:prstGeom>
          <a:noFill/>
        </p:spPr>
        <p:txBody>
          <a:bodyPr wrap="square">
            <a:spAutoFit/>
          </a:bodyPr>
          <a:lstStyle/>
          <a:p>
            <a:pPr algn="ctr">
              <a:defRPr sz="1800" b="1">
                <a:solidFill>
                  <a:srgbClr val="FFFFFF"/>
                </a:solidFill>
              </a:defRPr>
            </a:pPr>
            <a:r>
              <a:t>View Your Memory</a:t>
            </a:r>
          </a:p>
        </p:txBody>
      </p:sp>
      <p:sp>
        <p:nvSpPr>
          <p:cNvPr id="15" name="TextBox 14"/>
          <p:cNvSpPr txBox="1"/>
          <p:nvPr/>
        </p:nvSpPr>
        <p:spPr>
          <a:xfrm>
            <a:off x="8138159" y="3108960"/>
            <a:ext cx="3108960" cy="1828800"/>
          </a:xfrm>
          <a:prstGeom prst="rect">
            <a:avLst/>
          </a:prstGeom>
          <a:noFill/>
        </p:spPr>
        <p:txBody>
          <a:bodyPr wrap="square">
            <a:spAutoFit/>
          </a:bodyPr>
          <a:lstStyle/>
          <a:p>
            <a:pPr algn="ctr">
              <a:defRPr sz="1400">
                <a:solidFill>
                  <a:srgbClr val="D1D5DB"/>
                </a:solidFill>
              </a:defRPr>
            </a:pPr>
            <a:r>
              <a:t>See exactly what Claude</a:t>
            </a:r>
            <a:br/>
            <a:r>
              <a:t>remembers about you.</a:t>
            </a:r>
            <a:br/>
            <a:r>
              <a:t>Edit or delete entries.</a:t>
            </a:r>
            <a:br/>
            <a:r>
              <a:t>Full transparency —</a:t>
            </a:r>
            <a:br/>
            <a:r>
              <a:t>no hidden knowledge.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Settings → Memory → Enable both toggles for the best experience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Capabilities &amp; Privacy Controls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Enable these features before you start — they unlock everything we'll use today</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defRPr sz="2200" b="1">
                <a:solidFill>
                  <a:srgbClr val="14B8A6"/>
                </a:solidFill>
              </a:defRPr>
            </a:pPr>
            <a:r>
              <a:t>Capabilities (Enable All)</a:t>
            </a:r>
          </a:p>
        </p:txBody>
      </p:sp>
      <p:sp>
        <p:nvSpPr>
          <p:cNvPr id="6" name="TextBox 5"/>
          <p:cNvSpPr txBox="1"/>
          <p:nvPr/>
        </p:nvSpPr>
        <p:spPr>
          <a:xfrm>
            <a:off x="731520" y="2468880"/>
            <a:ext cx="4754880" cy="3108960"/>
          </a:xfrm>
          <a:prstGeom prst="rect">
            <a:avLst/>
          </a:prstGeom>
          <a:noFill/>
        </p:spPr>
        <p:txBody>
          <a:bodyPr wrap="square">
            <a:spAutoFit/>
          </a:bodyPr>
          <a:lstStyle/>
          <a:p>
            <a:pPr>
              <a:spcAft>
                <a:spcPts val="600"/>
              </a:spcAft>
              <a:defRPr sz="1500">
                <a:solidFill>
                  <a:srgbClr val="D1D5DB"/>
                </a:solidFill>
              </a:defRPr>
            </a:pPr>
            <a:r>
              <a:t>✅  Artifacts — documents, code, visualizations</a:t>
            </a:r>
          </a:p>
          <a:p>
            <a:pPr>
              <a:spcAft>
                <a:spcPts val="600"/>
              </a:spcAft>
              <a:defRPr sz="1500">
                <a:solidFill>
                  <a:srgbClr val="D1D5DB"/>
                </a:solidFill>
              </a:defRPr>
            </a:pPr>
            <a:r>
              <a:t>✅  AI-powered artifacts — interactive apps &amp; prototypes</a:t>
            </a:r>
          </a:p>
          <a:p>
            <a:pPr>
              <a:spcAft>
                <a:spcPts val="600"/>
              </a:spcAft>
              <a:defRPr sz="1500">
                <a:solidFill>
                  <a:srgbClr val="D1D5DB"/>
                </a:solidFill>
              </a:defRPr>
            </a:pPr>
            <a:r>
              <a:t>✅  Code execution &amp; file creation</a:t>
            </a:r>
          </a:p>
          <a:p>
            <a:pPr>
              <a:spcAft>
                <a:spcPts val="600"/>
              </a:spcAft>
              <a:defRPr sz="1500">
                <a:solidFill>
                  <a:srgbClr val="D1D5DB"/>
                </a:solidFill>
              </a:defRPr>
            </a:pPr>
            <a:r>
              <a:t>✅  Memory — search past chats + learn from history</a:t>
            </a:r>
          </a:p>
          <a:p>
            <a:pPr>
              <a:spcAft>
                <a:spcPts val="600"/>
              </a:spcAft>
              <a:defRPr sz="1500">
                <a:solidFill>
                  <a:srgbClr val="D1D5DB"/>
                </a:solidFill>
              </a:defRPr>
            </a:pPr>
            <a:r>
              <a:t>✅  Skills — repeatable instructions for any chat</a:t>
            </a:r>
          </a:p>
        </p:txBody>
      </p:sp>
      <p:sp>
        <p:nvSpPr>
          <p:cNvPr id="7" name="Rounded Rectangle 6"/>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754880" cy="457200"/>
          </a:xfrm>
          <a:prstGeom prst="rect">
            <a:avLst/>
          </a:prstGeom>
          <a:noFill/>
        </p:spPr>
        <p:txBody>
          <a:bodyPr wrap="none">
            <a:spAutoFit/>
          </a:bodyPr>
          <a:lstStyle/>
          <a:p>
            <a:pPr>
              <a:defRPr sz="2200" b="1">
                <a:solidFill>
                  <a:srgbClr val="14B8A6"/>
                </a:solidFill>
              </a:defRPr>
            </a:pPr>
            <a:r>
              <a:t>Privacy Settings</a:t>
            </a:r>
          </a:p>
        </p:txBody>
      </p:sp>
      <p:sp>
        <p:nvSpPr>
          <p:cNvPr id="9" name="TextBox 8"/>
          <p:cNvSpPr txBox="1"/>
          <p:nvPr/>
        </p:nvSpPr>
        <p:spPr>
          <a:xfrm>
            <a:off x="6492240" y="2468880"/>
            <a:ext cx="4754880" cy="3108960"/>
          </a:xfrm>
          <a:prstGeom prst="rect">
            <a:avLst/>
          </a:prstGeom>
          <a:noFill/>
        </p:spPr>
        <p:txBody>
          <a:bodyPr wrap="square">
            <a:spAutoFit/>
          </a:bodyPr>
          <a:lstStyle/>
          <a:p>
            <a:pPr>
              <a:spcAft>
                <a:spcPts val="600"/>
              </a:spcAft>
              <a:defRPr sz="1500">
                <a:solidFill>
                  <a:srgbClr val="D1D5DB"/>
                </a:solidFill>
              </a:defRPr>
            </a:pPr>
            <a:r>
              <a:t>🔒  "Help improve Claude" — training toggle (OFF on paid)</a:t>
            </a:r>
          </a:p>
          <a:p>
            <a:pPr>
              <a:spcAft>
                <a:spcPts val="600"/>
              </a:spcAft>
              <a:defRPr sz="1500">
                <a:solidFill>
                  <a:srgbClr val="D1D5DB"/>
                </a:solidFill>
              </a:defRPr>
            </a:pPr>
            <a:r>
              <a:t>📦  Export data — download all your conversations</a:t>
            </a:r>
          </a:p>
          <a:p>
            <a:pPr>
              <a:spcAft>
                <a:spcPts val="600"/>
              </a:spcAft>
              <a:defRPr sz="1500">
                <a:solidFill>
                  <a:srgbClr val="D1D5DB"/>
                </a:solidFill>
              </a:defRPr>
            </a:pPr>
            <a:r>
              <a:t>🔗  Shared chats — control who sees what</a:t>
            </a:r>
          </a:p>
          <a:p>
            <a:pPr>
              <a:spcAft>
                <a:spcPts val="600"/>
              </a:spcAft>
              <a:defRPr sz="1500">
                <a:solidFill>
                  <a:srgbClr val="D1D5DB"/>
                </a:solidFill>
              </a:defRPr>
            </a:pPr>
            <a:r>
              <a:t>🧠  Memory preferences — view, edit, delete memories</a:t>
            </a:r>
          </a:p>
          <a:p>
            <a:pPr>
              <a:spcAft>
                <a:spcPts val="600"/>
              </a:spcAft>
              <a:defRPr sz="1500">
                <a:solidFill>
                  <a:srgbClr val="D1D5DB"/>
                </a:solidFill>
              </a:defRPr>
            </a:pPr>
            <a:r>
              <a:t>📍  Location metadata — coarse city/region (optional)</a:t>
            </a:r>
          </a:p>
          <a:p>
            <a:pPr>
              <a:spcAft>
                <a:spcPts val="600"/>
              </a:spcAft>
              <a:defRPr sz="1500">
                <a:solidFill>
                  <a:srgbClr val="D1D5DB"/>
                </a:solidFill>
              </a:defRPr>
            </a:pPr>
            <a:r>
              <a:t>🕶️  Incognito chats — not saved, not trained 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3</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Analysis Prompts</a:t>
            </a:r>
            <a:br/>
            <a:r>
              <a:t>&amp; Claude in Excel</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Turn data into decisions — in the browser and in your spreadsheets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4</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Artifacts, Files</a:t>
            </a:r>
            <a:br/>
            <a:r>
              <a:t>&amp; Integrations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Create deliverables, work with files, and connect your tools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in PowerPoint</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14B8A6"/>
                </a:solidFill>
              </a:defRPr>
            </a:pPr>
            <a:r>
              <a:t>Research Preview  •  Available for Max, Team, and Enterprise</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Build &amp; Design</a:t>
            </a:r>
          </a:p>
        </p:txBody>
      </p:sp>
      <p:sp>
        <p:nvSpPr>
          <p:cNvPr id="7" name="TextBox 6"/>
          <p:cNvSpPr txBox="1"/>
          <p:nvPr/>
        </p:nvSpPr>
        <p:spPr>
          <a:xfrm>
            <a:off x="640080" y="2926080"/>
            <a:ext cx="3108960" cy="1828800"/>
          </a:xfrm>
          <a:prstGeom prst="rect">
            <a:avLst/>
          </a:prstGeom>
          <a:noFill/>
        </p:spPr>
        <p:txBody>
          <a:bodyPr wrap="square">
            <a:spAutoFit/>
          </a:bodyPr>
          <a:lstStyle/>
          <a:p>
            <a:pPr algn="ctr">
              <a:defRPr sz="1400">
                <a:solidFill>
                  <a:srgbClr val="D1D5DB"/>
                </a:solidFill>
              </a:defRPr>
            </a:pPr>
            <a:r>
              <a:t>Create new slides from</a:t>
            </a:r>
            <a:br/>
            <a:r>
              <a:t>a prompt or outline</a:t>
            </a:r>
            <a:br/>
            <a:r>
              <a:t>Apply consistent branding</a:t>
            </a:r>
            <a:br/>
            <a:r>
              <a:t>Redesign existing decks</a:t>
            </a:r>
            <a:br/>
            <a:r>
              <a:t>Powered by Opus 4.6</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Edit &amp; Refine</a:t>
            </a:r>
          </a:p>
        </p:txBody>
      </p:sp>
      <p:sp>
        <p:nvSpPr>
          <p:cNvPr id="11" name="TextBox 10"/>
          <p:cNvSpPr txBox="1"/>
          <p:nvPr/>
        </p:nvSpPr>
        <p:spPr>
          <a:xfrm>
            <a:off x="4389120" y="2926080"/>
            <a:ext cx="3108960" cy="1828800"/>
          </a:xfrm>
          <a:prstGeom prst="rect">
            <a:avLst/>
          </a:prstGeom>
          <a:noFill/>
        </p:spPr>
        <p:txBody>
          <a:bodyPr wrap="square">
            <a:spAutoFit/>
          </a:bodyPr>
          <a:lstStyle/>
          <a:p>
            <a:pPr algn="ctr">
              <a:defRPr sz="1400">
                <a:solidFill>
                  <a:srgbClr val="D1D5DB"/>
                </a:solidFill>
              </a:defRPr>
            </a:pPr>
            <a:r>
              <a:t>Rewrite slide content</a:t>
            </a:r>
            <a:br/>
            <a:r>
              <a:t>Fix formatting issues</a:t>
            </a:r>
            <a:br/>
            <a:r>
              <a:t>Improve data visualizations</a:t>
            </a:r>
            <a:br/>
            <a:r>
              <a:t>Condense or expand sections</a:t>
            </a:r>
            <a:br/>
            <a:r>
              <a:t>Maintain brand guidelines</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Analyze &amp; Advise</a:t>
            </a:r>
          </a:p>
        </p:txBody>
      </p:sp>
      <p:sp>
        <p:nvSpPr>
          <p:cNvPr id="15" name="TextBox 14"/>
          <p:cNvSpPr txBox="1"/>
          <p:nvPr/>
        </p:nvSpPr>
        <p:spPr>
          <a:xfrm>
            <a:off x="8138159" y="2926080"/>
            <a:ext cx="3108960" cy="1828800"/>
          </a:xfrm>
          <a:prstGeom prst="rect">
            <a:avLst/>
          </a:prstGeom>
          <a:noFill/>
        </p:spPr>
        <p:txBody>
          <a:bodyPr wrap="square">
            <a:spAutoFit/>
          </a:bodyPr>
          <a:lstStyle/>
          <a:p>
            <a:pPr algn="ctr">
              <a:defRPr sz="1400">
                <a:solidFill>
                  <a:srgbClr val="D1D5DB"/>
                </a:solidFill>
              </a:defRPr>
            </a:pPr>
            <a:r>
              <a:t>Review your deck for</a:t>
            </a:r>
            <a:br/>
            <a:r>
              <a:t>clarity and flow</a:t>
            </a:r>
            <a:br/>
            <a:r>
              <a:t>Suggest better layouts</a:t>
            </a:r>
            <a:br/>
            <a:r>
              <a:t>Extract key messages</a:t>
            </a:r>
            <a:br/>
            <a:r>
              <a:t>Prepare speaker notes</a:t>
            </a:r>
          </a:p>
        </p:txBody>
      </p:sp>
      <p:sp>
        <p:nvSpPr>
          <p:cNvPr id="16" name="Rounded Rectangle 15"/>
          <p:cNvSpPr/>
          <p:nvPr/>
        </p:nvSpPr>
        <p:spPr>
          <a:xfrm>
            <a:off x="457200" y="5212080"/>
            <a:ext cx="11247120" cy="731520"/>
          </a:xfrm>
          <a:prstGeom prst="roundRect">
            <a:avLst/>
          </a:prstGeom>
          <a:solidFill>
            <a:srgbClr val="141A2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5303520"/>
            <a:ext cx="10698480" cy="548640"/>
          </a:xfrm>
          <a:prstGeom prst="rect">
            <a:avLst/>
          </a:prstGeom>
          <a:noFill/>
        </p:spPr>
        <p:txBody>
          <a:bodyPr wrap="square">
            <a:spAutoFit/>
          </a:bodyPr>
          <a:lstStyle/>
          <a:p>
            <a:pPr algn="ctr">
              <a:defRPr sz="1500">
                <a:solidFill>
                  <a:srgbClr val="9CA3AF"/>
                </a:solidFill>
              </a:defRPr>
            </a:pPr>
            <a:r>
              <a:t>Claude now integrates directly into Excel, PowerPoint, and Google Docs — your AI assistant lives inside the tools you already use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Chrome</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AI assistant in your browser side panel — sees your screen, acts on any webpage</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Browse with AI</a:t>
            </a:r>
          </a:p>
        </p:txBody>
      </p:sp>
      <p:sp>
        <p:nvSpPr>
          <p:cNvPr id="7" name="TextBox 6"/>
          <p:cNvSpPr txBox="1"/>
          <p:nvPr/>
        </p:nvSpPr>
        <p:spPr>
          <a:xfrm>
            <a:off x="640080" y="2926080"/>
            <a:ext cx="3108960" cy="2011680"/>
          </a:xfrm>
          <a:prstGeom prst="rect">
            <a:avLst/>
          </a:prstGeom>
          <a:noFill/>
        </p:spPr>
        <p:txBody>
          <a:bodyPr wrap="square">
            <a:spAutoFit/>
          </a:bodyPr>
          <a:lstStyle/>
          <a:p>
            <a:pPr algn="ctr">
              <a:defRPr sz="1400">
                <a:solidFill>
                  <a:srgbClr val="D1D5DB"/>
                </a:solidFill>
              </a:defRPr>
            </a:pPr>
            <a:r>
              <a:t>Side panel stays open</a:t>
            </a:r>
            <a:br/>
            <a:r>
              <a:t>while you browse.</a:t>
            </a:r>
            <a:br/>
            <a:r>
              <a:t>Ask questions about</a:t>
            </a:r>
            <a:br/>
            <a:r>
              <a:t>any page you're viewing.</a:t>
            </a:r>
            <a:br/>
            <a:r>
              <a:t>No copy-paste needed.</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Summarize &amp; Extract</a:t>
            </a:r>
          </a:p>
        </p:txBody>
      </p:sp>
      <p:sp>
        <p:nvSpPr>
          <p:cNvPr id="11" name="TextBox 10"/>
          <p:cNvSpPr txBox="1"/>
          <p:nvPr/>
        </p:nvSpPr>
        <p:spPr>
          <a:xfrm>
            <a:off x="4389120" y="2926080"/>
            <a:ext cx="3108960" cy="2011680"/>
          </a:xfrm>
          <a:prstGeom prst="rect">
            <a:avLst/>
          </a:prstGeom>
          <a:noFill/>
        </p:spPr>
        <p:txBody>
          <a:bodyPr wrap="square">
            <a:spAutoFit/>
          </a:bodyPr>
          <a:lstStyle/>
          <a:p>
            <a:pPr algn="ctr">
              <a:defRPr sz="1400">
                <a:solidFill>
                  <a:srgbClr val="D1D5DB"/>
                </a:solidFill>
              </a:defRPr>
            </a:pPr>
            <a:r>
              <a:t>Summarize long articles</a:t>
            </a:r>
            <a:br/>
            <a:r>
              <a:t>Extract key data points</a:t>
            </a:r>
            <a:br/>
            <a:r>
              <a:t>Compare across tabs</a:t>
            </a:r>
            <a:br/>
            <a:r>
              <a:t>Pull info from tables</a:t>
            </a:r>
            <a:br/>
            <a:r>
              <a:t>Research in half the time</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Automate Workflows</a:t>
            </a:r>
          </a:p>
        </p:txBody>
      </p:sp>
      <p:sp>
        <p:nvSpPr>
          <p:cNvPr id="15" name="TextBox 14"/>
          <p:cNvSpPr txBox="1"/>
          <p:nvPr/>
        </p:nvSpPr>
        <p:spPr>
          <a:xfrm>
            <a:off x="8138159" y="2926080"/>
            <a:ext cx="3108960" cy="2011680"/>
          </a:xfrm>
          <a:prstGeom prst="rect">
            <a:avLst/>
          </a:prstGeom>
          <a:noFill/>
        </p:spPr>
        <p:txBody>
          <a:bodyPr wrap="square">
            <a:spAutoFit/>
          </a:bodyPr>
          <a:lstStyle/>
          <a:p>
            <a:pPr algn="ctr">
              <a:defRPr sz="1400">
                <a:solidFill>
                  <a:srgbClr val="D1D5DB"/>
                </a:solidFill>
              </a:defRPr>
            </a:pPr>
            <a:r>
              <a:t>Fill out web forms</a:t>
            </a:r>
            <a:br/>
            <a:r>
              <a:t>Draft emails in Gmail</a:t>
            </a:r>
            <a:br/>
            <a:r>
              <a:t>Navigate complex sites</a:t>
            </a:r>
            <a:br/>
            <a:r>
              <a:t>Automate repetitive tasks</a:t>
            </a:r>
            <a:br/>
            <a:r>
              <a:t>Claude sees what you see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Free Chrome extension  •  Install from Chrome Web Store  •  Works with your existing Claude account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Beyond Built-In: Custom Connectors</a:t>
            </a:r>
          </a:p>
        </p:txBody>
      </p:sp>
      <p:sp>
        <p:nvSpPr>
          <p:cNvPr id="3" name="TextBox 2"/>
          <p:cNvSpPr txBox="1"/>
          <p:nvPr/>
        </p:nvSpPr>
        <p:spPr>
          <a:xfrm>
            <a:off x="457200" y="1005840"/>
            <a:ext cx="11247120" cy="457200"/>
          </a:xfrm>
          <a:prstGeom prst="rect">
            <a:avLst/>
          </a:prstGeom>
          <a:noFill/>
        </p:spPr>
        <p:txBody>
          <a:bodyPr wrap="none">
            <a:spAutoFit/>
          </a:bodyPr>
          <a:lstStyle/>
          <a:p>
            <a:pPr>
              <a:defRPr sz="2000" i="1">
                <a:solidFill>
                  <a:srgbClr val="9CA3AF"/>
                </a:solidFill>
              </a:defRPr>
            </a:pPr>
            <a:r>
              <a:t>Claude isn't limited to what ships out of the box</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lgn="ctr">
              <a:defRPr sz="3000"/>
            </a:pPr>
            <a:r>
              <a:t>🔌</a:t>
            </a:r>
          </a:p>
        </p:txBody>
      </p:sp>
      <p:sp>
        <p:nvSpPr>
          <p:cNvPr id="6" name="TextBox 5"/>
          <p:cNvSpPr txBox="1"/>
          <p:nvPr/>
        </p:nvSpPr>
        <p:spPr>
          <a:xfrm>
            <a:off x="731520" y="2377440"/>
            <a:ext cx="4754880" cy="457200"/>
          </a:xfrm>
          <a:prstGeom prst="rect">
            <a:avLst/>
          </a:prstGeom>
          <a:noFill/>
        </p:spPr>
        <p:txBody>
          <a:bodyPr wrap="none">
            <a:spAutoFit/>
          </a:bodyPr>
          <a:lstStyle/>
          <a:p>
            <a:pPr algn="ctr">
              <a:defRPr sz="2200" b="1">
                <a:solidFill>
                  <a:srgbClr val="FFFFFF"/>
                </a:solidFill>
              </a:defRPr>
            </a:pPr>
            <a:r>
              <a:t>Integrations Panel</a:t>
            </a:r>
          </a:p>
        </p:txBody>
      </p:sp>
      <p:sp>
        <p:nvSpPr>
          <p:cNvPr id="7" name="TextBox 6"/>
          <p:cNvSpPr txBox="1"/>
          <p:nvPr/>
        </p:nvSpPr>
        <p:spPr>
          <a:xfrm>
            <a:off x="731520" y="2834640"/>
            <a:ext cx="4754880" cy="457200"/>
          </a:xfrm>
          <a:prstGeom prst="rect">
            <a:avLst/>
          </a:prstGeom>
          <a:noFill/>
        </p:spPr>
        <p:txBody>
          <a:bodyPr wrap="none">
            <a:spAutoFit/>
          </a:bodyPr>
          <a:lstStyle/>
          <a:p>
            <a:pPr algn="ctr">
              <a:defRPr sz="1500" i="1">
                <a:solidFill>
                  <a:srgbClr val="14B8A6"/>
                </a:solidFill>
              </a:defRPr>
            </a:pPr>
            <a:r>
              <a:t>Connect Claude to tools</a:t>
            </a:r>
            <a:br/>
            <a:r>
              <a:t>you already use:</a:t>
            </a:r>
          </a:p>
        </p:txBody>
      </p:sp>
      <p:sp>
        <p:nvSpPr>
          <p:cNvPr id="8" name="TextBox 7"/>
          <p:cNvSpPr txBox="1"/>
          <p:nvPr/>
        </p:nvSpPr>
        <p:spPr>
          <a:xfrm>
            <a:off x="731520" y="3383280"/>
            <a:ext cx="4754880" cy="2286000"/>
          </a:xfrm>
          <a:prstGeom prst="rect">
            <a:avLst/>
          </a:prstGeom>
          <a:noFill/>
        </p:spPr>
        <p:txBody>
          <a:bodyPr wrap="square">
            <a:spAutoFit/>
          </a:bodyPr>
          <a:lstStyle/>
          <a:p>
            <a:pPr algn="ctr">
              <a:defRPr sz="1500">
                <a:solidFill>
                  <a:srgbClr val="D1D5DB"/>
                </a:solidFill>
              </a:defRPr>
            </a:pPr>
            <a:r>
              <a:t>Slack  •  Notion  •  Jira</a:t>
            </a:r>
            <a:br/>
            <a:r>
              <a:t>Salesforce  •  Asana  •  Zapier</a:t>
            </a:r>
            <a:br/>
            <a:r>
              <a:t>Google Workspace  •  GitHub</a:t>
            </a:r>
            <a:br/>
            <a:br/>
            <a:r>
              <a:t>Enable in Settings → Integrations</a:t>
            </a:r>
            <a:br/>
            <a:r>
              <a:t>Claude pulls and pushes data</a:t>
            </a:r>
            <a:br/>
            <a:r>
              <a:t>directly — no switching apps</a:t>
            </a:r>
          </a:p>
        </p:txBody>
      </p:sp>
      <p:sp>
        <p:nvSpPr>
          <p:cNvPr id="9" name="Rounded Rectangle 8"/>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20240"/>
            <a:ext cx="4754880" cy="457200"/>
          </a:xfrm>
          <a:prstGeom prst="rect">
            <a:avLst/>
          </a:prstGeom>
          <a:noFill/>
        </p:spPr>
        <p:txBody>
          <a:bodyPr wrap="none">
            <a:spAutoFit/>
          </a:bodyPr>
          <a:lstStyle/>
          <a:p>
            <a:pPr algn="ctr">
              <a:defRPr sz="3000"/>
            </a:pPr>
            <a:r>
              <a:t>🔧</a:t>
            </a:r>
          </a:p>
        </p:txBody>
      </p:sp>
      <p:sp>
        <p:nvSpPr>
          <p:cNvPr id="11" name="TextBox 10"/>
          <p:cNvSpPr txBox="1"/>
          <p:nvPr/>
        </p:nvSpPr>
        <p:spPr>
          <a:xfrm>
            <a:off x="6492240" y="2377440"/>
            <a:ext cx="4754880" cy="457200"/>
          </a:xfrm>
          <a:prstGeom prst="rect">
            <a:avLst/>
          </a:prstGeom>
          <a:noFill/>
        </p:spPr>
        <p:txBody>
          <a:bodyPr wrap="none">
            <a:spAutoFit/>
          </a:bodyPr>
          <a:lstStyle/>
          <a:p>
            <a:pPr algn="ctr">
              <a:defRPr sz="2200" b="1">
                <a:solidFill>
                  <a:srgbClr val="FFFFFF"/>
                </a:solidFill>
              </a:defRPr>
            </a:pPr>
            <a:r>
              <a:t>Model Context Protocol (MCP)</a:t>
            </a:r>
          </a:p>
        </p:txBody>
      </p:sp>
      <p:sp>
        <p:nvSpPr>
          <p:cNvPr id="12" name="TextBox 11"/>
          <p:cNvSpPr txBox="1"/>
          <p:nvPr/>
        </p:nvSpPr>
        <p:spPr>
          <a:xfrm>
            <a:off x="6492240" y="2834640"/>
            <a:ext cx="4754880" cy="457200"/>
          </a:xfrm>
          <a:prstGeom prst="rect">
            <a:avLst/>
          </a:prstGeom>
          <a:noFill/>
        </p:spPr>
        <p:txBody>
          <a:bodyPr wrap="none">
            <a:spAutoFit/>
          </a:bodyPr>
          <a:lstStyle/>
          <a:p>
            <a:pPr algn="ctr">
              <a:defRPr sz="1500" i="1">
                <a:solidFill>
                  <a:srgbClr val="14B8A6"/>
                </a:solidFill>
              </a:defRPr>
            </a:pPr>
            <a:r>
              <a:t>Your IT team can build</a:t>
            </a:r>
            <a:br/>
            <a:r>
              <a:t>custom connectors:</a:t>
            </a:r>
          </a:p>
        </p:txBody>
      </p:sp>
      <p:sp>
        <p:nvSpPr>
          <p:cNvPr id="13" name="TextBox 12"/>
          <p:cNvSpPr txBox="1"/>
          <p:nvPr/>
        </p:nvSpPr>
        <p:spPr>
          <a:xfrm>
            <a:off x="6492240" y="3383280"/>
            <a:ext cx="4754880" cy="2286000"/>
          </a:xfrm>
          <a:prstGeom prst="rect">
            <a:avLst/>
          </a:prstGeom>
          <a:noFill/>
        </p:spPr>
        <p:txBody>
          <a:bodyPr wrap="square">
            <a:spAutoFit/>
          </a:bodyPr>
          <a:lstStyle/>
          <a:p>
            <a:pPr algn="ctr">
              <a:defRPr sz="1500">
                <a:solidFill>
                  <a:srgbClr val="D1D5DB"/>
                </a:solidFill>
              </a:defRPr>
            </a:pPr>
            <a:r>
              <a:t>Connect to internal databases</a:t>
            </a:r>
            <a:br/>
            <a:r>
              <a:t>Query proprietary APIs</a:t>
            </a:r>
            <a:br/>
            <a:r>
              <a:t>Access company knowledge bases</a:t>
            </a:r>
            <a:br/>
            <a:r>
              <a:t>Integrate with any system</a:t>
            </a:r>
            <a:br/>
            <a:br/>
            <a:r>
              <a:t>Open standard by Anthropic</a:t>
            </a:r>
            <a:br/>
            <a:r>
              <a:t>Growing ecosystem of connectors</a:t>
            </a:r>
            <a:br/>
            <a:r>
              <a:t>Technical deep-dive in Day 3</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47120" cy="1371600"/>
          </a:xfrm>
          <a:prstGeom prst="rect">
            <a:avLst/>
          </a:prstGeom>
          <a:noFill/>
        </p:spPr>
        <p:txBody>
          <a:bodyPr wrap="none">
            <a:spAutoFit/>
          </a:bodyPr>
          <a:lstStyle/>
          <a:p>
            <a:pPr algn="ctr">
              <a:defRPr sz="5600" b="1">
                <a:solidFill>
                  <a:srgbClr val="FFFFFF"/>
                </a:solidFill>
              </a:defRPr>
            </a:pPr>
            <a:r>
              <a:t>Thank You</a:t>
            </a:r>
          </a:p>
        </p:txBody>
      </p:sp>
      <p:sp>
        <p:nvSpPr>
          <p:cNvPr id="3" name="TextBox 2"/>
          <p:cNvSpPr txBox="1"/>
          <p:nvPr/>
        </p:nvSpPr>
        <p:spPr>
          <a:xfrm>
            <a:off x="457200" y="3657600"/>
            <a:ext cx="11247120" cy="457200"/>
          </a:xfrm>
          <a:prstGeom prst="rect">
            <a:avLst/>
          </a:prstGeom>
          <a:noFill/>
        </p:spPr>
        <p:txBody>
          <a:bodyPr wrap="none">
            <a:spAutoFit/>
          </a:bodyPr>
          <a:lstStyle/>
          <a:p>
            <a:pPr algn="ctr">
              <a:defRPr sz="2000">
                <a:solidFill>
                  <a:srgbClr val="14B8A6"/>
                </a:solidFill>
              </a:defRPr>
            </a:pPr>
            <a:r>
              <a:t>scott@aiacopilot.com  •  aiacopilot.com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20E337-D44A-4148-B6B4-463D6CF2BDB0}">
  <we:reference id="f5f369e5-aa35-49d7-ad7b-638152ddb008" version="1.0.0.0" store="EXCatalog" storeType="EXCatalog"/>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TotalTime>
  <Words>13659</Words>
  <Application>Microsoft Office PowerPoint</Application>
  <PresentationFormat>Widescreen</PresentationFormat>
  <Paragraphs>1642</Paragraphs>
  <Slides>86</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86</vt:i4>
      </vt:variant>
    </vt:vector>
  </HeadingPairs>
  <TitlesOfParts>
    <vt:vector size="8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2026-02-16T14:31:01Z</dcterms:modified>
  <cp:category/>
</cp:coreProperties>
</file>