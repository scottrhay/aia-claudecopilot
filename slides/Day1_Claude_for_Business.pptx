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6"/>
  </p:notesMasterIdLst>
  <p:sldIdLst>
    <p:sldId id="256" r:id="rId2"/>
    <p:sldId id="257" r:id="rId3"/>
    <p:sldId id="258" r:id="rId4"/>
    <p:sldId id="259" r:id="rId5"/>
    <p:sldId id="260" r:id="rId6"/>
    <p:sldId id="261" r:id="rId7"/>
    <p:sldId id="262" r:id="rId8"/>
    <p:sldId id="263" r:id="rId9"/>
    <p:sldId id="264" r:id="rId10"/>
    <p:sldId id="266" r:id="rId11"/>
    <p:sldId id="342" r:id="rId93"/>
    <p:sldId id="267" r:id="rId12"/>
    <p:sldId id="268" r:id="rId13"/>
    <p:sldId id="269" r:id="rId14"/>
    <p:sldId id="270" r:id="rId15"/>
    <p:sldId id="271" r:id="rId16"/>
    <p:sldId id="335" r:id="rId17"/>
    <p:sldId id="336" r:id="rId18"/>
    <p:sldId id="337" r:id="rId19"/>
    <p:sldId id="272" r:id="rId20"/>
    <p:sldId id="273" r:id="rId21"/>
    <p:sldId id="274" r:id="rId22"/>
    <p:sldId id="275" r:id="rId23"/>
    <p:sldId id="276" r:id="rId24"/>
    <p:sldId id="277" r:id="rId25"/>
    <p:sldId id="278" r:id="rId26"/>
    <p:sldId id="279" r:id="rId27"/>
    <p:sldId id="280" r:id="rId28"/>
    <p:sldId id="281" r:id="rId29"/>
    <p:sldId id="282" r:id="rId30"/>
    <p:sldId id="339" r:id="rId31"/>
    <p:sldId id="283" r:id="rId32"/>
    <p:sldId id="284" r:id="rId33"/>
    <p:sldId id="285" r:id="rId34"/>
    <p:sldId id="286" r:id="rId35"/>
    <p:sldId id="287" r:id="rId36"/>
    <p:sldId id="288" r:id="rId37"/>
    <p:sldId id="340" r:id="rId38"/>
    <p:sldId id="289" r:id="rId39"/>
    <p:sldId id="290" r:id="rId40"/>
    <p:sldId id="291" r:id="rId41"/>
    <p:sldId id="292" r:id="rId42"/>
    <p:sldId id="293" r:id="rId43"/>
    <p:sldId id="294" r:id="rId44"/>
    <p:sldId id="341"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1" dt="2026-02-15T23:23:09.7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microsoft.com/office/2016/11/relationships/changesInfo" Target="changesInfos/changesInfo1.xml"/><Relationship Id="rId92" Type="http://schemas.microsoft.com/office/2015/10/relationships/revisionInfo" Target="revisionInfo.xml"/><Relationship Id="rId93" Type="http://schemas.openxmlformats.org/officeDocument/2006/relationships/slide" Target="slides/slide8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pc:chgData name="Scott Hay" userId="e95d3f44-f6c0-414c-b281-41a9346c1b81" providerId="ADAL" clId="{4D76341F-F64C-4A8E-A4EF-1A11730F38E9}" dt="2026-02-15T23:39:28.478" v="9" actId="14100"/>
      <pc:docMkLst>
        <pc:docMk/>
      </pc:docMkLst>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5T23:31:55.689" v="4" actId="47"/>
        <pc:sldMkLst>
          <pc:docMk/>
          <pc:sldMk cId="0" sldId="339"/>
        </pc:sldMkLst>
      </pc:sldChg>
      <pc:sldChg chg="del">
        <pc:chgData name="Scott Hay" userId="e95d3f44-f6c0-414c-b281-41a9346c1b81" providerId="ADAL" clId="{4D76341F-F64C-4A8E-A4EF-1A11730F38E9}" dt="2026-02-15T23:26:38.391" v="2" actId="47"/>
        <pc:sldMkLst>
          <pc:docMk/>
          <pc:sldMk cId="0"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endParaRPr/>
          </a:p>
          <a:p>
            <a:r>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a:p>
          <a:p>
            <a:r>
              <a:t>So this isn't emerging technology. This is the new infrastructure. And Claude is at the center of enterprise adoption.</a:t>
            </a:r>
          </a:p>
          <a:p>
            <a:endParaRPr/>
          </a:p>
          <a:p>
            <a:r>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a:p>
          <a:p>
            <a:r>
              <a:t>Sonnet is your daily driver. It balances intelligence with speed and cost. For 90 percent of business tasks — writing emails, analyzing documents, creating reports, building spreadsheets — Sonnet is the right choice. Most of what we'll do today uses Sonnet.</a:t>
            </a:r>
          </a:p>
          <a:p>
            <a:endParaRPr/>
          </a:p>
          <a:p>
            <a:r>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a:p>
          <a:p>
            <a:r>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Sometimes you need Claude to think harder - that's Extended Thinking</a:t>
            </a:r>
          </a:p>
          <a:p>
            <a:endParaRPr/>
          </a:p>
          <a:p>
            <a:r>
              <a:t>KEY POINTS:</a:t>
            </a:r>
          </a:p>
          <a:p>
            <a:r>
              <a:t>   * Extended Thinking = Claude shows its reasoning process</a:t>
            </a:r>
          </a:p>
          <a:p>
            <a:r>
              <a:t>   * Like 'think step-by-step' but automatic and deeper</a:t>
            </a:r>
          </a:p>
          <a:p>
            <a:r>
              <a:t>   * Takes longer but produces better results for complex tasks</a:t>
            </a:r>
          </a:p>
          <a:p>
            <a:r>
              <a:t>   * You see the thinking unfold in real-time</a:t>
            </a:r>
          </a:p>
          <a:p>
            <a:endParaRPr/>
          </a:p>
          <a:p>
            <a:r>
              <a:t>REAL-WORLD EXAMPLE:</a:t>
            </a:r>
          </a:p>
          <a:p>
            <a:r>
              <a:t>   Complex financial analysis: Claude breaks down assumptions, checks logic, identifies edge cases - you see all of it.</a:t>
            </a:r>
          </a:p>
          <a:p>
            <a:endParaRPr/>
          </a:p>
          <a:p>
            <a:r>
              <a:t>TRANSITION:</a:t>
            </a:r>
          </a:p>
          <a:p>
            <a:r>
              <a:t>   When should you use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Extended Thinking costs more tokens (longer responses)</a:t>
            </a:r>
          </a:p>
          <a:p>
            <a:r>
              <a:t>   * Worth it for complex tasks</a:t>
            </a:r>
          </a:p>
          <a:p>
            <a:r>
              <a:t>   * Toggle on/off per conversation</a:t>
            </a:r>
          </a:p>
          <a:p>
            <a:r>
              <a:t>   * Default: Regular mode for most work</a:t>
            </a:r>
          </a:p>
          <a:p>
            <a:endParaRPr/>
          </a:p>
          <a:p>
            <a:r>
              <a:t>ASK THE CLASS:</a:t>
            </a:r>
          </a:p>
          <a:p>
            <a:r>
              <a:t>   "What's a complex task in YOUR work where seeing Claude's reasoning would help?"</a:t>
            </a:r>
          </a:p>
          <a:p>
            <a:r>
              <a:t>   [PAUSE for 30-60 seconds]</a:t>
            </a:r>
          </a:p>
          <a:p>
            <a:endParaRPr/>
          </a:p>
          <a:p>
            <a:r>
              <a:t>TRANSITION:</a:t>
            </a:r>
          </a:p>
          <a:p>
            <a:r>
              <a:t>   Now let's see the full Claude ecosystem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 min</a:t>
            </a:r>
          </a:p>
          <a:p>
            <a:endParaRPr/>
          </a:p>
          <a:p>
            <a:r>
              <a:t>Here's what makes Claude different from every other AI assistant on the market — and I'm going to give you the numbers to prove it.</a:t>
            </a:r>
          </a:p>
          <a:p>
            <a:endParaRPr/>
          </a:p>
          <a:p>
            <a:r>
              <a:t>First, the enterprise story. TELUS — 57,000 employees — deployed Claude across their entire organization. Result? Half a million staff hours saved and over $90 million in business benefit. That's not a pilot. That's production at scale.</a:t>
            </a:r>
          </a:p>
          <a:p>
            <a:endParaRPr/>
          </a:p>
          <a:p>
            <a:r>
              <a:t>Zapier built over 800 internal AI agents powered by Claude. Their adoption rate? 89 percent. That wasn't mandated from the top — it was organic. People chose to use it because it made them faster.</a:t>
            </a:r>
          </a:p>
          <a:p>
            <a:endParaRPr/>
          </a:p>
          <a:p>
            <a:r>
              <a:t>Bridgewater Associates — one of the most secretive, security-conscious hedge funds in the world — uses Claude Opus for investment research. They cut reporting time by 50 to 70 percent with analyst-level precision. If Bridgewater trusts it with their financial models, that tells you something about the security posture.</a:t>
            </a:r>
          </a:p>
          <a:p>
            <a:endParaRPr/>
          </a:p>
          <a:p>
            <a:r>
              <a:t>Now, competitive positioning. GitHub Copilot is the industry standard for code autocomplete — 110 millisecond response time, inline suggestions. It's great at what it does. But Claude is a different category entirely. Copilot autocompletes your lines. Claude reads your entire codebase, understands the architecture, runs terminal commands, edits multiple files, and explains what it did and why.</a:t>
            </a:r>
          </a:p>
          <a:p>
            <a:endParaRPr/>
          </a:p>
          <a:p>
            <a:r>
              <a:t>Claude has a 200,000 token context window versus Copilot's file-based approach. It has native terminal access, custom commands, skills, hooks, MCP integration — none of which Copilot offers. For business users, Claude is the only AI assistant that handles document creation, data analysis, Excel formulas, and complex multi-step workflows in a single conversation.</a:t>
            </a:r>
          </a:p>
          <a:p>
            <a:endParaRPr/>
          </a:p>
          <a:p>
            <a:r>
              <a:t>The key stat: 300,000 business customers. 24 percent of major banks. 38 percent of retail chatbots. This isn't early-adopter territory anymore — this is mainstream enterprise adoption.</a:t>
            </a:r>
          </a:p>
          <a:p>
            <a:endParaRPr/>
          </a:p>
          <a:p>
            <a:r>
              <a:t>SOURCE: Anthropic enterprise case studies (datastudios.org), UncoverAlpha market analysis 2026.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4 min</a:t>
            </a:r>
          </a:p>
          <a:p>
            <a:endParaRPr/>
          </a:p>
          <a:p>
            <a:r>
              <a:t>Let's look at what else lives in Settings beyond Personal Preferences.</a:t>
            </a:r>
          </a:p>
          <a:p>
            <a:endParaRPr/>
          </a:p>
          <a:p>
            <a:r>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a:p>
          <a:p>
            <a:r>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a:p>
          <a:p>
            <a:r>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a:p>
          <a:p>
            <a:r>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a:t>
            </a:r>
          </a:p>
          <a:p/>
          <a:p>
            <a:r>
              <a:t>How many of you have Claude on your phone? If you don't, grab it right now — iOS App Store or Google Play, search "Claude by Anthropic." It's free to download, and your Pro or Team subscription works across all devices.</a:t>
            </a:r>
          </a:p>
          <a:p/>
          <a:p>
            <a:r>
              <a:t>Three reasons this matters for business users.</a:t>
            </a:r>
          </a:p>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p>
            <a:r>
              <a:t>Enable Voice Mode in your phone settings. That's the unlock that makes mobile Claude genuinely useful rather than just a small-screen chat window.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H</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Haiku</a:t>
            </a:r>
            <a:br/>
            <a:r>
              <a:t>Fastest • Lowest cost</a:t>
            </a:r>
            <a:br/>
            <a: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S</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Sonnet</a:t>
            </a:r>
            <a:br/>
            <a:r>
              <a:t>Balanced • Most work</a:t>
            </a:r>
            <a:br/>
            <a: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O</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Opus</a:t>
            </a:r>
            <a:br/>
            <a:r>
              <a:t>Most capable</a:t>
            </a:r>
            <a:br/>
            <a:r>
              <a:t>Critical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needed</a:t>
            </a:r>
          </a:p>
          <a:p>
            <a:pPr>
              <a:spcAft>
                <a:spcPts val="1200"/>
              </a:spcAft>
              <a:defRPr sz="1800">
                <a:solidFill>
                  <a:srgbClr val="FFFFFF"/>
                </a:solidFill>
              </a:defRPr>
            </a:pPr>
            <a:r>
              <a:t>  Straightforward tasks</a:t>
            </a:r>
          </a:p>
          <a:p>
            <a:pPr>
              <a:spcAft>
                <a:spcPts val="1200"/>
              </a:spcAft>
              <a:defRPr sz="1800">
                <a:solidFill>
                  <a:srgbClr val="FFFFFF"/>
                </a:solidFill>
              </a:defRPr>
            </a:pPr>
            <a:r>
              <a:t>  Iterating many times</a:t>
            </a:r>
          </a:p>
          <a:p>
            <a:pPr>
              <a:spcAft>
                <a:spcPts val="1200"/>
              </a:spcAft>
              <a:defRPr sz="1800">
                <a:solidFill>
                  <a:srgbClr val="FFFFFF"/>
                </a:solidFill>
              </a:defRPr>
            </a:pPr>
            <a:r>
              <a:t>  General productivity</a:t>
            </a:r>
          </a:p>
          <a:p>
            <a:pPr>
              <a:spcAft>
                <a:spcPts val="1200"/>
              </a:spcAft>
              <a:defRPr sz="1800">
                <a:solidFill>
                  <a:srgbClr val="FFFFFF"/>
                </a:solidFill>
              </a:defRPr>
            </a:pPr>
            <a: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Stakes are high</a:t>
            </a:r>
          </a:p>
          <a:p>
            <a:pPr>
              <a:spcAft>
                <a:spcPts val="1200"/>
              </a:spcAft>
              <a:defRPr sz="1800">
                <a:solidFill>
                  <a:srgbClr val="FFFFFF"/>
                </a:solidFill>
              </a:defRPr>
            </a:pPr>
            <a:r>
              <a:t>  Complexity is high</a:t>
            </a:r>
          </a:p>
          <a:p>
            <a:pPr>
              <a:spcAft>
                <a:spcPts val="1200"/>
              </a:spcAft>
              <a:defRPr sz="1800">
                <a:solidFill>
                  <a:srgbClr val="FFFFFF"/>
                </a:solidFill>
              </a:defRPr>
            </a:pPr>
            <a:r>
              <a:t>  Quality &gt; speed</a:t>
            </a:r>
          </a:p>
          <a:p>
            <a:pPr>
              <a:spcAft>
                <a:spcPts val="1200"/>
              </a:spcAft>
              <a:defRPr sz="1800">
                <a:solidFill>
                  <a:srgbClr val="FFFFFF"/>
                </a:solidFill>
              </a:defRPr>
            </a:pPr>
            <a:r>
              <a:t>  Critical decisions</a:t>
            </a:r>
          </a:p>
          <a:p>
            <a:pPr>
              <a:spcAft>
                <a:spcPts val="1200"/>
              </a:spcAft>
              <a:defRPr sz="1800">
                <a:solidFill>
                  <a:srgbClr val="FFFFFF"/>
                </a:solidFill>
              </a:defRPr>
            </a:pPr>
            <a:r>
              <a:t>  Best output needed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Claude's advanced reasoning capability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Complex analysis (multi-step)</a:t>
            </a:r>
          </a:p>
          <a:p>
            <a:pPr>
              <a:spcAft>
                <a:spcPts val="1200"/>
              </a:spcAft>
              <a:defRPr sz="1800">
                <a:solidFill>
                  <a:srgbClr val="FFFFFF"/>
                </a:solidFill>
              </a:defRPr>
            </a:pPr>
            <a:r>
              <a:t>  High-stakes decisions</a:t>
            </a:r>
          </a:p>
          <a:p>
            <a:pPr>
              <a:spcAft>
                <a:spcPts val="1200"/>
              </a:spcAft>
              <a:defRPr sz="1800">
                <a:solidFill>
                  <a:srgbClr val="FFFFFF"/>
                </a:solidFill>
              </a:defRPr>
            </a:pPr>
            <a:r>
              <a:t>  Technical problem-solving</a:t>
            </a:r>
          </a:p>
          <a:p>
            <a:pPr>
              <a:spcAft>
                <a:spcPts val="1200"/>
              </a:spcAft>
              <a:defRPr sz="1800">
                <a:solidFill>
                  <a:srgbClr val="FFFFFF"/>
                </a:solidFill>
              </a:defRPr>
            </a:pPr>
            <a:r>
              <a:t>  Detailed planning</a:t>
            </a:r>
          </a:p>
          <a:p>
            <a:pPr>
              <a:spcAft>
                <a:spcPts val="1200"/>
              </a:spcAft>
              <a:defRPr sz="1800">
                <a:solidFill>
                  <a:srgbClr val="FFFFFF"/>
                </a:solidFill>
              </a:defRPr>
            </a:pPr>
            <a: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questions</a:t>
            </a:r>
          </a:p>
          <a:p>
            <a:pPr>
              <a:spcAft>
                <a:spcPts val="1200"/>
              </a:spcAft>
              <a:defRPr sz="1800">
                <a:solidFill>
                  <a:srgbClr val="FFFFFF"/>
                </a:solidFill>
              </a:defRPr>
            </a:pPr>
            <a:r>
              <a:t>  Quick drafts</a:t>
            </a:r>
          </a:p>
          <a:p>
            <a:pPr>
              <a:spcAft>
                <a:spcPts val="1200"/>
              </a:spcAft>
              <a:defRPr sz="1800">
                <a:solidFill>
                  <a:srgbClr val="FFFFFF"/>
                </a:solidFill>
              </a:defRPr>
            </a:pPr>
            <a:r>
              <a:t>  Straightforward tasks</a:t>
            </a:r>
          </a:p>
          <a:p>
            <a:pPr>
              <a:spcAft>
                <a:spcPts val="1200"/>
              </a:spcAft>
              <a:defRPr sz="1800">
                <a:solidFill>
                  <a:srgbClr val="FFFFFF"/>
                </a:solidFill>
              </a:defRPr>
            </a:pPr>
            <a:r>
              <a:t>  Speed matters</a:t>
            </a:r>
          </a:p>
          <a:p>
            <a:pPr>
              <a:spcAft>
                <a:spcPts val="1200"/>
              </a:spcAft>
              <a:defRPr sz="1800">
                <a:solidFill>
                  <a:srgbClr val="FFFFFF"/>
                </a:solidFill>
              </a:defRPr>
            </a:pPr>
            <a:r>
              <a:t>  Casual brainstorming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Makes Claude Different?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Long context • Accurate • Safe • Versatile • Citations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Desktop App: Autonomous Features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Claude.ai (What You Know)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You ask → Claude answers → repeat</a:t>
            </a:r>
          </a:p>
          <a:p>
            <a:pPr>
              <a:spcAft>
                <a:spcPts val="1200"/>
              </a:spcAft>
              <a:defRPr sz="1800">
                <a:solidFill>
                  <a:srgbClr val="FFFFFF"/>
                </a:solidFill>
              </a:defRPr>
            </a:pPr>
            <a:r>
              <a:t>  You stay in the chat the whole time</a:t>
            </a:r>
          </a:p>
          <a:p>
            <a:pPr>
              <a:spcAft>
                <a:spcPts val="1200"/>
              </a:spcAft>
              <a:defRPr sz="1800">
                <a:solidFill>
                  <a:srgbClr val="FFFFFF"/>
                </a:solidFill>
              </a:defRPr>
            </a:pPr>
            <a:r>
              <a:t>  Great for real-time collaboration</a:t>
            </a:r>
          </a:p>
          <a:p>
            <a:pPr>
              <a:spcAft>
                <a:spcPts val="1200"/>
              </a:spcAft>
              <a:defRPr sz="1800">
                <a:solidFill>
                  <a:srgbClr val="FFFFFF"/>
                </a:solidFill>
              </a:defRPr>
            </a:pPr>
            <a:r>
              <a:t>  Immediate feedback and iteration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Claude for Work (NEW Preview)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Three modes: Chat, Cowork, Code tabs</a:t>
            </a:r>
          </a:p>
          <a:p>
            <a:pPr>
              <a:spcAft>
                <a:spcPts val="1200"/>
              </a:spcAft>
              <a:defRPr sz="1800">
                <a:solidFill>
                  <a:srgbClr val="FFFFFF"/>
                </a:solidFill>
              </a:defRPr>
            </a:pPr>
            <a:r>
              <a:t>  Set goal → Walk away → Come back later</a:t>
            </a:r>
          </a:p>
          <a:p>
            <a:pPr>
              <a:spcAft>
                <a:spcPts val="1200"/>
              </a:spcAft>
              <a:defRPr sz="1800">
                <a:solidFill>
                  <a:srgbClr val="FFFFFF"/>
                </a:solidFill>
              </a:defRPr>
            </a:pPr>
            <a:r>
              <a:t>  Works autonomously in background</a:t>
            </a:r>
          </a:p>
          <a:p>
            <a:pPr>
              <a:spcAft>
                <a:spcPts val="1200"/>
              </a:spcAft>
              <a:defRPr sz="1800">
                <a:solidFill>
                  <a:srgbClr val="FFFFFF"/>
                </a:solidFill>
              </a:defRPr>
            </a:pPr>
            <a:r>
              <a:t>  Handles complex multi-step tasks</a:t>
            </a:r>
          </a:p>
          <a:p>
            <a:pPr>
              <a:spcAft>
                <a:spcPts val="1200"/>
              </a:spcAft>
              <a:defRPr sz="1800">
                <a:solidFill>
                  <a:srgbClr val="FFFFFF"/>
                </a:solidFill>
              </a:defRPr>
            </a:pPr>
            <a:r>
              <a:t>  Task presets: 'Optimize my week', 'Organize screenshots', etc.</a:t>
            </a:r>
          </a:p>
          <a:p>
            <a:pPr>
              <a:spcAft>
                <a:spcPts val="1200"/>
              </a:spcAft>
              <a:defRPr sz="1800">
                <a:solidFill>
                  <a:srgbClr val="FFFFFF"/>
                </a:solidFill>
              </a:defRPr>
            </a:pPr>
            <a:r>
              <a:t>  You check in when YOU want</a:t>
            </a:r>
          </a:p>
          <a:p>
            <a:pPr>
              <a:spcAft>
                <a:spcPts val="1200"/>
              </a:spcAft>
              <a:defRPr sz="1800">
                <a:solidFill>
                  <a:srgbClr val="FFFFFF"/>
                </a:solidFill>
              </a:defRPr>
            </a:pPr>
            <a:r>
              <a:t>  Available: Windows + Mac Preview</a:t>
            </a:r>
          </a:p>
          <a:p>
            <a:pPr>
              <a:spcAft>
                <a:spcPts val="1200"/>
              </a:spcAft>
              <a:defRPr sz="1800">
                <a:solidFill>
                  <a:srgbClr val="FFFFFF"/>
                </a:solidFill>
              </a:defRPr>
            </a:pPr>
            <a:r>
              <a:t>  Plugin integration (customize workflows)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for Work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PERFECT FOR: Complex multi-step tasks (2+ hours of work)</a:t>
            </a:r>
          </a:p>
          <a:p>
            <a:pPr>
              <a:spcBef>
                <a:spcPts val="800"/>
              </a:spcBef>
              <a:spcAft>
                <a:spcPts val="800"/>
              </a:spcAft>
              <a:defRPr sz="2200">
                <a:solidFill>
                  <a:srgbClr val="FFFFFF"/>
                </a:solidFill>
              </a:defRPr>
            </a:pPr>
            <a:r>
              <a:t>     • Competitive research &amp; analysis</a:t>
            </a:r>
          </a:p>
          <a:p>
            <a:pPr>
              <a:spcBef>
                <a:spcPts val="800"/>
              </a:spcBef>
              <a:spcAft>
                <a:spcPts val="800"/>
              </a:spcAft>
              <a:defRPr sz="2200">
                <a:solidFill>
                  <a:srgbClr val="FFFFFF"/>
                </a:solidFill>
              </a:defRPr>
            </a:pPr>
            <a:r>
              <a:t>     • Writing long documents (PRDs, reports, proposals)</a:t>
            </a:r>
          </a:p>
          <a:p>
            <a:pPr>
              <a:spcBef>
                <a:spcPts val="800"/>
              </a:spcBef>
              <a:spcAft>
                <a:spcPts val="800"/>
              </a:spcAft>
              <a:defRPr sz="2200">
                <a:solidFill>
                  <a:srgbClr val="FFFFFF"/>
                </a:solidFill>
              </a:defRPr>
            </a:pPr>
            <a:r>
              <a:t>     • Data analysis across multiple files</a:t>
            </a:r>
          </a:p>
          <a:p>
            <a:pPr>
              <a:spcBef>
                <a:spcPts val="800"/>
              </a:spcBef>
              <a:spcAft>
                <a:spcPts val="800"/>
              </a:spcAft>
              <a:defRPr sz="2200">
                <a:solidFill>
                  <a:srgbClr val="FFFFFF"/>
                </a:solidFill>
              </a:defRPr>
            </a:pPr>
            <a:r>
              <a:t>     • Content creation with multiple iterations</a:t>
            </a:r>
          </a:p>
          <a:p>
            <a:pPr>
              <a:spcBef>
                <a:spcPts val="800"/>
              </a:spcBef>
              <a:spcAft>
                <a:spcPts val="800"/>
              </a:spcAft>
              <a:defRPr sz="2200">
                <a:solidFill>
                  <a:srgbClr val="FFFFFF"/>
                </a:solidFill>
              </a:defRPr>
            </a:pPr>
            <a:r>
              <a:t>  ❌ NOT IDEAL FOR: Quick questions, real-time collaboration, learning/exploration</a:t>
            </a:r>
          </a:p>
          <a:p>
            <a:pPr>
              <a:spcBef>
                <a:spcPts val="800"/>
              </a:spcBef>
              <a:spcAft>
                <a:spcPts val="800"/>
              </a:spcAft>
              <a:defRPr sz="2200">
                <a:solidFill>
                  <a:srgbClr val="FFFFFF"/>
                </a:solidFill>
              </a:defRPr>
            </a:pPr>
            <a:r>
              <a:t>  🎯 THE RULE: If you'd normally block 2+ hours on calendar → Use Cowork. Quick task → Use Claude.ai</a:t>
            </a:r>
          </a:p>
          <a:p>
            <a:pPr>
              <a:spcBef>
                <a:spcPts val="800"/>
              </a:spcBef>
              <a:spcAft>
                <a:spcPts val="800"/>
              </a:spcAft>
              <a:defRPr sz="2200">
                <a:solidFill>
                  <a:srgbClr val="FFFFFF"/>
                </a:solidFill>
              </a:defRPr>
            </a:pPr>
            <a:r>
              <a:t>  💻 HOW TO GET IT: Download Claude Desktop App (Windows/Mac) - Pro/Team subscribers get autonomous features in Preview</a:t>
            </a:r>
          </a:p>
          <a:p>
            <a:pPr>
              <a:spcBef>
                <a:spcPts val="800"/>
              </a:spcBef>
              <a:spcAft>
                <a:spcPts val="800"/>
              </a:spcAft>
              <a:defRPr sz="2200">
                <a:solidFill>
                  <a:srgbClr val="FFFFFF"/>
                </a:solidFill>
              </a:defRPr>
            </a:pPr>
            <a:r>
              <a:t>  ⚠️ PREVIEW NOTE: Early access = expect bugs, limited rollout, features evolving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Reduce the Human's Job to One Reliable Behavior</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Your ONE job: brain dump. Claude handles structuring, formatting, routing. The messier the input, the more value.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tretch>
            <a:fillRect/>
          </a:stretch>
        </p:blipFill>
        <p:spPr>
          <a:xfrm>
            <a:off x="457200" y="1188720"/>
            <a:ext cx="8229600" cy="530352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Treat Prompts Like APIs, Not Creative Writing</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Great prompts have defined inputs, expected outputs, and error handling — just like API contracts.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699801" y="1800808"/>
            <a:ext cx="10635523" cy="441338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457200" y="365760"/>
            <a:ext cx="137160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548640"/>
            <a:ext cx="10972800" cy="365760"/>
          </a:xfrm>
          <a:prstGeom prst="rect">
            <a:avLst/>
          </a:prstGeom>
          <a:noFill/>
        </p:spPr>
        <p:txBody>
          <a:bodyPr wrap="none">
            <a:spAutoFit/>
          </a:bodyPr>
          <a:lstStyle/>
          <a:p>
            <a:pPr>
              <a:defRPr sz="1400" b="1">
                <a:solidFill>
                  <a:srgbClr val="14B8A6"/>
                </a:solidFill>
              </a:defRPr>
            </a:pPr>
            <a:r>
              <a:t>ENGINEERING PRINCIPLE</a:t>
            </a:r>
          </a:p>
        </p:txBody>
      </p:sp>
      <p:sp>
        <p:nvSpPr>
          <p:cNvPr id="4" name="TextBox 3"/>
          <p:cNvSpPr txBox="1"/>
          <p:nvPr/>
        </p:nvSpPr>
        <p:spPr>
          <a:xfrm>
            <a:off x="457200" y="1097280"/>
            <a:ext cx="10972800" cy="1828800"/>
          </a:xfrm>
          <a:prstGeom prst="rect">
            <a:avLst/>
          </a:prstGeom>
          <a:noFill/>
        </p:spPr>
        <p:txBody>
          <a:bodyPr wrap="square">
            <a:spAutoFit/>
          </a:bodyPr>
          <a:lstStyle/>
          <a:p>
            <a:pPr>
              <a:defRPr sz="4000" b="1">
                <a:solidFill>
                  <a:srgbClr val="FFFFFF"/>
                </a:solidFill>
              </a:defRPr>
            </a:pPr>
            <a:r>
              <a:t>Build Trust Mechanisms, Not Just Capabilities</a:t>
            </a:r>
          </a:p>
        </p:txBody>
      </p:sp>
      <p:sp>
        <p:nvSpPr>
          <p:cNvPr id="5" name="TextBox 4"/>
          <p:cNvSpPr txBox="1"/>
          <p:nvPr/>
        </p:nvSpPr>
        <p:spPr>
          <a:xfrm>
            <a:off x="457200" y="3200400"/>
            <a:ext cx="10058400" cy="3200400"/>
          </a:xfrm>
          <a:prstGeom prst="rect">
            <a:avLst/>
          </a:prstGeom>
          <a:noFill/>
        </p:spPr>
        <p:txBody>
          <a:bodyPr wrap="square">
            <a:spAutoFit/>
          </a:bodyPr>
          <a:lstStyle/>
          <a:p>
            <a:pPr>
              <a:defRPr sz="2000">
                <a:solidFill>
                  <a:srgbClr val="9CA3AF"/>
                </a:solidFill>
              </a:defRPr>
            </a:pPr>
            <a:r>
              <a:t>Verification &gt; capability. Confidence flags, source citations, uncertainty markers. Trust earned through transparency.</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on Your Phone</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iOS &amp; Android — your AI assistant goes where you go</a:t>
            </a:r>
          </a:p>
        </p:txBody>
      </p:sp>
      <p:sp>
        <p:nvSpPr>
          <p:cNvPr id="4" name="Rounded Rectangle 3"/>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3108960" cy="640080"/>
          </a:xfrm>
          <a:prstGeom prst="rect">
            <a:avLst/>
          </a:prstGeom>
          <a:noFill/>
        </p:spPr>
        <p:txBody>
          <a:bodyPr wrap="none">
            <a:spAutoFit/>
          </a:bodyPr>
          <a:lstStyle/>
          <a:p>
            <a:pPr algn="ctr">
              <a:defRPr sz="3600"/>
            </a:pPr>
            <a:r>
              <a:t>📱</a:t>
            </a:r>
          </a:p>
        </p:txBody>
      </p:sp>
      <p:sp>
        <p:nvSpPr>
          <p:cNvPr id="6" name="TextBox 5"/>
          <p:cNvSpPr txBox="1"/>
          <p:nvPr/>
        </p:nvSpPr>
        <p:spPr>
          <a:xfrm>
            <a:off x="640080" y="2651760"/>
            <a:ext cx="3108960" cy="457200"/>
          </a:xfrm>
          <a:prstGeom prst="rect">
            <a:avLst/>
          </a:prstGeom>
          <a:noFill/>
        </p:spPr>
        <p:txBody>
          <a:bodyPr wrap="none">
            <a:spAutoFit/>
          </a:bodyPr>
          <a:lstStyle/>
          <a:p>
            <a:pPr algn="ctr">
              <a:defRPr sz="2000" b="1">
                <a:solidFill>
                  <a:srgbClr val="FFFFFF"/>
                </a:solidFill>
              </a:defRPr>
            </a:pPr>
            <a:r>
              <a:t>Voice on the Go</a:t>
            </a:r>
          </a:p>
        </p:txBody>
      </p:sp>
      <p:sp>
        <p:nvSpPr>
          <p:cNvPr id="7" name="TextBox 6"/>
          <p:cNvSpPr txBox="1"/>
          <p:nvPr/>
        </p:nvSpPr>
        <p:spPr>
          <a:xfrm>
            <a:off x="640080" y="3200400"/>
            <a:ext cx="3108960" cy="2011680"/>
          </a:xfrm>
          <a:prstGeom prst="rect">
            <a:avLst/>
          </a:prstGeom>
          <a:noFill/>
        </p:spPr>
        <p:txBody>
          <a:bodyPr wrap="square">
            <a:spAutoFit/>
          </a:bodyPr>
          <a:lstStyle/>
          <a:p>
            <a:pPr algn="ctr">
              <a:defRPr sz="1400">
                <a:solidFill>
                  <a:srgbClr val="9CA3AF"/>
                </a:solidFill>
              </a:defRPr>
            </a:pPr>
            <a:r>
              <a:t>Dictate prompts, get spoken</a:t>
            </a:r>
            <a:br/>
            <a:r>
              <a:t>responses. Meeting prep while</a:t>
            </a:r>
            <a:br/>
            <a:r>
              <a:t>walking, email drafts from</a:t>
            </a:r>
            <a:br/>
            <a:r>
              <a:t>your car, brainstorm anywhere.</a:t>
            </a:r>
          </a:p>
        </p:txBody>
      </p:sp>
      <p:sp>
        <p:nvSpPr>
          <p:cNvPr id="8" name="Rounded Rectangle 7"/>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3108960" cy="640080"/>
          </a:xfrm>
          <a:prstGeom prst="rect">
            <a:avLst/>
          </a:prstGeom>
          <a:noFill/>
        </p:spPr>
        <p:txBody>
          <a:bodyPr wrap="none">
            <a:spAutoFit/>
          </a:bodyPr>
          <a:lstStyle/>
          <a:p>
            <a:pPr algn="ctr">
              <a:defRPr sz="3600"/>
            </a:pPr>
            <a:r>
              <a:t>📷</a:t>
            </a:r>
          </a:p>
        </p:txBody>
      </p:sp>
      <p:sp>
        <p:nvSpPr>
          <p:cNvPr id="10" name="TextBox 9"/>
          <p:cNvSpPr txBox="1"/>
          <p:nvPr/>
        </p:nvSpPr>
        <p:spPr>
          <a:xfrm>
            <a:off x="4389120" y="2651760"/>
            <a:ext cx="3108960" cy="457200"/>
          </a:xfrm>
          <a:prstGeom prst="rect">
            <a:avLst/>
          </a:prstGeom>
          <a:noFill/>
        </p:spPr>
        <p:txBody>
          <a:bodyPr wrap="none">
            <a:spAutoFit/>
          </a:bodyPr>
          <a:lstStyle/>
          <a:p>
            <a:pPr algn="ctr">
              <a:defRPr sz="2000" b="1">
                <a:solidFill>
                  <a:srgbClr val="FFFFFF"/>
                </a:solidFill>
              </a:defRPr>
            </a:pPr>
            <a:r>
              <a:t>Camera + Vision</a:t>
            </a:r>
          </a:p>
        </p:txBody>
      </p:sp>
      <p:sp>
        <p:nvSpPr>
          <p:cNvPr id="11" name="TextBox 10"/>
          <p:cNvSpPr txBox="1"/>
          <p:nvPr/>
        </p:nvSpPr>
        <p:spPr>
          <a:xfrm>
            <a:off x="4389120" y="3200400"/>
            <a:ext cx="3108960" cy="2011680"/>
          </a:xfrm>
          <a:prstGeom prst="rect">
            <a:avLst/>
          </a:prstGeom>
          <a:noFill/>
        </p:spPr>
        <p:txBody>
          <a:bodyPr wrap="square">
            <a:spAutoFit/>
          </a:bodyPr>
          <a:lstStyle/>
          <a:p>
            <a:pPr algn="ctr">
              <a:defRPr sz="1400">
                <a:solidFill>
                  <a:srgbClr val="9CA3AF"/>
                </a:solidFill>
              </a:defRPr>
            </a:pPr>
            <a:r>
              <a:t>Snap a whiteboard, photo of</a:t>
            </a:r>
            <a:br/>
            <a:r>
              <a:t>a document, screenshot of an</a:t>
            </a:r>
            <a:br/>
            <a:r>
              <a:t>error. Claude reads images</a:t>
            </a:r>
            <a:br/>
            <a:r>
              <a:t>natively — no typing needed.</a:t>
            </a:r>
          </a:p>
        </p:txBody>
      </p:sp>
      <p:sp>
        <p:nvSpPr>
          <p:cNvPr id="12" name="Rounded Rectangle 11"/>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2011680"/>
            <a:ext cx="3108960" cy="640080"/>
          </a:xfrm>
          <a:prstGeom prst="rect">
            <a:avLst/>
          </a:prstGeom>
          <a:noFill/>
        </p:spPr>
        <p:txBody>
          <a:bodyPr wrap="none">
            <a:spAutoFit/>
          </a:bodyPr>
          <a:lstStyle/>
          <a:p>
            <a:pPr algn="ctr">
              <a:defRPr sz="3600"/>
            </a:pPr>
            <a:r>
              <a:t>💬</a:t>
            </a:r>
          </a:p>
        </p:txBody>
      </p:sp>
      <p:sp>
        <p:nvSpPr>
          <p:cNvPr id="14" name="TextBox 13"/>
          <p:cNvSpPr txBox="1"/>
          <p:nvPr/>
        </p:nvSpPr>
        <p:spPr>
          <a:xfrm>
            <a:off x="8138159" y="2651760"/>
            <a:ext cx="3108960" cy="457200"/>
          </a:xfrm>
          <a:prstGeom prst="rect">
            <a:avLst/>
          </a:prstGeom>
          <a:noFill/>
        </p:spPr>
        <p:txBody>
          <a:bodyPr wrap="none">
            <a:spAutoFit/>
          </a:bodyPr>
          <a:lstStyle/>
          <a:p>
            <a:pPr algn="ctr">
              <a:defRPr sz="2000" b="1">
                <a:solidFill>
                  <a:srgbClr val="FFFFFF"/>
                </a:solidFill>
              </a:defRPr>
            </a:pPr>
            <a:r>
              <a:t>Quick Access</a:t>
            </a:r>
          </a:p>
        </p:txBody>
      </p:sp>
      <p:sp>
        <p:nvSpPr>
          <p:cNvPr id="15" name="TextBox 14"/>
          <p:cNvSpPr txBox="1"/>
          <p:nvPr/>
        </p:nvSpPr>
        <p:spPr>
          <a:xfrm>
            <a:off x="8138159" y="3200400"/>
            <a:ext cx="3108960" cy="2011680"/>
          </a:xfrm>
          <a:prstGeom prst="rect">
            <a:avLst/>
          </a:prstGeom>
          <a:noFill/>
        </p:spPr>
        <p:txBody>
          <a:bodyPr wrap="square">
            <a:spAutoFit/>
          </a:bodyPr>
          <a:lstStyle/>
          <a:p>
            <a:pPr algn="ctr">
              <a:defRPr sz="1400">
                <a:solidFill>
                  <a:srgbClr val="9CA3AF"/>
                </a:solidFill>
              </a:defRPr>
            </a:pPr>
            <a:r>
              <a:t>Same conversations sync</a:t>
            </a:r>
            <a:br/>
            <a:r>
              <a:t>across phone, desktop, and</a:t>
            </a:r>
            <a:br/>
            <a:r>
              <a:t>web. Start on your laptop,</a:t>
            </a:r>
            <a:br/>
            <a:r>
              <a:t>continue on your phone.</a:t>
            </a:r>
          </a:p>
        </p:txBody>
      </p:sp>
      <p:sp>
        <p:nvSpPr>
          <p:cNvPr id="16" name="TextBox 15"/>
          <p:cNvSpPr txBox="1"/>
          <p:nvPr/>
        </p:nvSpPr>
        <p:spPr>
          <a:xfrm>
            <a:off x="457200" y="5852160"/>
            <a:ext cx="11247120" cy="457200"/>
          </a:xfrm>
          <a:prstGeom prst="rect">
            <a:avLst/>
          </a:prstGeom>
          <a:noFill/>
        </p:spPr>
        <p:txBody>
          <a:bodyPr wrap="none">
            <a:spAutoFit/>
          </a:bodyPr>
          <a:lstStyle/>
          <a:p>
            <a:pPr algn="ctr">
              <a:defRPr sz="1600" i="1">
                <a:solidFill>
                  <a:srgbClr val="14B8A6"/>
                </a:solidFill>
              </a:defRPr>
            </a:pPr>
            <a:r>
              <a:t>Pro tip: Enable Voice Mode on mobile for hands-free AI conversations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13674</Words>
  <Application>Microsoft Office PowerPoint</Application>
  <PresentationFormat>Widescreen</PresentationFormat>
  <Paragraphs>1637</Paragraphs>
  <Slides>84</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2026-02-15T23:39:30Z</dcterms:modified>
  <cp:category/>
</cp:coreProperties>
</file>