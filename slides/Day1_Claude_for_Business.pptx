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96" r:id="rId15"/>
    <p:sldId id="288" r:id="rId16"/>
    <p:sldId id="289" r:id="rId17"/>
    <p:sldId id="290" r:id="rId18"/>
    <p:sldId id="291" r:id="rId19"/>
    <p:sldId id="292" r:id="rId20"/>
    <p:sldId id="294" r:id="rId21"/>
    <p:sldId id="295" r:id="rId22"/>
    <p:sldId id="297" r:id="rId23"/>
    <p:sldId id="293" r:id="rId24"/>
    <p:sldId id="280" r:id="rId25"/>
    <p:sldId id="259" r:id="rId26"/>
    <p:sldId id="260" r:id="rId27"/>
    <p:sldId id="261" r:id="rId28"/>
    <p:sldId id="262" r:id="rId29"/>
    <p:sldId id="271" r:id="rId30"/>
    <p:sldId id="335" r:id="rId31"/>
    <p:sldId id="336" r:id="rId32"/>
    <p:sldId id="337" r:id="rId33"/>
    <p:sldId id="266" r:id="rId34"/>
    <p:sldId id="267" r:id="rId35"/>
    <p:sldId id="342" r:id="rId36"/>
    <p:sldId id="272" r:id="rId37"/>
    <p:sldId id="273" r:id="rId38"/>
    <p:sldId id="274" r:id="rId39"/>
    <p:sldId id="275" r:id="rId40"/>
    <p:sldId id="276" r:id="rId41"/>
    <p:sldId id="343" r:id="rId42"/>
    <p:sldId id="298" r:id="rId43"/>
    <p:sldId id="277" r:id="rId44"/>
    <p:sldId id="315" r:id="rId45"/>
    <p:sldId id="279" r:id="rId46"/>
    <p:sldId id="299" r:id="rId47"/>
    <p:sldId id="300" r:id="rId48"/>
    <p:sldId id="301" r:id="rId49"/>
    <p:sldId id="302" r:id="rId50"/>
    <p:sldId id="303" r:id="rId51"/>
    <p:sldId id="304" r:id="rId52"/>
    <p:sldId id="305" r:id="rId53"/>
    <p:sldId id="306" r:id="rId54"/>
    <p:sldId id="307" r:id="rId55"/>
    <p:sldId id="278" r:id="rId56"/>
    <p:sldId id="344" r:id="rId57"/>
    <p:sldId id="309" r:id="rId58"/>
    <p:sldId id="310" r:id="rId59"/>
    <p:sldId id="311" r:id="rId60"/>
    <p:sldId id="312" r:id="rId61"/>
    <p:sldId id="313" r:id="rId62"/>
    <p:sldId id="314" r:id="rId63"/>
    <p:sldId id="317" r:id="rId64"/>
    <p:sldId id="318" r:id="rId65"/>
    <p:sldId id="316" r:id="rId66"/>
    <p:sldId id="319" r:id="rId67"/>
    <p:sldId id="320" r:id="rId68"/>
    <p:sldId id="321" r:id="rId69"/>
    <p:sldId id="322" r:id="rId70"/>
    <p:sldId id="323" r:id="rId71"/>
    <p:sldId id="325" r:id="rId72"/>
    <p:sldId id="326" r:id="rId73"/>
    <p:sldId id="327" r:id="rId74"/>
    <p:sldId id="345" r:id="rId75"/>
    <p:sldId id="328" r:id="rId76"/>
    <p:sldId id="329" r:id="rId77"/>
    <p:sldId id="330" r:id="rId78"/>
    <p:sldId id="331" r:id="rId79"/>
    <p:sldId id="332" r:id="rId80"/>
    <p:sldId id="333" r:id="rId81"/>
    <p:sldId id="334"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2" dt="2026-02-16T06:47:36.06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microsoft.com/office/2016/11/relationships/changesInfo" Target="changesInfos/changesInfo1.xml"/><Relationship Id="rId8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3A654-EB9C-5F6B-33A9-A47E5BB112F4}"/>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B0CE117-3C3B-5575-499E-FBE52620E61B}"/>
              </a:ext>
            </a:extLst>
          </p:cNvPr>
          <p:cNvSpPr>
            <a:spLocks noGrp="1"/>
          </p:cNvSpPr>
          <p:nvPr>
            <p:ph type="body" idx="1"/>
          </p:nvPr>
        </p:nvSpPr>
        <p:spPr/>
        <p:txBody>
          <a:bodyPr/>
          <a:lstStyle/>
          <a:p>
            <a:r>
              <a:t>DURATION: 3 min</a:t>
            </a:r>
          </a:p>
          <a:p>
            <a:endParaRPr/>
          </a:p>
          <a:p>
            <a:r>
              <a:t>How many of you have Claude on your phone? If you don't, grab it right now — iOS App Store or Google Play, search "Claude by Anthropic." It's free to download, and your Pro or Team subscription works across all devices.</a:t>
            </a:r>
          </a:p>
          <a:p>
            <a:endParaRPr/>
          </a:p>
          <a:p>
            <a:r>
              <a:t>Three reasons this matters for business users.</a:t>
            </a:r>
          </a:p>
          <a:p>
            <a:endParaRPr/>
          </a:p>
          <a:p>
            <a:r>
              <a:t>First — Voice on the Go. Open Claude on your phone, tap the microphone, and talk. Dictate a prompt while you're walking to a meeting. Ask Claude to draft an email response while you're in an Uber. Brainstorm ideas during your commute. Voice Mode on mobile is genuinely hands-free AI. I use this on my iPhone constantly — it's faster than typing and the voice quality is excellent.</a:t>
            </a:r>
          </a:p>
          <a:p>
            <a:endParaRPr/>
          </a:p>
          <a:p>
            <a:r>
              <a:t>Second — Camera and Vision. This is the one people don't expect. Snap a photo of a whiteboard after a meeting. Claude reads it and generates structured notes with action items. Take a picture of a printed document — Claude extracts the text and can summarize, translate, or analyze it. Screenshot an error message on your screen and ask Claude what it means. The camera turns your phone into a document scanner with AI understanding built in.</a:t>
            </a:r>
          </a:p>
          <a:p>
            <a:endParaRPr/>
          </a:p>
          <a:p>
            <a:r>
              <a:t>Third — Quick Access and sync. Your conversations sync across phone, desktop, and web. Start a complex analysis on your laptop at work. Continue the conversation on your phone during your commute. Pick it back up on your desktop at home. Same Projects, same context, seamless handoff.</a:t>
            </a:r>
          </a:p>
          <a:p>
            <a:endParaRPr/>
          </a:p>
          <a:p>
            <a:r>
              <a:t>The mental model shift: Claude isn't something you sit down at your computer to use. It's something that's always available — in your pocket, ready when you need it. The best prompt is the one you send in the moment you need help, not the one you remember to type later at your desk.</a:t>
            </a:r>
          </a:p>
          <a:p>
            <a:endParaRPr/>
          </a:p>
          <a:p>
            <a:r>
              <a:t>Enable Voice Mode in your phone settings. That's the unlock that makes mobile Claude genuinely useful rather than just a small-screen chat window.</a:t>
            </a:r>
          </a:p>
        </p:txBody>
      </p:sp>
    </p:spTree>
    <p:extLst>
      <p:ext uri="{BB962C8B-B14F-4D97-AF65-F5344CB8AC3E}">
        <p14:creationId xmlns:p14="http://schemas.microsoft.com/office/powerpoint/2010/main" val="37334303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Instead of uploading files, Claude can read directly from your tools</a:t>
            </a:r>
          </a:p>
          <a:p>
            <a:endParaRPr/>
          </a:p>
          <a:p>
            <a:r>
              <a:t>KEY POINTS:</a:t>
            </a:r>
          </a:p>
          <a:p>
            <a:r>
              <a:t>   * Integrations = Claude connects to external tools</a:t>
            </a:r>
          </a:p>
          <a:p>
            <a:r>
              <a:t>   * Currently: GitHub, Google Docs (more coming)</a:t>
            </a:r>
          </a:p>
          <a:p>
            <a:r>
              <a:t>   * No file upload needed - Claude reads directly</a:t>
            </a:r>
          </a:p>
          <a:p>
            <a:r>
              <a:t>   * Stays in sync with live data</a:t>
            </a:r>
          </a:p>
          <a:p>
            <a:endParaRPr/>
          </a:p>
          <a:p>
            <a:r>
              <a:t>REAL-WORLD EXAMPLE:</a:t>
            </a:r>
          </a:p>
          <a:p>
            <a:r>
              <a:t>   Ask 'Review my Google Doc proposal' - Claude opens it, reads it, suggests edits. No download/upload.</a:t>
            </a:r>
          </a:p>
          <a:p>
            <a:endParaRPr/>
          </a:p>
          <a:p>
            <a:r>
              <a:t>TRANSITION:</a:t>
            </a:r>
          </a:p>
          <a:p>
            <a:r>
              <a:t>   Let's look at each integration</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
        <p:nvSpPr>
          <p:cNvPr id="14" name="TextBox 13"/>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Apps: Desktop &amp; Mobile</a:t>
            </a:r>
          </a:p>
        </p:txBody>
      </p:sp>
      <p:sp>
        <p:nvSpPr>
          <p:cNvPr id="15" name="TextBox 14"/>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Same Claude, native experience on every device</a:t>
            </a:r>
          </a:p>
        </p:txBody>
      </p:sp>
      <p:sp>
        <p:nvSpPr>
          <p:cNvPr id="16" name="Rounded Rectangle 3"/>
          <p:cNvSpPr/>
          <p:nvPr/>
        </p:nvSpPr>
        <p:spPr>
          <a:xfrm>
            <a:off x="45720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2011680"/>
            <a:ext cx="4754880" cy="548640"/>
          </a:xfrm>
          <a:prstGeom prst="rect">
            <a:avLst/>
          </a:prstGeom>
          <a:noFill/>
        </p:spPr>
        <p:txBody>
          <a:bodyPr wrap="none">
            <a:spAutoFit/>
          </a:bodyPr>
          <a:lstStyle/>
          <a:p>
            <a:pPr algn="ctr">
              <a:defRPr sz="3600"/>
            </a:pPr>
            <a:r>
              <a:t>🖥️</a:t>
            </a:r>
          </a:p>
        </p:txBody>
      </p:sp>
      <p:sp>
        <p:nvSpPr>
          <p:cNvPr id="18" name="TextBox 17"/>
          <p:cNvSpPr txBox="1"/>
          <p:nvPr/>
        </p:nvSpPr>
        <p:spPr>
          <a:xfrm>
            <a:off x="731520" y="2560320"/>
            <a:ext cx="4754880" cy="457200"/>
          </a:xfrm>
          <a:prstGeom prst="rect">
            <a:avLst/>
          </a:prstGeom>
          <a:noFill/>
        </p:spPr>
        <p:txBody>
          <a:bodyPr wrap="none">
            <a:spAutoFit/>
          </a:bodyPr>
          <a:lstStyle/>
          <a:p>
            <a:pPr algn="ctr">
              <a:defRPr sz="2400" b="1">
                <a:solidFill>
                  <a:srgbClr val="FFFFFF"/>
                </a:solidFill>
              </a:defRPr>
            </a:pPr>
            <a:r>
              <a:t>Desktop App</a:t>
            </a:r>
          </a:p>
        </p:txBody>
      </p:sp>
      <p:sp>
        <p:nvSpPr>
          <p:cNvPr id="19" name="TextBox 18"/>
          <p:cNvSpPr txBox="1"/>
          <p:nvPr/>
        </p:nvSpPr>
        <p:spPr>
          <a:xfrm>
            <a:off x="731520" y="3017520"/>
            <a:ext cx="4754880" cy="365760"/>
          </a:xfrm>
          <a:prstGeom prst="rect">
            <a:avLst/>
          </a:prstGeom>
          <a:noFill/>
        </p:spPr>
        <p:txBody>
          <a:bodyPr wrap="none">
            <a:spAutoFit/>
          </a:bodyPr>
          <a:lstStyle/>
          <a:p>
            <a:pPr algn="ctr">
              <a:defRPr sz="1400" i="1">
                <a:solidFill>
                  <a:srgbClr val="14B8A6"/>
                </a:solidFill>
              </a:defRPr>
            </a:pPr>
            <a:r>
              <a:t>Windows + Mac (Preview)</a:t>
            </a:r>
          </a:p>
        </p:txBody>
      </p:sp>
      <p:sp>
        <p:nvSpPr>
          <p:cNvPr id="8" name="TextBox 7"/>
          <p:cNvSpPr txBox="1"/>
          <p:nvPr/>
        </p:nvSpPr>
        <p:spPr>
          <a:xfrm>
            <a:off x="731520" y="3566160"/>
            <a:ext cx="4754880" cy="2194560"/>
          </a:xfrm>
          <a:prstGeom prst="rect">
            <a:avLst/>
          </a:prstGeom>
          <a:noFill/>
        </p:spPr>
        <p:txBody>
          <a:bodyPr wrap="square">
            <a:spAutoFit/>
          </a:bodyPr>
          <a:lstStyle/>
          <a:p>
            <a:pPr algn="ctr">
              <a:lnSpc>
                <a:spcPts val="2200"/>
              </a:lnSpc>
              <a:defRPr sz="1500">
                <a:solidFill>
                  <a:srgbClr val="D1D5DB"/>
                </a:solidFill>
              </a:defRPr>
            </a:pPr>
            <a:r>
              <a:t>Native app — no browser needed</a:t>
            </a:r>
            <a:br/>
            <a:r>
              <a:t>System-level file access</a:t>
            </a:r>
            <a:br/>
            <a:r>
              <a:t>Keyboard shortcuts &amp; quick launch</a:t>
            </a:r>
            <a:br/>
            <a:r>
              <a:t>Same Projects and conversations</a:t>
            </a:r>
            <a:br/>
            <a:r>
              <a:t>Offline queue for prompts</a:t>
            </a:r>
            <a:br/>
            <a:r>
              <a:t>Faster, more integrated experience</a:t>
            </a:r>
          </a:p>
        </p:txBody>
      </p:sp>
      <p:sp>
        <p:nvSpPr>
          <p:cNvPr id="9" name="Rounded Rectangle 8"/>
          <p:cNvSpPr/>
          <p:nvPr/>
        </p:nvSpPr>
        <p:spPr>
          <a:xfrm>
            <a:off x="6217920" y="1828800"/>
            <a:ext cx="5303520" cy="41148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11680"/>
            <a:ext cx="4754880" cy="548640"/>
          </a:xfrm>
          <a:prstGeom prst="rect">
            <a:avLst/>
          </a:prstGeom>
          <a:noFill/>
        </p:spPr>
        <p:txBody>
          <a:bodyPr wrap="none">
            <a:spAutoFit/>
          </a:bodyPr>
          <a:lstStyle/>
          <a:p>
            <a:pPr algn="ctr">
              <a:defRPr sz="3600"/>
            </a:pPr>
            <a:r>
              <a:t>📱</a:t>
            </a:r>
          </a:p>
        </p:txBody>
      </p:sp>
      <p:sp>
        <p:nvSpPr>
          <p:cNvPr id="11" name="TextBox 10"/>
          <p:cNvSpPr txBox="1"/>
          <p:nvPr/>
        </p:nvSpPr>
        <p:spPr>
          <a:xfrm>
            <a:off x="6492240" y="2560320"/>
            <a:ext cx="4754880" cy="457200"/>
          </a:xfrm>
          <a:prstGeom prst="rect">
            <a:avLst/>
          </a:prstGeom>
          <a:noFill/>
        </p:spPr>
        <p:txBody>
          <a:bodyPr wrap="none">
            <a:spAutoFit/>
          </a:bodyPr>
          <a:lstStyle/>
          <a:p>
            <a:pPr algn="ctr">
              <a:defRPr sz="2400" b="1">
                <a:solidFill>
                  <a:srgbClr val="FFFFFF"/>
                </a:solidFill>
              </a:defRPr>
            </a:pPr>
            <a:r>
              <a:t>Mobile Apps</a:t>
            </a:r>
          </a:p>
        </p:txBody>
      </p:sp>
      <p:sp>
        <p:nvSpPr>
          <p:cNvPr id="12" name="TextBox 11"/>
          <p:cNvSpPr txBox="1"/>
          <p:nvPr/>
        </p:nvSpPr>
        <p:spPr>
          <a:xfrm>
            <a:off x="6492240" y="3017520"/>
            <a:ext cx="4754880" cy="365760"/>
          </a:xfrm>
          <a:prstGeom prst="rect">
            <a:avLst/>
          </a:prstGeom>
          <a:noFill/>
        </p:spPr>
        <p:txBody>
          <a:bodyPr wrap="none">
            <a:spAutoFit/>
          </a:bodyPr>
          <a:lstStyle/>
          <a:p>
            <a:pPr algn="ctr">
              <a:defRPr sz="1400" i="1">
                <a:solidFill>
                  <a:srgbClr val="14B8A6"/>
                </a:solidFill>
              </a:defRPr>
            </a:pPr>
            <a:r>
              <a:t>iOS + Android</a:t>
            </a:r>
          </a:p>
        </p:txBody>
      </p:sp>
      <p:sp>
        <p:nvSpPr>
          <p:cNvPr id="13" name="TextBox 12"/>
          <p:cNvSpPr txBox="1"/>
          <p:nvPr/>
        </p:nvSpPr>
        <p:spPr>
          <a:xfrm>
            <a:off x="6492240" y="3566160"/>
            <a:ext cx="4754880" cy="2194560"/>
          </a:xfrm>
          <a:prstGeom prst="rect">
            <a:avLst/>
          </a:prstGeom>
          <a:noFill/>
        </p:spPr>
        <p:txBody>
          <a:bodyPr wrap="square">
            <a:spAutoFit/>
          </a:bodyPr>
          <a:lstStyle/>
          <a:p>
            <a:pPr algn="ctr">
              <a:lnSpc>
                <a:spcPts val="2200"/>
              </a:lnSpc>
              <a:defRPr sz="1500">
                <a:solidFill>
                  <a:srgbClr val="D1D5DB"/>
                </a:solidFill>
              </a:defRPr>
            </a:pPr>
            <a:r>
              <a:t>Voice Mode — hands-free AI</a:t>
            </a:r>
            <a:br/>
            <a:r>
              <a:t>Camera — snap &amp; analyze anything</a:t>
            </a:r>
            <a:br/>
            <a:r>
              <a:t>Conversations sync across devices</a:t>
            </a:r>
            <a:br/>
            <a:r>
              <a:t>Push notifications for responses</a:t>
            </a:r>
            <a:br/>
            <a:r>
              <a:t>Perfect for on-the-go work</a:t>
            </a:r>
            <a:br/>
            <a:r>
              <a:t>Start on phone, continue on desktop</a:t>
            </a:r>
          </a:p>
        </p:txBody>
      </p:sp>
    </p:spTree>
    <p:extLst>
      <p:ext uri="{BB962C8B-B14F-4D97-AF65-F5344CB8AC3E}">
        <p14:creationId xmlns:p14="http://schemas.microsoft.com/office/powerpoint/2010/main" val="850379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a:extLst>
            <a:ext uri="{FF2B5EF4-FFF2-40B4-BE49-F238E27FC236}">
              <a16:creationId xmlns:a16="http://schemas.microsoft.com/office/drawing/2014/main" id="{9568F48F-97BB-A890-E890-35D87820D99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F144F-A2F0-9C6E-3475-395130E6DC20}"/>
              </a:ext>
            </a:extLst>
          </p:cNvPr>
          <p:cNvSpPr txBox="1"/>
          <p:nvPr/>
        </p:nvSpPr>
        <p:spPr>
          <a:xfrm>
            <a:off x="457200" y="274320"/>
            <a:ext cx="11247120"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on Your Phone</a:t>
            </a:r>
          </a:p>
        </p:txBody>
      </p:sp>
      <p:sp>
        <p:nvSpPr>
          <p:cNvPr id="3" name="TextBox 2">
            <a:extLst>
              <a:ext uri="{FF2B5EF4-FFF2-40B4-BE49-F238E27FC236}">
                <a16:creationId xmlns:a16="http://schemas.microsoft.com/office/drawing/2014/main" id="{0A020FD7-BD6D-086A-E175-C57EFBE08D24}"/>
              </a:ext>
            </a:extLst>
          </p:cNvPr>
          <p:cNvSpPr txBox="1"/>
          <p:nvPr/>
        </p:nvSpPr>
        <p:spPr>
          <a:xfrm>
            <a:off x="457200" y="1097280"/>
            <a:ext cx="1124712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i="1">
                <a:solidFill>
                  <a:srgbClr val="9CA3AF"/>
                </a:solidFill>
              </a:defRPr>
            </a:pPr>
            <a:r>
              <a:rPr kumimoji="0" sz="2000" b="0" i="1" u="none" strike="noStrike" kern="1200" cap="none" spc="0" normalizeH="0" baseline="0" noProof="0">
                <a:ln>
                  <a:noFill/>
                </a:ln>
                <a:solidFill>
                  <a:srgbClr val="9CA3AF"/>
                </a:solidFill>
                <a:effectLst/>
                <a:uLnTx/>
                <a:uFillTx/>
                <a:latin typeface="Calibri"/>
                <a:ea typeface="+mn-ea"/>
                <a:cs typeface="+mn-cs"/>
              </a:rPr>
              <a:t>iOS &amp; Android — your AI assistant goes where you go</a:t>
            </a:r>
          </a:p>
        </p:txBody>
      </p:sp>
      <p:sp>
        <p:nvSpPr>
          <p:cNvPr id="4" name="Rounded Rectangle 3">
            <a:extLst>
              <a:ext uri="{FF2B5EF4-FFF2-40B4-BE49-F238E27FC236}">
                <a16:creationId xmlns:a16="http://schemas.microsoft.com/office/drawing/2014/main" id="{C17319CF-8700-96FE-70D6-9372ADF1F14C}"/>
              </a:ext>
            </a:extLst>
          </p:cNvPr>
          <p:cNvSpPr/>
          <p:nvPr/>
        </p:nvSpPr>
        <p:spPr>
          <a:xfrm>
            <a:off x="45720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1335A7FF-C49A-3246-88DB-FA3445C78AF3}"/>
              </a:ext>
            </a:extLst>
          </p:cNvPr>
          <p:cNvSpPr txBox="1"/>
          <p:nvPr/>
        </p:nvSpPr>
        <p:spPr>
          <a:xfrm>
            <a:off x="64008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6" name="TextBox 5">
            <a:extLst>
              <a:ext uri="{FF2B5EF4-FFF2-40B4-BE49-F238E27FC236}">
                <a16:creationId xmlns:a16="http://schemas.microsoft.com/office/drawing/2014/main" id="{74F612F4-B23F-8640-3E89-CD6378A29A6F}"/>
              </a:ext>
            </a:extLst>
          </p:cNvPr>
          <p:cNvSpPr txBox="1"/>
          <p:nvPr/>
        </p:nvSpPr>
        <p:spPr>
          <a:xfrm>
            <a:off x="64008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Voice on the Go</a:t>
            </a:r>
          </a:p>
        </p:txBody>
      </p:sp>
      <p:sp>
        <p:nvSpPr>
          <p:cNvPr id="7" name="TextBox 6">
            <a:extLst>
              <a:ext uri="{FF2B5EF4-FFF2-40B4-BE49-F238E27FC236}">
                <a16:creationId xmlns:a16="http://schemas.microsoft.com/office/drawing/2014/main" id="{6E637E35-A47A-D8AB-BFF8-354528FCA3ED}"/>
              </a:ext>
            </a:extLst>
          </p:cNvPr>
          <p:cNvSpPr txBox="1"/>
          <p:nvPr/>
        </p:nvSpPr>
        <p:spPr>
          <a:xfrm>
            <a:off x="64008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Dictate prompts, get spoken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responses. Meeting prep while</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walking, email drafts from</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your car, brainstorm anywhere.</a:t>
            </a:r>
          </a:p>
        </p:txBody>
      </p:sp>
      <p:sp>
        <p:nvSpPr>
          <p:cNvPr id="8" name="Rounded Rectangle 7">
            <a:extLst>
              <a:ext uri="{FF2B5EF4-FFF2-40B4-BE49-F238E27FC236}">
                <a16:creationId xmlns:a16="http://schemas.microsoft.com/office/drawing/2014/main" id="{8DB8E344-B1B2-AFAE-8A2E-41AB7249F1D3}"/>
              </a:ext>
            </a:extLst>
          </p:cNvPr>
          <p:cNvSpPr/>
          <p:nvPr/>
        </p:nvSpPr>
        <p:spPr>
          <a:xfrm>
            <a:off x="4206240"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5BF3D810-E77D-B4BE-D2C7-C99B5D29E138}"/>
              </a:ext>
            </a:extLst>
          </p:cNvPr>
          <p:cNvSpPr txBox="1"/>
          <p:nvPr/>
        </p:nvSpPr>
        <p:spPr>
          <a:xfrm>
            <a:off x="4389120"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a:extLst>
              <a:ext uri="{FF2B5EF4-FFF2-40B4-BE49-F238E27FC236}">
                <a16:creationId xmlns:a16="http://schemas.microsoft.com/office/drawing/2014/main" id="{34190E08-C41F-052B-3D51-449FDDF338F4}"/>
              </a:ext>
            </a:extLst>
          </p:cNvPr>
          <p:cNvSpPr txBox="1"/>
          <p:nvPr/>
        </p:nvSpPr>
        <p:spPr>
          <a:xfrm>
            <a:off x="4389120"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Camera + Vision</a:t>
            </a:r>
          </a:p>
        </p:txBody>
      </p:sp>
      <p:sp>
        <p:nvSpPr>
          <p:cNvPr id="11" name="TextBox 10">
            <a:extLst>
              <a:ext uri="{FF2B5EF4-FFF2-40B4-BE49-F238E27FC236}">
                <a16:creationId xmlns:a16="http://schemas.microsoft.com/office/drawing/2014/main" id="{1F6B3515-C064-7FFC-84A7-F9C1181A0C3A}"/>
              </a:ext>
            </a:extLst>
          </p:cNvPr>
          <p:cNvSpPr txBox="1"/>
          <p:nvPr/>
        </p:nvSpPr>
        <p:spPr>
          <a:xfrm>
            <a:off x="4389120"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Snap a whiteboard, photo of</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 document, screenshot of an</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error. Claude reads images</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natively — no typing needed.</a:t>
            </a:r>
          </a:p>
        </p:txBody>
      </p:sp>
      <p:sp>
        <p:nvSpPr>
          <p:cNvPr id="12" name="Rounded Rectangle 11">
            <a:extLst>
              <a:ext uri="{FF2B5EF4-FFF2-40B4-BE49-F238E27FC236}">
                <a16:creationId xmlns:a16="http://schemas.microsoft.com/office/drawing/2014/main" id="{DC84FEF6-D904-F911-A239-FD86638888F2}"/>
              </a:ext>
            </a:extLst>
          </p:cNvPr>
          <p:cNvSpPr/>
          <p:nvPr/>
        </p:nvSpPr>
        <p:spPr>
          <a:xfrm>
            <a:off x="7955279" y="1828800"/>
            <a:ext cx="3474720" cy="36576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8C481455-59AB-BA6C-B634-D33DEF366C52}"/>
              </a:ext>
            </a:extLst>
          </p:cNvPr>
          <p:cNvSpPr txBox="1"/>
          <p:nvPr/>
        </p:nvSpPr>
        <p:spPr>
          <a:xfrm>
            <a:off x="8138159" y="2011680"/>
            <a:ext cx="3108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a:pPr>
            <a:r>
              <a:rPr kumimoji="0" sz="3600" b="0" i="0" u="none" strike="noStrike" kern="1200" cap="none" spc="0" normalizeH="0" baseline="0" noProof="0">
                <a:ln>
                  <a:noFill/>
                </a:ln>
                <a:solidFill>
                  <a:prstClr val="black"/>
                </a:solidFill>
                <a:effectLst/>
                <a:uLnTx/>
                <a:uFillTx/>
                <a:latin typeface="Calibri"/>
                <a:ea typeface="+mn-ea"/>
                <a:cs typeface="+mn-cs"/>
              </a:rPr>
              <a:t>💬</a:t>
            </a:r>
          </a:p>
        </p:txBody>
      </p:sp>
      <p:sp>
        <p:nvSpPr>
          <p:cNvPr id="14" name="TextBox 13">
            <a:extLst>
              <a:ext uri="{FF2B5EF4-FFF2-40B4-BE49-F238E27FC236}">
                <a16:creationId xmlns:a16="http://schemas.microsoft.com/office/drawing/2014/main" id="{28D387CD-77CB-2695-DEEE-A10575802AA9}"/>
              </a:ext>
            </a:extLst>
          </p:cNvPr>
          <p:cNvSpPr txBox="1"/>
          <p:nvPr/>
        </p:nvSpPr>
        <p:spPr>
          <a:xfrm>
            <a:off x="8138159" y="2651760"/>
            <a:ext cx="310896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Quick Access</a:t>
            </a:r>
          </a:p>
        </p:txBody>
      </p:sp>
      <p:sp>
        <p:nvSpPr>
          <p:cNvPr id="15" name="TextBox 14">
            <a:extLst>
              <a:ext uri="{FF2B5EF4-FFF2-40B4-BE49-F238E27FC236}">
                <a16:creationId xmlns:a16="http://schemas.microsoft.com/office/drawing/2014/main" id="{D7AA44D0-D7BF-E7B1-AA2A-5243B9A53371}"/>
              </a:ext>
            </a:extLst>
          </p:cNvPr>
          <p:cNvSpPr txBox="1"/>
          <p:nvPr/>
        </p:nvSpPr>
        <p:spPr>
          <a:xfrm>
            <a:off x="8138159" y="3200400"/>
            <a:ext cx="310896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a:solidFill>
                  <a:srgbClr val="9CA3AF"/>
                </a:solidFill>
              </a:defRPr>
            </a:pPr>
            <a:r>
              <a:rPr kumimoji="0" sz="1400" b="0" i="0" u="none" strike="noStrike" kern="1200" cap="none" spc="0" normalizeH="0" baseline="0" noProof="0">
                <a:ln>
                  <a:noFill/>
                </a:ln>
                <a:solidFill>
                  <a:srgbClr val="9CA3AF"/>
                </a:solidFill>
                <a:effectLst/>
                <a:uLnTx/>
                <a:uFillTx/>
                <a:latin typeface="Calibri"/>
                <a:ea typeface="+mn-ea"/>
                <a:cs typeface="+mn-cs"/>
              </a:rPr>
              <a:t>Same conversations sync</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across phone, desktop, and</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web. Start on your laptop,</a:t>
            </a:r>
            <a:br>
              <a:rPr kumimoji="0" sz="1400" b="0" i="0" u="none" strike="noStrike" kern="1200" cap="none" spc="0" normalizeH="0" baseline="0" noProof="0">
                <a:ln>
                  <a:noFill/>
                </a:ln>
                <a:solidFill>
                  <a:srgbClr val="9CA3AF"/>
                </a:solidFill>
                <a:effectLst/>
                <a:uLnTx/>
                <a:uFillTx/>
                <a:latin typeface="Calibri"/>
                <a:ea typeface="+mn-ea"/>
                <a:cs typeface="+mn-cs"/>
              </a:rPr>
            </a:br>
            <a:r>
              <a:rPr kumimoji="0" sz="1400" b="0" i="0" u="none" strike="noStrike" kern="1200" cap="none" spc="0" normalizeH="0" baseline="0" noProof="0">
                <a:ln>
                  <a:noFill/>
                </a:ln>
                <a:solidFill>
                  <a:srgbClr val="9CA3AF"/>
                </a:solidFill>
                <a:effectLst/>
                <a:uLnTx/>
                <a:uFillTx/>
                <a:latin typeface="Calibri"/>
                <a:ea typeface="+mn-ea"/>
                <a:cs typeface="+mn-cs"/>
              </a:rPr>
              <a:t>continue on your phone.</a:t>
            </a:r>
          </a:p>
        </p:txBody>
      </p:sp>
      <p:sp>
        <p:nvSpPr>
          <p:cNvPr id="16" name="TextBox 15">
            <a:extLst>
              <a:ext uri="{FF2B5EF4-FFF2-40B4-BE49-F238E27FC236}">
                <a16:creationId xmlns:a16="http://schemas.microsoft.com/office/drawing/2014/main" id="{112129ED-E08A-3518-5558-BB3B22E19E8F}"/>
              </a:ext>
            </a:extLst>
          </p:cNvPr>
          <p:cNvSpPr txBox="1"/>
          <p:nvPr/>
        </p:nvSpPr>
        <p:spPr>
          <a:xfrm>
            <a:off x="457200" y="5852160"/>
            <a:ext cx="112471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i="1">
                <a:solidFill>
                  <a:srgbClr val="14B8A6"/>
                </a:solidFill>
              </a:defRPr>
            </a:pPr>
            <a:r>
              <a:rPr kumimoji="0" sz="1600" b="0" i="1" u="none" strike="noStrike" kern="1200" cap="none" spc="0" normalizeH="0" baseline="0" noProof="0">
                <a:ln>
                  <a:noFill/>
                </a:ln>
                <a:solidFill>
                  <a:srgbClr val="14B8A6"/>
                </a:solidFill>
                <a:effectLst/>
                <a:uLnTx/>
                <a:uFillTx/>
                <a:latin typeface="Calibri"/>
                <a:ea typeface="+mn-ea"/>
                <a:cs typeface="+mn-cs"/>
              </a:rPr>
              <a:t>Pro tip: Enable Voice Mode on mobile for hands-free AI conversations</a:t>
            </a:r>
          </a:p>
        </p:txBody>
      </p:sp>
    </p:spTree>
    <p:extLst>
      <p:ext uri="{BB962C8B-B14F-4D97-AF65-F5344CB8AC3E}">
        <p14:creationId xmlns:p14="http://schemas.microsoft.com/office/powerpoint/2010/main" val="41307976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TotalTime>
  <Words>13711</Words>
  <Application>Microsoft Office PowerPoint</Application>
  <PresentationFormat>Widescreen</PresentationFormat>
  <Paragraphs>1644</Paragraphs>
  <Slides>81</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2026-02-16T06:55:53Z</dcterms:modified>
  <cp:category/>
</cp:coreProperties>
</file>