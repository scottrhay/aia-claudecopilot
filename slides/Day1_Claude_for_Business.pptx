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2"/>
  </p:notesMasterIdLst>
  <p:sldIdLst>
    <p:sldId id="256" r:id="rId2"/>
    <p:sldId id="257" r:id="rId3"/>
    <p:sldId id="258" r:id="rId4"/>
    <p:sldId id="264" r:id="rId5"/>
    <p:sldId id="268" r:id="rId6"/>
    <p:sldId id="269" r:id="rId7"/>
    <p:sldId id="281" r:id="rId8"/>
    <p:sldId id="282" r:id="rId9"/>
    <p:sldId id="283" r:id="rId10"/>
    <p:sldId id="284" r:id="rId11"/>
    <p:sldId id="285" r:id="rId12"/>
    <p:sldId id="286" r:id="rId13"/>
    <p:sldId id="287" r:id="rId14"/>
    <p:sldId id="288" r:id="rId15"/>
    <p:sldId id="289" r:id="rId16"/>
    <p:sldId id="290" r:id="rId17"/>
    <p:sldId id="291" r:id="rId18"/>
    <p:sldId id="292" r:id="rId19"/>
    <p:sldId id="293" r:id="rId20"/>
    <p:sldId id="294" r:id="rId21"/>
    <p:sldId id="295" r:id="rId22"/>
    <p:sldId id="280" r:id="rId25"/>
    <p:sldId id="271" r:id="rId26"/>
    <p:sldId id="335" r:id="rId27"/>
    <p:sldId id="336" r:id="rId28"/>
    <p:sldId id="337" r:id="rId29"/>
    <p:sldId id="296" r:id="rId23"/>
    <p:sldId id="297" r:id="rId24"/>
    <p:sldId id="272" r:id="rId33"/>
    <p:sldId id="273" r:id="rId34"/>
    <p:sldId id="274" r:id="rId35"/>
    <p:sldId id="275" r:id="rId36"/>
    <p:sldId id="276" r:id="rId37"/>
    <p:sldId id="343" r:id="rId89"/>
    <p:sldId id="298" r:id="rId45"/>
    <p:sldId id="277" r:id="rId30"/>
    <p:sldId id="278" r:id="rId31"/>
    <p:sldId id="279" r:id="rId32"/>
    <p:sldId id="299" r:id="rId46"/>
    <p:sldId id="300" r:id="rId47"/>
    <p:sldId id="301" r:id="rId48"/>
    <p:sldId id="302" r:id="rId49"/>
    <p:sldId id="303" r:id="rId50"/>
    <p:sldId id="304" r:id="rId51"/>
    <p:sldId id="305" r:id="rId52"/>
    <p:sldId id="306" r:id="rId53"/>
    <p:sldId id="307" r:id="rId54"/>
    <p:sldId id="308" r:id="rId55"/>
    <p:sldId id="344" r:id="rId90"/>
    <p:sldId id="309" r:id="rId56"/>
    <p:sldId id="310" r:id="rId57"/>
    <p:sldId id="311" r:id="rId58"/>
    <p:sldId id="312" r:id="rId59"/>
    <p:sldId id="313" r:id="rId60"/>
    <p:sldId id="314" r:id="rId61"/>
    <p:sldId id="315" r:id="rId62"/>
    <p:sldId id="316" r:id="rId63"/>
    <p:sldId id="317" r:id="rId64"/>
    <p:sldId id="318" r:id="rId65"/>
    <p:sldId id="319" r:id="rId66"/>
    <p:sldId id="345" r:id="rId91"/>
    <p:sldId id="328" r:id="rId75"/>
    <p:sldId id="329" r:id="rId76"/>
    <p:sldId id="330" r:id="rId77"/>
    <p:sldId id="331" r:id="rId78"/>
    <p:sldId id="332" r:id="rId79"/>
    <p:sldId id="333" r:id="rId80"/>
    <p:sldId id="334" r:id="rId8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8" dt="2026-02-16T00:14:18.70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320" autoAdjust="0"/>
  </p:normalViewPr>
  <p:slideViewPr>
    <p:cSldViewPr snapToGrid="0" snapToObjects="1">
      <p:cViewPr varScale="1">
        <p:scale>
          <a:sx n="64" d="100"/>
          <a:sy n="64" d="100"/>
        </p:scale>
        <p:origin x="1354"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7.xml"/><Relationship Id="rId24" Type="http://schemas.openxmlformats.org/officeDocument/2006/relationships/slide" Target="slides/slide28.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36.xml"/><Relationship Id="rId31" Type="http://schemas.openxmlformats.org/officeDocument/2006/relationships/slide" Target="slides/slide37.xml"/><Relationship Id="rId32" Type="http://schemas.openxmlformats.org/officeDocument/2006/relationships/slide" Target="slides/slide3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35.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49.xml"/><Relationship Id="rId68" Type="http://schemas.openxmlformats.org/officeDocument/2006/relationships/slide" Target="slides/slide61.xml"/><Relationship Id="rId69" Type="http://schemas.openxmlformats.org/officeDocument/2006/relationships/slide" Target="slides/slide69.xml"/><Relationship Id="rId70" Type="http://schemas.openxmlformats.org/officeDocument/2006/relationships/slide" Target="slides/slide70.xml"/><Relationship Id="rId71" Type="http://schemas.openxmlformats.org/officeDocument/2006/relationships/slide" Target="slides/slide71.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62.xml"/><Relationship Id="rId76" Type="http://schemas.openxmlformats.org/officeDocument/2006/relationships/slide" Target="slides/slide63.xml"/><Relationship Id="rId77" Type="http://schemas.openxmlformats.org/officeDocument/2006/relationships/slide" Target="slides/slide64.xml"/><Relationship Id="rId78" Type="http://schemas.openxmlformats.org/officeDocument/2006/relationships/slide" Target="slides/slide65.xml"/><Relationship Id="rId79" Type="http://schemas.openxmlformats.org/officeDocument/2006/relationships/slide" Target="slides/slide66.xml"/><Relationship Id="rId80" Type="http://schemas.openxmlformats.org/officeDocument/2006/relationships/slide" Target="slides/slide67.xml"/><Relationship Id="rId81" Type="http://schemas.openxmlformats.org/officeDocument/2006/relationships/slide" Target="slides/slide68.xml"/><Relationship Id="rId82" Type="http://schemas.openxmlformats.org/officeDocument/2006/relationships/notesMaster" Target="notesMasters/notesMaster1.xml"/><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 Id="rId87" Type="http://schemas.microsoft.com/office/2016/11/relationships/changesInfo" Target="changesInfos/changesInfo1.xml"/><Relationship Id="rId88" Type="http://schemas.microsoft.com/office/2015/10/relationships/revisionInfo" Target="revisionInfo.xml"/><Relationship Id="rId89" Type="http://schemas.openxmlformats.org/officeDocument/2006/relationships/slide" Target="slides/slide34.xml"/><Relationship Id="rId90" Type="http://schemas.openxmlformats.org/officeDocument/2006/relationships/slide" Target="slides/slide49.xml"/><Relationship Id="rId91" Type="http://schemas.openxmlformats.org/officeDocument/2006/relationships/slide" Target="slides/slide6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0:33:08.420" v="114" actId="20578"/>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0:14:18.702" v="98"/>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pc:chgData name="Scott Hay" userId="e95d3f44-f6c0-414c-b281-41a9346c1b81" providerId="ADAL" clId="{4D76341F-F64C-4A8E-A4EF-1A11730F38E9}" dt="2026-02-16T00:14:18.702" v="98"/>
        <pc:sldMkLst>
          <pc:docMk/>
          <pc:sldMk cId="1144083189"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0:14:18.702" v="98"/>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0:14:18.702" v="98"/>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docChg>
  </pc:docChgLst>
  <pc:docChgLst>
    <pc:chgData name="Scott Hay" userId="e95d3f44-f6c0-414c-b281-41a9346c1b81" providerId="ADAL" clId="{844FE0EC-1ACE-457A-A062-606521DBE677}"/>
    <pc:docChg chg="undo custSel modSld">
      <pc:chgData name="Scott Hay" userId="e95d3f44-f6c0-414c-b281-41a9346c1b81" providerId="ADAL" clId="{844FE0EC-1ACE-457A-A062-606521DBE677}" dt="2026-02-13T19:40:22.844" v="66" actId="1037"/>
      <pc:docMkLst>
        <pc:docMk/>
      </pc:docMkLst>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pc:chgData name="Scott Hay" userId="e95d3f44-f6c0-414c-b281-41a9346c1b81" providerId="ADAL" clId="{844FE0EC-1ACE-457A-A062-606521DBE677}" dt="2026-02-13T19:38:40.257" v="42" actId="1440"/>
        <pc:sldMkLst>
          <pc:docMk/>
          <pc:sldMk cId="0" sldId="316"/>
        </pc:sldMkLst>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Morning: Understanding Claude and how to talk to it effectively</a:t>
            </a:r>
          </a:p>
          <a:p>
            <a:r>
              <a:t>   * Afternoon: Practical tools - Excel add-in and working with files</a:t>
            </a:r>
          </a:p>
          <a:p>
            <a:r>
              <a:t>   * Two 15-minute breaks plus 1-hour lunch</a:t>
            </a:r>
          </a:p>
          <a:p>
            <a:r>
              <a:t>   * Hands-on practice twice today</a:t>
            </a:r>
          </a:p>
          <a:p>
            <a:endParaRPr/>
          </a:p>
          <a:p>
            <a:r>
              <a:t>TRANSITION:</a:t>
            </a:r>
          </a:p>
          <a:p>
            <a:r>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5C318-5F1F-F80D-938E-F8A08E8E3A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5151CC-8B2A-F718-EF45-D9B57AEC6CC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5BE5E34-B5B4-A94B-E835-3901220AAFAB}"/>
              </a:ext>
            </a:extLst>
          </p:cNvPr>
          <p:cNvSpPr>
            <a:spLocks noGrp="1"/>
          </p:cNvSpPr>
          <p:nvPr>
            <p:ph type="body" sz="quarter" idx="3"/>
          </p:nvPr>
        </p:nvSpPr>
        <p:spPr/>
        <p:txBody>
          <a:bodyPr/>
          <a:lstStyle/>
          <a:p>
            <a:r>
              <a:t>TIME: 5 min</a:t>
            </a:r>
          </a:p>
          <a:p>
            <a:endParaRPr/>
          </a:p>
          <a:p>
            <a:r>
              <a:t>OPEN WITH:</a:t>
            </a:r>
          </a:p>
          <a:p>
            <a:r>
              <a:t>   The Claude desktop app is evolving - it's adding autonomous agent capabilities. This is where Anthropic is taking the platform. Download the desktop app, you get these features.</a:t>
            </a:r>
          </a:p>
          <a:p>
            <a:endParaRPr/>
          </a:p>
          <a:p>
            <a:r>
              <a:t>KEY POINTS:</a:t>
            </a:r>
          </a:p>
          <a:p>
            <a:r>
              <a:t>   * Claude Desktop App (Windows + Mac) is adding autonomous agent capabilities</a:t>
            </a:r>
          </a:p>
          <a:p>
            <a:r>
              <a:t>   * This is the direction: Desktop = advanced interface with autonomous work, Web = real-time collaboration</a:t>
            </a:r>
          </a:p>
          <a:p>
            <a:r>
              <a:t>   * Download desktop app → You get web features PLUS autonomous agents as they roll out</a:t>
            </a:r>
          </a:p>
          <a:p>
            <a:r>
              <a:t>   * UI: Three tabs at top - Chat (regular), Cowork (autonomous), Code (developer)</a:t>
            </a:r>
          </a:p>
          <a:p>
            <a:r>
              <a:t>   * Cowork interface: Pick preset task OR type custom command, choose folder, select model, click 'Let's go'</a:t>
            </a:r>
          </a:p>
          <a:p>
            <a:r>
              <a:t>   * You set direction with detail level: High-level overview, MVP scoping, Detailed spec, or custom</a:t>
            </a:r>
          </a:p>
          <a:p>
            <a:r>
              <a:t>   * Claude works in background while you attend meetings, work on other tasks, or go to lunch</a:t>
            </a:r>
          </a:p>
          <a:p>
            <a:r>
              <a:t>   * Check progress when ready - it's still working if you don't check in</a:t>
            </a:r>
          </a:p>
          <a:p>
            <a:r>
              <a:t>   * PREVIEW status: Early access for Claude Pro/Team subscribers, expect some rough edges</a:t>
            </a:r>
          </a:p>
          <a:p>
            <a:r>
              <a:t>   * This is where AI is heading - we'll explore these concepts deeply on Day 4 (Agent Teams)</a:t>
            </a:r>
          </a:p>
          <a:p>
            <a:r>
              <a:t>   * Task presets like 'Optimize my week', 'Organize screenshots', 'Find insights in files' - one-click delegation</a:t>
            </a:r>
          </a:p>
          <a:p>
            <a:endParaRPr/>
          </a:p>
          <a:p>
            <a:r>
              <a:t>ASK THE CLASS:</a:t>
            </a:r>
          </a:p>
          <a:p>
            <a:r>
              <a:t>   "What's a task you do monthly that takes 2-3 hours you'd love to delegate completely?"</a:t>
            </a:r>
          </a:p>
          <a:p>
            <a:r>
              <a:t>   [PAUSE for 30-60 seconds]</a:t>
            </a:r>
          </a:p>
          <a:p>
            <a:endParaRPr/>
          </a:p>
          <a:p>
            <a:r>
              <a:t>REAL-WORLD EXAMPLE:</a:t>
            </a:r>
          </a:p>
          <a:p>
            <a:r>
              <a:t>   Product manager scenario: You need competitive analysis of 5 products. Claude.ai: You spend 45 minutes prompting back-and-forth. Claude for Work: Tell it 'Research 5 competitors, analyze features, create comparison table with pricing', choose detail level, walk away. Come back in an hour to polished analysis.</a:t>
            </a:r>
          </a:p>
          <a:p>
            <a:endParaRPr/>
          </a:p>
          <a:p>
            <a:r>
              <a:t>TRANSITION:</a:t>
            </a:r>
          </a:p>
          <a:p>
            <a:r>
              <a:t>   Let me show you what kinds of tasks work best with this</a:t>
            </a:r>
          </a:p>
        </p:txBody>
      </p:sp>
      <p:sp>
        <p:nvSpPr>
          <p:cNvPr id="4" name="Slide Number Placeholder 3">
            <a:extLst>
              <a:ext uri="{FF2B5EF4-FFF2-40B4-BE49-F238E27FC236}">
                <a16:creationId xmlns:a16="http://schemas.microsoft.com/office/drawing/2014/main" id="{7F3407F3-9F10-26DD-E643-5064369FE00E}"/>
              </a:ext>
            </a:extLst>
          </p:cNvPr>
          <p:cNvSpPr>
            <a:spLocks noGrp="1"/>
          </p:cNvSpPr>
          <p:nvPr>
            <p:ph type="sldNum" sz="quarter" idx="5"/>
          </p:nvPr>
        </p:nvSpPr>
        <p:spPr/>
      </p:sp>
    </p:spTree>
    <p:extLst>
      <p:ext uri="{BB962C8B-B14F-4D97-AF65-F5344CB8AC3E}">
        <p14:creationId xmlns:p14="http://schemas.microsoft.com/office/powerpoint/2010/main" val="17655668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in Excel: Best when working IN the spreadsheet and need real-time help</a:t>
            </a:r>
          </a:p>
          <a:p>
            <a:r>
              <a:t>   * Claude.ai: Best when you want to analyze a file deeply without opening Excel</a:t>
            </a:r>
          </a:p>
          <a:p>
            <a:r>
              <a:t>   * M365 Copilot: Best for creating PivotTables, charts, automated insights (if you have it)</a:t>
            </a:r>
          </a:p>
          <a:p>
            <a:r>
              <a:t>   * They complement each other - not either/or</a:t>
            </a:r>
          </a:p>
          <a:p>
            <a:endParaRPr/>
          </a:p>
          <a:p>
            <a:r>
              <a:t>TRANSITION:</a:t>
            </a:r>
          </a:p>
          <a:p>
            <a:r>
              <a:t>   15-minute break, then we'll cover Artifacts and file handling</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Final lab - create real deliverables you can use at work tomorrow. Focus on document outputs.</a:t>
            </a:r>
          </a:p>
          <a:p>
            <a:endParaRPr/>
          </a:p>
          <a:p>
            <a:r>
              <a:t>KEY POINTS:</a:t>
            </a:r>
          </a:p>
          <a:p>
            <a:r>
              <a:t>   * Lab guide has all sample files: PDFs, CSVs, email templates</a:t>
            </a:r>
          </a:p>
          <a:p>
            <a:r>
              <a:t>   * Exercise 2: Upload PDF, get polished executive summary (real workflow)</a:t>
            </a:r>
          </a:p>
          <a:p>
            <a:r>
              <a:t>   * Exercise 3: This is powerful - CSV data becomes PowerPoint deck outline</a:t>
            </a:r>
          </a:p>
          <a:p>
            <a:r>
              <a:t>   * All outputs use artifacts - professional formatting, copy-paste ready</a:t>
            </a:r>
          </a:p>
          <a:p>
            <a:r>
              <a:t>   * Try all four if time allows, minimum 2 exercises</a:t>
            </a:r>
          </a:p>
          <a:p>
            <a:r>
              <a:t>   * Save your best artifacts - these are templates for future work</a:t>
            </a:r>
          </a:p>
          <a:p>
            <a:r>
              <a:t>   * I'll be walking around - show me your best output!</a:t>
            </a:r>
          </a:p>
          <a:p>
            <a:endParaRPr/>
          </a:p>
          <a:p>
            <a:r>
              <a:t>DEMO:</a:t>
            </a:r>
          </a:p>
          <a:p>
            <a:r>
              <a:t>   Show lab guide - point out sample files folder. Emphasize artifact outputs for each exercise.</a:t>
            </a:r>
          </a:p>
          <a:p>
            <a:endParaRPr/>
          </a:p>
          <a:p>
            <a:r>
              <a:t>TRANSITION:</a:t>
            </a:r>
          </a:p>
          <a:p>
            <a:r>
              <a:t>   Take 45 minutes. We'll reconvene at 3:15 for wrap-up and Q&amp;A.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Thank you for your attention today</a:t>
            </a:r>
          </a:p>
          <a:p>
            <a:r>
              <a:t>   * Practice what you learned this week</a:t>
            </a:r>
          </a:p>
          <a:p>
            <a:r>
              <a:t>   * Reach out if you have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Landscape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Interface &amp; Projects</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Prompt Engineering</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Lab 1</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Lab 2</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5" name="TextBox 4"/>
          <p:cNvSpPr txBox="1"/>
          <p:nvPr/>
        </p:nvSpPr>
        <p:spPr>
          <a:xfrm>
            <a:off x="1005840" y="1298448"/>
            <a:ext cx="10725912" cy="502920"/>
          </a:xfrm>
          <a:prstGeom prst="rect">
            <a:avLst/>
          </a:prstGeom>
          <a:noFill/>
        </p:spPr>
        <p:txBody>
          <a:bodyPr wrap="square">
            <a:spAutoFit/>
          </a:bodyPr>
          <a:lstStyle/>
          <a:p>
            <a:pPr>
              <a:defRPr sz="2200">
                <a:solidFill>
                  <a:srgbClr val="FFFFFF"/>
                </a:solidFill>
              </a:defRPr>
            </a:pPr>
            <a:r>
              <a:rPr dirty="0"/>
              <a:t>Choose the right Claude model for different tasks</a:t>
            </a:r>
          </a:p>
        </p:txBody>
      </p:sp>
      <p:sp>
        <p:nvSpPr>
          <p:cNvPr id="6" name="Oval 5"/>
          <p:cNvSpPr/>
          <p:nvPr/>
        </p:nvSpPr>
        <p:spPr>
          <a:xfrm>
            <a:off x="457200" y="1938528"/>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7" name="TextBox 6"/>
          <p:cNvSpPr txBox="1"/>
          <p:nvPr/>
        </p:nvSpPr>
        <p:spPr>
          <a:xfrm>
            <a:off x="1005840" y="1956816"/>
            <a:ext cx="10725912" cy="502920"/>
          </a:xfrm>
          <a:prstGeom prst="rect">
            <a:avLst/>
          </a:prstGeom>
          <a:noFill/>
        </p:spPr>
        <p:txBody>
          <a:bodyPr wrap="square">
            <a:spAutoFit/>
          </a:bodyPr>
          <a:lstStyle/>
          <a:p>
            <a:pPr>
              <a:defRPr sz="2200">
                <a:solidFill>
                  <a:srgbClr val="FFFFFF"/>
                </a:solidFill>
              </a:defRPr>
            </a:pPr>
            <a:r>
              <a:t>Navigate Claude.ai interface and manage Projects</a:t>
            </a:r>
          </a:p>
        </p:txBody>
      </p:sp>
      <p:sp>
        <p:nvSpPr>
          <p:cNvPr id="8" name="Oval 7"/>
          <p:cNvSpPr/>
          <p:nvPr/>
        </p:nvSpPr>
        <p:spPr>
          <a:xfrm>
            <a:off x="457200" y="2596896"/>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9" name="TextBox 8"/>
          <p:cNvSpPr txBox="1"/>
          <p:nvPr/>
        </p:nvSpPr>
        <p:spPr>
          <a:xfrm>
            <a:off x="1005840" y="2615184"/>
            <a:ext cx="10725912" cy="502920"/>
          </a:xfrm>
          <a:prstGeom prst="rect">
            <a:avLst/>
          </a:prstGeom>
          <a:noFill/>
        </p:spPr>
        <p:txBody>
          <a:bodyPr wrap="square">
            <a:spAutoFit/>
          </a:bodyPr>
          <a:lstStyle/>
          <a:p>
            <a:pPr>
              <a:defRPr sz="2200">
                <a:solidFill>
                  <a:srgbClr val="FFFFFF"/>
                </a:solidFill>
              </a:defRPr>
            </a:pPr>
            <a:r>
              <a:t>Write effective prompts and use Extended Thinking for complex tasks</a:t>
            </a:r>
          </a:p>
        </p:txBody>
      </p:sp>
      <p:sp>
        <p:nvSpPr>
          <p:cNvPr id="10" name="Oval 9"/>
          <p:cNvSpPr/>
          <p:nvPr/>
        </p:nvSpPr>
        <p:spPr>
          <a:xfrm>
            <a:off x="457200" y="3255264"/>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1" name="TextBox 10"/>
          <p:cNvSpPr txBox="1"/>
          <p:nvPr/>
        </p:nvSpPr>
        <p:spPr>
          <a:xfrm>
            <a:off x="1005840" y="3273552"/>
            <a:ext cx="10725912" cy="502920"/>
          </a:xfrm>
          <a:prstGeom prst="rect">
            <a:avLst/>
          </a:prstGeom>
          <a:noFill/>
        </p:spPr>
        <p:txBody>
          <a:bodyPr wrap="square">
            <a:spAutoFit/>
          </a:bodyPr>
          <a:lstStyle/>
          <a:p>
            <a:pPr>
              <a:defRPr sz="2200">
                <a:solidFill>
                  <a:srgbClr val="FFFFFF"/>
                </a:solidFill>
              </a:defRPr>
            </a:pPr>
            <a:r>
              <a:t>Use Claude in Excel for formula assistance and data analysis</a:t>
            </a:r>
          </a:p>
        </p:txBody>
      </p:sp>
      <p:sp>
        <p:nvSpPr>
          <p:cNvPr id="12" name="Oval 11"/>
          <p:cNvSpPr/>
          <p:nvPr/>
        </p:nvSpPr>
        <p:spPr>
          <a:xfrm>
            <a:off x="457200" y="3913631"/>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3" name="TextBox 12"/>
          <p:cNvSpPr txBox="1"/>
          <p:nvPr/>
        </p:nvSpPr>
        <p:spPr>
          <a:xfrm>
            <a:off x="1005840" y="3931919"/>
            <a:ext cx="10725912" cy="502920"/>
          </a:xfrm>
          <a:prstGeom prst="rect">
            <a:avLst/>
          </a:prstGeom>
          <a:noFill/>
        </p:spPr>
        <p:txBody>
          <a:bodyPr wrap="square">
            <a:spAutoFit/>
          </a:bodyPr>
          <a:lstStyle/>
          <a:p>
            <a:pPr>
              <a:defRPr sz="2200">
                <a:solidFill>
                  <a:srgbClr val="FFFFFF"/>
                </a:solidFill>
              </a:defRPr>
            </a:pPr>
            <a:r>
              <a:t>Use artifacts for code, documents, and diagrams</a:t>
            </a:r>
          </a:p>
        </p:txBody>
      </p:sp>
      <p:sp>
        <p:nvSpPr>
          <p:cNvPr id="14" name="Oval 13"/>
          <p:cNvSpPr/>
          <p:nvPr/>
        </p:nvSpPr>
        <p:spPr>
          <a:xfrm>
            <a:off x="457200" y="45720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5" name="TextBox 14"/>
          <p:cNvSpPr txBox="1"/>
          <p:nvPr/>
        </p:nvSpPr>
        <p:spPr>
          <a:xfrm>
            <a:off x="1005840" y="4590288"/>
            <a:ext cx="10725912" cy="502920"/>
          </a:xfrm>
          <a:prstGeom prst="rect">
            <a:avLst/>
          </a:prstGeom>
          <a:noFill/>
        </p:spPr>
        <p:txBody>
          <a:bodyPr wrap="square">
            <a:spAutoFit/>
          </a:bodyPr>
          <a:lstStyle/>
          <a:p>
            <a:pPr>
              <a:defRPr sz="2200">
                <a:solidFill>
                  <a:srgbClr val="FFFFFF"/>
                </a:solidFill>
              </a:defRPr>
            </a:pPr>
            <a:r>
              <a:t>Apply Claude to common business workflows</a:t>
            </a:r>
          </a:p>
        </p:txBody>
      </p:sp>
      <p:sp>
        <p:nvSpPr>
          <p:cNvPr id="16" name="Oval 15"/>
          <p:cNvSpPr/>
          <p:nvPr/>
        </p:nvSpPr>
        <p:spPr>
          <a:xfrm>
            <a:off x="457200" y="5230368"/>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7" name="TextBox 16"/>
          <p:cNvSpPr txBox="1"/>
          <p:nvPr/>
        </p:nvSpPr>
        <p:spPr>
          <a:xfrm>
            <a:off x="1005840" y="5248656"/>
            <a:ext cx="10725912" cy="502920"/>
          </a:xfrm>
          <a:prstGeom prst="rect">
            <a:avLst/>
          </a:prstGeom>
          <a:noFill/>
        </p:spPr>
        <p:txBody>
          <a:bodyPr wrap="square">
            <a:spAutoFit/>
          </a:bodyPr>
          <a:lstStyle/>
          <a:p>
            <a:pPr>
              <a:defRPr sz="2200">
                <a:solidFill>
                  <a:srgbClr val="FFFFFF"/>
                </a:solidFill>
              </a:defRPr>
            </a:pPr>
            <a:r>
              <a:t>Configure Claude Desktop, Voice Mode, and Personal Preferences</a:t>
            </a:r>
          </a:p>
        </p:txBody>
      </p:sp>
      <p:sp>
        <p:nvSpPr>
          <p:cNvPr id="18" name="Oval 17"/>
          <p:cNvSpPr/>
          <p:nvPr/>
        </p:nvSpPr>
        <p:spPr>
          <a:xfrm>
            <a:off x="457200" y="5888736"/>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9" name="TextBox 18"/>
          <p:cNvSpPr txBox="1"/>
          <p:nvPr/>
        </p:nvSpPr>
        <p:spPr>
          <a:xfrm>
            <a:off x="1005840" y="5907023"/>
            <a:ext cx="10725912" cy="502920"/>
          </a:xfrm>
          <a:prstGeom prst="rect">
            <a:avLst/>
          </a:prstGeom>
          <a:noFill/>
        </p:spPr>
        <p:txBody>
          <a:bodyPr wrap="square">
            <a:spAutoFit/>
          </a:bodyPr>
          <a:lstStyle/>
          <a:p>
            <a:pPr>
              <a:defRPr sz="2200">
                <a:solidFill>
                  <a:srgbClr val="FFFFFF"/>
                </a:solidFill>
              </a:defRPr>
            </a:pPr>
            <a:r>
              <a:t>Understand Claude's security model and data privacy controls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 &amp; Projects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45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Practical Prompting &amp; Documents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Exercise 1: Transform 3 vague prompts using GOLDEN framework (10 min)</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Exercise 2: Create a professional report from data (15 min) - artifact output</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Exercise 3: Generate presentation outline with speaker notes (10 min)</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Exercise 4: Analyze uploaded PDF and create summary (10 min)</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Share one success with the class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F2D3D"/>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2</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651760"/>
            <a:ext cx="219456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19456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19456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9184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74720" y="2651760"/>
            <a:ext cx="2194560" cy="548640"/>
          </a:xfrm>
          <a:prstGeom prst="rect">
            <a:avLst/>
          </a:prstGeom>
          <a:noFill/>
        </p:spPr>
        <p:txBody>
          <a:bodyPr wrap="none">
            <a:spAutoFit/>
          </a:bodyPr>
          <a:lstStyle/>
          <a:p>
            <a:pPr algn="ctr">
              <a:defRPr sz="3000"/>
            </a:pPr>
            <a:r>
              <a:t>✍️</a:t>
            </a:r>
          </a:p>
        </p:txBody>
      </p:sp>
      <p:sp>
        <p:nvSpPr>
          <p:cNvPr id="12" name="TextBox 11"/>
          <p:cNvSpPr txBox="1"/>
          <p:nvPr/>
        </p:nvSpPr>
        <p:spPr>
          <a:xfrm>
            <a:off x="3474720" y="3200400"/>
            <a:ext cx="219456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74720" y="3749039"/>
            <a:ext cx="219456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7472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12648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2651760"/>
            <a:ext cx="2194560" cy="548640"/>
          </a:xfrm>
          <a:prstGeom prst="rect">
            <a:avLst/>
          </a:prstGeom>
          <a:noFill/>
        </p:spPr>
        <p:txBody>
          <a:bodyPr wrap="none">
            <a:spAutoFit/>
          </a:bodyPr>
          <a:lstStyle/>
          <a:p>
            <a:pPr algn="ctr">
              <a:defRPr sz="3000"/>
            </a:pPr>
            <a:r>
              <a:t>📁</a:t>
            </a:r>
          </a:p>
        </p:txBody>
      </p:sp>
      <p:sp>
        <p:nvSpPr>
          <p:cNvPr id="17" name="TextBox 16"/>
          <p:cNvSpPr txBox="1"/>
          <p:nvPr/>
        </p:nvSpPr>
        <p:spPr>
          <a:xfrm>
            <a:off x="6309360" y="3200400"/>
            <a:ext cx="219456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309360" y="3749039"/>
            <a:ext cx="219456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30936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96112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0" y="2651760"/>
            <a:ext cx="2194560" cy="548640"/>
          </a:xfrm>
          <a:prstGeom prst="rect">
            <a:avLst/>
          </a:prstGeom>
          <a:noFill/>
        </p:spPr>
        <p:txBody>
          <a:bodyPr wrap="none">
            <a:spAutoFit/>
          </a:bodyPr>
          <a:lstStyle/>
          <a:p>
            <a:pPr algn="ctr">
              <a:defRPr sz="3000"/>
            </a:pPr>
            <a:r>
              <a:t>🧪</a:t>
            </a:r>
          </a:p>
        </p:txBody>
      </p:sp>
      <p:sp>
        <p:nvSpPr>
          <p:cNvPr id="22" name="TextBox 21"/>
          <p:cNvSpPr txBox="1"/>
          <p:nvPr/>
        </p:nvSpPr>
        <p:spPr>
          <a:xfrm>
            <a:off x="9144000" y="3200400"/>
            <a:ext cx="219456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166B4A3C-B798-1A33-1D51-98F193E8BD0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512AD6E-847D-17B1-15AD-6F52430D57A3}"/>
              </a:ext>
            </a:extLst>
          </p:cNvPr>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Claude Desktop App: Autonomous Features</a:t>
            </a:r>
          </a:p>
        </p:txBody>
      </p:sp>
      <p:sp>
        <p:nvSpPr>
          <p:cNvPr id="3" name="Rectangle 2">
            <a:extLst>
              <a:ext uri="{FF2B5EF4-FFF2-40B4-BE49-F238E27FC236}">
                <a16:creationId xmlns:a16="http://schemas.microsoft.com/office/drawing/2014/main" id="{F2342D46-CB66-679A-1AF0-A4EC62C02D83}"/>
              </a:ext>
            </a:extLst>
          </p:cNvPr>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a:extLst>
              <a:ext uri="{FF2B5EF4-FFF2-40B4-BE49-F238E27FC236}">
                <a16:creationId xmlns:a16="http://schemas.microsoft.com/office/drawing/2014/main" id="{73C77848-149A-A14D-E3EE-836747772290}"/>
              </a:ext>
            </a:extLst>
          </p:cNvPr>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78D4"/>
                </a:solidFill>
              </a:defRPr>
            </a:pPr>
            <a:r>
              <a:rPr kumimoji="0" sz="2800" b="1" i="0" u="none" strike="noStrike" kern="1200" cap="none" spc="0" normalizeH="0" baseline="0" noProof="0">
                <a:ln>
                  <a:noFill/>
                </a:ln>
                <a:solidFill>
                  <a:srgbClr val="0078D4"/>
                </a:solidFill>
                <a:effectLst/>
                <a:uLnTx/>
                <a:uFillTx/>
                <a:latin typeface="Calibri"/>
                <a:ea typeface="+mn-ea"/>
                <a:cs typeface="+mn-cs"/>
              </a:rPr>
              <a:t>Claude.ai (What You Know)</a:t>
            </a:r>
          </a:p>
        </p:txBody>
      </p:sp>
      <p:sp>
        <p:nvSpPr>
          <p:cNvPr id="5" name="TextBox 4">
            <a:extLst>
              <a:ext uri="{FF2B5EF4-FFF2-40B4-BE49-F238E27FC236}">
                <a16:creationId xmlns:a16="http://schemas.microsoft.com/office/drawing/2014/main" id="{1C183914-50C0-E52E-1C75-A7BCAB4D4A0A}"/>
              </a:ext>
            </a:extLst>
          </p:cNvPr>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Back-and-forth conversation</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ask → Claude answers → repeat</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stay in the chat the whole time</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Great for real-time collaboration</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Immediate feedback and iteration</a:t>
            </a:r>
          </a:p>
        </p:txBody>
      </p:sp>
      <p:sp>
        <p:nvSpPr>
          <p:cNvPr id="6" name="TextBox 5">
            <a:extLst>
              <a:ext uri="{FF2B5EF4-FFF2-40B4-BE49-F238E27FC236}">
                <a16:creationId xmlns:a16="http://schemas.microsoft.com/office/drawing/2014/main" id="{1B1B1D5D-E934-7C33-E35D-0D76F7A0930D}"/>
              </a:ext>
            </a:extLst>
          </p:cNvPr>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Claude for Work (NEW Preview)</a:t>
            </a:r>
          </a:p>
        </p:txBody>
      </p:sp>
      <p:sp>
        <p:nvSpPr>
          <p:cNvPr id="7" name="TextBox 6">
            <a:extLst>
              <a:ext uri="{FF2B5EF4-FFF2-40B4-BE49-F238E27FC236}">
                <a16:creationId xmlns:a16="http://schemas.microsoft.com/office/drawing/2014/main" id="{9AEEBC51-4FB4-1A8D-646C-94CAA517A4B3}"/>
              </a:ext>
            </a:extLst>
          </p:cNvPr>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Three modes: Chat, Cowork, Code tabs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Set goal → Walk away → Come back later</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Works autonomously in background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Handles complex multi-step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Task presets: 'Optimize my week', 'Organize screenshots', etc.</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check in when YOU want</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Available: Windows + Mac Preview</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Plugin integration (customize workflows)</a:t>
            </a:r>
          </a:p>
        </p:txBody>
      </p:sp>
    </p:spTree>
    <p:extLst>
      <p:ext uri="{BB962C8B-B14F-4D97-AF65-F5344CB8AC3E}">
        <p14:creationId xmlns:p14="http://schemas.microsoft.com/office/powerpoint/2010/main" val="8503790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B6F2101-4F98-C246-7F6A-CA3CC9B094DC}"/>
              </a:ext>
            </a:extLst>
          </p:cNvPr>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When to Use Claude for Work</a:t>
            </a:r>
          </a:p>
        </p:txBody>
      </p:sp>
      <p:sp>
        <p:nvSpPr>
          <p:cNvPr id="3" name="Rectangle 2">
            <a:extLst>
              <a:ext uri="{FF2B5EF4-FFF2-40B4-BE49-F238E27FC236}">
                <a16:creationId xmlns:a16="http://schemas.microsoft.com/office/drawing/2014/main" id="{D1BA573A-E4B7-822F-B58F-C8B4687FAE8F}"/>
              </a:ext>
            </a:extLst>
          </p:cNvPr>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a:extLst>
              <a:ext uri="{FF2B5EF4-FFF2-40B4-BE49-F238E27FC236}">
                <a16:creationId xmlns:a16="http://schemas.microsoft.com/office/drawing/2014/main" id="{DF607436-CA4A-12EA-4CC2-583FD5C95E76}"/>
              </a:ext>
            </a:extLst>
          </p:cNvPr>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PERFECT FOR: Complex multi-step tasks (2+ hours of work)</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Competitive research &amp; analysis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Writing long documents (PRDs, reports, proposals)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Data analysis across multiple files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Content creation with multiple iterations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NOT IDEAL FOR: Quick questions, real-time collaboration, learning/exploration</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THE RULE: If you'd normally block 2+ hours on calendar → Use Cowork. Quick task → Use Claude.ai</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HOW TO GET IT: Download Claude Desktop App (Windows/Mac) - Pro/Team subscribers get autonomous features in Preview</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PREVIEW NOTE: Early access = expect bugs, limited rollout, features evolving</a:t>
            </a:r>
          </a:p>
        </p:txBody>
      </p:sp>
    </p:spTree>
    <p:extLst>
      <p:ext uri="{BB962C8B-B14F-4D97-AF65-F5344CB8AC3E}">
        <p14:creationId xmlns:p14="http://schemas.microsoft.com/office/powerpoint/2010/main" val="27591897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When to Use Claude in Excel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Formula help while building → Claude in Excel</a:t>
            </a:r>
          </a:p>
          <a:p>
            <a:pPr>
              <a:spcBef>
                <a:spcPts val="800"/>
              </a:spcBef>
              <a:spcAft>
                <a:spcPts val="800"/>
              </a:spcAft>
              <a:defRPr sz="2200">
                <a:solidFill>
                  <a:srgbClr val="FFFFFF"/>
                </a:solidFill>
              </a:defRPr>
            </a:pPr>
            <a:r>
              <a:t>  Deep analysis of uploaded file → Claude.ai</a:t>
            </a:r>
          </a:p>
          <a:p>
            <a:pPr>
              <a:spcBef>
                <a:spcPts val="800"/>
              </a:spcBef>
              <a:spcAft>
                <a:spcPts val="800"/>
              </a:spcAft>
              <a:defRPr sz="2200">
                <a:solidFill>
                  <a:srgbClr val="FFFFFF"/>
                </a:solidFill>
              </a:defRPr>
            </a:pPr>
            <a:r>
              <a:t>  PivotTables, chart creation → M365 Copilot</a:t>
            </a:r>
          </a:p>
          <a:p>
            <a:pPr>
              <a:spcBef>
                <a:spcPts val="800"/>
              </a:spcBef>
              <a:spcAft>
                <a:spcPts val="800"/>
              </a:spcAft>
              <a:defRPr sz="2200">
                <a:solidFill>
                  <a:srgbClr val="FFFFFF"/>
                </a:solidFill>
              </a:defRPr>
            </a:pPr>
            <a:r>
              <a:t>  Multi-file analysis → Claude.ai</a:t>
            </a:r>
          </a:p>
          <a:p>
            <a:pPr>
              <a:spcBef>
                <a:spcPts val="800"/>
              </a:spcBef>
              <a:spcAft>
                <a:spcPts val="800"/>
              </a:spcAft>
              <a:defRPr sz="2200">
                <a:solidFill>
                  <a:srgbClr val="FFFFFF"/>
                </a:solidFill>
              </a:defRPr>
            </a:pPr>
            <a:r>
              <a:t>  Learning/debugging formulas → Claude in Excel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F2D3D"/>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3</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Legal review: 'Review this contract for potential risks'</a:t>
            </a:r>
          </a:p>
          <a:p>
            <a:pPr>
              <a:spcBef>
                <a:spcPts val="800"/>
              </a:spcBef>
              <a:spcAft>
                <a:spcPts val="800"/>
              </a:spcAft>
              <a:defRPr sz="2200">
                <a:solidFill>
                  <a:srgbClr val="FFFFFF"/>
                </a:solidFill>
              </a:defRPr>
            </a:pPr>
            <a:r>
              <a:t>  Research synthesis: 'I've uploaded 5 papers. What are common findings?'</a:t>
            </a:r>
          </a:p>
          <a:p>
            <a:pPr>
              <a:spcBef>
                <a:spcPts val="800"/>
              </a:spcBef>
              <a:spcAft>
                <a:spcPts val="800"/>
              </a:spcAft>
              <a:defRPr sz="2200">
                <a:solidFill>
                  <a:srgbClr val="FFFFFF"/>
                </a:solidFill>
              </a:defRPr>
            </a:pPr>
            <a:r>
              <a:t>  Data extraction: 'Extract all dates, names, and dollar amounts into a table'</a:t>
            </a:r>
          </a:p>
          <a:p>
            <a:pPr>
              <a:spcBef>
                <a:spcPts val="800"/>
              </a:spcBef>
              <a:spcAft>
                <a:spcPts val="800"/>
              </a:spcAft>
              <a:defRPr sz="2200">
                <a:solidFill>
                  <a:srgbClr val="FFFFFF"/>
                </a:solidFill>
              </a:defRPr>
            </a:pPr>
            <a:r>
              <a:t>  Comparison: 'Compare these two proposals and highlight differences'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F2D3D"/>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4</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45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Document Creation Workshop</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Exercise 1: Email series (3 versions for A/B testing) - 10 min</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Exercise 2: Executive summary from long PDF report - 15 min</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Exercise 3: Data analysis → PowerPoint deck (CSV to slides) - 15 min</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Exercise 4: Claude in Excel - formula assistance - 5 min</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Share one favorite output with the class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TotalTime>
  <Words>13472</Words>
  <Application>Microsoft Office PowerPoint</Application>
  <PresentationFormat>Widescreen</PresentationFormat>
  <Paragraphs>1612</Paragraphs>
  <Slides>80</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80</vt:i4>
      </vt:variant>
    </vt:vector>
  </HeadingPairs>
  <TitlesOfParts>
    <vt:vector size="8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2026-02-16T00:38:17Z</dcterms:modified>
  <cp:category/>
</cp:coreProperties>
</file>