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Hay" userId="e95d3f44-f6c0-414c-b281-41a9346c1b81" providerId="ADAL" clId="{844FE0EC-1ACE-457A-A062-606521DBE677}"/>
    <pc:docChg chg="undo custSel modSld">
      <pc:chgData name="Scott Hay" userId="e95d3f44-f6c0-414c-b281-41a9346c1b81" providerId="ADAL" clId="{844FE0EC-1ACE-457A-A062-606521DBE677}" dt="2026-02-13T19:40:22.844" v="66" actId="1037"/>
      <pc:docMkLst>
        <pc:docMk/>
      </pc:docMkLst>
      <pc:sldChg chg="modSp mod">
        <pc:chgData name="Scott Hay" userId="e95d3f44-f6c0-414c-b281-41a9346c1b81" providerId="ADAL" clId="{844FE0EC-1ACE-457A-A062-606521DBE677}" dt="2026-02-13T19:36:24.797" v="8" actId="1076"/>
        <pc:sldMkLst>
          <pc:docMk/>
          <pc:sldMk cId="0" sldId="264"/>
        </pc:sldMkLst>
        <pc:spChg chg="mod">
          <ac:chgData name="Scott Hay" userId="e95d3f44-f6c0-414c-b281-41a9346c1b81" providerId="ADAL" clId="{844FE0EC-1ACE-457A-A062-606521DBE677}" dt="2026-02-13T19:36:24.797" v="8" actId="1076"/>
          <ac:spMkLst>
            <pc:docMk/>
            <pc:sldMk cId="0" sldId="264"/>
            <ac:spMk id="2" creationId="{00000000-0000-0000-0000-000000000000}"/>
          </ac:spMkLst>
        </pc:spChg>
        <pc:picChg chg="mod modCrop">
          <ac:chgData name="Scott Hay" userId="e95d3f44-f6c0-414c-b281-41a9346c1b81" providerId="ADAL" clId="{844FE0EC-1ACE-457A-A062-606521DBE677}" dt="2026-02-13T19:36:17.917" v="7" actId="732"/>
          <ac:picMkLst>
            <pc:docMk/>
            <pc:sldMk cId="0" sldId="264"/>
            <ac:picMk id="3" creationId="{00000000-0000-0000-0000-000000000000}"/>
          </ac:picMkLst>
        </pc:picChg>
      </pc:sldChg>
      <pc:sldChg chg="modSp mod">
        <pc:chgData name="Scott Hay" userId="e95d3f44-f6c0-414c-b281-41a9346c1b81" providerId="ADAL" clId="{844FE0EC-1ACE-457A-A062-606521DBE677}" dt="2026-02-13T19:36:34.759" v="9" actId="14100"/>
        <pc:sldMkLst>
          <pc:docMk/>
          <pc:sldMk cId="0" sldId="269"/>
        </pc:sldMkLst>
        <pc:picChg chg="mod">
          <ac:chgData name="Scott Hay" userId="e95d3f44-f6c0-414c-b281-41a9346c1b81" providerId="ADAL" clId="{844FE0EC-1ACE-457A-A062-606521DBE677}" dt="2026-02-13T19:36:34.759" v="9" actId="14100"/>
          <ac:picMkLst>
            <pc:docMk/>
            <pc:sldMk cId="0" sldId="269"/>
            <ac:picMk id="3" creationId="{00000000-0000-0000-0000-000000000000}"/>
          </ac:picMkLst>
        </pc:picChg>
      </pc:sldChg>
      <pc:sldChg chg="modSp mod">
        <pc:chgData name="Scott Hay" userId="e95d3f44-f6c0-414c-b281-41a9346c1b81" providerId="ADAL" clId="{844FE0EC-1ACE-457A-A062-606521DBE677}" dt="2026-02-13T19:37:17.061" v="34" actId="1038"/>
        <pc:sldMkLst>
          <pc:docMk/>
          <pc:sldMk cId="0" sldId="290"/>
        </pc:sldMkLst>
        <pc:spChg chg="mod">
          <ac:chgData name="Scott Hay" userId="e95d3f44-f6c0-414c-b281-41a9346c1b81" providerId="ADAL" clId="{844FE0EC-1ACE-457A-A062-606521DBE677}" dt="2026-02-13T19:37:07.954" v="13" actId="1076"/>
          <ac:spMkLst>
            <pc:docMk/>
            <pc:sldMk cId="0" sldId="290"/>
            <ac:spMk id="2" creationId="{00000000-0000-0000-0000-000000000000}"/>
          </ac:spMkLst>
        </pc:spChg>
        <pc:picChg chg="mod modCrop">
          <ac:chgData name="Scott Hay" userId="e95d3f44-f6c0-414c-b281-41a9346c1b81" providerId="ADAL" clId="{844FE0EC-1ACE-457A-A062-606521DBE677}" dt="2026-02-13T19:37:17.061" v="34" actId="1038"/>
          <ac:picMkLst>
            <pc:docMk/>
            <pc:sldMk cId="0" sldId="290"/>
            <ac:picMk id="3" creationId="{00000000-0000-0000-0000-000000000000}"/>
          </ac:picMkLst>
        </pc:picChg>
      </pc:sldChg>
      <pc:sldChg chg="modSp mod">
        <pc:chgData name="Scott Hay" userId="e95d3f44-f6c0-414c-b281-41a9346c1b81" providerId="ADAL" clId="{844FE0EC-1ACE-457A-A062-606521DBE677}" dt="2026-02-13T19:40:22.844" v="66" actId="1037"/>
        <pc:sldMkLst>
          <pc:docMk/>
          <pc:sldMk cId="0" sldId="301"/>
        </pc:sldMkLst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4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6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7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0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1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3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8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9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20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21" creationId="{00000000-0000-0000-0000-000000000000}"/>
          </ac:spMkLst>
        </pc:spChg>
      </pc:sldChg>
      <pc:sldChg chg="delSp modSp mod">
        <pc:chgData name="Scott Hay" userId="e95d3f44-f6c0-414c-b281-41a9346c1b81" providerId="ADAL" clId="{844FE0EC-1ACE-457A-A062-606521DBE677}" dt="2026-02-13T19:38:40.257" v="42" actId="1440"/>
        <pc:sldMkLst>
          <pc:docMk/>
          <pc:sldMk cId="0" sldId="316"/>
        </pc:sldMkLst>
        <pc:spChg chg="del">
          <ac:chgData name="Scott Hay" userId="e95d3f44-f6c0-414c-b281-41a9346c1b81" providerId="ADAL" clId="{844FE0EC-1ACE-457A-A062-606521DBE677}" dt="2026-02-13T19:38:14.299" v="38" actId="478"/>
          <ac:spMkLst>
            <pc:docMk/>
            <pc:sldMk cId="0" sldId="316"/>
            <ac:spMk id="3" creationId="{00000000-0000-0000-0000-000000000000}"/>
          </ac:spMkLst>
        </pc:spChg>
        <pc:picChg chg="mod">
          <ac:chgData name="Scott Hay" userId="e95d3f44-f6c0-414c-b281-41a9346c1b81" providerId="ADAL" clId="{844FE0EC-1ACE-457A-A062-606521DBE677}" dt="2026-02-13T19:38:40.257" v="42" actId="1440"/>
          <ac:picMkLst>
            <pc:docMk/>
            <pc:sldMk cId="0" sldId="316"/>
            <ac:picMk id="5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4640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OPEN WITH:</a:t>
            </a:r>
          </a:p>
          <a:p>
            <a:r>
              <a:t>   Welcome! Today we're diving deep into Claude AI - by the end you'll be confidently using AI for daily work.</a:t>
            </a:r>
          </a:p>
          <a:p>
            <a:endParaRPr/>
          </a:p>
          <a:p>
            <a:r>
              <a:t>KEY POINTS:</a:t>
            </a:r>
          </a:p>
          <a:p>
            <a:r>
              <a:t>   * 6.5 hours total: Morning (Claude basics + prompting), Afternoon (Excel + files)</a:t>
            </a:r>
          </a:p>
          <a:p>
            <a:r>
              <a:t>   * Two hands-on labs today</a:t>
            </a:r>
          </a:p>
          <a:p>
            <a:r>
              <a:t>   * Tomorrow: Technical track (Claude Code CLI) - optional for business users</a:t>
            </a:r>
          </a:p>
          <a:p>
            <a:endParaRPr/>
          </a:p>
          <a:p>
            <a:r>
              <a:t>TRANSITION:</a:t>
            </a:r>
          </a:p>
          <a:p>
            <a:r>
              <a:t>   Let's start with the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Morning: Understanding Claude and how to talk to it effectively</a:t>
            </a:r>
          </a:p>
          <a:p>
            <a:r>
              <a:t>   * Afternoon: Practical tools - Excel add-in and working with files</a:t>
            </a:r>
          </a:p>
          <a:p>
            <a:r>
              <a:t>   * Two 15-minute breaks plus 1-hour lunch</a:t>
            </a:r>
          </a:p>
          <a:p>
            <a:r>
              <a:t>   * Hands-on practice twice today</a:t>
            </a:r>
          </a:p>
          <a:p>
            <a:endParaRPr/>
          </a:p>
          <a:p>
            <a:r>
              <a:t>TRANSITION:</a:t>
            </a:r>
          </a:p>
          <a:p>
            <a:r>
              <a:t>   Let's see what you'll be able to do by end of 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These are measurable - by EOD you WILL be able to do each of these</a:t>
            </a:r>
          </a:p>
          <a:p>
            <a:r>
              <a:t>   * Not just theory - you'll practice each skill in labs</a:t>
            </a:r>
          </a:p>
          <a:p>
            <a:r>
              <a:t>   * Focus is practical application, not AI theory</a:t>
            </a:r>
          </a:p>
          <a:p>
            <a:endParaRPr/>
          </a:p>
          <a:p>
            <a:r>
              <a:t>ASK THE CLASS:</a:t>
            </a:r>
          </a:p>
          <a:p>
            <a:r>
              <a:t>   "Quick poll: How many have used Claude before? How many used ChatGPT or other AI?"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Let's start with the basics - what IS Claude?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Think of these like cars: economy, mid-size, luxury. Different tools for different jobs.</a:t>
            </a:r>
          </a:p>
          <a:p>
            <a:endParaRPr/>
          </a:p>
          <a:p>
            <a:r>
              <a:t>KEY POINTS:</a:t>
            </a:r>
          </a:p>
          <a:p>
            <a:r>
              <a:t>   * Haiku: Speed matters - quick summaries, lookups, simple tasks. Cheapest.</a:t>
            </a:r>
          </a:p>
          <a:p>
            <a:r>
              <a:t>   * Sonnet: Your daily driver. Handles 90% of work. Good balance of quality and cost.</a:t>
            </a:r>
          </a:p>
          <a:p>
            <a:r>
              <a:t>   * Opus: High stakes - board presentations, complex analysis, critical decisions. Most expensive.</a:t>
            </a:r>
          </a:p>
          <a:p>
            <a:r>
              <a:t>   * You choose the model for each conversation - can switch mid-project</a:t>
            </a:r>
          </a:p>
          <a:p>
            <a:endParaRPr/>
          </a:p>
          <a:p>
            <a:r>
              <a:t>REAL-WORLD EXAMPLE:</a:t>
            </a:r>
          </a:p>
          <a:p>
            <a:r>
              <a:t>   This morning I used Haiku to summarize my emails (30 seconds), Sonnet to draft a proposal (5 min), then Opus to review a contract (accuracy critical).</a:t>
            </a:r>
          </a:p>
          <a:p>
            <a:endParaRPr/>
          </a:p>
          <a:p>
            <a:r>
              <a:t>TRANSITION:</a:t>
            </a:r>
          </a:p>
          <a:p>
            <a:r>
              <a:t>   When should you use each? Let's break it down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Left side: 95% of your work. Sonnet is your default unless you have a reason to switch.</a:t>
            </a:r>
          </a:p>
          <a:p>
            <a:r>
              <a:t>   * Right side: When you really need the best - legal review, strategy docs, high-stakes analysis</a:t>
            </a:r>
          </a:p>
          <a:p>
            <a:r>
              <a:t>   * Cost difference is real but usually worth it when stakes are high</a:t>
            </a:r>
          </a:p>
          <a:p>
            <a:r>
              <a:t>   * Most people overuse Opus at first, then settle into Sonnet for daily work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high-stakes task in YOUR role where you'd want the best AI?"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So what makes Claude different from ChatGPT or Copilot?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Sometimes you need Claude to think harder - that's Extended Thinking</a:t>
            </a:r>
          </a:p>
          <a:p>
            <a:endParaRPr/>
          </a:p>
          <a:p>
            <a:r>
              <a:t>KEY POINTS:</a:t>
            </a:r>
          </a:p>
          <a:p>
            <a:r>
              <a:t>   * Extended Thinking = Claude shows its reasoning process</a:t>
            </a:r>
          </a:p>
          <a:p>
            <a:r>
              <a:t>   * Like 'think step-by-step' but automatic and deeper</a:t>
            </a:r>
          </a:p>
          <a:p>
            <a:r>
              <a:t>   * Takes longer but produces better results for complex tasks</a:t>
            </a:r>
          </a:p>
          <a:p>
            <a:r>
              <a:t>   * You see the thinking unfold in real-time</a:t>
            </a:r>
          </a:p>
          <a:p>
            <a:endParaRPr/>
          </a:p>
          <a:p>
            <a:r>
              <a:t>REAL-WORLD EXAMPLE:</a:t>
            </a:r>
          </a:p>
          <a:p>
            <a:r>
              <a:t>   Complex financial analysis: Claude breaks down assumptions, checks logic, identifies edge cases - you see all of it.</a:t>
            </a:r>
          </a:p>
          <a:p>
            <a:endParaRPr/>
          </a:p>
          <a:p>
            <a:r>
              <a:t>TRANSITION:</a:t>
            </a:r>
          </a:p>
          <a:p>
            <a:r>
              <a:t>   When should you use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Extended Thinking costs more tokens (longer responses)</a:t>
            </a:r>
          </a:p>
          <a:p>
            <a:r>
              <a:t>   * Worth it for complex tasks</a:t>
            </a:r>
          </a:p>
          <a:p>
            <a:r>
              <a:t>   * Toggle on/off per conversation</a:t>
            </a:r>
          </a:p>
          <a:p>
            <a:r>
              <a:t>   * Default: Regular mode for most work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complex task in YOUR work where seeing Claude's reasoning would help?"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Now let's see the full Claude ecosystem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Long context: Can read entire books (200K+ tokens). Upload your 300-page manual, ask questions.</a:t>
            </a:r>
          </a:p>
          <a:p>
            <a:r>
              <a:t>   * Accurate: Lower hallucination rate. Won't make up facts as much as competitors.</a:t>
            </a:r>
          </a:p>
          <a:p>
            <a:r>
              <a:t>   * Safe: Built for enterprise - safety controls, audit logs, data privacy.</a:t>
            </a:r>
          </a:p>
          <a:p>
            <a:r>
              <a:t>   * Versatile: Code, writing, analysis, reasoning - does it all well.</a:t>
            </a:r>
          </a:p>
          <a:p>
            <a:r>
              <a:t>   * Citations: When analyzing docs, shows you WHERE it found the info.</a:t>
            </a:r>
          </a:p>
          <a:p>
            <a:endParaRPr/>
          </a:p>
          <a:p>
            <a:r>
              <a:t>REAL-WORLD EXAMPLE:</a:t>
            </a:r>
          </a:p>
          <a:p>
            <a:r>
              <a:t>   Last week a client uploaded their entire employee handbook (150 pages) and asked 'What's our policy on remote work?' Claude cited page 47 with the exact paragraph.</a:t>
            </a:r>
          </a:p>
          <a:p>
            <a:endParaRPr/>
          </a:p>
          <a:p>
            <a:r>
              <a:t>TRANSITION:</a:t>
            </a:r>
          </a:p>
          <a:p>
            <a:r>
              <a:t>   Claude comes in multiple flavors - let's see the ecosystem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Today: Focus on #1 (claude.ai web) and #5 (Excel add-in)</a:t>
            </a:r>
          </a:p>
          <a:p>
            <a:r>
              <a:t>   * Tomorrow: Deep dive on #4 (Claude Code CLI) for technical users</a:t>
            </a:r>
          </a:p>
          <a:p>
            <a:r>
              <a:t>   * Desktop app: Chat (real-time), Cowork (autonomous agent), Code (developer mode)</a:t>
            </a:r>
          </a:p>
          <a:p>
            <a:r>
              <a:t>   * Claude in Chrome: Browser automation agent - currently in beta preview</a:t>
            </a:r>
          </a:p>
          <a:p>
            <a:r>
              <a:t>   * API: For developers building Claude into their own apps</a:t>
            </a:r>
          </a:p>
          <a:p>
            <a:endParaRPr/>
          </a:p>
          <a:p>
            <a:r>
              <a:t>TRANSITION:</a:t>
            </a:r>
          </a:p>
          <a:p>
            <a:r>
              <a:t>   Let's explore the claude.ai interface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Let me clarify what Claude can actually do - some older limitations no longer apply.</a:t>
            </a:r>
          </a:p>
          <a:p>
            <a:endParaRPr/>
          </a:p>
          <a:p>
            <a:r>
              <a:t>KEY POINTS:</a:t>
            </a:r>
          </a:p>
          <a:p>
            <a:r>
              <a:t>   * Claude NOW has web search - can get current news, market data, weather, sports scores</a:t>
            </a:r>
          </a:p>
          <a:p>
            <a:r>
              <a:t>   * Claude has memory across conversations - remembers context from previous chats</a:t>
            </a:r>
          </a:p>
          <a:p>
            <a:r>
              <a:t>   * Knowledge cutoff is May 2025, but web search fills gaps for current information</a:t>
            </a:r>
          </a:p>
          <a:p>
            <a:r>
              <a:t>   * 200K context window = ~500 pages of text in one conversation</a:t>
            </a:r>
          </a:p>
          <a:p>
            <a:r>
              <a:t>   * Can analyze multiple files: PDFs, images, CSV, code - upload and ask</a:t>
            </a:r>
          </a:p>
          <a:p>
            <a:r>
              <a:t>   * Best practices: Upload docs for highest accuracy (web search is backup), always verify critical facts (hallucination still possible), use Projects for ongoing work</a:t>
            </a:r>
          </a:p>
          <a:p>
            <a:r>
              <a:t>   * The key shift: Claude is more capable than most people realize, but verification still matters</a:t>
            </a:r>
          </a:p>
          <a:p>
            <a:endParaRPr/>
          </a:p>
          <a:p>
            <a:r>
              <a:t>ASK THE CLASS:</a:t>
            </a:r>
          </a:p>
          <a:p>
            <a:r>
              <a:t>   "What tasks have you avoided with AI because you thought it couldn't access current information?"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You can ask 'What's the current stock price for MSFT?' and Claude will search and tell you. BUT for financial decisions, upload your own data - higher accuracy than web sources.</a:t>
            </a:r>
          </a:p>
          <a:p>
            <a:endParaRPr/>
          </a:p>
          <a:p>
            <a:r>
              <a:t>TRANSITION:</a:t>
            </a:r>
          </a:p>
          <a:p>
            <a:r>
              <a:t>   Now that you know what's possible, let's talk about Extended Thinking mode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The Claude desktop app is evolving - it's adding autonomous agent capabilities. This is where Anthropic is taking the platform. Download the desktop app, you get these features.</a:t>
            </a:r>
          </a:p>
          <a:p>
            <a:endParaRPr/>
          </a:p>
          <a:p>
            <a:r>
              <a:t>KEY POINTS:</a:t>
            </a:r>
          </a:p>
          <a:p>
            <a:r>
              <a:t>   * Claude Desktop App (Windows + Mac) is adding autonomous agent capabilities</a:t>
            </a:r>
          </a:p>
          <a:p>
            <a:r>
              <a:t>   * This is the direction: Desktop = advanced interface with autonomous work, Web = real-time collaboration</a:t>
            </a:r>
          </a:p>
          <a:p>
            <a:r>
              <a:t>   * Download desktop app → You get web features PLUS autonomous agents as they roll out</a:t>
            </a:r>
          </a:p>
          <a:p>
            <a:r>
              <a:t>   * UI: Three tabs at top - Chat (regular), Cowork (autonomous), Code (developer)</a:t>
            </a:r>
          </a:p>
          <a:p>
            <a:r>
              <a:t>   * Cowork interface: Pick preset task OR type custom command, choose folder, select model, click 'Let's go'</a:t>
            </a:r>
          </a:p>
          <a:p>
            <a:r>
              <a:t>   * You set direction with detail level: High-level overview, MVP scoping, Detailed spec, or custom</a:t>
            </a:r>
          </a:p>
          <a:p>
            <a:r>
              <a:t>   * Claude works in background while you attend meetings, work on other tasks, or go to lunch</a:t>
            </a:r>
          </a:p>
          <a:p>
            <a:r>
              <a:t>   * Check progress when ready - it's still working if you don't check in</a:t>
            </a:r>
          </a:p>
          <a:p>
            <a:r>
              <a:t>   * PREVIEW status: Early access for Claude Pro/Team subscribers, expect some rough edges</a:t>
            </a:r>
          </a:p>
          <a:p>
            <a:r>
              <a:t>   * This is where AI is heading - we'll explore these concepts deeply on Day 4 (Agent Teams)</a:t>
            </a:r>
          </a:p>
          <a:p>
            <a:r>
              <a:t>   * Task presets like 'Optimize my week', 'Organize screenshots', 'Find insights in files' - one-click delegation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task you do monthly that takes 2-3 hours you'd love to delegate completely?"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Product manager scenario: You need competitive analysis of 5 products. Claude.ai: You spend 45 minutes prompting back-and-forth. Claude for Work: Tell it 'Research 5 competitors, analyze features, create comparison table with pricing', choose detail level, walk away. Come back in an hour to polished analysis.</a:t>
            </a:r>
          </a:p>
          <a:p>
            <a:endParaRPr/>
          </a:p>
          <a:p>
            <a:r>
              <a:t>TRANSITION:</a:t>
            </a:r>
          </a:p>
          <a:p>
            <a:r>
              <a:t>   Let me show you what kinds of tasks work best with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Not every task needs autonomous work. Here's when it makes sense vs when Claude.ai is better.</a:t>
            </a:r>
          </a:p>
          <a:p>
            <a:endParaRPr/>
          </a:p>
          <a:p>
            <a:r>
              <a:t>KEY POINTS:</a:t>
            </a:r>
          </a:p>
          <a:p>
            <a:r>
              <a:t>   * Desktop app UI: Chat tab (real-time), Cowork tab (autonomous), Code tab (developer mode)</a:t>
            </a:r>
          </a:p>
          <a:p>
            <a:r>
              <a:t>   * Sweet spot: Tasks requiring 2+ hours of focused work with multiple steps</a:t>
            </a:r>
          </a:p>
          <a:p>
            <a:r>
              <a:t>   * Examples: Monthly competitive analysis, quarterly board deck, annual strategic plan, large data migration planning</a:t>
            </a:r>
          </a:p>
          <a:p>
            <a:r>
              <a:t>   * NOT for: Quick answers, learning how something works, iterating on ideas in real-time</a:t>
            </a:r>
          </a:p>
          <a:p>
            <a:r>
              <a:t>   * Workflow: New task → Pick preset or type custom → Choose folder (optional) → Select model → 'Let's go' → Claude works autonomously</a:t>
            </a:r>
          </a:p>
          <a:p>
            <a:r>
              <a:t>   * Decision framework: Would you normally calendar-block time for this? → Cowork. Quick interrupt? → Claude.ai</a:t>
            </a:r>
          </a:p>
          <a:p>
            <a:r>
              <a:t>   * Access: Download from claude.ai if you have Preview access (Pro/Team subscribers)</a:t>
            </a:r>
          </a:p>
          <a:p>
            <a:r>
              <a:t>   * Access: Download Claude Desktop App from claude.ai - autonomous features rolling out to Pro/Team subscribers</a:t>
            </a:r>
          </a:p>
          <a:p>
            <a:r>
              <a:t>   * This bridges to Agent Teams concept (Day 4) - autonomous work vs supervised assistance</a:t>
            </a:r>
          </a:p>
          <a:p>
            <a:r>
              <a:t>   * This shows Anthropic's direction: Desktop app = advanced interface for power users and autonomous work</a:t>
            </a:r>
          </a:p>
          <a:p>
            <a:endParaRPr/>
          </a:p>
          <a:p>
            <a:r>
              <a:t>ASK THE CLASS:</a:t>
            </a:r>
          </a:p>
          <a:p>
            <a:r>
              <a:t>   "Look at your calendar - what recurring task would you delegate to an autonomous agent?"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Monthly reporting scenario: You compile data from 5 systems, create visualizations, write executive summary, format for board. Normally 4 hours of work. Tell Cowork 'Create monthly board report from these 5 files, include exec summary highlighting top 3 wins and 2 risks, create 3 charts showing trend data.' Work on something else for 3 hours, review polished draft.</a:t>
            </a:r>
          </a:p>
          <a:p>
            <a:endParaRPr/>
          </a:p>
          <a:p>
            <a:r>
              <a:t>TRANSITION:</a:t>
            </a:r>
          </a:p>
          <a:p>
            <a:r>
              <a:t>   That's the cutting edge - autonomous agents working for you. Now let's master the core interface everyone has access to today: Claude.ai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7 min</a:t>
            </a:r>
          </a:p>
          <a:p>
            <a:endParaRPr/>
          </a:p>
          <a:p>
            <a:r>
              <a:t>KEY POINTS:</a:t>
            </a:r>
          </a:p>
          <a:p>
            <a:r>
              <a:t>   * Left sidebar: New chat starts fresh conversation, Search finds old chats, Code mode optimizes workspace for coding</a:t>
            </a:r>
          </a:p>
          <a:p>
            <a:r>
              <a:t>   * Starred conversations: Pin important chats for quick access</a:t>
            </a:r>
          </a:p>
          <a:p>
            <a:r>
              <a:t>   * Prompt area: Type or paste questions, click + to attach files (CSV, PDF, images, docs)</a:t>
            </a:r>
          </a:p>
          <a:p>
            <a:r>
              <a:t>   * Style buttons: Quick presets for response tone - Write (polished), Learn (educational), Code (technical), Life stuff (casual), Claude's choice (automatic)</a:t>
            </a:r>
          </a:p>
          <a:p>
            <a:r>
              <a:t>   * Voice mode button (microphone, top right): GAME CHANGER - speak instead of type, 3× faster for complex prompts</a:t>
            </a:r>
          </a:p>
          <a:p>
            <a:r>
              <a:t>   * Model selector: Switch Haiku/Sonnet/Opus mid-conversation based on task complexity</a:t>
            </a:r>
          </a:p>
          <a:p>
            <a:r>
              <a:t>   * Artifacts panel: Appears when Claude generates code, documents, diagrams - you can edit inline</a:t>
            </a:r>
          </a:p>
          <a:p>
            <a:endParaRPr/>
          </a:p>
          <a:p>
            <a:r>
              <a:t>ASK THE CLASS:</a:t>
            </a:r>
          </a:p>
          <a:p>
            <a:r>
              <a:t>   "How many of you knew about the voice mode button?"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Voice mode example: Instead of typing 'Analyze this sales data, find top 3 trends compared to last quarter, flag any products declining over 15%, create a chart' (takes 30+ seconds to type) - just speak it in 5 seconds. Huge time saver for complex prompts.</a:t>
            </a:r>
          </a:p>
          <a:p>
            <a:endParaRPr/>
          </a:p>
          <a:p>
            <a:r>
              <a:t>DEMO:</a:t>
            </a:r>
          </a:p>
          <a:p>
            <a:r>
              <a:t>   LIVE DEMO: Comprehensive UI walkthrough. Open claude.ai, systematically show every UI element students will use: (1) Left sidebar - New chat, Search, Code mode dropdown, Starred/Recents; (2) Chat window - Prompt area, Attachment button (+), Style buttons (Write/Learn/Code/Life stuff/Claude's choice); (3) Top right - Model selector, Voice mode button (microphone icon - emphasize this!); (4) Response area - Artifacts panel. Spend 2 minutes on Voice mode showing the mic button.</a:t>
            </a:r>
          </a:p>
          <a:p>
            <a:endParaRPr/>
          </a:p>
          <a:p>
            <a:r>
              <a:t>TRANSITION:</a:t>
            </a:r>
          </a:p>
          <a:p>
            <a:r>
              <a:t>   Voice mode is so powerful it deserves its own demo - let's dive deeper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This is the most underused feature in Claude - and it's a massive productivity gain. Let me show you.</a:t>
            </a:r>
          </a:p>
          <a:p>
            <a:endParaRPr/>
          </a:p>
          <a:p>
            <a:r>
              <a:t>KEY POINTS:</a:t>
            </a:r>
          </a:p>
          <a:p>
            <a:r>
              <a:t>   * Where: Microphone icon, top right next to model selector</a:t>
            </a:r>
          </a:p>
          <a:p>
            <a:r>
              <a:t>   * How: Click mic, speak naturally, Claude transcribes real-time, you can edit before sending</a:t>
            </a:r>
          </a:p>
          <a:p>
            <a:r>
              <a:t>   * Speed: 3-5× faster than typing for complex multi-part prompts</a:t>
            </a:r>
          </a:p>
          <a:p>
            <a:r>
              <a:t>   * Best for: Brainstorming, meeting summaries (speak your notes), long detailed requests, hands-free work</a:t>
            </a:r>
          </a:p>
          <a:p>
            <a:r>
              <a:t>   * Pro tip: You can edit the transcription before hitting send - catches any errors</a:t>
            </a:r>
          </a:p>
          <a:p>
            <a:r>
              <a:t>   * Accuracy: Very good, works with industry terms and technical language</a:t>
            </a:r>
          </a:p>
          <a:p>
            <a:r>
              <a:t>   * Privacy: Voice processed securely, not stored after transcription</a:t>
            </a:r>
          </a:p>
          <a:p>
            <a:endParaRPr/>
          </a:p>
          <a:p>
            <a:r>
              <a:t>ASK THE CLASS:</a:t>
            </a:r>
          </a:p>
          <a:p>
            <a:r>
              <a:t>   "Think of a task you did this week that involved typing a long explanation - would voice mode have saved you time?"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After a client meeting, instead of typing up notes, open Claude voice mode and just talk through what happened for 2 minutes. Claude transcribes it, you say 'turn this into a professional summary with action items' - done in 3 minutes instead of 15.</a:t>
            </a:r>
          </a:p>
          <a:p>
            <a:endParaRPr/>
          </a:p>
          <a:p>
            <a:r>
              <a:t>DEMO:</a:t>
            </a:r>
          </a:p>
          <a:p>
            <a:r>
              <a:t>   LIVE DEMO: Click microphone button (top right). Speak a complex prompt: 'I need you to review this meeting transcript, pull out the top 5 action items with owners and due dates, identify any decisions that were made, and flag anything that needs follow-up with the executive team. Format as a bulleted summary I can send to my boss.' Show Claude transcribing in real-time, let them see the transcription appear, then send. Compare: This would take 60+ seconds to type, took 8 seconds to speak.</a:t>
            </a:r>
          </a:p>
          <a:p>
            <a:endParaRPr/>
          </a:p>
          <a:p>
            <a:r>
              <a:t>TRANSITION:</a:t>
            </a:r>
          </a:p>
          <a:p>
            <a:r>
              <a:t>   Now let's talk about personalizing Claude so it knows YOU and your preferences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6 min</a:t>
            </a:r>
          </a:p>
          <a:p>
            <a:endParaRPr/>
          </a:p>
          <a:p>
            <a:r>
              <a:t>OPEN WITH:</a:t>
            </a:r>
          </a:p>
          <a:p>
            <a:r>
              <a:t>   This is one of the most important features that almost nobody knows about. Personal Preferences lets you tell Claude about YOU - once - and it remembers forever.</a:t>
            </a:r>
          </a:p>
          <a:p>
            <a:endParaRPr/>
          </a:p>
          <a:p>
            <a:r>
              <a:t>KEY POINTS:</a:t>
            </a:r>
          </a:p>
          <a:p>
            <a:r>
              <a:t>   * Personal Preferences field: Free-form text, 2-3 paragraphs about you</a:t>
            </a:r>
          </a:p>
          <a:p>
            <a:r>
              <a:t>   * What to include: Your role, industry/company, expertise level, communication preferences (concise/detailed, formal/casual)</a:t>
            </a:r>
          </a:p>
          <a:p>
            <a:r>
              <a:t>   * Applies globally: Every conversation, every project, forever</a:t>
            </a:r>
          </a:p>
          <a:p>
            <a:r>
              <a:t>   * Time savings: 30 seconds per chat × 10 chats/day = 5 minutes/day saved on context setup</a:t>
            </a:r>
          </a:p>
          <a:p>
            <a:r>
              <a:t>   * Quality improvement: Industry-specific examples, role-appropriate recommendations, consistent tone</a:t>
            </a:r>
          </a:p>
          <a:p>
            <a:r>
              <a:t>   * Template: 'I am a [role] at [company type] in [industry]. My expertise: [areas]. Communication preferences: [concise/detailed], [formal/casual], [beginner/expert] level.'</a:t>
            </a:r>
          </a:p>
          <a:p>
            <a:endParaRPr/>
          </a:p>
          <a:p>
            <a:r>
              <a:t>ASK THE CLASS:</a:t>
            </a:r>
          </a:p>
          <a:p>
            <a:r>
              <a:t>   "What would you put in your Personal Preferences? Think about what you explain over and over in different chats."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manager example: 'I am a Marketing Manager at a B2B SaaS company in healthcare technology. My expertise: content strategy, demand generation, analytics. Preferences: Concise responses with actionable takeaways, professional tone, intermediate technical level. We sell to hospital CFOs with long sales cycles.' Now EVERY chat Claude knows this - no repeating yourself.</a:t>
            </a:r>
          </a:p>
          <a:p>
            <a:endParaRPr/>
          </a:p>
          <a:p>
            <a:r>
              <a:t>DEMO:</a:t>
            </a:r>
          </a:p>
          <a:p>
            <a:r>
              <a:t>   Show Settings &gt; General &gt; Profile. Show the Personal Preferences field. Show a filled example (use your own or the marketing manager template). Emphasize: This is global, applies everywhere, massive time saver.</a:t>
            </a:r>
          </a:p>
          <a:p>
            <a:endParaRPr/>
          </a:p>
          <a:p>
            <a:r>
              <a:t>TRANSITION:</a:t>
            </a:r>
          </a:p>
          <a:p>
            <a:r>
              <a:t>   With your interface mastered and preferences set, let's talk about Projects - a way to add context to specific workstreams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Claude now has persistent memory across all conversations - it remembers you. But Projects go further: they give Claude specialized knowledge for specific workstreams, with shared team access.</a:t>
            </a:r>
          </a:p>
          <a:p>
            <a:endParaRPr/>
          </a:p>
          <a:p>
            <a:r>
              <a:t>KEY POINTS:</a:t>
            </a:r>
          </a:p>
          <a:p>
            <a:r>
              <a:t>   * Projects = scoped context and knowledge for specific workstreams (different from Claude's general memory)</a:t>
            </a:r>
          </a:p>
          <a:p>
            <a:r>
              <a:t>   * Claude's memory remembers YOU across all chats. Projects give Claude specialized DOMAIN knowledge.</a:t>
            </a:r>
          </a:p>
          <a:p>
            <a:r>
              <a:t>   * Think of it as a shared team workspace with custom knowledge</a:t>
            </a:r>
          </a:p>
          <a:p>
            <a:r>
              <a:t>   * You can add: Custom instructions (how to behave), Reference documents (PDFs, spreadsheets, etc.)</a:t>
            </a:r>
          </a:p>
          <a:p>
            <a:r>
              <a:t>   * Team members can collaborate in the same Project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team created a 'Brand Voice' Project with their style guide, competitor research, and past campaigns. Now every team member gets consistent, on-brand content.</a:t>
            </a:r>
          </a:p>
          <a:p>
            <a:endParaRPr/>
          </a:p>
          <a:p>
            <a:r>
              <a:t>TRANSITION:</a:t>
            </a:r>
          </a:p>
          <a:p>
            <a:r>
              <a:t>   Let's see how to create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6 min</a:t>
            </a:r>
          </a:p>
          <a:p>
            <a:endParaRPr/>
          </a:p>
          <a:p>
            <a:r>
              <a:t>KEY POINTS:</a:t>
            </a:r>
          </a:p>
          <a:p>
            <a:r>
              <a:t>   * Name it something clear - you'll have many Projects eventually</a:t>
            </a:r>
          </a:p>
          <a:p>
            <a:r>
              <a:t>   * Custom instructions: How should Claude behave? What context does it need?</a:t>
            </a:r>
          </a:p>
          <a:p>
            <a:r>
              <a:t>   * Documents: PDFs, Word, Excel - Claude reads and indexes all of them</a:t>
            </a:r>
          </a:p>
          <a:p>
            <a:r>
              <a:t>   * Once created, all conversations in that Project have this context</a:t>
            </a:r>
          </a:p>
          <a:p>
            <a:endParaRPr/>
          </a:p>
          <a:p>
            <a:r>
              <a:t>DEMO:</a:t>
            </a:r>
          </a:p>
          <a:p>
            <a:r>
              <a:t>   LIVE DEMO: Create a Project called 'Sales Proposals'. Add custom instruction: 'You're helping the sales team write proposals. Our fiscal year is April-March. Always compare to prior year.' Upload a sample proposal PDF. Ask: 'Draft a proposal for new CRM system.'</a:t>
            </a:r>
          </a:p>
          <a:p>
            <a:endParaRPr/>
          </a:p>
          <a:p>
            <a:r>
              <a:t>TRANSITION:</a:t>
            </a:r>
          </a:p>
          <a:p>
            <a:r>
              <a:t>   What goes into custom instructions? Let's look at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Custom instructions are your 'team handbook' for Claude</a:t>
            </a:r>
          </a:p>
          <a:p>
            <a:r>
              <a:t>   * Include anything you'd tell a new human team member</a:t>
            </a:r>
          </a:p>
          <a:p>
            <a:r>
              <a:t>   * Can reference uploaded documents: 'Follow the style guide in Brand_Voice.pdf'</a:t>
            </a:r>
          </a:p>
          <a:p>
            <a:r>
              <a:t>   * Keep it focused - 3-5 key guidelines work better than pages of rules</a:t>
            </a:r>
          </a:p>
          <a:p>
            <a:endParaRPr/>
          </a:p>
          <a:p>
            <a:r>
              <a:t>REAL-WORLD EXAMPLE:</a:t>
            </a:r>
          </a:p>
          <a:p>
            <a:r>
              <a:t>   Finance team's instructions: 'Fiscal year April-March. Audience: executives (non-technical). Always use USD. Compare to prior quarter AND prior year. Highlight variances &gt;10%.'</a:t>
            </a:r>
          </a:p>
          <a:p>
            <a:endParaRPr/>
          </a:p>
          <a:p>
            <a:r>
              <a:t>TRANSITION:</a:t>
            </a:r>
          </a:p>
          <a:p>
            <a:r>
              <a:t>   Now let's talk about when to use Projects vs regular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Projects: Anything you'll do more than once. Monthly reports, client proposals, code reviews.</a:t>
            </a:r>
          </a:p>
          <a:p>
            <a:r>
              <a:t>   * Regular chat: Random questions, one-time tasks, exploring new topics</a:t>
            </a:r>
          </a:p>
          <a:p>
            <a:r>
              <a:t>   * You can always move a conversation into a Project later if you realize it's recurring</a:t>
            </a:r>
          </a:p>
          <a:p>
            <a:r>
              <a:t>   * Most power users have 5-10 Projects for their common workflows</a:t>
            </a:r>
          </a:p>
          <a:p>
            <a:endParaRPr/>
          </a:p>
          <a:p>
            <a:r>
              <a:t>ASK THE CLASS:</a:t>
            </a:r>
          </a:p>
          <a:p>
            <a:r>
              <a:t>   "What's ONE task you do monthly that would benefit from a Project?"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Before the break, quick tips for power users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Keyboard shortcuts save time - learn Cmd/Ctrl+K</a:t>
            </a:r>
          </a:p>
          <a:p>
            <a:r>
              <a:t>   * Search is powerful - you can find that conversation from last month</a:t>
            </a:r>
          </a:p>
          <a:p>
            <a:r>
              <a:t>   * Iteration is key: Don't delete and start over, just say 'make it shorter' or 'add more detail'</a:t>
            </a:r>
          </a:p>
          <a:p>
            <a:r>
              <a:t>   * Think conversation, not one-shot query</a:t>
            </a:r>
          </a:p>
          <a:p>
            <a:endParaRPr/>
          </a:p>
          <a:p>
            <a:r>
              <a:t>TRANSITION:</a:t>
            </a:r>
          </a:p>
          <a:p>
            <a:r>
              <a:t>   15-minute break. When we return: Prompt engineering - how to talk to AI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You don't need to be a data analyst to get insights from your data. Claude can analyze files directly.</a:t>
            </a:r>
          </a:p>
          <a:p>
            <a:endParaRPr/>
          </a:p>
          <a:p>
            <a:r>
              <a:t>KEY POINTS:</a:t>
            </a:r>
          </a:p>
          <a:p>
            <a:r>
              <a:t>   * Upload CSV, Excel, or paste data directly into Claude.ai</a:t>
            </a:r>
          </a:p>
          <a:p>
            <a:r>
              <a:t>   * Ask questions in plain English: 'What are the top 3 trends?'</a:t>
            </a:r>
          </a:p>
          <a:p>
            <a:r>
              <a:t>   * Claude can create charts, spot patterns, calculate metrics</a:t>
            </a:r>
          </a:p>
          <a:p>
            <a:r>
              <a:t>   * No coding required - just upload and ask</a:t>
            </a:r>
          </a:p>
          <a:p>
            <a:r>
              <a:t>   * Works with sales data, survey results, financial reports, anything tabular</a:t>
            </a:r>
          </a:p>
          <a:p>
            <a:endParaRPr/>
          </a:p>
          <a:p>
            <a:r>
              <a:t>REAL-WORLD EXAMPLE:</a:t>
            </a:r>
          </a:p>
          <a:p>
            <a:r>
              <a:t>   Upload monthly sales CSV, ask 'Which products are declining?' - Claude analyzes, creates chart, flags the issues.</a:t>
            </a:r>
          </a:p>
          <a:p>
            <a:endParaRPr/>
          </a:p>
          <a:p>
            <a:r>
              <a:t>TRANSITION:</a:t>
            </a:r>
          </a:p>
          <a:p>
            <a:r>
              <a:t>   But when should you use Claude.ai directly vs Claude in Excel?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This is the question everyone asks: which Claude should I use for data? Here's the decision framework.</a:t>
            </a:r>
          </a:p>
          <a:p>
            <a:endParaRPr/>
          </a:p>
          <a:p>
            <a:r>
              <a:t>KEY POINTS:</a:t>
            </a:r>
          </a:p>
          <a:p>
            <a:r>
              <a:t>   * Claude.ai = Quick insights, one-time analysis, exploring data</a:t>
            </a:r>
          </a:p>
          <a:p>
            <a:r>
              <a:t>   * Claude in Excel = Building something you'll use again, need formulas</a:t>
            </a:r>
          </a:p>
          <a:p>
            <a:r>
              <a:t>   * Example: Monthly report you update? Excel. One question about a CSV? Claude.ai.</a:t>
            </a:r>
          </a:p>
          <a:p>
            <a:r>
              <a:t>   * You can use both! Start in Claude.ai to explore, then move to Excel to build</a:t>
            </a:r>
          </a:p>
          <a:p>
            <a:r>
              <a:t>   * Claude.ai is faster for 'What does this data tell me?' questions</a:t>
            </a:r>
          </a:p>
          <a:p>
            <a:r>
              <a:t>   * Claude in Excel is better for 'Build me a dashboard' tasks</a:t>
            </a:r>
          </a:p>
          <a:p>
            <a:endParaRPr/>
          </a:p>
          <a:p>
            <a:r>
              <a:t>ASK THE CLASS:</a:t>
            </a:r>
          </a:p>
          <a:p>
            <a:r>
              <a:t>   "Think of a data file you worked with recently - which Claude would have helped more?"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Survey results come in as CSV. Upload to Claude.ai: 'What are the top 3 themes?' Get answer in 30 seconds. Then if you need a report, move to Excel with Claude to build formulas.</a:t>
            </a:r>
          </a:p>
          <a:p>
            <a:endParaRPr/>
          </a:p>
          <a:p>
            <a:r>
              <a:t>TRANSITION:</a:t>
            </a:r>
          </a:p>
          <a:p>
            <a:r>
              <a:t>   Let me show you Claude.ai data analysis in 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KEY POINTS:</a:t>
            </a:r>
          </a:p>
          <a:p>
            <a:r>
              <a:t>   * Upload file or paste data directly</a:t>
            </a:r>
          </a:p>
          <a:p>
            <a:r>
              <a:t>   * Ask in plain English - no technical syntax needed</a:t>
            </a:r>
          </a:p>
          <a:p>
            <a:r>
              <a:t>   * Claude shows you the chart/analysis immediately</a:t>
            </a:r>
          </a:p>
          <a:p>
            <a:r>
              <a:t>   * Can ask follow-up questions to dig deeper</a:t>
            </a:r>
          </a:p>
          <a:p>
            <a:r>
              <a:t>   * This is fast exploration - when you need something permanent, move to Excel</a:t>
            </a:r>
          </a:p>
          <a:p>
            <a:endParaRPr/>
          </a:p>
          <a:p>
            <a:r>
              <a:t>DEMO:</a:t>
            </a:r>
          </a:p>
          <a:p>
            <a:r>
              <a:t>   Upload simple CSV with quarterly sales. Ask: 'What trends do you see and can you create a chart?' Show Claude analyzing the data, spotting patterns, creating visualization. Emphasize: no formulas, no setup - just ask.</a:t>
            </a:r>
          </a:p>
          <a:p>
            <a:endParaRPr/>
          </a:p>
          <a:p>
            <a:r>
              <a:t>TRANSITION:</a:t>
            </a:r>
          </a:p>
          <a:p>
            <a:r>
              <a:t>   This is a Project-level feature - now let's see power user tips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Claude is brilliant but LITERAL. It doesn't know what you know. The better you describe what you want, the better the output.</a:t>
            </a:r>
          </a:p>
          <a:p>
            <a:endParaRPr/>
          </a:p>
          <a:p>
            <a:r>
              <a:t>KEY POINTS:</a:t>
            </a:r>
          </a:p>
          <a:p>
            <a:r>
              <a:t>   * Prompt = your instruction to the AI</a:t>
            </a:r>
          </a:p>
          <a:p>
            <a:r>
              <a:t>   * Claude now has memory and user preferences, so it knows some context about you automatically</a:t>
            </a:r>
          </a:p>
          <a:p>
            <a:r>
              <a:t>   * For specialized work, Projects add domain-specific context (documents, instructions)</a:t>
            </a:r>
          </a:p>
          <a:p>
            <a:r>
              <a:t>   * Specificity matters: Vague prompts = vague outputs</a:t>
            </a:r>
          </a:p>
          <a:p>
            <a:r>
              <a:t>   * Good news: Prompting is a learnable skill</a:t>
            </a:r>
          </a:p>
          <a:p>
            <a:endParaRPr/>
          </a:p>
          <a:p>
            <a:r>
              <a:t>REAL-WORLD EXAMPLE:</a:t>
            </a:r>
          </a:p>
          <a:p>
            <a:r>
              <a:t>   Vague: 'Write something about marketing' → Claude asks clarifying questions. Specific: 'Write a 200-word product announcement for our new CRM feature targeting sales managers. Highlight time savings and ROI. Professional tone.' → Claude delivers exactly what you need.</a:t>
            </a:r>
          </a:p>
          <a:p>
            <a:endParaRPr/>
          </a:p>
          <a:p>
            <a:r>
              <a:t>TRANSITION:</a:t>
            </a:r>
          </a:p>
          <a:p>
            <a:r>
              <a:t>   I'm going to teach you a framework that makes prompting easy: GOLDEN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 min</a:t>
            </a:r>
          </a:p>
          <a:p>
            <a:endParaRPr/>
          </a:p>
          <a:p>
            <a:r>
              <a:t>KEY POINTS:</a:t>
            </a:r>
          </a:p>
          <a:p>
            <a:r>
              <a:t>   * GOLDEN is an acronym - easy to remember</a:t>
            </a:r>
          </a:p>
          <a:p>
            <a:r>
              <a:t>   * We'll go through each letter on next slides</a:t>
            </a:r>
          </a:p>
          <a:p>
            <a:r>
              <a:t>   * You don't need ALL six every time, but thinking through them helps</a:t>
            </a:r>
          </a:p>
          <a:p>
            <a:endParaRPr/>
          </a:p>
          <a:p>
            <a:r>
              <a:t>TRANSITION:</a:t>
            </a:r>
          </a:p>
          <a:p>
            <a:r>
              <a:t>   First three: Goal, Output, Length - let's see the rest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 min</a:t>
            </a:r>
          </a:p>
          <a:p>
            <a:endParaRPr/>
          </a:p>
          <a:p>
            <a:r>
              <a:t>KEY POINTS:</a:t>
            </a:r>
          </a:p>
          <a:p>
            <a:r>
              <a:t>   * Details: Specific info to include (data, names, dates, etc.)</a:t>
            </a:r>
          </a:p>
          <a:p>
            <a:r>
              <a:t>   * Examples: Attach a sample or describe what good output looks like</a:t>
            </a:r>
          </a:p>
          <a:p>
            <a:r>
              <a:t>   * No-gos: What to avoid (jargon, certain topics, formats, etc.)</a:t>
            </a:r>
          </a:p>
          <a:p>
            <a:endParaRPr/>
          </a:p>
          <a:p>
            <a:r>
              <a:t>TRANSITION:</a:t>
            </a:r>
          </a:p>
          <a:p>
            <a:r>
              <a:t>   Let's see GOLDEN in action with a real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Left: Claude would ask 20 follow-up questions</a:t>
            </a:r>
          </a:p>
          <a:p>
            <a:r>
              <a:t>   * Right: Claude delivers exactly what you need on first try</a:t>
            </a:r>
          </a:p>
          <a:p>
            <a:r>
              <a:t>   * You don't always need ALL six letters - but thinking through them helps</a:t>
            </a:r>
          </a:p>
          <a:p>
            <a:r>
              <a:t>   * Examples can be attached files or described in words</a:t>
            </a:r>
          </a:p>
          <a:p>
            <a:endParaRPr/>
          </a:p>
          <a:p>
            <a:r>
              <a:t>DEMO:</a:t>
            </a:r>
          </a:p>
          <a:p>
            <a:r>
              <a:t>   OPTIONAL DEMO: Show both prompts in Claude and compare outputs (if time allows)</a:t>
            </a:r>
          </a:p>
          <a:p>
            <a:endParaRPr/>
          </a:p>
          <a:p>
            <a:r>
              <a:t>TRANSITION:</a:t>
            </a:r>
          </a:p>
          <a:p>
            <a:r>
              <a:t>   GOLDEN is great, but there's another tool: XML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Most common mistake: Being too vague</a:t>
            </a:r>
          </a:p>
          <a:p>
            <a:r>
              <a:t>   * Second most common: Assuming Claude knows context it doesn't have</a:t>
            </a:r>
          </a:p>
          <a:p>
            <a:r>
              <a:t>   * Third: Expecting perfection on first try instead of iterating</a:t>
            </a:r>
          </a:p>
          <a:p>
            <a:r>
              <a:t>   * Remember: Claude is brilliant but literal - it needs clear instructions</a:t>
            </a:r>
          </a:p>
          <a:p>
            <a:endParaRPr/>
          </a:p>
          <a:p>
            <a:r>
              <a:t>TRANSITION:</a:t>
            </a:r>
          </a:p>
          <a:p>
            <a:r>
              <a:t>   Speaking of iterating - let's talk about that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Think of Claude as a colleague. You wouldn't fire someone for not nailing it on the first draft - you'd give feedback and refine together.</a:t>
            </a:r>
          </a:p>
          <a:p>
            <a:endParaRPr/>
          </a:p>
          <a:p>
            <a:r>
              <a:t>KEY POINTS:</a:t>
            </a:r>
          </a:p>
          <a:p>
            <a:r>
              <a:t>   * How to iterate: 'Make it shorter', 'Add more detail about X', 'Change tone to formal', 'Convert to bullet points'</a:t>
            </a:r>
          </a:p>
          <a:p>
            <a:r>
              <a:t>   * Claude keeps context from earlier in the conversation</a:t>
            </a:r>
          </a:p>
          <a:p>
            <a:r>
              <a:t>   * Usually 2-3 iterations gets you to exactly what you need</a:t>
            </a:r>
          </a:p>
          <a:p>
            <a:r>
              <a:t>   * This is NORMAL workflow, not a failure of the AI or your prompting</a:t>
            </a:r>
          </a:p>
          <a:p>
            <a:endParaRPr/>
          </a:p>
          <a:p>
            <a:r>
              <a:t>REAL-WORLD EXAMPLE:</a:t>
            </a:r>
          </a:p>
          <a:p>
            <a:r>
              <a:t>   I often start with 'Draft an email about X' → 'Make it more concise' → 'Add a call to action at the end' → Perfect.</a:t>
            </a:r>
          </a:p>
          <a:p>
            <a:endParaRPr/>
          </a:p>
          <a:p>
            <a:r>
              <a:t>TRANSITION:</a:t>
            </a:r>
          </a:p>
          <a:p>
            <a:r>
              <a:t>   Final tips for leveling up your prompting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Examples are powerful - Claude can match tone, format, style from samples</a:t>
            </a:r>
          </a:p>
          <a:p>
            <a:r>
              <a:t>   * Audience matters - a CFO needs different language than a developer</a:t>
            </a:r>
          </a:p>
          <a:p>
            <a:r>
              <a:t>   * Constraints prevent scope creep - set word limits, format rules, etc.</a:t>
            </a:r>
          </a:p>
          <a:p>
            <a:r>
              <a:t>   * Multiple versions give you options to choose from or combine</a:t>
            </a:r>
          </a:p>
          <a:p>
            <a:r>
              <a:t>   * Asking for reasoning helps you learn and builds trust</a:t>
            </a:r>
          </a:p>
          <a:p>
            <a:endParaRPr/>
          </a:p>
          <a:p>
            <a:r>
              <a:t>TRANSITION:</a:t>
            </a:r>
          </a:p>
          <a:p>
            <a:r>
              <a:t>   Your assignment: Practice these techniques this week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Let me show you the difference between prompts that get mediocre results and prompts that get great results</a:t>
            </a:r>
          </a:p>
          <a:p>
            <a:endParaRPr/>
          </a:p>
          <a:p>
            <a:r>
              <a:t>KEY POINTS:</a:t>
            </a:r>
          </a:p>
          <a:p>
            <a:r>
              <a:t>   * Vague prompts = vague results (Claude doesn't know what you need)</a:t>
            </a:r>
          </a:p>
          <a:p>
            <a:r>
              <a:t>   * Specific prompts = specific results (give context, constraints, format)</a:t>
            </a:r>
          </a:p>
          <a:p>
            <a:r>
              <a:t>   * Notice the pattern: Who, what, why, how (format/length/tone)</a:t>
            </a:r>
          </a:p>
          <a:p>
            <a:r>
              <a:t>   * These are real prompts you can copy and adapt today</a:t>
            </a:r>
          </a:p>
          <a:p>
            <a:r>
              <a:t>   * The best prompts include: audience, purpose, constraints, desired format</a:t>
            </a:r>
          </a:p>
          <a:p>
            <a:endParaRPr/>
          </a:p>
          <a:p>
            <a:r>
              <a:t>ASK THE CLASS:</a:t>
            </a:r>
          </a:p>
          <a:p>
            <a:r>
              <a:t>   "Which of these vague prompts sounds like something you've tried?"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Email example: Instead of 'write email about meeting' → tell Claude who it's to, what meeting, what you need from them, and tone (formal/casual)</a:t>
            </a:r>
          </a:p>
          <a:p>
            <a:endParaRPr/>
          </a:p>
          <a:p>
            <a:r>
              <a:t>TRANSITION:</a:t>
            </a:r>
          </a:p>
          <a:p>
            <a:r>
              <a:t>   Now that you know what good prompts look like, how do you know when Claude's output is good?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This is Quality Judgment - skill #2 from our success framework. Knowing when to trust AI is as important as knowing how to use it.</a:t>
            </a:r>
          </a:p>
          <a:p>
            <a:endParaRPr/>
          </a:p>
          <a:p>
            <a:r>
              <a:t>KEY POINTS:</a:t>
            </a:r>
          </a:p>
          <a:p>
            <a:r>
              <a:t>   * Green light: Low stakes, you know the domain, easy to spot errors</a:t>
            </a:r>
          </a:p>
          <a:p>
            <a:r>
              <a:t>   * Yellow light: Important but verifiable - check facts, numbers, key claims</a:t>
            </a:r>
          </a:p>
          <a:p>
            <a:r>
              <a:t>   * Red light: High stakes, specialized knowledge, or personal/sensitive - AI assists, you own it</a:t>
            </a:r>
          </a:p>
          <a:p>
            <a:r>
              <a:t>   * Most people trust everything (risky) or trust nothing (inefficient)</a:t>
            </a:r>
          </a:p>
          <a:p>
            <a:r>
              <a:t>   * The skill is knowing which tasks are which color for YOUR role</a:t>
            </a:r>
          </a:p>
          <a:p>
            <a:r>
              <a:t>   * This prevents the 19% accuracy DROP when AI is used wrong (BCG study)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yellow light task in your role - important but verifiable?"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email draft? Green light - trust it. Financial forecast? Yellow light - verify the numbers. Contract language? Red light - lawyer reviews, AI assists with formatting.</a:t>
            </a:r>
          </a:p>
          <a:p>
            <a:endParaRPr/>
          </a:p>
          <a:p>
            <a:r>
              <a:t>TRANSITION:</a:t>
            </a:r>
          </a:p>
          <a:p>
            <a:r>
              <a:t>   Speaking of what to use AI for, here are the most common wins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These are the top 10 things people actually use Claude for every day. Pick 2-3 to try this week.</a:t>
            </a:r>
          </a:p>
          <a:p>
            <a:endParaRPr/>
          </a:p>
          <a:p>
            <a:r>
              <a:t>KEY POINTS:</a:t>
            </a:r>
          </a:p>
          <a:p>
            <a:r>
              <a:t>   * Email drafting is #1 - most immediate time savings</a:t>
            </a:r>
          </a:p>
          <a:p>
            <a:r>
              <a:t>   * Meeting summaries save 15-30 min per meeting</a:t>
            </a:r>
          </a:p>
          <a:p>
            <a:r>
              <a:t>   * Data analysis works great when you pair Excel + Claude Chat</a:t>
            </a:r>
          </a:p>
          <a:p>
            <a:r>
              <a:t>   * Brainstorming: Quantity first (AI), then you select quality (human)</a:t>
            </a:r>
          </a:p>
          <a:p>
            <a:r>
              <a:t>   * Document summarization: Feed Claude the doc, ask for executive summary</a:t>
            </a:r>
          </a:p>
          <a:p>
            <a:r>
              <a:t>   * Don't try all 10 at once - pick 2-3 that hit your daily pain points</a:t>
            </a:r>
          </a:p>
          <a:p>
            <a:r>
              <a:t>   * Low-hanging fruit: Email, summaries, brainstorming (all green light)</a:t>
            </a:r>
          </a:p>
          <a:p>
            <a:endParaRPr/>
          </a:p>
          <a:p>
            <a:r>
              <a:t>ASK THE CLASS:</a:t>
            </a:r>
          </a:p>
          <a:p>
            <a:r>
              <a:t>   "Which 2 of these would save you the most time this week?"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Start with #1 (email) and #2 (meeting summaries) this week. Once those are habit, add #3 or #4 next week.</a:t>
            </a:r>
          </a:p>
          <a:p>
            <a:endParaRPr/>
          </a:p>
          <a:p>
            <a:r>
              <a:t>TRANSITION:</a:t>
            </a:r>
          </a:p>
          <a:p>
            <a:r>
              <a:t>   Now let's practice these techniques in Lab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Generic prompts get generic results. Here are proven patterns for your specific role.</a:t>
            </a:r>
          </a:p>
          <a:p>
            <a:endParaRPr/>
          </a:p>
          <a:p>
            <a:r>
              <a:t>KEY POINTS:</a:t>
            </a:r>
          </a:p>
          <a:p>
            <a:r>
              <a:t>   * Each role has common tasks that benefit from templates</a:t>
            </a:r>
          </a:p>
          <a:p>
            <a:r>
              <a:t>   * Notice the pattern: [Action] + [Content] + [Constraints/Focus]</a:t>
            </a:r>
          </a:p>
          <a:p>
            <a:r>
              <a:t>   * Steal these patterns and customize for your work</a:t>
            </a:r>
          </a:p>
          <a:p>
            <a:r>
              <a:t>   * Marketing: Always specify target audience and desired tone</a:t>
            </a:r>
          </a:p>
          <a:p>
            <a:r>
              <a:t>   * Finance: Always set variance thresholds and ask for explanations</a:t>
            </a:r>
          </a:p>
          <a:p>
            <a:r>
              <a:t>   * HR: Always include competencies and behavioral examples</a:t>
            </a:r>
          </a:p>
          <a:p>
            <a:r>
              <a:t>   * Save your best prompts - reuse and refine them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task you do weekly that could benefit from a saved prompt template?"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Finance manager uses 'Analyze budget, flag &gt;10% variance, explain causes' every month. Takes 2 minutes, saves 30 minutes of spreadsheet work. Same prompt, different data each time.</a:t>
            </a:r>
          </a:p>
          <a:p>
            <a:endParaRPr/>
          </a:p>
          <a:p>
            <a:r>
              <a:t>TRANSITION:</a:t>
            </a:r>
          </a:p>
          <a:p>
            <a:r>
              <a:t>   These patterns work great, but there are times when you should NOT use AI - let's talk about boundaries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This is Frontier Recognition - knowing when AI can't help. The BCG study showed teams LOST 19% accuracy when they used AI on tasks it's bad at. Boundaries matter.</a:t>
            </a:r>
          </a:p>
          <a:p>
            <a:endParaRPr/>
          </a:p>
          <a:p>
            <a:r>
              <a:t>KEY POINTS:</a:t>
            </a:r>
          </a:p>
          <a:p>
            <a:r>
              <a:t>   * Frontier Recognition = Skill #6 from our success framework</a:t>
            </a:r>
          </a:p>
          <a:p>
            <a:r>
              <a:t>   * AI is a tool, not a decision-maker - you own the output</a:t>
            </a:r>
          </a:p>
          <a:p>
            <a:r>
              <a:t>   * Red flag tasks: Legal advice, sensitive data, mission-critical decisions without verification</a:t>
            </a:r>
          </a:p>
          <a:p>
            <a:r>
              <a:t>   * Claude CAN now do real-time lookups (news, prices, weather) - but always verify for high-stakes decisions</a:t>
            </a:r>
          </a:p>
          <a:p>
            <a:r>
              <a:t>   * Green light tasks: Drafts, brainstorming, summarization, formatting, quick research</a:t>
            </a:r>
          </a:p>
          <a:p>
            <a:r>
              <a:t>   * The rule: If you can't verify it or if stakes are high, human owns it (AI assists)</a:t>
            </a:r>
          </a:p>
          <a:p>
            <a:r>
              <a:t>   * This prevents the 19% accuracy drop from misuse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task in your role where AI should assist but not decide?"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Contract review: Don't ask AI 'Is this contract good to sign?' (legal advice, high stakes). DO ask 'Summarize the key terms and flag any unusual clauses' (draft for lawyer review).</a:t>
            </a:r>
          </a:p>
          <a:p>
            <a:endParaRPr/>
          </a:p>
          <a:p>
            <a:r>
              <a:t>TRANSITION:</a:t>
            </a:r>
          </a:p>
          <a:p>
            <a:r>
              <a:t>   With boundaries clear, let's practice these prompting skills in a lab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Before we dive into labs, let's address the elephant in the room: 'Is it safe to use Claude with company data?'</a:t>
            </a:r>
          </a:p>
          <a:p>
            <a:endParaRPr/>
          </a:p>
          <a:p>
            <a:r>
              <a:t>KEY POINTS:</a:t>
            </a:r>
          </a:p>
          <a:p>
            <a:r>
              <a:t>   * Your conversations NOT used for training - this is contractual for Enterprise/Team</a:t>
            </a:r>
          </a:p>
          <a:p>
            <a:r>
              <a:t>   * SOC 2 Type 2 certified, HIPAA-eligible, GDPR compliant - meets enterprise standards</a:t>
            </a:r>
          </a:p>
          <a:p>
            <a:r>
              <a:t>   * Projects data (your custom instructions, uploaded files) stays within your org</a:t>
            </a:r>
          </a:p>
          <a:p>
            <a:r>
              <a:t>   * 30-day retention for safety monitoring (abuse, illegal content), then deleted</a:t>
            </a:r>
          </a:p>
          <a:p>
            <a:r>
              <a:t>   * Treat it like any cloud tool - don't paste passwords, API keys, SSN, credit cards</a:t>
            </a:r>
          </a:p>
          <a:p>
            <a:r>
              <a:t>   * Enterprise plan adds: extended retention controls, SSO, detailed audit logs</a:t>
            </a:r>
          </a:p>
          <a:p>
            <a:r>
              <a:t>   * Your IT team: anthropic.com/trust has full security documentation</a:t>
            </a:r>
          </a:p>
          <a:p>
            <a:endParaRPr/>
          </a:p>
          <a:p>
            <a:r>
              <a:t>ASK THE CLASS:</a:t>
            </a:r>
          </a:p>
          <a:p>
            <a:r>
              <a:t>   "Anyone have security questions before we start working with real data in labs?"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Safe: Upload quarterly report for analysis. Not safe: Paste customer SSNs or employee salaries without anonymizing.</a:t>
            </a:r>
          </a:p>
          <a:p>
            <a:endParaRPr/>
          </a:p>
          <a:p>
            <a:r>
              <a:t>TRANSITION:</a:t>
            </a:r>
          </a:p>
          <a:p>
            <a:r>
              <a:t>   With security addressed, let's practice with Lab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OPEN WITH:</a:t>
            </a:r>
          </a:p>
          <a:p>
            <a:r>
              <a:t>   Time to practice! You'll work through 4 real-world scenarios - prompting, document creation, analysis.</a:t>
            </a:r>
          </a:p>
          <a:p>
            <a:endParaRPr/>
          </a:p>
          <a:p>
            <a:r>
              <a:t>KEY POINTS:</a:t>
            </a:r>
          </a:p>
          <a:p>
            <a:r>
              <a:t>   * Lab guide in handout has detailed instructions and sample data</a:t>
            </a:r>
          </a:p>
          <a:p>
            <a:r>
              <a:t>   * Focus on creating useful outputs: reports, outlines, summaries</a:t>
            </a:r>
          </a:p>
          <a:p>
            <a:r>
              <a:t>   * All exercises use artifacts - you'll see real documents generated</a:t>
            </a:r>
          </a:p>
          <a:p>
            <a:r>
              <a:t>   * Work at your own pace - minimum 2 exercises, all 4 if time allows</a:t>
            </a:r>
          </a:p>
          <a:p>
            <a:r>
              <a:t>   * Raise hand if stuck - I'm here to help</a:t>
            </a:r>
          </a:p>
          <a:p>
            <a:r>
              <a:t>   * Save artifacts you create - you can use them as templates later</a:t>
            </a:r>
          </a:p>
          <a:p>
            <a:endParaRPr/>
          </a:p>
          <a:p>
            <a:r>
              <a:t>DEMO:</a:t>
            </a:r>
          </a:p>
          <a:p>
            <a:r>
              <a:t>   Show lab handout quickly - point out the 4 exercises and sample data files</a:t>
            </a:r>
          </a:p>
          <a:p>
            <a:endParaRPr/>
          </a:p>
          <a:p>
            <a:r>
              <a:t>TRANSITION:</a:t>
            </a:r>
          </a:p>
          <a:p>
            <a:r>
              <a:t>   In the lab, you may have noticed your first prompt didn't give exactly what you wanted. That's normal - let me show you the pattern the best users follow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You just experienced this in the lab - your first prompt probably needed refinement. This is the pattern professionals use.</a:t>
            </a:r>
          </a:p>
          <a:p>
            <a:endParaRPr/>
          </a:p>
          <a:p>
            <a:r>
              <a:t>KEY POINTS:</a:t>
            </a:r>
          </a:p>
          <a:p>
            <a:r>
              <a:t>   * Common mistake: Expect AI to nail it first time, abandon when it doesn't</a:t>
            </a:r>
          </a:p>
          <a:p>
            <a:r>
              <a:t>   * Success pattern: Start messy, iterate to great</a:t>
            </a:r>
          </a:p>
          <a:p>
            <a:r>
              <a:t>   * First draft is 70% - that's GOOD (saves you hours)</a:t>
            </a:r>
          </a:p>
          <a:p>
            <a:r>
              <a:t>   * 2-3 refinement passes get you to 95%</a:t>
            </a:r>
          </a:p>
          <a:p>
            <a:r>
              <a:t>   * You polish the final 5% (your unique expertise)</a:t>
            </a:r>
          </a:p>
          <a:p>
            <a:r>
              <a:t>   * Think of AI as a smart intern - you wouldn't expect perfection first time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email: First draft has tone wrong. Tell Claude 'more casual, less corporate.' Second draft is 85%. Tell Claude 'add specific ROI numbers.' Third draft is 95%. You add company-specific context for final 100%.</a:t>
            </a:r>
          </a:p>
          <a:p>
            <a:endParaRPr/>
          </a:p>
          <a:p>
            <a:r>
              <a:t>TRANSITION:</a:t>
            </a:r>
          </a:p>
          <a:p>
            <a:r>
              <a:t>   This iterative approach is one of 6 critical skills that separate successful AI users from those who give 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You've learned the basics, practiced in the lab, and seen the iterate-to-great pattern. Now here's the bigger picture.</a:t>
            </a:r>
          </a:p>
          <a:p>
            <a:endParaRPr/>
          </a:p>
          <a:p>
            <a:r>
              <a:t>KEY POINTS:</a:t>
            </a:r>
          </a:p>
          <a:p>
            <a:r>
              <a:t>   * The 20% who survived didn't have better prompting skills</a:t>
            </a:r>
          </a:p>
          <a:p>
            <a:r>
              <a:t>   * They learned 6 judgment skills (management skills, not tech skills):</a:t>
            </a:r>
          </a:p>
          <a:p>
            <a:r>
              <a:t>   * 1. Context Assembly - what info to give AI, what to withhold</a:t>
            </a:r>
          </a:p>
          <a:p>
            <a:r>
              <a:t>   * 2. Quality Judgment - when to trust output vs. verify</a:t>
            </a:r>
          </a:p>
          <a:p>
            <a:r>
              <a:t>   * 3. Task Decomposition - breaking work into AI-sized chunks</a:t>
            </a:r>
          </a:p>
          <a:p>
            <a:r>
              <a:t>   * 4. Iterative Refinement - moving from 70% to 95%</a:t>
            </a:r>
          </a:p>
          <a:p>
            <a:r>
              <a:t>   * 5. Workflow Integration - embedded in process, not side tool</a:t>
            </a:r>
          </a:p>
          <a:p>
            <a:r>
              <a:t>   * 6. Frontier Recognition - knowing when AI can't help</a:t>
            </a:r>
          </a:p>
          <a:p>
            <a:r>
              <a:t>   * Ethan Mollick (Wharton): 'The best users of AI are good managers'</a:t>
            </a:r>
          </a:p>
          <a:p>
            <a:endParaRPr/>
          </a:p>
          <a:p>
            <a:r>
              <a:t>ASK THE CLASS:</a:t>
            </a:r>
          </a:p>
          <a:p>
            <a:r>
              <a:t>   "Which of these 6 skills do you think will be hardest for your team?"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With these 6 skills in mind, let's break for lunch. When we come back, we'll apply this to Excel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Raise your hand if you've ever wrestled with an Excel formula for 20 minutes. This changes that.</a:t>
            </a:r>
          </a:p>
          <a:p>
            <a:endParaRPr/>
          </a:p>
          <a:p>
            <a:r>
              <a:t>KEY POINTS:</a:t>
            </a:r>
          </a:p>
          <a:p>
            <a:r>
              <a:t>   * Excel add-in powered by Claude AI</a:t>
            </a:r>
          </a:p>
          <a:p>
            <a:r>
              <a:t>   * Sidebar appears directly in your spreadsheet</a:t>
            </a:r>
          </a:p>
          <a:p>
            <a:r>
              <a:t>   * KEY DIFFERENCE: Unlike uploading to claude.ai, the add-in SEES your actual spreadsheet context</a:t>
            </a:r>
          </a:p>
          <a:p>
            <a:r>
              <a:t>   * Helps with formulas, analysis, explanations</a:t>
            </a:r>
          </a:p>
          <a:p>
            <a:endParaRPr/>
          </a:p>
          <a:p>
            <a:r>
              <a:t>REAL-WORLD EXAMPLE:</a:t>
            </a:r>
          </a:p>
          <a:p>
            <a:r>
              <a:t>   Last week I was building a budget variance report. Instead of googling VLOOKUP syntax, I just asked Claude 'How do I match customer names from Sheet2?' - got the formula with explanation in 10 seconds.</a:t>
            </a:r>
          </a:p>
          <a:p>
            <a:endParaRPr/>
          </a:p>
          <a:p>
            <a:r>
              <a:t>TRANSITION:</a:t>
            </a:r>
          </a:p>
          <a:p>
            <a:r>
              <a:t>   Let's install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KEY POINTS:</a:t>
            </a:r>
          </a:p>
          <a:p>
            <a:r>
              <a:t>   * Requires Claude Enterprise license (check with your admin)</a:t>
            </a:r>
          </a:p>
          <a:p>
            <a:r>
              <a:t>   * One-time setup per device</a:t>
            </a:r>
          </a:p>
          <a:p>
            <a:r>
              <a:t>   * Keyboard shortcut: Ctrl+Alt+C (Win) / Ctrl+Option+C (Mac) to open sidebar</a:t>
            </a:r>
          </a:p>
          <a:p>
            <a:r>
              <a:t>   * Works with Excel 365, Excel 2019+, and Excel for Web</a:t>
            </a:r>
          </a:p>
          <a:p>
            <a:endParaRPr/>
          </a:p>
          <a:p>
            <a:r>
              <a:t>DEMO:</a:t>
            </a:r>
          </a:p>
          <a:p>
            <a:r>
              <a:t>   LIVE DEMO: Install Claude in Excel (or show already-installed version). Open add-in sidebar (Ctrl+Alt+C). Show it has access to spreadsheet context.</a:t>
            </a:r>
          </a:p>
          <a:p>
            <a:endParaRPr/>
          </a:p>
          <a:p>
            <a:r>
              <a:t>TRANSITION:</a:t>
            </a:r>
          </a:p>
          <a:p>
            <a:r>
              <a:t>   Three main ways people use this add-in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Formula Help: Most common use case. 'Write this formula', 'Debug this error', 'Explain what this does'</a:t>
            </a:r>
          </a:p>
          <a:p>
            <a:r>
              <a:t>   * Data Analysis: 'What trends do you see?', 'Any outliers?', 'Suggest visualizations'</a:t>
            </a:r>
          </a:p>
          <a:p>
            <a:r>
              <a:t>   * Financial Modeling: 'Build a DCF', 'Check my assumptions', 'Validate this NPV formula'</a:t>
            </a:r>
          </a:p>
          <a:p>
            <a:r>
              <a:t>   * We'll demo each one</a:t>
            </a:r>
          </a:p>
          <a:p>
            <a:endParaRPr/>
          </a:p>
          <a:p>
            <a:r>
              <a:t>TRANSITION:</a:t>
            </a:r>
          </a:p>
          <a:p>
            <a:r>
              <a:t>   Let's start with formula assistance - the #1 use 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7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EXPLAINS formulas, not just writes them - you learn as you go</a:t>
            </a:r>
          </a:p>
          <a:p>
            <a:r>
              <a:t>   * Handles complex nested formulas, array formulas, new Excel 365 functions</a:t>
            </a:r>
          </a:p>
          <a:p>
            <a:r>
              <a:t>   * Debugging: Paste your broken formula, Claude finds the error</a:t>
            </a:r>
          </a:p>
          <a:p>
            <a:r>
              <a:t>   * Plain English explanations for formulas you inherited</a:t>
            </a:r>
          </a:p>
          <a:p>
            <a:endParaRPr/>
          </a:p>
          <a:p>
            <a:r>
              <a:t>DEMO:</a:t>
            </a:r>
          </a:p>
          <a:p>
            <a:r>
              <a:t>   LIVE DEMO: Open sample spreadsheet with sales data. Show 3 prompts:</a:t>
            </a:r>
          </a:p>
          <a:p>
            <a:r>
              <a:t>1. 'Write a formula to calculate YoY growth for column D'</a:t>
            </a:r>
          </a:p>
          <a:p>
            <a:r>
              <a:t>2. 'What's wrong with this formula? =SUM(A1:A10/B1:B10)'</a:t>
            </a:r>
          </a:p>
          <a:p>
            <a:r>
              <a:t>3. 'Explain this VLOOKUP in plain English: =VLOOKUP(A2,Sheet2!A:C,3,FALSE)'</a:t>
            </a:r>
          </a:p>
          <a:p>
            <a:endParaRPr/>
          </a:p>
          <a:p>
            <a:r>
              <a:t>TRANSITION:</a:t>
            </a:r>
          </a:p>
          <a:p>
            <a:r>
              <a:t>   Next: Data analysis help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6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sees your actual data and can spot patterns</a:t>
            </a:r>
          </a:p>
          <a:p>
            <a:r>
              <a:t>   * Great for exploratory analysis: 'What should I look at here?'</a:t>
            </a:r>
          </a:p>
          <a:p>
            <a:r>
              <a:t>   * Visualization suggestions based on your data structure</a:t>
            </a:r>
          </a:p>
          <a:p>
            <a:r>
              <a:t>   * Can help with data cleaning: 'How do I remove duplicates based on column A?'</a:t>
            </a:r>
          </a:p>
          <a:p>
            <a:endParaRPr/>
          </a:p>
          <a:p>
            <a:r>
              <a:t>DEMO:</a:t>
            </a:r>
          </a:p>
          <a:p>
            <a:r>
              <a:t>   DEMO: Use sample dataset (quarterly revenue by region). Show prompts:</a:t>
            </a:r>
          </a:p>
          <a:p>
            <a:r>
              <a:t>1. 'What trends do you see in columns B-D over the last 6 months?'</a:t>
            </a:r>
          </a:p>
          <a:p>
            <a:r>
              <a:t>2. 'Are there any outliers in this revenue data?'</a:t>
            </a:r>
          </a:p>
          <a:p>
            <a:r>
              <a:t>3. 'Suggest 3 ways to visualize quarterly sales by region'</a:t>
            </a:r>
          </a:p>
          <a:p>
            <a:endParaRPr/>
          </a:p>
          <a:p>
            <a:r>
              <a:t>TRANSITION:</a:t>
            </a:r>
          </a:p>
          <a:p>
            <a:r>
              <a:t>   Finally: Financial modeling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Financial modeling is complex - Claude is a great assistant but NOT a substitute for your judgment</a:t>
            </a:r>
          </a:p>
          <a:p>
            <a:r>
              <a:t>   * Use it to: Build structure, check logic, validate assumptions, explain complex formulas</a:t>
            </a:r>
          </a:p>
          <a:p>
            <a:r>
              <a:t>   * DO NOT blindly trust outputs - especially for high-stakes financial decisions</a:t>
            </a:r>
          </a:p>
          <a:p>
            <a:r>
              <a:t>   * Best practice: Ask Claude to explain its reasoning, then verify with a second pair of eyes</a:t>
            </a:r>
          </a:p>
          <a:p>
            <a:endParaRPr/>
          </a:p>
          <a:p>
            <a:r>
              <a:t>REAL-WORLD EXAMPLE:</a:t>
            </a:r>
          </a:p>
          <a:p>
            <a:r>
              <a:t>   CFO used Claude to build initial DCF structure in 20 minutes (usually takes 2 hours). Then validated assumptions with finance team. Time saved: 90 minutes. Accuracy: Still 100% (because he verified).</a:t>
            </a:r>
          </a:p>
          <a:p>
            <a:endParaRPr/>
          </a:p>
          <a:p>
            <a:r>
              <a:t>TRANSITION:</a:t>
            </a:r>
          </a:p>
          <a:p>
            <a:r>
              <a:t>   Best practices for using Claude in Excel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Specificity matters: 'Calculate variance' is vague. 'Calculate variance % for columns C and D' is clear.</a:t>
            </a:r>
          </a:p>
          <a:p>
            <a:r>
              <a:t>   * Security: If your data is confidential, check your org's policy on AI tools</a:t>
            </a:r>
          </a:p>
          <a:p>
            <a:r>
              <a:t>   * Verification is mandatory for financial/critical formulas</a:t>
            </a:r>
          </a:p>
          <a:p>
            <a:r>
              <a:t>   * Think assistant, not autopilot</a:t>
            </a:r>
          </a:p>
          <a:p>
            <a:endParaRPr/>
          </a:p>
          <a:p>
            <a:r>
              <a:t>TRANSITION:</a:t>
            </a:r>
          </a:p>
          <a:p>
            <a:r>
              <a:t>   Real-world workflow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Scenario: Monthly expense variance report (common finance task)</a:t>
            </a:r>
          </a:p>
          <a:p>
            <a:r>
              <a:t>   * Step 1-2: Start with the core calculation</a:t>
            </a:r>
          </a:p>
          <a:p>
            <a:r>
              <a:t>   * Step 3-4: Refine - add formatting to highlight key items</a:t>
            </a:r>
          </a:p>
          <a:p>
            <a:r>
              <a:t>   * Step 5-6: Generate the summary narrative for your boss</a:t>
            </a:r>
          </a:p>
          <a:p>
            <a:r>
              <a:t>   * Total time: ~10 minutes. Manual time: ~40 minutes. Time saved: 30 minutes.</a:t>
            </a:r>
          </a:p>
          <a:p>
            <a:r>
              <a:t>   * This is a realistic workflow - build, refine, summarize</a:t>
            </a:r>
          </a:p>
          <a:p>
            <a:endParaRPr/>
          </a:p>
          <a:p>
            <a:r>
              <a:t>TRANSITION:</a:t>
            </a:r>
          </a:p>
          <a:p>
            <a:r>
              <a:t>   When should you use Claude in Excel vs other tools?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in Excel: Best when working IN the spreadsheet and need real-time help</a:t>
            </a:r>
          </a:p>
          <a:p>
            <a:r>
              <a:t>   * Claude.ai: Best when you want to analyze a file deeply without opening Excel</a:t>
            </a:r>
          </a:p>
          <a:p>
            <a:r>
              <a:t>   * M365 Copilot: Best for creating PivotTables, charts, automated insights (if you have it)</a:t>
            </a:r>
          </a:p>
          <a:p>
            <a:r>
              <a:t>   * They complement each other - not either/or</a:t>
            </a:r>
          </a:p>
          <a:p>
            <a:endParaRPr/>
          </a:p>
          <a:p>
            <a:r>
              <a:t>TRANSITION:</a:t>
            </a:r>
          </a:p>
          <a:p>
            <a:r>
              <a:t>   15-minute break, then we'll cover Artifacts and file handling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Artifacts are Claude's way of saying 'Here's something you can use directly' - not just conversation, but actual deliverables.</a:t>
            </a:r>
          </a:p>
          <a:p>
            <a:endParaRPr/>
          </a:p>
          <a:p>
            <a:r>
              <a:t>KEY POINTS:</a:t>
            </a:r>
          </a:p>
          <a:p>
            <a:r>
              <a:t>   * Artifacts appear when Claude creates: Code, Documents, Diagrams, Data visualizations, HTML pages</a:t>
            </a:r>
          </a:p>
          <a:p>
            <a:r>
              <a:t>   * Separate panel on the right side of claude.ai</a:t>
            </a:r>
          </a:p>
          <a:p>
            <a:r>
              <a:t>   * You can: View, Edit, Iterate, Download, Copy, Remix</a:t>
            </a:r>
          </a:p>
          <a:p>
            <a:r>
              <a:t>   * Think of it as Claude's 'workspace' - where it builds things for you</a:t>
            </a:r>
          </a:p>
          <a:p>
            <a:endParaRPr/>
          </a:p>
          <a:p>
            <a:r>
              <a:t>TRANSITION:</a:t>
            </a:r>
          </a:p>
          <a:p>
            <a:r>
              <a:t>   Let's see what you can do with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View: See the final result (code runs, markdown renders, diagrams display)</a:t>
            </a:r>
          </a:p>
          <a:p>
            <a:r>
              <a:t>   * Edit: Click directly into the artifact and modify it yourself</a:t>
            </a:r>
          </a:p>
          <a:p>
            <a:r>
              <a:t>   * Download: Save as file (HTML, markdown, code file, etc.)</a:t>
            </a:r>
          </a:p>
          <a:p>
            <a:r>
              <a:t>   * Also: Copy to clipboard, ask Claude to modify it, use as starting point for new work</a:t>
            </a:r>
          </a:p>
          <a:p>
            <a:endParaRPr/>
          </a:p>
          <a:p>
            <a:r>
              <a:t>DEMO:</a:t>
            </a:r>
          </a:p>
          <a:p>
            <a:r>
              <a:t>   DEMO: 'Create a simple flowchart showing our sales process.' Show artifact panel appearing, how to download, how to iterate ('Add a decision point for budget approval').</a:t>
            </a:r>
          </a:p>
          <a:p>
            <a:endParaRPr/>
          </a:p>
          <a:p>
            <a:r>
              <a:t>TRANSITION:</a:t>
            </a:r>
          </a:p>
          <a:p>
            <a:r>
              <a:t>   Common business use cases for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Email templates: 'Create a template for customer onboarding emails'</a:t>
            </a:r>
          </a:p>
          <a:p>
            <a:r>
              <a:t>   * Meeting agendas: 'Draft agenda for quarterly business review'</a:t>
            </a:r>
          </a:p>
          <a:p>
            <a:r>
              <a:t>   * Project proposals: 'Write proposal for new CRM implementation'</a:t>
            </a:r>
          </a:p>
          <a:p>
            <a:r>
              <a:t>   * Data summaries: 'Summarize this CSV in a formatted table'</a:t>
            </a:r>
          </a:p>
          <a:p>
            <a:r>
              <a:t>   * Process flowcharts: 'Diagram our customer support escalation process'</a:t>
            </a:r>
          </a:p>
          <a:p>
            <a:r>
              <a:t>   * Presentation outlines: 'Create outline for board presentation on Q4 results'</a:t>
            </a:r>
          </a:p>
          <a:p>
            <a:endParaRPr/>
          </a:p>
          <a:p>
            <a:r>
              <a:t>TRANSITION:</a:t>
            </a:r>
          </a:p>
          <a:p>
            <a:r>
              <a:t>   Now let's talk about file uploads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can read and analyze most common file types</a:t>
            </a:r>
          </a:p>
          <a:p>
            <a:r>
              <a:t>   * PDFs: Full text extraction, can handle scanned docs (OCR)</a:t>
            </a:r>
          </a:p>
          <a:p>
            <a:r>
              <a:t>   * PowerPoint: Claude reads .pptx files directly - no need to convert to PDF first</a:t>
            </a:r>
          </a:p>
          <a:p>
            <a:r>
              <a:t>   * Images: Can describe, extract text, analyze charts</a:t>
            </a:r>
          </a:p>
          <a:p>
            <a:r>
              <a:t>   * Multiple files: Upload up to 5-10 at once for comparison</a:t>
            </a:r>
          </a:p>
          <a:p>
            <a:r>
              <a:t>   * File size limits depend on your plan (check settings)</a:t>
            </a:r>
          </a:p>
          <a:p>
            <a:endParaRPr/>
          </a:p>
          <a:p>
            <a:r>
              <a:t>TRANSITION:</a:t>
            </a:r>
          </a:p>
          <a:p>
            <a:r>
              <a:t>   Example workflows for document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Legal review: NOT a substitute for lawyer, but great for initial screening</a:t>
            </a:r>
          </a:p>
          <a:p>
            <a:r>
              <a:t>   * Research synthesis: Can compare multiple documents, find patterns</a:t>
            </a:r>
          </a:p>
          <a:p>
            <a:r>
              <a:t>   * Data extraction: Pulls structured data from unstructured docs</a:t>
            </a:r>
          </a:p>
          <a:p>
            <a:r>
              <a:t>   * Comparison: Side-by-side analysis of multiple files</a:t>
            </a:r>
          </a:p>
          <a:p>
            <a:endParaRPr/>
          </a:p>
          <a:p>
            <a:r>
              <a:t>DEMO:</a:t>
            </a:r>
          </a:p>
          <a:p>
            <a:r>
              <a:t>   DEMO: Upload a sample PDF (contract or report). Show prompts: 'Summarize key points', 'Extract action items into a list', 'What risks do you see?'</a:t>
            </a:r>
          </a:p>
          <a:p>
            <a:endParaRPr/>
          </a:p>
          <a:p>
            <a:r>
              <a:t>TRANSITION:</a:t>
            </a:r>
          </a:p>
          <a:p>
            <a:r>
              <a:t>   Images and screenshots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Image capabilities: Describe content, Extract text (OCR), Analyze charts/diagrams, Compare images, Explain visual concepts</a:t>
            </a:r>
          </a:p>
          <a:p>
            <a:r>
              <a:t>   * Great for: UI/UX review, chart analysis, whiteboard photos, error screenshots</a:t>
            </a:r>
          </a:p>
          <a:p>
            <a:r>
              <a:t>   * Accuracy: Very good for printed text, charts. Less accurate for handwriting.</a:t>
            </a:r>
          </a:p>
          <a:p>
            <a:r>
              <a:t>   * Desktop app has screenshot capture built in (Win+Shift+S on Windows, Cmd+Shift+5 on Mac)</a:t>
            </a:r>
          </a:p>
          <a:p>
            <a:endParaRPr/>
          </a:p>
          <a:p>
            <a:r>
              <a:t>DEMO:</a:t>
            </a:r>
          </a:p>
          <a:p>
            <a:r>
              <a:t>   DEMO: Upload a screenshot of a dashboard or chart. Ask: 'What does this chart show?', 'Extract the text from this screenshot', 'Compare these two UI mockups'.</a:t>
            </a:r>
          </a:p>
          <a:p>
            <a:endParaRPr/>
          </a:p>
          <a:p>
            <a:r>
              <a:t>TRANSITION:</a:t>
            </a:r>
          </a:p>
          <a:p>
            <a:r>
              <a:t>   Best practices for file-based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Claude isn't just text - it can analyze images, charts, screenshots, diagrams</a:t>
            </a:r>
          </a:p>
          <a:p>
            <a:endParaRPr/>
          </a:p>
          <a:p>
            <a:r>
              <a:t>KEY POINTS:</a:t>
            </a:r>
          </a:p>
          <a:p>
            <a:r>
              <a:t>   * Upload any image - Claude describes it</a:t>
            </a:r>
          </a:p>
          <a:p>
            <a:r>
              <a:t>   * Works with: Screenshots, photos, charts, diagrams, handwriting</a:t>
            </a:r>
          </a:p>
          <a:p>
            <a:r>
              <a:t>   * Can extract text (OCR) from images</a:t>
            </a:r>
          </a:p>
          <a:p>
            <a:r>
              <a:t>   * Useful for debugging, documentation, analysis</a:t>
            </a:r>
          </a:p>
          <a:p>
            <a:endParaRPr/>
          </a:p>
          <a:p>
            <a:r>
              <a:t>REAL-WORLD EXAMPLE:</a:t>
            </a:r>
          </a:p>
          <a:p>
            <a:r>
              <a:t>   Screenshot an error message, ask 'What's wrong?' Claude reads it, explains the issue, suggests fix.</a:t>
            </a:r>
          </a:p>
          <a:p>
            <a:endParaRPr/>
          </a:p>
          <a:p>
            <a:r>
              <a:t>TRANSITION:</a:t>
            </a:r>
          </a:p>
          <a:p>
            <a:r>
              <a:t>   Common vision use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Charts: 'Explain this graph' - Claude interprets trends</a:t>
            </a:r>
          </a:p>
          <a:p>
            <a:r>
              <a:t>   * Debugging: Screenshot error, Claude identifies issue</a:t>
            </a:r>
          </a:p>
          <a:p>
            <a:r>
              <a:t>   * Docs: Photo of whiteboard, Claude transcribes it</a:t>
            </a:r>
          </a:p>
          <a:p>
            <a:r>
              <a:t>   * Also: UI review, diagram explanation, photo analysis</a:t>
            </a:r>
          </a:p>
          <a:p>
            <a:endParaRPr/>
          </a:p>
          <a:p>
            <a:r>
              <a:t>ASK THE CLASS:</a:t>
            </a:r>
          </a:p>
          <a:p>
            <a:r>
              <a:t>   "What images or screenshots do you work with regularly?"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Tips for working with images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Descriptive names: 'Q4_Report.pdf' better than 'Document1.pdf'</a:t>
            </a:r>
          </a:p>
          <a:p>
            <a:r>
              <a:t>   * Context: Don't just upload and say 'Analyze this' - specify WHAT to analyze</a:t>
            </a:r>
          </a:p>
          <a:p>
            <a:r>
              <a:t>   * Verification: Always spot-check extracted data for accuracy</a:t>
            </a:r>
          </a:p>
          <a:p>
            <a:r>
              <a:t>   * Security: Check your org's policy on uploading confidential files to AI</a:t>
            </a:r>
          </a:p>
          <a:p>
            <a:endParaRPr/>
          </a:p>
          <a:p>
            <a:r>
              <a:t>TRANSITION:</a:t>
            </a:r>
          </a:p>
          <a:p>
            <a:r>
              <a:t>   Time for hands-on practice - Lab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Instead of uploading files, Claude can read directly from your tools</a:t>
            </a:r>
          </a:p>
          <a:p>
            <a:endParaRPr/>
          </a:p>
          <a:p>
            <a:r>
              <a:t>KEY POINTS:</a:t>
            </a:r>
          </a:p>
          <a:p>
            <a:r>
              <a:t>   * Integrations = Claude connects to external tools</a:t>
            </a:r>
          </a:p>
          <a:p>
            <a:r>
              <a:t>   * Currently: GitHub, Google Docs (more coming)</a:t>
            </a:r>
          </a:p>
          <a:p>
            <a:r>
              <a:t>   * No file upload needed - Claude reads directly</a:t>
            </a:r>
          </a:p>
          <a:p>
            <a:r>
              <a:t>   * Stays in sync with live data</a:t>
            </a:r>
          </a:p>
          <a:p>
            <a:endParaRPr/>
          </a:p>
          <a:p>
            <a:r>
              <a:t>REAL-WORLD EXAMPLE:</a:t>
            </a:r>
          </a:p>
          <a:p>
            <a:r>
              <a:t>   Ask 'Review my Google Doc proposal' - Claude opens it, reads it, suggests edits. No download/upload.</a:t>
            </a:r>
          </a:p>
          <a:p>
            <a:endParaRPr/>
          </a:p>
          <a:p>
            <a:r>
              <a:t>TRANSITION:</a:t>
            </a:r>
          </a:p>
          <a:p>
            <a:r>
              <a:t>   Let's look at each 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GitHub: For code review, repo analysis, PR feedback</a:t>
            </a:r>
          </a:p>
          <a:p>
            <a:r>
              <a:t>   * Google Docs: For document collaboration, editing, drafting</a:t>
            </a:r>
          </a:p>
          <a:p>
            <a:r>
              <a:t>   * Both: Real-time access (no stale copies)</a:t>
            </a:r>
          </a:p>
          <a:p>
            <a:r>
              <a:t>   * Enable in Settings &gt; Integrations</a:t>
            </a:r>
          </a:p>
          <a:p>
            <a:endParaRPr/>
          </a:p>
          <a:p>
            <a:r>
              <a:t>TRANSITION:</a:t>
            </a:r>
          </a:p>
          <a:p>
            <a:r>
              <a:t>   When to use integrations vs file upload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Integrations = live connection to source</a:t>
            </a:r>
          </a:p>
          <a:p>
            <a:r>
              <a:t>   * File upload = snapshot in time</a:t>
            </a:r>
          </a:p>
          <a:p>
            <a:r>
              <a:t>   * Can use both in same conversation</a:t>
            </a:r>
          </a:p>
          <a:p>
            <a:r>
              <a:t>   * More integrations coming (Slack, Notion, etc.)</a:t>
            </a:r>
          </a:p>
          <a:p>
            <a:endParaRPr/>
          </a:p>
          <a:p>
            <a:r>
              <a:t>TRANSITION:</a:t>
            </a:r>
          </a:p>
          <a:p>
            <a:r>
              <a:t>   Before the second lab, let's see role-specific 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OPEN WITH:</a:t>
            </a:r>
          </a:p>
          <a:p>
            <a:r>
              <a:t>   Final lab - create real deliverables you can use at work tomorrow. Focus on document outputs.</a:t>
            </a:r>
          </a:p>
          <a:p>
            <a:endParaRPr/>
          </a:p>
          <a:p>
            <a:r>
              <a:t>KEY POINTS:</a:t>
            </a:r>
          </a:p>
          <a:p>
            <a:r>
              <a:t>   * Lab guide has all sample files: PDFs, CSVs, email templates</a:t>
            </a:r>
          </a:p>
          <a:p>
            <a:r>
              <a:t>   * Exercise 2: Upload PDF, get polished executive summary (real workflow)</a:t>
            </a:r>
          </a:p>
          <a:p>
            <a:r>
              <a:t>   * Exercise 3: This is powerful - CSV data becomes PowerPoint deck outline</a:t>
            </a:r>
          </a:p>
          <a:p>
            <a:r>
              <a:t>   * All outputs use artifacts - professional formatting, copy-paste ready</a:t>
            </a:r>
          </a:p>
          <a:p>
            <a:r>
              <a:t>   * Try all four if time allows, minimum 2 exercises</a:t>
            </a:r>
          </a:p>
          <a:p>
            <a:r>
              <a:t>   * Save your best artifacts - these are templates for future work</a:t>
            </a:r>
          </a:p>
          <a:p>
            <a:r>
              <a:t>   * I'll be walking around - show me your best output!</a:t>
            </a:r>
          </a:p>
          <a:p>
            <a:endParaRPr/>
          </a:p>
          <a:p>
            <a:r>
              <a:t>DEMO:</a:t>
            </a:r>
          </a:p>
          <a:p>
            <a:r>
              <a:t>   Show lab guide - point out sample files folder. Emphasize artifact outputs for each exercise.</a:t>
            </a:r>
          </a:p>
          <a:p>
            <a:endParaRPr/>
          </a:p>
          <a:p>
            <a:r>
              <a:t>TRANSITION:</a:t>
            </a:r>
          </a:p>
          <a:p>
            <a:r>
              <a:t>   Take 45 minutes. We'll reconvene at 3:15 for wrap-up and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Marketing: Research → Strategy → Content → Campaigns</a:t>
            </a:r>
          </a:p>
          <a:p>
            <a:r>
              <a:t>   * Claude helps at every step</a:t>
            </a:r>
          </a:p>
          <a:p>
            <a:r>
              <a:t>   * Use Projects for brand voice consistency</a:t>
            </a:r>
          </a:p>
          <a:p>
            <a:r>
              <a:t>   * Analysis tool for campaign performance data</a:t>
            </a:r>
          </a:p>
          <a:p>
            <a:endParaRPr/>
          </a:p>
          <a:p>
            <a:r>
              <a:t>REAL-WORLD EXAMPLE:</a:t>
            </a:r>
          </a:p>
          <a:p>
            <a:r>
              <a:t>   CMO uses Claude to analyze 10 competitor websites, draft positioning, create campaign in 30 min vs. 3 hours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Sales: Research → Personalization → Outreach → Follow-up</a:t>
            </a:r>
          </a:p>
          <a:p>
            <a:r>
              <a:t>   * Claude personalizes at scale</a:t>
            </a:r>
          </a:p>
          <a:p>
            <a:r>
              <a:t>   * Use Projects for product knowledge</a:t>
            </a:r>
          </a:p>
          <a:p>
            <a:r>
              <a:t>   * Vision for analyzing prospect websites</a:t>
            </a:r>
          </a:p>
          <a:p>
            <a:endParaRPr/>
          </a:p>
          <a:p>
            <a:r>
              <a:t>REAL-WORLD EXAMPLE:</a:t>
            </a:r>
          </a:p>
          <a:p>
            <a:r>
              <a:t>   Sales rep researches 20 prospects/day with Claude vs. 5 manually. Same quality, 4×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You now have the foundation for using Claude effectively</a:t>
            </a:r>
          </a:p>
          <a:p>
            <a:r>
              <a:t>   * Morning gave you the theory and framework</a:t>
            </a:r>
          </a:p>
          <a:p>
            <a:r>
              <a:t>   * Afternoon gave you practical tools</a:t>
            </a:r>
          </a:p>
          <a:p>
            <a:r>
              <a:t>   * Labs gave you hands-on practice</a:t>
            </a:r>
          </a:p>
          <a:p>
            <a:endParaRPr/>
          </a:p>
          <a:p>
            <a:r>
              <a:t>TRANSITION:</a:t>
            </a:r>
          </a:p>
          <a:p>
            <a:r>
              <a:t>   Five key takeaways to remember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1. Specificity: Vague prompts = vague outputs. Use GOLDEN when stuck.</a:t>
            </a:r>
          </a:p>
          <a:p>
            <a:r>
              <a:t>   * 2. Projects: Set them up for monthly reports, client work, any recurring task.</a:t>
            </a:r>
          </a:p>
          <a:p>
            <a:r>
              <a:t>   * 3. Iteration: First draft is rarely perfect - refine it.</a:t>
            </a:r>
          </a:p>
          <a:p>
            <a:r>
              <a:t>   * 4. Excel add-in: Different from uploading files - it sees your spreadsheet context.</a:t>
            </a:r>
          </a:p>
          <a:p>
            <a:r>
              <a:t>   * 5. Verification: You're still the expert - Claude is the assistant.</a:t>
            </a:r>
          </a:p>
          <a:p>
            <a:endParaRPr/>
          </a:p>
          <a:p>
            <a:r>
              <a:t>TRANSITION:</a:t>
            </a:r>
          </a:p>
          <a:p>
            <a:r>
              <a:t>   Tomorrow preview for technical users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docs.claude.com has comprehensive, always up-to-date documentation</a:t>
            </a:r>
          </a:p>
          <a:p>
            <a:r>
              <a:t>   * Support site has troubleshooting for common issues</a:t>
            </a:r>
          </a:p>
          <a:p>
            <a:r>
              <a:t>   * Blog (anthropic.com/news) has product announcements and case studies</a:t>
            </a:r>
          </a:p>
          <a:p>
            <a:r>
              <a:t>   * Trust Center has full security and compliance documentation</a:t>
            </a:r>
          </a:p>
          <a:p>
            <a:r>
              <a:t>   * Handouts: Take these with you for reference</a:t>
            </a:r>
          </a:p>
          <a:p>
            <a:endParaRPr/>
          </a:p>
          <a:p>
            <a:r>
              <a:t>TRANSITION:</a:t>
            </a:r>
          </a:p>
          <a:p>
            <a:r>
              <a:t>   Optional practice assignment for this week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This is optional but highly recommended</a:t>
            </a:r>
          </a:p>
          <a:p>
            <a:r>
              <a:t>   * Real-world practice cements learning</a:t>
            </a:r>
          </a:p>
          <a:p>
            <a:r>
              <a:t>   * Start with low-stakes tasks</a:t>
            </a:r>
          </a:p>
          <a:p>
            <a:r>
              <a:t>   * Track time saved - you'll be surprised</a:t>
            </a:r>
          </a:p>
          <a:p>
            <a:r>
              <a:t>   * Share wins with your team</a:t>
            </a:r>
          </a:p>
          <a:p>
            <a:endParaRPr/>
          </a:p>
          <a:p>
            <a:r>
              <a:t>TRANSITION:</a:t>
            </a:r>
          </a:p>
          <a:p>
            <a:r>
              <a:t>   Q&amp;A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15-20 min</a:t>
            </a:r>
          </a:p>
          <a:p>
            <a:endParaRPr/>
          </a:p>
          <a:p>
            <a:r>
              <a:t>KEY POINTS:</a:t>
            </a:r>
          </a:p>
          <a:p>
            <a:r>
              <a:t>   * Open floor for any questions</a:t>
            </a:r>
          </a:p>
          <a:p>
            <a:r>
              <a:t>   * Common Q: Licensing - talk to your admin about Claude Enterprise</a:t>
            </a:r>
          </a:p>
          <a:p>
            <a:r>
              <a:t>   * Common Q: Security - Claude Enterprise has SOC2, HIPAA compliance options</a:t>
            </a:r>
          </a:p>
          <a:p>
            <a:r>
              <a:t>   * Common Q: vs Copilot - they complement each other, use both</a:t>
            </a:r>
          </a:p>
          <a:p>
            <a:r>
              <a:t>   * Share contact info for follow-up questions</a:t>
            </a:r>
          </a:p>
          <a:p>
            <a:endParaRPr/>
          </a:p>
          <a:p>
            <a:r>
              <a:t>TRANSITION:</a:t>
            </a:r>
          </a:p>
          <a:p>
            <a:r>
              <a:t>   Thank you!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 min</a:t>
            </a:r>
          </a:p>
          <a:p>
            <a:endParaRPr/>
          </a:p>
          <a:p>
            <a:r>
              <a:t>KEY POINTS:</a:t>
            </a:r>
          </a:p>
          <a:p>
            <a:r>
              <a:t>   * Thank you for your attention today</a:t>
            </a:r>
          </a:p>
          <a:p>
            <a:r>
              <a:t>   * Practice what you learned this week</a:t>
            </a:r>
          </a:p>
          <a:p>
            <a:r>
              <a:t>   * Reach out if you have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Claude for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Today's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10047" cy="640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5135727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B0F1A"/>
                </a:solidFill>
              </a:defRPr>
            </a:pPr>
            <a:r>
              <a:t>Morning  (9:00 AM - 12:00 PM)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Claude Landscape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15687" y="25603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15687" y="25603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Interface &amp; Projects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15687" y="30632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15687" y="30632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34747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i="1">
                <a:solidFill>
                  <a:srgbClr val="8B95A5"/>
                </a:solidFill>
              </a:defRPr>
            </a:pPr>
            <a:r>
              <a:t>Break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15687" y="3566160"/>
            <a:ext cx="914400" cy="320040"/>
          </a:xfrm>
          <a:prstGeom prst="roundRect">
            <a:avLst/>
          </a:prstGeom>
          <a:solidFill>
            <a:srgbClr val="141A26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15687" y="35661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15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5687" y="406908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15687" y="406908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48056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Lab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15687" y="457200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15687" y="45720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4447" y="1645920"/>
            <a:ext cx="5410047" cy="640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61607" y="1645920"/>
            <a:ext cx="5135727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B0F1A"/>
                </a:solidFill>
              </a:defRPr>
            </a:pPr>
            <a:r>
              <a:t>Afternoon  (1:00 PM - 4:00 PM)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4447" y="246888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61607" y="24688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Claude in Excel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82935" y="25603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82935" y="25603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29718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Artifacts &amp; Files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82935" y="30632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82935" y="30632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347472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61607" y="34747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i="1">
                <a:solidFill>
                  <a:srgbClr val="8B95A5"/>
                </a:solidFill>
              </a:defRPr>
            </a:pPr>
            <a:r>
              <a:t>Break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82935" y="3566160"/>
            <a:ext cx="914400" cy="320040"/>
          </a:xfrm>
          <a:prstGeom prst="roundRect">
            <a:avLst/>
          </a:prstGeom>
          <a:solidFill>
            <a:srgbClr val="141A26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82935" y="35661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15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97764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Lab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82935" y="406908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82935" y="406908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4447" y="448056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61607" y="448056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Wrap-up &amp; Q&amp;A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682935" y="457200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682935" y="45720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Learning Objectives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Choose the right Claude model for different tasks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Navigate Claude.ai interface and manage Projects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Write effective prompts and use Extended Thinking for complex tasks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Claude in Excel for formula assistance and data analysis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artifacts for code, documents, and diagrams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4864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321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Apply Claude to common business workflows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Claude Model Family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Haiku</a:t>
            </a:r>
            <a:br/>
            <a:r>
              <a:t>Fastest • Lowest cost</a:t>
            </a:r>
            <a:br/>
            <a:r>
              <a:t>Quick tasks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Sonnet</a:t>
            </a:r>
            <a:br/>
            <a:r>
              <a:t>Balanced • Most work</a:t>
            </a:r>
            <a:br/>
            <a:r>
              <a:t>(Default)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Opus</a:t>
            </a:r>
            <a:br/>
            <a:r>
              <a:t>Most capable</a:t>
            </a:r>
            <a:br/>
            <a:r>
              <a:t>Critical decisions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Each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Haiku / Sonnet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Fast responses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Straightforward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Iterating many times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General productivity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You're not sure (default Sonnet)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Opus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Stakes are high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Complexity is high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Quality &gt; speed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Critical decisions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output needed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Extended Thinking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Claude's advanced reasoning capability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Extended Thinking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Extended Thinking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 analysis (multi-step)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High-stakes decisions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Technical problem-solving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Detailed planning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Quality &gt; speed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B95A5"/>
                </a:solidFill>
              </a:defRPr>
            </a:pPr>
            <a:r>
              <a:t>Regular Mode Is Fine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Simple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drafts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Straightforward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Speed matters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Casual brainstorming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Makes Claude Different?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Long context • Accurate • Safe • Versatile • Citations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44907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FFFFFF"/>
                </a:solidFill>
              </a:rPr>
              <a:t>Claude Ecosystem</a:t>
            </a:r>
          </a:p>
        </p:txBody>
      </p:sp>
      <p:pic>
        <p:nvPicPr>
          <p:cNvPr id="3" name="Picture 2" descr="claude-ecosystem.png"/>
          <p:cNvPicPr>
            <a:picLocks noChangeAspect="1"/>
          </p:cNvPicPr>
          <p:nvPr/>
        </p:nvPicPr>
        <p:blipFill>
          <a:blip r:embed="rId3"/>
          <a:srcRect t="21119" b="23825"/>
          <a:stretch>
            <a:fillRect/>
          </a:stretch>
        </p:blipFill>
        <p:spPr>
          <a:xfrm>
            <a:off x="810208" y="1716834"/>
            <a:ext cx="10571584" cy="37509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Claude's Current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What Claude Can 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Web search &amp; real-time data (news, market prices, weather)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Image search and web page fetching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Memory across conversations (persistent context)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Knowledge through May 2025 + web for current info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analysis (PDFs, images, CSV, code)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Long conversations (200K context window)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📋 Best Practices (Still Important)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source docs for accuracy (better than web search)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Verify facts on critical decisions (hallucination still possible)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Use Projects for persistent work context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Ground responses: 'Based only on uploaded doc'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Review outputs - you own the final decision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Check sensitive data before sharing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 Desktop App: Autonomous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Claude.ai (What You Know)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Back-and-forth conversation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ask → Claude answers → repeat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stay in the chat the whole time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Great for real-time collaboration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Immediate feedback and iteration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Claude for Work (NEW Preview)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Three modes: Chat, Cowork, Code tabs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Set goal → Walk away → Come back later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Works autonomously in background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Handles complex multi-step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Task presets: 'Optimize my week', 'Organize screenshots', etc.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check in when YOU want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Available: Windows + Mac Preview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Plugin integration (customize workflows)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When to Use Claude for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PERFECT FOR: Complex multi-step tasks (2+ hours of work)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Competitive research &amp;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Writing long documents (PRDs, reports, proposals)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Data analysis across multiple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Content creation with multiple iterations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❌ NOT IDEAL FOR: Quick questions, real-time collaboration, learning/exploration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🎯 THE RULE: If you'd normally block 2+ hours on calendar → Use Cowork. Quick task → Use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💻 HOW TO GET IT: Download Claude Desktop App (Windows/Mac) - Pro/Team subscribers get autonomous features in Preview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⚠️ PREVIEW NOTE: Early access = expect bugs, limited rollout, features evolving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Claude.ai Interface &amp;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Your AI workspace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Claude.ai Interface Tour</a:t>
            </a:r>
          </a:p>
        </p:txBody>
      </p:sp>
      <p:pic>
        <p:nvPicPr>
          <p:cNvPr id="3" name="Picture 2" descr="claude-ai-inte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1645919"/>
            <a:ext cx="10598079" cy="458692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Voice Mode: Your Productivity Superpower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3× faster than typing for complex prompts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Personalize Claude with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Personal Preferences (The Big One)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Where: Settings (gear) &gt; General &gt; Profile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What: Your bio, role, industry, preferences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Applies to ALL conversations forever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once, never repeat context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tailors responses to YOUR role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Example: 'I'm a finance manager at a healthcare company...'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Other Useful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 function: Set your job role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Notifications: Get alerts for long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Appearance: Light/dark mode, font size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Account, Privacy, Billing available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Response completions (useful for Claude Code)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Explore on your own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Projects?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Scoped knowledge bases for specific workstreams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Creating a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8635745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'Projects' in sidebar</a:t>
            </a:r>
          </a:p>
        </p:txBody>
      </p:sp>
      <p:sp>
        <p:nvSpPr>
          <p:cNvPr id="7" name="Oval 6"/>
          <p:cNvSpPr/>
          <p:nvPr/>
        </p:nvSpPr>
        <p:spPr>
          <a:xfrm>
            <a:off x="2641549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41549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4349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'+ New Project'</a:t>
            </a:r>
          </a:p>
        </p:txBody>
      </p:sp>
      <p:sp>
        <p:nvSpPr>
          <p:cNvPr id="10" name="Oval 9"/>
          <p:cNvSpPr/>
          <p:nvPr/>
        </p:nvSpPr>
        <p:spPr>
          <a:xfrm>
            <a:off x="4368698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68698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1498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Name your project</a:t>
            </a:r>
          </a:p>
        </p:txBody>
      </p:sp>
      <p:sp>
        <p:nvSpPr>
          <p:cNvPr id="13" name="Oval 12"/>
          <p:cNvSpPr/>
          <p:nvPr/>
        </p:nvSpPr>
        <p:spPr>
          <a:xfrm>
            <a:off x="609584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5847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8647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Add custom instructions</a:t>
            </a:r>
          </a:p>
        </p:txBody>
      </p:sp>
      <p:sp>
        <p:nvSpPr>
          <p:cNvPr id="16" name="Oval 15"/>
          <p:cNvSpPr/>
          <p:nvPr/>
        </p:nvSpPr>
        <p:spPr>
          <a:xfrm>
            <a:off x="7822996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22996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5796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Upload reference documents</a:t>
            </a:r>
          </a:p>
        </p:txBody>
      </p:sp>
      <p:sp>
        <p:nvSpPr>
          <p:cNvPr id="19" name="Oval 18"/>
          <p:cNvSpPr/>
          <p:nvPr/>
        </p:nvSpPr>
        <p:spPr>
          <a:xfrm>
            <a:off x="9550145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50145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2945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Start chatting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Custom Instructions - What to Include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Tone &amp; style: 'Write in professional, concise tone'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Format preferences: 'Use bullet points for action items'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Domain knowledge: 'Our fiscal year: April-March'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Constraints: 'Keep responses under 500 words unless asked'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Audience: 'You're helping C-suite executives (non-technical)'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Projects vs. Regular Chat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Projects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Recurring task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Reference documents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Team collaboration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Consistent behavior wanted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B95A5"/>
                </a:solidFill>
              </a:defRPr>
            </a:pPr>
            <a:r>
              <a:t>Use Regular Chat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One-off question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brainstorming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persistent context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Experimenting/exploring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Power User Tips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Cmd/Ctrl+K for new chat (keyboard shortcut)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Search history to find past conversations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Star important chats to pin them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Projects for templates and reusable formats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Iterate, don't start over - refine in same chat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Claude Can Analyze Your Data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Upload → Ask → Get insights and charts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Claude.ai vs Claude in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Claude.ai (Chat)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one-time analysis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you don't need to keep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Exploratory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Creating new visualizations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Data from multiple sources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formulas needed in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Use Claude in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Working file you'll update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formulas (not just answers)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Building a report/dashboard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Data already in Excel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to show your work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Ongoing calculations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Demo: Analyzing Data with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Upload, ask, get insights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 | 10:15 AM - 10:30 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Prompt Engineering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How to Get Great Results from AI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a Prompt?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Your instruction to the AI - quality in, quality out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The GOLDEN Framework</a:t>
            </a:r>
          </a:p>
        </p:txBody>
      </p:sp>
      <p:pic>
        <p:nvPicPr>
          <p:cNvPr id="3" name="Picture 2" descr="golden-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GOLDEN Framework (cont.)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Details</a:t>
            </a:r>
            <a:br/>
            <a:r>
              <a:t>What to include?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Examples</a:t>
            </a:r>
            <a:br/>
            <a:r>
              <a:t>Show what good looks like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No-gos</a:t>
            </a:r>
            <a:br/>
            <a:r>
              <a:t>What to avoid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GOLDEN Framework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Before (Vague)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about our Q4 results.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After (GOLDEN)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G: Summary of Q4 for board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O: Executive summary + bullets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L: One page max (500 words)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D: Revenue, margin, YoY compare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E: Like last quarter's report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N: No raw data tables/jargon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Common Prompting Mistakes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What NOT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Too vague: 'Help me with this'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Too long: 5 paragraphs of background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format specified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Assuming context: 'That project'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One-shot expectation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What TO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 specific about goal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Give context concisely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Specify desired format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Provide all needed info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Iterate and refine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Iterating 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First response is rarely perfect - that's OK!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 Tips for Better Prompts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examples: 'Like this template' (attach sample)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Specify audience: 'For executives' vs 'For engineers'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Set constraints: 'No jargon' / 'Must fit one page'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Ask for alternatives: 'Give me 3 different versions'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Request explanations: 'Explain your reasoning'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 Prompt Examples You Can Steal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❌ Vague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me an email about the meeting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this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Help me brainstorm ideas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Specific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a 3-paragraph follow-up email to John thanking him for the budget meeting and requesting the Q2 forecast spreadsheet by Friday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this sales data for top 3 trends, compare to last quarter, and flag any products declining &gt;15%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Generate 10 campaign ideas for launching our new CRM to finance teams, focusing on time-saved messaging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160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FFFFFF"/>
                </a:solidFill>
              </a:rPr>
              <a:t>How to Know When Output Is Good</a:t>
            </a:r>
          </a:p>
        </p:txBody>
      </p:sp>
      <p:pic>
        <p:nvPicPr>
          <p:cNvPr id="3" name="Picture 2" descr="traffic-light-trust.png"/>
          <p:cNvPicPr>
            <a:picLocks noChangeAspect="1"/>
          </p:cNvPicPr>
          <p:nvPr/>
        </p:nvPicPr>
        <p:blipFill>
          <a:blip r:embed="rId3"/>
          <a:srcRect t="11541" b="24068"/>
          <a:stretch>
            <a:fillRect/>
          </a:stretch>
        </p:blipFill>
        <p:spPr>
          <a:xfrm>
            <a:off x="699801" y="1800808"/>
            <a:ext cx="10635523" cy="44133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Top 10 Quick Wins with Claude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Email drafting &amp; responses (save 30-60 min/day)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Meeting summaries &amp; action items (from notes or transcripts)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Data analysis &amp; trend spotting (Excel + Claude Chat)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4. Brainstorming &amp; ideation (10× more ideas in same time)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5. Document summarization (20-page report → 1-page brief)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6. Content repurposing (blog → social posts → email)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7. Research synthesis (compare 5 sources, find patterns)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8. Presentation outlines (structure before slides)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9. Process documentation ('how I do X' → written procedure)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10. Learning new topics (explain like I'm 5, then go deeper)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Prompting Patterns by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Marketing: 'Create 3 versions of this message for A/B testing, target audience is [persona]'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Finance: 'Analyze this budget data, flag variances &gt;10%, explain likely causes'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HR: 'Draft interview questions for [role], focus on [skills], include behavioral examples'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Sales: 'Summarize this discovery call transcript, identify pain points and buying signals'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Operations: 'Review this process document, suggest efficiency improvements, highlight risks'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Product: 'Generate user stories for [feature], include acceptance criteria and edge cases'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NOT to Use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❌ Don't Use AI For: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Final legal/medical/financial advice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Decisions with sensitive personal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Mission-critical without verification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Representing your company officially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Anything requiring ethical judgment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Tasks requiring guaranteed 100%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DO Use AI For: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Drafts that you'll review/edit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Brainstorming and exploration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Summarizing your own documents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Learning new topics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Formatting and restructuring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Analyzing data you understand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real-time lookups (news, prices, weather)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Security &amp; Privacy: What You Need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🔒 DATA HANDLING: Your conversations are NOT used to train Claude models (Enterprise/Team plans)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🛡️ COMPLIANCE: SOC 2 Type 2, HIPAA-eligible, GDPR compliant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📁 PROJECTS: Custom instructions and knowledge base stay within your organization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⏰ RETENTION: Conversations retained for 30 days for safety/abuse monitoring, then deleted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🚫 WHAT TO AVOID: Don't paste passwords, API keys, or PII you wouldn't put in any cloud tool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ENTERPRISE ADD-ONS: Extended data retention controls, SSO, audit logs available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📋 FULL DETAILS: Trust Center at anthropic.com/trust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45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Lab 1: Practical Prompting &amp; Documents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1: Transform 3 vague prompts using GOLDEN framework (10 min)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2: Create a professional report from data (15 min) - artifact output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3: Generate presentation outline with speaker notes (10 min)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3434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4: Analyze uploaded PDF and create summary (10 min)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Share one success with the class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Success Pattern: Iterate to Great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Start: Ask Claude for first draft (70% quality)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Review: Identify what's missing or wrong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Refine: Give specific feedback to Claude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Iterate: Repeat 2-3 times (85% → 95% quality)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Finish: Human polish the final 5%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Beyond Prompting: The 6 Success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What separates the 20% who succeed from the 80% who quit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Lunch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 hour | 12:00 PM - 1:00 PM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 in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AI-Powered Spreadsheet Assistant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Claude in Excel?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Excel add-in that sees your actual spreadsheet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Installation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1830665" y="3273552"/>
            <a:ext cx="8635745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64905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4905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7705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Open Excel</a:t>
            </a:r>
          </a:p>
        </p:txBody>
      </p:sp>
      <p:sp>
        <p:nvSpPr>
          <p:cNvPr id="7" name="Oval 6"/>
          <p:cNvSpPr/>
          <p:nvPr/>
        </p:nvSpPr>
        <p:spPr>
          <a:xfrm>
            <a:off x="3192054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92054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4854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Insert &gt; Get Add-ins</a:t>
            </a:r>
          </a:p>
        </p:txBody>
      </p:sp>
      <p:sp>
        <p:nvSpPr>
          <p:cNvPr id="10" name="Oval 9"/>
          <p:cNvSpPr/>
          <p:nvPr/>
        </p:nvSpPr>
        <p:spPr>
          <a:xfrm>
            <a:off x="4919203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203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003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Search 'Claude in Excel'</a:t>
            </a:r>
          </a:p>
        </p:txBody>
      </p:sp>
      <p:sp>
        <p:nvSpPr>
          <p:cNvPr id="13" name="Oval 12"/>
          <p:cNvSpPr/>
          <p:nvPr/>
        </p:nvSpPr>
        <p:spPr>
          <a:xfrm>
            <a:off x="6646352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46352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9152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Click Add</a:t>
            </a:r>
          </a:p>
        </p:txBody>
      </p:sp>
      <p:sp>
        <p:nvSpPr>
          <p:cNvPr id="16" name="Oval 15"/>
          <p:cNvSpPr/>
          <p:nvPr/>
        </p:nvSpPr>
        <p:spPr>
          <a:xfrm>
            <a:off x="8373501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3501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16301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Sign in with Claude Enterprise</a:t>
            </a:r>
          </a:p>
        </p:txBody>
      </p:sp>
      <p:sp>
        <p:nvSpPr>
          <p:cNvPr id="19" name="Oval 18"/>
          <p:cNvSpPr/>
          <p:nvPr/>
        </p:nvSpPr>
        <p:spPr>
          <a:xfrm>
            <a:off x="1010065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0065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345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Done!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Three Main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Formula Help</a:t>
            </a:r>
            <a:br/>
            <a:r>
              <a:t>Write, debug, explain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Data Analysis</a:t>
            </a:r>
            <a:br/>
            <a:r>
              <a:t>Find patterns, insights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Financial Modeling</a:t>
            </a:r>
            <a:br/>
            <a:r>
              <a:t>Build, validate models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Formula Assistance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Write, debug, and explain formulas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Data Analysis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Find patterns, identify trends, suggest insights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Financial Modeling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'Help me build a DCF model with these cash flow projections'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'What assumptions am I missing in this budget forecast?'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'Check my NPV formulas for errors'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'Explain this IRR calculation in plain English'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CAUTION: Always validate formulas - Claude helps, you verify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Best Practices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Do's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 specific about what you want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Include column headers/references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Ask Claude to explain, not just generate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Iterate - refine the output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Verify formulas before using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Don'ts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blindly copy formulas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share sensitive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expect perfection on first try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skip verification steps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use for critical $ decisions without review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Real-World Workflow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55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18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18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9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56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113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776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76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3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Open expense report spreadsheet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'Compare actual vs budget, calculate variance %'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provides formula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'Highlight variances over 10% - how?'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suggests conditional formatting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943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436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'Draft summary for my manager'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When to Use Claude in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Formula help while building → Claude in Excel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Deep analysis of uploaded file →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PivotTables, chart creation → M365 Copilot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Multi-file analysis →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Learning/debugging formulas → Claude in Excel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 | 2:15 PM - 2:30 PM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Artifacts &amp; File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Working with Generated Content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Artifacts?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Rich content Claude generates in a separate panel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Working with Artifacts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View</a:t>
            </a:r>
            <a:br/>
            <a:r>
              <a:t>See the generated content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Edit</a:t>
            </a:r>
            <a:br/>
            <a:r>
              <a:t>Click in and make changes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Download</a:t>
            </a:r>
            <a:br/>
            <a:r>
              <a:t>Save to your computer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Common Artifact Use Cases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Email templates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Meeting agendas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Project proposals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Data summaries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Process flowcharts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4864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321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Presentation outlines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File Upload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Documents: PDFs, Word docs, text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Spreadsheets: Excel, CSV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Images: Screenshots, diagrams, photos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Code: Source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Presentations: PowerPoint (.pptx) files directly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Max file sizes: 10-25 MB per file (varies by plan)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Analyzing Uploaded Documents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Legal review: 'Review this contract for potential risks'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Research synthesis: 'I've uploaded 5 papers. What are common findings?'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Data extraction: 'Extract all dates, names, and dollar amounts into a table'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Comparison: 'Compare these two proposals and highlight differences'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Working with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8B95A5"/>
                </a:solidFill>
              </a:defRPr>
            </a:pPr>
            <a:r>
              <a:t>[Screenshot Analysis Example]</a:t>
            </a:r>
          </a:p>
        </p:txBody>
      </p:sp>
      <p:pic>
        <p:nvPicPr>
          <p:cNvPr id="5" name="Picture 4" descr="dashboard-vision-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184" y="1191701"/>
            <a:ext cx="6895322" cy="493179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Vision Capabilities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 can see and understand images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Vision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Chart Analysis</a:t>
            </a:r>
            <a:br/>
            <a:r>
              <a:t>Interpret graphs and data viz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Debugging</a:t>
            </a:r>
            <a:br/>
            <a:r>
              <a:t>Screenshots of errors/UI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Document Extraction</a:t>
            </a:r>
            <a:br/>
            <a:r>
              <a:t>OCR from scans/photos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Tips for File-Based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Name files descriptively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Provide context about what you need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Ask specific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Use Projects for recurring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Don't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without a clear question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Forget to verify extracted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confidential data without checking policies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Connect Claude to your tools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Integrations?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 connects to GitHub, Google Docs, and more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GitHub vs Google Docs Integrations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GitHub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Read repositories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Review pull requests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code structure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Search across files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Developers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Google Docs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Read/write documents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Suggest edits inline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Collaborate on drafts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Format and structure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Writers, teams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 dirty="0"/>
              <a:t>Integrations vs File Upload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Integrations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Document/code changes frequently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Want to write back (Google Docs)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Working with large repos (GitHub)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Collaborating with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Use File Upload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One-time analysis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is final/static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Non-integrated tool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to compare multiple sources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45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Lab 2: Document Creation Workshop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1: Email series (3 versions for A/B testing) - 10 min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2: Executive summary from long PDF report - 15 min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3: Data analysis → PowerPoint deck (CSV to slides) - 15 min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3434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4: Claude in Excel - formula assistance - 5 min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Share one favorite output with the class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Role-Specific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Claude in action for different jobs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Marketing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 competitor research PDFs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'Summarize their positioning'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Request: 'Draft our differentiation message'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Refine: 'Make it more concise'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Create: 'Turn into email campaign'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Sales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 prospect company info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'What are their pain points?'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Request: 'Draft personalized pitch'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Create: 'Email sequence for follow-up'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Generate: 'Objection handling script'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Wrap-up &amp; Q&amp;A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What We Covered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model family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Claude.ai interface and Projects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Prompt engineering (GOLDEN framework)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Afternoon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in Excel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Artifacts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handling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Be specific in prompts - GOLDEN framework helps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Projects for recurring work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Iterate, don't start over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Claude in Excel = in-context help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Verify AI outputs - Claude helps, you validate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Official Docs: docs.claude.com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Support: support.claude.com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Anthropic Blog: anthropic.com/news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Trust Center: anthropic.com/trust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Handouts: Claude Code Quick Reference, Prompt Engineering Cheatsheet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Practice Assignment (Optional)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Try 3 tasks with Claude this week: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Something you do monthly (turn into a Project)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A complex prompt (use GOLDEN framework)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Excel formula help or data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Track results: What worked? Time saved?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Licensing and access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Security and data privacy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When to use which tool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Advanced prompting techniques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Real-world use cases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12538</Words>
  <Application>Microsoft Office PowerPoint</Application>
  <PresentationFormat>Widescreen</PresentationFormat>
  <Paragraphs>1641</Paragraphs>
  <Slides>79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Scott Hay</cp:lastModifiedBy>
  <cp:revision>1</cp:revision>
  <dcterms:created xsi:type="dcterms:W3CDTF">2013-01-27T09:14:16Z</dcterms:created>
  <dcterms:modified xsi:type="dcterms:W3CDTF">2026-02-13T19:42:29Z</dcterms:modified>
  <cp:category/>
</cp:coreProperties>
</file>