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sldIdLst>
    <p:sldId id="256" r:id="rId2"/>
    <p:sldId id="257" r:id="rId3"/>
    <p:sldId id="258" r:id="rId4"/>
    <p:sldId id="264" r:id="rId5"/>
    <p:sldId id="268" r:id="rId6"/>
    <p:sldId id="269" r:id="rId7"/>
    <p:sldId id="281" r:id="rId8"/>
    <p:sldId id="282" r:id="rId9"/>
    <p:sldId id="283" r:id="rId10"/>
    <p:sldId id="284" r:id="rId11"/>
    <p:sldId id="285" r:id="rId12"/>
    <p:sldId id="286" r:id="rId13"/>
    <p:sldId id="287" r:id="rId14"/>
    <p:sldId id="296" r:id="rId15"/>
    <p:sldId id="288" r:id="rId16"/>
    <p:sldId id="289" r:id="rId17"/>
    <p:sldId id="290" r:id="rId18"/>
    <p:sldId id="291" r:id="rId19"/>
    <p:sldId id="292" r:id="rId20"/>
    <p:sldId id="294" r:id="rId21"/>
    <p:sldId id="295" r:id="rId22"/>
    <p:sldId id="297" r:id="rId23"/>
    <p:sldId id="293" r:id="rId24"/>
    <p:sldId id="280" r:id="rId25"/>
    <p:sldId id="259" r:id="rId26"/>
    <p:sldId id="260" r:id="rId27"/>
    <p:sldId id="261" r:id="rId28"/>
    <p:sldId id="262" r:id="rId29"/>
    <p:sldId id="271" r:id="rId30"/>
    <p:sldId id="335" r:id="rId31"/>
    <p:sldId id="336" r:id="rId32"/>
    <p:sldId id="337" r:id="rId33"/>
    <p:sldId id="266" r:id="rId34"/>
    <p:sldId id="267" r:id="rId35"/>
    <p:sldId id="342" r:id="rId36"/>
    <p:sldId id="272" r:id="rId37"/>
    <p:sldId id="273" r:id="rId38"/>
    <p:sldId id="274" r:id="rId39"/>
    <p:sldId id="275" r:id="rId40"/>
    <p:sldId id="276" r:id="rId41"/>
    <p:sldId id="343" r:id="rId42"/>
    <p:sldId id="298" r:id="rId43"/>
    <p:sldId id="277" r:id="rId44"/>
    <p:sldId id="315" r:id="rId45"/>
    <p:sldId id="279" r:id="rId46"/>
    <p:sldId id="299" r:id="rId47"/>
    <p:sldId id="300" r:id="rId48"/>
    <p:sldId id="301" r:id="rId49"/>
    <p:sldId id="302" r:id="rId50"/>
    <p:sldId id="303" r:id="rId51"/>
    <p:sldId id="304" r:id="rId52"/>
    <p:sldId id="305" r:id="rId53"/>
    <p:sldId id="306" r:id="rId54"/>
    <p:sldId id="307" r:id="rId55"/>
    <p:sldId id="278" r:id="rId56"/>
    <p:sldId id="344" r:id="rId57"/>
    <p:sldId id="309" r:id="rId58"/>
    <p:sldId id="310" r:id="rId59"/>
    <p:sldId id="311" r:id="rId60"/>
    <p:sldId id="312" r:id="rId61"/>
    <p:sldId id="313" r:id="rId62"/>
    <p:sldId id="314" r:id="rId63"/>
    <p:sldId id="317" r:id="rId64"/>
    <p:sldId id="318" r:id="rId65"/>
    <p:sldId id="316" r:id="rId66"/>
    <p:sldId id="319" r:id="rId67"/>
    <p:sldId id="320" r:id="rId68"/>
    <p:sldId id="321" r:id="rId69"/>
    <p:sldId id="322" r:id="rId70"/>
    <p:sldId id="323" r:id="rId71"/>
    <p:sldId id="325" r:id="rId72"/>
    <p:sldId id="326" r:id="rId73"/>
    <p:sldId id="327" r:id="rId74"/>
    <p:sldId id="345" r:id="rId75"/>
    <p:sldId id="328" r:id="rId76"/>
    <p:sldId id="329" r:id="rId77"/>
    <p:sldId id="330" r:id="rId78"/>
    <p:sldId id="331" r:id="rId79"/>
    <p:sldId id="332" r:id="rId80"/>
    <p:sldId id="333" r:id="rId81"/>
    <p:sldId id="334" r:id="rId8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2" dt="2026-02-16T06:47:36.06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320" autoAdjust="0"/>
  </p:normalViewPr>
  <p:slideViewPr>
    <p:cSldViewPr snapToGrid="0" snapToObjects="1">
      <p:cViewPr varScale="1">
        <p:scale>
          <a:sx n="64" d="100"/>
          <a:sy n="64" d="100"/>
        </p:scale>
        <p:origin x="1354"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microsoft.com/office/2016/11/relationships/changesInfo" Target="changesInfos/changesInfo1.xml"/><Relationship Id="rId8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Morning: Understanding Claude and how to talk to it effectively</a:t>
            </a:r>
          </a:p>
          <a:p>
            <a:r>
              <a:t>   * Afternoon: Practical tools - Excel add-in and working with files</a:t>
            </a:r>
          </a:p>
          <a:p>
            <a:r>
              <a:t>   * Two 15-minute breaks plus 1-hour lunch</a:t>
            </a:r>
          </a:p>
          <a:p>
            <a:r>
              <a:t>   * Hands-on practice twice today</a:t>
            </a:r>
          </a:p>
          <a:p>
            <a:endParaRPr/>
          </a:p>
          <a:p>
            <a:r>
              <a:t>TRANSITION:</a:t>
            </a:r>
          </a:p>
          <a:p>
            <a:r>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5C318-5F1F-F80D-938E-F8A08E8E3A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151CC-8B2A-F718-EF45-D9B57AEC6CC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5BE5E34-B5B4-A94B-E835-3901220AAFAB}"/>
              </a:ext>
            </a:extLst>
          </p:cNvPr>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a:extLst>
              <a:ext uri="{FF2B5EF4-FFF2-40B4-BE49-F238E27FC236}">
                <a16:creationId xmlns:a16="http://schemas.microsoft.com/office/drawing/2014/main" id="{7F3407F3-9F10-26DD-E643-5064369FE00E}"/>
              </a:ext>
            </a:extLst>
          </p:cNvPr>
          <p:cNvSpPr>
            <a:spLocks noGrp="1"/>
          </p:cNvSpPr>
          <p:nvPr>
            <p:ph type="sldNum" sz="quarter" idx="5"/>
          </p:nvPr>
        </p:nvSpPr>
        <p:spPr/>
      </p:sp>
    </p:spTree>
    <p:extLst>
      <p:ext uri="{BB962C8B-B14F-4D97-AF65-F5344CB8AC3E}">
        <p14:creationId xmlns:p14="http://schemas.microsoft.com/office/powerpoint/2010/main" val="17655668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Landscape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Interface &amp; Projects</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Prompt Engineering</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Lab 1</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Lab 2</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5" name="TextBox 4"/>
          <p:cNvSpPr txBox="1"/>
          <p:nvPr/>
        </p:nvSpPr>
        <p:spPr>
          <a:xfrm>
            <a:off x="1005840" y="1298448"/>
            <a:ext cx="10725912" cy="502920"/>
          </a:xfrm>
          <a:prstGeom prst="rect">
            <a:avLst/>
          </a:prstGeom>
          <a:noFill/>
        </p:spPr>
        <p:txBody>
          <a:bodyPr wrap="square">
            <a:spAutoFit/>
          </a:bodyPr>
          <a:lstStyle/>
          <a:p>
            <a:pPr>
              <a:defRPr sz="2200">
                <a:solidFill>
                  <a:srgbClr val="FFFFFF"/>
                </a:solidFill>
              </a:defRPr>
            </a:pPr>
            <a:r>
              <a:rPr dirty="0"/>
              <a:t>Choose the right Claude model for different tasks</a:t>
            </a:r>
          </a:p>
        </p:txBody>
      </p:sp>
      <p:sp>
        <p:nvSpPr>
          <p:cNvPr id="6" name="Oval 5"/>
          <p:cNvSpPr/>
          <p:nvPr/>
        </p:nvSpPr>
        <p:spPr>
          <a:xfrm>
            <a:off x="457200" y="193852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7" name="TextBox 6"/>
          <p:cNvSpPr txBox="1"/>
          <p:nvPr/>
        </p:nvSpPr>
        <p:spPr>
          <a:xfrm>
            <a:off x="1005840" y="1956816"/>
            <a:ext cx="10725912" cy="502920"/>
          </a:xfrm>
          <a:prstGeom prst="rect">
            <a:avLst/>
          </a:prstGeom>
          <a:noFill/>
        </p:spPr>
        <p:txBody>
          <a:bodyPr wrap="square">
            <a:spAutoFit/>
          </a:bodyPr>
          <a:lstStyle/>
          <a:p>
            <a:pPr>
              <a:defRPr sz="2200">
                <a:solidFill>
                  <a:srgbClr val="FFFFFF"/>
                </a:solidFill>
              </a:defRPr>
            </a:pPr>
            <a:r>
              <a:t>Navigate Claude.ai interface and manage Projects</a:t>
            </a:r>
          </a:p>
        </p:txBody>
      </p:sp>
      <p:sp>
        <p:nvSpPr>
          <p:cNvPr id="8" name="Oval 7"/>
          <p:cNvSpPr/>
          <p:nvPr/>
        </p:nvSpPr>
        <p:spPr>
          <a:xfrm>
            <a:off x="457200" y="259689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9" name="TextBox 8"/>
          <p:cNvSpPr txBox="1"/>
          <p:nvPr/>
        </p:nvSpPr>
        <p:spPr>
          <a:xfrm>
            <a:off x="1005840" y="2615184"/>
            <a:ext cx="10725912" cy="502920"/>
          </a:xfrm>
          <a:prstGeom prst="rect">
            <a:avLst/>
          </a:prstGeom>
          <a:noFill/>
        </p:spPr>
        <p:txBody>
          <a:bodyPr wrap="square">
            <a:spAutoFit/>
          </a:bodyPr>
          <a:lstStyle/>
          <a:p>
            <a:pPr>
              <a:defRPr sz="2200">
                <a:solidFill>
                  <a:srgbClr val="FFFFFF"/>
                </a:solidFill>
              </a:defRPr>
            </a:pPr>
            <a:r>
              <a:t>Write effective prompts and use Extended Thinking for complex tasks</a:t>
            </a:r>
          </a:p>
        </p:txBody>
      </p:sp>
      <p:sp>
        <p:nvSpPr>
          <p:cNvPr id="10" name="Oval 9"/>
          <p:cNvSpPr/>
          <p:nvPr/>
        </p:nvSpPr>
        <p:spPr>
          <a:xfrm>
            <a:off x="457200" y="3255264"/>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1" name="TextBox 10"/>
          <p:cNvSpPr txBox="1"/>
          <p:nvPr/>
        </p:nvSpPr>
        <p:spPr>
          <a:xfrm>
            <a:off x="1005840" y="3273552"/>
            <a:ext cx="10725912" cy="502920"/>
          </a:xfrm>
          <a:prstGeom prst="rect">
            <a:avLst/>
          </a:prstGeom>
          <a:noFill/>
        </p:spPr>
        <p:txBody>
          <a:bodyPr wrap="square">
            <a:spAutoFit/>
          </a:bodyPr>
          <a:lstStyle/>
          <a:p>
            <a:pPr>
              <a:defRPr sz="2200">
                <a:solidFill>
                  <a:srgbClr val="FFFFFF"/>
                </a:solidFill>
              </a:defRPr>
            </a:pPr>
            <a:r>
              <a:t>Use Claude in Excel for formula assistance and data analysis</a:t>
            </a:r>
          </a:p>
        </p:txBody>
      </p:sp>
      <p:sp>
        <p:nvSpPr>
          <p:cNvPr id="12" name="Oval 11"/>
          <p:cNvSpPr/>
          <p:nvPr/>
        </p:nvSpPr>
        <p:spPr>
          <a:xfrm>
            <a:off x="457200" y="3913631"/>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3" name="TextBox 12"/>
          <p:cNvSpPr txBox="1"/>
          <p:nvPr/>
        </p:nvSpPr>
        <p:spPr>
          <a:xfrm>
            <a:off x="1005840" y="3931919"/>
            <a:ext cx="10725912" cy="502920"/>
          </a:xfrm>
          <a:prstGeom prst="rect">
            <a:avLst/>
          </a:prstGeom>
          <a:noFill/>
        </p:spPr>
        <p:txBody>
          <a:bodyPr wrap="square">
            <a:spAutoFit/>
          </a:bodyPr>
          <a:lstStyle/>
          <a:p>
            <a:pPr>
              <a:defRPr sz="2200">
                <a:solidFill>
                  <a:srgbClr val="FFFFFF"/>
                </a:solidFill>
              </a:defRPr>
            </a:pPr>
            <a:r>
              <a:t>Use artifacts for code, documents, and diagrams</a:t>
            </a:r>
          </a:p>
        </p:txBody>
      </p:sp>
      <p:sp>
        <p:nvSpPr>
          <p:cNvPr id="14" name="Oval 13"/>
          <p:cNvSpPr/>
          <p:nvPr/>
        </p:nvSpPr>
        <p:spPr>
          <a:xfrm>
            <a:off x="457200" y="45720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5" name="TextBox 14"/>
          <p:cNvSpPr txBox="1"/>
          <p:nvPr/>
        </p:nvSpPr>
        <p:spPr>
          <a:xfrm>
            <a:off x="1005840" y="4590288"/>
            <a:ext cx="10725912" cy="502920"/>
          </a:xfrm>
          <a:prstGeom prst="rect">
            <a:avLst/>
          </a:prstGeom>
          <a:noFill/>
        </p:spPr>
        <p:txBody>
          <a:bodyPr wrap="square">
            <a:spAutoFit/>
          </a:bodyPr>
          <a:lstStyle/>
          <a:p>
            <a:pPr>
              <a:defRPr sz="2200">
                <a:solidFill>
                  <a:srgbClr val="FFFFFF"/>
                </a:solidFill>
              </a:defRPr>
            </a:pPr>
            <a:r>
              <a:t>Apply Claude to common business workflows</a:t>
            </a:r>
          </a:p>
        </p:txBody>
      </p:sp>
      <p:sp>
        <p:nvSpPr>
          <p:cNvPr id="16" name="Oval 15"/>
          <p:cNvSpPr/>
          <p:nvPr/>
        </p:nvSpPr>
        <p:spPr>
          <a:xfrm>
            <a:off x="457200" y="523036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7" name="TextBox 16"/>
          <p:cNvSpPr txBox="1"/>
          <p:nvPr/>
        </p:nvSpPr>
        <p:spPr>
          <a:xfrm>
            <a:off x="1005840" y="5248656"/>
            <a:ext cx="10725912" cy="502920"/>
          </a:xfrm>
          <a:prstGeom prst="rect">
            <a:avLst/>
          </a:prstGeom>
          <a:noFill/>
        </p:spPr>
        <p:txBody>
          <a:bodyPr wrap="square">
            <a:spAutoFit/>
          </a:bodyPr>
          <a:lstStyle/>
          <a:p>
            <a:pPr>
              <a:defRPr sz="2200">
                <a:solidFill>
                  <a:srgbClr val="FFFFFF"/>
                </a:solidFill>
              </a:defRPr>
            </a:pPr>
            <a:r>
              <a:t>Configure Claude Desktop, Voice Mode, and Personal Preferences</a:t>
            </a:r>
          </a:p>
        </p:txBody>
      </p:sp>
      <p:sp>
        <p:nvSpPr>
          <p:cNvPr id="18" name="Oval 17"/>
          <p:cNvSpPr/>
          <p:nvPr/>
        </p:nvSpPr>
        <p:spPr>
          <a:xfrm>
            <a:off x="457200" y="588873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9" name="TextBox 18"/>
          <p:cNvSpPr txBox="1"/>
          <p:nvPr/>
        </p:nvSpPr>
        <p:spPr>
          <a:xfrm>
            <a:off x="1005840" y="5907023"/>
            <a:ext cx="10725912" cy="502920"/>
          </a:xfrm>
          <a:prstGeom prst="rect">
            <a:avLst/>
          </a:prstGeom>
          <a:noFill/>
        </p:spPr>
        <p:txBody>
          <a:bodyPr wrap="square">
            <a:spAutoFit/>
          </a:bodyPr>
          <a:lstStyle/>
          <a:p>
            <a:pPr>
              <a:defRPr sz="2200">
                <a:solidFill>
                  <a:srgbClr val="FFFFFF"/>
                </a:solidFill>
              </a:defRPr>
            </a:pPr>
            <a:r>
              <a:t>Understand Claude's security model and data privacy controls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166B4A3C-B798-1A33-1D51-98F193E8BD0C}"/>
            </a:ext>
          </a:extLst>
        </p:cNvPr>
        <p:cNvGrpSpPr/>
        <p:nvPr/>
      </p:nvGrpSpPr>
      <p:grpSpPr>
        <a:xfrm>
          <a:off x="0" y="0"/>
          <a:ext cx="0" cy="0"/>
          <a:chOff x="0" y="0"/>
          <a:chExt cx="0" cy="0"/>
        </a:xfrm>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Apps: Desktop &amp; Mobile</a:t>
            </a:r>
          </a:p>
        </p:txBody>
      </p:sp>
      <p:sp>
        <p:nvSpPr>
          <p:cNvPr id="3" name="TextBox 2"/>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Same Claude, native experience on every device</a:t>
            </a:r>
          </a:p>
        </p:txBody>
      </p:sp>
      <p:sp>
        <p:nvSpPr>
          <p:cNvPr id="4" name="Rounded Rectangle 3"/>
          <p:cNvSpPr/>
          <p:nvPr/>
        </p:nvSpPr>
        <p:spPr>
          <a:xfrm>
            <a:off x="457200" y="1828800"/>
            <a:ext cx="5303520" cy="41148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011680"/>
            <a:ext cx="4754880" cy="548640"/>
          </a:xfrm>
          <a:prstGeom prst="rect">
            <a:avLst/>
          </a:prstGeom>
          <a:noFill/>
        </p:spPr>
        <p:txBody>
          <a:bodyPr wrap="none">
            <a:spAutoFit/>
          </a:bodyPr>
          <a:lstStyle/>
          <a:p>
            <a:pPr algn="ctr">
              <a:defRPr sz="3600"/>
            </a:pPr>
            <a:r>
              <a:t>🖥️</a:t>
            </a:r>
          </a:p>
        </p:txBody>
      </p:sp>
      <p:sp>
        <p:nvSpPr>
          <p:cNvPr id="6" name="TextBox 5"/>
          <p:cNvSpPr txBox="1"/>
          <p:nvPr/>
        </p:nvSpPr>
        <p:spPr>
          <a:xfrm>
            <a:off x="731520" y="2560320"/>
            <a:ext cx="4754880" cy="457200"/>
          </a:xfrm>
          <a:prstGeom prst="rect">
            <a:avLst/>
          </a:prstGeom>
          <a:noFill/>
        </p:spPr>
        <p:txBody>
          <a:bodyPr wrap="none">
            <a:spAutoFit/>
          </a:bodyPr>
          <a:lstStyle/>
          <a:p>
            <a:pPr algn="ctr">
              <a:defRPr sz="2400" b="1">
                <a:solidFill>
                  <a:srgbClr val="FFFFFF"/>
                </a:solidFill>
              </a:defRPr>
            </a:pPr>
            <a:r>
              <a:t>Desktop App</a:t>
            </a:r>
          </a:p>
        </p:txBody>
      </p:sp>
      <p:sp>
        <p:nvSpPr>
          <p:cNvPr id="7" name="TextBox 6"/>
          <p:cNvSpPr txBox="1"/>
          <p:nvPr/>
        </p:nvSpPr>
        <p:spPr>
          <a:xfrm>
            <a:off x="731520" y="3017520"/>
            <a:ext cx="4754880" cy="365760"/>
          </a:xfrm>
          <a:prstGeom prst="rect">
            <a:avLst/>
          </a:prstGeom>
          <a:noFill/>
        </p:spPr>
        <p:txBody>
          <a:bodyPr wrap="none">
            <a:spAutoFit/>
          </a:bodyPr>
          <a:lstStyle/>
          <a:p>
            <a:pPr algn="ctr">
              <a:defRPr sz="1400" i="1">
                <a:solidFill>
                  <a:srgbClr val="14B8A6"/>
                </a:solidFill>
              </a:defRPr>
            </a:pPr>
            <a:r>
              <a:t>Windows + Mac (Preview)</a:t>
            </a:r>
          </a:p>
        </p:txBody>
      </p:sp>
      <p:sp>
        <p:nvSpPr>
          <p:cNvPr id="8" name="TextBox 7"/>
          <p:cNvSpPr txBox="1"/>
          <p:nvPr/>
        </p:nvSpPr>
        <p:spPr>
          <a:xfrm>
            <a:off x="731520" y="3566160"/>
            <a:ext cx="4754880" cy="2194560"/>
          </a:xfrm>
          <a:prstGeom prst="rect">
            <a:avLst/>
          </a:prstGeom>
          <a:noFill/>
        </p:spPr>
        <p:txBody>
          <a:bodyPr wrap="square">
            <a:spAutoFit/>
          </a:bodyPr>
          <a:lstStyle/>
          <a:p>
            <a:pPr algn="ctr">
              <a:lnSpc>
                <a:spcPts val="2200"/>
              </a:lnSpc>
              <a:defRPr sz="1500">
                <a:solidFill>
                  <a:srgbClr val="D1D5DB"/>
                </a:solidFill>
              </a:defRPr>
            </a:pPr>
            <a:r>
              <a:t>Native app — no browser needed</a:t>
            </a:r>
            <a:br/>
            <a:r>
              <a:t>System-level file access</a:t>
            </a:r>
            <a:br/>
            <a:r>
              <a:t>Keyboard shortcuts &amp; quick launch</a:t>
            </a:r>
            <a:br/>
            <a:r>
              <a:t>Same Projects and conversations</a:t>
            </a:r>
            <a:br/>
            <a:r>
              <a:t>Offline queue for prompts</a:t>
            </a:r>
            <a:br/>
            <a:r>
              <a:t>Faster, more integrated experience</a:t>
            </a:r>
          </a:p>
        </p:txBody>
      </p:sp>
      <p:sp>
        <p:nvSpPr>
          <p:cNvPr id="9" name="Rounded Rectangle 8"/>
          <p:cNvSpPr/>
          <p:nvPr/>
        </p:nvSpPr>
        <p:spPr>
          <a:xfrm>
            <a:off x="6217920" y="1828800"/>
            <a:ext cx="5303520" cy="41148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2011680"/>
            <a:ext cx="4754880" cy="548640"/>
          </a:xfrm>
          <a:prstGeom prst="rect">
            <a:avLst/>
          </a:prstGeom>
          <a:noFill/>
        </p:spPr>
        <p:txBody>
          <a:bodyPr wrap="none">
            <a:spAutoFit/>
          </a:bodyPr>
          <a:lstStyle/>
          <a:p>
            <a:pPr algn="ctr">
              <a:defRPr sz="3600"/>
            </a:pPr>
            <a:r>
              <a:t>📱</a:t>
            </a:r>
          </a:p>
        </p:txBody>
      </p:sp>
      <p:sp>
        <p:nvSpPr>
          <p:cNvPr id="11" name="TextBox 10"/>
          <p:cNvSpPr txBox="1"/>
          <p:nvPr/>
        </p:nvSpPr>
        <p:spPr>
          <a:xfrm>
            <a:off x="6492240" y="2560320"/>
            <a:ext cx="4754880" cy="457200"/>
          </a:xfrm>
          <a:prstGeom prst="rect">
            <a:avLst/>
          </a:prstGeom>
          <a:noFill/>
        </p:spPr>
        <p:txBody>
          <a:bodyPr wrap="none">
            <a:spAutoFit/>
          </a:bodyPr>
          <a:lstStyle/>
          <a:p>
            <a:pPr algn="ctr">
              <a:defRPr sz="2400" b="1">
                <a:solidFill>
                  <a:srgbClr val="FFFFFF"/>
                </a:solidFill>
              </a:defRPr>
            </a:pPr>
            <a:r>
              <a:t>Mobile Apps</a:t>
            </a:r>
          </a:p>
        </p:txBody>
      </p:sp>
      <p:sp>
        <p:nvSpPr>
          <p:cNvPr id="12" name="TextBox 11"/>
          <p:cNvSpPr txBox="1"/>
          <p:nvPr/>
        </p:nvSpPr>
        <p:spPr>
          <a:xfrm>
            <a:off x="6492240" y="3017520"/>
            <a:ext cx="4754880" cy="365760"/>
          </a:xfrm>
          <a:prstGeom prst="rect">
            <a:avLst/>
          </a:prstGeom>
          <a:noFill/>
        </p:spPr>
        <p:txBody>
          <a:bodyPr wrap="none">
            <a:spAutoFit/>
          </a:bodyPr>
          <a:lstStyle/>
          <a:p>
            <a:pPr algn="ctr">
              <a:defRPr sz="1400" i="1">
                <a:solidFill>
                  <a:srgbClr val="14B8A6"/>
                </a:solidFill>
              </a:defRPr>
            </a:pPr>
            <a:r>
              <a:t>iOS + Android</a:t>
            </a:r>
          </a:p>
        </p:txBody>
      </p:sp>
      <p:sp>
        <p:nvSpPr>
          <p:cNvPr id="13" name="TextBox 12"/>
          <p:cNvSpPr txBox="1"/>
          <p:nvPr/>
        </p:nvSpPr>
        <p:spPr>
          <a:xfrm>
            <a:off x="6492240" y="3566160"/>
            <a:ext cx="4754880" cy="2194560"/>
          </a:xfrm>
          <a:prstGeom prst="rect">
            <a:avLst/>
          </a:prstGeom>
          <a:noFill/>
        </p:spPr>
        <p:txBody>
          <a:bodyPr wrap="square">
            <a:spAutoFit/>
          </a:bodyPr>
          <a:lstStyle/>
          <a:p>
            <a:pPr algn="ctr">
              <a:lnSpc>
                <a:spcPts val="2200"/>
              </a:lnSpc>
              <a:defRPr sz="1500">
                <a:solidFill>
                  <a:srgbClr val="D1D5DB"/>
                </a:solidFill>
              </a:defRPr>
            </a:pPr>
            <a:r>
              <a:t>Voice Mode — hands-free AI</a:t>
            </a:r>
            <a:br/>
            <a:r>
              <a:t>Camera — snap &amp; analyze anything</a:t>
            </a:r>
            <a:br/>
            <a:r>
              <a:t>Conversations sync across devices</a:t>
            </a:r>
            <a:br/>
            <a:r>
              <a:t>Push notifications for responses</a:t>
            </a:r>
            <a:br/>
            <a:r>
              <a:t>Perfect for on-the-go work</a:t>
            </a:r>
            <a:br/>
            <a:r>
              <a:t>Start on phone, continue on desktop</a:t>
            </a:r>
          </a:p>
        </p:txBody>
      </p:sp>
    </p:spTree>
    <p:extLst>
      <p:ext uri="{BB962C8B-B14F-4D97-AF65-F5344CB8AC3E}">
        <p14:creationId xmlns:p14="http://schemas.microsoft.com/office/powerpoint/2010/main" val="850379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3" name="TextBox 2"/>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4"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TotalTime>
  <Words>13461</Words>
  <Application>Microsoft Office PowerPoint</Application>
  <PresentationFormat>Widescreen</PresentationFormat>
  <Paragraphs>1619</Paragraphs>
  <Slides>81</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2026-02-16T06:48:01Z</dcterms:modified>
  <cp:category/>
</cp:coreProperties>
</file>