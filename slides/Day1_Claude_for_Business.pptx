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3"/>
  </p:notesMasterIdLst>
  <p:sldIdLst>
    <p:sldId id="256" r:id="rId2"/>
    <p:sldId id="257" r:id="rId3"/>
    <p:sldId id="258" r:id="rId4"/>
    <p:sldId id="346" r:id="rId90"/>
    <p:sldId id="264" r:id="rId5"/>
    <p:sldId id="268" r:id="rId6"/>
    <p:sldId id="269" r:id="rId7"/>
    <p:sldId id="281" r:id="rId8"/>
    <p:sldId id="282" r:id="rId9"/>
    <p:sldId id="283" r:id="rId10"/>
    <p:sldId id="284" r:id="rId11"/>
    <p:sldId id="285" r:id="rId12"/>
    <p:sldId id="286" r:id="rId13"/>
    <p:sldId id="287" r:id="rId14"/>
    <p:sldId id="296" r:id="rId15"/>
    <p:sldId id="288" r:id="rId16"/>
    <p:sldId id="289" r:id="rId17"/>
    <p:sldId id="290" r:id="rId18"/>
    <p:sldId id="291" r:id="rId19"/>
    <p:sldId id="292" r:id="rId20"/>
    <p:sldId id="294" r:id="rId21"/>
    <p:sldId id="295" r:id="rId22"/>
    <p:sldId id="297" r:id="rId23"/>
    <p:sldId id="293" r:id="rId24"/>
    <p:sldId id="280" r:id="rId25"/>
    <p:sldId id="347" r:id="rId91"/>
    <p:sldId id="259" r:id="rId26"/>
    <p:sldId id="260" r:id="rId27"/>
    <p:sldId id="261" r:id="rId28"/>
    <p:sldId id="262" r:id="rId29"/>
    <p:sldId id="271" r:id="rId30"/>
    <p:sldId id="335" r:id="rId31"/>
    <p:sldId id="336" r:id="rId32"/>
    <p:sldId id="337" r:id="rId33"/>
    <p:sldId id="266" r:id="rId34"/>
    <p:sldId id="267" r:id="rId35"/>
    <p:sldId id="342" r:id="rId36"/>
    <p:sldId id="272" r:id="rId37"/>
    <p:sldId id="273" r:id="rId38"/>
    <p:sldId id="274" r:id="rId39"/>
    <p:sldId id="275" r:id="rId40"/>
    <p:sldId id="276" r:id="rId41"/>
    <p:sldId id="343" r:id="rId42"/>
    <p:sldId id="298" r:id="rId43"/>
    <p:sldId id="348" r:id="rId92"/>
    <p:sldId id="277" r:id="rId44"/>
    <p:sldId id="315" r:id="rId45"/>
    <p:sldId id="279" r:id="rId46"/>
    <p:sldId id="299" r:id="rId47"/>
    <p:sldId id="300" r:id="rId48"/>
    <p:sldId id="301" r:id="rId49"/>
    <p:sldId id="302" r:id="rId50"/>
    <p:sldId id="303" r:id="rId51"/>
    <p:sldId id="304" r:id="rId52"/>
    <p:sldId id="305" r:id="rId53"/>
    <p:sldId id="306" r:id="rId54"/>
    <p:sldId id="307" r:id="rId55"/>
    <p:sldId id="278" r:id="rId56"/>
    <p:sldId id="344" r:id="rId57"/>
    <p:sldId id="309" r:id="rId58"/>
    <p:sldId id="349" r:id="rId93"/>
    <p:sldId id="310" r:id="rId59"/>
    <p:sldId id="311" r:id="rId60"/>
    <p:sldId id="312" r:id="rId61"/>
    <p:sldId id="313" r:id="rId62"/>
    <p:sldId id="314" r:id="rId63"/>
    <p:sldId id="317" r:id="rId64"/>
    <p:sldId id="318" r:id="rId65"/>
    <p:sldId id="316" r:id="rId66"/>
    <p:sldId id="319" r:id="rId67"/>
    <p:sldId id="320" r:id="rId68"/>
    <p:sldId id="321" r:id="rId69"/>
    <p:sldId id="322" r:id="rId70"/>
    <p:sldId id="323" r:id="rId71"/>
    <p:sldId id="350" r:id="rId94"/>
    <p:sldId id="325" r:id="rId72"/>
    <p:sldId id="326" r:id="rId73"/>
    <p:sldId id="327" r:id="rId74"/>
    <p:sldId id="345" r:id="rId75"/>
    <p:sldId id="328" r:id="rId76"/>
    <p:sldId id="329" r:id="rId77"/>
    <p:sldId id="330" r:id="rId78"/>
    <p:sldId id="331" r:id="rId79"/>
    <p:sldId id="332" r:id="rId80"/>
    <p:sldId id="333" r:id="rId81"/>
    <p:sldId id="334" r:id="rId8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22" dt="2026-02-16T06:47:36.069"/>
    <p1510:client id="{8A2C6AB8-6D9A-4FFF-AEDA-02DF086C3C35}" v="10" dt="2026-02-16T06:24:02.7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7320" autoAdjust="0"/>
  </p:normalViewPr>
  <p:slideViewPr>
    <p:cSldViewPr snapToGrid="0" snapToObjects="1">
      <p:cViewPr varScale="1">
        <p:scale>
          <a:sx n="64" d="100"/>
          <a:sy n="64" d="100"/>
        </p:scale>
        <p:origin x="1354"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7.xml"/><Relationship Id="rId27" Type="http://schemas.openxmlformats.org/officeDocument/2006/relationships/slide" Target="slides/slide28.xml"/><Relationship Id="rId28" Type="http://schemas.openxmlformats.org/officeDocument/2006/relationships/slide" Target="slides/slide29.xml"/><Relationship Id="rId29" Type="http://schemas.openxmlformats.org/officeDocument/2006/relationships/slide" Target="slides/slide30.xml"/><Relationship Id="rId30" Type="http://schemas.openxmlformats.org/officeDocument/2006/relationships/slide" Target="slides/slide31.xml"/><Relationship Id="rId31" Type="http://schemas.openxmlformats.org/officeDocument/2006/relationships/slide" Target="slides/slide32.xml"/><Relationship Id="rId32" Type="http://schemas.openxmlformats.org/officeDocument/2006/relationships/slide" Target="slides/slide33.xml"/><Relationship Id="rId33" Type="http://schemas.openxmlformats.org/officeDocument/2006/relationships/slide" Target="slides/slide34.xml"/><Relationship Id="rId34" Type="http://schemas.openxmlformats.org/officeDocument/2006/relationships/slide" Target="slides/slide35.xml"/><Relationship Id="rId35" Type="http://schemas.openxmlformats.org/officeDocument/2006/relationships/slide" Target="slides/slide36.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43.xml"/><Relationship Id="rId43" Type="http://schemas.openxmlformats.org/officeDocument/2006/relationships/slide" Target="slides/slide44.xml"/><Relationship Id="rId44" Type="http://schemas.openxmlformats.org/officeDocument/2006/relationships/slide" Target="slides/slide46.xml"/><Relationship Id="rId45" Type="http://schemas.openxmlformats.org/officeDocument/2006/relationships/slide" Target="slides/slide47.xml"/><Relationship Id="rId46" Type="http://schemas.openxmlformats.org/officeDocument/2006/relationships/slide" Target="slides/slide48.xml"/><Relationship Id="rId47" Type="http://schemas.openxmlformats.org/officeDocument/2006/relationships/slide" Target="slides/slide49.xml"/><Relationship Id="rId48" Type="http://schemas.openxmlformats.org/officeDocument/2006/relationships/slide" Target="slides/slide50.xml"/><Relationship Id="rId49" Type="http://schemas.openxmlformats.org/officeDocument/2006/relationships/slide" Target="slides/slide51.xml"/><Relationship Id="rId50" Type="http://schemas.openxmlformats.org/officeDocument/2006/relationships/slide" Target="slides/slide52.xml"/><Relationship Id="rId51" Type="http://schemas.openxmlformats.org/officeDocument/2006/relationships/slide" Target="slides/slide53.xml"/><Relationship Id="rId52" Type="http://schemas.openxmlformats.org/officeDocument/2006/relationships/slide" Target="slides/slide54.xml"/><Relationship Id="rId53" Type="http://schemas.openxmlformats.org/officeDocument/2006/relationships/slide" Target="slides/slide55.xml"/><Relationship Id="rId54" Type="http://schemas.openxmlformats.org/officeDocument/2006/relationships/slide" Target="slides/slide56.xml"/><Relationship Id="rId55" Type="http://schemas.openxmlformats.org/officeDocument/2006/relationships/slide" Target="slides/slide57.xml"/><Relationship Id="rId56" Type="http://schemas.openxmlformats.org/officeDocument/2006/relationships/slide" Target="slides/slide58.xml"/><Relationship Id="rId57" Type="http://schemas.openxmlformats.org/officeDocument/2006/relationships/slide" Target="slides/slide59.xml"/><Relationship Id="rId58" Type="http://schemas.openxmlformats.org/officeDocument/2006/relationships/slide" Target="slides/slide60.xml"/><Relationship Id="rId59" Type="http://schemas.openxmlformats.org/officeDocument/2006/relationships/slide" Target="slides/slide62.xml"/><Relationship Id="rId60" Type="http://schemas.openxmlformats.org/officeDocument/2006/relationships/slide" Target="slides/slide63.xml"/><Relationship Id="rId61" Type="http://schemas.openxmlformats.org/officeDocument/2006/relationships/slide" Target="slides/slide64.xml"/><Relationship Id="rId62" Type="http://schemas.openxmlformats.org/officeDocument/2006/relationships/slide" Target="slides/slide65.xml"/><Relationship Id="rId63" Type="http://schemas.openxmlformats.org/officeDocument/2006/relationships/slide" Target="slides/slide66.xml"/><Relationship Id="rId64" Type="http://schemas.openxmlformats.org/officeDocument/2006/relationships/slide" Target="slides/slide67.xml"/><Relationship Id="rId65" Type="http://schemas.openxmlformats.org/officeDocument/2006/relationships/slide" Target="slides/slide68.xml"/><Relationship Id="rId66" Type="http://schemas.openxmlformats.org/officeDocument/2006/relationships/slide" Target="slides/slide69.xml"/><Relationship Id="rId67" Type="http://schemas.openxmlformats.org/officeDocument/2006/relationships/slide" Target="slides/slide70.xml"/><Relationship Id="rId68" Type="http://schemas.openxmlformats.org/officeDocument/2006/relationships/slide" Target="slides/slide71.xml"/><Relationship Id="rId69" Type="http://schemas.openxmlformats.org/officeDocument/2006/relationships/slide" Target="slides/slide72.xml"/><Relationship Id="rId70" Type="http://schemas.openxmlformats.org/officeDocument/2006/relationships/slide" Target="slides/slide73.xml"/><Relationship Id="rId71" Type="http://schemas.openxmlformats.org/officeDocument/2006/relationships/slide" Target="slides/slide74.xml"/><Relationship Id="rId72" Type="http://schemas.openxmlformats.org/officeDocument/2006/relationships/slide" Target="slides/slide75.xml"/><Relationship Id="rId73" Type="http://schemas.openxmlformats.org/officeDocument/2006/relationships/slide" Target="slides/slide76.xml"/><Relationship Id="rId74" Type="http://schemas.openxmlformats.org/officeDocument/2006/relationships/slide" Target="slides/slide77.xml"/><Relationship Id="rId75" Type="http://schemas.openxmlformats.org/officeDocument/2006/relationships/slide" Target="slides/slide78.xml"/><Relationship Id="rId76" Type="http://schemas.openxmlformats.org/officeDocument/2006/relationships/slide" Target="slides/slide79.xml"/><Relationship Id="rId77" Type="http://schemas.openxmlformats.org/officeDocument/2006/relationships/slide" Target="slides/slide80.xml"/><Relationship Id="rId78" Type="http://schemas.openxmlformats.org/officeDocument/2006/relationships/slide" Target="slides/slide81.xml"/><Relationship Id="rId79" Type="http://schemas.openxmlformats.org/officeDocument/2006/relationships/slide" Target="slides/slide82.xml"/><Relationship Id="rId80" Type="http://schemas.openxmlformats.org/officeDocument/2006/relationships/slide" Target="slides/slide83.xml"/><Relationship Id="rId81" Type="http://schemas.openxmlformats.org/officeDocument/2006/relationships/slide" Target="slides/slide84.xml"/><Relationship Id="rId82" Type="http://schemas.openxmlformats.org/officeDocument/2006/relationships/slide" Target="slides/slide85.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 Id="rId88" Type="http://schemas.microsoft.com/office/2016/11/relationships/changesInfo" Target="changesInfos/changesInfo1.xml"/><Relationship Id="rId89" Type="http://schemas.microsoft.com/office/2015/10/relationships/revisionInfo" Target="revisionInfo.xml"/><Relationship Id="rId90" Type="http://schemas.openxmlformats.org/officeDocument/2006/relationships/slide" Target="slides/slide4.xml"/><Relationship Id="rId91" Type="http://schemas.openxmlformats.org/officeDocument/2006/relationships/slide" Target="slides/slide26.xml"/><Relationship Id="rId92" Type="http://schemas.openxmlformats.org/officeDocument/2006/relationships/slide" Target="slides/slide45.xml"/><Relationship Id="rId93" Type="http://schemas.openxmlformats.org/officeDocument/2006/relationships/slide" Target="slides/slide61.xml"/><Relationship Id="rId94" Type="http://schemas.openxmlformats.org/officeDocument/2006/relationships/slide" Target="slides/slide8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6:47:36.069" v="171" actId="403"/>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6:47:07.243" v="168"/>
        <pc:sldMkLst>
          <pc:docMk/>
          <pc:sldMk cId="3747382653" sldId="259"/>
        </pc:sldMkLst>
      </pc:sldChg>
      <pc:sldChg chg="add del">
        <pc:chgData name="Scott Hay" userId="e95d3f44-f6c0-414c-b281-41a9346c1b81" providerId="ADAL" clId="{4D76341F-F64C-4A8E-A4EF-1A11730F38E9}" dt="2026-02-16T06:46:52.762" v="167" actId="2696"/>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del">
        <pc:chgData name="Scott Hay" userId="e95d3f44-f6c0-414c-b281-41a9346c1b81" providerId="ADAL" clId="{4D76341F-F64C-4A8E-A4EF-1A11730F38E9}" dt="2026-02-16T06:46:52.762" v="167" actId="2696"/>
        <pc:sldMkLst>
          <pc:docMk/>
          <pc:sldMk cId="1144083189" sldId="260"/>
        </pc:sldMkLst>
      </pc:sldChg>
      <pc:sldChg chg="add">
        <pc:chgData name="Scott Hay" userId="e95d3f44-f6c0-414c-b281-41a9346c1b81" providerId="ADAL" clId="{4D76341F-F64C-4A8E-A4EF-1A11730F38E9}" dt="2026-02-16T06:47:07.243" v="168"/>
        <pc:sldMkLst>
          <pc:docMk/>
          <pc:sldMk cId="2209087286"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6:47:07.243" v="168"/>
        <pc:sldMkLst>
          <pc:docMk/>
          <pc:sldMk cId="1142427686" sldId="261"/>
        </pc:sldMkLst>
      </pc:sldChg>
      <pc:sldChg chg="add del">
        <pc:chgData name="Scott Hay" userId="e95d3f44-f6c0-414c-b281-41a9346c1b81" providerId="ADAL" clId="{4D76341F-F64C-4A8E-A4EF-1A11730F38E9}" dt="2026-02-16T06:46:52.762" v="167" actId="2696"/>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6:47:07.243" v="168"/>
        <pc:sldMkLst>
          <pc:docMk/>
          <pc:sldMk cId="1742965713" sldId="262"/>
        </pc:sldMkLst>
      </pc:sldChg>
      <pc:sldChg chg="add del">
        <pc:chgData name="Scott Hay" userId="e95d3f44-f6c0-414c-b281-41a9346c1b81" providerId="ADAL" clId="{4D76341F-F64C-4A8E-A4EF-1A11730F38E9}" dt="2026-02-16T06:46:52.762" v="167" actId="2696"/>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6:47:36.069" v="171" actId="403"/>
        <pc:sldMkLst>
          <pc:docMk/>
          <pc:sldMk cId="0" sldId="271"/>
        </pc:sldMkLst>
        <pc:spChg chg="mod">
          <ac:chgData name="Scott Hay" userId="e95d3f44-f6c0-414c-b281-41a9346c1b81" providerId="ADAL" clId="{4D76341F-F64C-4A8E-A4EF-1A11730F38E9}" dt="2026-02-16T06:47:36.069" v="171" actId="403"/>
          <ac:spMkLst>
            <pc:docMk/>
            <pc:sldMk cId="0" sldId="271"/>
            <ac:spMk id="2" creationId="{00000000-0000-0000-0000-000000000000}"/>
          </ac:spMkLst>
        </pc:spChg>
      </pc:sldChg>
      <pc:sldChg chg="ord">
        <pc:chgData name="Scott Hay" userId="e95d3f44-f6c0-414c-b281-41a9346c1b81" providerId="ADAL" clId="{4D76341F-F64C-4A8E-A4EF-1A11730F38E9}" dt="2026-02-16T06:41:50.352" v="165"/>
        <pc:sldMkLst>
          <pc:docMk/>
          <pc:sldMk cId="0" sldId="278"/>
        </pc:sldMkLst>
      </pc:sldChg>
      <pc:sldChg chg="ord">
        <pc:chgData name="Scott Hay" userId="e95d3f44-f6c0-414c-b281-41a9346c1b81" providerId="ADAL" clId="{4D76341F-F64C-4A8E-A4EF-1A11730F38E9}" dt="2026-02-16T06:39:50.362" v="157"/>
        <pc:sldMkLst>
          <pc:docMk/>
          <pc:sldMk cId="0" sldId="279"/>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5:45:17.159" v="118" actId="1036"/>
        <pc:sldMkLst>
          <pc:docMk/>
          <pc:sldMk cId="0" sldId="295"/>
        </pc:sldMkLst>
        <pc:spChg chg="mod">
          <ac:chgData name="Scott Hay" userId="e95d3f44-f6c0-414c-b281-41a9346c1b81" providerId="ADAL" clId="{4D76341F-F64C-4A8E-A4EF-1A11730F38E9}" dt="2026-02-16T05:45:17.159" v="118" actId="1036"/>
          <ac:spMkLst>
            <pc:docMk/>
            <pc:sldMk cId="0" sldId="295"/>
            <ac:spMk id="6" creationId="{00000000-0000-0000-0000-000000000000}"/>
          </ac:spMkLst>
        </pc:sp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del">
        <pc:chgData name="Scott Hay" userId="e95d3f44-f6c0-414c-b281-41a9346c1b81" providerId="ADAL" clId="{4D76341F-F64C-4A8E-A4EF-1A11730F38E9}" dt="2026-02-16T06:43:42.960" v="166" actId="47"/>
        <pc:sldMkLst>
          <pc:docMk/>
          <pc:sldMk cId="0" sldId="308"/>
        </pc:sldMkLst>
      </pc:sldChg>
      <pc:sldChg chg="del">
        <pc:chgData name="Scott Hay" userId="e95d3f44-f6c0-414c-b281-41a9346c1b81" providerId="ADAL" clId="{4D76341F-F64C-4A8E-A4EF-1A11730F38E9}" dt="2026-02-16T06:38:38.977" v="152" actId="2696"/>
        <pc:sldMkLst>
          <pc:docMk/>
          <pc:sldMk cId="0" sldId="315"/>
        </pc:sldMkLst>
      </pc:sldChg>
      <pc:sldChg chg="add">
        <pc:chgData name="Scott Hay" userId="e95d3f44-f6c0-414c-b281-41a9346c1b81" providerId="ADAL" clId="{4D76341F-F64C-4A8E-A4EF-1A11730F38E9}" dt="2026-02-16T06:39:00.009" v="153"/>
        <pc:sldMkLst>
          <pc:docMk/>
          <pc:sldMk cId="3518451082" sldId="315"/>
        </pc:sldMkLst>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sldChg chg="modSp mod">
        <pc:chgData name="Scott Hay" userId="e95d3f44-f6c0-414c-b281-41a9346c1b81" providerId="ADAL" clId="{4D76341F-F64C-4A8E-A4EF-1A11730F38E9}" dt="2026-02-16T05:45:36.269" v="130" actId="403"/>
        <pc:sldMkLst>
          <pc:docMk/>
          <pc:sldMk cId="0" sldId="343"/>
        </pc:sldMkLst>
        <pc:spChg chg="mod">
          <ac:chgData name="Scott Hay" userId="e95d3f44-f6c0-414c-b281-41a9346c1b81" providerId="ADAL" clId="{4D76341F-F64C-4A8E-A4EF-1A11730F38E9}" dt="2026-02-16T05:45:36.269" v="130" actId="403"/>
          <ac:spMkLst>
            <pc:docMk/>
            <pc:sldMk cId="0" sldId="343"/>
            <ac:spMk id="2" creationId="{00000000-0000-0000-0000-000000000000}"/>
          </ac:spMkLst>
        </pc:spChg>
        <pc:spChg chg="mod">
          <ac:chgData name="Scott Hay" userId="e95d3f44-f6c0-414c-b281-41a9346c1b81" providerId="ADAL" clId="{4D76341F-F64C-4A8E-A4EF-1A11730F38E9}" dt="2026-02-16T05:45:27.349" v="125" actId="20577"/>
          <ac:spMkLst>
            <pc:docMk/>
            <pc:sldMk cId="0" sldId="343"/>
            <ac:spMk id="3" creationId="{00000000-0000-0000-0000-000000000000}"/>
          </ac:spMkLst>
        </pc:spChg>
      </pc:sldChg>
      <pc:sldChg chg="modSp mod">
        <pc:chgData name="Scott Hay" userId="e95d3f44-f6c0-414c-b281-41a9346c1b81" providerId="ADAL" clId="{4D76341F-F64C-4A8E-A4EF-1A11730F38E9}" dt="2026-02-16T05:46:34.889" v="141" actId="403"/>
        <pc:sldMkLst>
          <pc:docMk/>
          <pc:sldMk cId="0" sldId="344"/>
        </pc:sldMkLst>
        <pc:spChg chg="mod">
          <ac:chgData name="Scott Hay" userId="e95d3f44-f6c0-414c-b281-41a9346c1b81" providerId="ADAL" clId="{4D76341F-F64C-4A8E-A4EF-1A11730F38E9}" dt="2026-02-16T05:46:34.889" v="141" actId="403"/>
          <ac:spMkLst>
            <pc:docMk/>
            <pc:sldMk cId="0" sldId="344"/>
            <ac:spMk id="2" creationId="{00000000-0000-0000-0000-000000000000}"/>
          </ac:spMkLst>
        </pc:spChg>
        <pc:spChg chg="mod">
          <ac:chgData name="Scott Hay" userId="e95d3f44-f6c0-414c-b281-41a9346c1b81" providerId="ADAL" clId="{4D76341F-F64C-4A8E-A4EF-1A11730F38E9}" dt="2026-02-16T05:46:26.193" v="137" actId="20577"/>
          <ac:spMkLst>
            <pc:docMk/>
            <pc:sldMk cId="0" sldId="344"/>
            <ac:spMk id="3" creationId="{00000000-0000-0000-0000-000000000000}"/>
          </ac:spMkLst>
        </pc:spChg>
      </pc:sldChg>
      <pc:sldChg chg="modSp mod">
        <pc:chgData name="Scott Hay" userId="e95d3f44-f6c0-414c-b281-41a9346c1b81" providerId="ADAL" clId="{4D76341F-F64C-4A8E-A4EF-1A11730F38E9}" dt="2026-02-16T05:46:54.708" v="151" actId="403"/>
        <pc:sldMkLst>
          <pc:docMk/>
          <pc:sldMk cId="0" sldId="345"/>
        </pc:sldMkLst>
        <pc:spChg chg="mod">
          <ac:chgData name="Scott Hay" userId="e95d3f44-f6c0-414c-b281-41a9346c1b81" providerId="ADAL" clId="{4D76341F-F64C-4A8E-A4EF-1A11730F38E9}" dt="2026-02-16T05:46:54.708" v="151" actId="403"/>
          <ac:spMkLst>
            <pc:docMk/>
            <pc:sldMk cId="0" sldId="345"/>
            <ac:spMk id="2" creationId="{00000000-0000-0000-0000-000000000000}"/>
          </ac:spMkLst>
        </pc:spChg>
        <pc:spChg chg="mod">
          <ac:chgData name="Scott Hay" userId="e95d3f44-f6c0-414c-b281-41a9346c1b81" providerId="ADAL" clId="{4D76341F-F64C-4A8E-A4EF-1A11730F38E9}" dt="2026-02-16T05:46:49.353" v="148" actId="20577"/>
          <ac:spMkLst>
            <pc:docMk/>
            <pc:sldMk cId="0" sldId="345"/>
            <ac:spMk id="3" creationId="{00000000-0000-0000-0000-000000000000}"/>
          </ac:spMkLst>
        </pc:spChg>
      </pc:sldChg>
    </pc:docChg>
  </pc:docChgLst>
  <pc:docChgLst>
    <pc:chgData name="Scott Hay" userId="e95d3f44-f6c0-414c-b281-41a9346c1b81" providerId="ADAL" clId="{844FE0EC-1ACE-457A-A062-606521DBE677}"/>
    <pc:docChg chg="undo redo custSel modSld sldOrd">
      <pc:chgData name="Scott Hay" userId="e95d3f44-f6c0-414c-b281-41a9346c1b81" providerId="ADAL" clId="{844FE0EC-1ACE-457A-A062-606521DBE677}" dt="2026-02-16T06:24:02.729" v="346" actId="20577"/>
      <pc:docMkLst>
        <pc:docMk/>
      </pc:docMkLst>
      <pc:sldChg chg="modSp mod">
        <pc:chgData name="Scott Hay" userId="e95d3f44-f6c0-414c-b281-41a9346c1b81" providerId="ADAL" clId="{844FE0EC-1ACE-457A-A062-606521DBE677}" dt="2026-02-16T05:33:03.771" v="336" actId="20577"/>
        <pc:sldMkLst>
          <pc:docMk/>
          <pc:sldMk cId="0" sldId="257"/>
        </pc:sldMkLst>
        <pc:spChg chg="mod">
          <ac:chgData name="Scott Hay" userId="e95d3f44-f6c0-414c-b281-41a9346c1b81" providerId="ADAL" clId="{844FE0EC-1ACE-457A-A062-606521DBE677}" dt="2026-02-16T05:26:16.054" v="138" actId="20577"/>
          <ac:spMkLst>
            <pc:docMk/>
            <pc:sldMk cId="0" sldId="257"/>
            <ac:spMk id="7" creationId="{00000000-0000-0000-0000-000000000000}"/>
          </ac:spMkLst>
        </pc:spChg>
        <pc:spChg chg="mod">
          <ac:chgData name="Scott Hay" userId="e95d3f44-f6c0-414c-b281-41a9346c1b81" providerId="ADAL" clId="{844FE0EC-1ACE-457A-A062-606521DBE677}" dt="2026-02-16T05:28:51.105" v="178" actId="20577"/>
          <ac:spMkLst>
            <pc:docMk/>
            <pc:sldMk cId="0" sldId="257"/>
            <ac:spMk id="10" creationId="{00000000-0000-0000-0000-000000000000}"/>
          </ac:spMkLst>
        </pc:spChg>
        <pc:spChg chg="mod">
          <ac:chgData name="Scott Hay" userId="e95d3f44-f6c0-414c-b281-41a9346c1b81" providerId="ADAL" clId="{844FE0EC-1ACE-457A-A062-606521DBE677}" dt="2026-02-16T05:28:59.390" v="188" actId="20577"/>
          <ac:spMkLst>
            <pc:docMk/>
            <pc:sldMk cId="0" sldId="257"/>
            <ac:spMk id="12" creationId="{00000000-0000-0000-0000-000000000000}"/>
          </ac:spMkLst>
        </pc:spChg>
        <pc:spChg chg="mod">
          <ac:chgData name="Scott Hay" userId="e95d3f44-f6c0-414c-b281-41a9346c1b81" providerId="ADAL" clId="{844FE0EC-1ACE-457A-A062-606521DBE677}" dt="2026-02-16T05:32:24.568" v="295" actId="20577"/>
          <ac:spMkLst>
            <pc:docMk/>
            <pc:sldMk cId="0" sldId="257"/>
            <ac:spMk id="17" creationId="{00000000-0000-0000-0000-000000000000}"/>
          </ac:spMkLst>
        </pc:spChg>
        <pc:spChg chg="mod">
          <ac:chgData name="Scott Hay" userId="e95d3f44-f6c0-414c-b281-41a9346c1b81" providerId="ADAL" clId="{844FE0EC-1ACE-457A-A062-606521DBE677}" dt="2026-02-16T05:29:27.484" v="201" actId="20577"/>
          <ac:spMkLst>
            <pc:docMk/>
            <pc:sldMk cId="0" sldId="257"/>
            <ac:spMk id="21" creationId="{00000000-0000-0000-0000-000000000000}"/>
          </ac:spMkLst>
        </pc:spChg>
        <pc:spChg chg="mod">
          <ac:chgData name="Scott Hay" userId="e95d3f44-f6c0-414c-b281-41a9346c1b81" providerId="ADAL" clId="{844FE0EC-1ACE-457A-A062-606521DBE677}" dt="2026-02-16T05:32:31.807" v="314" actId="20577"/>
          <ac:spMkLst>
            <pc:docMk/>
            <pc:sldMk cId="0" sldId="257"/>
            <ac:spMk id="27" creationId="{00000000-0000-0000-0000-000000000000}"/>
          </ac:spMkLst>
        </pc:spChg>
        <pc:spChg chg="mod">
          <ac:chgData name="Scott Hay" userId="e95d3f44-f6c0-414c-b281-41a9346c1b81" providerId="ADAL" clId="{844FE0EC-1ACE-457A-A062-606521DBE677}" dt="2026-02-16T05:32:49.952" v="320" actId="20577"/>
          <ac:spMkLst>
            <pc:docMk/>
            <pc:sldMk cId="0" sldId="257"/>
            <ac:spMk id="30" creationId="{00000000-0000-0000-0000-000000000000}"/>
          </ac:spMkLst>
        </pc:spChg>
        <pc:spChg chg="mod">
          <ac:chgData name="Scott Hay" userId="e95d3f44-f6c0-414c-b281-41a9346c1b81" providerId="ADAL" clId="{844FE0EC-1ACE-457A-A062-606521DBE677}" dt="2026-02-16T05:32:56.445" v="327" actId="20577"/>
          <ac:spMkLst>
            <pc:docMk/>
            <pc:sldMk cId="0" sldId="257"/>
            <ac:spMk id="37" creationId="{00000000-0000-0000-0000-000000000000}"/>
          </ac:spMkLst>
        </pc:spChg>
        <pc:spChg chg="mod">
          <ac:chgData name="Scott Hay" userId="e95d3f44-f6c0-414c-b281-41a9346c1b81" providerId="ADAL" clId="{844FE0EC-1ACE-457A-A062-606521DBE677}" dt="2026-02-16T05:33:03.771" v="336" actId="20577"/>
          <ac:spMkLst>
            <pc:docMk/>
            <pc:sldMk cId="0" sldId="257"/>
            <ac:spMk id="41" creationId="{00000000-0000-0000-0000-000000000000}"/>
          </ac:spMkLst>
        </pc:spChg>
      </pc:sldChg>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ord">
        <pc:chgData name="Scott Hay" userId="e95d3f44-f6c0-414c-b281-41a9346c1b81" providerId="ADAL" clId="{844FE0EC-1ACE-457A-A062-606521DBE677}" dt="2026-02-16T06:24:02.729" v="346" actId="20577"/>
        <pc:sldMkLst>
          <pc:docMk/>
          <pc:sldMk cId="0" sldId="316"/>
        </pc:sldMkLst>
        <pc:spChg chg="mod">
          <ac:chgData name="Scott Hay" userId="e95d3f44-f6c0-414c-b281-41a9346c1b81" providerId="ADAL" clId="{844FE0EC-1ACE-457A-A062-606521DBE677}" dt="2026-02-16T06:24:02.729" v="346" actId="20577"/>
          <ac:spMkLst>
            <pc:docMk/>
            <pc:sldMk cId="0" sldId="316"/>
            <ac:spMk id="2" creationId="{00000000-0000-0000-0000-000000000000}"/>
          </ac:spMkLst>
        </pc:spChg>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2 min</a:t>
            </a:r>
          </a:p>
          <a:p>
            <a:endParaRPr dirty="0"/>
          </a:p>
          <a:p>
            <a:r>
              <a:rPr dirty="0"/>
              <a:t>KEY POINTS:</a:t>
            </a:r>
          </a:p>
          <a:p>
            <a:r>
              <a:rPr dirty="0"/>
              <a:t>   * Morning: Understanding Claude and how to talk to it effectively</a:t>
            </a:r>
          </a:p>
          <a:p>
            <a:r>
              <a:t>   * Afternoon: Practical tools - Excel add-in and working with files</a:t>
            </a:r>
          </a:p>
          <a:p>
            <a:r>
              <a:rPr dirty="0"/>
              <a:t>   * Two 15-minute breaks plus 1-hour lunch</a:t>
            </a:r>
          </a:p>
          <a:p>
            <a:r>
              <a:rPr dirty="0"/>
              <a:t>   * Hands-on practice twice today</a:t>
            </a:r>
          </a:p>
          <a:p>
            <a:endParaRPr dirty="0"/>
          </a:p>
          <a:p>
            <a:r>
              <a:rPr dirty="0"/>
              <a:t>TRANSITION:</a:t>
            </a:r>
          </a:p>
          <a:p>
            <a:r>
              <a:rPr dirty="0"/>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318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6233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2919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47874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5C318-5F1F-F80D-938E-F8A08E8E3A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5151CC-8B2A-F718-EF45-D9B57AEC6CC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5BE5E34-B5B4-A94B-E835-3901220AAFAB}"/>
              </a:ext>
            </a:extLst>
          </p:cNvPr>
          <p:cNvSpPr>
            <a:spLocks noGrp="1"/>
          </p:cNvSpPr>
          <p:nvPr>
            <p:ph type="body" sz="quarter" idx="3"/>
          </p:nvPr>
        </p:nvSpPr>
        <p:spPr/>
        <p:txBody>
          <a:bodyPr/>
          <a:lstStyle/>
          <a:p>
            <a:r>
              <a:t>TIME: 5 min</a:t>
            </a:r>
          </a:p>
          <a:p>
            <a:endParaRPr/>
          </a:p>
          <a:p>
            <a:r>
              <a:t>OPEN WITH:</a:t>
            </a:r>
          </a:p>
          <a:p>
            <a:r>
              <a:t>   The Claude desktop app is evolving - it's adding autonomous agent capabilities. This is where Anthropic is taking the platform. Download the desktop app, you get these features.</a:t>
            </a:r>
          </a:p>
          <a:p>
            <a:endParaRPr/>
          </a:p>
          <a:p>
            <a:r>
              <a:t>KEY POINTS:</a:t>
            </a:r>
          </a:p>
          <a:p>
            <a:r>
              <a:t>   * Claude Desktop App (Windows + Mac) is adding autonomous agent capabilities</a:t>
            </a:r>
          </a:p>
          <a:p>
            <a:r>
              <a:t>   * This is the direction: Desktop = advanced interface with autonomous work, Web = real-time collaboration</a:t>
            </a:r>
          </a:p>
          <a:p>
            <a:r>
              <a:t>   * Download desktop app → You get web features PLUS autonomous agents as they roll out</a:t>
            </a:r>
          </a:p>
          <a:p>
            <a:r>
              <a:t>   * UI: Three tabs at top - Chat (regular), Cowork (autonomous), Code (developer)</a:t>
            </a:r>
          </a:p>
          <a:p>
            <a:r>
              <a:t>   * Cowork interface: Pick preset task OR type custom command, choose folder, select model, click 'Let's go'</a:t>
            </a:r>
          </a:p>
          <a:p>
            <a:r>
              <a:t>   * You set direction with detail level: High-level overview, MVP scoping, Detailed spec, or custom</a:t>
            </a:r>
          </a:p>
          <a:p>
            <a:r>
              <a:t>   * Claude works in background while you attend meetings, work on other tasks, or go to lunch</a:t>
            </a:r>
          </a:p>
          <a:p>
            <a:r>
              <a:t>   * Check progress when ready - it's still working if you don't check in</a:t>
            </a:r>
          </a:p>
          <a:p>
            <a:r>
              <a:t>   * PREVIEW status: Early access for Claude Pro/Team subscribers, expect some rough edges</a:t>
            </a:r>
          </a:p>
          <a:p>
            <a:r>
              <a:t>   * This is where AI is heading - we'll explore these concepts deeply on Day 4 (Agent Teams)</a:t>
            </a:r>
          </a:p>
          <a:p>
            <a:r>
              <a:t>   * Task presets like 'Optimize my week', 'Organize screenshots', 'Find insights in files' - one-click delegation</a:t>
            </a:r>
          </a:p>
          <a:p>
            <a:endParaRPr/>
          </a:p>
          <a:p>
            <a:r>
              <a:t>ASK THE CLASS:</a:t>
            </a:r>
          </a:p>
          <a:p>
            <a:r>
              <a:t>   "What's a task you do monthly that takes 2-3 hours you'd love to delegate completely?"</a:t>
            </a:r>
          </a:p>
          <a:p>
            <a:r>
              <a:t>   [PAUSE for 30-60 seconds]</a:t>
            </a:r>
          </a:p>
          <a:p>
            <a:endParaRPr/>
          </a:p>
          <a:p>
            <a:r>
              <a:t>REAL-WORLD EXAMPLE:</a:t>
            </a:r>
          </a:p>
          <a:p>
            <a:r>
              <a:t>   Product manager scenario: You need competitive analysis of 5 products. Claude.ai: You spend 45 minutes prompting back-and-forth. Claude for Work: Tell it 'Research 5 competitors, analyze features, create comparison table with pricing', choose detail level, walk away. Come back in an hour to polished analysis.</a:t>
            </a:r>
          </a:p>
          <a:p>
            <a:endParaRPr/>
          </a:p>
          <a:p>
            <a:r>
              <a:t>TRANSITION:</a:t>
            </a:r>
          </a:p>
          <a:p>
            <a:r>
              <a:t>   Let me show you what kinds of tasks work best with this</a:t>
            </a:r>
          </a:p>
        </p:txBody>
      </p:sp>
      <p:sp>
        <p:nvSpPr>
          <p:cNvPr id="4" name="Slide Number Placeholder 3">
            <a:extLst>
              <a:ext uri="{FF2B5EF4-FFF2-40B4-BE49-F238E27FC236}">
                <a16:creationId xmlns:a16="http://schemas.microsoft.com/office/drawing/2014/main" id="{7F3407F3-9F10-26DD-E643-5064369FE00E}"/>
              </a:ext>
            </a:extLst>
          </p:cNvPr>
          <p:cNvSpPr>
            <a:spLocks noGrp="1"/>
          </p:cNvSpPr>
          <p:nvPr>
            <p:ph type="sldNum" sz="quarter" idx="5"/>
          </p:nvPr>
        </p:nvSpPr>
        <p:spPr/>
      </p:sp>
    </p:spTree>
    <p:extLst>
      <p:ext uri="{BB962C8B-B14F-4D97-AF65-F5344CB8AC3E}">
        <p14:creationId xmlns:p14="http://schemas.microsoft.com/office/powerpoint/2010/main" val="17655668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3A654-EB9C-5F6B-33A9-A47E5BB112F4}"/>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7B0CE117-3C3B-5575-499E-FBE52620E61B}"/>
              </a:ext>
            </a:extLst>
          </p:cNvPr>
          <p:cNvSpPr>
            <a:spLocks noGrp="1"/>
          </p:cNvSpPr>
          <p:nvPr>
            <p:ph type="body" idx="1"/>
          </p:nvPr>
        </p:nvSpPr>
        <p:spPr/>
        <p:txBody>
          <a:bodyPr/>
          <a:lstStyle/>
          <a:p>
            <a:r>
              <a:t>DURATION: 3 min</a:t>
            </a:r>
          </a:p>
          <a:p>
            <a:endParaRPr/>
          </a:p>
          <a:p>
            <a:r>
              <a:t>How many of you have Claude on your phone? If you don't, grab it right now — iOS App Store or Google Play, search "Claude by Anthropic." It's free to download, and your Pro or Team subscription works across all devices.</a:t>
            </a:r>
          </a:p>
          <a:p>
            <a:endParaRPr/>
          </a:p>
          <a:p>
            <a:r>
              <a:t>Three reasons this matters for business users.</a:t>
            </a:r>
          </a:p>
          <a:p>
            <a:endParaRPr/>
          </a:p>
          <a:p>
            <a:r>
              <a:t>First — Voice on the Go. Open Claude on your phone, tap the microphone, and talk. Dictate a prompt while you're walking to a meeting. Ask Claude to draft an email response while you're in an Uber. Brainstorm ideas during your commute. Voice Mode on mobile is genuinely hands-free AI. I use this on my iPhone constantly — it's faster than typing and the voice quality is excellent.</a:t>
            </a:r>
          </a:p>
          <a:p>
            <a:endParaRPr/>
          </a:p>
          <a:p>
            <a:r>
              <a:t>Second — Camera and Vision. This is the one people don't expect. Snap a photo of a whiteboard after a meeting. Claude reads it and generates structured notes with action items. Take a picture of a printed document — Claude extracts the text and can summarize, translate, or analyze it. Screenshot an error message on your screen and ask Claude what it means. The camera turns your phone into a document scanner with AI understanding built in.</a:t>
            </a:r>
          </a:p>
          <a:p>
            <a:endParaRPr/>
          </a:p>
          <a:p>
            <a:r>
              <a:t>Third — Quick Access and sync. Your conversations sync across phone, desktop, and web. Start a complex analysis on your laptop at work. Continue the conversation on your phone during your commute. Pick it back up on your desktop at home. Same Projects, same context, seamless handoff.</a:t>
            </a:r>
          </a:p>
          <a:p>
            <a:endParaRPr/>
          </a:p>
          <a:p>
            <a:r>
              <a:t>The mental model shift: Claude isn't something you sit down at your computer to use. It's something that's always available — in your pocket, ready when you need it. The best prompt is the one you send in the moment you need help, not the one you remember to type later at your desk.</a:t>
            </a:r>
          </a:p>
          <a:p>
            <a:endParaRPr/>
          </a:p>
          <a:p>
            <a:r>
              <a:t>Enable Voice Mode in your phone settings. That's the unlock that makes mobile Claude genuinely useful rather than just a small-screen chat window.</a:t>
            </a:r>
          </a:p>
        </p:txBody>
      </p:sp>
    </p:spTree>
    <p:extLst>
      <p:ext uri="{BB962C8B-B14F-4D97-AF65-F5344CB8AC3E}">
        <p14:creationId xmlns:p14="http://schemas.microsoft.com/office/powerpoint/2010/main" val="373343036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07399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Instead of uploading files, Claude can read directly from your tools</a:t>
            </a:r>
          </a:p>
          <a:p>
            <a:endParaRPr/>
          </a:p>
          <a:p>
            <a:r>
              <a:t>KEY POINTS:</a:t>
            </a:r>
          </a:p>
          <a:p>
            <a:r>
              <a:t>   * Integrations = Claude connects to external tools</a:t>
            </a:r>
          </a:p>
          <a:p>
            <a:r>
              <a:t>   * Currently: GitHub, Google Docs (more coming)</a:t>
            </a:r>
          </a:p>
          <a:p>
            <a:r>
              <a:t>   * No file upload needed - Claude reads directly</a:t>
            </a:r>
          </a:p>
          <a:p>
            <a:r>
              <a:t>   * Stays in sync with live data</a:t>
            </a:r>
          </a:p>
          <a:p>
            <a:endParaRPr/>
          </a:p>
          <a:p>
            <a:r>
              <a:t>REAL-WORLD EXAMPLE:</a:t>
            </a:r>
          </a:p>
          <a:p>
            <a:r>
              <a:t>   Ask 'Review my Google Doc proposal' - Claude opens it, reads it, suggests edits. No download/upload.</a:t>
            </a:r>
          </a:p>
          <a:p>
            <a:endParaRPr/>
          </a:p>
          <a:p>
            <a:r>
              <a:t>TRANSITION:</a:t>
            </a:r>
          </a:p>
          <a:p>
            <a:r>
              <a:t>   Let's look at each integration</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Thank you for your attention today</a:t>
            </a:r>
          </a:p>
          <a:p>
            <a:r>
              <a:t>   * Practice what you learned this week</a:t>
            </a:r>
          </a:p>
          <a:p>
            <a:r>
              <a:t>   * Reach out if you have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Interface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rPr dirty="0"/>
              <a:t>Prompt Engineering &amp; Lab 1</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60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Claude Settings</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Projects &amp; Lab 2</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Analysis Prompts &amp; 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Lab 3</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Lab 4, 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731520"/>
          </a:xfrm>
          <a:prstGeom prst="rect">
            <a:avLst/>
          </a:prstGeom>
          <a:noFill/>
        </p:spPr>
        <p:txBody>
          <a:bodyPr wrap="none">
            <a:spAutoFit/>
          </a:bodyPr>
          <a:lstStyle/>
          <a:p>
            <a:pPr>
              <a:defRPr sz="4000" b="1">
                <a:solidFill>
                  <a:srgbClr val="FFFFFF"/>
                </a:solidFill>
              </a:defRPr>
            </a:pPr>
            <a:r>
              <a:t>Learning Objectives</a:t>
            </a:r>
          </a:p>
        </p:txBody>
      </p:sp>
      <p:sp>
        <p:nvSpPr>
          <p:cNvPr id="3" name="Oval 2"/>
          <p:cNvSpPr/>
          <p:nvPr/>
        </p:nvSpPr>
        <p:spPr>
          <a:xfrm>
            <a:off x="54864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4" name="TextBox 3"/>
          <p:cNvSpPr txBox="1"/>
          <p:nvPr/>
        </p:nvSpPr>
        <p:spPr>
          <a:xfrm>
            <a:off x="1097280" y="1280160"/>
            <a:ext cx="10515600" cy="411480"/>
          </a:xfrm>
          <a:prstGeom prst="rect">
            <a:avLst/>
          </a:prstGeom>
          <a:noFill/>
        </p:spPr>
        <p:txBody>
          <a:bodyPr wrap="none">
            <a:spAutoFit/>
          </a:bodyPr>
          <a:lstStyle/>
          <a:p>
            <a:pPr>
              <a:defRPr sz="2000">
                <a:solidFill>
                  <a:srgbClr val="D1D5DB"/>
                </a:solidFill>
              </a:defRPr>
            </a:pPr>
            <a:r>
              <a:t>Navigate the Claude.ai interface and use Voice Mode</a:t>
            </a:r>
          </a:p>
        </p:txBody>
      </p:sp>
      <p:sp>
        <p:nvSpPr>
          <p:cNvPr id="5" name="Oval 4"/>
          <p:cNvSpPr/>
          <p:nvPr/>
        </p:nvSpPr>
        <p:spPr>
          <a:xfrm>
            <a:off x="548640" y="187451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6" name="TextBox 5"/>
          <p:cNvSpPr txBox="1"/>
          <p:nvPr/>
        </p:nvSpPr>
        <p:spPr>
          <a:xfrm>
            <a:off x="1097280" y="1874519"/>
            <a:ext cx="10515600" cy="411480"/>
          </a:xfrm>
          <a:prstGeom prst="rect">
            <a:avLst/>
          </a:prstGeom>
          <a:noFill/>
        </p:spPr>
        <p:txBody>
          <a:bodyPr wrap="none">
            <a:spAutoFit/>
          </a:bodyPr>
          <a:lstStyle/>
          <a:p>
            <a:pPr>
              <a:defRPr sz="2000">
                <a:solidFill>
                  <a:srgbClr val="D1D5DB"/>
                </a:solidFill>
              </a:defRPr>
            </a:pPr>
            <a:r>
              <a:t>Write effective prompts using the GOLDEN framework</a:t>
            </a:r>
          </a:p>
        </p:txBody>
      </p:sp>
      <p:sp>
        <p:nvSpPr>
          <p:cNvPr id="7" name="Oval 6"/>
          <p:cNvSpPr/>
          <p:nvPr/>
        </p:nvSpPr>
        <p:spPr>
          <a:xfrm>
            <a:off x="548640" y="246888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8" name="TextBox 7"/>
          <p:cNvSpPr txBox="1"/>
          <p:nvPr/>
        </p:nvSpPr>
        <p:spPr>
          <a:xfrm>
            <a:off x="1097280" y="2468880"/>
            <a:ext cx="10515600" cy="411480"/>
          </a:xfrm>
          <a:prstGeom prst="rect">
            <a:avLst/>
          </a:prstGeom>
          <a:noFill/>
        </p:spPr>
        <p:txBody>
          <a:bodyPr wrap="none">
            <a:spAutoFit/>
          </a:bodyPr>
          <a:lstStyle/>
          <a:p>
            <a:pPr>
              <a:defRPr sz="2000">
                <a:solidFill>
                  <a:srgbClr val="D1D5DB"/>
                </a:solidFill>
              </a:defRPr>
            </a:pPr>
            <a:r>
              <a:t>Choose the right Claude model and use Extended Thinking</a:t>
            </a:r>
          </a:p>
        </p:txBody>
      </p:sp>
      <p:sp>
        <p:nvSpPr>
          <p:cNvPr id="9" name="Oval 8"/>
          <p:cNvSpPr/>
          <p:nvPr/>
        </p:nvSpPr>
        <p:spPr>
          <a:xfrm>
            <a:off x="548640" y="306324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0" name="TextBox 9"/>
          <p:cNvSpPr txBox="1"/>
          <p:nvPr/>
        </p:nvSpPr>
        <p:spPr>
          <a:xfrm>
            <a:off x="1097280" y="3063240"/>
            <a:ext cx="10515600" cy="411480"/>
          </a:xfrm>
          <a:prstGeom prst="rect">
            <a:avLst/>
          </a:prstGeom>
          <a:noFill/>
        </p:spPr>
        <p:txBody>
          <a:bodyPr wrap="none">
            <a:spAutoFit/>
          </a:bodyPr>
          <a:lstStyle/>
          <a:p>
            <a:pPr>
              <a:defRPr sz="2000">
                <a:solidFill>
                  <a:srgbClr val="D1D5DB"/>
                </a:solidFill>
              </a:defRPr>
            </a:pPr>
            <a:r>
              <a:t>Configure settings, Personal Preferences, and privacy controls</a:t>
            </a:r>
          </a:p>
        </p:txBody>
      </p:sp>
      <p:sp>
        <p:nvSpPr>
          <p:cNvPr id="11" name="Oval 10"/>
          <p:cNvSpPr/>
          <p:nvPr/>
        </p:nvSpPr>
        <p:spPr>
          <a:xfrm>
            <a:off x="548640" y="36576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2" name="TextBox 11"/>
          <p:cNvSpPr txBox="1"/>
          <p:nvPr/>
        </p:nvSpPr>
        <p:spPr>
          <a:xfrm>
            <a:off x="1097280" y="3657600"/>
            <a:ext cx="10515600" cy="411480"/>
          </a:xfrm>
          <a:prstGeom prst="rect">
            <a:avLst/>
          </a:prstGeom>
          <a:noFill/>
        </p:spPr>
        <p:txBody>
          <a:bodyPr wrap="none">
            <a:spAutoFit/>
          </a:bodyPr>
          <a:lstStyle/>
          <a:p>
            <a:pPr>
              <a:defRPr sz="2000">
                <a:solidFill>
                  <a:srgbClr val="D1D5DB"/>
                </a:solidFill>
              </a:defRPr>
            </a:pPr>
            <a:r>
              <a:t>Set up and use Claude Apps (Desktop, Mobile) and Claude for Work</a:t>
            </a:r>
          </a:p>
        </p:txBody>
      </p:sp>
      <p:sp>
        <p:nvSpPr>
          <p:cNvPr id="13" name="Oval 12"/>
          <p:cNvSpPr/>
          <p:nvPr/>
        </p:nvSpPr>
        <p:spPr>
          <a:xfrm>
            <a:off x="548640" y="42519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4" name="TextBox 13"/>
          <p:cNvSpPr txBox="1"/>
          <p:nvPr/>
        </p:nvSpPr>
        <p:spPr>
          <a:xfrm>
            <a:off x="1097280" y="4251960"/>
            <a:ext cx="10515600" cy="411480"/>
          </a:xfrm>
          <a:prstGeom prst="rect">
            <a:avLst/>
          </a:prstGeom>
          <a:noFill/>
        </p:spPr>
        <p:txBody>
          <a:bodyPr wrap="none">
            <a:spAutoFit/>
          </a:bodyPr>
          <a:lstStyle/>
          <a:p>
            <a:pPr>
              <a:defRPr sz="2000">
                <a:solidFill>
                  <a:srgbClr val="D1D5DB"/>
                </a:solidFill>
              </a:defRPr>
            </a:pPr>
            <a:r>
              <a:t>Create and manage Projects with Custom Instructions</a:t>
            </a:r>
          </a:p>
        </p:txBody>
      </p:sp>
      <p:sp>
        <p:nvSpPr>
          <p:cNvPr id="15" name="Oval 14"/>
          <p:cNvSpPr/>
          <p:nvPr/>
        </p:nvSpPr>
        <p:spPr>
          <a:xfrm>
            <a:off x="548640" y="484632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6" name="TextBox 15"/>
          <p:cNvSpPr txBox="1"/>
          <p:nvPr/>
        </p:nvSpPr>
        <p:spPr>
          <a:xfrm>
            <a:off x="1097280" y="4846320"/>
            <a:ext cx="10515600" cy="411480"/>
          </a:xfrm>
          <a:prstGeom prst="rect">
            <a:avLst/>
          </a:prstGeom>
          <a:noFill/>
        </p:spPr>
        <p:txBody>
          <a:bodyPr wrap="none">
            <a:spAutoFit/>
          </a:bodyPr>
          <a:lstStyle/>
          <a:p>
            <a:pPr>
              <a:defRPr sz="2000">
                <a:solidFill>
                  <a:srgbClr val="D1D5DB"/>
                </a:solidFill>
              </a:defRPr>
            </a:pPr>
            <a:r>
              <a:t>Analyze data in Claude.ai and Claude in Excel</a:t>
            </a:r>
          </a:p>
        </p:txBody>
      </p:sp>
      <p:sp>
        <p:nvSpPr>
          <p:cNvPr id="17" name="Oval 16"/>
          <p:cNvSpPr/>
          <p:nvPr/>
        </p:nvSpPr>
        <p:spPr>
          <a:xfrm>
            <a:off x="548640" y="544067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8" name="TextBox 17"/>
          <p:cNvSpPr txBox="1"/>
          <p:nvPr/>
        </p:nvSpPr>
        <p:spPr>
          <a:xfrm>
            <a:off x="1097280" y="5440679"/>
            <a:ext cx="10515600" cy="411480"/>
          </a:xfrm>
          <a:prstGeom prst="rect">
            <a:avLst/>
          </a:prstGeom>
          <a:noFill/>
        </p:spPr>
        <p:txBody>
          <a:bodyPr wrap="none">
            <a:spAutoFit/>
          </a:bodyPr>
          <a:lstStyle/>
          <a:p>
            <a:pPr>
              <a:defRPr sz="2000">
                <a:solidFill>
                  <a:srgbClr val="D1D5DB"/>
                </a:solidFill>
              </a:defRPr>
            </a:pPr>
            <a:r>
              <a:t>Use artifacts, file uploads, and integrations for business workflows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1</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Claude Interface</a:t>
            </a:r>
            <a:br/>
            <a:r>
              <a:t>&amp; Prompt Engineering</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Navigate the tool, then master the core skill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1</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Prompt Engineering in Action</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Practice GOLDEN framework  •  Create real documents</a:t>
            </a:r>
          </a:p>
        </p:txBody>
      </p:sp>
      <p:sp>
        <p:nvSpPr>
          <p:cNvPr id="5" name="Rounded Rectangle 4"/>
          <p:cNvSpPr/>
          <p:nvPr/>
        </p:nvSpPr>
        <p:spPr>
          <a:xfrm>
            <a:off x="45720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19456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194560" cy="457200"/>
          </a:xfrm>
          <a:prstGeom prst="rect">
            <a:avLst/>
          </a:prstGeom>
          <a:noFill/>
        </p:spPr>
        <p:txBody>
          <a:bodyPr wrap="none">
            <a:spAutoFit/>
          </a:bodyPr>
          <a:lstStyle/>
          <a:p>
            <a:pPr algn="ctr">
              <a:defRPr sz="1800" b="1">
                <a:solidFill>
                  <a:srgbClr val="FFFFFF"/>
                </a:solidFill>
              </a:defRPr>
            </a:pPr>
            <a:r>
              <a:t>Basic Prompts</a:t>
            </a:r>
          </a:p>
        </p:txBody>
      </p:sp>
      <p:sp>
        <p:nvSpPr>
          <p:cNvPr id="8" name="TextBox 7"/>
          <p:cNvSpPr txBox="1"/>
          <p:nvPr/>
        </p:nvSpPr>
        <p:spPr>
          <a:xfrm>
            <a:off x="640080" y="3749039"/>
            <a:ext cx="2194560" cy="1645920"/>
          </a:xfrm>
          <a:prstGeom prst="rect">
            <a:avLst/>
          </a:prstGeom>
          <a:noFill/>
        </p:spPr>
        <p:txBody>
          <a:bodyPr wrap="square">
            <a:spAutoFit/>
          </a:bodyPr>
          <a:lstStyle/>
          <a:p>
            <a:pPr algn="ctr">
              <a:defRPr sz="1300">
                <a:solidFill>
                  <a:srgbClr val="D1D5DB"/>
                </a:solidFill>
              </a:defRPr>
            </a:pPr>
            <a:r>
              <a:t>Write 3 prompts using</a:t>
            </a:r>
            <a:br/>
            <a:r>
              <a:t>GOLDEN framework.</a:t>
            </a:r>
            <a:br/>
            <a:r>
              <a:t>Compare vague vs specific.</a:t>
            </a:r>
            <a:br/>
            <a:r>
              <a:t>See the difference live.</a:t>
            </a:r>
          </a:p>
        </p:txBody>
      </p:sp>
      <p:sp>
        <p:nvSpPr>
          <p:cNvPr id="9" name="TextBox 8"/>
          <p:cNvSpPr txBox="1"/>
          <p:nvPr/>
        </p:nvSpPr>
        <p:spPr>
          <a:xfrm>
            <a:off x="64008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9184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2651760"/>
            <a:ext cx="2194560" cy="548640"/>
          </a:xfrm>
          <a:prstGeom prst="rect">
            <a:avLst/>
          </a:prstGeom>
          <a:noFill/>
        </p:spPr>
        <p:txBody>
          <a:bodyPr wrap="none">
            <a:spAutoFit/>
          </a:bodyPr>
          <a:lstStyle/>
          <a:p>
            <a:pPr algn="ctr">
              <a:defRPr sz="3000"/>
            </a:pPr>
            <a:r>
              <a:t>📝</a:t>
            </a:r>
          </a:p>
        </p:txBody>
      </p:sp>
      <p:sp>
        <p:nvSpPr>
          <p:cNvPr id="12" name="TextBox 11"/>
          <p:cNvSpPr txBox="1"/>
          <p:nvPr/>
        </p:nvSpPr>
        <p:spPr>
          <a:xfrm>
            <a:off x="3474720" y="3200400"/>
            <a:ext cx="2194560" cy="457200"/>
          </a:xfrm>
          <a:prstGeom prst="rect">
            <a:avLst/>
          </a:prstGeom>
          <a:noFill/>
        </p:spPr>
        <p:txBody>
          <a:bodyPr wrap="none">
            <a:spAutoFit/>
          </a:bodyPr>
          <a:lstStyle/>
          <a:p>
            <a:pPr algn="ctr">
              <a:defRPr sz="1800" b="1">
                <a:solidFill>
                  <a:srgbClr val="FFFFFF"/>
                </a:solidFill>
              </a:defRPr>
            </a:pPr>
            <a:r>
              <a:t>Create Documents</a:t>
            </a:r>
          </a:p>
        </p:txBody>
      </p:sp>
      <p:sp>
        <p:nvSpPr>
          <p:cNvPr id="13" name="TextBox 12"/>
          <p:cNvSpPr txBox="1"/>
          <p:nvPr/>
        </p:nvSpPr>
        <p:spPr>
          <a:xfrm>
            <a:off x="3474720" y="3749039"/>
            <a:ext cx="2194560" cy="1645920"/>
          </a:xfrm>
          <a:prstGeom prst="rect">
            <a:avLst/>
          </a:prstGeom>
          <a:noFill/>
        </p:spPr>
        <p:txBody>
          <a:bodyPr wrap="square">
            <a:spAutoFit/>
          </a:bodyPr>
          <a:lstStyle/>
          <a:p>
            <a:pPr algn="ctr">
              <a:defRPr sz="1300">
                <a:solidFill>
                  <a:srgbClr val="D1D5DB"/>
                </a:solidFill>
              </a:defRPr>
            </a:pPr>
            <a:r>
              <a:t>Draft an email, a report</a:t>
            </a:r>
            <a:br/>
            <a:r>
              <a:t>summary, and meeting</a:t>
            </a:r>
            <a:br/>
            <a:r>
              <a:t>agenda. Each must be</a:t>
            </a:r>
            <a:br/>
            <a:r>
              <a:t>copy-paste ready.</a:t>
            </a:r>
          </a:p>
        </p:txBody>
      </p:sp>
      <p:sp>
        <p:nvSpPr>
          <p:cNvPr id="14" name="TextBox 13"/>
          <p:cNvSpPr txBox="1"/>
          <p:nvPr/>
        </p:nvSpPr>
        <p:spPr>
          <a:xfrm>
            <a:off x="347472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612648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0" y="2651760"/>
            <a:ext cx="2194560" cy="548640"/>
          </a:xfrm>
          <a:prstGeom prst="rect">
            <a:avLst/>
          </a:prstGeom>
          <a:noFill/>
        </p:spPr>
        <p:txBody>
          <a:bodyPr wrap="none">
            <a:spAutoFit/>
          </a:bodyPr>
          <a:lstStyle/>
          <a:p>
            <a:pPr algn="ctr">
              <a:defRPr sz="3000"/>
            </a:pPr>
            <a:r>
              <a:t>🔄</a:t>
            </a:r>
          </a:p>
        </p:txBody>
      </p:sp>
      <p:sp>
        <p:nvSpPr>
          <p:cNvPr id="17" name="TextBox 16"/>
          <p:cNvSpPr txBox="1"/>
          <p:nvPr/>
        </p:nvSpPr>
        <p:spPr>
          <a:xfrm>
            <a:off x="6309360" y="3200400"/>
            <a:ext cx="2194560" cy="457200"/>
          </a:xfrm>
          <a:prstGeom prst="rect">
            <a:avLst/>
          </a:prstGeom>
          <a:noFill/>
        </p:spPr>
        <p:txBody>
          <a:bodyPr wrap="none">
            <a:spAutoFit/>
          </a:bodyPr>
          <a:lstStyle/>
          <a:p>
            <a:pPr algn="ctr">
              <a:defRPr sz="1800" b="1">
                <a:solidFill>
                  <a:srgbClr val="FFFFFF"/>
                </a:solidFill>
              </a:defRPr>
            </a:pPr>
            <a:r>
              <a:t>Iterate &amp; Refine</a:t>
            </a:r>
          </a:p>
        </p:txBody>
      </p:sp>
      <p:sp>
        <p:nvSpPr>
          <p:cNvPr id="18" name="TextBox 17"/>
          <p:cNvSpPr txBox="1"/>
          <p:nvPr/>
        </p:nvSpPr>
        <p:spPr>
          <a:xfrm>
            <a:off x="6309360" y="3749039"/>
            <a:ext cx="2194560" cy="1645920"/>
          </a:xfrm>
          <a:prstGeom prst="rect">
            <a:avLst/>
          </a:prstGeom>
          <a:noFill/>
        </p:spPr>
        <p:txBody>
          <a:bodyPr wrap="square">
            <a:spAutoFit/>
          </a:bodyPr>
          <a:lstStyle/>
          <a:p>
            <a:pPr algn="ctr">
              <a:defRPr sz="1300">
                <a:solidFill>
                  <a:srgbClr val="D1D5DB"/>
                </a:solidFill>
              </a:defRPr>
            </a:pPr>
            <a:r>
              <a:t>Take your best output.</a:t>
            </a:r>
            <a:br/>
            <a:r>
              <a:t>Refine it 3 times using</a:t>
            </a:r>
            <a:br/>
            <a:r>
              <a:t>feedback techniques.</a:t>
            </a:r>
            <a:br/>
            <a:r>
              <a:t>Track how it improves.</a:t>
            </a:r>
          </a:p>
        </p:txBody>
      </p:sp>
      <p:sp>
        <p:nvSpPr>
          <p:cNvPr id="19" name="TextBox 18"/>
          <p:cNvSpPr txBox="1"/>
          <p:nvPr/>
        </p:nvSpPr>
        <p:spPr>
          <a:xfrm>
            <a:off x="630936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96112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0" y="2651760"/>
            <a:ext cx="2194560" cy="548640"/>
          </a:xfrm>
          <a:prstGeom prst="rect">
            <a:avLst/>
          </a:prstGeom>
          <a:noFill/>
        </p:spPr>
        <p:txBody>
          <a:bodyPr wrap="none">
            <a:spAutoFit/>
          </a:bodyPr>
          <a:lstStyle/>
          <a:p>
            <a:pPr algn="ctr">
              <a:defRPr sz="3000"/>
            </a:pPr>
            <a:r>
              <a:t>⚡</a:t>
            </a:r>
          </a:p>
        </p:txBody>
      </p:sp>
      <p:sp>
        <p:nvSpPr>
          <p:cNvPr id="22" name="TextBox 21"/>
          <p:cNvSpPr txBox="1"/>
          <p:nvPr/>
        </p:nvSpPr>
        <p:spPr>
          <a:xfrm>
            <a:off x="9144000" y="3200400"/>
            <a:ext cx="2194560" cy="457200"/>
          </a:xfrm>
          <a:prstGeom prst="rect">
            <a:avLst/>
          </a:prstGeom>
          <a:noFill/>
        </p:spPr>
        <p:txBody>
          <a:bodyPr wrap="none">
            <a:spAutoFit/>
          </a:bodyPr>
          <a:lstStyle/>
          <a:p>
            <a:pPr algn="ctr">
              <a:defRPr sz="1800" b="1">
                <a:solidFill>
                  <a:srgbClr val="FFFFFF"/>
                </a:solidFill>
              </a:defRPr>
            </a:pPr>
            <a:r>
              <a:t>Speed Round</a:t>
            </a:r>
          </a:p>
        </p:txBody>
      </p:sp>
      <p:sp>
        <p:nvSpPr>
          <p:cNvPr id="23" name="TextBox 22"/>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4" name="TextBox 23"/>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
        <p:nvSpPr>
          <p:cNvPr id="25" name="TextBox 24"/>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6" name="TextBox 25"/>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2</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Models, Settings</a:t>
            </a:r>
            <a:br/>
            <a:r>
              <a:t>&amp; Projects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Choose the right engine, configure your workspace, organize your work</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7473826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22090872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dirty="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1424276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17429657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1858950" y="457200"/>
            <a:ext cx="8473795" cy="830997"/>
          </a:xfrm>
          <a:prstGeom prst="rect">
            <a:avLst/>
          </a:prstGeom>
          <a:noFill/>
        </p:spPr>
        <p:txBody>
          <a:bodyPr wrap="none">
            <a:spAutoFit/>
          </a:bodyPr>
          <a:lstStyle/>
          <a:p>
            <a:pPr algn="ctr">
              <a:defRPr sz="3600" b="1">
                <a:solidFill>
                  <a:srgbClr val="FFFFFF"/>
                </a:solidFill>
              </a:defRPr>
            </a:pPr>
            <a:r>
              <a:rPr sz="4800" dirty="0"/>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166B4A3C-B798-1A33-1D51-98F193E8BD0C}"/>
            </a:ext>
          </a:extLst>
        </p:cNvPr>
        <p:cNvGrpSpPr/>
        <p:nvPr/>
      </p:nvGrpSpPr>
      <p:grpSpPr>
        <a:xfrm>
          <a:off x="0" y="0"/>
          <a:ext cx="0" cy="0"/>
          <a:chOff x="0" y="0"/>
          <a:chExt cx="0" cy="0"/>
        </a:xfrm>
      </p:grpSpPr>
      <p:sp>
        <p:nvSpPr>
          <p:cNvPr id="14" name="TextBox 13"/>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Apps: Desktop &amp; Mobile</a:t>
            </a:r>
          </a:p>
        </p:txBody>
      </p:sp>
      <p:sp>
        <p:nvSpPr>
          <p:cNvPr id="15" name="TextBox 14"/>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Same Claude, native experience on every device</a:t>
            </a:r>
          </a:p>
        </p:txBody>
      </p:sp>
      <p:sp>
        <p:nvSpPr>
          <p:cNvPr id="16" name="Rounded Rectangle 3"/>
          <p:cNvSpPr/>
          <p:nvPr/>
        </p:nvSpPr>
        <p:spPr>
          <a:xfrm>
            <a:off x="457200" y="1828800"/>
            <a:ext cx="5303520" cy="41148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2011680"/>
            <a:ext cx="4754880" cy="548640"/>
          </a:xfrm>
          <a:prstGeom prst="rect">
            <a:avLst/>
          </a:prstGeom>
          <a:noFill/>
        </p:spPr>
        <p:txBody>
          <a:bodyPr wrap="none">
            <a:spAutoFit/>
          </a:bodyPr>
          <a:lstStyle/>
          <a:p>
            <a:pPr algn="ctr">
              <a:defRPr sz="3600"/>
            </a:pPr>
            <a:r>
              <a:t>🖥️</a:t>
            </a:r>
          </a:p>
        </p:txBody>
      </p:sp>
      <p:sp>
        <p:nvSpPr>
          <p:cNvPr id="18" name="TextBox 17"/>
          <p:cNvSpPr txBox="1"/>
          <p:nvPr/>
        </p:nvSpPr>
        <p:spPr>
          <a:xfrm>
            <a:off x="731520" y="2560320"/>
            <a:ext cx="4754880" cy="457200"/>
          </a:xfrm>
          <a:prstGeom prst="rect">
            <a:avLst/>
          </a:prstGeom>
          <a:noFill/>
        </p:spPr>
        <p:txBody>
          <a:bodyPr wrap="none">
            <a:spAutoFit/>
          </a:bodyPr>
          <a:lstStyle/>
          <a:p>
            <a:pPr algn="ctr">
              <a:defRPr sz="2400" b="1">
                <a:solidFill>
                  <a:srgbClr val="FFFFFF"/>
                </a:solidFill>
              </a:defRPr>
            </a:pPr>
            <a:r>
              <a:t>Desktop App</a:t>
            </a:r>
          </a:p>
        </p:txBody>
      </p:sp>
      <p:sp>
        <p:nvSpPr>
          <p:cNvPr id="19" name="TextBox 18"/>
          <p:cNvSpPr txBox="1"/>
          <p:nvPr/>
        </p:nvSpPr>
        <p:spPr>
          <a:xfrm>
            <a:off x="731520" y="3017520"/>
            <a:ext cx="4754880" cy="365760"/>
          </a:xfrm>
          <a:prstGeom prst="rect">
            <a:avLst/>
          </a:prstGeom>
          <a:noFill/>
        </p:spPr>
        <p:txBody>
          <a:bodyPr wrap="none">
            <a:spAutoFit/>
          </a:bodyPr>
          <a:lstStyle/>
          <a:p>
            <a:pPr algn="ctr">
              <a:defRPr sz="1400" i="1">
                <a:solidFill>
                  <a:srgbClr val="14B8A6"/>
                </a:solidFill>
              </a:defRPr>
            </a:pPr>
            <a:r>
              <a:t>Windows + Mac (Preview)</a:t>
            </a:r>
          </a:p>
        </p:txBody>
      </p:sp>
      <p:sp>
        <p:nvSpPr>
          <p:cNvPr id="8" name="TextBox 7"/>
          <p:cNvSpPr txBox="1"/>
          <p:nvPr/>
        </p:nvSpPr>
        <p:spPr>
          <a:xfrm>
            <a:off x="731520" y="3566160"/>
            <a:ext cx="4754880" cy="2194560"/>
          </a:xfrm>
          <a:prstGeom prst="rect">
            <a:avLst/>
          </a:prstGeom>
          <a:noFill/>
        </p:spPr>
        <p:txBody>
          <a:bodyPr wrap="square">
            <a:spAutoFit/>
          </a:bodyPr>
          <a:lstStyle/>
          <a:p>
            <a:pPr algn="ctr">
              <a:lnSpc>
                <a:spcPts val="2200"/>
              </a:lnSpc>
              <a:defRPr sz="1500">
                <a:solidFill>
                  <a:srgbClr val="D1D5DB"/>
                </a:solidFill>
              </a:defRPr>
            </a:pPr>
            <a:r>
              <a:t>Native app — no browser needed</a:t>
            </a:r>
            <a:br/>
            <a:r>
              <a:t>System-level file access</a:t>
            </a:r>
            <a:br/>
            <a:r>
              <a:t>Keyboard shortcuts &amp; quick launch</a:t>
            </a:r>
            <a:br/>
            <a:r>
              <a:t>Same Projects and conversations</a:t>
            </a:r>
            <a:br/>
            <a:r>
              <a:t>Offline queue for prompts</a:t>
            </a:r>
            <a:br/>
            <a:r>
              <a:t>Faster, more integrated experience</a:t>
            </a:r>
          </a:p>
        </p:txBody>
      </p:sp>
      <p:sp>
        <p:nvSpPr>
          <p:cNvPr id="9" name="Rounded Rectangle 8"/>
          <p:cNvSpPr/>
          <p:nvPr/>
        </p:nvSpPr>
        <p:spPr>
          <a:xfrm>
            <a:off x="6217920" y="1828800"/>
            <a:ext cx="5303520" cy="41148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92240" y="2011680"/>
            <a:ext cx="4754880" cy="548640"/>
          </a:xfrm>
          <a:prstGeom prst="rect">
            <a:avLst/>
          </a:prstGeom>
          <a:noFill/>
        </p:spPr>
        <p:txBody>
          <a:bodyPr wrap="none">
            <a:spAutoFit/>
          </a:bodyPr>
          <a:lstStyle/>
          <a:p>
            <a:pPr algn="ctr">
              <a:defRPr sz="3600"/>
            </a:pPr>
            <a:r>
              <a:t>📱</a:t>
            </a:r>
          </a:p>
        </p:txBody>
      </p:sp>
      <p:sp>
        <p:nvSpPr>
          <p:cNvPr id="11" name="TextBox 10"/>
          <p:cNvSpPr txBox="1"/>
          <p:nvPr/>
        </p:nvSpPr>
        <p:spPr>
          <a:xfrm>
            <a:off x="6492240" y="2560320"/>
            <a:ext cx="4754880" cy="457200"/>
          </a:xfrm>
          <a:prstGeom prst="rect">
            <a:avLst/>
          </a:prstGeom>
          <a:noFill/>
        </p:spPr>
        <p:txBody>
          <a:bodyPr wrap="none">
            <a:spAutoFit/>
          </a:bodyPr>
          <a:lstStyle/>
          <a:p>
            <a:pPr algn="ctr">
              <a:defRPr sz="2400" b="1">
                <a:solidFill>
                  <a:srgbClr val="FFFFFF"/>
                </a:solidFill>
              </a:defRPr>
            </a:pPr>
            <a:r>
              <a:t>Mobile Apps</a:t>
            </a:r>
          </a:p>
        </p:txBody>
      </p:sp>
      <p:sp>
        <p:nvSpPr>
          <p:cNvPr id="12" name="TextBox 11"/>
          <p:cNvSpPr txBox="1"/>
          <p:nvPr/>
        </p:nvSpPr>
        <p:spPr>
          <a:xfrm>
            <a:off x="6492240" y="3017520"/>
            <a:ext cx="4754880" cy="365760"/>
          </a:xfrm>
          <a:prstGeom prst="rect">
            <a:avLst/>
          </a:prstGeom>
          <a:noFill/>
        </p:spPr>
        <p:txBody>
          <a:bodyPr wrap="none">
            <a:spAutoFit/>
          </a:bodyPr>
          <a:lstStyle/>
          <a:p>
            <a:pPr algn="ctr">
              <a:defRPr sz="1400" i="1">
                <a:solidFill>
                  <a:srgbClr val="14B8A6"/>
                </a:solidFill>
              </a:defRPr>
            </a:pPr>
            <a:r>
              <a:t>iOS + Android</a:t>
            </a:r>
          </a:p>
        </p:txBody>
      </p:sp>
      <p:sp>
        <p:nvSpPr>
          <p:cNvPr id="13" name="TextBox 12"/>
          <p:cNvSpPr txBox="1"/>
          <p:nvPr/>
        </p:nvSpPr>
        <p:spPr>
          <a:xfrm>
            <a:off x="6492240" y="3566160"/>
            <a:ext cx="4754880" cy="2194560"/>
          </a:xfrm>
          <a:prstGeom prst="rect">
            <a:avLst/>
          </a:prstGeom>
          <a:noFill/>
        </p:spPr>
        <p:txBody>
          <a:bodyPr wrap="square">
            <a:spAutoFit/>
          </a:bodyPr>
          <a:lstStyle/>
          <a:p>
            <a:pPr algn="ctr">
              <a:lnSpc>
                <a:spcPts val="2200"/>
              </a:lnSpc>
              <a:defRPr sz="1500">
                <a:solidFill>
                  <a:srgbClr val="D1D5DB"/>
                </a:solidFill>
              </a:defRPr>
            </a:pPr>
            <a:r>
              <a:t>Voice Mode — hands-free AI</a:t>
            </a:r>
            <a:br/>
            <a:r>
              <a:t>Camera — snap &amp; analyze anything</a:t>
            </a:r>
            <a:br/>
            <a:r>
              <a:t>Conversations sync across devices</a:t>
            </a:r>
            <a:br/>
            <a:r>
              <a:t>Push notifications for responses</a:t>
            </a:r>
            <a:br/>
            <a:r>
              <a:t>Perfect for on-the-go work</a:t>
            </a:r>
            <a:br/>
            <a:r>
              <a:t>Start on phone, continue on desktop</a:t>
            </a:r>
          </a:p>
        </p:txBody>
      </p:sp>
    </p:spTree>
    <p:extLst>
      <p:ext uri="{BB962C8B-B14F-4D97-AF65-F5344CB8AC3E}">
        <p14:creationId xmlns:p14="http://schemas.microsoft.com/office/powerpoint/2010/main" val="8503790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18" name="TextBox 17"/>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Work: Autonomous AI</a:t>
            </a:r>
          </a:p>
        </p:txBody>
      </p:sp>
      <p:sp>
        <p:nvSpPr>
          <p:cNvPr id="19" name="TextBox 18"/>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Set a goal → Walk away → Come back to finished work</a:t>
            </a:r>
          </a:p>
        </p:txBody>
      </p:sp>
      <p:sp>
        <p:nvSpPr>
          <p:cNvPr id="20" name="Rounded Rectangle 3"/>
          <p:cNvSpPr/>
          <p:nvPr/>
        </p:nvSpPr>
        <p:spPr>
          <a:xfrm>
            <a:off x="45720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201168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468880"/>
            <a:ext cx="3108960" cy="457200"/>
          </a:xfrm>
          <a:prstGeom prst="rect">
            <a:avLst/>
          </a:prstGeom>
          <a:noFill/>
        </p:spPr>
        <p:txBody>
          <a:bodyPr wrap="none">
            <a:spAutoFit/>
          </a:bodyPr>
          <a:lstStyle/>
          <a:p>
            <a:pPr algn="ctr">
              <a:defRPr sz="2200" b="1">
                <a:solidFill>
                  <a:srgbClr val="FFFFFF"/>
                </a:solidFill>
              </a:defRPr>
            </a:pPr>
            <a:r>
              <a:t>Chat</a:t>
            </a:r>
          </a:p>
        </p:txBody>
      </p:sp>
      <p:sp>
        <p:nvSpPr>
          <p:cNvPr id="7" name="TextBox 6"/>
          <p:cNvSpPr txBox="1"/>
          <p:nvPr/>
        </p:nvSpPr>
        <p:spPr>
          <a:xfrm>
            <a:off x="640080" y="3017520"/>
            <a:ext cx="3108960" cy="1371600"/>
          </a:xfrm>
          <a:prstGeom prst="rect">
            <a:avLst/>
          </a:prstGeom>
          <a:noFill/>
        </p:spPr>
        <p:txBody>
          <a:bodyPr wrap="square">
            <a:spAutoFit/>
          </a:bodyPr>
          <a:lstStyle/>
          <a:p>
            <a:pPr algn="ctr">
              <a:defRPr sz="1400">
                <a:solidFill>
                  <a:srgbClr val="D1D5DB"/>
                </a:solidFill>
              </a:defRPr>
            </a:pPr>
            <a:r>
              <a:t>Real-time conversation</a:t>
            </a:r>
            <a:br/>
            <a:r>
              <a:t>you already know.</a:t>
            </a:r>
            <a:br/>
            <a:r>
              <a:t>Ask → Answer → Iterate.</a:t>
            </a:r>
            <a:br/>
            <a:r>
              <a:t>Great for quick tasks.</a:t>
            </a:r>
          </a:p>
        </p:txBody>
      </p:sp>
      <p:sp>
        <p:nvSpPr>
          <p:cNvPr id="8" name="Rounded Rectangle 7"/>
          <p:cNvSpPr/>
          <p:nvPr/>
        </p:nvSpPr>
        <p:spPr>
          <a:xfrm>
            <a:off x="420624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201168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468880"/>
            <a:ext cx="3108960" cy="457200"/>
          </a:xfrm>
          <a:prstGeom prst="rect">
            <a:avLst/>
          </a:prstGeom>
          <a:noFill/>
        </p:spPr>
        <p:txBody>
          <a:bodyPr wrap="none">
            <a:spAutoFit/>
          </a:bodyPr>
          <a:lstStyle/>
          <a:p>
            <a:pPr algn="ctr">
              <a:defRPr sz="2200" b="1">
                <a:solidFill>
                  <a:srgbClr val="FFFFFF"/>
                </a:solidFill>
              </a:defRPr>
            </a:pPr>
            <a:r>
              <a:t>Cowork</a:t>
            </a:r>
          </a:p>
        </p:txBody>
      </p:sp>
      <p:sp>
        <p:nvSpPr>
          <p:cNvPr id="11" name="TextBox 10"/>
          <p:cNvSpPr txBox="1"/>
          <p:nvPr/>
        </p:nvSpPr>
        <p:spPr>
          <a:xfrm>
            <a:off x="4389120" y="3017520"/>
            <a:ext cx="3108960" cy="1371600"/>
          </a:xfrm>
          <a:prstGeom prst="rect">
            <a:avLst/>
          </a:prstGeom>
          <a:noFill/>
        </p:spPr>
        <p:txBody>
          <a:bodyPr wrap="square">
            <a:spAutoFit/>
          </a:bodyPr>
          <a:lstStyle/>
          <a:p>
            <a:pPr algn="ctr">
              <a:defRPr sz="1400">
                <a:solidFill>
                  <a:srgbClr val="D1D5DB"/>
                </a:solidFill>
              </a:defRPr>
            </a:pPr>
            <a:r>
              <a:t>Set a goal, Claude works</a:t>
            </a:r>
            <a:br/>
            <a:r>
              <a:t>in the background.</a:t>
            </a:r>
            <a:br/>
            <a:r>
              <a:t>Check in when YOU want.</a:t>
            </a:r>
            <a:br/>
            <a:r>
              <a:t>Multi-step complex tasks.</a:t>
            </a:r>
          </a:p>
        </p:txBody>
      </p:sp>
      <p:sp>
        <p:nvSpPr>
          <p:cNvPr id="12" name="Rounded Rectangle 11"/>
          <p:cNvSpPr/>
          <p:nvPr/>
        </p:nvSpPr>
        <p:spPr>
          <a:xfrm>
            <a:off x="7955279"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201168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468880"/>
            <a:ext cx="3108960" cy="457200"/>
          </a:xfrm>
          <a:prstGeom prst="rect">
            <a:avLst/>
          </a:prstGeom>
          <a:noFill/>
        </p:spPr>
        <p:txBody>
          <a:bodyPr wrap="none">
            <a:spAutoFit/>
          </a:bodyPr>
          <a:lstStyle/>
          <a:p>
            <a:pPr algn="ctr">
              <a:defRPr sz="2200" b="1">
                <a:solidFill>
                  <a:srgbClr val="FFFFFF"/>
                </a:solidFill>
              </a:defRPr>
            </a:pPr>
            <a:r>
              <a:t>Code</a:t>
            </a:r>
          </a:p>
        </p:txBody>
      </p:sp>
      <p:sp>
        <p:nvSpPr>
          <p:cNvPr id="15" name="TextBox 14"/>
          <p:cNvSpPr txBox="1"/>
          <p:nvPr/>
        </p:nvSpPr>
        <p:spPr>
          <a:xfrm>
            <a:off x="8138159" y="3017520"/>
            <a:ext cx="3108960" cy="1371600"/>
          </a:xfrm>
          <a:prstGeom prst="rect">
            <a:avLst/>
          </a:prstGeom>
          <a:noFill/>
        </p:spPr>
        <p:txBody>
          <a:bodyPr wrap="square">
            <a:spAutoFit/>
          </a:bodyPr>
          <a:lstStyle/>
          <a:p>
            <a:pPr algn="ctr">
              <a:defRPr sz="1400">
                <a:solidFill>
                  <a:srgbClr val="D1D5DB"/>
                </a:solidFill>
              </a:defRPr>
            </a:pPr>
            <a:r>
              <a:t>Writes and runs code</a:t>
            </a:r>
            <a:br/>
            <a:r>
              <a:t>autonomously.</a:t>
            </a:r>
            <a:br/>
            <a:r>
              <a:t>Builds apps, analyzes data,</a:t>
            </a:r>
            <a:br/>
            <a:r>
              <a:t>creates visualizations.</a:t>
            </a:r>
          </a:p>
        </p:txBody>
      </p:sp>
      <p:sp>
        <p:nvSpPr>
          <p:cNvPr id="16" name="Rounded Rectangle 15"/>
          <p:cNvSpPr/>
          <p:nvPr/>
        </p:nvSpPr>
        <p:spPr>
          <a:xfrm>
            <a:off x="457200" y="4846320"/>
            <a:ext cx="11247120" cy="109728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937760"/>
            <a:ext cx="10698480" cy="914400"/>
          </a:xfrm>
          <a:prstGeom prst="rect">
            <a:avLst/>
          </a:prstGeom>
          <a:noFill/>
        </p:spPr>
        <p:txBody>
          <a:bodyPr wrap="square">
            <a:spAutoFit/>
          </a:bodyPr>
          <a:lstStyle/>
          <a:p>
            <a:pPr algn="ctr">
              <a:defRPr sz="1600">
                <a:solidFill>
                  <a:srgbClr val="D1D5DB"/>
                </a:solidFill>
              </a:defRPr>
            </a:pPr>
            <a:r>
              <a:t>Built-in task presets: 'Optimize my week'  •  'Organize screenshots'  •  'Research topic'  •  Plugin integration for custom workflows</a:t>
            </a:r>
          </a:p>
          <a:p>
            <a:pPr algn="ctr">
              <a:defRPr sz="1300" i="1">
                <a:solidFill>
                  <a:srgbClr val="14B8A6"/>
                </a:solidFill>
              </a:defRPr>
            </a:pPr>
            <a:r>
              <a:t>NEW Preview  •  Available on Windows + Mac  •  Requires Claude Pro, Team, or Enterprise</a:t>
            </a:r>
          </a:p>
        </p:txBody>
      </p:sp>
    </p:spTree>
    <p:extLst>
      <p:ext uri="{BB962C8B-B14F-4D97-AF65-F5344CB8AC3E}">
        <p14:creationId xmlns:p14="http://schemas.microsoft.com/office/powerpoint/2010/main" val="27591897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9568F48F-97BB-A890-E890-35D87820D99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7F144F-A2F0-9C6E-3475-395130E6DC20}"/>
              </a:ext>
            </a:extLst>
          </p:cNvPr>
          <p:cNvSpPr txBox="1"/>
          <p:nvPr/>
        </p:nvSpPr>
        <p:spPr>
          <a:xfrm>
            <a:off x="457200" y="274320"/>
            <a:ext cx="11247120"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on Your Phone</a:t>
            </a:r>
          </a:p>
        </p:txBody>
      </p:sp>
      <p:sp>
        <p:nvSpPr>
          <p:cNvPr id="3" name="TextBox 2">
            <a:extLst>
              <a:ext uri="{FF2B5EF4-FFF2-40B4-BE49-F238E27FC236}">
                <a16:creationId xmlns:a16="http://schemas.microsoft.com/office/drawing/2014/main" id="{0A020FD7-BD6D-086A-E175-C57EFBE08D24}"/>
              </a:ext>
            </a:extLst>
          </p:cNvPr>
          <p:cNvSpPr txBox="1"/>
          <p:nvPr/>
        </p:nvSpPr>
        <p:spPr>
          <a:xfrm>
            <a:off x="457200" y="1097280"/>
            <a:ext cx="1124712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i="1">
                <a:solidFill>
                  <a:srgbClr val="9CA3AF"/>
                </a:solidFill>
              </a:defRPr>
            </a:pPr>
            <a:r>
              <a:rPr kumimoji="0" sz="2000" b="0" i="1" u="none" strike="noStrike" kern="1200" cap="none" spc="0" normalizeH="0" baseline="0" noProof="0">
                <a:ln>
                  <a:noFill/>
                </a:ln>
                <a:solidFill>
                  <a:srgbClr val="9CA3AF"/>
                </a:solidFill>
                <a:effectLst/>
                <a:uLnTx/>
                <a:uFillTx/>
                <a:latin typeface="Calibri"/>
                <a:ea typeface="+mn-ea"/>
                <a:cs typeface="+mn-cs"/>
              </a:rPr>
              <a:t>iOS &amp; Android — your AI assistant goes where you go</a:t>
            </a:r>
          </a:p>
        </p:txBody>
      </p:sp>
      <p:sp>
        <p:nvSpPr>
          <p:cNvPr id="4" name="Rounded Rectangle 3">
            <a:extLst>
              <a:ext uri="{FF2B5EF4-FFF2-40B4-BE49-F238E27FC236}">
                <a16:creationId xmlns:a16="http://schemas.microsoft.com/office/drawing/2014/main" id="{C17319CF-8700-96FE-70D6-9372ADF1F14C}"/>
              </a:ext>
            </a:extLst>
          </p:cNvPr>
          <p:cNvSpPr/>
          <p:nvPr/>
        </p:nvSpPr>
        <p:spPr>
          <a:xfrm>
            <a:off x="45720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a:extLst>
              <a:ext uri="{FF2B5EF4-FFF2-40B4-BE49-F238E27FC236}">
                <a16:creationId xmlns:a16="http://schemas.microsoft.com/office/drawing/2014/main" id="{1335A7FF-C49A-3246-88DB-FA3445C78AF3}"/>
              </a:ext>
            </a:extLst>
          </p:cNvPr>
          <p:cNvSpPr txBox="1"/>
          <p:nvPr/>
        </p:nvSpPr>
        <p:spPr>
          <a:xfrm>
            <a:off x="64008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6" name="TextBox 5">
            <a:extLst>
              <a:ext uri="{FF2B5EF4-FFF2-40B4-BE49-F238E27FC236}">
                <a16:creationId xmlns:a16="http://schemas.microsoft.com/office/drawing/2014/main" id="{74F612F4-B23F-8640-3E89-CD6378A29A6F}"/>
              </a:ext>
            </a:extLst>
          </p:cNvPr>
          <p:cNvSpPr txBox="1"/>
          <p:nvPr/>
        </p:nvSpPr>
        <p:spPr>
          <a:xfrm>
            <a:off x="64008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Voice on the Go</a:t>
            </a:r>
          </a:p>
        </p:txBody>
      </p:sp>
      <p:sp>
        <p:nvSpPr>
          <p:cNvPr id="7" name="TextBox 6">
            <a:extLst>
              <a:ext uri="{FF2B5EF4-FFF2-40B4-BE49-F238E27FC236}">
                <a16:creationId xmlns:a16="http://schemas.microsoft.com/office/drawing/2014/main" id="{6E637E35-A47A-D8AB-BFF8-354528FCA3ED}"/>
              </a:ext>
            </a:extLst>
          </p:cNvPr>
          <p:cNvSpPr txBox="1"/>
          <p:nvPr/>
        </p:nvSpPr>
        <p:spPr>
          <a:xfrm>
            <a:off x="64008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Dictate prompts, get spoken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responses. Meeting prep while</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walking, email drafts from</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your car, brainstorm anywhere.</a:t>
            </a:r>
          </a:p>
        </p:txBody>
      </p:sp>
      <p:sp>
        <p:nvSpPr>
          <p:cNvPr id="8" name="Rounded Rectangle 7">
            <a:extLst>
              <a:ext uri="{FF2B5EF4-FFF2-40B4-BE49-F238E27FC236}">
                <a16:creationId xmlns:a16="http://schemas.microsoft.com/office/drawing/2014/main" id="{8DB8E344-B1B2-AFAE-8A2E-41AB7249F1D3}"/>
              </a:ext>
            </a:extLst>
          </p:cNvPr>
          <p:cNvSpPr/>
          <p:nvPr/>
        </p:nvSpPr>
        <p:spPr>
          <a:xfrm>
            <a:off x="420624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a:extLst>
              <a:ext uri="{FF2B5EF4-FFF2-40B4-BE49-F238E27FC236}">
                <a16:creationId xmlns:a16="http://schemas.microsoft.com/office/drawing/2014/main" id="{5BF3D810-E77D-B4BE-D2C7-C99B5D29E138}"/>
              </a:ext>
            </a:extLst>
          </p:cNvPr>
          <p:cNvSpPr txBox="1"/>
          <p:nvPr/>
        </p:nvSpPr>
        <p:spPr>
          <a:xfrm>
            <a:off x="438912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0" name="TextBox 9">
            <a:extLst>
              <a:ext uri="{FF2B5EF4-FFF2-40B4-BE49-F238E27FC236}">
                <a16:creationId xmlns:a16="http://schemas.microsoft.com/office/drawing/2014/main" id="{34190E08-C41F-052B-3D51-449FDDF338F4}"/>
              </a:ext>
            </a:extLst>
          </p:cNvPr>
          <p:cNvSpPr txBox="1"/>
          <p:nvPr/>
        </p:nvSpPr>
        <p:spPr>
          <a:xfrm>
            <a:off x="438912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Camera + Vision</a:t>
            </a:r>
          </a:p>
        </p:txBody>
      </p:sp>
      <p:sp>
        <p:nvSpPr>
          <p:cNvPr id="11" name="TextBox 10">
            <a:extLst>
              <a:ext uri="{FF2B5EF4-FFF2-40B4-BE49-F238E27FC236}">
                <a16:creationId xmlns:a16="http://schemas.microsoft.com/office/drawing/2014/main" id="{1F6B3515-C064-7FFC-84A7-F9C1181A0C3A}"/>
              </a:ext>
            </a:extLst>
          </p:cNvPr>
          <p:cNvSpPr txBox="1"/>
          <p:nvPr/>
        </p:nvSpPr>
        <p:spPr>
          <a:xfrm>
            <a:off x="438912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Snap a whiteboard, photo of</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 document, screenshot of an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error. Claude reads images</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natively — no typing needed.</a:t>
            </a:r>
          </a:p>
        </p:txBody>
      </p:sp>
      <p:sp>
        <p:nvSpPr>
          <p:cNvPr id="12" name="Rounded Rectangle 11">
            <a:extLst>
              <a:ext uri="{FF2B5EF4-FFF2-40B4-BE49-F238E27FC236}">
                <a16:creationId xmlns:a16="http://schemas.microsoft.com/office/drawing/2014/main" id="{DC84FEF6-D904-F911-A239-FD86638888F2}"/>
              </a:ext>
            </a:extLst>
          </p:cNvPr>
          <p:cNvSpPr/>
          <p:nvPr/>
        </p:nvSpPr>
        <p:spPr>
          <a:xfrm>
            <a:off x="7955279"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a:extLst>
              <a:ext uri="{FF2B5EF4-FFF2-40B4-BE49-F238E27FC236}">
                <a16:creationId xmlns:a16="http://schemas.microsoft.com/office/drawing/2014/main" id="{8C481455-59AB-BA6C-B634-D33DEF366C52}"/>
              </a:ext>
            </a:extLst>
          </p:cNvPr>
          <p:cNvSpPr txBox="1"/>
          <p:nvPr/>
        </p:nvSpPr>
        <p:spPr>
          <a:xfrm>
            <a:off x="8138159"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4" name="TextBox 13">
            <a:extLst>
              <a:ext uri="{FF2B5EF4-FFF2-40B4-BE49-F238E27FC236}">
                <a16:creationId xmlns:a16="http://schemas.microsoft.com/office/drawing/2014/main" id="{28D387CD-77CB-2695-DEEE-A10575802AA9}"/>
              </a:ext>
            </a:extLst>
          </p:cNvPr>
          <p:cNvSpPr txBox="1"/>
          <p:nvPr/>
        </p:nvSpPr>
        <p:spPr>
          <a:xfrm>
            <a:off x="8138159"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Quick Access</a:t>
            </a:r>
          </a:p>
        </p:txBody>
      </p:sp>
      <p:sp>
        <p:nvSpPr>
          <p:cNvPr id="15" name="TextBox 14">
            <a:extLst>
              <a:ext uri="{FF2B5EF4-FFF2-40B4-BE49-F238E27FC236}">
                <a16:creationId xmlns:a16="http://schemas.microsoft.com/office/drawing/2014/main" id="{D7AA44D0-D7BF-E7B1-AA2A-5243B9A53371}"/>
              </a:ext>
            </a:extLst>
          </p:cNvPr>
          <p:cNvSpPr txBox="1"/>
          <p:nvPr/>
        </p:nvSpPr>
        <p:spPr>
          <a:xfrm>
            <a:off x="8138159"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Same conversations sync</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across phone, desktop, and</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web. Start on your laptop,</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continue on your phone.</a:t>
            </a:r>
          </a:p>
        </p:txBody>
      </p:sp>
      <p:sp>
        <p:nvSpPr>
          <p:cNvPr id="16" name="TextBox 15">
            <a:extLst>
              <a:ext uri="{FF2B5EF4-FFF2-40B4-BE49-F238E27FC236}">
                <a16:creationId xmlns:a16="http://schemas.microsoft.com/office/drawing/2014/main" id="{112129ED-E08A-3518-5558-BB3B22E19E8F}"/>
              </a:ext>
            </a:extLst>
          </p:cNvPr>
          <p:cNvSpPr txBox="1"/>
          <p:nvPr/>
        </p:nvSpPr>
        <p:spPr>
          <a:xfrm>
            <a:off x="457200" y="5852160"/>
            <a:ext cx="1124712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600" i="1">
                <a:solidFill>
                  <a:srgbClr val="14B8A6"/>
                </a:solidFill>
              </a:defRPr>
            </a:pPr>
            <a:r>
              <a:rPr kumimoji="0" sz="1600" b="0" i="1" u="none" strike="noStrike" kern="1200" cap="none" spc="0" normalizeH="0" baseline="0" noProof="0">
                <a:ln>
                  <a:noFill/>
                </a:ln>
                <a:solidFill>
                  <a:srgbClr val="14B8A6"/>
                </a:solidFill>
                <a:effectLst/>
                <a:uLnTx/>
                <a:uFillTx/>
                <a:latin typeface="Calibri"/>
                <a:ea typeface="+mn-ea"/>
                <a:cs typeface="+mn-cs"/>
              </a:rPr>
              <a:t>Pro tip: Enable Voice Mode on mobile for hands-free AI conversations</a:t>
            </a:r>
          </a:p>
        </p:txBody>
      </p:sp>
    </p:spTree>
    <p:extLst>
      <p:ext uri="{BB962C8B-B14F-4D97-AF65-F5344CB8AC3E}">
        <p14:creationId xmlns:p14="http://schemas.microsoft.com/office/powerpoint/2010/main" val="41307976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2</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26314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26314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26314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6898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51860" y="2651760"/>
            <a:ext cx="2263140" cy="548640"/>
          </a:xfrm>
          <a:prstGeom prst="rect">
            <a:avLst/>
          </a:prstGeom>
          <a:noFill/>
        </p:spPr>
        <p:txBody>
          <a:bodyPr wrap="none">
            <a:spAutoFit/>
          </a:bodyPr>
          <a:lstStyle/>
          <a:p>
            <a:pPr algn="ctr">
              <a:defRPr sz="3000"/>
            </a:pPr>
            <a:r>
              <a:t>✍️</a:t>
            </a:r>
          </a:p>
        </p:txBody>
      </p:sp>
      <p:sp>
        <p:nvSpPr>
          <p:cNvPr id="12" name="TextBox 11"/>
          <p:cNvSpPr txBox="1"/>
          <p:nvPr/>
        </p:nvSpPr>
        <p:spPr>
          <a:xfrm>
            <a:off x="3451860" y="3200400"/>
            <a:ext cx="226314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51860" y="3749039"/>
            <a:ext cx="226314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5186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08076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63640" y="2651760"/>
            <a:ext cx="2263140" cy="548640"/>
          </a:xfrm>
          <a:prstGeom prst="rect">
            <a:avLst/>
          </a:prstGeom>
          <a:noFill/>
        </p:spPr>
        <p:txBody>
          <a:bodyPr wrap="none">
            <a:spAutoFit/>
          </a:bodyPr>
          <a:lstStyle/>
          <a:p>
            <a:pPr algn="ctr">
              <a:defRPr sz="3000"/>
            </a:pPr>
            <a:r>
              <a:t>📁</a:t>
            </a:r>
          </a:p>
        </p:txBody>
      </p:sp>
      <p:sp>
        <p:nvSpPr>
          <p:cNvPr id="17" name="TextBox 16"/>
          <p:cNvSpPr txBox="1"/>
          <p:nvPr/>
        </p:nvSpPr>
        <p:spPr>
          <a:xfrm>
            <a:off x="6263640" y="3200400"/>
            <a:ext cx="226314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263640" y="3749039"/>
            <a:ext cx="226314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263640" y="5303520"/>
            <a:ext cx="226314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89254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75420" y="2651760"/>
            <a:ext cx="2263140" cy="548640"/>
          </a:xfrm>
          <a:prstGeom prst="rect">
            <a:avLst/>
          </a:prstGeom>
          <a:noFill/>
        </p:spPr>
        <p:txBody>
          <a:bodyPr wrap="none">
            <a:spAutoFit/>
          </a:bodyPr>
          <a:lstStyle/>
          <a:p>
            <a:pPr algn="ctr">
              <a:defRPr sz="3000"/>
            </a:pPr>
            <a:r>
              <a:t>🧪</a:t>
            </a:r>
          </a:p>
        </p:txBody>
      </p:sp>
      <p:sp>
        <p:nvSpPr>
          <p:cNvPr id="22" name="TextBox 21"/>
          <p:cNvSpPr txBox="1"/>
          <p:nvPr/>
        </p:nvSpPr>
        <p:spPr>
          <a:xfrm>
            <a:off x="9075420" y="3200400"/>
            <a:ext cx="226314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075420" y="3749039"/>
            <a:ext cx="226314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075420" y="5303520"/>
            <a:ext cx="226314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3</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Analysis Prompts</a:t>
            </a:r>
            <a:br/>
            <a:r>
              <a:t>&amp; Claude in Excel</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Turn data into decisions — in the browser and in your spreadsheets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Legal review: 'Review this contract for potential risks'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Research synthesis: 'I've uploaded 5 papers. What are common findings?'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Data extraction: 'Extract all dates, names, and dollar amounts into a table'</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Comparison: 'Compare these two proposals and highlight differences'</a:t>
            </a:r>
          </a:p>
        </p:txBody>
      </p:sp>
    </p:spTree>
    <p:extLst>
      <p:ext uri="{BB962C8B-B14F-4D97-AF65-F5344CB8AC3E}">
        <p14:creationId xmlns:p14="http://schemas.microsoft.com/office/powerpoint/2010/main" val="351845108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3</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4</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Artifacts, Files</a:t>
            </a:r>
            <a:br/>
            <a:r>
              <a:t>&amp; Integrations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Create deliverables, work with files, and connect your tools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5025735" cy="584775"/>
          </a:xfrm>
          <a:prstGeom prst="rect">
            <a:avLst/>
          </a:prstGeom>
          <a:noFill/>
        </p:spPr>
        <p:txBody>
          <a:bodyPr wrap="none">
            <a:spAutoFit/>
          </a:bodyPr>
          <a:lstStyle/>
          <a:p>
            <a:pPr>
              <a:defRPr sz="3200" b="1">
                <a:solidFill>
                  <a:srgbClr val="FFFFFF"/>
                </a:solidFill>
              </a:defRPr>
            </a:pPr>
            <a:r>
              <a:rPr lang="en-US"/>
              <a:t>Demo: </a:t>
            </a: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4</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in PowerPoint</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14B8A6"/>
                </a:solidFill>
              </a:defRPr>
            </a:pPr>
            <a:r>
              <a:t>Research Preview  •  Available for Max, Team, and Enterprise</a:t>
            </a:r>
          </a:p>
        </p:txBody>
      </p:sp>
      <p:sp>
        <p:nvSpPr>
          <p:cNvPr id="4" name="Rounded Rectangle 3"/>
          <p:cNvSpPr/>
          <p:nvPr/>
        </p:nvSpPr>
        <p:spPr>
          <a:xfrm>
            <a:off x="45720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Build &amp; Design</a:t>
            </a:r>
          </a:p>
        </p:txBody>
      </p:sp>
      <p:sp>
        <p:nvSpPr>
          <p:cNvPr id="7" name="TextBox 6"/>
          <p:cNvSpPr txBox="1"/>
          <p:nvPr/>
        </p:nvSpPr>
        <p:spPr>
          <a:xfrm>
            <a:off x="640080" y="2926080"/>
            <a:ext cx="3108960" cy="1828800"/>
          </a:xfrm>
          <a:prstGeom prst="rect">
            <a:avLst/>
          </a:prstGeom>
          <a:noFill/>
        </p:spPr>
        <p:txBody>
          <a:bodyPr wrap="square">
            <a:spAutoFit/>
          </a:bodyPr>
          <a:lstStyle/>
          <a:p>
            <a:pPr algn="ctr">
              <a:defRPr sz="1400">
                <a:solidFill>
                  <a:srgbClr val="D1D5DB"/>
                </a:solidFill>
              </a:defRPr>
            </a:pPr>
            <a:r>
              <a:t>Create new slides from</a:t>
            </a:r>
            <a:br/>
            <a:r>
              <a:t>a prompt or outline</a:t>
            </a:r>
            <a:br/>
            <a:r>
              <a:t>Apply consistent branding</a:t>
            </a:r>
            <a:br/>
            <a:r>
              <a:t>Redesign existing decks</a:t>
            </a:r>
            <a:br/>
            <a:r>
              <a:t>Powered by Opus 4.6</a:t>
            </a:r>
          </a:p>
        </p:txBody>
      </p:sp>
      <p:sp>
        <p:nvSpPr>
          <p:cNvPr id="8" name="Rounded Rectangle 7"/>
          <p:cNvSpPr/>
          <p:nvPr/>
        </p:nvSpPr>
        <p:spPr>
          <a:xfrm>
            <a:off x="420624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Edit &amp; Refine</a:t>
            </a:r>
          </a:p>
        </p:txBody>
      </p:sp>
      <p:sp>
        <p:nvSpPr>
          <p:cNvPr id="11" name="TextBox 10"/>
          <p:cNvSpPr txBox="1"/>
          <p:nvPr/>
        </p:nvSpPr>
        <p:spPr>
          <a:xfrm>
            <a:off x="4389120" y="2926080"/>
            <a:ext cx="3108960" cy="1828800"/>
          </a:xfrm>
          <a:prstGeom prst="rect">
            <a:avLst/>
          </a:prstGeom>
          <a:noFill/>
        </p:spPr>
        <p:txBody>
          <a:bodyPr wrap="square">
            <a:spAutoFit/>
          </a:bodyPr>
          <a:lstStyle/>
          <a:p>
            <a:pPr algn="ctr">
              <a:defRPr sz="1400">
                <a:solidFill>
                  <a:srgbClr val="D1D5DB"/>
                </a:solidFill>
              </a:defRPr>
            </a:pPr>
            <a:r>
              <a:t>Rewrite slide content</a:t>
            </a:r>
            <a:br/>
            <a:r>
              <a:t>Fix formatting issues</a:t>
            </a:r>
            <a:br/>
            <a:r>
              <a:t>Improve data visualizations</a:t>
            </a:r>
            <a:br/>
            <a:r>
              <a:t>Condense or expand sections</a:t>
            </a:r>
            <a:br/>
            <a:r>
              <a:t>Maintain brand guidelines</a:t>
            </a:r>
          </a:p>
        </p:txBody>
      </p:sp>
      <p:sp>
        <p:nvSpPr>
          <p:cNvPr id="12" name="Rounded Rectangle 11"/>
          <p:cNvSpPr/>
          <p:nvPr/>
        </p:nvSpPr>
        <p:spPr>
          <a:xfrm>
            <a:off x="7955279"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Analyze &amp; Advise</a:t>
            </a:r>
          </a:p>
        </p:txBody>
      </p:sp>
      <p:sp>
        <p:nvSpPr>
          <p:cNvPr id="15" name="TextBox 14"/>
          <p:cNvSpPr txBox="1"/>
          <p:nvPr/>
        </p:nvSpPr>
        <p:spPr>
          <a:xfrm>
            <a:off x="8138159" y="2926080"/>
            <a:ext cx="3108960" cy="1828800"/>
          </a:xfrm>
          <a:prstGeom prst="rect">
            <a:avLst/>
          </a:prstGeom>
          <a:noFill/>
        </p:spPr>
        <p:txBody>
          <a:bodyPr wrap="square">
            <a:spAutoFit/>
          </a:bodyPr>
          <a:lstStyle/>
          <a:p>
            <a:pPr algn="ctr">
              <a:defRPr sz="1400">
                <a:solidFill>
                  <a:srgbClr val="D1D5DB"/>
                </a:solidFill>
              </a:defRPr>
            </a:pPr>
            <a:r>
              <a:t>Review your deck for</a:t>
            </a:r>
            <a:br/>
            <a:r>
              <a:t>clarity and flow</a:t>
            </a:r>
            <a:br/>
            <a:r>
              <a:t>Suggest better layouts</a:t>
            </a:r>
            <a:br/>
            <a:r>
              <a:t>Extract key messages</a:t>
            </a:r>
            <a:br/>
            <a:r>
              <a:t>Prepare speaker notes</a:t>
            </a:r>
          </a:p>
        </p:txBody>
      </p:sp>
      <p:sp>
        <p:nvSpPr>
          <p:cNvPr id="16" name="Rounded Rectangle 15"/>
          <p:cNvSpPr/>
          <p:nvPr/>
        </p:nvSpPr>
        <p:spPr>
          <a:xfrm>
            <a:off x="457200" y="5212080"/>
            <a:ext cx="11247120" cy="731520"/>
          </a:xfrm>
          <a:prstGeom prst="roundRect">
            <a:avLst/>
          </a:prstGeom>
          <a:solidFill>
            <a:srgbClr val="141A2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303520"/>
            <a:ext cx="10698480" cy="548640"/>
          </a:xfrm>
          <a:prstGeom prst="rect">
            <a:avLst/>
          </a:prstGeom>
          <a:noFill/>
        </p:spPr>
        <p:txBody>
          <a:bodyPr wrap="square">
            <a:spAutoFit/>
          </a:bodyPr>
          <a:lstStyle/>
          <a:p>
            <a:pPr algn="ctr">
              <a:defRPr sz="1500">
                <a:solidFill>
                  <a:srgbClr val="9CA3AF"/>
                </a:solidFill>
              </a:defRPr>
            </a:pPr>
            <a:r>
              <a:t>Claude now integrates directly into Excel, PowerPoint, and Google Docs — your AI assistant lives inside the tools you already use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56</TotalTime>
  <Words>13711</Words>
  <Application>Microsoft Office PowerPoint</Application>
  <PresentationFormat>Widescreen</PresentationFormat>
  <Paragraphs>1644</Paragraphs>
  <Slides>81</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2026-02-16T06:55:53Z</dcterms:modified>
  <cp:category/>
</cp:coreProperties>
</file>