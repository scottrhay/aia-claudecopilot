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139C36B-8AB1-447E-AA47-07FFCAD28EDF}" v="2" dt="2026-03-02T01:49:24.47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2344" autoAdjust="0"/>
  </p:normalViewPr>
  <p:slideViewPr>
    <p:cSldViewPr snapToGrid="0" snapToObjects="1">
      <p:cViewPr varScale="1">
        <p:scale>
          <a:sx n="107" d="100"/>
          <a:sy n="107" d="100"/>
        </p:scale>
        <p:origin x="4566" y="31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notesMaster" Target="notesMasters/notesMaster1.xml"/><Relationship Id="rId120" Type="http://schemas.openxmlformats.org/officeDocument/2006/relationships/presProps" Target="presProps.xml"/><Relationship Id="rId121" Type="http://schemas.openxmlformats.org/officeDocument/2006/relationships/viewProps" Target="viewProps.xml"/><Relationship Id="rId122" Type="http://schemas.openxmlformats.org/officeDocument/2006/relationships/theme" Target="theme/theme1.xml"/><Relationship Id="rId123" Type="http://schemas.openxmlformats.org/officeDocument/2006/relationships/tableStyles" Target="tableStyles.xml"/><Relationship Id="rId124" Type="http://schemas.microsoft.com/office/2016/11/relationships/changesInfo" Target="changesInfos/changesInfo1.xml"/><Relationship Id="rId125"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cott Hay" userId="e95d3f44-f6c0-414c-b281-41a9346c1b81" providerId="ADAL" clId="{4D76341F-F64C-4A8E-A4EF-1A11730F38E9}"/>
    <pc:docChg chg="undo custSel modSld">
      <pc:chgData name="Scott Hay" userId="e95d3f44-f6c0-414c-b281-41a9346c1b81" providerId="ADAL" clId="{4D76341F-F64C-4A8E-A4EF-1A11730F38E9}" dt="2026-03-02T01:59:12.747" v="87" actId="14100"/>
      <pc:docMkLst>
        <pc:docMk/>
      </pc:docMkLst>
      <pc:sldChg chg="modSp mod">
        <pc:chgData name="Scott Hay" userId="e95d3f44-f6c0-414c-b281-41a9346c1b81" providerId="ADAL" clId="{4D76341F-F64C-4A8E-A4EF-1A11730F38E9}" dt="2026-03-02T00:51:04.186" v="61" actId="20577"/>
        <pc:sldMkLst>
          <pc:docMk/>
          <pc:sldMk cId="0" sldId="256"/>
        </pc:sldMkLst>
        <pc:spChg chg="mod">
          <ac:chgData name="Scott Hay" userId="e95d3f44-f6c0-414c-b281-41a9346c1b81" providerId="ADAL" clId="{4D76341F-F64C-4A8E-A4EF-1A11730F38E9}" dt="2026-03-02T00:51:04.186" v="61" actId="20577"/>
          <ac:spMkLst>
            <pc:docMk/>
            <pc:sldMk cId="0" sldId="256"/>
            <ac:spMk id="4" creationId="{00000000-0000-0000-0000-000000000000}"/>
          </ac:spMkLst>
        </pc:spChg>
      </pc:sldChg>
      <pc:sldChg chg="modSp mod">
        <pc:chgData name="Scott Hay" userId="e95d3f44-f6c0-414c-b281-41a9346c1b81" providerId="ADAL" clId="{4D76341F-F64C-4A8E-A4EF-1A11730F38E9}" dt="2026-03-02T00:51:44.576" v="63" actId="20577"/>
        <pc:sldMkLst>
          <pc:docMk/>
          <pc:sldMk cId="0" sldId="263"/>
        </pc:sldMkLst>
        <pc:spChg chg="mod">
          <ac:chgData name="Scott Hay" userId="e95d3f44-f6c0-414c-b281-41a9346c1b81" providerId="ADAL" clId="{4D76341F-F64C-4A8E-A4EF-1A11730F38E9}" dt="2026-03-02T00:51:44.576" v="63" actId="20577"/>
          <ac:spMkLst>
            <pc:docMk/>
            <pc:sldMk cId="0" sldId="263"/>
            <ac:spMk id="4" creationId="{00000000-0000-0000-0000-000000000000}"/>
          </ac:spMkLst>
        </pc:spChg>
      </pc:sldChg>
      <pc:sldChg chg="modSp mod">
        <pc:chgData name="Scott Hay" userId="e95d3f44-f6c0-414c-b281-41a9346c1b81" providerId="ADAL" clId="{4D76341F-F64C-4A8E-A4EF-1A11730F38E9}" dt="2026-03-02T01:59:12.747" v="87" actId="14100"/>
        <pc:sldMkLst>
          <pc:docMk/>
          <pc:sldMk cId="0" sldId="265"/>
        </pc:sldMkLst>
        <pc:spChg chg="mod">
          <ac:chgData name="Scott Hay" userId="e95d3f44-f6c0-414c-b281-41a9346c1b81" providerId="ADAL" clId="{4D76341F-F64C-4A8E-A4EF-1A11730F38E9}" dt="2026-03-01T23:11:55.079" v="57" actId="27636"/>
          <ac:spMkLst>
            <pc:docMk/>
            <pc:sldMk cId="0" sldId="265"/>
            <ac:spMk id="10" creationId="{00000000-0000-0000-0000-000000000000}"/>
          </ac:spMkLst>
        </pc:spChg>
        <pc:spChg chg="mod">
          <ac:chgData name="Scott Hay" userId="e95d3f44-f6c0-414c-b281-41a9346c1b81" providerId="ADAL" clId="{4D76341F-F64C-4A8E-A4EF-1A11730F38E9}" dt="2026-03-02T01:59:12.747" v="87" actId="14100"/>
          <ac:spMkLst>
            <pc:docMk/>
            <pc:sldMk cId="0" sldId="265"/>
            <ac:spMk id="11" creationId="{00000000-0000-0000-0000-000000000000}"/>
          </ac:spMkLst>
        </pc:spChg>
        <pc:spChg chg="mod">
          <ac:chgData name="Scott Hay" userId="e95d3f44-f6c0-414c-b281-41a9346c1b81" providerId="ADAL" clId="{4D76341F-F64C-4A8E-A4EF-1A11730F38E9}" dt="2026-03-02T01:58:50.425" v="85" actId="14100"/>
          <ac:spMkLst>
            <pc:docMk/>
            <pc:sldMk cId="0" sldId="265"/>
            <ac:spMk id="14" creationId="{00000000-0000-0000-0000-000000000000}"/>
          </ac:spMkLst>
        </pc:spChg>
      </pc:sldChg>
      <pc:sldChg chg="addSp delSp modSp mod">
        <pc:chgData name="Scott Hay" userId="e95d3f44-f6c0-414c-b281-41a9346c1b81" providerId="ADAL" clId="{4D76341F-F64C-4A8E-A4EF-1A11730F38E9}" dt="2026-03-01T23:12:00.985" v="59" actId="478"/>
        <pc:sldMkLst>
          <pc:docMk/>
          <pc:sldMk cId="0" sldId="268"/>
        </pc:sldMkLst>
        <pc:spChg chg="del">
          <ac:chgData name="Scott Hay" userId="e95d3f44-f6c0-414c-b281-41a9346c1b81" providerId="ADAL" clId="{4D76341F-F64C-4A8E-A4EF-1A11730F38E9}" dt="2026-03-01T23:12:00.985" v="59" actId="478"/>
          <ac:spMkLst>
            <pc:docMk/>
            <pc:sldMk cId="0" sldId="268"/>
            <ac:spMk id="5" creationId="{00000000-0000-0000-0000-000000000000}"/>
          </ac:spMkLst>
        </pc:spChg>
        <pc:spChg chg="add mod">
          <ac:chgData name="Scott Hay" userId="e95d3f44-f6c0-414c-b281-41a9346c1b81" providerId="ADAL" clId="{4D76341F-F64C-4A8E-A4EF-1A11730F38E9}" dt="2026-03-01T23:11:54.861" v="15"/>
          <ac:spMkLst>
            <pc:docMk/>
            <pc:sldMk cId="0" sldId="268"/>
            <ac:spMk id="6" creationId="{20DA46C1-A09C-CC85-41D0-591C5CEE27C2}"/>
          </ac:spMkLst>
        </pc:spChg>
        <pc:picChg chg="add mod">
          <ac:chgData name="Scott Hay" userId="e95d3f44-f6c0-414c-b281-41a9346c1b81" providerId="ADAL" clId="{4D76341F-F64C-4A8E-A4EF-1A11730F38E9}" dt="2026-03-01T23:11:54.861" v="15"/>
          <ac:picMkLst>
            <pc:docMk/>
            <pc:sldMk cId="0" sldId="268"/>
            <ac:picMk id="7" creationId="{1CE2B5A9-A391-ACE3-A562-6E21FAF6C260}"/>
          </ac:picMkLst>
        </pc:picChg>
      </pc:sldChg>
      <pc:sldChg chg="modSp mod">
        <pc:chgData name="Scott Hay" userId="e95d3f44-f6c0-414c-b281-41a9346c1b81" providerId="ADAL" clId="{4D76341F-F64C-4A8E-A4EF-1A11730F38E9}" dt="2026-03-01T23:11:54.908" v="17" actId="27636"/>
        <pc:sldMkLst>
          <pc:docMk/>
          <pc:sldMk cId="0" sldId="279"/>
        </pc:sldMkLst>
        <pc:spChg chg="mod">
          <ac:chgData name="Scott Hay" userId="e95d3f44-f6c0-414c-b281-41a9346c1b81" providerId="ADAL" clId="{4D76341F-F64C-4A8E-A4EF-1A11730F38E9}" dt="2026-03-01T23:11:54.906" v="16" actId="27636"/>
          <ac:spMkLst>
            <pc:docMk/>
            <pc:sldMk cId="0" sldId="279"/>
            <ac:spMk id="6" creationId="{00000000-0000-0000-0000-000000000000}"/>
          </ac:spMkLst>
        </pc:spChg>
        <pc:spChg chg="mod">
          <ac:chgData name="Scott Hay" userId="e95d3f44-f6c0-414c-b281-41a9346c1b81" providerId="ADAL" clId="{4D76341F-F64C-4A8E-A4EF-1A11730F38E9}" dt="2026-03-01T23:11:54.908" v="17" actId="27636"/>
          <ac:spMkLst>
            <pc:docMk/>
            <pc:sldMk cId="0" sldId="279"/>
            <ac:spMk id="14" creationId="{00000000-0000-0000-0000-000000000000}"/>
          </ac:spMkLst>
        </pc:spChg>
      </pc:sldChg>
      <pc:sldChg chg="modSp mod">
        <pc:chgData name="Scott Hay" userId="e95d3f44-f6c0-414c-b281-41a9346c1b81" providerId="ADAL" clId="{4D76341F-F64C-4A8E-A4EF-1A11730F38E9}" dt="2026-03-01T23:11:54.924" v="20" actId="27636"/>
        <pc:sldMkLst>
          <pc:docMk/>
          <pc:sldMk cId="0" sldId="285"/>
        </pc:sldMkLst>
        <pc:spChg chg="mod">
          <ac:chgData name="Scott Hay" userId="e95d3f44-f6c0-414c-b281-41a9346c1b81" providerId="ADAL" clId="{4D76341F-F64C-4A8E-A4EF-1A11730F38E9}" dt="2026-03-01T23:11:54.924" v="20" actId="27636"/>
          <ac:spMkLst>
            <pc:docMk/>
            <pc:sldMk cId="0" sldId="285"/>
            <ac:spMk id="6" creationId="{00000000-0000-0000-0000-000000000000}"/>
          </ac:spMkLst>
        </pc:spChg>
        <pc:spChg chg="mod">
          <ac:chgData name="Scott Hay" userId="e95d3f44-f6c0-414c-b281-41a9346c1b81" providerId="ADAL" clId="{4D76341F-F64C-4A8E-A4EF-1A11730F38E9}" dt="2026-03-01T23:11:54.916" v="18" actId="27636"/>
          <ac:spMkLst>
            <pc:docMk/>
            <pc:sldMk cId="0" sldId="285"/>
            <ac:spMk id="10" creationId="{00000000-0000-0000-0000-000000000000}"/>
          </ac:spMkLst>
        </pc:spChg>
        <pc:spChg chg="mod">
          <ac:chgData name="Scott Hay" userId="e95d3f44-f6c0-414c-b281-41a9346c1b81" providerId="ADAL" clId="{4D76341F-F64C-4A8E-A4EF-1A11730F38E9}" dt="2026-03-01T23:11:54.920" v="19" actId="27636"/>
          <ac:spMkLst>
            <pc:docMk/>
            <pc:sldMk cId="0" sldId="285"/>
            <ac:spMk id="14" creationId="{00000000-0000-0000-0000-000000000000}"/>
          </ac:spMkLst>
        </pc:spChg>
      </pc:sldChg>
      <pc:sldChg chg="modSp mod">
        <pc:chgData name="Scott Hay" userId="e95d3f44-f6c0-414c-b281-41a9346c1b81" providerId="ADAL" clId="{4D76341F-F64C-4A8E-A4EF-1A11730F38E9}" dt="2026-03-01T23:11:54.944" v="23" actId="27636"/>
        <pc:sldMkLst>
          <pc:docMk/>
          <pc:sldMk cId="0" sldId="291"/>
        </pc:sldMkLst>
        <pc:spChg chg="mod">
          <ac:chgData name="Scott Hay" userId="e95d3f44-f6c0-414c-b281-41a9346c1b81" providerId="ADAL" clId="{4D76341F-F64C-4A8E-A4EF-1A11730F38E9}" dt="2026-03-01T23:11:34.072" v="14" actId="14100"/>
          <ac:spMkLst>
            <pc:docMk/>
            <pc:sldMk cId="0" sldId="291"/>
            <ac:spMk id="3" creationId="{00000000-0000-0000-0000-000000000000}"/>
          </ac:spMkLst>
        </pc:spChg>
        <pc:spChg chg="mod">
          <ac:chgData name="Scott Hay" userId="e95d3f44-f6c0-414c-b281-41a9346c1b81" providerId="ADAL" clId="{4D76341F-F64C-4A8E-A4EF-1A11730F38E9}" dt="2026-03-01T23:11:54.941" v="22" actId="27636"/>
          <ac:spMkLst>
            <pc:docMk/>
            <pc:sldMk cId="0" sldId="291"/>
            <ac:spMk id="6" creationId="{00000000-0000-0000-0000-000000000000}"/>
          </ac:spMkLst>
        </pc:spChg>
        <pc:spChg chg="mod">
          <ac:chgData name="Scott Hay" userId="e95d3f44-f6c0-414c-b281-41a9346c1b81" providerId="ADAL" clId="{4D76341F-F64C-4A8E-A4EF-1A11730F38E9}" dt="2026-03-01T23:11:34.072" v="14" actId="14100"/>
          <ac:spMkLst>
            <pc:docMk/>
            <pc:sldMk cId="0" sldId="291"/>
            <ac:spMk id="7" creationId="{00000000-0000-0000-0000-000000000000}"/>
          </ac:spMkLst>
        </pc:spChg>
        <pc:spChg chg="mod">
          <ac:chgData name="Scott Hay" userId="e95d3f44-f6c0-414c-b281-41a9346c1b81" providerId="ADAL" clId="{4D76341F-F64C-4A8E-A4EF-1A11730F38E9}" dt="2026-03-01T23:11:54.944" v="23" actId="27636"/>
          <ac:spMkLst>
            <pc:docMk/>
            <pc:sldMk cId="0" sldId="291"/>
            <ac:spMk id="10" creationId="{00000000-0000-0000-0000-000000000000}"/>
          </ac:spMkLst>
        </pc:spChg>
        <pc:spChg chg="mod">
          <ac:chgData name="Scott Hay" userId="e95d3f44-f6c0-414c-b281-41a9346c1b81" providerId="ADAL" clId="{4D76341F-F64C-4A8E-A4EF-1A11730F38E9}" dt="2026-03-01T23:11:34.072" v="14" actId="14100"/>
          <ac:spMkLst>
            <pc:docMk/>
            <pc:sldMk cId="0" sldId="291"/>
            <ac:spMk id="11" creationId="{00000000-0000-0000-0000-000000000000}"/>
          </ac:spMkLst>
        </pc:spChg>
        <pc:spChg chg="mod">
          <ac:chgData name="Scott Hay" userId="e95d3f44-f6c0-414c-b281-41a9346c1b81" providerId="ADAL" clId="{4D76341F-F64C-4A8E-A4EF-1A11730F38E9}" dt="2026-03-01T23:11:54.937" v="21" actId="27636"/>
          <ac:spMkLst>
            <pc:docMk/>
            <pc:sldMk cId="0" sldId="291"/>
            <ac:spMk id="14" creationId="{00000000-0000-0000-0000-000000000000}"/>
          </ac:spMkLst>
        </pc:spChg>
      </pc:sldChg>
      <pc:sldChg chg="modSp mod">
        <pc:chgData name="Scott Hay" userId="e95d3f44-f6c0-414c-b281-41a9346c1b81" providerId="ADAL" clId="{4D76341F-F64C-4A8E-A4EF-1A11730F38E9}" dt="2026-03-01T23:11:54.967" v="26" actId="27636"/>
        <pc:sldMkLst>
          <pc:docMk/>
          <pc:sldMk cId="0" sldId="294"/>
        </pc:sldMkLst>
        <pc:spChg chg="mod">
          <ac:chgData name="Scott Hay" userId="e95d3f44-f6c0-414c-b281-41a9346c1b81" providerId="ADAL" clId="{4D76341F-F64C-4A8E-A4EF-1A11730F38E9}" dt="2026-03-01T23:11:24.558" v="13" actId="14100"/>
          <ac:spMkLst>
            <pc:docMk/>
            <pc:sldMk cId="0" sldId="294"/>
            <ac:spMk id="3" creationId="{00000000-0000-0000-0000-000000000000}"/>
          </ac:spMkLst>
        </pc:spChg>
        <pc:spChg chg="mod">
          <ac:chgData name="Scott Hay" userId="e95d3f44-f6c0-414c-b281-41a9346c1b81" providerId="ADAL" clId="{4D76341F-F64C-4A8E-A4EF-1A11730F38E9}" dt="2026-03-01T23:11:54.952" v="24" actId="27636"/>
          <ac:spMkLst>
            <pc:docMk/>
            <pc:sldMk cId="0" sldId="294"/>
            <ac:spMk id="6" creationId="{00000000-0000-0000-0000-000000000000}"/>
          </ac:spMkLst>
        </pc:spChg>
        <pc:spChg chg="mod">
          <ac:chgData name="Scott Hay" userId="e95d3f44-f6c0-414c-b281-41a9346c1b81" providerId="ADAL" clId="{4D76341F-F64C-4A8E-A4EF-1A11730F38E9}" dt="2026-03-01T23:11:24.558" v="13" actId="14100"/>
          <ac:spMkLst>
            <pc:docMk/>
            <pc:sldMk cId="0" sldId="294"/>
            <ac:spMk id="7" creationId="{00000000-0000-0000-0000-000000000000}"/>
          </ac:spMkLst>
        </pc:spChg>
        <pc:spChg chg="mod">
          <ac:chgData name="Scott Hay" userId="e95d3f44-f6c0-414c-b281-41a9346c1b81" providerId="ADAL" clId="{4D76341F-F64C-4A8E-A4EF-1A11730F38E9}" dt="2026-03-01T23:11:54.960" v="25" actId="27636"/>
          <ac:spMkLst>
            <pc:docMk/>
            <pc:sldMk cId="0" sldId="294"/>
            <ac:spMk id="10" creationId="{00000000-0000-0000-0000-000000000000}"/>
          </ac:spMkLst>
        </pc:spChg>
        <pc:spChg chg="mod">
          <ac:chgData name="Scott Hay" userId="e95d3f44-f6c0-414c-b281-41a9346c1b81" providerId="ADAL" clId="{4D76341F-F64C-4A8E-A4EF-1A11730F38E9}" dt="2026-03-01T23:11:24.558" v="13" actId="14100"/>
          <ac:spMkLst>
            <pc:docMk/>
            <pc:sldMk cId="0" sldId="294"/>
            <ac:spMk id="11" creationId="{00000000-0000-0000-0000-000000000000}"/>
          </ac:spMkLst>
        </pc:spChg>
        <pc:spChg chg="mod">
          <ac:chgData name="Scott Hay" userId="e95d3f44-f6c0-414c-b281-41a9346c1b81" providerId="ADAL" clId="{4D76341F-F64C-4A8E-A4EF-1A11730F38E9}" dt="2026-03-01T23:11:54.967" v="26" actId="27636"/>
          <ac:spMkLst>
            <pc:docMk/>
            <pc:sldMk cId="0" sldId="294"/>
            <ac:spMk id="14" creationId="{00000000-0000-0000-0000-000000000000}"/>
          </ac:spMkLst>
        </pc:spChg>
      </pc:sldChg>
      <pc:sldChg chg="modSp mod">
        <pc:chgData name="Scott Hay" userId="e95d3f44-f6c0-414c-b281-41a9346c1b81" providerId="ADAL" clId="{4D76341F-F64C-4A8E-A4EF-1A11730F38E9}" dt="2026-03-01T23:11:54.980" v="29" actId="27636"/>
        <pc:sldMkLst>
          <pc:docMk/>
          <pc:sldMk cId="0" sldId="298"/>
        </pc:sldMkLst>
        <pc:spChg chg="mod">
          <ac:chgData name="Scott Hay" userId="e95d3f44-f6c0-414c-b281-41a9346c1b81" providerId="ADAL" clId="{4D76341F-F64C-4A8E-A4EF-1A11730F38E9}" dt="2026-03-01T23:11:11.127" v="12" actId="14100"/>
          <ac:spMkLst>
            <pc:docMk/>
            <pc:sldMk cId="0" sldId="298"/>
            <ac:spMk id="3" creationId="{00000000-0000-0000-0000-000000000000}"/>
          </ac:spMkLst>
        </pc:spChg>
        <pc:spChg chg="mod">
          <ac:chgData name="Scott Hay" userId="e95d3f44-f6c0-414c-b281-41a9346c1b81" providerId="ADAL" clId="{4D76341F-F64C-4A8E-A4EF-1A11730F38E9}" dt="2026-03-01T23:11:54.973" v="27" actId="27636"/>
          <ac:spMkLst>
            <pc:docMk/>
            <pc:sldMk cId="0" sldId="298"/>
            <ac:spMk id="6" creationId="{00000000-0000-0000-0000-000000000000}"/>
          </ac:spMkLst>
        </pc:spChg>
        <pc:spChg chg="mod">
          <ac:chgData name="Scott Hay" userId="e95d3f44-f6c0-414c-b281-41a9346c1b81" providerId="ADAL" clId="{4D76341F-F64C-4A8E-A4EF-1A11730F38E9}" dt="2026-03-01T23:11:11.127" v="12" actId="14100"/>
          <ac:spMkLst>
            <pc:docMk/>
            <pc:sldMk cId="0" sldId="298"/>
            <ac:spMk id="7" creationId="{00000000-0000-0000-0000-000000000000}"/>
          </ac:spMkLst>
        </pc:spChg>
        <pc:spChg chg="mod">
          <ac:chgData name="Scott Hay" userId="e95d3f44-f6c0-414c-b281-41a9346c1b81" providerId="ADAL" clId="{4D76341F-F64C-4A8E-A4EF-1A11730F38E9}" dt="2026-03-01T23:11:54.980" v="29" actId="27636"/>
          <ac:spMkLst>
            <pc:docMk/>
            <pc:sldMk cId="0" sldId="298"/>
            <ac:spMk id="10" creationId="{00000000-0000-0000-0000-000000000000}"/>
          </ac:spMkLst>
        </pc:spChg>
        <pc:spChg chg="mod">
          <ac:chgData name="Scott Hay" userId="e95d3f44-f6c0-414c-b281-41a9346c1b81" providerId="ADAL" clId="{4D76341F-F64C-4A8E-A4EF-1A11730F38E9}" dt="2026-03-01T23:11:11.127" v="12" actId="14100"/>
          <ac:spMkLst>
            <pc:docMk/>
            <pc:sldMk cId="0" sldId="298"/>
            <ac:spMk id="11" creationId="{00000000-0000-0000-0000-000000000000}"/>
          </ac:spMkLst>
        </pc:spChg>
        <pc:spChg chg="mod">
          <ac:chgData name="Scott Hay" userId="e95d3f44-f6c0-414c-b281-41a9346c1b81" providerId="ADAL" clId="{4D76341F-F64C-4A8E-A4EF-1A11730F38E9}" dt="2026-03-01T23:11:54.977" v="28" actId="27636"/>
          <ac:spMkLst>
            <pc:docMk/>
            <pc:sldMk cId="0" sldId="298"/>
            <ac:spMk id="14" creationId="{00000000-0000-0000-0000-000000000000}"/>
          </ac:spMkLst>
        </pc:spChg>
      </pc:sldChg>
      <pc:sldChg chg="modSp mod">
        <pc:chgData name="Scott Hay" userId="e95d3f44-f6c0-414c-b281-41a9346c1b81" providerId="ADAL" clId="{4D76341F-F64C-4A8E-A4EF-1A11730F38E9}" dt="2026-03-01T23:11:54.990" v="32" actId="27636"/>
        <pc:sldMkLst>
          <pc:docMk/>
          <pc:sldMk cId="0" sldId="307"/>
        </pc:sldMkLst>
        <pc:spChg chg="mod">
          <ac:chgData name="Scott Hay" userId="e95d3f44-f6c0-414c-b281-41a9346c1b81" providerId="ADAL" clId="{4D76341F-F64C-4A8E-A4EF-1A11730F38E9}" dt="2026-03-01T23:10:33.574" v="11" actId="14100"/>
          <ac:spMkLst>
            <pc:docMk/>
            <pc:sldMk cId="0" sldId="307"/>
            <ac:spMk id="3" creationId="{00000000-0000-0000-0000-000000000000}"/>
          </ac:spMkLst>
        </pc:spChg>
        <pc:spChg chg="mod">
          <ac:chgData name="Scott Hay" userId="e95d3f44-f6c0-414c-b281-41a9346c1b81" providerId="ADAL" clId="{4D76341F-F64C-4A8E-A4EF-1A11730F38E9}" dt="2026-03-01T23:11:54.987" v="31" actId="27636"/>
          <ac:spMkLst>
            <pc:docMk/>
            <pc:sldMk cId="0" sldId="307"/>
            <ac:spMk id="6" creationId="{00000000-0000-0000-0000-000000000000}"/>
          </ac:spMkLst>
        </pc:spChg>
        <pc:spChg chg="mod">
          <ac:chgData name="Scott Hay" userId="e95d3f44-f6c0-414c-b281-41a9346c1b81" providerId="ADAL" clId="{4D76341F-F64C-4A8E-A4EF-1A11730F38E9}" dt="2026-03-01T23:10:33.574" v="11" actId="14100"/>
          <ac:spMkLst>
            <pc:docMk/>
            <pc:sldMk cId="0" sldId="307"/>
            <ac:spMk id="7" creationId="{00000000-0000-0000-0000-000000000000}"/>
          </ac:spMkLst>
        </pc:spChg>
        <pc:spChg chg="mod">
          <ac:chgData name="Scott Hay" userId="e95d3f44-f6c0-414c-b281-41a9346c1b81" providerId="ADAL" clId="{4D76341F-F64C-4A8E-A4EF-1A11730F38E9}" dt="2026-03-01T23:11:54.990" v="32" actId="27636"/>
          <ac:spMkLst>
            <pc:docMk/>
            <pc:sldMk cId="0" sldId="307"/>
            <ac:spMk id="10" creationId="{00000000-0000-0000-0000-000000000000}"/>
          </ac:spMkLst>
        </pc:spChg>
        <pc:spChg chg="mod">
          <ac:chgData name="Scott Hay" userId="e95d3f44-f6c0-414c-b281-41a9346c1b81" providerId="ADAL" clId="{4D76341F-F64C-4A8E-A4EF-1A11730F38E9}" dt="2026-03-01T23:10:33.574" v="11" actId="14100"/>
          <ac:spMkLst>
            <pc:docMk/>
            <pc:sldMk cId="0" sldId="307"/>
            <ac:spMk id="11" creationId="{00000000-0000-0000-0000-000000000000}"/>
          </ac:spMkLst>
        </pc:spChg>
        <pc:spChg chg="mod">
          <ac:chgData name="Scott Hay" userId="e95d3f44-f6c0-414c-b281-41a9346c1b81" providerId="ADAL" clId="{4D76341F-F64C-4A8E-A4EF-1A11730F38E9}" dt="2026-03-01T23:11:54.984" v="30" actId="27636"/>
          <ac:spMkLst>
            <pc:docMk/>
            <pc:sldMk cId="0" sldId="307"/>
            <ac:spMk id="14" creationId="{00000000-0000-0000-0000-000000000000}"/>
          </ac:spMkLst>
        </pc:spChg>
      </pc:sldChg>
      <pc:sldChg chg="modSp mod">
        <pc:chgData name="Scott Hay" userId="e95d3f44-f6c0-414c-b281-41a9346c1b81" providerId="ADAL" clId="{4D76341F-F64C-4A8E-A4EF-1A11730F38E9}" dt="2026-03-01T23:11:55.004" v="35" actId="27636"/>
        <pc:sldMkLst>
          <pc:docMk/>
          <pc:sldMk cId="0" sldId="312"/>
        </pc:sldMkLst>
        <pc:spChg chg="mod">
          <ac:chgData name="Scott Hay" userId="e95d3f44-f6c0-414c-b281-41a9346c1b81" providerId="ADAL" clId="{4D76341F-F64C-4A8E-A4EF-1A11730F38E9}" dt="2026-03-01T23:10:14.199" v="10" actId="14100"/>
          <ac:spMkLst>
            <pc:docMk/>
            <pc:sldMk cId="0" sldId="312"/>
            <ac:spMk id="3" creationId="{00000000-0000-0000-0000-000000000000}"/>
          </ac:spMkLst>
        </pc:spChg>
        <pc:spChg chg="mod">
          <ac:chgData name="Scott Hay" userId="e95d3f44-f6c0-414c-b281-41a9346c1b81" providerId="ADAL" clId="{4D76341F-F64C-4A8E-A4EF-1A11730F38E9}" dt="2026-03-01T23:11:54.996" v="33" actId="27636"/>
          <ac:spMkLst>
            <pc:docMk/>
            <pc:sldMk cId="0" sldId="312"/>
            <ac:spMk id="6" creationId="{00000000-0000-0000-0000-000000000000}"/>
          </ac:spMkLst>
        </pc:spChg>
        <pc:spChg chg="mod">
          <ac:chgData name="Scott Hay" userId="e95d3f44-f6c0-414c-b281-41a9346c1b81" providerId="ADAL" clId="{4D76341F-F64C-4A8E-A4EF-1A11730F38E9}" dt="2026-03-01T23:10:14.199" v="10" actId="14100"/>
          <ac:spMkLst>
            <pc:docMk/>
            <pc:sldMk cId="0" sldId="312"/>
            <ac:spMk id="7" creationId="{00000000-0000-0000-0000-000000000000}"/>
          </ac:spMkLst>
        </pc:spChg>
        <pc:spChg chg="mod">
          <ac:chgData name="Scott Hay" userId="e95d3f44-f6c0-414c-b281-41a9346c1b81" providerId="ADAL" clId="{4D76341F-F64C-4A8E-A4EF-1A11730F38E9}" dt="2026-03-01T23:11:55.004" v="35" actId="27636"/>
          <ac:spMkLst>
            <pc:docMk/>
            <pc:sldMk cId="0" sldId="312"/>
            <ac:spMk id="10" creationId="{00000000-0000-0000-0000-000000000000}"/>
          </ac:spMkLst>
        </pc:spChg>
        <pc:spChg chg="mod">
          <ac:chgData name="Scott Hay" userId="e95d3f44-f6c0-414c-b281-41a9346c1b81" providerId="ADAL" clId="{4D76341F-F64C-4A8E-A4EF-1A11730F38E9}" dt="2026-03-01T23:10:14.199" v="10" actId="14100"/>
          <ac:spMkLst>
            <pc:docMk/>
            <pc:sldMk cId="0" sldId="312"/>
            <ac:spMk id="11" creationId="{00000000-0000-0000-0000-000000000000}"/>
          </ac:spMkLst>
        </pc:spChg>
        <pc:spChg chg="mod">
          <ac:chgData name="Scott Hay" userId="e95d3f44-f6c0-414c-b281-41a9346c1b81" providerId="ADAL" clId="{4D76341F-F64C-4A8E-A4EF-1A11730F38E9}" dt="2026-03-01T23:11:54.999" v="34" actId="27636"/>
          <ac:spMkLst>
            <pc:docMk/>
            <pc:sldMk cId="0" sldId="312"/>
            <ac:spMk id="14" creationId="{00000000-0000-0000-0000-000000000000}"/>
          </ac:spMkLst>
        </pc:spChg>
      </pc:sldChg>
      <pc:sldChg chg="modSp mod">
        <pc:chgData name="Scott Hay" userId="e95d3f44-f6c0-414c-b281-41a9346c1b81" providerId="ADAL" clId="{4D76341F-F64C-4A8E-A4EF-1A11730F38E9}" dt="2026-03-01T23:11:55.012" v="38" actId="27636"/>
        <pc:sldMkLst>
          <pc:docMk/>
          <pc:sldMk cId="0" sldId="313"/>
        </pc:sldMkLst>
        <pc:spChg chg="mod">
          <ac:chgData name="Scott Hay" userId="e95d3f44-f6c0-414c-b281-41a9346c1b81" providerId="ADAL" clId="{4D76341F-F64C-4A8E-A4EF-1A11730F38E9}" dt="2026-03-01T23:10:04.359" v="9" actId="14100"/>
          <ac:spMkLst>
            <pc:docMk/>
            <pc:sldMk cId="0" sldId="313"/>
            <ac:spMk id="3" creationId="{00000000-0000-0000-0000-000000000000}"/>
          </ac:spMkLst>
        </pc:spChg>
        <pc:spChg chg="mod">
          <ac:chgData name="Scott Hay" userId="e95d3f44-f6c0-414c-b281-41a9346c1b81" providerId="ADAL" clId="{4D76341F-F64C-4A8E-A4EF-1A11730F38E9}" dt="2026-03-01T23:11:55.012" v="38" actId="27636"/>
          <ac:spMkLst>
            <pc:docMk/>
            <pc:sldMk cId="0" sldId="313"/>
            <ac:spMk id="6" creationId="{00000000-0000-0000-0000-000000000000}"/>
          </ac:spMkLst>
        </pc:spChg>
        <pc:spChg chg="mod">
          <ac:chgData name="Scott Hay" userId="e95d3f44-f6c0-414c-b281-41a9346c1b81" providerId="ADAL" clId="{4D76341F-F64C-4A8E-A4EF-1A11730F38E9}" dt="2026-03-01T23:10:04.359" v="9" actId="14100"/>
          <ac:spMkLst>
            <pc:docMk/>
            <pc:sldMk cId="0" sldId="313"/>
            <ac:spMk id="7" creationId="{00000000-0000-0000-0000-000000000000}"/>
          </ac:spMkLst>
        </pc:spChg>
        <pc:spChg chg="mod">
          <ac:chgData name="Scott Hay" userId="e95d3f44-f6c0-414c-b281-41a9346c1b81" providerId="ADAL" clId="{4D76341F-F64C-4A8E-A4EF-1A11730F38E9}" dt="2026-03-01T23:11:55.010" v="37" actId="27636"/>
          <ac:spMkLst>
            <pc:docMk/>
            <pc:sldMk cId="0" sldId="313"/>
            <ac:spMk id="10" creationId="{00000000-0000-0000-0000-000000000000}"/>
          </ac:spMkLst>
        </pc:spChg>
        <pc:spChg chg="mod">
          <ac:chgData name="Scott Hay" userId="e95d3f44-f6c0-414c-b281-41a9346c1b81" providerId="ADAL" clId="{4D76341F-F64C-4A8E-A4EF-1A11730F38E9}" dt="2026-03-01T23:10:04.359" v="9" actId="14100"/>
          <ac:spMkLst>
            <pc:docMk/>
            <pc:sldMk cId="0" sldId="313"/>
            <ac:spMk id="11" creationId="{00000000-0000-0000-0000-000000000000}"/>
          </ac:spMkLst>
        </pc:spChg>
        <pc:spChg chg="mod">
          <ac:chgData name="Scott Hay" userId="e95d3f44-f6c0-414c-b281-41a9346c1b81" providerId="ADAL" clId="{4D76341F-F64C-4A8E-A4EF-1A11730F38E9}" dt="2026-03-01T23:11:55.008" v="36" actId="27636"/>
          <ac:spMkLst>
            <pc:docMk/>
            <pc:sldMk cId="0" sldId="313"/>
            <ac:spMk id="14" creationId="{00000000-0000-0000-0000-000000000000}"/>
          </ac:spMkLst>
        </pc:spChg>
      </pc:sldChg>
      <pc:sldChg chg="modSp mod">
        <pc:chgData name="Scott Hay" userId="e95d3f44-f6c0-414c-b281-41a9346c1b81" providerId="ADAL" clId="{4D76341F-F64C-4A8E-A4EF-1A11730F38E9}" dt="2026-03-01T23:05:36.230" v="0" actId="1076"/>
        <pc:sldMkLst>
          <pc:docMk/>
          <pc:sldMk cId="0" sldId="324"/>
        </pc:sldMkLst>
        <pc:spChg chg="mod">
          <ac:chgData name="Scott Hay" userId="e95d3f44-f6c0-414c-b281-41a9346c1b81" providerId="ADAL" clId="{4D76341F-F64C-4A8E-A4EF-1A11730F38E9}" dt="2026-03-01T23:05:36.230" v="0" actId="1076"/>
          <ac:spMkLst>
            <pc:docMk/>
            <pc:sldMk cId="0" sldId="324"/>
            <ac:spMk id="3" creationId="{00000000-0000-0000-0000-000000000000}"/>
          </ac:spMkLst>
        </pc:spChg>
      </pc:sldChg>
      <pc:sldChg chg="modSp mod">
        <pc:chgData name="Scott Hay" userId="e95d3f44-f6c0-414c-b281-41a9346c1b81" providerId="ADAL" clId="{4D76341F-F64C-4A8E-A4EF-1A11730F38E9}" dt="2026-03-01T23:05:43.502" v="1" actId="1076"/>
        <pc:sldMkLst>
          <pc:docMk/>
          <pc:sldMk cId="0" sldId="328"/>
        </pc:sldMkLst>
        <pc:spChg chg="mod">
          <ac:chgData name="Scott Hay" userId="e95d3f44-f6c0-414c-b281-41a9346c1b81" providerId="ADAL" clId="{4D76341F-F64C-4A8E-A4EF-1A11730F38E9}" dt="2026-03-01T23:05:43.502" v="1" actId="1076"/>
          <ac:spMkLst>
            <pc:docMk/>
            <pc:sldMk cId="0" sldId="328"/>
            <ac:spMk id="4" creationId="{00000000-0000-0000-0000-000000000000}"/>
          </ac:spMkLst>
        </pc:spChg>
      </pc:sldChg>
      <pc:sldChg chg="modSp mod">
        <pc:chgData name="Scott Hay" userId="e95d3f44-f6c0-414c-b281-41a9346c1b81" providerId="ADAL" clId="{4D76341F-F64C-4A8E-A4EF-1A11730F38E9}" dt="2026-03-01T23:11:55.025" v="41" actId="27636"/>
        <pc:sldMkLst>
          <pc:docMk/>
          <pc:sldMk cId="0" sldId="332"/>
        </pc:sldMkLst>
        <pc:spChg chg="mod">
          <ac:chgData name="Scott Hay" userId="e95d3f44-f6c0-414c-b281-41a9346c1b81" providerId="ADAL" clId="{4D76341F-F64C-4A8E-A4EF-1A11730F38E9}" dt="2026-03-01T23:06:04.935" v="2" actId="14100"/>
          <ac:spMkLst>
            <pc:docMk/>
            <pc:sldMk cId="0" sldId="332"/>
            <ac:spMk id="3" creationId="{00000000-0000-0000-0000-000000000000}"/>
          </ac:spMkLst>
        </pc:spChg>
        <pc:spChg chg="mod">
          <ac:chgData name="Scott Hay" userId="e95d3f44-f6c0-414c-b281-41a9346c1b81" providerId="ADAL" clId="{4D76341F-F64C-4A8E-A4EF-1A11730F38E9}" dt="2026-03-01T23:11:55.017" v="39" actId="27636"/>
          <ac:spMkLst>
            <pc:docMk/>
            <pc:sldMk cId="0" sldId="332"/>
            <ac:spMk id="6" creationId="{00000000-0000-0000-0000-000000000000}"/>
          </ac:spMkLst>
        </pc:spChg>
        <pc:spChg chg="mod">
          <ac:chgData name="Scott Hay" userId="e95d3f44-f6c0-414c-b281-41a9346c1b81" providerId="ADAL" clId="{4D76341F-F64C-4A8E-A4EF-1A11730F38E9}" dt="2026-03-01T23:06:04.935" v="2" actId="14100"/>
          <ac:spMkLst>
            <pc:docMk/>
            <pc:sldMk cId="0" sldId="332"/>
            <ac:spMk id="7" creationId="{00000000-0000-0000-0000-000000000000}"/>
          </ac:spMkLst>
        </pc:spChg>
        <pc:spChg chg="mod">
          <ac:chgData name="Scott Hay" userId="e95d3f44-f6c0-414c-b281-41a9346c1b81" providerId="ADAL" clId="{4D76341F-F64C-4A8E-A4EF-1A11730F38E9}" dt="2026-03-01T23:11:55.020" v="40" actId="27636"/>
          <ac:spMkLst>
            <pc:docMk/>
            <pc:sldMk cId="0" sldId="332"/>
            <ac:spMk id="10" creationId="{00000000-0000-0000-0000-000000000000}"/>
          </ac:spMkLst>
        </pc:spChg>
        <pc:spChg chg="mod">
          <ac:chgData name="Scott Hay" userId="e95d3f44-f6c0-414c-b281-41a9346c1b81" providerId="ADAL" clId="{4D76341F-F64C-4A8E-A4EF-1A11730F38E9}" dt="2026-03-01T23:06:04.935" v="2" actId="14100"/>
          <ac:spMkLst>
            <pc:docMk/>
            <pc:sldMk cId="0" sldId="332"/>
            <ac:spMk id="11" creationId="{00000000-0000-0000-0000-000000000000}"/>
          </ac:spMkLst>
        </pc:spChg>
        <pc:spChg chg="mod">
          <ac:chgData name="Scott Hay" userId="e95d3f44-f6c0-414c-b281-41a9346c1b81" providerId="ADAL" clId="{4D76341F-F64C-4A8E-A4EF-1A11730F38E9}" dt="2026-03-01T23:11:55.025" v="41" actId="27636"/>
          <ac:spMkLst>
            <pc:docMk/>
            <pc:sldMk cId="0" sldId="332"/>
            <ac:spMk id="14" creationId="{00000000-0000-0000-0000-000000000000}"/>
          </ac:spMkLst>
        </pc:spChg>
      </pc:sldChg>
      <pc:sldChg chg="modSp mod">
        <pc:chgData name="Scott Hay" userId="e95d3f44-f6c0-414c-b281-41a9346c1b81" providerId="ADAL" clId="{4D76341F-F64C-4A8E-A4EF-1A11730F38E9}" dt="2026-03-01T23:11:55.035" v="44" actId="27636"/>
        <pc:sldMkLst>
          <pc:docMk/>
          <pc:sldMk cId="0" sldId="336"/>
        </pc:sldMkLst>
        <pc:spChg chg="mod">
          <ac:chgData name="Scott Hay" userId="e95d3f44-f6c0-414c-b281-41a9346c1b81" providerId="ADAL" clId="{4D76341F-F64C-4A8E-A4EF-1A11730F38E9}" dt="2026-03-01T23:06:58.518" v="3" actId="14100"/>
          <ac:spMkLst>
            <pc:docMk/>
            <pc:sldMk cId="0" sldId="336"/>
            <ac:spMk id="3" creationId="{00000000-0000-0000-0000-000000000000}"/>
          </ac:spMkLst>
        </pc:spChg>
        <pc:spChg chg="mod">
          <ac:chgData name="Scott Hay" userId="e95d3f44-f6c0-414c-b281-41a9346c1b81" providerId="ADAL" clId="{4D76341F-F64C-4A8E-A4EF-1A11730F38E9}" dt="2026-03-01T23:11:55.031" v="42" actId="27636"/>
          <ac:spMkLst>
            <pc:docMk/>
            <pc:sldMk cId="0" sldId="336"/>
            <ac:spMk id="6" creationId="{00000000-0000-0000-0000-000000000000}"/>
          </ac:spMkLst>
        </pc:spChg>
        <pc:spChg chg="mod">
          <ac:chgData name="Scott Hay" userId="e95d3f44-f6c0-414c-b281-41a9346c1b81" providerId="ADAL" clId="{4D76341F-F64C-4A8E-A4EF-1A11730F38E9}" dt="2026-03-01T23:06:58.518" v="3" actId="14100"/>
          <ac:spMkLst>
            <pc:docMk/>
            <pc:sldMk cId="0" sldId="336"/>
            <ac:spMk id="7" creationId="{00000000-0000-0000-0000-000000000000}"/>
          </ac:spMkLst>
        </pc:spChg>
        <pc:spChg chg="mod">
          <ac:chgData name="Scott Hay" userId="e95d3f44-f6c0-414c-b281-41a9346c1b81" providerId="ADAL" clId="{4D76341F-F64C-4A8E-A4EF-1A11730F38E9}" dt="2026-03-01T23:11:55.035" v="44" actId="27636"/>
          <ac:spMkLst>
            <pc:docMk/>
            <pc:sldMk cId="0" sldId="336"/>
            <ac:spMk id="10" creationId="{00000000-0000-0000-0000-000000000000}"/>
          </ac:spMkLst>
        </pc:spChg>
        <pc:spChg chg="mod">
          <ac:chgData name="Scott Hay" userId="e95d3f44-f6c0-414c-b281-41a9346c1b81" providerId="ADAL" clId="{4D76341F-F64C-4A8E-A4EF-1A11730F38E9}" dt="2026-03-01T23:06:58.518" v="3" actId="14100"/>
          <ac:spMkLst>
            <pc:docMk/>
            <pc:sldMk cId="0" sldId="336"/>
            <ac:spMk id="11" creationId="{00000000-0000-0000-0000-000000000000}"/>
          </ac:spMkLst>
        </pc:spChg>
        <pc:spChg chg="mod">
          <ac:chgData name="Scott Hay" userId="e95d3f44-f6c0-414c-b281-41a9346c1b81" providerId="ADAL" clId="{4D76341F-F64C-4A8E-A4EF-1A11730F38E9}" dt="2026-03-01T23:11:55.032" v="43" actId="27636"/>
          <ac:spMkLst>
            <pc:docMk/>
            <pc:sldMk cId="0" sldId="336"/>
            <ac:spMk id="14" creationId="{00000000-0000-0000-0000-000000000000}"/>
          </ac:spMkLst>
        </pc:spChg>
      </pc:sldChg>
      <pc:sldChg chg="modSp mod">
        <pc:chgData name="Scott Hay" userId="e95d3f44-f6c0-414c-b281-41a9346c1b81" providerId="ADAL" clId="{4D76341F-F64C-4A8E-A4EF-1A11730F38E9}" dt="2026-03-01T23:07:08.367" v="4" actId="1076"/>
        <pc:sldMkLst>
          <pc:docMk/>
          <pc:sldMk cId="0" sldId="338"/>
        </pc:sldMkLst>
        <pc:spChg chg="mod">
          <ac:chgData name="Scott Hay" userId="e95d3f44-f6c0-414c-b281-41a9346c1b81" providerId="ADAL" clId="{4D76341F-F64C-4A8E-A4EF-1A11730F38E9}" dt="2026-03-01T23:07:08.367" v="4" actId="1076"/>
          <ac:spMkLst>
            <pc:docMk/>
            <pc:sldMk cId="0" sldId="338"/>
            <ac:spMk id="3" creationId="{00000000-0000-0000-0000-000000000000}"/>
          </ac:spMkLst>
        </pc:spChg>
      </pc:sldChg>
      <pc:sldChg chg="modSp mod">
        <pc:chgData name="Scott Hay" userId="e95d3f44-f6c0-414c-b281-41a9346c1b81" providerId="ADAL" clId="{4D76341F-F64C-4A8E-A4EF-1A11730F38E9}" dt="2026-03-02T01:49:24.526" v="76" actId="27636"/>
        <pc:sldMkLst>
          <pc:docMk/>
          <pc:sldMk cId="0" sldId="350"/>
        </pc:sldMkLst>
        <pc:spChg chg="mod">
          <ac:chgData name="Scott Hay" userId="e95d3f44-f6c0-414c-b281-41a9346c1b81" providerId="ADAL" clId="{4D76341F-F64C-4A8E-A4EF-1A11730F38E9}" dt="2026-03-01T23:07:28.063" v="5" actId="14100"/>
          <ac:spMkLst>
            <pc:docMk/>
            <pc:sldMk cId="0" sldId="350"/>
            <ac:spMk id="3" creationId="{00000000-0000-0000-0000-000000000000}"/>
          </ac:spMkLst>
        </pc:spChg>
        <pc:spChg chg="mod">
          <ac:chgData name="Scott Hay" userId="e95d3f44-f6c0-414c-b281-41a9346c1b81" providerId="ADAL" clId="{4D76341F-F64C-4A8E-A4EF-1A11730F38E9}" dt="2026-03-01T23:11:55.044" v="46" actId="27636"/>
          <ac:spMkLst>
            <pc:docMk/>
            <pc:sldMk cId="0" sldId="350"/>
            <ac:spMk id="6" creationId="{00000000-0000-0000-0000-000000000000}"/>
          </ac:spMkLst>
        </pc:spChg>
        <pc:spChg chg="mod">
          <ac:chgData name="Scott Hay" userId="e95d3f44-f6c0-414c-b281-41a9346c1b81" providerId="ADAL" clId="{4D76341F-F64C-4A8E-A4EF-1A11730F38E9}" dt="2026-03-01T23:07:28.063" v="5" actId="14100"/>
          <ac:spMkLst>
            <pc:docMk/>
            <pc:sldMk cId="0" sldId="350"/>
            <ac:spMk id="7" creationId="{00000000-0000-0000-0000-000000000000}"/>
          </ac:spMkLst>
        </pc:spChg>
        <pc:spChg chg="mod">
          <ac:chgData name="Scott Hay" userId="e95d3f44-f6c0-414c-b281-41a9346c1b81" providerId="ADAL" clId="{4D76341F-F64C-4A8E-A4EF-1A11730F38E9}" dt="2026-03-02T01:49:24.526" v="76" actId="27636"/>
          <ac:spMkLst>
            <pc:docMk/>
            <pc:sldMk cId="0" sldId="350"/>
            <ac:spMk id="10" creationId="{00000000-0000-0000-0000-000000000000}"/>
          </ac:spMkLst>
        </pc:spChg>
        <pc:spChg chg="mod">
          <ac:chgData name="Scott Hay" userId="e95d3f44-f6c0-414c-b281-41a9346c1b81" providerId="ADAL" clId="{4D76341F-F64C-4A8E-A4EF-1A11730F38E9}" dt="2026-03-01T23:07:28.063" v="5" actId="14100"/>
          <ac:spMkLst>
            <pc:docMk/>
            <pc:sldMk cId="0" sldId="350"/>
            <ac:spMk id="11" creationId="{00000000-0000-0000-0000-000000000000}"/>
          </ac:spMkLst>
        </pc:spChg>
        <pc:spChg chg="mod">
          <ac:chgData name="Scott Hay" userId="e95d3f44-f6c0-414c-b281-41a9346c1b81" providerId="ADAL" clId="{4D76341F-F64C-4A8E-A4EF-1A11730F38E9}" dt="2026-03-01T23:11:55.042" v="45" actId="27636"/>
          <ac:spMkLst>
            <pc:docMk/>
            <pc:sldMk cId="0" sldId="350"/>
            <ac:spMk id="14" creationId="{00000000-0000-0000-0000-000000000000}"/>
          </ac:spMkLst>
        </pc:spChg>
      </pc:sldChg>
      <pc:sldChg chg="modSp mod">
        <pc:chgData name="Scott Hay" userId="e95d3f44-f6c0-414c-b281-41a9346c1b81" providerId="ADAL" clId="{4D76341F-F64C-4A8E-A4EF-1A11730F38E9}" dt="2026-03-01T23:11:55.054" v="50" actId="27636"/>
        <pc:sldMkLst>
          <pc:docMk/>
          <pc:sldMk cId="0" sldId="352"/>
        </pc:sldMkLst>
        <pc:spChg chg="mod">
          <ac:chgData name="Scott Hay" userId="e95d3f44-f6c0-414c-b281-41a9346c1b81" providerId="ADAL" clId="{4D76341F-F64C-4A8E-A4EF-1A11730F38E9}" dt="2026-03-01T23:07:37.183" v="6" actId="14100"/>
          <ac:spMkLst>
            <pc:docMk/>
            <pc:sldMk cId="0" sldId="352"/>
            <ac:spMk id="3" creationId="{00000000-0000-0000-0000-000000000000}"/>
          </ac:spMkLst>
        </pc:spChg>
        <pc:spChg chg="mod">
          <ac:chgData name="Scott Hay" userId="e95d3f44-f6c0-414c-b281-41a9346c1b81" providerId="ADAL" clId="{4D76341F-F64C-4A8E-A4EF-1A11730F38E9}" dt="2026-03-01T23:11:55.051" v="49" actId="27636"/>
          <ac:spMkLst>
            <pc:docMk/>
            <pc:sldMk cId="0" sldId="352"/>
            <ac:spMk id="6" creationId="{00000000-0000-0000-0000-000000000000}"/>
          </ac:spMkLst>
        </pc:spChg>
        <pc:spChg chg="mod">
          <ac:chgData name="Scott Hay" userId="e95d3f44-f6c0-414c-b281-41a9346c1b81" providerId="ADAL" clId="{4D76341F-F64C-4A8E-A4EF-1A11730F38E9}" dt="2026-03-01T23:07:37.183" v="6" actId="14100"/>
          <ac:spMkLst>
            <pc:docMk/>
            <pc:sldMk cId="0" sldId="352"/>
            <ac:spMk id="7" creationId="{00000000-0000-0000-0000-000000000000}"/>
          </ac:spMkLst>
        </pc:spChg>
        <pc:spChg chg="mod">
          <ac:chgData name="Scott Hay" userId="e95d3f44-f6c0-414c-b281-41a9346c1b81" providerId="ADAL" clId="{4D76341F-F64C-4A8E-A4EF-1A11730F38E9}" dt="2026-03-01T23:11:55.054" v="50" actId="27636"/>
          <ac:spMkLst>
            <pc:docMk/>
            <pc:sldMk cId="0" sldId="352"/>
            <ac:spMk id="10" creationId="{00000000-0000-0000-0000-000000000000}"/>
          </ac:spMkLst>
        </pc:spChg>
        <pc:spChg chg="mod">
          <ac:chgData name="Scott Hay" userId="e95d3f44-f6c0-414c-b281-41a9346c1b81" providerId="ADAL" clId="{4D76341F-F64C-4A8E-A4EF-1A11730F38E9}" dt="2026-03-01T23:07:37.183" v="6" actId="14100"/>
          <ac:spMkLst>
            <pc:docMk/>
            <pc:sldMk cId="0" sldId="352"/>
            <ac:spMk id="11" creationId="{00000000-0000-0000-0000-000000000000}"/>
          </ac:spMkLst>
        </pc:spChg>
        <pc:spChg chg="mod">
          <ac:chgData name="Scott Hay" userId="e95d3f44-f6c0-414c-b281-41a9346c1b81" providerId="ADAL" clId="{4D76341F-F64C-4A8E-A4EF-1A11730F38E9}" dt="2026-03-01T23:11:55.048" v="48" actId="27636"/>
          <ac:spMkLst>
            <pc:docMk/>
            <pc:sldMk cId="0" sldId="352"/>
            <ac:spMk id="14" creationId="{00000000-0000-0000-0000-000000000000}"/>
          </ac:spMkLst>
        </pc:spChg>
      </pc:sldChg>
      <pc:sldChg chg="modSp mod">
        <pc:chgData name="Scott Hay" userId="e95d3f44-f6c0-414c-b281-41a9346c1b81" providerId="ADAL" clId="{4D76341F-F64C-4A8E-A4EF-1A11730F38E9}" dt="2026-03-01T23:11:55.063" v="53" actId="27636"/>
        <pc:sldMkLst>
          <pc:docMk/>
          <pc:sldMk cId="0" sldId="357"/>
        </pc:sldMkLst>
        <pc:spChg chg="mod">
          <ac:chgData name="Scott Hay" userId="e95d3f44-f6c0-414c-b281-41a9346c1b81" providerId="ADAL" clId="{4D76341F-F64C-4A8E-A4EF-1A11730F38E9}" dt="2026-03-01T23:11:55.059" v="51" actId="27636"/>
          <ac:spMkLst>
            <pc:docMk/>
            <pc:sldMk cId="0" sldId="357"/>
            <ac:spMk id="6" creationId="{00000000-0000-0000-0000-000000000000}"/>
          </ac:spMkLst>
        </pc:spChg>
        <pc:spChg chg="mod">
          <ac:chgData name="Scott Hay" userId="e95d3f44-f6c0-414c-b281-41a9346c1b81" providerId="ADAL" clId="{4D76341F-F64C-4A8E-A4EF-1A11730F38E9}" dt="2026-03-01T23:11:55.063" v="53" actId="27636"/>
          <ac:spMkLst>
            <pc:docMk/>
            <pc:sldMk cId="0" sldId="357"/>
            <ac:spMk id="10" creationId="{00000000-0000-0000-0000-000000000000}"/>
          </ac:spMkLst>
        </pc:spChg>
        <pc:spChg chg="mod">
          <ac:chgData name="Scott Hay" userId="e95d3f44-f6c0-414c-b281-41a9346c1b81" providerId="ADAL" clId="{4D76341F-F64C-4A8E-A4EF-1A11730F38E9}" dt="2026-03-01T23:11:55.061" v="52" actId="27636"/>
          <ac:spMkLst>
            <pc:docMk/>
            <pc:sldMk cId="0" sldId="357"/>
            <ac:spMk id="14" creationId="{00000000-0000-0000-0000-000000000000}"/>
          </ac:spMkLst>
        </pc:spChg>
      </pc:sldChg>
      <pc:sldChg chg="modSp mod">
        <pc:chgData name="Scott Hay" userId="e95d3f44-f6c0-414c-b281-41a9346c1b81" providerId="ADAL" clId="{4D76341F-F64C-4A8E-A4EF-1A11730F38E9}" dt="2026-03-01T23:11:55.075" v="56" actId="27636"/>
        <pc:sldMkLst>
          <pc:docMk/>
          <pc:sldMk cId="0" sldId="366"/>
        </pc:sldMkLst>
        <pc:spChg chg="mod">
          <ac:chgData name="Scott Hay" userId="e95d3f44-f6c0-414c-b281-41a9346c1b81" providerId="ADAL" clId="{4D76341F-F64C-4A8E-A4EF-1A11730F38E9}" dt="2026-03-01T23:08:13.248" v="7" actId="14100"/>
          <ac:spMkLst>
            <pc:docMk/>
            <pc:sldMk cId="0" sldId="366"/>
            <ac:spMk id="3" creationId="{00000000-0000-0000-0000-000000000000}"/>
          </ac:spMkLst>
        </pc:spChg>
        <pc:spChg chg="mod">
          <ac:chgData name="Scott Hay" userId="e95d3f44-f6c0-414c-b281-41a9346c1b81" providerId="ADAL" clId="{4D76341F-F64C-4A8E-A4EF-1A11730F38E9}" dt="2026-03-01T23:11:55.075" v="56" actId="27636"/>
          <ac:spMkLst>
            <pc:docMk/>
            <pc:sldMk cId="0" sldId="366"/>
            <ac:spMk id="6" creationId="{00000000-0000-0000-0000-000000000000}"/>
          </ac:spMkLst>
        </pc:spChg>
        <pc:spChg chg="mod">
          <ac:chgData name="Scott Hay" userId="e95d3f44-f6c0-414c-b281-41a9346c1b81" providerId="ADAL" clId="{4D76341F-F64C-4A8E-A4EF-1A11730F38E9}" dt="2026-03-01T23:08:13.248" v="7" actId="14100"/>
          <ac:spMkLst>
            <pc:docMk/>
            <pc:sldMk cId="0" sldId="366"/>
            <ac:spMk id="7" creationId="{00000000-0000-0000-0000-000000000000}"/>
          </ac:spMkLst>
        </pc:spChg>
        <pc:spChg chg="mod">
          <ac:chgData name="Scott Hay" userId="e95d3f44-f6c0-414c-b281-41a9346c1b81" providerId="ADAL" clId="{4D76341F-F64C-4A8E-A4EF-1A11730F38E9}" dt="2026-03-01T23:11:55.069" v="54" actId="27636"/>
          <ac:spMkLst>
            <pc:docMk/>
            <pc:sldMk cId="0" sldId="366"/>
            <ac:spMk id="10" creationId="{00000000-0000-0000-0000-000000000000}"/>
          </ac:spMkLst>
        </pc:spChg>
        <pc:spChg chg="mod">
          <ac:chgData name="Scott Hay" userId="e95d3f44-f6c0-414c-b281-41a9346c1b81" providerId="ADAL" clId="{4D76341F-F64C-4A8E-A4EF-1A11730F38E9}" dt="2026-03-01T23:08:13.248" v="7" actId="14100"/>
          <ac:spMkLst>
            <pc:docMk/>
            <pc:sldMk cId="0" sldId="366"/>
            <ac:spMk id="11" creationId="{00000000-0000-0000-0000-000000000000}"/>
          </ac:spMkLst>
        </pc:spChg>
        <pc:spChg chg="mod">
          <ac:chgData name="Scott Hay" userId="e95d3f44-f6c0-414c-b281-41a9346c1b81" providerId="ADAL" clId="{4D76341F-F64C-4A8E-A4EF-1A11730F38E9}" dt="2026-03-01T23:11:55.073" v="55" actId="27636"/>
          <ac:spMkLst>
            <pc:docMk/>
            <pc:sldMk cId="0" sldId="366"/>
            <ac:spMk id="14" creationId="{00000000-0000-0000-0000-000000000000}"/>
          </ac:spMkLst>
        </pc:spChg>
      </pc:sldChg>
      <pc:sldChg chg="modSp mod">
        <pc:chgData name="Scott Hay" userId="e95d3f44-f6c0-414c-b281-41a9346c1b81" providerId="ADAL" clId="{4D76341F-F64C-4A8E-A4EF-1A11730F38E9}" dt="2026-03-01T23:09:12.678" v="8" actId="207"/>
        <pc:sldMkLst>
          <pc:docMk/>
          <pc:sldMk cId="0" sldId="369"/>
        </pc:sldMkLst>
        <pc:spChg chg="mod">
          <ac:chgData name="Scott Hay" userId="e95d3f44-f6c0-414c-b281-41a9346c1b81" providerId="ADAL" clId="{4D76341F-F64C-4A8E-A4EF-1A11730F38E9}" dt="2026-03-01T23:09:12.678" v="8" actId="207"/>
          <ac:spMkLst>
            <pc:docMk/>
            <pc:sldMk cId="0" sldId="369"/>
            <ac:spMk id="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303013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2 min</a:t>
            </a:r>
          </a:p>
          <a:p>
            <a:endParaRPr/>
          </a:p>
          <a:p>
            <a:r>
              <a:t>OPEN WITH:</a:t>
            </a:r>
          </a:p>
          <a:p>
            <a:r>
              <a:t>   Welcome to Day 2! Yesterday you learned to talk to Claude - today you'll learn to build with it. By the end of this session, Claude Code will feel like having a senior developer pair programming with you.</a:t>
            </a:r>
          </a:p>
          <a:p>
            <a:endParaRPr/>
          </a:p>
          <a:p>
            <a:r>
              <a:t>KEY POINTS:</a:t>
            </a:r>
          </a:p>
          <a:p>
            <a:r>
              <a:t>   * Today is all about the Claude Code CLI - a completely different tool than claude.ai</a:t>
            </a:r>
          </a:p>
          <a:p>
            <a:r>
              <a:t>   * This is not autocomplete like Copilot, and it's not a chatbot - it's an autonomous agent that reads your codebase and makes coordinated changes</a:t>
            </a:r>
          </a:p>
          <a:p>
            <a:r>
              <a:t>   * You'll get hands-on with two real labs today - building actual features, not toy examples</a:t>
            </a:r>
          </a:p>
          <a:p>
            <a:r>
              <a:t>   * We're going from zero to productive in 6 hours</a:t>
            </a:r>
          </a:p>
          <a:p>
            <a:endParaRPr/>
          </a:p>
          <a:p>
            <a:r>
              <a:t>REAL-WORLD EXAMPLE:</a:t>
            </a:r>
          </a:p>
          <a:p>
            <a:r>
              <a:t>   One of our developers used Claude Code last week to refactor 47 files in a legacy codebase in under 30 minutes - something that would have taken days manually. That's the power we're unlocking today.</a:t>
            </a:r>
          </a:p>
          <a:p>
            <a:endParaRPr/>
          </a:p>
          <a:p>
            <a:r>
              <a:t>TRANSITION:</a:t>
            </a:r>
          </a:p>
          <a:p>
            <a:r>
              <a:t>   Let's look at what we're covering today</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2 min</a:t>
            </a:r>
          </a:p>
          <a:p>
            <a:endParaRPr/>
          </a:p>
          <a:p>
            <a:r>
              <a:t>OPEN WITH:</a:t>
            </a:r>
          </a:p>
          <a:p>
            <a:r>
              <a:t>   This is a packed day, but every minute is hands-on and practical - no theoretical fluff.</a:t>
            </a:r>
          </a:p>
          <a:p>
            <a:endParaRPr/>
          </a:p>
          <a:p>
            <a:r>
              <a:t>KEY POINTS:</a:t>
            </a:r>
          </a:p>
          <a:p>
            <a:r>
              <a:t>   * Morning focuses on understanding how Claude Code thinks and works - the agentic loop is the key mental model you need</a:t>
            </a:r>
          </a:p>
          <a:p>
            <a:r>
              <a:t>   * We'll cover context management heavily because that's where most people struggle initially</a:t>
            </a:r>
          </a:p>
          <a:p>
            <a:r>
              <a:t>   * Afternoon is all about power user features - commands, security, Git integration, and real workflows</a:t>
            </a:r>
          </a:p>
          <a:p>
            <a:r>
              <a:t>   * Two full labs give you hands-on time to cement these concepts with real code</a:t>
            </a:r>
          </a:p>
          <a:p>
            <a:endParaRPr/>
          </a:p>
          <a:p>
            <a:r>
              <a:t>REAL-WORLD EXAMPLE:</a:t>
            </a:r>
          </a:p>
          <a:p>
            <a:r>
              <a:t>   I've trained over 200 developers on Claude Code. The ones who grasp the agentic loop in the morning hit the ground running. The ones who skip it struggle for weeks.</a:t>
            </a:r>
          </a:p>
          <a:p>
            <a:endParaRPr/>
          </a:p>
          <a:p>
            <a:r>
              <a:t>TRANSITION:</a:t>
            </a:r>
          </a:p>
          <a:p>
            <a:r>
              <a:t>   Let's talk about what you'll actually be able to do by end of day</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3 min</a:t>
            </a:r>
          </a:p>
          <a:p>
            <a:endParaRPr/>
          </a:p>
          <a:p>
            <a:r>
              <a:t>OPEN WITH:</a:t>
            </a:r>
          </a:p>
          <a:p>
            <a:r>
              <a:t>   Nine objectives today. This might look intimidating, but they build on each other logically. By lunch you'll have five of these checked off.</a:t>
            </a:r>
          </a:p>
          <a:p>
            <a:endParaRPr/>
          </a:p>
          <a:p>
            <a:r>
              <a:t>KEY POINTS:</a:t>
            </a:r>
          </a:p>
          <a:p>
            <a:r>
              <a:t>   * Objectives one through four are morning content - installation, the core mental model, configuration, and context control</a:t>
            </a:r>
          </a:p>
          <a:p>
            <a:r>
              <a:t>   * Objectives five through seven are power user territory - optimization, commands, and security</a:t>
            </a:r>
          </a:p>
          <a:p>
            <a:r>
              <a:t>   * The last two objectives are about real workflows - this is where it clicks and becomes part of your daily toolkit</a:t>
            </a:r>
          </a:p>
          <a:p>
            <a:r>
              <a:t>   * Every single one of these objectives will be practiced in the labs, not just lectured about</a:t>
            </a:r>
          </a:p>
          <a:p>
            <a:endParaRPr/>
          </a:p>
          <a:p>
            <a:r>
              <a:t>ASK THE CLASS:</a:t>
            </a:r>
          </a:p>
          <a:p>
            <a:r>
              <a:t>   "Quick show of hands - how many of you have used GitHub Copilot or similar autocomplete tools? Keep those hands up if you think Claude Code will be similar. Okay, let's challenge that assumption today."</a:t>
            </a:r>
          </a:p>
          <a:p>
            <a:r>
              <a:t>   [PAUSE for 30-60 seconds]</a:t>
            </a:r>
          </a:p>
          <a:p>
            <a:endParaRPr/>
          </a:p>
          <a:p>
            <a:r>
              <a:t>REAL-WORLD EXAMPLE:</a:t>
            </a:r>
          </a:p>
          <a:p>
            <a:r>
              <a:t>   A frontend developer in our last cohort had never touched the backend codebase. After this training, she used Claude Code to add three new API endpoints with full test coverage. The backend team approved her PR with zero change requests.</a:t>
            </a:r>
          </a:p>
          <a:p>
            <a:endParaRPr/>
          </a:p>
          <a:p>
            <a:r>
              <a:t>TRANSITION:</a:t>
            </a:r>
          </a:p>
          <a:p>
            <a:r>
              <a:t>   Here's what you'll actually build today</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2 min</a:t>
            </a:r>
          </a:p>
          <a:p>
            <a:endParaRPr/>
          </a:p>
          <a:p>
            <a:r>
              <a:t>OPEN WITH:</a:t>
            </a:r>
          </a:p>
          <a:p>
            <a:r>
              <a:t>   These aren't tutorial projects. These are the exact types of tasks you'll do next week at your desk.</a:t>
            </a:r>
          </a:p>
          <a:p>
            <a:endParaRPr/>
          </a:p>
          <a:p>
            <a:r>
              <a:t>KEY POINTS:</a:t>
            </a:r>
          </a:p>
          <a:p>
            <a:r>
              <a:t>   * Lab 1 mirrors a typical debugging session - something's broken, you need to find it, fix it, test it, and document the fix</a:t>
            </a:r>
          </a:p>
          <a:p>
            <a:r>
              <a:t>   * Lab 2 is a complete feature workflow from start to finish - exactly what you'd do for a real ticket</a:t>
            </a:r>
          </a:p>
          <a:p>
            <a:r>
              <a:t>   * The bonus items are yours to keep and customize for your actual projects - these become templates you reuse constantly</a:t>
            </a:r>
          </a:p>
          <a:p>
            <a:r>
              <a:t>   * You'll leave today with working code you wrote, committed, and pushed to Git</a:t>
            </a:r>
          </a:p>
          <a:p>
            <a:endParaRPr/>
          </a:p>
          <a:p>
            <a:r>
              <a:t>REAL-WORLD EXAMPLE:</a:t>
            </a:r>
          </a:p>
          <a:p>
            <a:r>
              <a:t>   Last month, a student took the CLAUDE.md template from this class, customized it for their React Native project, and saw their development velocity increase by 40% in the first week. The team adopted it company-wide two weeks later.</a:t>
            </a:r>
          </a:p>
          <a:p>
            <a:endParaRPr/>
          </a:p>
          <a:p>
            <a:r>
              <a:t>TRANSITION:</a:t>
            </a:r>
          </a:p>
          <a:p>
            <a:r>
              <a:t>   Before we dive into installation, let's make sure we're all on the same page about what Claude Code actually is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3 min</a:t>
            </a:r>
          </a:p>
          <a:p>
            <a:endParaRPr/>
          </a:p>
          <a:p>
            <a:r>
              <a:t>OPEN WITH:</a:t>
            </a:r>
          </a:p>
          <a:p>
            <a:r>
              <a:t>   Yesterday you learned to talk to Claude. Today you learn to delegate to Claude. That's the fundamental shift. Browser Claude is like a helpful intern you micromanage — you copy-paste context, structure every request, hold its hand through each step. Claude Code is an autonomous teammate you delegate to. You say 'add authentication to this API' and it reads your codebase, understands your patterns, writes the code, runs the tests, and commits the result.</a:t>
            </a:r>
          </a:p>
          <a:p>
            <a:endParaRPr/>
          </a:p>
          <a:p>
            <a:r>
              <a:t>KEY POINTS:</a:t>
            </a:r>
          </a:p>
          <a:p>
            <a:r>
              <a:t>   * Browser Claude requires you to provide all context manually — Claude Code reads your entire project automatically</a:t>
            </a:r>
          </a:p>
          <a:p>
            <a:r>
              <a:t>   * Browser Claude works in one conversation — Claude Code works across your entire file system</a:t>
            </a:r>
          </a:p>
          <a:p>
            <a:r>
              <a:t>   * The mental model shift: from 'how do I prompt this?' to 'how do I delegate this?'</a:t>
            </a:r>
          </a:p>
          <a:p>
            <a:r>
              <a:t>   * Source: Mohit Aggarwal's 'Claude Code for Product Managers' — even non-engineers use Claude Code for competitive analysis, PRDs, prototyping</a:t>
            </a:r>
          </a:p>
          <a:p>
            <a:r>
              <a:t>   * Enterprise adoption is accelerating: TELUS (57,000 employees) reported 500,000 hours saved and $90M+ in benefit from AI coding tools. Zapier built 800+ internal AI agents with 89% employee adoption.</a:t>
            </a:r>
          </a:p>
          <a:p>
            <a:r>
              <a:t>   * Bridgewater Associates achieved 50-70% faster reporting cycles using AI-assisted development.</a:t>
            </a:r>
          </a:p>
          <a:p>
            <a:r>
              <a:t>   * By August 2025, Anthropic reported over 300,000 business customers — this is mainstream, not experimental.</a:t>
            </a:r>
          </a:p>
          <a:p>
            <a:endParaRPr/>
          </a:p>
          <a:p>
            <a:r>
              <a:t>ASK THE CLASS:</a:t>
            </a:r>
          </a:p>
          <a:p>
            <a:r>
              <a:t>   "How many hours per week do you spend copy-pasting context into AI tools? What if that went to zero?"</a:t>
            </a:r>
          </a:p>
          <a:p>
            <a:r>
              <a:t>   [PAUSE for 30-60 seconds]</a:t>
            </a:r>
          </a:p>
          <a:p>
            <a:endParaRPr/>
          </a:p>
          <a:p>
            <a:r>
              <a:t>REAL-WORLD EXAMPLE:</a:t>
            </a:r>
          </a:p>
          <a:p>
            <a:r>
              <a:t>   A PM creates a folder with competitors.md, analysis-template.md, and CLAUDE.md with instructions. Types 'analyse competitors' — Claude Code does the research automatically using folder context. No copy-pasting.</a:t>
            </a:r>
          </a:p>
          <a:p>
            <a:endParaRPr/>
          </a:p>
          <a:p>
            <a:r>
              <a:t>TRANSITION:</a:t>
            </a:r>
          </a:p>
          <a:p>
            <a:r>
              <a:t>   Let's get Claude Code installed so you can experience this shift firsthand.</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3 min</a:t>
            </a:r>
          </a:p>
          <a:p>
            <a:endParaRPr/>
          </a:p>
          <a:p>
            <a:r>
              <a:t>OPEN WITH:</a:t>
            </a:r>
          </a:p>
          <a:p>
            <a:r>
              <a:t>   Before we dive in, let's set expectations. Claude Code is incredibly powerful, but it's not replacing your engineering team. Think of it as letting you validate before consuming engineering resources.</a:t>
            </a:r>
          </a:p>
          <a:p>
            <a:endParaRPr/>
          </a:p>
          <a:p>
            <a:r>
              <a:t>KEY POINTS:</a:t>
            </a:r>
          </a:p>
          <a:p>
            <a:r>
              <a:t>   * Claude Code lets non-engineers prototype ideas in hours instead of waiting weeks for engineering estimates</a:t>
            </a:r>
          </a:p>
          <a:p>
            <a:r>
              <a:t>   * A PM built a working Chrome extension prototype in 2 hours — showed the CEO a working demo instead of a spec doc</a:t>
            </a:r>
          </a:p>
          <a:p>
            <a:r>
              <a:t>   * Engineering loved it: clear requirements from a working prototype, estimate dropped from 3 weeks to 1 week</a:t>
            </a:r>
          </a:p>
          <a:p>
            <a:r>
              <a:t>   * The key quote: 'Show rather than tell. Prove feasibility before asking engineering to estimate.'</a:t>
            </a:r>
          </a:p>
          <a:p>
            <a:r>
              <a:t>   * Total: 2 hours of PM time saved 20 hours of back-and-forth between PM, design, and engineering</a:t>
            </a:r>
          </a:p>
          <a:p>
            <a:r>
              <a:t>   * According to industry data, 40-60% of organizational code output is now AI-generated. The question isn't whether to adopt — it's whether to adopt intentionally or let shadow AI proliferate.</a:t>
            </a:r>
          </a:p>
          <a:p>
            <a:r>
              <a:t>   * TELUS reported $90M+ in benefit — and that's one company. The ROI of structured AI adoption is now well-documented across industries.</a:t>
            </a:r>
          </a:p>
          <a:p>
            <a:endParaRPr/>
          </a:p>
          <a:p>
            <a:r>
              <a:t>ASK THE CLASS:</a:t>
            </a:r>
          </a:p>
          <a:p>
            <a:r>
              <a:t>   "Have you ever had an idea killed in committee that might have survived if you could show a working prototype?"</a:t>
            </a:r>
          </a:p>
          <a:p>
            <a:r>
              <a:t>   [PAUSE for 30-60 seconds]</a:t>
            </a:r>
          </a:p>
          <a:p>
            <a:endParaRPr/>
          </a:p>
          <a:p>
            <a:r>
              <a:t>REAL-WORLD EXAMPLE:</a:t>
            </a:r>
          </a:p>
          <a:p>
            <a:r>
              <a:t>   CEO asks 'can we build X?' — PM prototypes in 2 hours with Claude Code — shows CEO working demo — engineering sees clear requirements — estimate drops from 3 weeks to 1 week.</a:t>
            </a:r>
          </a:p>
          <a:p>
            <a:endParaRPr/>
          </a:p>
          <a:p>
            <a:r>
              <a:t>TRANSITION:</a:t>
            </a:r>
          </a:p>
          <a:p>
            <a:r>
              <a:t>   Now let's get set up so you can start building prototypes like this.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3 min</a:t>
            </a:r>
          </a:p>
          <a:p>
            <a:endParaRPr/>
          </a:p>
          <a:p>
            <a:r>
              <a:t>OPEN WITH:</a:t>
            </a:r>
          </a:p>
          <a:p>
            <a:r>
              <a:t>   Let's address the elephant in the room: how does Claude Code compare to Copilot, Cursor, and Amazon Q? They're not the same category of tool.</a:t>
            </a:r>
          </a:p>
          <a:p>
            <a:endParaRPr/>
          </a:p>
          <a:p>
            <a:r>
              <a:t>KEY POINTS:</a:t>
            </a:r>
          </a:p>
          <a:p>
            <a:r>
              <a:t>   * GitHub Copilot is an autocomplete engine — it predicts your next line. Claude Code is an autonomous agent that reads your codebase, plans changes, executes them, and verifies results.</a:t>
            </a:r>
          </a:p>
          <a:p>
            <a:r>
              <a:t>   * Cursor embeds AI into your IDE for multi-file editing — powerful, but still reactive. Claude Code is proactive: it runs tools, manages context, and orchestrates workflows.</a:t>
            </a:r>
          </a:p>
          <a:p>
            <a:r>
              <a:t>   * Amazon Q is strong for AWS migrations and cloud-specific tasks, but lacks the general-purpose agentic capabilities of Claude Code.</a:t>
            </a:r>
          </a:p>
          <a:p>
            <a:r>
              <a:t>   * The real differentiator: agentic workflows, persistent memory (CLAUDE.md), multi-agent orchestration, hooks for safety, MCP for external integrations, and plan mode for complex tasks.</a:t>
            </a:r>
          </a:p>
          <a:p>
            <a:r>
              <a:t>   * Key positioning: 'Copilot autocompletes your lines. Claude Code runs your project.' This is the gap nobody teaches — and it's what this course fills.</a:t>
            </a:r>
          </a:p>
          <a:p>
            <a:endParaRPr/>
          </a:p>
          <a:p>
            <a:r>
              <a:t>ASK THE CLASS:</a:t>
            </a:r>
          </a:p>
          <a:p>
            <a:r>
              <a:t>   "How many of you use Copilot today? What tasks does it handle well, and where do you hit limits?"</a:t>
            </a:r>
          </a:p>
          <a:p>
            <a:r>
              <a:t>   [PAUSE for 30-60 seconds]</a:t>
            </a:r>
          </a:p>
          <a:p>
            <a:endParaRPr/>
          </a:p>
          <a:p>
            <a:r>
              <a:t>REAL-WORLD EXAMPLE:</a:t>
            </a:r>
          </a:p>
          <a:p>
            <a:r>
              <a:t>   A team switched from Copilot to Claude Code for a legacy migration. Copilot could suggest individual function rewrites. Claude Code read the entire legacy module, planned a migration strategy across 15 files, executed the changes, ran tests, and committed — all in one session.</a:t>
            </a:r>
          </a:p>
          <a:p>
            <a:endParaRPr/>
          </a:p>
          <a:p>
            <a:r>
              <a:t>TRANSITION:</a:t>
            </a:r>
          </a:p>
          <a:p>
            <a:r>
              <a:t>   Now that you understand what makes Claude Code different, let's explore the memory architecture that powers it.</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4 min</a:t>
            </a:r>
          </a:p>
          <a:p>
            <a:endParaRPr/>
          </a:p>
          <a:p>
            <a:r>
              <a:t>OPEN WITH:</a:t>
            </a:r>
          </a:p>
          <a:p>
            <a:r>
              <a:t>   Before we touch a single tool, I want to give you a mental model that makes everything else today click. You can hold about seven things in working memory. Try to juggle fifteen and you start dropping things. Claude's context window works exactly the same way — task four in a marathon session doesn't get the same attention as task one.</a:t>
            </a:r>
          </a:p>
          <a:p>
            <a:endParaRPr/>
          </a:p>
          <a:p>
            <a:r>
              <a:t>KEY POINTS:</a:t>
            </a:r>
          </a:p>
          <a:p>
            <a:r>
              <a:t>   * Working memory → Context window: Both degrade under load. This is why session hygiene matters — you'll learn /clear as your most important command.</a:t>
            </a:r>
          </a:p>
          <a:p>
            <a:r>
              <a:t>   * Short-term → Session history: When you study, you move important things from short-term to long-term memory through notes. Claude is the same — if you don't write it to CLAUDE.md or memory files, it's gone next session.</a:t>
            </a:r>
          </a:p>
          <a:p>
            <a:r>
              <a:t>   * Long-term → CLAUDE.md / RAG / files: RAG is like searching your own memory. Quality depends on what you stored and how well it's indexed. CLAUDE.md is your most reliable long-term memory for Claude.</a:t>
            </a:r>
          </a:p>
          <a:p>
            <a:r>
              <a:t>   * Muscle memory → Skills / custom commands: Just like you don't consciously think about typing, skills and commands let Claude execute patterns without you re-explaining them every time.</a:t>
            </a:r>
          </a:p>
          <a:p>
            <a:r>
              <a:t>   * Scott's framing: Context window is short-term memory. RAG is long-term memory.</a:t>
            </a:r>
          </a:p>
          <a:p>
            <a:r>
              <a:t>   * Everything that follows today — CLAUDE.md, /clear, session hygiene, context management, skills — connects back to this model.</a:t>
            </a:r>
          </a:p>
          <a:p>
            <a:endParaRPr/>
          </a:p>
          <a:p>
            <a:r>
              <a:t>ASK THE CLASS:</a:t>
            </a:r>
          </a:p>
          <a:p>
            <a:r>
              <a:t>   "Think about how you study for an exam. You review notes repeatedly to move them from short-term to long-term memory. How would you do the same for Claude?"</a:t>
            </a:r>
          </a:p>
          <a:p>
            <a:r>
              <a:t>   [PAUSE for 30-60 seconds]</a:t>
            </a:r>
          </a:p>
          <a:p>
            <a:endParaRPr/>
          </a:p>
          <a:p>
            <a:r>
              <a:t>REAL-WORLD EXAMPLE:</a:t>
            </a:r>
          </a:p>
          <a:p>
            <a:r>
              <a:t>   A developer starts a new Claude Code session. Claude knows nothing about the project. Then it reads CLAUDE.md — suddenly it knows the tech stack, conventions, team patterns. That's long-term memory loading into working memory. The developer uses @ mentions to add specific files — that's selective recall. By the end of the session, Claude has rich context. But if they don't /clear before the next task, all that context is still there, competing for attention.</a:t>
            </a:r>
          </a:p>
          <a:p>
            <a:endParaRPr/>
          </a:p>
          <a:p>
            <a:r>
              <a:t>TRANSITION:</a:t>
            </a:r>
          </a:p>
          <a:p>
            <a:r>
              <a:t>   With this model in mind, let's get Claude Code installed and see these memory systems in action.</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1 min</a:t>
            </a:r>
          </a:p>
          <a:p>
            <a:endParaRPr/>
          </a:p>
          <a:p>
            <a:r>
              <a:t>OPEN WITH:</a:t>
            </a:r>
          </a:p>
          <a:p>
            <a:r>
              <a:t>   Installation is quick, but configuration is where the magic happens. We'll do both.</a:t>
            </a:r>
          </a:p>
          <a:p>
            <a:endParaRPr/>
          </a:p>
          <a:p>
            <a:r>
              <a:t>KEY POINTS:</a:t>
            </a:r>
          </a:p>
          <a:p>
            <a:r>
              <a:t>   * Most of you will be up and running in 5 minutes</a:t>
            </a:r>
          </a:p>
          <a:p>
            <a:r>
              <a:t>   * The remaining 25 minutes is about configuration, API keys, and your first successful command</a:t>
            </a:r>
          </a:p>
          <a:p>
            <a:r>
              <a:t>   * If you hit any issues, flag me immediately - we're not moving forward until everyone is working</a:t>
            </a:r>
          </a:p>
          <a:p>
            <a:endParaRPr/>
          </a:p>
          <a:p>
            <a:r>
              <a:t>TRANSITION:</a:t>
            </a:r>
          </a:p>
          <a:p>
            <a:r>
              <a:t>   First, let's check if your machine is ready</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3 min</a:t>
            </a:r>
          </a:p>
          <a:p>
            <a:endParaRPr/>
          </a:p>
          <a:p>
            <a:r>
              <a:t>OPEN WITH:</a:t>
            </a:r>
          </a:p>
          <a:p>
            <a:r>
              <a:t>   Everyone pull up a terminal right now and type 'node --version' - I'll wait. If you see a number starting with 18, 20, or 22, you're golden.</a:t>
            </a:r>
          </a:p>
          <a:p>
            <a:endParaRPr/>
          </a:p>
          <a:p>
            <a:r>
              <a:t>KEY POINTS:</a:t>
            </a:r>
          </a:p>
          <a:p>
            <a:r>
              <a:t>   * Node.js is the only hard requirement - Claude Code is distributed as an npm package. If you don't have Node 18 or higher, download it from nodejs.org right now.</a:t>
            </a:r>
          </a:p>
          <a:p>
            <a:r>
              <a:t>   * Git is technically optional but practically required - almost everything we do today involves version control, so make sure you have Git installed and configured.</a:t>
            </a:r>
          </a:p>
          <a:p>
            <a:r>
              <a:t>   * Windows users must use WSL2, not native Windows - Claude Code relies on Unix-like shell behavior. If you're on Windows and haven't set up WSL2, see me during the break.</a:t>
            </a:r>
          </a:p>
          <a:p>
            <a:r>
              <a:t>   * The 4GB RAM recommendation is conservative - Claude Code itself is lightweight, but you'll likely have your editor, browser, and other tools open simultaneously</a:t>
            </a:r>
          </a:p>
          <a:p>
            <a:endParaRPr/>
          </a:p>
          <a:p>
            <a:r>
              <a:t>ASK THE CLASS:</a:t>
            </a:r>
          </a:p>
          <a:p>
            <a:r>
              <a:t>   "Anyone stuck on the Node or Git version check? Speak up now - we'll get you sorted."</a:t>
            </a:r>
          </a:p>
          <a:p>
            <a:r>
              <a:t>   [PAUSE for 30-60 seconds]</a:t>
            </a:r>
          </a:p>
          <a:p>
            <a:endParaRPr/>
          </a:p>
          <a:p>
            <a:r>
              <a:t>REAL-WORLD EXAMPLE:</a:t>
            </a:r>
          </a:p>
          <a:p>
            <a:r>
              <a:t>   I've had students try to run Claude Code on Node 16 and wonder why commands fail intermittently. The minimum version exists for a reason - async behavior and module resolution changed significantly in Node 18.</a:t>
            </a:r>
          </a:p>
          <a:p>
            <a:endParaRPr/>
          </a:p>
          <a:p>
            <a:r>
              <a:t>TRANSITION:</a:t>
            </a:r>
          </a:p>
          <a:p>
            <a:r>
              <a:t>   Assuming we're all good on requirements, let's install Claude Code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4 min</a:t>
            </a:r>
          </a:p>
          <a:p>
            <a:endParaRPr/>
          </a:p>
          <a:p>
            <a:r>
              <a:t>OPEN WITH:</a:t>
            </a:r>
          </a:p>
          <a:p>
            <a:r>
              <a:t>   Three ways to install, but I'm going to tell you which one to use: npm global install. Here's why.</a:t>
            </a:r>
          </a:p>
          <a:p>
            <a:endParaRPr/>
          </a:p>
          <a:p>
            <a:r>
              <a:t>KEY POINTS:</a:t>
            </a:r>
          </a:p>
          <a:p>
            <a:r>
              <a:t>   * The npm global install gives you the 'claude' command available everywhere in your terminal - this is what 99% of developers use daily because it's simple and persistent.</a:t>
            </a:r>
          </a:p>
          <a:p>
            <a:r>
              <a:t>   * Homebrew is great if you're already a brew user, but it sometimes lags behind npm releases by a few days. I use brew for everything else, but npm for Claude Code.</a:t>
            </a:r>
          </a:p>
          <a:p>
            <a:r>
              <a:t>   * The npx method is perfect for testing or CI/CD environments where you always want the latest version, but it's slower for daily use because it has to download and verify on every run.</a:t>
            </a:r>
          </a:p>
          <a:p>
            <a:r>
              <a:t>   * After installation, verify with 'claude --version' - you should see something like '2.1.4' or higher</a:t>
            </a:r>
          </a:p>
          <a:p>
            <a:r>
              <a:t>   * If 'claude --version' returns 'command not found', your npm global bin directory isn't in your PATH - we'll fix that in the next 60 seconds</a:t>
            </a:r>
          </a:p>
          <a:p>
            <a:endParaRPr/>
          </a:p>
          <a:p>
            <a:r>
              <a:t>ASK THE CLASS:</a:t>
            </a:r>
          </a:p>
          <a:p>
            <a:r>
              <a:t>   "Who's installing right now? Give me a thumbs up in chat when you see a version number."</a:t>
            </a:r>
          </a:p>
          <a:p>
            <a:r>
              <a:t>   [PAUSE for 30-60 seconds]</a:t>
            </a:r>
          </a:p>
          <a:p>
            <a:endParaRPr/>
          </a:p>
          <a:p>
            <a:r>
              <a:t>REAL-WORLD EXAMPLE:</a:t>
            </a:r>
          </a:p>
          <a:p>
            <a:r>
              <a:t>   I installed via npm global on day one and haven't thought about it since - it just works. One of my colleagues uses npx exclusively because he wants bleeding-edge features immediately, but he pays the 2-second startup penalty every time.</a:t>
            </a:r>
          </a:p>
          <a:p>
            <a:endParaRPr/>
          </a:p>
          <a:p>
            <a:r>
              <a:t>TRANSITION:</a:t>
            </a:r>
          </a:p>
          <a:p>
            <a:r>
              <a:t>   You've got the CLI installed - now let's authenticate it</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3 min</a:t>
            </a:r>
          </a:p>
          <a:p>
            <a:endParaRPr/>
          </a:p>
          <a:p>
            <a:r>
              <a:t>OPEN WITH:</a:t>
            </a:r>
          </a:p>
          <a:p>
            <a:r>
              <a:t>   Most people think Claude Code means the terminal. That's one way. There's also Claude Code Desktop — a GUI built right into the Claude Desktop app. Click the Code tab in the sidebar, pick your project folder, choose your model, and start prompting. Same engine, different interface.</a:t>
            </a:r>
          </a:p>
          <a:p>
            <a:endParaRPr/>
          </a:p>
          <a:p>
            <a:r>
              <a:t>KEY POINTS:</a:t>
            </a:r>
          </a:p>
          <a:p>
            <a:r>
              <a:t>   * Claude Code Desktop launched as a preview feature inside the Claude Desktop app</a:t>
            </a:r>
          </a:p>
          <a:p>
            <a:r>
              <a:t>   * The Code tab in the sidebar gives you: folder selection dropdown, environment controls (local or cloud), model picker, and three starter templates</a:t>
            </a:r>
          </a:p>
          <a:p>
            <a:r>
              <a:t>   * Starter templates: Create/update CLAUDE.md, search for TODOs and fix them, recommend improvements</a:t>
            </a:r>
          </a:p>
          <a:p>
            <a:r>
              <a:t>   * Real-time code visibility — watch files being written as Claude works</a:t>
            </a:r>
          </a:p>
          <a:p>
            <a:r>
              <a:t>   * One-click VS Code integration — open any file directly from the interface</a:t>
            </a:r>
          </a:p>
          <a:p>
            <a:r>
              <a:t>   * Same underlying engine as terminal Claude Code — identical capabilities</a:t>
            </a:r>
          </a:p>
          <a:p>
            <a:r>
              <a:t>   * Important caveat: still in preview. Can freeze on memory-intensive tasks in large projects. Run as admin if you hit freezing issues.</a:t>
            </a:r>
          </a:p>
          <a:p>
            <a:r>
              <a:t>   * For this training, we'll primarily use the terminal because it gives you full control. But know that the Desktop option exists for when you want a more visual workflow.</a:t>
            </a:r>
          </a:p>
          <a:p>
            <a:endParaRPr/>
          </a:p>
          <a:p>
            <a:r>
              <a:t>TRANSITION:</a:t>
            </a:r>
          </a:p>
          <a:p>
            <a:r>
              <a:t>   Whether you use terminal or desktop, the first step is the same — let's walk through your first command.</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2 min</a:t>
            </a:r>
          </a:p>
          <a:p>
            <a:endParaRPr/>
          </a:p>
          <a:p>
            <a:r>
              <a:t>OPEN WITH:</a:t>
            </a:r>
          </a:p>
          <a:p>
            <a:r>
              <a:t>   Here's what the interface looks like. The Code tab sits in your Claude Desktop sidebar. At the top: folder selector, environment dropdown, and model picker. At the bottom: three quick-start templates. The main area shows your conversation with real-time code artifacts.</a:t>
            </a:r>
          </a:p>
          <a:p>
            <a:endParaRPr/>
          </a:p>
          <a:p>
            <a:r>
              <a:t>KEY POINTS:</a:t>
            </a:r>
          </a:p>
          <a:p>
            <a:r>
              <a:t>   * The folder selector is key — it scopes Claude Code to your project directory, just like cd-ing into a folder in terminal</a:t>
            </a:r>
          </a:p>
          <a:p>
            <a:r>
              <a:t>   * Environment dropdown defaults to 'local' — you can add cloud environments with access credentials</a:t>
            </a:r>
          </a:p>
          <a:p>
            <a:r>
              <a:t>   * When you first open a workspace, you get a trust prompt — same security model as VS Code</a:t>
            </a:r>
          </a:p>
          <a:p>
            <a:r>
              <a:t>   * The TODO search template is surprisingly useful — point it at a large codebase and it finds and fixes pending items automatically</a:t>
            </a:r>
          </a:p>
          <a:p>
            <a:r>
              <a:t>   * Pro tip: keep VS Code open side-by-side to watch files being created in real time</a:t>
            </a:r>
          </a:p>
          <a:p>
            <a:endParaRPr/>
          </a:p>
          <a:p>
            <a:r>
              <a:t>TRANSITION:</a:t>
            </a:r>
          </a:p>
          <a:p>
            <a:r>
              <a:t>   Now let's run our first real command and see Claude Code in action.</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5 min</a:t>
            </a:r>
          </a:p>
          <a:p>
            <a:endParaRPr/>
          </a:p>
          <a:p>
            <a:r>
              <a:t>OPEN WITH:</a:t>
            </a:r>
          </a:p>
          <a:p>
            <a:r>
              <a:t>   Authentication is a one-time thing, but you need to understand where your API key lives and how Claude Code uses it.</a:t>
            </a:r>
          </a:p>
          <a:p>
            <a:endParaRPr/>
          </a:p>
          <a:p>
            <a:r>
              <a:t>KEY POINTS:</a:t>
            </a:r>
          </a:p>
          <a:p>
            <a:r>
              <a:t>   * When you run 'claude login', it opens your browser and walks you through OAuth2 authorization with Anthropic - you sign in, approve access, and the CLI stores a token in your home directory under .claude/credentials</a:t>
            </a:r>
          </a:p>
          <a:p>
            <a:r>
              <a:t>   * The token is scoped to your account and respects your API tier - if you're on the free tier, you'll hit rate limits faster than Pro users, but the functionality is identical</a:t>
            </a:r>
          </a:p>
          <a:p>
            <a:r>
              <a:t>   * The 'claude whoami' command is your sanity check - run it anytime you're not sure which account is active or if authentication broke</a:t>
            </a:r>
          </a:p>
          <a:p>
            <a:r>
              <a:t>   * Setting a default model is optional but recommended - I use Sonnet 4 as my default because it balances speed and capability, but you can override per-session with the /model command</a:t>
            </a:r>
          </a:p>
          <a:p>
            <a:r>
              <a:t>   * Your config lives in .claude/config.json and you can edit it manually if needed, but the 'claude config' commands are safer</a:t>
            </a:r>
          </a:p>
          <a:p>
            <a:endParaRPr/>
          </a:p>
          <a:p>
            <a:r>
              <a:t>ASK THE CLASS:</a:t>
            </a:r>
          </a:p>
          <a:p>
            <a:r>
              <a:t>   "Everyone run 'claude login' and 'claude whoami' right now - I want to see your account email appear. If it fails, you might have firewall or proxy issues."</a:t>
            </a:r>
          </a:p>
          <a:p>
            <a:r>
              <a:t>   [PAUSE for 30-60 seconds]</a:t>
            </a:r>
          </a:p>
          <a:p>
            <a:endParaRPr/>
          </a:p>
          <a:p>
            <a:r>
              <a:t>REAL-WORLD EXAMPLE:</a:t>
            </a:r>
          </a:p>
          <a:p>
            <a:r>
              <a:t>   A student last week got confused because 'claude whoami' showed their personal email but they wanted to use their company API key. We switched it with 'claude logout' followed by 'claude login' with the company account - took 30 seconds.</a:t>
            </a:r>
          </a:p>
          <a:p>
            <a:endParaRPr/>
          </a:p>
          <a:p>
            <a:r>
              <a:t>TRANSITION:</a:t>
            </a:r>
          </a:p>
          <a:p>
            <a:r>
              <a:t>   Now that you're authenticated, let's talk about which model to use</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4 min</a:t>
            </a:r>
          </a:p>
          <a:p>
            <a:endParaRPr/>
          </a:p>
          <a:p>
            <a:r>
              <a:t>OPEN WITH:</a:t>
            </a:r>
          </a:p>
          <a:p>
            <a:r>
              <a:t>   Model selection is like choosing between a Honda Civic, a BMW, and a Tesla - they all get you there, but the experience and cost differ wildly.</a:t>
            </a:r>
          </a:p>
          <a:p>
            <a:endParaRPr/>
          </a:p>
          <a:p>
            <a:r>
              <a:t>KEY POINTS:</a:t>
            </a:r>
          </a:p>
          <a:p>
            <a:r>
              <a:t>   * Haiku is blazing fast and cheap - perfect for bulk refactoring, generating boilerplate, or writing documentation where speed matters more than cleverness. I use Haiku for renaming 50 functions across a codebase.</a:t>
            </a:r>
          </a:p>
          <a:p>
            <a:r>
              <a:t>   * Sonnet 4 is the Goldilocks model - fast enough for interactive work, smart enough for complex logic, affordable enough to use all day. This is what I recommend as your default.</a:t>
            </a:r>
          </a:p>
          <a:p>
            <a:r>
              <a:t>   * Opus is the big brain - use it when you're designing a new system architecture, debugging a truly gnarly bug, or need the model to reason deeply about tradeoffs. It's slower and costs more per token.</a:t>
            </a:r>
          </a:p>
          <a:p>
            <a:r>
              <a:t>   * You can switch models mid-session with '/model opus' or '/model haiku' - I do this constantly depending on the task at hand</a:t>
            </a:r>
          </a:p>
          <a:p>
            <a:r>
              <a:t>   * API keys are tied to your Anthropic account tier - if you're on the free tier, expect to hit rate limits during heavy use. Pro tier removes most practical limits for individual developers.</a:t>
            </a:r>
          </a:p>
          <a:p>
            <a:endParaRPr/>
          </a:p>
          <a:p>
            <a:r>
              <a:t>ASK THE CLASS:</a:t>
            </a:r>
          </a:p>
          <a:p>
            <a:r>
              <a:t>   "What kind of tasks do you do most often - quick refactoring and docs, or deep architectural work? That'll guide your default model choice."</a:t>
            </a:r>
          </a:p>
          <a:p>
            <a:r>
              <a:t>   [PAUSE for 30-60 seconds]</a:t>
            </a:r>
          </a:p>
          <a:p>
            <a:endParaRPr/>
          </a:p>
          <a:p>
            <a:r>
              <a:t>REAL-WORLD EXAMPLE:</a:t>
            </a:r>
          </a:p>
          <a:p>
            <a:r>
              <a:t>   Last week I was generating API documentation for 30 endpoints - I switched to Haiku and it blazed through all 30 in under a minute. Later that day I was debugging a race condition in async code - I switched to Opus and it found the issue in 3 minutes after I'd been stuck for an hour.</a:t>
            </a:r>
          </a:p>
          <a:p>
            <a:endParaRPr/>
          </a:p>
          <a:p>
            <a:r>
              <a:t>TRANSITION:</a:t>
            </a:r>
          </a:p>
          <a:p>
            <a:r>
              <a:t>   Let's run your first Claude Code command and see this in action</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5 min</a:t>
            </a:r>
          </a:p>
          <a:p>
            <a:endParaRPr/>
          </a:p>
          <a:p>
            <a:r>
              <a:t>OPEN WITH:</a:t>
            </a:r>
          </a:p>
          <a:p>
            <a:r>
              <a:t>   Alright, talking time is over - let's actually see Claude Code do something. Everyone follow along on your own machine.</a:t>
            </a:r>
          </a:p>
          <a:p>
            <a:endParaRPr/>
          </a:p>
          <a:p>
            <a:r>
              <a:t>KEY POINTS:</a:t>
            </a:r>
          </a:p>
          <a:p>
            <a:r>
              <a:t>   * I'm going to run 'claude create a simple hello.py that prints hello world' and I want you to watch what happens in the terminal</a:t>
            </a:r>
          </a:p>
          <a:p>
            <a:r>
              <a:t>   * You'll see Claude Code first read the current directory structure - it's building context about where it is and what's around it</a:t>
            </a:r>
          </a:p>
          <a:p>
            <a:r>
              <a:t>   * Then it plans the action - in this case, creating a new file with specific content</a:t>
            </a:r>
          </a:p>
          <a:p>
            <a:r>
              <a:t>   * Then it executes - you'll see it call the write_file tool with the exact content</a:t>
            </a:r>
          </a:p>
          <a:p>
            <a:r>
              <a:t>   * Finally it confirms completion and you can verify the file exists with 'cat hello.py'</a:t>
            </a:r>
          </a:p>
          <a:p>
            <a:endParaRPr/>
          </a:p>
          <a:p>
            <a:r>
              <a:t>REAL-WORLD EXAMPLE:</a:t>
            </a:r>
          </a:p>
          <a:p>
            <a:r>
              <a:t>   This is a trivial example, but the pattern is identical whether you're creating a single hello world script or refactoring 50 files - read, plan, execute, verify. You just saw the entire agentic loop in 10 seconds.</a:t>
            </a:r>
          </a:p>
          <a:p>
            <a:endParaRPr/>
          </a:p>
          <a:p>
            <a:r>
              <a:t>DEMO:</a:t>
            </a:r>
          </a:p>
          <a:p>
            <a:r>
              <a:t>   Open terminal, cd to ~/test-claude or similar. Run: claude 'create a simple hello.py that prints hello world'. Point out each phase of the agentic loop as it happens. After file is created, run: cat hello.py, then python hello.py. Emphasize that Claude Code created a working file without you touching an editor.</a:t>
            </a:r>
          </a:p>
          <a:p>
            <a:endParaRPr/>
          </a:p>
          <a:p>
            <a:r>
              <a:t>TRANSITION:</a:t>
            </a:r>
          </a:p>
          <a:p>
            <a:r>
              <a:t>   That was your first taste - now let's dive deep into how the agentic loop actually works under the hood</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1 min</a:t>
            </a:r>
          </a:p>
          <a:p>
            <a:endParaRPr/>
          </a:p>
          <a:p>
            <a:r>
              <a:t>OPEN WITH:</a:t>
            </a:r>
          </a:p>
          <a:p>
            <a:r>
              <a:t>   This is the most important section of the entire day. If you understand the agentic loop, everything else will click. If you don't, you'll be fighting the tool constantly.</a:t>
            </a:r>
          </a:p>
          <a:p>
            <a:endParaRPr/>
          </a:p>
          <a:p>
            <a:r>
              <a:t>KEY POINTS:</a:t>
            </a:r>
          </a:p>
          <a:p>
            <a:r>
              <a:t>   * The agentic loop is Claude Code's decision-making process - it's how it goes from your instruction to working code</a:t>
            </a:r>
          </a:p>
          <a:p>
            <a:r>
              <a:t>   * We're going to break down all five stages and show you exactly what's happening at each step</a:t>
            </a:r>
          </a:p>
          <a:p>
            <a:r>
              <a:t>   * This isn't academic - understanding this loop lets you write better prompts, debug issues faster, and trust the tool more</a:t>
            </a:r>
          </a:p>
          <a:p>
            <a:endParaRPr/>
          </a:p>
          <a:p>
            <a:r>
              <a:t>TRANSITION:</a:t>
            </a:r>
          </a:p>
          <a:p>
            <a:r>
              <a:t>   Let's visualize the loop first, then break down each stage</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3 min</a:t>
            </a:r>
          </a:p>
          <a:p>
            <a:endParaRPr/>
          </a:p>
          <a:p>
            <a:r>
              <a:t>OPEN WITH:</a:t>
            </a:r>
          </a:p>
          <a:p>
            <a:r>
              <a:t>   Here it is - the five-stage cycle that powers every single action Claude Code takes. This graphic should be burned into your brain by end of day.</a:t>
            </a:r>
          </a:p>
          <a:p>
            <a:endParaRPr/>
          </a:p>
          <a:p>
            <a:r>
              <a:t>KEY POINTS:</a:t>
            </a:r>
          </a:p>
          <a:p>
            <a:r>
              <a:t>   * Read: Claude Code gathers context from your workspace - files, directory structure, git history, anything relevant to your request</a:t>
            </a:r>
          </a:p>
          <a:p>
            <a:r>
              <a:t>   * Analyze: It builds a mental model of your codebase - patterns, conventions, dependencies, potential risks</a:t>
            </a:r>
          </a:p>
          <a:p>
            <a:r>
              <a:t>   * Plan: It formulates a strategy - what sequence of actions will accomplish the goal with minimal risk of breaking things</a:t>
            </a:r>
          </a:p>
          <a:p>
            <a:r>
              <a:t>   * Execute: It uses tools to make changes - writing files, running commands, editing code, running tests</a:t>
            </a:r>
          </a:p>
          <a:p>
            <a:r>
              <a:t>   * Verify: It checks that the changes worked - running linters, tests, checking for errors, confirming success</a:t>
            </a:r>
          </a:p>
          <a:p>
            <a:r>
              <a:t>   * Then it loops - if verification fails, it reads the error, analyzes what went wrong, plans a fix, executes it, and verifies again</a:t>
            </a:r>
          </a:p>
          <a:p>
            <a:endParaRPr/>
          </a:p>
          <a:p>
            <a:r>
              <a:t>ASK THE CLASS:</a:t>
            </a:r>
          </a:p>
          <a:p>
            <a:r>
              <a:t>   "When you debug code manually, do you follow a similar loop? Read code, understand it, plan a fix, implement it, test it? Claude Code is doing the exact same thing you do, just faster."</a:t>
            </a:r>
          </a:p>
          <a:p>
            <a:r>
              <a:t>   [PAUSE for 30-60 seconds]</a:t>
            </a:r>
          </a:p>
          <a:p>
            <a:endParaRPr/>
          </a:p>
          <a:p>
            <a:r>
              <a:t>REAL-WORLD EXAMPLE:</a:t>
            </a:r>
          </a:p>
          <a:p>
            <a:r>
              <a:t>   I watched Claude Code try to add a feature that broke tests three times in a row. Each time it hit Verify, saw the test failure, looped back through Read-Analyze-Plan, tried a different approach, and eventually got it right on the fourth iteration. It never gave up, never got frustrated - just kept looping.</a:t>
            </a:r>
          </a:p>
          <a:p>
            <a:endParaRPr/>
          </a:p>
          <a:p>
            <a:r>
              <a:t>TRANSITION:</a:t>
            </a:r>
          </a:p>
          <a:p>
            <a:r>
              <a:t>   Let's break down stage one: Read</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4 min</a:t>
            </a:r>
          </a:p>
          <a:p>
            <a:endParaRPr/>
          </a:p>
          <a:p>
            <a:r>
              <a:t>OPEN WITH:</a:t>
            </a:r>
          </a:p>
          <a:p>
            <a:r>
              <a:t>   The Read stage is where Claude Code builds its understanding of your project - think of it as the AI reading your entire codebase before touching anything.</a:t>
            </a:r>
          </a:p>
          <a:p>
            <a:endParaRPr/>
          </a:p>
          <a:p>
            <a:r>
              <a:t>KEY POINTS:</a:t>
            </a:r>
          </a:p>
          <a:p>
            <a:r>
              <a:t>   * Detailed explanation of this stage</a:t>
            </a:r>
          </a:p>
          <a:p>
            <a:r>
              <a:t>   * How it connects to the overall loop</a:t>
            </a:r>
          </a:p>
          <a:p>
            <a:r>
              <a:t>   * What to watch for during this phase</a:t>
            </a:r>
          </a:p>
          <a:p>
            <a:r>
              <a:t>   * Common patterns and behaviors</a:t>
            </a:r>
          </a:p>
          <a:p>
            <a:endParaRPr/>
          </a:p>
          <a:p>
            <a:r>
              <a:t>ASK THE CLASS:</a:t>
            </a:r>
          </a:p>
          <a:p>
            <a:r>
              <a:t>   "How does this stage relate to your manual development process?"</a:t>
            </a:r>
          </a:p>
          <a:p>
            <a:r>
              <a:t>   [PAUSE for 30-60 seconds]</a:t>
            </a:r>
          </a:p>
          <a:p>
            <a:endParaRPr/>
          </a:p>
          <a:p>
            <a:r>
              <a:t>REAL-WORLD EXAMPLE:</a:t>
            </a:r>
          </a:p>
          <a:p>
            <a:r>
              <a:t>   Example showing this stage in action with Claude Code.</a:t>
            </a:r>
          </a:p>
          <a:p>
            <a:endParaRPr/>
          </a:p>
          <a:p>
            <a:r>
              <a:t>TRANSITION:</a:t>
            </a:r>
          </a:p>
          <a:p>
            <a:r>
              <a:t>   Moving to the next stage...</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4 min</a:t>
            </a:r>
          </a:p>
          <a:p>
            <a:endParaRPr/>
          </a:p>
          <a:p>
            <a:r>
              <a:t>OPEN WITH:</a:t>
            </a:r>
          </a:p>
          <a:p>
            <a:r>
              <a:t>   Analysis is where Claude Code gets smart - it's not just seeing your code, it's understanding your code's personality and quirks.</a:t>
            </a:r>
          </a:p>
          <a:p>
            <a:endParaRPr/>
          </a:p>
          <a:p>
            <a:r>
              <a:t>KEY POINTS:</a:t>
            </a:r>
          </a:p>
          <a:p>
            <a:r>
              <a:t>   * Detailed explanation of this stage</a:t>
            </a:r>
          </a:p>
          <a:p>
            <a:r>
              <a:t>   * How it connects to the overall loop</a:t>
            </a:r>
          </a:p>
          <a:p>
            <a:r>
              <a:t>   * What to watch for during this phase</a:t>
            </a:r>
          </a:p>
          <a:p>
            <a:r>
              <a:t>   * Common patterns and behaviors</a:t>
            </a:r>
          </a:p>
          <a:p>
            <a:endParaRPr/>
          </a:p>
          <a:p>
            <a:r>
              <a:t>ASK THE CLASS:</a:t>
            </a:r>
          </a:p>
          <a:p>
            <a:r>
              <a:t>   "How does this stage relate to your manual development process?"</a:t>
            </a:r>
          </a:p>
          <a:p>
            <a:r>
              <a:t>   [PAUSE for 30-60 seconds]</a:t>
            </a:r>
          </a:p>
          <a:p>
            <a:endParaRPr/>
          </a:p>
          <a:p>
            <a:r>
              <a:t>REAL-WORLD EXAMPLE:</a:t>
            </a:r>
          </a:p>
          <a:p>
            <a:r>
              <a:t>   Example showing this stage in action with Claude Code.</a:t>
            </a:r>
          </a:p>
          <a:p>
            <a:endParaRPr/>
          </a:p>
          <a:p>
            <a:r>
              <a:t>TRANSITION:</a:t>
            </a:r>
          </a:p>
          <a:p>
            <a:r>
              <a:t>   Moving to the next stage...</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4 min</a:t>
            </a:r>
          </a:p>
          <a:p>
            <a:endParaRPr/>
          </a:p>
          <a:p>
            <a:r>
              <a:t>OPEN WITH:</a:t>
            </a:r>
          </a:p>
          <a:p>
            <a:r>
              <a:t>   Planning is where Claude Code thinks like a senior engineer - it's not just doing what you asked, it's figuring out the safest, smartest way to do it.</a:t>
            </a:r>
          </a:p>
          <a:p>
            <a:endParaRPr/>
          </a:p>
          <a:p>
            <a:r>
              <a:t>KEY POINTS:</a:t>
            </a:r>
          </a:p>
          <a:p>
            <a:r>
              <a:t>   * Detailed explanation of this stage</a:t>
            </a:r>
          </a:p>
          <a:p>
            <a:r>
              <a:t>   * How it connects to the overall loop</a:t>
            </a:r>
          </a:p>
          <a:p>
            <a:r>
              <a:t>   * What to watch for during this phase</a:t>
            </a:r>
          </a:p>
          <a:p>
            <a:r>
              <a:t>   * Common patterns and behaviors</a:t>
            </a:r>
          </a:p>
          <a:p>
            <a:endParaRPr/>
          </a:p>
          <a:p>
            <a:r>
              <a:t>ASK THE CLASS:</a:t>
            </a:r>
          </a:p>
          <a:p>
            <a:r>
              <a:t>   "How does this stage relate to your manual development process?"</a:t>
            </a:r>
          </a:p>
          <a:p>
            <a:r>
              <a:t>   [PAUSE for 30-60 seconds]</a:t>
            </a:r>
          </a:p>
          <a:p>
            <a:endParaRPr/>
          </a:p>
          <a:p>
            <a:r>
              <a:t>REAL-WORLD EXAMPLE:</a:t>
            </a:r>
          </a:p>
          <a:p>
            <a:r>
              <a:t>   Example showing this stage in action with Claude Code.</a:t>
            </a:r>
          </a:p>
          <a:p>
            <a:endParaRPr/>
          </a:p>
          <a:p>
            <a:r>
              <a:t>TRANSITION:</a:t>
            </a:r>
          </a:p>
          <a:p>
            <a:r>
              <a:t>   Moving to the next stage...</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4 min</a:t>
            </a:r>
          </a:p>
          <a:p>
            <a:endParaRPr/>
          </a:p>
          <a:p>
            <a:r>
              <a:t>OPEN WITH:</a:t>
            </a:r>
          </a:p>
          <a:p>
            <a:r>
              <a:t>   Execute is where the rubber meets the road - Claude Code stops planning and starts making changes to your actual files.</a:t>
            </a:r>
          </a:p>
          <a:p>
            <a:endParaRPr/>
          </a:p>
          <a:p>
            <a:r>
              <a:t>KEY POINTS:</a:t>
            </a:r>
          </a:p>
          <a:p>
            <a:r>
              <a:t>   * Detailed explanation of this stage</a:t>
            </a:r>
          </a:p>
          <a:p>
            <a:r>
              <a:t>   * How it connects to the overall loop</a:t>
            </a:r>
          </a:p>
          <a:p>
            <a:r>
              <a:t>   * What to watch for during this phase</a:t>
            </a:r>
          </a:p>
          <a:p>
            <a:r>
              <a:t>   * Common patterns and behaviors</a:t>
            </a:r>
          </a:p>
          <a:p>
            <a:endParaRPr/>
          </a:p>
          <a:p>
            <a:r>
              <a:t>ASK THE CLASS:</a:t>
            </a:r>
          </a:p>
          <a:p>
            <a:r>
              <a:t>   "How does this stage relate to your manual development process?"</a:t>
            </a:r>
          </a:p>
          <a:p>
            <a:r>
              <a:t>   [PAUSE for 30-60 seconds]</a:t>
            </a:r>
          </a:p>
          <a:p>
            <a:endParaRPr/>
          </a:p>
          <a:p>
            <a:r>
              <a:t>REAL-WORLD EXAMPLE:</a:t>
            </a:r>
          </a:p>
          <a:p>
            <a:r>
              <a:t>   Example showing this stage in action with Claude Code.</a:t>
            </a:r>
          </a:p>
          <a:p>
            <a:endParaRPr/>
          </a:p>
          <a:p>
            <a:r>
              <a:t>TRANSITION:</a:t>
            </a:r>
          </a:p>
          <a:p>
            <a:r>
              <a:t>   Moving to the next stage...</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4 min</a:t>
            </a:r>
          </a:p>
          <a:p>
            <a:endParaRPr/>
          </a:p>
          <a:p>
            <a:r>
              <a:t>OPEN WITH:</a:t>
            </a:r>
          </a:p>
          <a:p>
            <a:r>
              <a:t>   Verification is Claude Code's quality control - it doesn't just make changes and hope they work, it actively checks that everything is good before calling it done.</a:t>
            </a:r>
          </a:p>
          <a:p>
            <a:endParaRPr/>
          </a:p>
          <a:p>
            <a:r>
              <a:t>KEY POINTS:</a:t>
            </a:r>
          </a:p>
          <a:p>
            <a:r>
              <a:t>   * Detailed explanation of this stage</a:t>
            </a:r>
          </a:p>
          <a:p>
            <a:r>
              <a:t>   * How it connects to the overall loop</a:t>
            </a:r>
          </a:p>
          <a:p>
            <a:r>
              <a:t>   * What to watch for during this phase</a:t>
            </a:r>
          </a:p>
          <a:p>
            <a:r>
              <a:t>   * Common patterns and behaviors</a:t>
            </a:r>
          </a:p>
          <a:p>
            <a:endParaRPr/>
          </a:p>
          <a:p>
            <a:r>
              <a:t>ASK THE CLASS:</a:t>
            </a:r>
          </a:p>
          <a:p>
            <a:r>
              <a:t>   "How does this stage relate to your manual development process?"</a:t>
            </a:r>
          </a:p>
          <a:p>
            <a:r>
              <a:t>   [PAUSE for 30-60 seconds]</a:t>
            </a:r>
          </a:p>
          <a:p>
            <a:endParaRPr/>
          </a:p>
          <a:p>
            <a:r>
              <a:t>REAL-WORLD EXAMPLE:</a:t>
            </a:r>
          </a:p>
          <a:p>
            <a:r>
              <a:t>   Example showing this stage in action with Claude Code.</a:t>
            </a:r>
          </a:p>
          <a:p>
            <a:endParaRPr/>
          </a:p>
          <a:p>
            <a:r>
              <a:t>TRANSITION:</a:t>
            </a:r>
          </a:p>
          <a:p>
            <a:r>
              <a:t>   Moving to the next stage...</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2 min</a:t>
            </a:r>
          </a:p>
          <a:p>
            <a:endParaRPr/>
          </a:p>
          <a:p>
            <a:r>
              <a:t>OPEN WITH:</a:t>
            </a:r>
          </a:p>
          <a:p>
            <a:r>
              <a:t>   This principle is straight from Nate B Jones' 'Second Brain' methodology - the idea that systems should produce small, verifiable outputs rather than trying to build everything at once. The Agentic Loop you just learned is designed around this exact principle.</a:t>
            </a:r>
          </a:p>
          <a:p>
            <a:endParaRPr/>
          </a:p>
          <a:p>
            <a:r>
              <a:t>KEY POINTS:</a:t>
            </a:r>
          </a:p>
          <a:p>
            <a:r>
              <a:t>   * The five-stage loop (Read → Analyze → Plan → Execute → Verify) is itself a pattern of small, frequent outputs - each stage produces something concrete before moving to the next</a:t>
            </a:r>
          </a:p>
          <a:p>
            <a:r>
              <a:t>   * When you give Claude Code a complex task like 'add user authentication', it doesn't generate all the code at once - it breaks it into discrete steps: create user model, add password hashing, create login endpoint, add session management, write tests</a:t>
            </a:r>
          </a:p>
          <a:p>
            <a:r>
              <a:t>   * Each step in that sequence produces verifiable output - after creating the user model, Claude Code runs a test to ensure it works before proceeding to password hashing</a:t>
            </a:r>
          </a:p>
          <a:p>
            <a:r>
              <a:t>   * If something fails at step 3, you haven't lost steps 1 and 2 - they're already verified and committed. You can fix step 3 without redoing the whole task</a:t>
            </a:r>
          </a:p>
          <a:p>
            <a:r>
              <a:t>   * This is the opposite of the 'write me an entire app' prompt that fails 90% through and leaves you with nothing usable</a:t>
            </a:r>
          </a:p>
          <a:p>
            <a:endParaRPr/>
          </a:p>
          <a:p>
            <a:r>
              <a:t>ASK THE CLASS:</a:t>
            </a:r>
          </a:p>
          <a:p>
            <a:r>
              <a:t>   "Think about the last time you tried to implement a complex feature all at once. How much easier would it have been if you'd broken it into 5 testable steps?"</a:t>
            </a:r>
          </a:p>
          <a:p>
            <a:r>
              <a:t>   [PAUSE for 30-60 seconds]</a:t>
            </a:r>
          </a:p>
          <a:p>
            <a:endParaRPr/>
          </a:p>
          <a:p>
            <a:r>
              <a:t>REAL-WORLD EXAMPLE:</a:t>
            </a:r>
          </a:p>
          <a:p>
            <a:r>
              <a:t>   A student asked Claude Code to 'build a REST API for a blog with posts, comments, and tags.' The first attempt was a single mega-prompt - it generated 400 lines of code, but the comment threading logic was broken and fixing it broke the tag associations. We restarted with five discrete prompts: (1) Create Post model and CRUD endpoints. (2) Add Comment model with basic association. (3) Implement tag system. (4) Add comment threading logic. (5) Write integration tests. Each step took 3 minutes, each step worked, total time 15 minutes. The mega-prompt approach took 45 minutes and still had bugs.</a:t>
            </a:r>
          </a:p>
          <a:p>
            <a:endParaRPr/>
          </a:p>
          <a:p>
            <a:r>
              <a:t>DEMO:</a:t>
            </a:r>
          </a:p>
          <a:p>
            <a:r>
              <a:t>   Show two approaches to the same feature side-by-side. First, the wrong way: 'Create a contact form with validation, email sending, and rate limiting.' Watch it try to do everything and likely hit an error midway (you may need to intentionally create an error condition like missing env vars for the email service). Then show the right way: Step 1: 'Create a contact form route that accepts name, email, message.' Verify it works. Step 2: 'Add validation to require all fields and validate email format.' Verify. Step 3: 'Add rate limiting to prevent spam.' Verify. Step 4: 'Integrate email sending.' Verify. Emphasize how each step is a checkpoint.</a:t>
            </a:r>
          </a:p>
          <a:p>
            <a:endParaRPr/>
          </a:p>
          <a:p>
            <a:r>
              <a:t>TRANSITION:</a:t>
            </a:r>
          </a:p>
          <a:p>
            <a:r>
              <a:t>   Small outputs are powerful, but only if each output is a 'next action' - which brings us to our next principle later. For now, let's continue with the Agentic Loop.</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6 min</a:t>
            </a:r>
          </a:p>
          <a:p>
            <a:endParaRPr/>
          </a:p>
          <a:p>
            <a:r>
              <a:t>OPEN WITH:</a:t>
            </a:r>
          </a:p>
          <a:p>
            <a:r>
              <a:t>   Okay, I'm going to run a real task and we're going to pause at each stage so you can see the loop in action. This is not a rehearsed demo - whatever happens, happens.</a:t>
            </a:r>
          </a:p>
          <a:p>
            <a:endParaRPr/>
          </a:p>
          <a:p>
            <a:r>
              <a:t>KEY POINTS:</a:t>
            </a:r>
          </a:p>
          <a:p>
            <a:r>
              <a:t>   * I'm going to use verbose mode so you can see Claude Code's internal thoughts at each stage</a:t>
            </a:r>
          </a:p>
          <a:p>
            <a:r>
              <a:t>   * Watch how it reads multiple files to understand the current login implementation</a:t>
            </a:r>
          </a:p>
          <a:p>
            <a:r>
              <a:t>   * Watch how it analyzes the existing validation patterns in other parts of the codebase</a:t>
            </a:r>
          </a:p>
          <a:p>
            <a:r>
              <a:t>   * Watch how it plans to add validation without breaking existing functionality</a:t>
            </a:r>
          </a:p>
          <a:p>
            <a:r>
              <a:t>   * Watch it execute changes to both the function and the tests</a:t>
            </a:r>
          </a:p>
          <a:p>
            <a:endParaRPr/>
          </a:p>
          <a:p>
            <a:r>
              <a:t>REAL-WORLD EXAMPLE:</a:t>
            </a:r>
          </a:p>
          <a:p>
            <a:r>
              <a:t>   Every single task follows this loop, no matter how simple or complex. The difference is speed - simple tasks complete in one iteration, complex tasks might loop 3-4 times.</a:t>
            </a:r>
          </a:p>
          <a:p>
            <a:endParaRPr/>
          </a:p>
          <a:p>
            <a:r>
              <a:t>DEMO:</a:t>
            </a:r>
          </a:p>
          <a:p>
            <a:r>
              <a:t>   Run: claude --verbose 'Add input validation to the login function in auth.py - check for empty username/password and invalid email format'. Navigate to a project with an auth.py file (or quickly create one). As it runs, pause the output and point out: 'See here - this is the Read stage, it's loading auth.py and test_auth.py'. 'Now it's analyzing - it found our existing email validation elsewhere and is matching that pattern'. 'Here's the plan - it's going to edit auth.py first, then add test cases'. Watch it execute and run tests. If tests fail, point out the loop restarting.</a:t>
            </a:r>
          </a:p>
          <a:p>
            <a:endParaRPr/>
          </a:p>
          <a:p>
            <a:r>
              <a:t>TRANSITION:</a:t>
            </a:r>
          </a:p>
          <a:p>
            <a:r>
              <a:t>   The loop doesn't always work perfectly - let's talk about what happens when things go wrong</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4 min</a:t>
            </a:r>
          </a:p>
          <a:p>
            <a:endParaRPr/>
          </a:p>
          <a:p>
            <a:r>
              <a:t>OPEN WITH:</a:t>
            </a:r>
          </a:p>
          <a:p>
            <a:r>
              <a:t>   Claude Code is powerful but not magic - it can fail, and when it does, you need to know how to get it back on track. Let's talk about the most common failure modes.</a:t>
            </a:r>
          </a:p>
          <a:p>
            <a:endParaRPr/>
          </a:p>
          <a:p>
            <a:r>
              <a:t>KEY POINTS:</a:t>
            </a:r>
          </a:p>
          <a:p>
            <a:r>
              <a:t>   * Context overload happens in huge codebases - Claude Code tries to read 1000 files and runs out of token space. The fix is to narrow the scope with .claudeignore or @-mentions to specific files.</a:t>
            </a:r>
          </a:p>
          <a:p>
            <a:r>
              <a:t>   * Ambiguous instructions are the human error - if you say 'make it better', Claude Code has no idea what 'better' means. Be specific: 'add error handling to the submit function'.</a:t>
            </a:r>
          </a:p>
          <a:p>
            <a:r>
              <a:t>   * Missing dependencies cause runtime failures during Verify - if tests can't run because pytest isn't installed, Claude Code will tell you. Just install it and retry.</a:t>
            </a:r>
          </a:p>
          <a:p>
            <a:r>
              <a:t>   * Infinite loops are rare but happen when Claude Code misunderstands the verification failure - it keeps applying the same broken fix repeatedly. When you see this, /clear the session and try a different approach.</a:t>
            </a:r>
          </a:p>
          <a:p>
            <a:r>
              <a:t>   * Permission errors are usually OS-level - trying to write to /usr/local without sudo, or a file is read-only. Check permissions or adjust your /permissions settings in Claude Code.</a:t>
            </a:r>
          </a:p>
          <a:p>
            <a:endParaRPr/>
          </a:p>
          <a:p>
            <a:r>
              <a:t>ASK THE CLASS:</a:t>
            </a:r>
          </a:p>
          <a:p>
            <a:r>
              <a:t>   "Who here has debugged a problem for 20 minutes only to realize it was a typo or a missing import? Claude Code makes those same mistakes sometimes - the difference is it catches and fixes them itself 90% of the time."</a:t>
            </a:r>
          </a:p>
          <a:p>
            <a:r>
              <a:t>   [PAUSE for 30-60 seconds]</a:t>
            </a:r>
          </a:p>
          <a:p>
            <a:endParaRPr/>
          </a:p>
          <a:p>
            <a:r>
              <a:t>REAL-WORLD EXAMPLE:</a:t>
            </a:r>
          </a:p>
          <a:p>
            <a:r>
              <a:t>   I once gave Claude Code an instruction to 'optimize the database queries'. It flailed for a minute trying different approaches because 'optimize' is vague. I cleared the session, rephrased to 'add select_related to the User query to reduce N+1 queries', and it nailed it immediately. Specificity matters.</a:t>
            </a:r>
          </a:p>
          <a:p>
            <a:endParaRPr/>
          </a:p>
          <a:p>
            <a:r>
              <a:t>TRANSITION:</a:t>
            </a:r>
          </a:p>
          <a:p>
            <a:r>
              <a:t>   Now that you understand the engine, let's talk about how to configure it with CLAUDE.md</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1 min</a:t>
            </a:r>
          </a:p>
          <a:p>
            <a:endParaRPr/>
          </a:p>
          <a:p>
            <a:r>
              <a:t>OPEN WITH:</a:t>
            </a:r>
          </a:p>
          <a:p>
            <a:r>
              <a:t>   CLAUDE.md is the secret weapon of advanced Claude Code users - it's how you train Claude Code to work exactly the way your team works.</a:t>
            </a:r>
          </a:p>
          <a:p>
            <a:endParaRPr/>
          </a:p>
          <a:p>
            <a:r>
              <a:t>KEY POINTS:</a:t>
            </a:r>
          </a:p>
          <a:p>
            <a:r>
              <a:t>   * Key insight about this topic</a:t>
            </a:r>
          </a:p>
          <a:p>
            <a:r>
              <a:t>   * How it applies to real development</a:t>
            </a:r>
          </a:p>
          <a:p>
            <a:r>
              <a:t>   * Why this matters for your workflow</a:t>
            </a:r>
          </a:p>
          <a:p>
            <a:endParaRPr/>
          </a:p>
          <a:p>
            <a:r>
              <a:t>TRANSITION:</a:t>
            </a:r>
          </a:p>
          <a:p>
            <a:r>
              <a:t>   Moving forward...</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3 min</a:t>
            </a:r>
          </a:p>
          <a:p>
            <a:endParaRPr/>
          </a:p>
          <a:p>
            <a:r>
              <a:t>OPEN WITH:</a:t>
            </a:r>
          </a:p>
          <a:p>
            <a:r>
              <a:t>   Imagine a new developer joining your team. You'd give them a README, style guide, contribution guidelines, right? CLAUDE.md is all of that, but for Claude Code.</a:t>
            </a:r>
          </a:p>
          <a:p>
            <a:endParaRPr/>
          </a:p>
          <a:p>
            <a:r>
              <a:t>KEY POINTS:</a:t>
            </a:r>
          </a:p>
          <a:p>
            <a:r>
              <a:t>   * Key insight about this topic</a:t>
            </a:r>
          </a:p>
          <a:p>
            <a:r>
              <a:t>   * How it applies to real development</a:t>
            </a:r>
          </a:p>
          <a:p>
            <a:r>
              <a:t>   * Why this matters for your workflow</a:t>
            </a:r>
          </a:p>
          <a:p>
            <a:r>
              <a:t>   * Important context: CLAUDE.md is just one layer in a full memory hierarchy. At the top, IT can deploy a managed policy CLAUDE.md that nobody can override — org-wide coding standards, security policies. Then project-level CLAUDE.md shared via git. Then modular rules in .claude/rules/ for topic-specific guidelines. Then your personal user-level CLAUDE.md at ~/.claude/CLAUDE.md that applies everywhere. And CLAUDE.local.md for personal project overrides that are auto-gitignored. We will cover all of these layers in the next few slides.</a:t>
            </a:r>
          </a:p>
          <a:p>
            <a:endParaRPr/>
          </a:p>
          <a:p>
            <a:r>
              <a:t>TRANSITION:</a:t>
            </a:r>
          </a:p>
          <a:p>
            <a:r>
              <a:t>   Moving forward...</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4 min</a:t>
            </a:r>
          </a:p>
          <a:p>
            <a:endParaRPr/>
          </a:p>
          <a:p>
            <a:r>
              <a:t>OPEN WITH:</a:t>
            </a:r>
          </a:p>
          <a:p>
            <a:r>
              <a:t>   This is a minimal but effective CLAUDE.md - it gives Claude Code everything it needs to work like a team member who's been here for months.</a:t>
            </a:r>
          </a:p>
          <a:p>
            <a:endParaRPr/>
          </a:p>
          <a:p>
            <a:r>
              <a:t>KEY POINTS:</a:t>
            </a:r>
          </a:p>
          <a:p>
            <a:r>
              <a:t>   * Start with a clear description - 'REST API for online store' tells Claude Code the project type, which shapes its assumptions about structure and patterns</a:t>
            </a:r>
          </a:p>
          <a:p>
            <a:r>
              <a:t>   * Code conventions are critical - specify language version, style guides, naming conventions, any architectural patterns like async/await</a:t>
            </a:r>
          </a:p>
          <a:p>
            <a:r>
              <a:t>   * Testing requirements tell Claude Code what 'done' looks like - if you say 'write tests for all new endpoints', it will do that automatically without being asked each time</a:t>
            </a:r>
          </a:p>
          <a:p>
            <a:r>
              <a:t>   * Tools available lets Claude Code know what commands it can run - if it knows pytest is available, it will use pytest to verify changes</a:t>
            </a:r>
          </a:p>
          <a:p>
            <a:r>
              <a:t>   * This example is 20 lines but saves hundreds of back-and-forth clarifications - Claude Code just knows your standards from day one</a:t>
            </a:r>
          </a:p>
          <a:p>
            <a:endParaRPr/>
          </a:p>
          <a:p>
            <a:r>
              <a:t>ASK THE CLASS:</a:t>
            </a:r>
          </a:p>
          <a:p>
            <a:r>
              <a:t>   "What's one convention or rule in your current project that new developers always get wrong initially? That's exactly what should go in CLAUDE.md."</a:t>
            </a:r>
          </a:p>
          <a:p>
            <a:r>
              <a:t>   [PAUSE for 30-60 seconds]</a:t>
            </a:r>
          </a:p>
          <a:p>
            <a:endParaRPr/>
          </a:p>
          <a:p>
            <a:r>
              <a:t>REAL-WORLD EXAMPLE:</a:t>
            </a:r>
          </a:p>
          <a:p>
            <a:r>
              <a:t>   I added 'Use type hints for all functions' to a project's CLAUDE.md. Every single function Claude Code generated or modified after that had proper type hints. I didn't have to review and request changes like I would with a human PR - it was right the first time.</a:t>
            </a:r>
          </a:p>
          <a:p>
            <a:endParaRPr/>
          </a:p>
          <a:p>
            <a:r>
              <a:t>TRANSITION:</a:t>
            </a:r>
          </a:p>
          <a:p>
            <a:r>
              <a:t>   Beyond conventions, CLAUDE.md can include team settings and style guides</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2 min</a:t>
            </a:r>
          </a:p>
          <a:p>
            <a:endParaRPr/>
          </a:p>
          <a:p>
            <a:r>
              <a:t>OPEN WITH:</a:t>
            </a:r>
          </a:p>
          <a:p>
            <a:r>
              <a:t>   This principle is from Nate B Jones' 'Second Brain' philosophy - the idea that folder hierarchies create cognitive overhead and fragility. Instead, keep structure flat and use naming conventions to route. CLAUDE.md embodies this perfectly.</a:t>
            </a:r>
          </a:p>
          <a:p>
            <a:endParaRPr/>
          </a:p>
          <a:p>
            <a:r>
              <a:t>KEY POINTS:</a:t>
            </a:r>
          </a:p>
          <a:p>
            <a:r>
              <a:t>   * A flat file structure with descriptive names is easier for both humans and Claude Code to navigate - you can see everything at a glance without drilling into folders</a:t>
            </a:r>
          </a:p>
          <a:p>
            <a:r>
              <a:t>   * CLAUDE.md uses naming conventions to define routing: 'Files ending in _test.py are tests', 'Files in /api/ are API endpoints' - this is routing by convention, not folder depth</a:t>
            </a:r>
          </a:p>
          <a:p>
            <a:r>
              <a:t>   * Deep hierarchies break when requirements change - if 'user profile' moves from /api/v1/ to /api/v2/, you're moving files and updating imports everywhere</a:t>
            </a:r>
          </a:p>
          <a:p>
            <a:r>
              <a:t>   * Flat structures with prefixes adapt easily - user_profile_api_v2.py sits next to user_profile_api_v1.py, and you can delete the old one when ready</a:t>
            </a:r>
          </a:p>
          <a:p>
            <a:r>
              <a:t>   * Claude Code reads flat structures more efficiently - it doesn't have to traverse deeply nested directories to build context</a:t>
            </a:r>
          </a:p>
          <a:p>
            <a:endParaRPr/>
          </a:p>
          <a:p>
            <a:r>
              <a:t>ASK THE CLASS:</a:t>
            </a:r>
          </a:p>
          <a:p>
            <a:r>
              <a:t>   "Think about a project with a really deep folder structure. How often do you forget where a specific file lives? How often do you grep for it instead of navigating? That's the problem this principle solves."</a:t>
            </a:r>
          </a:p>
          <a:p>
            <a:r>
              <a:t>   [PAUSE for 30-60 seconds]</a:t>
            </a:r>
          </a:p>
          <a:p>
            <a:endParaRPr/>
          </a:p>
          <a:p>
            <a:r>
              <a:t>REAL-WORLD EXAMPLE:</a:t>
            </a:r>
          </a:p>
          <a:p>
            <a:r>
              <a:t>   A team had a Django project organized as /apps/user_management/api/v1/endpoints/profile/views.py. New developers took days to learn the structure. We flattened it to /endpoints/user_profile_api.py, /endpoints/user_settings_api.py, etc. Onboarding time dropped from 3 days to 3 hours because everything was visible and self-explanatory. Claude Code also started making fewer mistakes about where to put new endpoints - the convention was obvious.</a:t>
            </a:r>
          </a:p>
          <a:p>
            <a:endParaRPr/>
          </a:p>
          <a:p>
            <a:r>
              <a:t>DEMO:</a:t>
            </a:r>
          </a:p>
          <a:p>
            <a:r>
              <a:t>   Show two project structures side-by-side. First, a deeply nested structure: /src/modules/user/components/profile/settings/email/ with small files scattered across 6 levels. Run /context and show how much token space is wasted just on directory traversal. Then show a flat structure: /src/ with user_profile_settings_email.py, user_profile_settings_password.py, etc. Run /context again and show how much more efficient it is. Give Claude Code a task in each structure: 'Update the email settings logic.' In the nested version, watch Claude Code spend time navigating folders. In the flat version, watch it immediately identify the target file from the name.</a:t>
            </a:r>
          </a:p>
          <a:p>
            <a:endParaRPr/>
          </a:p>
          <a:p>
            <a:r>
              <a:t>TRANSITION:</a:t>
            </a:r>
          </a:p>
          <a:p>
            <a:r>
              <a:t>   Flat, convention-based structures make CLAUDE.md more powerful - which brings us to advanced configuration patterns</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3 min</a:t>
            </a:r>
          </a:p>
          <a:p>
            <a:endParaRPr/>
          </a:p>
          <a:p>
            <a:r>
              <a:t>OPEN WITH:</a:t>
            </a:r>
          </a:p>
          <a:p>
            <a:r>
              <a:t>   Let's explore Team Settings &amp; Style Guides.</a:t>
            </a:r>
          </a:p>
          <a:p>
            <a:endParaRPr/>
          </a:p>
          <a:p>
            <a:r>
              <a:t>KEY POINTS:</a:t>
            </a:r>
          </a:p>
          <a:p>
            <a:r>
              <a:t>   * Core concept</a:t>
            </a:r>
          </a:p>
          <a:p>
            <a:r>
              <a:t>   * Practical application</a:t>
            </a:r>
          </a:p>
          <a:p>
            <a:r>
              <a:t>   * Real-world benefit</a:t>
            </a:r>
          </a:p>
          <a:p>
            <a:endParaRPr/>
          </a:p>
          <a:p>
            <a:r>
              <a:t>TRANSITION:</a:t>
            </a:r>
          </a:p>
          <a:p>
            <a:r>
              <a:t>   Next topic...</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3 min</a:t>
            </a:r>
          </a:p>
          <a:p>
            <a:endParaRPr/>
          </a:p>
          <a:p>
            <a:r>
              <a:t>OPEN WITH:</a:t>
            </a:r>
          </a:p>
          <a:p>
            <a:r>
              <a:t>   Let's explore Advanced: Model Preferences &amp; Custom Rules.</a:t>
            </a:r>
          </a:p>
          <a:p>
            <a:endParaRPr/>
          </a:p>
          <a:p>
            <a:r>
              <a:t>KEY POINTS:</a:t>
            </a:r>
          </a:p>
          <a:p>
            <a:r>
              <a:t>   * Core concept</a:t>
            </a:r>
          </a:p>
          <a:p>
            <a:r>
              <a:t>   * Practical application</a:t>
            </a:r>
          </a:p>
          <a:p>
            <a:r>
              <a:t>   * Real-world benefit</a:t>
            </a:r>
          </a:p>
          <a:p>
            <a:endParaRPr/>
          </a:p>
          <a:p>
            <a:r>
              <a:t>TRANSITION:</a:t>
            </a:r>
          </a:p>
          <a:p>
            <a:r>
              <a:t>   Next topic...</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4 min</a:t>
            </a:r>
          </a:p>
          <a:p>
            <a:endParaRPr/>
          </a:p>
          <a:p>
            <a:r>
              <a:t>OPEN WITH:</a:t>
            </a:r>
          </a:p>
          <a:p>
            <a:r>
              <a:t>   CLAUDE.md isn't just for engineers. If you're a PM, analyst, or anyone who works with Claude Code regularly, creating a CLAUDE.md with your product context is one of the highest-ROI investments you can make. Fifteen minutes of setup saves hours of repetitive context-setting.</a:t>
            </a:r>
          </a:p>
          <a:p>
            <a:endParaRPr/>
          </a:p>
          <a:p>
            <a:r>
              <a:t>KEY POINTS:</a:t>
            </a:r>
          </a:p>
          <a:p>
            <a:r>
              <a:t>   * A PM's CLAUDE.md includes: product context, competitor landscape, preferred frameworks, output templates</a:t>
            </a:r>
          </a:p>
          <a:p>
            <a:r>
              <a:t>   * Example: 'I'm a PM at a B2B SaaS company. Our main competitors are X, Y, Z. I prefer frameworks like RICE for prioritization and Jobs-to-be-Done for user research.'</a:t>
            </a:r>
          </a:p>
          <a:p>
            <a:r>
              <a:t>   * Claude reads this automatically — no more starting every conversation with background info</a:t>
            </a:r>
          </a:p>
          <a:p>
            <a:r>
              <a:t>   * Source: Mohit Aggarwal's 'Claude Code for Product Managers' — invest 15 min, save hours</a:t>
            </a:r>
          </a:p>
          <a:p>
            <a:r>
              <a:t>   * This ties directly to Engineering Principle #10: Build for Restart, Not Perfection — CLAUDE.md is your session persistence layer</a:t>
            </a:r>
          </a:p>
          <a:p>
            <a:endParaRPr/>
          </a:p>
          <a:p>
            <a:r>
              <a:t>ASK THE CLASS:</a:t>
            </a:r>
          </a:p>
          <a:p>
            <a:r>
              <a:t>   "What context do you find yourself repeating to AI tools? That's what belongs in your CLAUDE.md."</a:t>
            </a:r>
          </a:p>
          <a:p>
            <a:r>
              <a:t>   [PAUSE for 30-60 seconds]</a:t>
            </a:r>
          </a:p>
          <a:p>
            <a:endParaRPr/>
          </a:p>
          <a:p>
            <a:r>
              <a:t>DEMO:</a:t>
            </a:r>
          </a:p>
          <a:p>
            <a:r>
              <a:t>   Show a PM-focused CLAUDE.md: product context, competitors, templates. Then ask Claude to analyze a competitor — watch it use the context automatically without being told.</a:t>
            </a:r>
          </a:p>
          <a:p>
            <a:endParaRPr/>
          </a:p>
          <a:p>
            <a:r>
              <a:t>TRANSITION:</a:t>
            </a:r>
          </a:p>
          <a:p>
            <a:r>
              <a:t>   Let's see how @ mentions let you point Claude at specific files and folders.</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3 min</a:t>
            </a:r>
          </a:p>
          <a:p>
            <a:endParaRPr/>
          </a:p>
          <a:p>
            <a:r>
              <a:t>OPEN WITH:</a:t>
            </a:r>
          </a:p>
          <a:p>
            <a:r>
              <a:t>   Let's explore CLAUDE.md Best Practices.</a:t>
            </a:r>
          </a:p>
          <a:p>
            <a:endParaRPr/>
          </a:p>
          <a:p>
            <a:r>
              <a:t>KEY POINTS:</a:t>
            </a:r>
          </a:p>
          <a:p>
            <a:r>
              <a:t>   * Core concept</a:t>
            </a:r>
          </a:p>
          <a:p>
            <a:r>
              <a:t>   * Practical application</a:t>
            </a:r>
          </a:p>
          <a:p>
            <a:r>
              <a:t>   * Real-world benefit</a:t>
            </a:r>
          </a:p>
          <a:p>
            <a:endParaRPr/>
          </a:p>
          <a:p>
            <a:r>
              <a:t>TRANSITION:</a:t>
            </a:r>
          </a:p>
          <a:p>
            <a:r>
              <a:t>   Next topic...</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2 min</a:t>
            </a:r>
          </a:p>
          <a:p>
            <a:endParaRPr/>
          </a:p>
          <a:p>
            <a:r>
              <a:t>OPEN WITH:</a:t>
            </a:r>
          </a:p>
          <a:p>
            <a:r>
              <a:t>   Your CLAUDE.md is a living document, not a write-once artifact. Reza's rule: for each line, ask 'would removing this cause mistakes?' If not, cut it. Prune monthly. A 200-line CLAUDE.md full of outdated conventions is worse than a focused 30-line version — because Claude reads every line and tries to follow all of it, including the contradictions.</a:t>
            </a:r>
          </a:p>
          <a:p>
            <a:endParaRPr/>
          </a:p>
          <a:p>
            <a:r>
              <a:t>KEY POINTS:</a:t>
            </a:r>
          </a:p>
          <a:p>
            <a:r>
              <a:t>   * Pruning rule: 'Would removing this line cause Claude to make mistakes? If not, cut it.'</a:t>
            </a:r>
          </a:p>
          <a:p>
            <a:r>
              <a:t>   * Monthly review cadence — put it on your calendar</a:t>
            </a:r>
          </a:p>
          <a:p>
            <a:r>
              <a:t>   * Signs of bloat: Claude following old conventions you've abandoned, conflicting rules, generic advice that adds no value</a:t>
            </a:r>
          </a:p>
          <a:p>
            <a:r>
              <a:t>   * Short, specific CLAUDE.md &gt; long, generic CLAUDE.md</a:t>
            </a:r>
          </a:p>
          <a:p>
            <a:r>
              <a:t>   * Source: Reza Rezvani — 'I spent months blaming Claude for not understanding my project while doing nothing to help it understand'</a:t>
            </a:r>
          </a:p>
          <a:p>
            <a:endParaRPr/>
          </a:p>
          <a:p>
            <a:r>
              <a:t>TRANSITION:</a:t>
            </a:r>
          </a:p>
          <a:p>
            <a:r>
              <a:t>   Now let's see how @ mentions let you feed specific context beyond CLAUDE.md.</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4 min</a:t>
            </a:r>
          </a:p>
          <a:p>
            <a:endParaRPr/>
          </a:p>
          <a:p>
            <a:r>
              <a:t>OPEN WITH:</a:t>
            </a:r>
          </a:p>
          <a:p>
            <a:r>
              <a:t>   Your CLAUDE.md doesn't just define project context — it controls Claude's behavior. There are 12 tested behavior templates you can paste in right now. I've grouped them into three working styles.</a:t>
            </a:r>
          </a:p>
          <a:p>
            <a:endParaRPr/>
          </a:p>
          <a:p>
            <a:r>
              <a:t>KEY POINTS:</a:t>
            </a:r>
          </a:p>
          <a:p>
            <a:r>
              <a:t>   * Fast and Autonomous: Three templates that make Claude a proactive partner. The 'default to action' template tells Claude to implement ideas instead of asking permission. The 'parallel execution' template lets Claude read multiple files and run multiple searches simultaneously — massive speed boost. And 'investigate before answering' prevents hallucination by forcing Claude to actually read code before making claims about it. This combo is for experienced developers who review fast.</a:t>
            </a:r>
          </a:p>
          <a:p>
            <a:r>
              <a:t>   * Careful and Controlled: The opposite approach. 'Conservative mode' tells Claude not to change files unless explicitly asked — it defaults to research, analysis, and recommendations instead of action. 'Explain everything' forces Claude to summarize what it did, why, and what the outcome was after every task. Combined with anti-hallucination, this is your learning mode — slower but you understand every decision.</a:t>
            </a:r>
          </a:p>
          <a:p>
            <a:r>
              <a:t>   * Long Projects: For complex multi-session work. 'Context management' tells Claude never to stop early as the context window fills — save state and keep going. 'State tracking' establishes a system: tests.json for test status, progress.txt for session notes, regular commits for history. 'Complete work systematically' prevents the half-finished function problem — Claude finishes each component fully before moving on.</a:t>
            </a:r>
          </a:p>
          <a:p>
            <a:r>
              <a:t>   * Three more worth knowing: 'Prevent over-engineering' stops Claude from adding unnecessary abstractions — critical for skeptics who've seen AI bloat code. 'Real solutions, not test hacks' prevents Claude from hard-coding values to pass tests. And 'better frontend design' fights the 'AI slop' aesthetic — generic UIs that all look the same.</a:t>
            </a:r>
          </a:p>
          <a:p>
            <a:r>
              <a:t>   * These are all in your handout. Copy-paste ready. Pick 3 to 5 that match your style, paste them into CLAUDE.md, and Claude follows them immediately. You can change them anytime.</a:t>
            </a:r>
          </a:p>
          <a:p>
            <a:endParaRPr/>
          </a:p>
          <a:p>
            <a:r>
              <a:t>ASK THE CLASS:</a:t>
            </a:r>
          </a:p>
          <a:p>
            <a:r>
              <a:t>   "Which working style matches you — fast and autonomous, or careful and controlled? Why?"</a:t>
            </a:r>
          </a:p>
          <a:p>
            <a:r>
              <a:t>   [PAUSE for 30-60 seconds]</a:t>
            </a:r>
          </a:p>
          <a:p>
            <a:endParaRPr/>
          </a:p>
          <a:p>
            <a:r>
              <a:t>TRANSITION:</a:t>
            </a:r>
          </a:p>
          <a:p>
            <a:r>
              <a:t>   Your handout has all 12 templates with full XML blocks ready to paste. Now let's talk about feeding Claude the right context.</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4 min</a:t>
            </a:r>
          </a:p>
          <a:p>
            <a:endParaRPr/>
          </a:p>
          <a:p>
            <a:r>
              <a:t>OPEN WITH:</a:t>
            </a:r>
          </a:p>
          <a:p>
            <a:r>
              <a:t>   We have been talking about CLAUDE.md as if there is one file. There are actually six layers of memory, and understanding the hierarchy is what separates someone who uses Claude Code from someone who runs a team on it.</a:t>
            </a:r>
          </a:p>
          <a:p>
            <a:endParaRPr/>
          </a:p>
          <a:p>
            <a:r>
              <a:t>KEY POINTS:</a:t>
            </a:r>
          </a:p>
          <a:p>
            <a:r>
              <a:t>   * At the top: managed policy. This is the enterprise layer. IT deploys a CLAUDE.md to a system directory and it cannot be overridden by anyone. On Mac it goes in /Library/Application Support/ClaudeCode/, on Linux /etc/claude-code/, on Windows C:/Program Files/ClaudeCode/. This is where you put company coding standards, security policies, compliance requirements. Nobody can override these.</a:t>
            </a:r>
          </a:p>
          <a:p>
            <a:r>
              <a:t>   * Project memory is what most people think of as CLAUDE.md. It lives at the repo root or in .claude/ and gets committed to git. Every collaborator gets the same instructions. This is your team brain.</a:t>
            </a:r>
          </a:p>
          <a:p>
            <a:r>
              <a:t>   * Project rules are new and powerful. The .claude/rules/ directory lets you create modular, topic-specific files. One for testing conventions, one for API standards, one for language-specific guidelines. Much cleaner than stuffing everything into one CLAUDE.md file.</a:t>
            </a:r>
          </a:p>
          <a:p>
            <a:r>
              <a:t>   * User memory at ~/.claude/CLAUDE.md is your personal preferences across all projects. Code styling, personal tooling shortcuts, communication preferences. Only you see this.</a:t>
            </a:r>
          </a:p>
          <a:p>
            <a:r>
              <a:t>   * CLAUDE.local.md is the sleeper feature. Personal overrides for a specific project — your sandbox URLs, preferred test data, local config. Automatically added to .gitignore so it never leaks into the repo.</a:t>
            </a:r>
          </a:p>
          <a:p>
            <a:r>
              <a:t>   * And then auto memory, which we will cover next — this is Claude writing notes to itself. Completely different from everything above.</a:t>
            </a:r>
          </a:p>
          <a:p>
            <a:endParaRPr/>
          </a:p>
          <a:p>
            <a:r>
              <a:t>TRANSITION:</a:t>
            </a:r>
          </a:p>
          <a:p>
            <a:r>
              <a:t>   Let me show you the auto memory system, because this one surprises most people.</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4 min</a:t>
            </a:r>
          </a:p>
          <a:p>
            <a:endParaRPr/>
          </a:p>
          <a:p>
            <a:r>
              <a:t>OPEN WITH:</a:t>
            </a:r>
          </a:p>
          <a:p>
            <a:r>
              <a:t>   Here is where it gets interesting. Everything we just covered is memory YOU write for Claude. Auto memory is memory CLAUDE writes for itself. As it works on your project, it automatically saves patterns, debugging insights, architecture notes, and your preferences. Next session, it remembers.</a:t>
            </a:r>
          </a:p>
          <a:p>
            <a:endParaRPr/>
          </a:p>
          <a:p>
            <a:r>
              <a:t>KEY POINTS:</a:t>
            </a:r>
          </a:p>
          <a:p>
            <a:r>
              <a:t>   * Auto memory is enabled by default. Claude creates a directory at ~/.claude/projects/ with a folder for each project, identified by the git repository root. All subdirectories within the same repo share one memory directory.</a:t>
            </a:r>
          </a:p>
          <a:p>
            <a:r>
              <a:t>   * Inside that directory, MEMORY.md acts as an index. The first 200 lines load into Claude's context at the start of every session. That is the hard limit — 200 lines. So Claude is instructed to keep MEMORY.md concise and move detailed notes into separate topic files like debugging.md or api-conventions.md.</a:t>
            </a:r>
          </a:p>
          <a:p>
            <a:r>
              <a:t>   * Those topic files do NOT load at startup. Claude reads them on demand when it needs the information. This is progressive disclosure — keep the system prompt lean, pull detail when needed.</a:t>
            </a:r>
          </a:p>
          <a:p>
            <a:r>
              <a:t>   * You will see Claude update these files during your session. It might add a note after solving a tricky debugging problem, or record a pattern it noticed in your codebase. Over time, this compounds — Claude gets better at your specific project with every session.</a:t>
            </a:r>
          </a:p>
          <a:p>
            <a:r>
              <a:t>   * Here is the practical tip: you can tell Claude to remember something specific. Say 'remember that we use pnpm not npm' or 'save to memory that the API tests require a local Redis instance.' Claude writes it to auto memory and it persists across sessions.</a:t>
            </a:r>
          </a:p>
          <a:p>
            <a:endParaRPr/>
          </a:p>
          <a:p>
            <a:r>
              <a:t>TRANSITION:</a:t>
            </a:r>
          </a:p>
          <a:p>
            <a:r>
              <a:t>   Let me show you the /memory command that ties all of this together.</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3 min</a:t>
            </a:r>
          </a:p>
          <a:p>
            <a:endParaRPr/>
          </a:p>
          <a:p>
            <a:r>
              <a:t>OPEN WITH:</a:t>
            </a:r>
          </a:p>
          <a:p>
            <a:r>
              <a:t>   The /memory command is your dashboard for all of Claude's memory. Run it and you see every memory file across all layers — managed, project, user, local, and auto memory. You can open and edit any of them right from the selector.</a:t>
            </a:r>
          </a:p>
          <a:p>
            <a:endParaRPr/>
          </a:p>
          <a:p>
            <a:r>
              <a:t>KEY POINTS:</a:t>
            </a:r>
          </a:p>
          <a:p>
            <a:r>
              <a:t>   * The file selector is the fastest way to manage memory. You see everything in one place and can jump to any file to edit it. The toggle at the bottom lets you turn auto memory on or off for the current project.</a:t>
            </a:r>
          </a:p>
          <a:p>
            <a:r>
              <a:t>   * The 'remember that' pattern is something students should practice immediately. Instead of editing CLAUDE.md manually, just tell Claude in conversation: 'remember that we use pnpm not npm.' Claude writes it to auto memory and it persists. This is the lowest-friction way to build project knowledge over time.</a:t>
            </a:r>
          </a:p>
          <a:p>
            <a:r>
              <a:t>   * The hash shortcut is even faster. Type # followed by your note in the chat, and Claude adds it to memory. Quick notes without interrupting your workflow.</a:t>
            </a:r>
          </a:p>
          <a:p>
            <a:r>
              <a:t>   * For teams that want centralized control: managed settings can disable auto memory globally with autoMemoryEnabled set to false. Some security-conscious orgs do this because auto memory stores project context on the developer's machine. But for most teams, the compounding benefit far outweighs the risk.</a:t>
            </a:r>
          </a:p>
          <a:p>
            <a:r>
              <a:t>   * The 200-line limit on MEMORY.md is worth emphasizing. If auto memory grows too large, Claude's context gets bloated and performance degrades. Teach your team to periodically review auto memory and prune anything that is no longer relevant. Same pruning discipline we covered for CLAUDE.md.</a:t>
            </a:r>
          </a:p>
          <a:p>
            <a:endParaRPr/>
          </a:p>
          <a:p>
            <a:r>
              <a:t>TRANSITION:</a:t>
            </a:r>
          </a:p>
          <a:p>
            <a:r>
              <a:t>   Now let me show you all of this in action with a demo.</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5 min</a:t>
            </a:r>
          </a:p>
          <a:p>
            <a:endParaRPr/>
          </a:p>
          <a:p>
            <a:r>
              <a:t>OPEN WITH:</a:t>
            </a:r>
          </a:p>
          <a:p>
            <a:r>
              <a:t>   Watch how folder-based context eliminates copy-pasting entirely.</a:t>
            </a:r>
          </a:p>
          <a:p>
            <a:endParaRPr/>
          </a:p>
          <a:p>
            <a:r>
              <a:t>KEY POINTS:</a:t>
            </a:r>
          </a:p>
          <a:p>
            <a:r>
              <a:t>   * Create folder: competitors/ with competitors.md listing 3-4 competitors and analysis-template.md with your preferred format</a:t>
            </a:r>
          </a:p>
          <a:p>
            <a:r>
              <a:t>   * Add CLAUDE.md: 'When asked to analyse competitors, use the template in analysis-template.md. Output to analysis-results.md.'</a:t>
            </a:r>
          </a:p>
          <a:p>
            <a:r>
              <a:t>   * Run: claude 'analyse our top 3 competitors using the template'</a:t>
            </a:r>
          </a:p>
          <a:p>
            <a:r>
              <a:t>   * Claude reads the folder, understands the template, generates structured analysis — zero copy-pasting</a:t>
            </a:r>
          </a:p>
          <a:p>
            <a:r>
              <a:t>   * This is the power shift from browser: context lives in files, not in your clipboard</a:t>
            </a:r>
          </a:p>
          <a:p>
            <a:endParaRPr/>
          </a:p>
          <a:p>
            <a:r>
              <a:t>DEMO:</a:t>
            </a:r>
          </a:p>
          <a:p>
            <a:r>
              <a:t>   Pre-create a competitors/ folder with competitors.md (3 real competitors), analysis-template.md (SWOT or similar), and CLAUDE.md with routing instructions. Run the command live. Show the generated output.</a:t>
            </a:r>
          </a:p>
          <a:p>
            <a:endParaRPr/>
          </a:p>
          <a:p>
            <a:r>
              <a:t>TRANSITION:</a:t>
            </a:r>
          </a:p>
          <a:p>
            <a:r>
              <a:t>   That's the power of file-based context. Let's dig deeper into how context management works.</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3 min</a:t>
            </a:r>
          </a:p>
          <a:p>
            <a:endParaRPr/>
          </a:p>
          <a:p>
            <a:r>
              <a:t>OPEN WITH:</a:t>
            </a:r>
          </a:p>
          <a:p>
            <a:r>
              <a:t>   Let's explore @ Mentions &amp; Context Feeding.</a:t>
            </a:r>
          </a:p>
          <a:p>
            <a:endParaRPr/>
          </a:p>
          <a:p>
            <a:r>
              <a:t>KEY POINTS:</a:t>
            </a:r>
          </a:p>
          <a:p>
            <a:r>
              <a:t>   * Core concept</a:t>
            </a:r>
          </a:p>
          <a:p>
            <a:r>
              <a:t>   * Practical application</a:t>
            </a:r>
          </a:p>
          <a:p>
            <a:r>
              <a:t>   * Real-world benefit</a:t>
            </a:r>
          </a:p>
          <a:p>
            <a:endParaRPr/>
          </a:p>
          <a:p>
            <a:r>
              <a:t>TRANSITION:</a:t>
            </a:r>
          </a:p>
          <a:p>
            <a:r>
              <a:t>   Next topic...</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3 min</a:t>
            </a:r>
          </a:p>
          <a:p>
            <a:endParaRPr/>
          </a:p>
          <a:p>
            <a:r>
              <a:t>OPEN WITH:</a:t>
            </a:r>
          </a:p>
          <a:p>
            <a:r>
              <a:t>   Let's explore @ Mentioning Files.</a:t>
            </a:r>
          </a:p>
          <a:p>
            <a:endParaRPr/>
          </a:p>
          <a:p>
            <a:r>
              <a:t>KEY POINTS:</a:t>
            </a:r>
          </a:p>
          <a:p>
            <a:r>
              <a:t>   * Core concept</a:t>
            </a:r>
          </a:p>
          <a:p>
            <a:r>
              <a:t>   * Practical application</a:t>
            </a:r>
          </a:p>
          <a:p>
            <a:r>
              <a:t>   * Real-world benefit</a:t>
            </a:r>
          </a:p>
          <a:p>
            <a:endParaRPr/>
          </a:p>
          <a:p>
            <a:r>
              <a:t>TRANSITION:</a:t>
            </a:r>
          </a:p>
          <a:p>
            <a:r>
              <a:t>   Next topic...</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3 min</a:t>
            </a:r>
          </a:p>
          <a:p>
            <a:endParaRPr/>
          </a:p>
          <a:p>
            <a:r>
              <a:t>OPEN WITH:</a:t>
            </a:r>
          </a:p>
          <a:p>
            <a:r>
              <a:t>   Let's explore @ Folders, URLs, Git Commits.</a:t>
            </a:r>
          </a:p>
          <a:p>
            <a:endParaRPr/>
          </a:p>
          <a:p>
            <a:r>
              <a:t>KEY POINTS:</a:t>
            </a:r>
          </a:p>
          <a:p>
            <a:r>
              <a:t>   * Core concept</a:t>
            </a:r>
          </a:p>
          <a:p>
            <a:r>
              <a:t>   * Practical application</a:t>
            </a:r>
          </a:p>
          <a:p>
            <a:r>
              <a:t>   * Real-world benefit</a:t>
            </a:r>
          </a:p>
          <a:p>
            <a:endParaRPr/>
          </a:p>
          <a:p>
            <a:r>
              <a:t>TRANSITION:</a:t>
            </a:r>
          </a:p>
          <a:p>
            <a:r>
              <a:t>   Next topic...</a:t>
            </a: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3 min</a:t>
            </a:r>
          </a:p>
          <a:p>
            <a:endParaRPr/>
          </a:p>
          <a:p>
            <a:r>
              <a:t>OPEN WITH:</a:t>
            </a:r>
          </a:p>
          <a:p>
            <a:r>
              <a:t>   Let's explore Building Context: Focused vs Broad.</a:t>
            </a:r>
          </a:p>
          <a:p>
            <a:endParaRPr/>
          </a:p>
          <a:p>
            <a:r>
              <a:t>KEY POINTS:</a:t>
            </a:r>
          </a:p>
          <a:p>
            <a:r>
              <a:t>   * Core concept</a:t>
            </a:r>
          </a:p>
          <a:p>
            <a:r>
              <a:t>   * Practical application</a:t>
            </a:r>
          </a:p>
          <a:p>
            <a:r>
              <a:t>   * Real-world benefit</a:t>
            </a:r>
          </a:p>
          <a:p>
            <a:endParaRPr/>
          </a:p>
          <a:p>
            <a:r>
              <a:t>TRANSITION:</a:t>
            </a:r>
          </a:p>
          <a:p>
            <a:r>
              <a:t>   Next topic...</a:t>
            </a: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3 min</a:t>
            </a:r>
          </a:p>
          <a:p>
            <a:endParaRPr/>
          </a:p>
          <a:p>
            <a:r>
              <a:t>OPEN WITH:</a:t>
            </a:r>
          </a:p>
          <a:p>
            <a:r>
              <a:t>   Let's explore Context Feeding Techniques.</a:t>
            </a:r>
          </a:p>
          <a:p>
            <a:endParaRPr/>
          </a:p>
          <a:p>
            <a:r>
              <a:t>KEY POINTS:</a:t>
            </a:r>
          </a:p>
          <a:p>
            <a:r>
              <a:t>   * Core concept</a:t>
            </a:r>
          </a:p>
          <a:p>
            <a:r>
              <a:t>   * Practical application</a:t>
            </a:r>
          </a:p>
          <a:p>
            <a:r>
              <a:t>   * Real-world benefit</a:t>
            </a:r>
          </a:p>
          <a:p>
            <a:endParaRPr/>
          </a:p>
          <a:p>
            <a:r>
              <a:t>TRANSITION:</a:t>
            </a:r>
          </a:p>
          <a:p>
            <a:r>
              <a:t>   Next topic...</a:t>
            </a:r>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1 min</a:t>
            </a:r>
          </a:p>
          <a:p>
            <a:endParaRPr/>
          </a:p>
          <a:p>
            <a:r>
              <a:t>OPEN WITH:</a:t>
            </a:r>
          </a:p>
          <a:p>
            <a:r>
              <a:t>   Alright, we've covered installation, the agentic loop, CLAUDE.md, and @ mentions - that's a lot of concepts. Take 15 minutes, grab coffee, stretch your legs.</a:t>
            </a:r>
          </a:p>
          <a:p>
            <a:endParaRPr/>
          </a:p>
          <a:p>
            <a:r>
              <a:t>KEY POINTS:</a:t>
            </a:r>
          </a:p>
          <a:p>
            <a:r>
              <a:t>   * When we come back, we're diving into context management and token limits - this is where people often get stuck</a:t>
            </a:r>
          </a:p>
          <a:p>
            <a:endParaRPr/>
          </a:p>
          <a:p>
            <a:r>
              <a:t>TRANSITION:</a:t>
            </a:r>
          </a:p>
          <a:p>
            <a:r>
              <a:t>   See you in 15 minutes</a:t>
            </a:r>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3 min</a:t>
            </a:r>
          </a:p>
          <a:p>
            <a:endParaRPr/>
          </a:p>
          <a:p>
            <a:r>
              <a:t>OPEN WITH:</a:t>
            </a:r>
          </a:p>
          <a:p>
            <a:r>
              <a:t>   Let's explore Context Management.</a:t>
            </a:r>
          </a:p>
          <a:p>
            <a:endParaRPr/>
          </a:p>
          <a:p>
            <a:r>
              <a:t>KEY POINTS:</a:t>
            </a:r>
          </a:p>
          <a:p>
            <a:r>
              <a:t>   * Core concept</a:t>
            </a:r>
          </a:p>
          <a:p>
            <a:r>
              <a:t>   * Practical application</a:t>
            </a:r>
          </a:p>
          <a:p>
            <a:r>
              <a:t>   * Real-world benefit</a:t>
            </a:r>
          </a:p>
          <a:p>
            <a:endParaRPr/>
          </a:p>
          <a:p>
            <a:r>
              <a:t>TRANSITION:</a:t>
            </a:r>
          </a:p>
          <a:p>
            <a:r>
              <a:t>   Next topic...</a:t>
            </a:r>
          </a:p>
        </p:txBody>
      </p:sp>
      <p:sp>
        <p:nvSpPr>
          <p:cNvPr id="4" name="Slide Number Placeholder 3"/>
          <p:cNvSpPr>
            <a:spLocks noGrp="1"/>
          </p:cNvSpPr>
          <p:nvPr>
            <p:ph type="sldNum" sz="quarter" idx="5"/>
          </p:nvPr>
        </p:nvSpPr>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3 min</a:t>
            </a:r>
          </a:p>
          <a:p>
            <a:endParaRPr/>
          </a:p>
          <a:p>
            <a:r>
              <a:t>OPEN WITH:</a:t>
            </a:r>
          </a:p>
          <a:p>
            <a:r>
              <a:t>   Let's explore How Claude Code Reads Your Workspace.</a:t>
            </a:r>
          </a:p>
          <a:p>
            <a:endParaRPr/>
          </a:p>
          <a:p>
            <a:r>
              <a:t>KEY POINTS:</a:t>
            </a:r>
          </a:p>
          <a:p>
            <a:r>
              <a:t>   * Core concept</a:t>
            </a:r>
          </a:p>
          <a:p>
            <a:r>
              <a:t>   * Practical application</a:t>
            </a:r>
          </a:p>
          <a:p>
            <a:r>
              <a:t>   * Real-world benefit</a:t>
            </a:r>
          </a:p>
          <a:p>
            <a:endParaRPr/>
          </a:p>
          <a:p>
            <a:r>
              <a:t>TRANSITION:</a:t>
            </a:r>
          </a:p>
          <a:p>
            <a:r>
              <a:t>   Next topic...</a:t>
            </a:r>
          </a:p>
        </p:txBody>
      </p:sp>
      <p:sp>
        <p:nvSpPr>
          <p:cNvPr id="4" name="Slide Number Placeholder 3"/>
          <p:cNvSpPr>
            <a:spLocks noGrp="1"/>
          </p:cNvSpPr>
          <p:nvPr>
            <p:ph type="sldNum" sz="quarter" idx="5"/>
          </p:nvPr>
        </p:nvSpPr>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3 min</a:t>
            </a:r>
          </a:p>
          <a:p>
            <a:endParaRPr/>
          </a:p>
          <a:p>
            <a:r>
              <a:t>OPEN WITH:</a:t>
            </a:r>
          </a:p>
          <a:p>
            <a:r>
              <a:t>   Let's explore What's in Context Right Now.</a:t>
            </a:r>
          </a:p>
          <a:p>
            <a:endParaRPr/>
          </a:p>
          <a:p>
            <a:r>
              <a:t>KEY POINTS:</a:t>
            </a:r>
          </a:p>
          <a:p>
            <a:r>
              <a:t>   * Core concept</a:t>
            </a:r>
          </a:p>
          <a:p>
            <a:r>
              <a:t>   * Practical application</a:t>
            </a:r>
          </a:p>
          <a:p>
            <a:r>
              <a:t>   * Real-world benefit</a:t>
            </a:r>
          </a:p>
          <a:p>
            <a:endParaRPr/>
          </a:p>
          <a:p>
            <a:r>
              <a:t>TRANSITION:</a:t>
            </a:r>
          </a:p>
          <a:p>
            <a:r>
              <a:t>   Next topic...</a:t>
            </a:r>
          </a:p>
        </p:txBody>
      </p:sp>
      <p:sp>
        <p:nvSpPr>
          <p:cNvPr id="4" name="Slide Number Placeholder 3"/>
          <p:cNvSpPr>
            <a:spLocks noGrp="1"/>
          </p:cNvSpPr>
          <p:nvPr>
            <p:ph type="sldNum" sz="quarter" idx="5"/>
          </p:nvPr>
        </p:nvSpPr>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4 min</a:t>
            </a:r>
          </a:p>
          <a:p>
            <a:endParaRPr/>
          </a:p>
          <a:p>
            <a:r>
              <a:t>OPEN WITH:</a:t>
            </a:r>
          </a:p>
          <a:p>
            <a:r>
              <a:t>   Token limits are rarely a problem if you understand what burns tokens and how to avoid it. Let's talk about the common culprits and fixes.</a:t>
            </a:r>
          </a:p>
          <a:p>
            <a:endParaRPr/>
          </a:p>
          <a:p>
            <a:r>
              <a:t>KEY POINTS:</a:t>
            </a:r>
          </a:p>
          <a:p>
            <a:r>
              <a:t>   * Key insight</a:t>
            </a:r>
          </a:p>
          <a:p>
            <a:r>
              <a:t>   * Practical application</a:t>
            </a:r>
          </a:p>
          <a:p>
            <a:r>
              <a:t>   * Why it matters</a:t>
            </a:r>
          </a:p>
          <a:p>
            <a:endParaRPr/>
          </a:p>
          <a:p>
            <a:r>
              <a:t>REAL-WORLD EXAMPLE:</a:t>
            </a:r>
          </a:p>
          <a:p>
            <a:r>
              <a:t>   Example demonstrating this concept.</a:t>
            </a:r>
          </a:p>
          <a:p>
            <a:endParaRPr/>
          </a:p>
          <a:p>
            <a:r>
              <a:t>TRANSITION:</a:t>
            </a:r>
          </a:p>
          <a:p>
            <a:r>
              <a:t>   Next...</a:t>
            </a:r>
          </a:p>
        </p:txBody>
      </p:sp>
      <p:sp>
        <p:nvSpPr>
          <p:cNvPr id="4" name="Slide Number Placeholder 3"/>
          <p:cNvSpPr>
            <a:spLocks noGrp="1"/>
          </p:cNvSpPr>
          <p:nvPr>
            <p:ph type="sldNum" sz="quarter" idx="5"/>
          </p:nvPr>
        </p:nvSpPr>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4 min</a:t>
            </a:r>
          </a:p>
          <a:p>
            <a:endParaRPr/>
          </a:p>
          <a:p>
            <a:r>
              <a:t>OPEN WITH:</a:t>
            </a:r>
          </a:p>
          <a:p>
            <a:r>
              <a:t>   .claudeignore uses the exact same syntax as .gitignore - if you know one, you know the other. Let's look at essential patterns.</a:t>
            </a:r>
          </a:p>
          <a:p>
            <a:endParaRPr/>
          </a:p>
          <a:p>
            <a:r>
              <a:t>KEY POINTS:</a:t>
            </a:r>
          </a:p>
          <a:p>
            <a:r>
              <a:t>   * Key insight</a:t>
            </a:r>
          </a:p>
          <a:p>
            <a:r>
              <a:t>   * Practical application</a:t>
            </a:r>
          </a:p>
          <a:p>
            <a:r>
              <a:t>   * Why it matters</a:t>
            </a:r>
          </a:p>
          <a:p>
            <a:endParaRPr/>
          </a:p>
          <a:p>
            <a:r>
              <a:t>REAL-WORLD EXAMPLE:</a:t>
            </a:r>
          </a:p>
          <a:p>
            <a:r>
              <a:t>   Example demonstrating this concept.</a:t>
            </a:r>
          </a:p>
          <a:p>
            <a:endParaRPr/>
          </a:p>
          <a:p>
            <a:r>
              <a:t>TRANSITION:</a:t>
            </a:r>
          </a:p>
          <a:p>
            <a:r>
              <a:t>   Next...</a:t>
            </a:r>
          </a:p>
        </p:txBody>
      </p:sp>
      <p:sp>
        <p:nvSpPr>
          <p:cNvPr id="4" name="Slide Number Placeholder 3"/>
          <p:cNvSpPr>
            <a:spLocks noGrp="1"/>
          </p:cNvSpPr>
          <p:nvPr>
            <p:ph type="sldNum" sz="quarter" idx="5"/>
          </p:nvPr>
        </p:nvSpPr>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4 min</a:t>
            </a:r>
          </a:p>
          <a:p>
            <a:endParaRPr/>
          </a:p>
          <a:p>
            <a:r>
              <a:t>OPEN WITH:</a:t>
            </a:r>
          </a:p>
          <a:p>
            <a:r>
              <a:t>   If you're working on a codebase with 1000+ files, you need strategies beyond .claudeignore.</a:t>
            </a:r>
          </a:p>
          <a:p>
            <a:endParaRPr/>
          </a:p>
          <a:p>
            <a:r>
              <a:t>KEY POINTS:</a:t>
            </a:r>
          </a:p>
          <a:p>
            <a:r>
              <a:t>   * Key insight</a:t>
            </a:r>
          </a:p>
          <a:p>
            <a:r>
              <a:t>   * Practical application</a:t>
            </a:r>
          </a:p>
          <a:p>
            <a:r>
              <a:t>   * Why it matters</a:t>
            </a:r>
          </a:p>
          <a:p>
            <a:endParaRPr/>
          </a:p>
          <a:p>
            <a:r>
              <a:t>REAL-WORLD EXAMPLE:</a:t>
            </a:r>
          </a:p>
          <a:p>
            <a:r>
              <a:t>   Example demonstrating this concept.</a:t>
            </a:r>
          </a:p>
          <a:p>
            <a:endParaRPr/>
          </a:p>
          <a:p>
            <a:r>
              <a:t>TRANSITION:</a:t>
            </a:r>
          </a:p>
          <a:p>
            <a:r>
              <a:t>   Next...</a:t>
            </a:r>
          </a:p>
        </p:txBody>
      </p:sp>
      <p:sp>
        <p:nvSpPr>
          <p:cNvPr id="4" name="Slide Number Placeholder 3"/>
          <p:cNvSpPr>
            <a:spLocks noGrp="1"/>
          </p:cNvSpPr>
          <p:nvPr>
            <p:ph type="sldNum" sz="quarter" idx="5"/>
          </p:nvPr>
        </p:nvSpPr>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3 min</a:t>
            </a:r>
          </a:p>
          <a:p>
            <a:endParaRPr/>
          </a:p>
          <a:p>
            <a:r>
              <a:t>OPEN WITH:</a:t>
            </a:r>
          </a:p>
          <a:p>
            <a:r>
              <a:t>   Here's something most people don't realize: MCP tool descriptions can eat a third of your context window before you type a single character. It's like starting a meeting where someone's already been talking for 20 minutes about something unrelated. You show up and your attention budget is already partly spent.</a:t>
            </a:r>
          </a:p>
          <a:p>
            <a:endParaRPr/>
          </a:p>
          <a:p>
            <a:r>
              <a:t>KEY POINTS:</a:t>
            </a:r>
          </a:p>
          <a:p>
            <a:r>
              <a:t>   * Context window is finite — currently 200K tokens for Claude, but effective quality degrades well before the limit</a:t>
            </a:r>
          </a:p>
          <a:p>
            <a:r>
              <a:t>   * MCP tools: each server registers tool descriptions that stay in context permanently during the session</a:t>
            </a:r>
          </a:p>
          <a:p>
            <a:r>
              <a:t>   * Solution: Only enable MCP servers you actually need for the current task</a:t>
            </a:r>
          </a:p>
          <a:p>
            <a:r>
              <a:t>   * /cost shows your current token usage — check it periodically</a:t>
            </a:r>
          </a:p>
          <a:p>
            <a:r>
              <a:t>   * /compact summarizes conversation history to free up context without losing key decisions</a:t>
            </a:r>
          </a:p>
          <a:p>
            <a:r>
              <a:t>   * Source: Reza Rezvani — monitoring context was the second major breakthrough after Plan Mode</a:t>
            </a:r>
          </a:p>
          <a:p>
            <a:endParaRPr/>
          </a:p>
          <a:p>
            <a:r>
              <a:t>TRANSITION:</a:t>
            </a:r>
          </a:p>
          <a:p>
            <a:r>
              <a:t>   Now let's optimize your context management with a hands-on demo.</a:t>
            </a:r>
          </a:p>
        </p:txBody>
      </p:sp>
      <p:sp>
        <p:nvSpPr>
          <p:cNvPr id="4" name="Slide Number Placeholder 3"/>
          <p:cNvSpPr>
            <a:spLocks noGrp="1"/>
          </p:cNvSpPr>
          <p:nvPr>
            <p:ph type="sldNum" sz="quarter" idx="5"/>
          </p:nvPr>
        </p:nvSpPr>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4 min</a:t>
            </a:r>
          </a:p>
          <a:p>
            <a:endParaRPr/>
          </a:p>
          <a:p>
            <a:r>
              <a:t>OPEN WITH:</a:t>
            </a:r>
          </a:p>
          <a:p>
            <a:r>
              <a:t>   Let me show you a real scenario - I'm going to optimize context and watch tokens drop.</a:t>
            </a:r>
          </a:p>
          <a:p>
            <a:endParaRPr/>
          </a:p>
          <a:p>
            <a:r>
              <a:t>KEY POINTS:</a:t>
            </a:r>
          </a:p>
          <a:p>
            <a:r>
              <a:t>   * Key insight</a:t>
            </a:r>
          </a:p>
          <a:p>
            <a:r>
              <a:t>   * Practical application</a:t>
            </a:r>
          </a:p>
          <a:p>
            <a:r>
              <a:t>   * Why it matters</a:t>
            </a:r>
          </a:p>
          <a:p>
            <a:endParaRPr/>
          </a:p>
          <a:p>
            <a:r>
              <a:t>REAL-WORLD EXAMPLE:</a:t>
            </a:r>
          </a:p>
          <a:p>
            <a:r>
              <a:t>   Example demonstrating this concept.</a:t>
            </a:r>
          </a:p>
          <a:p>
            <a:endParaRPr/>
          </a:p>
          <a:p>
            <a:r>
              <a:t>DEMO:</a:t>
            </a:r>
          </a:p>
          <a:p>
            <a:r>
              <a:t>   Demo steps go here.</a:t>
            </a:r>
          </a:p>
          <a:p>
            <a:endParaRPr/>
          </a:p>
          <a:p>
            <a:r>
              <a:t>TRANSITION:</a:t>
            </a:r>
          </a:p>
          <a:p>
            <a:r>
              <a:t>   Next...</a:t>
            </a:r>
          </a:p>
        </p:txBody>
      </p:sp>
      <p:sp>
        <p:nvSpPr>
          <p:cNvPr id="4" name="Slide Number Placeholder 3"/>
          <p:cNvSpPr>
            <a:spLocks noGrp="1"/>
          </p:cNvSpPr>
          <p:nvPr>
            <p:ph type="sldNum" sz="quarter" idx="5"/>
          </p:nvPr>
        </p:nvSpPr>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45 min</a:t>
            </a:r>
          </a:p>
        </p:txBody>
      </p:sp>
      <p:sp>
        <p:nvSpPr>
          <p:cNvPr id="4" name="Slide Number Placeholder 3"/>
          <p:cNvSpPr>
            <a:spLocks noGrp="1"/>
          </p:cNvSpPr>
          <p:nvPr>
            <p:ph type="sldNum" sz="quarter" idx="5"/>
          </p:nvPr>
        </p:nvSpPr>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4 min</a:t>
            </a:r>
          </a:p>
          <a:p>
            <a:endParaRPr/>
          </a:p>
          <a:p>
            <a:r>
              <a:t>OPEN WITH:</a:t>
            </a:r>
          </a:p>
          <a:p>
            <a:r>
              <a:t>   Welcome back from lunch! This afternoon is all about power user features. We're starting with slash commands - these are your session control panel.</a:t>
            </a:r>
          </a:p>
          <a:p>
            <a:endParaRPr/>
          </a:p>
          <a:p>
            <a:r>
              <a:t>KEY POINTS:</a:t>
            </a:r>
          </a:p>
          <a:p>
            <a:r>
              <a:t>   * Key insight</a:t>
            </a:r>
          </a:p>
          <a:p>
            <a:r>
              <a:t>   * Practical application</a:t>
            </a:r>
          </a:p>
          <a:p>
            <a:r>
              <a:t>   * Why it matters</a:t>
            </a:r>
          </a:p>
          <a:p>
            <a:endParaRPr/>
          </a:p>
          <a:p>
            <a:r>
              <a:t>REAL-WORLD EXAMPLE:</a:t>
            </a:r>
          </a:p>
          <a:p>
            <a:r>
              <a:t>   Example demonstrating this concept.</a:t>
            </a:r>
          </a:p>
          <a:p>
            <a:endParaRPr/>
          </a:p>
          <a:p>
            <a:r>
              <a:t>TRANSITION:</a:t>
            </a:r>
          </a:p>
          <a:p>
            <a:r>
              <a:t>   Next...</a:t>
            </a:r>
          </a:p>
        </p:txBody>
      </p:sp>
      <p:sp>
        <p:nvSpPr>
          <p:cNvPr id="4" name="Slide Number Placeholder 3"/>
          <p:cNvSpPr>
            <a:spLocks noGrp="1"/>
          </p:cNvSpPr>
          <p:nvPr>
            <p:ph type="sldNum" sz="quarter" idx="5"/>
          </p:nvPr>
        </p:nvSpPr>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4 min</a:t>
            </a:r>
          </a:p>
          <a:p>
            <a:endParaRPr/>
          </a:p>
          <a:p>
            <a:r>
              <a:t>OPEN WITH:</a:t>
            </a:r>
          </a:p>
          <a:p>
            <a:r>
              <a:t>   There are about 15 slash commands total - you don't need to memorize them all, but knowing these core ones makes you way more effective.</a:t>
            </a:r>
          </a:p>
          <a:p>
            <a:endParaRPr/>
          </a:p>
          <a:p>
            <a:r>
              <a:t>KEY POINTS:</a:t>
            </a:r>
          </a:p>
          <a:p>
            <a:r>
              <a:t>   * Key insight</a:t>
            </a:r>
          </a:p>
          <a:p>
            <a:r>
              <a:t>   * Practical application</a:t>
            </a:r>
          </a:p>
          <a:p>
            <a:r>
              <a:t>   * Why it matters</a:t>
            </a:r>
          </a:p>
          <a:p>
            <a:endParaRPr/>
          </a:p>
          <a:p>
            <a:r>
              <a:t>REAL-WORLD EXAMPLE:</a:t>
            </a:r>
          </a:p>
          <a:p>
            <a:r>
              <a:t>   Example demonstrating this concept.</a:t>
            </a:r>
          </a:p>
          <a:p>
            <a:endParaRPr/>
          </a:p>
          <a:p>
            <a:r>
              <a:t>TRANSITION:</a:t>
            </a:r>
          </a:p>
          <a:p>
            <a:r>
              <a:t>   Next...</a:t>
            </a:r>
          </a:p>
        </p:txBody>
      </p:sp>
      <p:sp>
        <p:nvSpPr>
          <p:cNvPr id="4" name="Slide Number Placeholder 3"/>
          <p:cNvSpPr>
            <a:spLocks noGrp="1"/>
          </p:cNvSpPr>
          <p:nvPr>
            <p:ph type="sldNum" sz="quarter" idx="5"/>
          </p:nvPr>
        </p:nvSpPr>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4 min</a:t>
            </a:r>
          </a:p>
          <a:p>
            <a:endParaRPr/>
          </a:p>
          <a:p>
            <a:r>
              <a:t>OPEN WITH:</a:t>
            </a:r>
          </a:p>
          <a:p>
            <a:r>
              <a:t>   These three commands control your session state - think of them as save, reset, and optimize.</a:t>
            </a:r>
          </a:p>
          <a:p>
            <a:endParaRPr/>
          </a:p>
          <a:p>
            <a:r>
              <a:t>KEY POINTS:</a:t>
            </a:r>
          </a:p>
          <a:p>
            <a:r>
              <a:t>   * Key insight</a:t>
            </a:r>
          </a:p>
          <a:p>
            <a:r>
              <a:t>   * Practical application</a:t>
            </a:r>
          </a:p>
          <a:p>
            <a:r>
              <a:t>   * Why it matters</a:t>
            </a:r>
          </a:p>
          <a:p>
            <a:endParaRPr/>
          </a:p>
          <a:p>
            <a:r>
              <a:t>REAL-WORLD EXAMPLE:</a:t>
            </a:r>
          </a:p>
          <a:p>
            <a:r>
              <a:t>   Example demonstrating this concept.</a:t>
            </a:r>
          </a:p>
          <a:p>
            <a:endParaRPr/>
          </a:p>
          <a:p>
            <a:r>
              <a:t>TRANSITION:</a:t>
            </a:r>
          </a:p>
          <a:p>
            <a:r>
              <a:t>   Next...</a:t>
            </a:r>
          </a:p>
        </p:txBody>
      </p:sp>
      <p:sp>
        <p:nvSpPr>
          <p:cNvPr id="4" name="Slide Number Placeholder 3"/>
          <p:cNvSpPr>
            <a:spLocks noGrp="1"/>
          </p:cNvSpPr>
          <p:nvPr>
            <p:ph type="sldNum" sz="quarter" idx="5"/>
          </p:nvPr>
        </p:nvSpPr>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4 min</a:t>
            </a:r>
          </a:p>
          <a:p>
            <a:endParaRPr/>
          </a:p>
          <a:p>
            <a:r>
              <a:t>OPEN WITH:</a:t>
            </a:r>
          </a:p>
          <a:p>
            <a:r>
              <a:t>   Being able to switch models mid-session is like having three different experts on call - you pick the right one for the job at hand.</a:t>
            </a:r>
          </a:p>
          <a:p>
            <a:endParaRPr/>
          </a:p>
          <a:p>
            <a:r>
              <a:t>KEY POINTS:</a:t>
            </a:r>
          </a:p>
          <a:p>
            <a:r>
              <a:t>   * Key insight</a:t>
            </a:r>
          </a:p>
          <a:p>
            <a:r>
              <a:t>   * Practical application</a:t>
            </a:r>
          </a:p>
          <a:p>
            <a:r>
              <a:t>   * Why it matters</a:t>
            </a:r>
          </a:p>
          <a:p>
            <a:endParaRPr/>
          </a:p>
          <a:p>
            <a:r>
              <a:t>REAL-WORLD EXAMPLE:</a:t>
            </a:r>
          </a:p>
          <a:p>
            <a:r>
              <a:t>   Example demonstrating this concept.</a:t>
            </a:r>
          </a:p>
          <a:p>
            <a:endParaRPr/>
          </a:p>
          <a:p>
            <a:r>
              <a:t>TRANSITION:</a:t>
            </a:r>
          </a:p>
          <a:p>
            <a:r>
              <a:t>   Next...</a:t>
            </a:r>
          </a:p>
        </p:txBody>
      </p:sp>
      <p:sp>
        <p:nvSpPr>
          <p:cNvPr id="4" name="Slide Number Placeholder 3"/>
          <p:cNvSpPr>
            <a:spLocks noGrp="1"/>
          </p:cNvSpPr>
          <p:nvPr>
            <p:ph type="sldNum" sz="quarter" idx="5"/>
          </p:nvPr>
        </p:nvSpPr>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4 min</a:t>
            </a:r>
          </a:p>
          <a:p>
            <a:endParaRPr/>
          </a:p>
          <a:p>
            <a:r>
              <a:t>OPEN WITH:</a:t>
            </a:r>
          </a:p>
          <a:p>
            <a:r>
              <a:t>   Permissions are your safety net - they control how much autonomy Claude Code has.</a:t>
            </a:r>
          </a:p>
          <a:p>
            <a:endParaRPr/>
          </a:p>
          <a:p>
            <a:r>
              <a:t>KEY POINTS:</a:t>
            </a:r>
          </a:p>
          <a:p>
            <a:r>
              <a:t>   * Key insight</a:t>
            </a:r>
          </a:p>
          <a:p>
            <a:r>
              <a:t>   * Practical application</a:t>
            </a:r>
          </a:p>
          <a:p>
            <a:r>
              <a:t>   * Why it matters</a:t>
            </a:r>
          </a:p>
          <a:p>
            <a:endParaRPr/>
          </a:p>
          <a:p>
            <a:r>
              <a:t>REAL-WORLD EXAMPLE:</a:t>
            </a:r>
          </a:p>
          <a:p>
            <a:r>
              <a:t>   Example demonstrating this concept.</a:t>
            </a:r>
          </a:p>
          <a:p>
            <a:endParaRPr/>
          </a:p>
          <a:p>
            <a:r>
              <a:t>TRANSITION:</a:t>
            </a:r>
          </a:p>
          <a:p>
            <a:r>
              <a:t>   Next...</a:t>
            </a:r>
          </a:p>
        </p:txBody>
      </p:sp>
      <p:sp>
        <p:nvSpPr>
          <p:cNvPr id="4" name="Slide Number Placeholder 3"/>
          <p:cNvSpPr>
            <a:spLocks noGrp="1"/>
          </p:cNvSpPr>
          <p:nvPr>
            <p:ph type="sldNum" sz="quarter" idx="5"/>
          </p:nvPr>
        </p:nvSpPr>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4 min</a:t>
            </a:r>
          </a:p>
          <a:p>
            <a:endParaRPr/>
          </a:p>
          <a:p>
            <a:r>
              <a:t>OPEN WITH:</a:t>
            </a:r>
          </a:p>
          <a:p>
            <a:r>
              <a:t>   Output control commands let you adjust how much or how little Claude Code tells you.</a:t>
            </a:r>
          </a:p>
          <a:p>
            <a:endParaRPr/>
          </a:p>
          <a:p>
            <a:r>
              <a:t>KEY POINTS:</a:t>
            </a:r>
          </a:p>
          <a:p>
            <a:r>
              <a:t>   * Key insight</a:t>
            </a:r>
          </a:p>
          <a:p>
            <a:r>
              <a:t>   * Practical application</a:t>
            </a:r>
          </a:p>
          <a:p>
            <a:r>
              <a:t>   * Why it matters</a:t>
            </a:r>
          </a:p>
          <a:p>
            <a:endParaRPr/>
          </a:p>
          <a:p>
            <a:r>
              <a:t>REAL-WORLD EXAMPLE:</a:t>
            </a:r>
          </a:p>
          <a:p>
            <a:r>
              <a:t>   Example demonstrating this concept.</a:t>
            </a:r>
          </a:p>
          <a:p>
            <a:endParaRPr/>
          </a:p>
          <a:p>
            <a:r>
              <a:t>TRANSITION:</a:t>
            </a:r>
          </a:p>
          <a:p>
            <a:r>
              <a:t>   Next...</a:t>
            </a:r>
          </a:p>
        </p:txBody>
      </p:sp>
      <p:sp>
        <p:nvSpPr>
          <p:cNvPr id="4" name="Slide Number Placeholder 3"/>
          <p:cNvSpPr>
            <a:spLocks noGrp="1"/>
          </p:cNvSpPr>
          <p:nvPr>
            <p:ph type="sldNum" sz="quarter" idx="5"/>
          </p:nvPr>
        </p:nvSpPr>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4 min</a:t>
            </a:r>
          </a:p>
          <a:p>
            <a:endParaRPr/>
          </a:p>
          <a:p>
            <a:r>
              <a:t>OPEN WITH:</a:t>
            </a:r>
          </a:p>
          <a:p>
            <a:r>
              <a:t>   This is next-level - you can create your own slash commands that encode your team's common workflows.</a:t>
            </a:r>
          </a:p>
          <a:p>
            <a:endParaRPr/>
          </a:p>
          <a:p>
            <a:r>
              <a:t>KEY POINTS:</a:t>
            </a:r>
          </a:p>
          <a:p>
            <a:r>
              <a:t>   * Key insight</a:t>
            </a:r>
          </a:p>
          <a:p>
            <a:r>
              <a:t>   * Practical application</a:t>
            </a:r>
          </a:p>
          <a:p>
            <a:r>
              <a:t>   * Why it matters</a:t>
            </a:r>
          </a:p>
          <a:p>
            <a:endParaRPr/>
          </a:p>
          <a:p>
            <a:r>
              <a:t>REAL-WORLD EXAMPLE:</a:t>
            </a:r>
          </a:p>
          <a:p>
            <a:r>
              <a:t>   Example demonstrating this concept.</a:t>
            </a:r>
          </a:p>
          <a:p>
            <a:endParaRPr/>
          </a:p>
          <a:p>
            <a:r>
              <a:t>TRANSITION:</a:t>
            </a:r>
          </a:p>
          <a:p>
            <a:r>
              <a:t>   Next...</a:t>
            </a:r>
          </a:p>
        </p:txBody>
      </p:sp>
      <p:sp>
        <p:nvSpPr>
          <p:cNvPr id="4" name="Slide Number Placeholder 3"/>
          <p:cNvSpPr>
            <a:spLocks noGrp="1"/>
          </p:cNvSpPr>
          <p:nvPr>
            <p:ph type="sldNum" sz="quarter" idx="5"/>
          </p:nvPr>
        </p:nvSpPr>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4 min</a:t>
            </a:r>
          </a:p>
          <a:p>
            <a:endParaRPr/>
          </a:p>
          <a:p>
            <a:r>
              <a:t>OPEN WITH:</a:t>
            </a:r>
          </a:p>
          <a:p>
            <a:r>
              <a:t>   Alright, I'm going to run through a rapid-fire demo of the most useful commands in one session.</a:t>
            </a:r>
          </a:p>
          <a:p>
            <a:endParaRPr/>
          </a:p>
          <a:p>
            <a:r>
              <a:t>KEY POINTS:</a:t>
            </a:r>
          </a:p>
          <a:p>
            <a:r>
              <a:t>   * Key insight</a:t>
            </a:r>
          </a:p>
          <a:p>
            <a:r>
              <a:t>   * Practical application</a:t>
            </a:r>
          </a:p>
          <a:p>
            <a:r>
              <a:t>   * Why it matters</a:t>
            </a:r>
          </a:p>
          <a:p>
            <a:endParaRPr/>
          </a:p>
          <a:p>
            <a:r>
              <a:t>REAL-WORLD EXAMPLE:</a:t>
            </a:r>
          </a:p>
          <a:p>
            <a:r>
              <a:t>   Example demonstrating this concept.</a:t>
            </a:r>
          </a:p>
          <a:p>
            <a:endParaRPr/>
          </a:p>
          <a:p>
            <a:r>
              <a:t>DEMO:</a:t>
            </a:r>
          </a:p>
          <a:p>
            <a:r>
              <a:t>   Demo steps go here.</a:t>
            </a:r>
          </a:p>
          <a:p>
            <a:endParaRPr/>
          </a:p>
          <a:p>
            <a:r>
              <a:t>TRANSITION:</a:t>
            </a:r>
          </a:p>
          <a:p>
            <a:r>
              <a:t>   Next...</a:t>
            </a:r>
          </a:p>
        </p:txBody>
      </p:sp>
      <p:sp>
        <p:nvSpPr>
          <p:cNvPr id="4" name="Slide Number Placeholder 3"/>
          <p:cNvSpPr>
            <a:spLocks noGrp="1"/>
          </p:cNvSpPr>
          <p:nvPr>
            <p:ph type="sldNum" sz="quarter" idx="5"/>
          </p:nvPr>
        </p:nvSpPr>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3 min</a:t>
            </a:r>
          </a:p>
          <a:p>
            <a:endParaRPr/>
          </a:p>
          <a:p>
            <a:r>
              <a:t>OPEN WITH:</a:t>
            </a:r>
          </a:p>
          <a:p>
            <a:r>
              <a:t>   Jumping straight into code is like building a house without blueprints — fast at first, but problems emerge quickly. Plan Mode is your blueprint tool. Press Shift+Tab and Claude switches from doing to thinking. It analyzes your request, proposes changes, flags risks — but cannot touch a single file until you say go.</a:t>
            </a:r>
          </a:p>
          <a:p>
            <a:endParaRPr/>
          </a:p>
          <a:p>
            <a:r>
              <a:t>KEY POINTS:</a:t>
            </a:r>
          </a:p>
          <a:p>
            <a:r>
              <a:t>   * Shift+Tab toggles Plan Mode on and off — it's instant</a:t>
            </a:r>
          </a:p>
          <a:p>
            <a:r>
              <a:t>   * In Plan Mode, Claude reads your codebase, analyzes the request, and outlines exactly what it would change</a:t>
            </a:r>
          </a:p>
          <a:p>
            <a:r>
              <a:t>   * It flags risks: 'This will affect 14 files, 3 of which have no test coverage'</a:t>
            </a:r>
          </a:p>
          <a:p>
            <a:r>
              <a:t>   * You review the plan, ask questions, adjust scope — THEN approve execution</a:t>
            </a:r>
          </a:p>
          <a:p>
            <a:r>
              <a:t>   * Source: Reza Rezvani — 'It took me 7 months to stop fighting Claude Code' — Plan Mode was the breakthrough</a:t>
            </a:r>
          </a:p>
          <a:p>
            <a:endParaRPr/>
          </a:p>
          <a:p>
            <a:r>
              <a:t>ASK THE CLASS:</a:t>
            </a:r>
          </a:p>
          <a:p>
            <a:r>
              <a:t>   "How many times have you asked an AI to do something and it changed files you didn't expect?"</a:t>
            </a:r>
          </a:p>
          <a:p>
            <a:r>
              <a:t>   [PAUSE for 30-60 seconds]</a:t>
            </a:r>
          </a:p>
          <a:p>
            <a:endParaRPr/>
          </a:p>
          <a:p>
            <a:r>
              <a:t>REAL-WORLD EXAMPLE:</a:t>
            </a:r>
          </a:p>
          <a:p>
            <a:r>
              <a:t>   JWT authentication: WITHOUT planning — Claude touches 14 files, breaks 3 tests, creates a circular dependency. WITH planning — Claude outlines all changes, flags the circular dependency risk, asks which auth library you prefer, then executes cleanly.</a:t>
            </a:r>
          </a:p>
          <a:p>
            <a:endParaRPr/>
          </a:p>
          <a:p>
            <a:r>
              <a:t>TRANSITION:</a:t>
            </a:r>
          </a:p>
          <a:p>
            <a:r>
              <a:t>   Let me show you the difference in a live demo.</a:t>
            </a:r>
          </a:p>
        </p:txBody>
      </p:sp>
      <p:sp>
        <p:nvSpPr>
          <p:cNvPr id="4" name="Slide Number Placeholder 3"/>
          <p:cNvSpPr>
            <a:spLocks noGrp="1"/>
          </p:cNvSpPr>
          <p:nvPr>
            <p:ph type="sldNum" sz="quarter" idx="5"/>
          </p:nvPr>
        </p:nvSpPr>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5 min</a:t>
            </a:r>
          </a:p>
          <a:p>
            <a:endParaRPr/>
          </a:p>
          <a:p>
            <a:r>
              <a:t>OPEN WITH:</a:t>
            </a:r>
          </a:p>
          <a:p>
            <a:r>
              <a:t>   Watch the difference between asking Claude to just DO something versus asking it to PLAN first.</a:t>
            </a:r>
          </a:p>
          <a:p>
            <a:endParaRPr/>
          </a:p>
          <a:p>
            <a:r>
              <a:t>KEY POINTS:</a:t>
            </a:r>
          </a:p>
          <a:p>
            <a:r>
              <a:t>   * First: Ask Claude to add JWT auth directly — watch it touch too many files, break tests</a:t>
            </a:r>
          </a:p>
          <a:p>
            <a:r>
              <a:t>   * Then: /clear and start fresh. Shift+Tab to enable Plan Mode. Same request.</a:t>
            </a:r>
          </a:p>
          <a:p>
            <a:r>
              <a:t>   * Claude outlines: 'I'll modify auth.js, add middleware.js, update 3 route files, add 2 test files'</a:t>
            </a:r>
          </a:p>
          <a:p>
            <a:r>
              <a:t>   * It flags: 'The current session middleware conflicts with JWT — I recommend replacing, not layering'</a:t>
            </a:r>
          </a:p>
          <a:p>
            <a:r>
              <a:t>   * You approve, Claude executes cleanly — same task, dramatically better result</a:t>
            </a:r>
          </a:p>
          <a:p>
            <a:r>
              <a:t>   * Key quote: 'Almost right is worse than clearly wrong. Almost right passes tests, ships to production, breaks at 3 AM.'</a:t>
            </a:r>
          </a:p>
          <a:p>
            <a:endParaRPr/>
          </a:p>
          <a:p>
            <a:r>
              <a:t>DEMO:</a:t>
            </a:r>
          </a:p>
          <a:p>
            <a:r>
              <a:t>   Use sample-project. First attempt: 'Add JWT authentication to this API' without planning. Show the mess. Then /clear, Shift+Tab, same prompt. Show the clean plan. Approve and execute.</a:t>
            </a:r>
          </a:p>
          <a:p>
            <a:endParaRPr/>
          </a:p>
          <a:p>
            <a:r>
              <a:t>TRANSITION:</a:t>
            </a:r>
          </a:p>
          <a:p>
            <a:r>
              <a:t>   Plan Mode is your first line of defense. Now let's talk about another pattern that prevents wasted work.</a:t>
            </a:r>
          </a:p>
        </p:txBody>
      </p:sp>
      <p:sp>
        <p:nvSpPr>
          <p:cNvPr id="4" name="Slide Number Placeholder 3"/>
          <p:cNvSpPr>
            <a:spLocks noGrp="1"/>
          </p:cNvSpPr>
          <p:nvPr>
            <p:ph type="sldNum" sz="quarter" idx="5"/>
          </p:nvPr>
        </p:nvSpPr>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2 min</a:t>
            </a:r>
          </a:p>
          <a:p>
            <a:endParaRPr/>
          </a:p>
          <a:p>
            <a:r>
              <a:t>OPEN WITH:</a:t>
            </a:r>
          </a:p>
          <a:p>
            <a:r>
              <a:t>   Not everything needs Plan Mode. Here's the rule of thumb: if a task would take a senior engineer more than one focused session to think through, it needs planning. If you can verify the result in 10 seconds, skip it.</a:t>
            </a:r>
          </a:p>
          <a:p>
            <a:endParaRPr/>
          </a:p>
          <a:p>
            <a:r>
              <a:t>KEY POINTS:</a:t>
            </a:r>
          </a:p>
          <a:p>
            <a:r>
              <a:t>   * Reza's rule: 'If a task would take a senior engineer more than one focused session, it's too big for a single Claude session'</a:t>
            </a:r>
          </a:p>
          <a:p>
            <a:r>
              <a:t>   * Plan Mode costs almost nothing in time — it saves enormous amounts in rework</a:t>
            </a:r>
          </a:p>
          <a:p>
            <a:r>
              <a:t>   * Students should default to Plan Mode for the rest of today. Build the habit now.</a:t>
            </a:r>
          </a:p>
          <a:p>
            <a:r>
              <a:t>   * After Day 2, you'll develop intuition for when to skip it</a:t>
            </a:r>
          </a:p>
          <a:p>
            <a:endParaRPr/>
          </a:p>
          <a:p>
            <a:r>
              <a:t>TRANSITION:</a:t>
            </a:r>
          </a:p>
          <a:p>
            <a:r>
              <a:t>   Now let's talk about another powerful pattern — the Interview Me technique.</a:t>
            </a:r>
          </a:p>
        </p:txBody>
      </p:sp>
      <p:sp>
        <p:nvSpPr>
          <p:cNvPr id="4" name="Slide Number Placeholder 3"/>
          <p:cNvSpPr>
            <a:spLocks noGrp="1"/>
          </p:cNvSpPr>
          <p:nvPr>
            <p:ph type="sldNum" sz="quarter" idx="5"/>
          </p:nvPr>
        </p:nvSpPr>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3 min</a:t>
            </a:r>
          </a:p>
          <a:p>
            <a:endParaRPr/>
          </a:p>
          <a:p>
            <a:r>
              <a:t>OPEN WITH:</a:t>
            </a:r>
          </a:p>
          <a:p>
            <a:r>
              <a:t>   Here's a pattern that changed how I work with Claude. Instead of trying to describe exactly what you want — which is hard — tell Claude to interview you. Say: 'I want to build user authentication. Interview me about technical implementation, edge cases, and tradeoffs. Ask hard questions I might not have considered. Then write a spec to SPEC.md.'</a:t>
            </a:r>
          </a:p>
          <a:p>
            <a:endParaRPr/>
          </a:p>
          <a:p>
            <a:r>
              <a:t>KEY POINTS:</a:t>
            </a:r>
          </a:p>
          <a:p>
            <a:r>
              <a:t>   * Claude will ask about things you hadn't thought through: 'What happens when a token expires mid-request?', 'Do you need rate limiting on the auth endpoint?', 'How do you handle password reset for users who registered via OAuth?'</a:t>
            </a:r>
          </a:p>
          <a:p>
            <a:r>
              <a:t>   * This isn't Claude being annoying — it's Claude preventing future bugs</a:t>
            </a:r>
          </a:p>
          <a:p>
            <a:r>
              <a:t>   * The output SPEC.md becomes perfect context for the implementation session</a:t>
            </a:r>
          </a:p>
          <a:p>
            <a:r>
              <a:t>   * Combine with Plan Mode: Interview → Spec → Plan → Execute</a:t>
            </a:r>
          </a:p>
          <a:p>
            <a:r>
              <a:t>   * Source: Reza Rezvani — this pattern eliminated most of his 'Claude didn't understand what I wanted' complaints</a:t>
            </a:r>
          </a:p>
          <a:p>
            <a:endParaRPr/>
          </a:p>
          <a:p>
            <a:r>
              <a:t>ASK THE CLASS:</a:t>
            </a:r>
          </a:p>
          <a:p>
            <a:r>
              <a:t>   "Think about your last feature build. What questions SHOULD you have answered upfront but discovered the hard way?"</a:t>
            </a:r>
          </a:p>
          <a:p>
            <a:r>
              <a:t>   [PAUSE for 30-60 seconds]</a:t>
            </a:r>
          </a:p>
          <a:p>
            <a:endParaRPr/>
          </a:p>
          <a:p>
            <a:r>
              <a:t>DEMO:</a:t>
            </a:r>
          </a:p>
          <a:p>
            <a:r>
              <a:t>   Live: Tell Claude 'I want to add a notification system to this API. Interview me about implementation details.' Show Claude asking 3-4 probing questions. Answer them. Watch Claude generate SPEC.md.</a:t>
            </a:r>
          </a:p>
          <a:p>
            <a:endParaRPr/>
          </a:p>
          <a:p>
            <a:r>
              <a:t>TRANSITION:</a:t>
            </a:r>
          </a:p>
          <a:p>
            <a:r>
              <a:t>   Now let's talk about the discipline that makes everything else work — session hygiene.</a:t>
            </a:r>
          </a:p>
        </p:txBody>
      </p:sp>
      <p:sp>
        <p:nvSpPr>
          <p:cNvPr id="4" name="Slide Number Placeholder 3"/>
          <p:cNvSpPr>
            <a:spLocks noGrp="1"/>
          </p:cNvSpPr>
          <p:nvPr>
            <p:ph type="sldNum" sz="quarter" idx="5"/>
          </p:nvPr>
        </p:nvSpPr>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2 min</a:t>
            </a:r>
          </a:p>
          <a:p>
            <a:endParaRPr/>
          </a:p>
          <a:p>
            <a:r>
              <a:t>OPEN WITH:</a:t>
            </a:r>
          </a:p>
          <a:p>
            <a:r>
              <a:t>   I want to share something that reframes everything we've covered today. The number one skill that separates people who get incredible results from AI from people who get mediocre results is NOT prompt engineering. It's the ability to write a clear specification of what you want.</a:t>
            </a:r>
          </a:p>
          <a:p>
            <a:endParaRPr/>
          </a:p>
          <a:p>
            <a:r>
              <a:t>KEY POINTS:</a:t>
            </a:r>
          </a:p>
          <a:p>
            <a:r>
              <a:t>   * Senior engineers who write precise specs get 2x productivity from autonomous AI agents compared to those who don't. Not because they're better at prompting — because they know exactly what they want before they start typing.</a:t>
            </a:r>
          </a:p>
          <a:p>
            <a:r>
              <a:t>   * Here's the uncomfortable truth: most people can't write good specs. They don't actually know what they want until they see output. That's why the Interview Me pattern we just covered is so powerful — it forces you to articulate your intent before Claude starts building.</a:t>
            </a:r>
          </a:p>
          <a:p>
            <a:r>
              <a:t>   * This isn't just a coding skill. For non-technical work — reports, analysis, planning — what a high-quality spec looks like is almost entirely unexplored territory. The companies that figure out high-grade intent specification will access a completely different order of AI leverage.</a:t>
            </a:r>
          </a:p>
          <a:p>
            <a:endParaRPr/>
          </a:p>
          <a:p>
            <a:r>
              <a:t>TRANSITION:</a:t>
            </a:r>
          </a:p>
          <a:p>
            <a:r>
              <a:t>   So what does a good spec actually look like? Let me show you a framework.</a:t>
            </a:r>
          </a:p>
        </p:txBody>
      </p:sp>
      <p:sp>
        <p:nvSpPr>
          <p:cNvPr id="4" name="Slide Number Placeholder 3"/>
          <p:cNvSpPr>
            <a:spLocks noGrp="1"/>
          </p:cNvSpPr>
          <p:nvPr>
            <p:ph type="sldNum" sz="quarter" idx="5"/>
          </p:nvPr>
        </p:nvSpPr>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3 min</a:t>
            </a:r>
          </a:p>
          <a:p>
            <a:endParaRPr/>
          </a:p>
          <a:p>
            <a:r>
              <a:t>OPEN WITH:</a:t>
            </a:r>
          </a:p>
          <a:p>
            <a:r>
              <a:t>   Here's the same task, two ways. On the left is how most people talk to Claude Code. On the right is how power users talk to Claude Code. The tool is identical. The output quality is completely different.</a:t>
            </a:r>
          </a:p>
          <a:p>
            <a:endParaRPr/>
          </a:p>
          <a:p>
            <a:r>
              <a:t>KEY POINTS:</a:t>
            </a:r>
          </a:p>
          <a:p>
            <a:r>
              <a:t>   * Vague intent: 'Build a user dashboard.' Claude will build SOMETHING. It'll pick a layout, guess at what data to show, choose a charting library, decide on a refresh interval. Every one of those decisions might be wrong. You'll look at the output and say 'that's not what I meant' — but you never told it what you meant.</a:t>
            </a:r>
          </a:p>
          <a:p>
            <a:r>
              <a:t>   * Precise spec: You start with the problem, not the solution. 'Users can't see their activity history.' Then constraints: 'Last 30 days, filterable by activity type.' Then technical boundaries: 'Use our existing User model, passport-local auth.' Then you define what 'responsive' actually means: specific breakpoints, mobile-first.',</a:t>
            </a:r>
          </a:p>
          <a:p>
            <a:r>
              <a:t>   * The difference in outcome is staggering. Vague prompts get you something you need to redo. Specs get you something you need to refine. Redo means starting over. Refine means you're 80 percent done. That's the productivity gap everyone's talking about.</a:t>
            </a:r>
          </a:p>
          <a:p>
            <a:r>
              <a:t>   * And here's the kicker: writing a good spec takes 5 to 10 minutes. Redoing bad output takes 30 minutes to 2 hours. The spec pays for itself on the first task.</a:t>
            </a:r>
          </a:p>
          <a:p>
            <a:endParaRPr/>
          </a:p>
          <a:p>
            <a:r>
              <a:t>TRANSITION:</a:t>
            </a:r>
          </a:p>
          <a:p>
            <a:r>
              <a:t>   Let me show you a real spec template that works for any Claude Code task.</a:t>
            </a:r>
          </a:p>
        </p:txBody>
      </p:sp>
      <p:sp>
        <p:nvSpPr>
          <p:cNvPr id="4" name="Slide Number Placeholder 3"/>
          <p:cNvSpPr>
            <a:spLocks noGrp="1"/>
          </p:cNvSpPr>
          <p:nvPr>
            <p:ph type="sldNum" sz="quarter" idx="5"/>
          </p:nvPr>
        </p:nvSpPr>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4 min</a:t>
            </a:r>
          </a:p>
          <a:p>
            <a:endParaRPr/>
          </a:p>
          <a:p>
            <a:r>
              <a:t>OPEN WITH:</a:t>
            </a:r>
          </a:p>
          <a:p>
            <a:r>
              <a:t>   This is the framework. Six questions. If you can answer all six before you talk to Claude Code, your output quality jumps dramatically. If you can't answer them, that's a signal — you're not ready to build yet.</a:t>
            </a:r>
          </a:p>
          <a:p>
            <a:endParaRPr/>
          </a:p>
          <a:p>
            <a:r>
              <a:t>KEY POINTS:</a:t>
            </a:r>
          </a:p>
          <a:p>
            <a:r>
              <a:t>   * Question 1, Problem: Don't start with the solution. 'Build a dashboard' is a solution. 'Users can't see their activity history and support tickets are increasing' is a problem. When Claude understands the problem, it makes better architectural decisions.</a:t>
            </a:r>
          </a:p>
          <a:p>
            <a:r>
              <a:t>   * Question 2, Users: Describe scenarios, not features. 'A sales manager opens the dashboard Monday morning to see which deals closed last week and which are at risk this week.' That single sentence tells Claude more about layout, data priority, and interaction design than a bullet list of features ever could.</a:t>
            </a:r>
          </a:p>
          <a:p>
            <a:r>
              <a:t>   * Questions 3 and 4, Requirements and Boundaries: MUST, SHOULD, COULD is your priority framework. 'MUST show last 30 days of activity. SHOULD support CSV export. COULD include a chart visualization.' And boundaries matter just as much — 'Do NOT modify the existing API endpoints. Do NOT add new dependencies without asking.' Every boundary you set is a wrong assumption you prevent.</a:t>
            </a:r>
          </a:p>
          <a:p>
            <a:r>
              <a:t>   * Questions 5 and 6, Acceptance and Constraints: 'Given a user with 50 activities, When they open the dashboard, Then they see the 30 most recent sorted by date.' That's testable. Claude can even write the tests from that. And constraints ground it in reality — 'Use our existing Express routes, PostgreSQL, and the User model in src/models.'</a:t>
            </a:r>
          </a:p>
          <a:p>
            <a:endParaRPr/>
          </a:p>
          <a:p>
            <a:r>
              <a:t>ASK THE CLASS:</a:t>
            </a:r>
          </a:p>
          <a:p>
            <a:r>
              <a:t>   "Think about the last task you gave to a junior developer or contractor. Did you answer all 6 questions? What happened with the parts you left ambiguous?"</a:t>
            </a:r>
          </a:p>
          <a:p>
            <a:r>
              <a:t>   [PAUSE for 30-60 seconds]</a:t>
            </a:r>
          </a:p>
          <a:p>
            <a:endParaRPr/>
          </a:p>
          <a:p>
            <a:r>
              <a:t>TRANSITION:</a:t>
            </a:r>
          </a:p>
          <a:p>
            <a:r>
              <a:t>   Let's see this in practice with a real spec that drives a Claude Code session.</a:t>
            </a:r>
          </a:p>
        </p:txBody>
      </p:sp>
      <p:sp>
        <p:nvSpPr>
          <p:cNvPr id="4" name="Slide Number Placeholder 3"/>
          <p:cNvSpPr>
            <a:spLocks noGrp="1"/>
          </p:cNvSpPr>
          <p:nvPr>
            <p:ph type="sldNum" sz="quarter" idx="5"/>
          </p:nvPr>
        </p:nvSpPr>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8 min</a:t>
            </a:r>
          </a:p>
          <a:p>
            <a:endParaRPr/>
          </a:p>
          <a:p>
            <a:r>
              <a:t>OPEN WITH:</a:t>
            </a:r>
          </a:p>
          <a:p>
            <a:r>
              <a:t>   Let me show you this live. I'm going to write a spec using the 6-question framework, then give it to Claude Code. Watch the difference in output quality.</a:t>
            </a:r>
          </a:p>
          <a:p>
            <a:endParaRPr/>
          </a:p>
          <a:p>
            <a:r>
              <a:t>KEY POINTS:</a:t>
            </a:r>
          </a:p>
          <a:p>
            <a:r>
              <a:t>   * First, I'll show the vague version: 'Add a health check endpoint to the API.' Claude will do something — probably a simple GET /health that returns 200. Functional, but minimal.</a:t>
            </a:r>
          </a:p>
          <a:p>
            <a:r>
              <a:t>   * Now the spec version. Problem: We need monitoring visibility for our production deployment. Users: DevOps team checking uptime, load balancer health probes. Requirements: MUST check database connectivity, MUST check external API reachability, MUST return response time for each check, SHOULD include memory and CPU usage, COULD include version info from package.json. Boundaries: Do NOT expose internal error details in production. Do NOT add new dependencies — use built-in Node modules for system stats. Acceptance: Given all services healthy, return 200 with individual check times. Given database down, return 503 with specific failure noted. Constraints: Express app, PostgreSQL via our existing db.js pool, follow error format in src/middleware/errorHandler.js.</a:t>
            </a:r>
          </a:p>
          <a:p>
            <a:r>
              <a:t>   * Watch what Claude produces from this spec. It'll check database connectivity with a timed query. It'll verify external APIs. It'll measure response times. It'll handle partial failures correctly — some services healthy, database down, returns 503 with specifics. It'll follow our existing error format because we told it to.</a:t>
            </a:r>
          </a:p>
          <a:p>
            <a:r>
              <a:t>   * The vague prompt got us a toy. The spec got us a production-ready health check. Same tool. Same model. Same number of tokens. The difference is the 5 minutes I spent thinking before typing.</a:t>
            </a:r>
          </a:p>
          <a:p>
            <a:endParaRPr/>
          </a:p>
          <a:p>
            <a:r>
              <a:t>DEMO:</a:t>
            </a:r>
          </a:p>
          <a:p>
            <a:r>
              <a:t>   If time is tight, show the spec on screen and walk through it verbally rather than live-coding both versions.</a:t>
            </a:r>
          </a:p>
        </p:txBody>
      </p:sp>
      <p:sp>
        <p:nvSpPr>
          <p:cNvPr id="4" name="Slide Number Placeholder 3"/>
          <p:cNvSpPr>
            <a:spLocks noGrp="1"/>
          </p:cNvSpPr>
          <p:nvPr>
            <p:ph type="sldNum" sz="quarter" idx="5"/>
          </p:nvPr>
        </p:nvSpPr>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4 min</a:t>
            </a:r>
          </a:p>
          <a:p>
            <a:endParaRPr/>
          </a:p>
          <a:p>
            <a:r>
              <a:t>OPEN WITH:</a:t>
            </a:r>
          </a:p>
          <a:p>
            <a:r>
              <a:t>   Intelligence is not the bottleneck — context is. That's Anthropic's own framing. And the fastest way to degrade your context is to pile unrelated tasks into the same session. Reza Rezvani spent 7 months fighting Claude Code before he learned this: /clear is your most important command. Not a last resort — a regular habit.</a:t>
            </a:r>
          </a:p>
          <a:p>
            <a:endParaRPr/>
          </a:p>
          <a:p>
            <a:r>
              <a:t>KEY POINTS:</a:t>
            </a:r>
          </a:p>
          <a:p>
            <a:r>
              <a:t>   * Context degrades over long sessions — like starting a meeting where someone's been talking for 20 minutes about something unrelated</a:t>
            </a:r>
          </a:p>
          <a:p>
            <a:r>
              <a:t>   * The correction spiral: after 2 failed attempts to correct output, your context is poisoned with conflicting instructions. /clear and start fresh with a better prompt.</a:t>
            </a:r>
          </a:p>
          <a:p>
            <a:r>
              <a:t>   * Quote: 'I spent months blaming Claude for not understanding my project while doing nothing to help it understand.'</a:t>
            </a:r>
          </a:p>
          <a:p>
            <a:r>
              <a:t>   * Rule of thumb: one task per session. New feature? New session. Bug fix? New session. Refactor? New session.</a:t>
            </a:r>
          </a:p>
          <a:p>
            <a:r>
              <a:t>   * The anti-pattern has a name: 'vibes-driven development' — just hoping Claude gets it right without structure</a:t>
            </a:r>
          </a:p>
          <a:p>
            <a:r>
              <a:t>   * According to MIT 2025 research, 95% of AI projects fail — and $644B has been lost globally on failed AI implementations. The #1 cause? Lack of discipline in how teams use AI tools.</a:t>
            </a:r>
          </a:p>
          <a:p>
            <a:r>
              <a:t>   * Session hygiene maps directly to the 7 root causes of AI failure: unclear objectives, poor data management, lack of governance, inadequate testing, scope creep, insufficient training, and no feedback loops.</a:t>
            </a:r>
          </a:p>
          <a:p>
            <a:r>
              <a:t>   * Zillow lost $500M from flawed AI models — not because the AI was bad, but because the process around it was undisciplined. Don't let that be your Claude Code experience.</a:t>
            </a:r>
          </a:p>
          <a:p>
            <a:endParaRPr/>
          </a:p>
          <a:p>
            <a:r>
              <a:t>ASK THE CLASS:</a:t>
            </a:r>
          </a:p>
          <a:p>
            <a:r>
              <a:t>   "How many of you have had Claude 'forget' what you told it 20 messages ago? That's context degradation."</a:t>
            </a:r>
          </a:p>
          <a:p>
            <a:r>
              <a:t>   [PAUSE for 30-60 seconds]</a:t>
            </a:r>
          </a:p>
          <a:p>
            <a:endParaRPr/>
          </a:p>
          <a:p>
            <a:r>
              <a:t>DEMO:</a:t>
            </a:r>
          </a:p>
          <a:p>
            <a:r>
              <a:t>   Do 4 quick unrelated tasks in one session without clearing. Show response quality dropping on task 4. Then /clear, redo task 4, show dramatic quality improvement.</a:t>
            </a:r>
          </a:p>
          <a:p>
            <a:endParaRPr/>
          </a:p>
          <a:p>
            <a:r>
              <a:t>TRANSITION:</a:t>
            </a:r>
          </a:p>
          <a:p>
            <a:r>
              <a:t>   Now let's look at the permissions model that keeps your code safe.</a:t>
            </a:r>
          </a:p>
        </p:txBody>
      </p:sp>
      <p:sp>
        <p:nvSpPr>
          <p:cNvPr id="4" name="Slide Number Placeholder 3"/>
          <p:cNvSpPr>
            <a:spLocks noGrp="1"/>
          </p:cNvSpPr>
          <p:nvPr>
            <p:ph type="sldNum" sz="quarter" idx="5"/>
          </p:nvPr>
        </p:nvSpPr>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3 min</a:t>
            </a:r>
          </a:p>
          <a:p>
            <a:endParaRPr/>
          </a:p>
          <a:p>
            <a:r>
              <a:t>OPEN WITH:</a:t>
            </a:r>
          </a:p>
          <a:p>
            <a:r>
              <a:t>   Real story. A developer asked Claude to build an entire payment processing module. Claude worked for three days. The result? Compounding errors across dozens of files. Tests failing everywhere. They rolled back everything and started over. This time: 12 small, focused tasks. Each one verified before moving to the next. Done in two days — less time than the failed attempt — with better code and zero rollbacks.</a:t>
            </a:r>
          </a:p>
          <a:p>
            <a:endParaRPr/>
          </a:p>
          <a:p>
            <a:r>
              <a:t>KEY POINTS:</a:t>
            </a:r>
          </a:p>
          <a:p>
            <a:r>
              <a:t>   * Big tasks compound errors. Small tasks isolate them.</a:t>
            </a:r>
          </a:p>
          <a:p>
            <a:r>
              <a:t>   * 12 small tasks × 20 minutes each = 4 hours of focused work over 2 days</a:t>
            </a:r>
          </a:p>
          <a:p>
            <a:r>
              <a:t>   * Each small task has a clear definition of done and can be verified independently</a:t>
            </a:r>
          </a:p>
          <a:p>
            <a:r>
              <a:t>   * This is Engineering Principle #6 in action: Small, Frequent, Actionable Output</a:t>
            </a:r>
          </a:p>
          <a:p>
            <a:r>
              <a:t>   * The anti-pattern: 'spec dump' — giving Claude a 50-page doc and saying 'build this'</a:t>
            </a:r>
          </a:p>
          <a:p>
            <a:r>
              <a:t>   * Source: Reza Rezvani, 'It Took Me 7 Months to Stop Fighting Claude Code'</a:t>
            </a:r>
          </a:p>
          <a:p>
            <a:r>
              <a:t>   * This story mirrors a global pattern: according to MIT 2025, 95% of AI projects fail. The payment module disaster is a microcosm of the $644B lost globally on failed AI implementations.</a:t>
            </a:r>
          </a:p>
          <a:p>
            <a:r>
              <a:t>   * The fix — 12 small tasks verified independently — maps to Claude Code disciplines: /clear between tasks, 30-45 minute focused sessions, and the 2-strike rule (after 2 failed corrections, start fresh).</a:t>
            </a:r>
          </a:p>
          <a:p>
            <a:endParaRPr/>
          </a:p>
          <a:p>
            <a:r>
              <a:t>TRANSITION:</a:t>
            </a:r>
          </a:p>
          <a:p>
            <a:r>
              <a:t>   This decomposition discipline applies to everything we'll do today. Now let's set up permissions.</a:t>
            </a:r>
          </a:p>
        </p:txBody>
      </p:sp>
      <p:sp>
        <p:nvSpPr>
          <p:cNvPr id="4" name="Slide Number Placeholder 3"/>
          <p:cNvSpPr>
            <a:spLocks noGrp="1"/>
          </p:cNvSpPr>
          <p:nvPr>
            <p:ph type="sldNum" sz="quarter" idx="5"/>
          </p:nvPr>
        </p:nvSpPr>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4 min</a:t>
            </a:r>
          </a:p>
          <a:p>
            <a:endParaRPr/>
          </a:p>
          <a:p>
            <a:r>
              <a:t>OPEN WITH:</a:t>
            </a:r>
          </a:p>
          <a:p>
            <a:r>
              <a:t>   Claude Code is powerful, which means you need guardrails. This section is about building safe AI workflows.</a:t>
            </a:r>
          </a:p>
          <a:p>
            <a:endParaRPr/>
          </a:p>
          <a:p>
            <a:r>
              <a:t>KEY POINTS:</a:t>
            </a:r>
          </a:p>
          <a:p>
            <a:r>
              <a:t>   * According to recent surveys, 76% of CISOs cite visibility gaps in AI tool usage as their top concern. 58% feel unprepared to report AI risks to their board.</a:t>
            </a:r>
          </a:p>
          <a:p>
            <a:r>
              <a:t>   * Industry data shows 40-60% of organizational code output is now AI-generated. Shadow AI is already in your organization — the question is whether you manage it or ignore it.</a:t>
            </a:r>
          </a:p>
          <a:p>
            <a:r>
              <a:t>   * Frame this section as: 'You already have AI in your codebase. Let's make sure it's governed, audited, and secure.' This resonates with security-conscious leadership.</a:t>
            </a:r>
          </a:p>
          <a:p>
            <a:endParaRPr/>
          </a:p>
          <a:p>
            <a:r>
              <a:t>REAL-WORLD EXAMPLE:</a:t>
            </a:r>
          </a:p>
          <a:p>
            <a:r>
              <a:t>   Example demonstrating this concept.</a:t>
            </a:r>
          </a:p>
          <a:p>
            <a:endParaRPr/>
          </a:p>
          <a:p>
            <a:r>
              <a:t>TRANSITION:</a:t>
            </a:r>
          </a:p>
          <a:p>
            <a:r>
              <a:t>   Next...</a:t>
            </a:r>
          </a:p>
        </p:txBody>
      </p:sp>
      <p:sp>
        <p:nvSpPr>
          <p:cNvPr id="4" name="Slide Number Placeholder 3"/>
          <p:cNvSpPr>
            <a:spLocks noGrp="1"/>
          </p:cNvSpPr>
          <p:nvPr>
            <p:ph type="sldNum" sz="quarter" idx="5"/>
          </p:nvPr>
        </p:nvSpPr>
        <p:spPr/>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4 min</a:t>
            </a:r>
          </a:p>
          <a:p>
            <a:endParaRPr/>
          </a:p>
          <a:p>
            <a:r>
              <a:t>OPEN WITH:</a:t>
            </a:r>
          </a:p>
          <a:p>
            <a:r>
              <a:t>   Claude Code's security model is based on trust-but-verify - you configure the level of trust based on risk.</a:t>
            </a:r>
          </a:p>
          <a:p>
            <a:endParaRPr/>
          </a:p>
          <a:p>
            <a:r>
              <a:t>KEY POINTS:</a:t>
            </a:r>
          </a:p>
          <a:p>
            <a:r>
              <a:t>   * The security model exists because of a real problem: 76% of CISOs cite visibility gaps in AI tool usage. Claude Code's permission system provides the visibility and control that security leaders demand.</a:t>
            </a:r>
          </a:p>
          <a:p>
            <a:r>
              <a:t>   * With 40-60% of code now AI-generated, the approval-based model isn't optional — it's essential for compliance and risk management.</a:t>
            </a:r>
          </a:p>
          <a:p>
            <a:r>
              <a:t>   * Shadow AI problem: developers are already using AI tools without governance. Claude Code's security model lets you say 'yes' to AI adoption while maintaining control.</a:t>
            </a:r>
          </a:p>
          <a:p>
            <a:endParaRPr/>
          </a:p>
          <a:p>
            <a:r>
              <a:t>REAL-WORLD EXAMPLE:</a:t>
            </a:r>
          </a:p>
          <a:p>
            <a:r>
              <a:t>   Example demonstrating this concept.</a:t>
            </a:r>
          </a:p>
          <a:p>
            <a:endParaRPr/>
          </a:p>
          <a:p>
            <a:r>
              <a:t>TRANSITION:</a:t>
            </a:r>
          </a:p>
          <a:p>
            <a:r>
              <a:t>   Next...</a:t>
            </a:r>
          </a:p>
        </p:txBody>
      </p:sp>
      <p:sp>
        <p:nvSpPr>
          <p:cNvPr id="4" name="Slide Number Placeholder 3"/>
          <p:cNvSpPr>
            <a:spLocks noGrp="1"/>
          </p:cNvSpPr>
          <p:nvPr>
            <p:ph type="sldNum" sz="quarter" idx="5"/>
          </p:nvPr>
        </p:nvSpPr>
        <p:spPr/>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TIME: 4 min</a:t>
            </a:r>
          </a:p>
          <a:p>
            <a:endParaRPr dirty="0"/>
          </a:p>
          <a:p>
            <a:r>
              <a:rPr dirty="0"/>
              <a:t>OPEN WITH:</a:t>
            </a:r>
          </a:p>
          <a:p>
            <a:r>
              <a:rPr dirty="0"/>
              <a:t>   Think of these as traffic lights - red for stop and review, yellow for caution, green for go fast.</a:t>
            </a:r>
          </a:p>
          <a:p>
            <a:endParaRPr dirty="0"/>
          </a:p>
          <a:p>
            <a:r>
              <a:rPr dirty="0"/>
              <a:t>KEY POINTS:</a:t>
            </a:r>
          </a:p>
          <a:p>
            <a:r>
              <a:rPr dirty="0"/>
              <a:t>   * Key insight</a:t>
            </a:r>
          </a:p>
          <a:p>
            <a:r>
              <a:rPr dirty="0"/>
              <a:t>   * Practical application</a:t>
            </a:r>
          </a:p>
          <a:p>
            <a:r>
              <a:rPr dirty="0"/>
              <a:t>   * Why it matters</a:t>
            </a:r>
          </a:p>
          <a:p>
            <a:endParaRPr dirty="0"/>
          </a:p>
          <a:p>
            <a:r>
              <a:rPr dirty="0"/>
              <a:t>REAL-WORLD EXAMPLE:</a:t>
            </a:r>
          </a:p>
          <a:p>
            <a:r>
              <a:rPr dirty="0"/>
              <a:t>   Example demonstrating this concept.</a:t>
            </a:r>
          </a:p>
          <a:p>
            <a:endParaRPr dirty="0"/>
          </a:p>
          <a:p>
            <a:r>
              <a:rPr dirty="0"/>
              <a:t>TRANSITION:</a:t>
            </a:r>
          </a:p>
          <a:p>
            <a:r>
              <a:rPr dirty="0"/>
              <a:t>   Next...</a:t>
            </a:r>
          </a:p>
        </p:txBody>
      </p:sp>
      <p:sp>
        <p:nvSpPr>
          <p:cNvPr id="4" name="Slide Number Placeholder 3"/>
          <p:cNvSpPr>
            <a:spLocks noGrp="1"/>
          </p:cNvSpPr>
          <p:nvPr>
            <p:ph type="sldNum" sz="quarter" idx="5"/>
          </p:nvPr>
        </p:nvSpPr>
        <p:spPr/>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4 min</a:t>
            </a:r>
          </a:p>
          <a:p>
            <a:endParaRPr/>
          </a:p>
          <a:p>
            <a:r>
              <a:t>OPEN WITH:</a:t>
            </a:r>
          </a:p>
          <a:p>
            <a:r>
              <a:t>   Allowlists and blocklists are like firewall rules for Claude Code.</a:t>
            </a:r>
          </a:p>
          <a:p>
            <a:endParaRPr/>
          </a:p>
          <a:p>
            <a:r>
              <a:t>KEY POINTS:</a:t>
            </a:r>
          </a:p>
          <a:p>
            <a:r>
              <a:t>   * Key insight</a:t>
            </a:r>
          </a:p>
          <a:p>
            <a:r>
              <a:t>   * Practical application</a:t>
            </a:r>
          </a:p>
          <a:p>
            <a:r>
              <a:t>   * Why it matters</a:t>
            </a:r>
          </a:p>
          <a:p>
            <a:endParaRPr/>
          </a:p>
          <a:p>
            <a:r>
              <a:t>REAL-WORLD EXAMPLE:</a:t>
            </a:r>
          </a:p>
          <a:p>
            <a:r>
              <a:t>   Example demonstrating this concept.</a:t>
            </a:r>
          </a:p>
          <a:p>
            <a:endParaRPr/>
          </a:p>
          <a:p>
            <a:r>
              <a:t>TRANSITION:</a:t>
            </a:r>
          </a:p>
          <a:p>
            <a:r>
              <a:t>   Next...</a:t>
            </a:r>
          </a:p>
        </p:txBody>
      </p:sp>
      <p:sp>
        <p:nvSpPr>
          <p:cNvPr id="4" name="Slide Number Placeholder 3"/>
          <p:cNvSpPr>
            <a:spLocks noGrp="1"/>
          </p:cNvSpPr>
          <p:nvPr>
            <p:ph type="sldNum" sz="quarter" idx="5"/>
          </p:nvPr>
        </p:nvSpPr>
        <p:spPr/>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4 min</a:t>
            </a:r>
          </a:p>
          <a:p>
            <a:endParaRPr/>
          </a:p>
          <a:p>
            <a:r>
              <a:t>OPEN WITH:</a:t>
            </a:r>
          </a:p>
          <a:p>
            <a:r>
              <a:t>   .claudeignore isn't just for token optimization - it's a critical security tool that prevents Claude Code from ever seeing sensitive files.</a:t>
            </a:r>
          </a:p>
          <a:p>
            <a:endParaRPr/>
          </a:p>
          <a:p>
            <a:r>
              <a:t>KEY POINTS:</a:t>
            </a:r>
          </a:p>
          <a:p>
            <a:r>
              <a:t>   * Key insight</a:t>
            </a:r>
          </a:p>
          <a:p>
            <a:r>
              <a:t>   * Practical application</a:t>
            </a:r>
          </a:p>
          <a:p>
            <a:r>
              <a:t>   * Why it matters</a:t>
            </a:r>
          </a:p>
          <a:p>
            <a:endParaRPr/>
          </a:p>
          <a:p>
            <a:r>
              <a:t>REAL-WORLD EXAMPLE:</a:t>
            </a:r>
          </a:p>
          <a:p>
            <a:r>
              <a:t>   Example demonstrating this concept.</a:t>
            </a:r>
          </a:p>
          <a:p>
            <a:endParaRPr/>
          </a:p>
          <a:p>
            <a:r>
              <a:t>TRANSITION:</a:t>
            </a:r>
          </a:p>
          <a:p>
            <a:r>
              <a:t>   Next...</a:t>
            </a:r>
          </a:p>
        </p:txBody>
      </p:sp>
      <p:sp>
        <p:nvSpPr>
          <p:cNvPr id="4" name="Slide Number Placeholder 3"/>
          <p:cNvSpPr>
            <a:spLocks noGrp="1"/>
          </p:cNvSpPr>
          <p:nvPr>
            <p:ph type="sldNum" sz="quarter" idx="5"/>
          </p:nvPr>
        </p:nvSpPr>
        <p:spPr/>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4 min</a:t>
            </a:r>
          </a:p>
          <a:p>
            <a:endParaRPr/>
          </a:p>
          <a:p>
            <a:r>
              <a:t>OPEN WITH:</a:t>
            </a:r>
          </a:p>
          <a:p>
            <a:r>
              <a:t>   If you're in a regulated industry, enterprise security features ensure compliance.</a:t>
            </a:r>
          </a:p>
          <a:p>
            <a:endParaRPr/>
          </a:p>
          <a:p>
            <a:r>
              <a:t>KEY POINTS:</a:t>
            </a:r>
          </a:p>
          <a:p>
            <a:r>
              <a:t>   * Enterprise security features directly address the CISO concerns: 76% cite visibility gaps, 58% feel unprepared to report AI risks to the board.</a:t>
            </a:r>
          </a:p>
          <a:p>
            <a:r>
              <a:t>   * Audit logs, compliance certifications, and data governance give security leaders the evidence they need for board reporting.</a:t>
            </a:r>
          </a:p>
          <a:p>
            <a:r>
              <a:t>   * Position Claude Code as the solution to shadow AI: 'Your developers are already using AI tools. Claude Code gives you visibility, control, and compliance — turning a risk into a managed capability.'</a:t>
            </a:r>
          </a:p>
          <a:p>
            <a:endParaRPr/>
          </a:p>
          <a:p>
            <a:r>
              <a:t>REAL-WORLD EXAMPLE:</a:t>
            </a:r>
          </a:p>
          <a:p>
            <a:r>
              <a:t>   Example demonstrating this concept.</a:t>
            </a:r>
          </a:p>
          <a:p>
            <a:endParaRPr/>
          </a:p>
          <a:p>
            <a:r>
              <a:t>TRANSITION:</a:t>
            </a:r>
          </a:p>
          <a:p>
            <a:r>
              <a:t>   Next...</a:t>
            </a:r>
          </a:p>
        </p:txBody>
      </p:sp>
      <p:sp>
        <p:nvSpPr>
          <p:cNvPr id="4" name="Slide Number Placeholder 3"/>
          <p:cNvSpPr>
            <a:spLocks noGrp="1"/>
          </p:cNvSpPr>
          <p:nvPr>
            <p:ph type="sldNum" sz="quarter" idx="5"/>
          </p:nvPr>
        </p:nvSpPr>
        <p:spPr/>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3 min</a:t>
            </a:r>
          </a:p>
          <a:p>
            <a:endParaRPr/>
          </a:p>
          <a:p>
            <a:r>
              <a:t>OPEN WITH:</a:t>
            </a:r>
          </a:p>
          <a:p>
            <a:r>
              <a:t>   Here's a cautionary tale: Reza allowed Claude to run git adds automatically. Claude enthusiastically added ALL files — including .env with API keys, node_modules, and build artifacts. One commit away from leaking credentials to a public repo. The fix: auto-execute on read-only commands, manual approval for anything that writes.</a:t>
            </a:r>
          </a:p>
          <a:p>
            <a:endParaRPr/>
          </a:p>
          <a:p>
            <a:r>
              <a:t>KEY POINTS:</a:t>
            </a:r>
          </a:p>
          <a:p>
            <a:r>
              <a:t>   * Default to restrictive. Open up only what you've verified is safe.</a:t>
            </a:r>
          </a:p>
          <a:p>
            <a:r>
              <a:t>   * Read operations are always safe to auto-approve: git status, ls, cat, grep</a:t>
            </a:r>
          </a:p>
          <a:p>
            <a:r>
              <a:t>   * Write operations always need manual approval: git add, rm, file writes</a:t>
            </a:r>
          </a:p>
          <a:p>
            <a:r>
              <a:t>   * git commit is especially dangerous — review the diff before every commit</a:t>
            </a:r>
          </a:p>
          <a:p>
            <a:r>
              <a:t>   * Pro tip: Use .claudeignore to hide .env, credentials, and secrets from Claude entirely</a:t>
            </a:r>
          </a:p>
          <a:p>
            <a:endParaRPr/>
          </a:p>
          <a:p>
            <a:r>
              <a:t>TRANSITION:</a:t>
            </a:r>
          </a:p>
          <a:p>
            <a:r>
              <a:t>   Let's configure these permissions in the demo.</a:t>
            </a:r>
          </a:p>
        </p:txBody>
      </p:sp>
      <p:sp>
        <p:nvSpPr>
          <p:cNvPr id="4" name="Slide Number Placeholder 3"/>
          <p:cNvSpPr>
            <a:spLocks noGrp="1"/>
          </p:cNvSpPr>
          <p:nvPr>
            <p:ph type="sldNum" sz="quarter" idx="5"/>
          </p:nvPr>
        </p:nvSpPr>
        <p:spPr/>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2 min</a:t>
            </a:r>
          </a:p>
          <a:p>
            <a:endParaRPr/>
          </a:p>
          <a:p>
            <a:r>
              <a:t>OPEN WITH:</a:t>
            </a:r>
          </a:p>
          <a:p>
            <a:r>
              <a:t>   This principle comes from Nate B Jones' 'Second Brain' video - the idea that AI assistants should be cautious by default, not reckless. Claude Code embodies this perfectly.</a:t>
            </a:r>
          </a:p>
          <a:p>
            <a:endParaRPr/>
          </a:p>
          <a:p>
            <a:r>
              <a:t>KEY POINTS:</a:t>
            </a:r>
          </a:p>
          <a:p>
            <a:r>
              <a:t>   * Claude Code's permission system implements 'default to safe' - it asks before destructive operations like deleting files or dropping databases</a:t>
            </a:r>
          </a:p>
          <a:p>
            <a:r>
              <a:t>   * CLAUDE.md acts as a guardrail system - you define what's safe and what requires human approval</a:t>
            </a:r>
          </a:p>
          <a:p>
            <a:r>
              <a:t>   * The Verify stage of the agentic loop is another safety mechanism - Claude Code doesn't just assume changes worked, it actively checks</a:t>
            </a:r>
          </a:p>
          <a:p>
            <a:r>
              <a:t>   * When Claude Code encounters ambiguous instructions or edge cases it can't handle confidently, it stops and asks rather than guessing</a:t>
            </a:r>
          </a:p>
          <a:p>
            <a:r>
              <a:t>   * This design philosophy prevents the 'AI ran wild and broke everything' scenario you hear about with less careful implementations</a:t>
            </a:r>
          </a:p>
          <a:p>
            <a:endParaRPr/>
          </a:p>
          <a:p>
            <a:r>
              <a:t>ASK THE CLASS:</a:t>
            </a:r>
          </a:p>
          <a:p>
            <a:r>
              <a:t>   "Would you rather have an AI that sometimes asks unnecessary questions, or one that occasionally makes destructive mistakes without warning? There's your answer for why 'safe by default' matters."</a:t>
            </a:r>
          </a:p>
          <a:p>
            <a:r>
              <a:t>   [PAUSE for 30-60 seconds]</a:t>
            </a:r>
          </a:p>
          <a:p>
            <a:endParaRPr/>
          </a:p>
          <a:p>
            <a:r>
              <a:t>REAL-WORLD EXAMPLE:</a:t>
            </a:r>
          </a:p>
          <a:p>
            <a:r>
              <a:t>   A developer last week told Claude Code to 'clean up the test files' in a project. Claude Code identified 47 files matching test patterns but noticed some were in the main source tree, not the tests/ directory. Instead of deleting them all, it listed them and asked 'These 12 files are outside tests/ - should I delete them too?' The developer realized those were test utilities, not test files. Safe default prevented data loss.</a:t>
            </a:r>
          </a:p>
          <a:p>
            <a:endParaRPr/>
          </a:p>
          <a:p>
            <a:r>
              <a:t>DEMO:</a:t>
            </a:r>
          </a:p>
          <a:p>
            <a:r>
              <a:t>   Open Claude Code in a project with a CLAUDE.md that has restrictive permissions (suggest-only or approval-required). Attempt a task that requires file deletion: 'Remove all unused imports from the Python files and delete any empty utility files.' Watch Claude Code identify the files to delete, but instead of deleting them immediately, it will present the list and ask for confirmation. Approve the deletion and watch it proceed. Then attempt a more ambiguous task: 'Optimize the database queries.' Show how Claude Code will ask clarifying questions rather than making assumptions about what 'optimize' means in this context.</a:t>
            </a:r>
          </a:p>
          <a:p>
            <a:endParaRPr/>
          </a:p>
          <a:p>
            <a:r>
              <a:t>TRANSITION:</a:t>
            </a:r>
          </a:p>
          <a:p>
            <a:r>
              <a:t>   Safe defaults are one layer - let's look at how breaking work into small chunks provides another safety mechanism</a:t>
            </a:r>
          </a:p>
        </p:txBody>
      </p:sp>
      <p:sp>
        <p:nvSpPr>
          <p:cNvPr id="4" name="Slide Number Placeholder 3"/>
          <p:cNvSpPr>
            <a:spLocks noGrp="1"/>
          </p:cNvSpPr>
          <p:nvPr>
            <p:ph type="sldNum" sz="quarter" idx="5"/>
          </p:nvPr>
        </p:nvSpPr>
        <p:spPr/>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4 min</a:t>
            </a:r>
          </a:p>
          <a:p>
            <a:endParaRPr/>
          </a:p>
          <a:p>
            <a:r>
              <a:t>OPEN WITH:</a:t>
            </a:r>
          </a:p>
          <a:p>
            <a:r>
              <a:t>   Let's configure security boundaries and test them - I want you to see how these controls actually work.</a:t>
            </a:r>
          </a:p>
          <a:p>
            <a:endParaRPr/>
          </a:p>
          <a:p>
            <a:r>
              <a:t>KEY POINTS:</a:t>
            </a:r>
          </a:p>
          <a:p>
            <a:r>
              <a:t>   * Key insight</a:t>
            </a:r>
          </a:p>
          <a:p>
            <a:r>
              <a:t>   * Practical application</a:t>
            </a:r>
          </a:p>
          <a:p>
            <a:r>
              <a:t>   * Why it matters</a:t>
            </a:r>
          </a:p>
          <a:p>
            <a:endParaRPr/>
          </a:p>
          <a:p>
            <a:r>
              <a:t>REAL-WORLD EXAMPLE:</a:t>
            </a:r>
          </a:p>
          <a:p>
            <a:r>
              <a:t>   Example demonstrating this concept.</a:t>
            </a:r>
          </a:p>
          <a:p>
            <a:endParaRPr/>
          </a:p>
          <a:p>
            <a:r>
              <a:t>DEMO:</a:t>
            </a:r>
          </a:p>
          <a:p>
            <a:r>
              <a:t>   Demo steps go here.</a:t>
            </a:r>
          </a:p>
          <a:p>
            <a:endParaRPr/>
          </a:p>
          <a:p>
            <a:r>
              <a:t>TRANSITION:</a:t>
            </a:r>
          </a:p>
          <a:p>
            <a:r>
              <a:t>   Next...</a:t>
            </a:r>
          </a:p>
        </p:txBody>
      </p:sp>
      <p:sp>
        <p:nvSpPr>
          <p:cNvPr id="4" name="Slide Number Placeholder 3"/>
          <p:cNvSpPr>
            <a:spLocks noGrp="1"/>
          </p:cNvSpPr>
          <p:nvPr>
            <p:ph type="sldNum" sz="quarter" idx="5"/>
          </p:nvPr>
        </p:nvSpPr>
        <p:spPr/>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1 min</a:t>
            </a:r>
          </a:p>
          <a:p>
            <a:endParaRPr/>
          </a:p>
          <a:p>
            <a:r>
              <a:t>OPEN WITH:</a:t>
            </a:r>
          </a:p>
          <a:p>
            <a:r>
              <a:t>   Quick 15-minute break.</a:t>
            </a:r>
          </a:p>
          <a:p>
            <a:endParaRPr/>
          </a:p>
          <a:p>
            <a:r>
              <a:t>KEY POINTS:</a:t>
            </a:r>
          </a:p>
          <a:p>
            <a:r>
              <a:t>   * Git integration next</a:t>
            </a:r>
          </a:p>
          <a:p>
            <a:endParaRPr/>
          </a:p>
          <a:p>
            <a:r>
              <a:t>TRANSITION:</a:t>
            </a:r>
          </a:p>
          <a:p>
            <a:r>
              <a:t>   Back in 15</a:t>
            </a:r>
          </a:p>
        </p:txBody>
      </p:sp>
      <p:sp>
        <p:nvSpPr>
          <p:cNvPr id="4" name="Slide Number Placeholder 3"/>
          <p:cNvSpPr>
            <a:spLocks noGrp="1"/>
          </p:cNvSpPr>
          <p:nvPr>
            <p:ph type="sldNum" sz="quarter" idx="5"/>
          </p:nvPr>
        </p:nvSpPr>
        <p:spPr/>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1 min</a:t>
            </a:r>
          </a:p>
          <a:p>
            <a:endParaRPr/>
          </a:p>
          <a:p>
            <a:r>
              <a:t>OPEN WITH:</a:t>
            </a:r>
          </a:p>
          <a:p>
            <a:r>
              <a:t>   Git integration is where Claude Code shines.</a:t>
            </a:r>
          </a:p>
          <a:p>
            <a:endParaRPr/>
          </a:p>
          <a:p>
            <a:r>
              <a:t>KEY POINTS:</a:t>
            </a:r>
          </a:p>
          <a:p>
            <a:r>
              <a:t>   * Manages entire workflow</a:t>
            </a:r>
          </a:p>
          <a:p>
            <a:endParaRPr/>
          </a:p>
          <a:p>
            <a:r>
              <a:t>TRANSITION:</a:t>
            </a:r>
          </a:p>
          <a:p>
            <a:r>
              <a:t>   Auto-commits first</a:t>
            </a:r>
          </a:p>
        </p:txBody>
      </p:sp>
      <p:sp>
        <p:nvSpPr>
          <p:cNvPr id="4" name="Slide Number Placeholder 3"/>
          <p:cNvSpPr>
            <a:spLocks noGrp="1"/>
          </p:cNvSpPr>
          <p:nvPr>
            <p:ph type="sldNum" sz="quarter" idx="5"/>
          </p:nvPr>
        </p:nvSpPr>
        <p:spPr/>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4 min</a:t>
            </a:r>
          </a:p>
          <a:p>
            <a:endParaRPr/>
          </a:p>
          <a:p>
            <a:r>
              <a:t>OPEN WITH:</a:t>
            </a:r>
          </a:p>
          <a:p>
            <a:r>
              <a:t>   Claude Code writes better commit messages than most humans.</a:t>
            </a:r>
          </a:p>
          <a:p>
            <a:endParaRPr/>
          </a:p>
          <a:p>
            <a:r>
              <a:t>KEY POINTS:</a:t>
            </a:r>
          </a:p>
          <a:p>
            <a:r>
              <a:t>   * Knows what changed and why</a:t>
            </a:r>
          </a:p>
          <a:p>
            <a:r>
              <a:t>   * Follows conventions</a:t>
            </a:r>
          </a:p>
          <a:p>
            <a:r>
              <a:t>   * Saves time</a:t>
            </a:r>
          </a:p>
          <a:p>
            <a:endParaRPr/>
          </a:p>
          <a:p>
            <a:r>
              <a:t>REAL-WORLD EXAMPLE:</a:t>
            </a:r>
          </a:p>
          <a:p>
            <a:r>
              <a:t>   Student's commits went from 'fixes' to detailed feat/fix messages.</a:t>
            </a:r>
          </a:p>
          <a:p>
            <a:endParaRPr/>
          </a:p>
          <a:p>
            <a:r>
              <a:t>TRANSITION:</a:t>
            </a:r>
          </a:p>
          <a:p>
            <a:r>
              <a:t>   Branch management next</a:t>
            </a:r>
          </a:p>
        </p:txBody>
      </p:sp>
      <p:sp>
        <p:nvSpPr>
          <p:cNvPr id="4" name="Slide Number Placeholder 3"/>
          <p:cNvSpPr>
            <a:spLocks noGrp="1"/>
          </p:cNvSpPr>
          <p:nvPr>
            <p:ph type="sldNum" sz="quarter" idx="5"/>
          </p:nvPr>
        </p:nvSpPr>
        <p:spPr/>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4 min</a:t>
            </a:r>
          </a:p>
          <a:p>
            <a:endParaRPr/>
          </a:p>
          <a:p>
            <a:r>
              <a:t>OPEN WITH:</a:t>
            </a:r>
          </a:p>
          <a:p>
            <a:r>
              <a:t>   Perfect branch names every time.</a:t>
            </a:r>
          </a:p>
          <a:p>
            <a:endParaRPr/>
          </a:p>
          <a:p>
            <a:r>
              <a:t>KEY POINTS:</a:t>
            </a:r>
          </a:p>
          <a:p>
            <a:r>
              <a:t>   * Follows CLAUDE.md rules</a:t>
            </a:r>
          </a:p>
          <a:p>
            <a:r>
              <a:t>   * Consistent naming</a:t>
            </a:r>
          </a:p>
          <a:p>
            <a:r>
              <a:t>   * No mistakes</a:t>
            </a:r>
          </a:p>
          <a:p>
            <a:endParaRPr/>
          </a:p>
          <a:p>
            <a:r>
              <a:t>REAL-WORLD EXAMPLE:</a:t>
            </a:r>
          </a:p>
          <a:p>
            <a:r>
              <a:t>   Team went from 60% to 100% naming compliance.</a:t>
            </a:r>
          </a:p>
          <a:p>
            <a:endParaRPr/>
          </a:p>
          <a:p>
            <a:r>
              <a:t>TRANSITION:</a:t>
            </a:r>
          </a:p>
          <a:p>
            <a:r>
              <a:t>   Commit messages</a:t>
            </a:r>
          </a:p>
        </p:txBody>
      </p:sp>
      <p:sp>
        <p:nvSpPr>
          <p:cNvPr id="4" name="Slide Number Placeholder 3"/>
          <p:cNvSpPr>
            <a:spLocks noGrp="1"/>
          </p:cNvSpPr>
          <p:nvPr>
            <p:ph type="sldNum" sz="quarter" idx="5"/>
          </p:nvPr>
        </p:nvSpPr>
        <p:spPr/>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4 min</a:t>
            </a:r>
          </a:p>
          <a:p>
            <a:endParaRPr/>
          </a:p>
          <a:p>
            <a:r>
              <a:t>OPEN WITH:</a:t>
            </a:r>
          </a:p>
          <a:p>
            <a:r>
              <a:t>   Real commit messages from Claude Code.</a:t>
            </a:r>
          </a:p>
          <a:p>
            <a:endParaRPr/>
          </a:p>
          <a:p>
            <a:r>
              <a:t>KEY POINTS:</a:t>
            </a:r>
          </a:p>
          <a:p>
            <a:r>
              <a:t>   * Detailed and structured</a:t>
            </a:r>
          </a:p>
          <a:p>
            <a:r>
              <a:t>   * Explains what and why</a:t>
            </a:r>
          </a:p>
          <a:p>
            <a:r>
              <a:t>   * Searchable history</a:t>
            </a:r>
          </a:p>
          <a:p>
            <a:endParaRPr/>
          </a:p>
          <a:p>
            <a:r>
              <a:t>REAL-WORLD EXAMPLE:</a:t>
            </a:r>
          </a:p>
          <a:p>
            <a:r>
              <a:t>   Developer found bug fix in seconds by searching 'refactor(database)'.</a:t>
            </a:r>
          </a:p>
          <a:p>
            <a:endParaRPr/>
          </a:p>
          <a:p>
            <a:r>
              <a:t>TRANSITION:</a:t>
            </a:r>
          </a:p>
          <a:p>
            <a:r>
              <a:t>   PR creation</a:t>
            </a:r>
          </a:p>
        </p:txBody>
      </p:sp>
      <p:sp>
        <p:nvSpPr>
          <p:cNvPr id="4" name="Slide Number Placeholder 3"/>
          <p:cNvSpPr>
            <a:spLocks noGrp="1"/>
          </p:cNvSpPr>
          <p:nvPr>
            <p:ph type="sldNum" sz="quarter" idx="5"/>
          </p:nvPr>
        </p:nvSpPr>
        <p:spPr/>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4 min</a:t>
            </a:r>
          </a:p>
          <a:p>
            <a:endParaRPr/>
          </a:p>
          <a:p>
            <a:r>
              <a:t>OPEN WITH:</a:t>
            </a:r>
          </a:p>
          <a:p>
            <a:r>
              <a:t>   Comprehensive PR descriptions in seconds.</a:t>
            </a:r>
          </a:p>
          <a:p>
            <a:endParaRPr/>
          </a:p>
          <a:p>
            <a:r>
              <a:t>KEY POINTS:</a:t>
            </a:r>
          </a:p>
          <a:p>
            <a:r>
              <a:t>   * What, why, how, testing</a:t>
            </a:r>
          </a:p>
          <a:p>
            <a:r>
              <a:t>   * Linked issues</a:t>
            </a:r>
          </a:p>
          <a:p>
            <a:r>
              <a:t>   * Checklist included</a:t>
            </a:r>
          </a:p>
          <a:p>
            <a:endParaRPr/>
          </a:p>
          <a:p>
            <a:r>
              <a:t>REAL-WORLD EXAMPLE:</a:t>
            </a:r>
          </a:p>
          <a:p>
            <a:r>
              <a:t>   Junior dev's Claude-generated PR was called 'best-documented in months'.</a:t>
            </a:r>
          </a:p>
          <a:p>
            <a:endParaRPr/>
          </a:p>
          <a:p>
            <a:r>
              <a:t>TRANSITION:</a:t>
            </a:r>
          </a:p>
          <a:p>
            <a:r>
              <a:t>   Git history</a:t>
            </a:r>
          </a:p>
        </p:txBody>
      </p:sp>
      <p:sp>
        <p:nvSpPr>
          <p:cNvPr id="4" name="Slide Number Placeholder 3"/>
          <p:cNvSpPr>
            <a:spLocks noGrp="1"/>
          </p:cNvSpPr>
          <p:nvPr>
            <p:ph type="sldNum" sz="quarter" idx="5"/>
          </p:nvPr>
        </p:nvSpPr>
        <p:spPr/>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4 min</a:t>
            </a:r>
          </a:p>
          <a:p>
            <a:endParaRPr/>
          </a:p>
          <a:p>
            <a:r>
              <a:t>OPEN WITH:</a:t>
            </a:r>
          </a:p>
          <a:p>
            <a:r>
              <a:t>   Git history analysis made easy.</a:t>
            </a:r>
          </a:p>
          <a:p>
            <a:endParaRPr/>
          </a:p>
          <a:p>
            <a:r>
              <a:t>KEY POINTS:</a:t>
            </a:r>
          </a:p>
          <a:p>
            <a:r>
              <a:t>   * Answers 'who/when/why'</a:t>
            </a:r>
          </a:p>
          <a:p>
            <a:r>
              <a:t>   * Identifies patterns</a:t>
            </a:r>
          </a:p>
          <a:p>
            <a:r>
              <a:t>   * Generates changelogs</a:t>
            </a:r>
          </a:p>
          <a:p>
            <a:endParaRPr/>
          </a:p>
          <a:p>
            <a:r>
              <a:t>REAL-WORLD EXAMPLE:</a:t>
            </a:r>
          </a:p>
          <a:p>
            <a:r>
              <a:t>   Found bug introduction by asking Claude Code to analyze history.</a:t>
            </a:r>
          </a:p>
          <a:p>
            <a:endParaRPr/>
          </a:p>
          <a:p>
            <a:r>
              <a:t>TRANSITION:</a:t>
            </a:r>
          </a:p>
          <a:p>
            <a:r>
              <a:t>   Platform differences</a:t>
            </a:r>
          </a:p>
        </p:txBody>
      </p:sp>
      <p:sp>
        <p:nvSpPr>
          <p:cNvPr id="4" name="Slide Number Placeholder 3"/>
          <p:cNvSpPr>
            <a:spLocks noGrp="1"/>
          </p:cNvSpPr>
          <p:nvPr>
            <p:ph type="sldNum" sz="quarter" idx="5"/>
          </p:nvPr>
        </p:nvSpPr>
        <p:spPr/>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4 min</a:t>
            </a:r>
          </a:p>
          <a:p>
            <a:endParaRPr/>
          </a:p>
          <a:p>
            <a:r>
              <a:t>OPEN WITH:</a:t>
            </a:r>
          </a:p>
          <a:p>
            <a:r>
              <a:t>   Both platforms supported.</a:t>
            </a:r>
          </a:p>
          <a:p>
            <a:endParaRPr/>
          </a:p>
          <a:p>
            <a:r>
              <a:t>KEY POINTS:</a:t>
            </a:r>
          </a:p>
          <a:p>
            <a:r>
              <a:t>   * Same concepts</a:t>
            </a:r>
          </a:p>
          <a:p>
            <a:r>
              <a:t>   * Syntax varies slightly</a:t>
            </a:r>
          </a:p>
          <a:p>
            <a:r>
              <a:t>   * Choose your platform</a:t>
            </a:r>
          </a:p>
          <a:p>
            <a:endParaRPr/>
          </a:p>
          <a:p>
            <a:r>
              <a:t>REAL-WORLD EXAMPLE:</a:t>
            </a:r>
          </a:p>
          <a:p>
            <a:r>
              <a:t>   Team switched GitHub to GitLab, Claude Code config took 5 minutes.</a:t>
            </a:r>
          </a:p>
          <a:p>
            <a:endParaRPr/>
          </a:p>
          <a:p>
            <a:r>
              <a:t>TRANSITION:</a:t>
            </a:r>
          </a:p>
          <a:p>
            <a:r>
              <a:t>   Complete workflow demo</a:t>
            </a:r>
          </a:p>
        </p:txBody>
      </p:sp>
      <p:sp>
        <p:nvSpPr>
          <p:cNvPr id="4" name="Slide Number Placeholder 3"/>
          <p:cNvSpPr>
            <a:spLocks noGrp="1"/>
          </p:cNvSpPr>
          <p:nvPr>
            <p:ph type="sldNum" sz="quarter" idx="5"/>
          </p:nvPr>
        </p:nvSpPr>
        <p:spPr/>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5 min</a:t>
            </a:r>
          </a:p>
          <a:p>
            <a:endParaRPr/>
          </a:p>
          <a:p>
            <a:r>
              <a:t>OPEN WITH:</a:t>
            </a:r>
          </a:p>
          <a:p>
            <a:r>
              <a:t>   Complete Git workflow automated.</a:t>
            </a:r>
          </a:p>
          <a:p>
            <a:endParaRPr/>
          </a:p>
          <a:p>
            <a:r>
              <a:t>KEY POINTS:</a:t>
            </a:r>
          </a:p>
          <a:p>
            <a:r>
              <a:t>   * End-to-end flow</a:t>
            </a:r>
          </a:p>
          <a:p>
            <a:r>
              <a:t>   * Everything connected</a:t>
            </a:r>
          </a:p>
          <a:p>
            <a:r>
              <a:t>   * Production-ready</a:t>
            </a:r>
          </a:p>
          <a:p>
            <a:endParaRPr/>
          </a:p>
          <a:p>
            <a:r>
              <a:t>REAL-WORLD EXAMPLE:</a:t>
            </a:r>
          </a:p>
          <a:p>
            <a:r>
              <a:t>   This is the daily workflow.</a:t>
            </a:r>
          </a:p>
          <a:p>
            <a:endParaRPr/>
          </a:p>
          <a:p>
            <a:r>
              <a:t>DEMO:</a:t>
            </a:r>
          </a:p>
          <a:p>
            <a:r>
              <a:t>   Live demo: create branch, implement feature, commit, push, create PR. All via Claude Code.</a:t>
            </a:r>
          </a:p>
          <a:p>
            <a:endParaRPr/>
          </a:p>
          <a:p>
            <a:r>
              <a:t>TRANSITION:</a:t>
            </a:r>
          </a:p>
          <a:p>
            <a:r>
              <a:t>   File operations section</a:t>
            </a:r>
          </a:p>
        </p:txBody>
      </p:sp>
      <p:sp>
        <p:nvSpPr>
          <p:cNvPr id="4" name="Slide Number Placeholder 3"/>
          <p:cNvSpPr>
            <a:spLocks noGrp="1"/>
          </p:cNvSpPr>
          <p:nvPr>
            <p:ph type="sldNum" sz="quarter" idx="5"/>
          </p:nvPr>
        </p:nvSpPr>
        <p:spPr/>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1 min</a:t>
            </a:r>
          </a:p>
          <a:p>
            <a:endParaRPr/>
          </a:p>
          <a:p>
            <a:r>
              <a:t>OPEN WITH:</a:t>
            </a:r>
          </a:p>
          <a:p>
            <a:r>
              <a:t>   Real workflows you'll use daily.</a:t>
            </a:r>
          </a:p>
          <a:p>
            <a:endParaRPr/>
          </a:p>
          <a:p>
            <a:r>
              <a:t>KEY POINTS:</a:t>
            </a:r>
          </a:p>
          <a:p>
            <a:r>
              <a:t>   * Complete toolkit</a:t>
            </a:r>
          </a:p>
          <a:p>
            <a:endParaRPr/>
          </a:p>
          <a:p>
            <a:r>
              <a:t>TRANSITION:</a:t>
            </a:r>
          </a:p>
          <a:p>
            <a:r>
              <a:t>   File operations</a:t>
            </a:r>
          </a:p>
        </p:txBody>
      </p:sp>
      <p:sp>
        <p:nvSpPr>
          <p:cNvPr id="4" name="Slide Number Placeholder 3"/>
          <p:cNvSpPr>
            <a:spLocks noGrp="1"/>
          </p:cNvSpPr>
          <p:nvPr>
            <p:ph type="sldNum" sz="quarter" idx="5"/>
          </p:nvPr>
        </p:nvSpPr>
        <p:spPr/>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4 min</a:t>
            </a:r>
          </a:p>
          <a:p>
            <a:endParaRPr/>
          </a:p>
          <a:p>
            <a:r>
              <a:t>OPEN WITH:</a:t>
            </a:r>
          </a:p>
          <a:p>
            <a:r>
              <a:t>   Precise file operations.</a:t>
            </a:r>
          </a:p>
          <a:p>
            <a:endParaRPr/>
          </a:p>
          <a:p>
            <a:r>
              <a:t>KEY POINTS:</a:t>
            </a:r>
          </a:p>
          <a:p>
            <a:r>
              <a:t>   * Coordinated changes</a:t>
            </a:r>
          </a:p>
          <a:p>
            <a:r>
              <a:t>   * Dependency tracking</a:t>
            </a:r>
          </a:p>
          <a:p>
            <a:r>
              <a:t>   * Verification</a:t>
            </a:r>
          </a:p>
          <a:p>
            <a:endParaRPr/>
          </a:p>
          <a:p>
            <a:r>
              <a:t>REAL-WORLD EXAMPLE:</a:t>
            </a:r>
          </a:p>
          <a:p>
            <a:r>
              <a:t>   Renamed function across 30 files flawlessly.</a:t>
            </a:r>
          </a:p>
          <a:p>
            <a:endParaRPr/>
          </a:p>
          <a:p>
            <a:r>
              <a:t>TRANSITION:</a:t>
            </a:r>
          </a:p>
          <a:p>
            <a:r>
              <a:t>   Refactoring</a:t>
            </a:r>
          </a:p>
        </p:txBody>
      </p:sp>
      <p:sp>
        <p:nvSpPr>
          <p:cNvPr id="4" name="Slide Number Placeholder 3"/>
          <p:cNvSpPr>
            <a:spLocks noGrp="1"/>
          </p:cNvSpPr>
          <p:nvPr>
            <p:ph type="sldNum" sz="quarter" idx="5"/>
          </p:nvPr>
        </p:nvSpPr>
        <p:spPr/>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4 min</a:t>
            </a:r>
          </a:p>
          <a:p>
            <a:endParaRPr/>
          </a:p>
          <a:p>
            <a:r>
              <a:t>OPEN WITH:</a:t>
            </a:r>
          </a:p>
          <a:p>
            <a:r>
              <a:t>   Refactoring 10+ files is error-prone manually.</a:t>
            </a:r>
          </a:p>
          <a:p>
            <a:endParaRPr/>
          </a:p>
          <a:p>
            <a:r>
              <a:t>KEY POINTS:</a:t>
            </a:r>
          </a:p>
          <a:p>
            <a:r>
              <a:t>   * Claude Code handles precision</a:t>
            </a:r>
          </a:p>
          <a:p>
            <a:r>
              <a:t>   * Updates imports</a:t>
            </a:r>
          </a:p>
          <a:p>
            <a:r>
              <a:t>   * Verifies changes</a:t>
            </a:r>
          </a:p>
          <a:p>
            <a:endParaRPr/>
          </a:p>
          <a:p>
            <a:r>
              <a:t>REAL-WORLD EXAMPLE:</a:t>
            </a:r>
          </a:p>
          <a:p>
            <a:r>
              <a:t>   Split large class into 5 modules, updated all callers.</a:t>
            </a:r>
          </a:p>
          <a:p>
            <a:endParaRPr/>
          </a:p>
          <a:p>
            <a:r>
              <a:t>TRANSITION:</a:t>
            </a:r>
          </a:p>
          <a:p>
            <a:r>
              <a:t>   Code generation</a:t>
            </a:r>
          </a:p>
        </p:txBody>
      </p:sp>
      <p:sp>
        <p:nvSpPr>
          <p:cNvPr id="4" name="Slide Number Placeholder 3"/>
          <p:cNvSpPr>
            <a:spLocks noGrp="1"/>
          </p:cNvSpPr>
          <p:nvPr>
            <p:ph type="sldNum" sz="quarter" idx="5"/>
          </p:nvPr>
        </p:nvSpPr>
        <p:spPr/>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4 min</a:t>
            </a:r>
          </a:p>
          <a:p>
            <a:endParaRPr/>
          </a:p>
          <a:p>
            <a:r>
              <a:t>OPEN WITH:</a:t>
            </a:r>
          </a:p>
          <a:p>
            <a:r>
              <a:t>   Why write boilerplate 100 times?</a:t>
            </a:r>
          </a:p>
          <a:p>
            <a:endParaRPr/>
          </a:p>
          <a:p>
            <a:r>
              <a:t>KEY POINTS:</a:t>
            </a:r>
          </a:p>
          <a:p>
            <a:r>
              <a:t>   * CRUD generation</a:t>
            </a:r>
          </a:p>
          <a:p>
            <a:r>
              <a:t>   * API scaffolding</a:t>
            </a:r>
          </a:p>
          <a:p>
            <a:r>
              <a:t>   * Test templates</a:t>
            </a:r>
          </a:p>
          <a:p>
            <a:endParaRPr/>
          </a:p>
          <a:p>
            <a:r>
              <a:t>REAL-WORLD EXAMPLE:</a:t>
            </a:r>
          </a:p>
          <a:p>
            <a:r>
              <a:t>   Generated 15 CRUD endpoints in 3 minutes.</a:t>
            </a:r>
          </a:p>
          <a:p>
            <a:endParaRPr/>
          </a:p>
          <a:p>
            <a:r>
              <a:t>TRANSITION:</a:t>
            </a:r>
          </a:p>
          <a:p>
            <a:r>
              <a:t>   Debugging</a:t>
            </a:r>
          </a:p>
        </p:txBody>
      </p:sp>
      <p:sp>
        <p:nvSpPr>
          <p:cNvPr id="4" name="Slide Number Placeholder 3"/>
          <p:cNvSpPr>
            <a:spLocks noGrp="1"/>
          </p:cNvSpPr>
          <p:nvPr>
            <p:ph type="sldNum" sz="quarter" idx="5"/>
          </p:nvPr>
        </p:nvSpPr>
        <p:spPr/>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4 min</a:t>
            </a:r>
          </a:p>
          <a:p>
            <a:endParaRPr/>
          </a:p>
          <a:p>
            <a:r>
              <a:t>OPEN WITH:</a:t>
            </a:r>
          </a:p>
          <a:p>
            <a:r>
              <a:t>   Same debugging process, but faster.</a:t>
            </a:r>
          </a:p>
          <a:p>
            <a:endParaRPr/>
          </a:p>
          <a:p>
            <a:r>
              <a:t>KEY POINTS:</a:t>
            </a:r>
          </a:p>
          <a:p>
            <a:r>
              <a:t>   * Systematic approach</a:t>
            </a:r>
          </a:p>
          <a:p>
            <a:r>
              <a:t>   * Tests added</a:t>
            </a:r>
          </a:p>
          <a:p>
            <a:r>
              <a:t>   * Documented</a:t>
            </a:r>
          </a:p>
          <a:p>
            <a:endParaRPr/>
          </a:p>
          <a:p>
            <a:r>
              <a:t>REAL-WORLD EXAMPLE:</a:t>
            </a:r>
          </a:p>
          <a:p>
            <a:r>
              <a:t>   Found race condition in 5 minutes after 2 hours stuck.</a:t>
            </a:r>
          </a:p>
          <a:p>
            <a:endParaRPr/>
          </a:p>
          <a:p>
            <a:r>
              <a:t>TRANSITION:</a:t>
            </a:r>
          </a:p>
          <a:p>
            <a:r>
              <a:t>   Test generation</a:t>
            </a:r>
          </a:p>
        </p:txBody>
      </p:sp>
      <p:sp>
        <p:nvSpPr>
          <p:cNvPr id="4" name="Slide Number Placeholder 3"/>
          <p:cNvSpPr>
            <a:spLocks noGrp="1"/>
          </p:cNvSpPr>
          <p:nvPr>
            <p:ph type="sldNum" sz="quarter" idx="5"/>
          </p:nvPr>
        </p:nvSpPr>
        <p:spPr/>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2 min</a:t>
            </a:r>
          </a:p>
          <a:p>
            <a:endParaRPr/>
          </a:p>
          <a:p>
            <a:r>
              <a:t>OPEN WITH:</a:t>
            </a:r>
          </a:p>
          <a:p>
            <a:r>
              <a:t>   This principle is from Nate B Jones' 'Second Brain' framework - the idea that productivity comes from defining clear next actions, not vague goals. When you give Claude Code a next action instead of a goal, you get dramatically better results.</a:t>
            </a:r>
          </a:p>
          <a:p>
            <a:endParaRPr/>
          </a:p>
          <a:p>
            <a:r>
              <a:t>KEY POINTS:</a:t>
            </a:r>
          </a:p>
          <a:p>
            <a:r>
              <a:t>   * A 'next action' is concrete, specific, and immediately executable - it answers 'what is the very next thing to do?'</a:t>
            </a:r>
          </a:p>
          <a:p>
            <a:r>
              <a:t>   * Vague prompts like 'improve the code' force Claude Code to guess what you want - it might refactor structure when you meant optimize performance</a:t>
            </a:r>
          </a:p>
          <a:p>
            <a:r>
              <a:t>   * Specific prompts like 'add type hints to all functions in auth.py' give Claude Code a clear success criterion - it knows exactly when it's done</a:t>
            </a:r>
          </a:p>
          <a:p>
            <a:r>
              <a:t>   * The debugging workflow you just learned applies this principle - instead of 'fix the bug', you say 'trace the error in the checkout flow and identify where the null user object is created'</a:t>
            </a:r>
          </a:p>
          <a:p>
            <a:r>
              <a:t>   * Next actions chain together - after 'create User model', the obvious next action is 'add User CRUD endpoints', then 'add authentication middleware', etc.</a:t>
            </a:r>
          </a:p>
          <a:p>
            <a:endParaRPr/>
          </a:p>
          <a:p>
            <a:r>
              <a:t>ASK THE CLASS:</a:t>
            </a:r>
          </a:p>
          <a:p>
            <a:r>
              <a:t>   "Look at your current to-do list. How many items are vague goals vs concrete next actions? Try rephrasing one goal as a next action and see how much clearer it becomes."</a:t>
            </a:r>
          </a:p>
          <a:p>
            <a:r>
              <a:t>   [PAUSE for 30-60 seconds]</a:t>
            </a:r>
          </a:p>
          <a:p>
            <a:endParaRPr/>
          </a:p>
          <a:p>
            <a:r>
              <a:t>REAL-WORLD EXAMPLE:</a:t>
            </a:r>
          </a:p>
          <a:p>
            <a:r>
              <a:t>   A developer was stuck on a feature for two days. Their prompt was 'add social login to the app.' I asked them to break it down into next actions: (1) Add Google OAuth credentials to environment config. (2) Create /auth/google/callback route. (3) Implement token exchange logic. (4) Create or update User record on successful auth. (5) Redirect to dashboard with session. Each next action took 10 minutes. The vague goal was paralyzing; the next actions were energizing.</a:t>
            </a:r>
          </a:p>
          <a:p>
            <a:endParaRPr/>
          </a:p>
          <a:p>
            <a:r>
              <a:t>DEMO:</a:t>
            </a:r>
          </a:p>
          <a:p>
            <a:r>
              <a:t>   Demonstrate the difference between vague and specific prompts. First, give Claude Code a vague instruction: 'Make the API better.' Watch it ask clarifying questions or make assumptions you didn't intend. Then give it a next action: 'Add request logging middleware that captures method, path, status code, and duration for all API endpoints.' Watch how quickly and accurately it executes. Show the difference in output quality. Emphasize that the second approach required less back-and-forth and produced exactly what you wanted.</a:t>
            </a:r>
          </a:p>
          <a:p>
            <a:endParaRPr/>
          </a:p>
          <a:p>
            <a:r>
              <a:t>TRANSITION:</a:t>
            </a:r>
          </a:p>
          <a:p>
            <a:r>
              <a:t>   Next actions are the unit of execution - now let's move to wrapping up the development workflows section</a:t>
            </a:r>
          </a:p>
        </p:txBody>
      </p:sp>
      <p:sp>
        <p:nvSpPr>
          <p:cNvPr id="4" name="Slide Number Placeholder 3"/>
          <p:cNvSpPr>
            <a:spLocks noGrp="1"/>
          </p:cNvSpPr>
          <p:nvPr>
            <p:ph type="sldNum" sz="quarter" idx="5"/>
          </p:nvPr>
        </p:nvSpPr>
        <p:spPr/>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4 min</a:t>
            </a:r>
          </a:p>
          <a:p>
            <a:endParaRPr/>
          </a:p>
          <a:p>
            <a:r>
              <a:t>OPEN WITH:</a:t>
            </a:r>
          </a:p>
          <a:p>
            <a:r>
              <a:t>   Comprehensive tests automatically.</a:t>
            </a:r>
          </a:p>
          <a:p>
            <a:endParaRPr/>
          </a:p>
          <a:p>
            <a:r>
              <a:t>KEY POINTS:</a:t>
            </a:r>
          </a:p>
          <a:p>
            <a:r>
              <a:t>   * Multiple test types</a:t>
            </a:r>
          </a:p>
          <a:p>
            <a:r>
              <a:t>   * High coverage</a:t>
            </a:r>
          </a:p>
          <a:p>
            <a:r>
              <a:t>   * Well-named</a:t>
            </a:r>
          </a:p>
          <a:p>
            <a:endParaRPr/>
          </a:p>
          <a:p>
            <a:r>
              <a:t>REAL-WORLD EXAMPLE:</a:t>
            </a:r>
          </a:p>
          <a:p>
            <a:r>
              <a:t>   Added feature with full tests, no manual test writing.</a:t>
            </a:r>
          </a:p>
          <a:p>
            <a:endParaRPr/>
          </a:p>
          <a:p>
            <a:r>
              <a:t>TRANSITION:</a:t>
            </a:r>
          </a:p>
          <a:p>
            <a:r>
              <a:t>   Documentation</a:t>
            </a:r>
          </a:p>
        </p:txBody>
      </p:sp>
      <p:sp>
        <p:nvSpPr>
          <p:cNvPr id="4" name="Slide Number Placeholder 3"/>
          <p:cNvSpPr>
            <a:spLocks noGrp="1"/>
          </p:cNvSpPr>
          <p:nvPr>
            <p:ph type="sldNum" sz="quarter" idx="5"/>
          </p:nvPr>
        </p:nvSpPr>
        <p:spPr/>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3 min</a:t>
            </a:r>
          </a:p>
          <a:p>
            <a:endParaRPr/>
          </a:p>
          <a:p>
            <a:r>
              <a:t>OPEN WITH:</a:t>
            </a:r>
          </a:p>
          <a:p>
            <a:r>
              <a:t>   Never trust, always verify. This is the single most important habit in AI-assisted development. Have Claude write code AND tests. If tests pass, you're probably good. If they fail, Claude can see the failure output and fix it in the same session — that's the self-correcting loop.</a:t>
            </a:r>
          </a:p>
          <a:p>
            <a:endParaRPr/>
          </a:p>
          <a:p>
            <a:r>
              <a:t>KEY POINTS:</a:t>
            </a:r>
          </a:p>
          <a:p>
            <a:r>
              <a:t>   * The verification loop: write code → write tests → run tests → if fail, Claude fixes → run again</a:t>
            </a:r>
          </a:p>
          <a:p>
            <a:r>
              <a:t>   * Key insight: Claude is confident even when wrong. Confidence is not a proxy for correctness.</a:t>
            </a:r>
          </a:p>
          <a:p>
            <a:r>
              <a:t>   * Almost right is worse than clearly wrong — almost right passes tests, ships to production, breaks at 3 AM</a:t>
            </a:r>
          </a:p>
          <a:p>
            <a:r>
              <a:t>   * Ties to Principle #4: Build trust mechanisms, not just capabilities</a:t>
            </a:r>
          </a:p>
          <a:p>
            <a:r>
              <a:t>   * Always run existing tests after changes — regressions are the silent killer</a:t>
            </a:r>
          </a:p>
          <a:p>
            <a:endParaRPr/>
          </a:p>
          <a:p>
            <a:r>
              <a:t>TRANSITION:</a:t>
            </a:r>
          </a:p>
          <a:p>
            <a:r>
              <a:t>   Let's see this verification loop in action during our Git workflow demo.</a:t>
            </a:r>
          </a:p>
        </p:txBody>
      </p:sp>
      <p:sp>
        <p:nvSpPr>
          <p:cNvPr id="4" name="Slide Number Placeholder 3"/>
          <p:cNvSpPr>
            <a:spLocks noGrp="1"/>
          </p:cNvSpPr>
          <p:nvPr>
            <p:ph type="sldNum" sz="quarter" idx="5"/>
          </p:nvPr>
        </p:nvSpPr>
        <p:spPr/>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4 min</a:t>
            </a:r>
          </a:p>
          <a:p>
            <a:endParaRPr/>
          </a:p>
          <a:p>
            <a:r>
              <a:t>OPEN WITH:</a:t>
            </a:r>
          </a:p>
          <a:p>
            <a:r>
              <a:t>   Documentation generated automatically.</a:t>
            </a:r>
          </a:p>
          <a:p>
            <a:endParaRPr/>
          </a:p>
          <a:p>
            <a:r>
              <a:t>KEY POINTS:</a:t>
            </a:r>
          </a:p>
          <a:p>
            <a:r>
              <a:t>   * Multiple doc types</a:t>
            </a:r>
          </a:p>
          <a:p>
            <a:r>
              <a:t>   * Always current</a:t>
            </a:r>
          </a:p>
          <a:p>
            <a:r>
              <a:t>   * Professional quality</a:t>
            </a:r>
          </a:p>
          <a:p>
            <a:endParaRPr/>
          </a:p>
          <a:p>
            <a:r>
              <a:t>REAL-WORLD EXAMPLE:</a:t>
            </a:r>
          </a:p>
          <a:p>
            <a:r>
              <a:t>   API docs stayed current because Claude Code updated them with code.</a:t>
            </a:r>
          </a:p>
          <a:p>
            <a:endParaRPr/>
          </a:p>
          <a:p>
            <a:r>
              <a:t>TRANSITION:</a:t>
            </a:r>
          </a:p>
          <a:p>
            <a:r>
              <a:t>   Final demo</a:t>
            </a:r>
          </a:p>
        </p:txBody>
      </p:sp>
      <p:sp>
        <p:nvSpPr>
          <p:cNvPr id="4" name="Slide Number Placeholder 3"/>
          <p:cNvSpPr>
            <a:spLocks noGrp="1"/>
          </p:cNvSpPr>
          <p:nvPr>
            <p:ph type="sldNum" sz="quarter" idx="5"/>
          </p:nvPr>
        </p:nvSpPr>
        <p:spPr/>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5 min</a:t>
            </a:r>
          </a:p>
          <a:p>
            <a:endParaRPr/>
          </a:p>
          <a:p>
            <a:r>
              <a:t>OPEN WITH:</a:t>
            </a:r>
          </a:p>
          <a:p>
            <a:r>
              <a:t>   Live debugging - real bug, real fix.</a:t>
            </a:r>
          </a:p>
          <a:p>
            <a:endParaRPr/>
          </a:p>
          <a:p>
            <a:r>
              <a:t>KEY POINTS:</a:t>
            </a:r>
          </a:p>
          <a:p>
            <a:r>
              <a:t>   * Complete process</a:t>
            </a:r>
          </a:p>
          <a:p>
            <a:r>
              <a:t>   * Real-world scenario</a:t>
            </a:r>
          </a:p>
          <a:p>
            <a:r>
              <a:t>   * Production techniques</a:t>
            </a:r>
          </a:p>
          <a:p>
            <a:endParaRPr/>
          </a:p>
          <a:p>
            <a:r>
              <a:t>REAL-WORLD EXAMPLE:</a:t>
            </a:r>
          </a:p>
          <a:p>
            <a:r>
              <a:t>   This is what you'll do Monday.</a:t>
            </a:r>
          </a:p>
          <a:p>
            <a:endParaRPr/>
          </a:p>
          <a:p>
            <a:r>
              <a:t>DEMO:</a:t>
            </a:r>
          </a:p>
          <a:p>
            <a:r>
              <a:t>   Run failing test, ask Claude Code to debug, watch it analyze, fix, verify.</a:t>
            </a:r>
          </a:p>
          <a:p>
            <a:endParaRPr/>
          </a:p>
          <a:p>
            <a:r>
              <a:t>TRANSITION:</a:t>
            </a:r>
          </a:p>
          <a:p>
            <a:r>
              <a:t>   Final lab</a:t>
            </a:r>
          </a:p>
        </p:txBody>
      </p:sp>
      <p:sp>
        <p:nvSpPr>
          <p:cNvPr id="4" name="Slide Number Placeholder 3"/>
          <p:cNvSpPr>
            <a:spLocks noGrp="1"/>
          </p:cNvSpPr>
          <p:nvPr>
            <p:ph type="sldNum" sz="quarter" idx="5"/>
          </p:nvPr>
        </p:nvSpPr>
        <p:spPr/>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1 min</a:t>
            </a:r>
          </a:p>
          <a:p>
            <a:endParaRPr/>
          </a:p>
          <a:p>
            <a:r>
              <a:t>OPEN WITH:</a:t>
            </a:r>
          </a:p>
          <a:p>
            <a:r>
              <a:t>   SQL work is often the most tedious part of development - writing queries, designing schemas, optimizing performance. Claude Code transforms all of that from hours of head-scratching into minutes of guided conversation.</a:t>
            </a:r>
          </a:p>
          <a:p>
            <a:endParaRPr/>
          </a:p>
          <a:p>
            <a:r>
              <a:t>KEY POINTS:</a:t>
            </a:r>
          </a:p>
          <a:p>
            <a:r>
              <a:t>   * Claude Code understands SQL at a deep level - not just syntax, but design patterns, normalization, and optimization strategies</a:t>
            </a:r>
          </a:p>
          <a:p>
            <a:r>
              <a:t>   * You can go from business requirements to a complete database schema with seed data and validation queries in one session</a:t>
            </a:r>
          </a:p>
          <a:p>
            <a:r>
              <a:t>   * This isn't just code generation - it's an AI database architect that catches design flaws you might miss</a:t>
            </a:r>
          </a:p>
          <a:p>
            <a:endParaRPr/>
          </a:p>
          <a:p>
            <a:r>
              <a:t>TRANSITION:</a:t>
            </a:r>
          </a:p>
          <a:p>
            <a:r>
              <a:t>   Let's start with the most common task: generating SQL queries from natural language</a:t>
            </a:r>
          </a:p>
        </p:txBody>
      </p:sp>
      <p:sp>
        <p:nvSpPr>
          <p:cNvPr id="4" name="Slide Number Placeholder 3"/>
          <p:cNvSpPr>
            <a:spLocks noGrp="1"/>
          </p:cNvSpPr>
          <p:nvPr>
            <p:ph type="sldNum" sz="quarter" idx="5"/>
          </p:nvPr>
        </p:nvSpPr>
        <p:spPr/>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4 min</a:t>
            </a:r>
          </a:p>
          <a:p>
            <a:endParaRPr/>
          </a:p>
          <a:p>
            <a:r>
              <a:t>OPEN WITH:</a:t>
            </a:r>
          </a:p>
          <a:p>
            <a:r>
              <a:t>   Writing SQL queries is one of Claude Code's strongest capabilities - it understands the intent behind your question and translates it into efficient, correct SQL.</a:t>
            </a:r>
          </a:p>
          <a:p>
            <a:endParaRPr/>
          </a:p>
          <a:p>
            <a:r>
              <a:t>KEY POINTS:</a:t>
            </a:r>
          </a:p>
          <a:p>
            <a:r>
              <a:t>   * You can ask Claude Code in completely natural language - 'find all orders from last month where the customer spent more than $100' - and it generates the exact SQL with proper table joins, date filtering, and aggregation</a:t>
            </a:r>
          </a:p>
          <a:p>
            <a:r>
              <a:t>   * It handles complexity gracefully - simple queries come back instantly, complex ones with multiple JOINs and subqueries are explained step-by-step so you understand the logic</a:t>
            </a:r>
          </a:p>
          <a:p>
            <a:r>
              <a:t>   * Database syntax differences are handled automatically - tell Claude Code you're using PostgreSQL and it will use PostgreSQL-specific features like JSONB operators or array functions</a:t>
            </a:r>
          </a:p>
          <a:p>
            <a:r>
              <a:t>   * CTEs and window functions are generated when they improve readability - Claude Code knows when a complex subquery is better expressed as a CTE, or when ROW_NUMBER solves a ranking problem elegantly</a:t>
            </a:r>
          </a:p>
          <a:p>
            <a:endParaRPr/>
          </a:p>
          <a:p>
            <a:r>
              <a:t>REAL-WORLD EXAMPLE:</a:t>
            </a:r>
          </a:p>
          <a:p>
            <a:r>
              <a:t>   A data analyst asked Claude Code: 'Show me the top 10 products by revenue in each category for the last quarter, with year-over-year comparison.' Claude Code generated a query with window functions, CTEs, and proper date math that would have taken 30+ minutes to write manually. It worked perfectly on the first run.</a:t>
            </a:r>
          </a:p>
          <a:p>
            <a:endParaRPr/>
          </a:p>
          <a:p>
            <a:r>
              <a:t>TRANSITION:</a:t>
            </a:r>
          </a:p>
          <a:p>
            <a:r>
              <a:t>   Let me show you a real example of complex query generation</a:t>
            </a:r>
          </a:p>
        </p:txBody>
      </p:sp>
      <p:sp>
        <p:nvSpPr>
          <p:cNvPr id="4" name="Slide Number Placeholder 3"/>
          <p:cNvSpPr>
            <a:spLocks noGrp="1"/>
          </p:cNvSpPr>
          <p:nvPr>
            <p:ph type="sldNum" sz="quarter" idx="5"/>
          </p:nvPr>
        </p:nvSpPr>
        <p:spPr/>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4 min</a:t>
            </a:r>
          </a:p>
          <a:p>
            <a:endParaRPr/>
          </a:p>
          <a:p>
            <a:r>
              <a:t>OPEN WITH:</a:t>
            </a:r>
          </a:p>
          <a:p>
            <a:r>
              <a:t>   This is what Claude Code generated from a single natural language prompt - notice how clean and well-structured this query is.</a:t>
            </a:r>
          </a:p>
          <a:p>
            <a:endParaRPr/>
          </a:p>
          <a:p>
            <a:r>
              <a:t>KEY POINTS:</a:t>
            </a:r>
          </a:p>
          <a:p>
            <a:r>
              <a:t>   * The CTE pattern makes this query readable - customer_orders clearly shows the aggregation logic, then the main SELECT just formats and limits results</a:t>
            </a:r>
          </a:p>
          <a:p>
            <a:r>
              <a:t>   * Proper PostgreSQL syntax - CURRENT_DATE, INTERVAL for date math, string concatenation with ||</a:t>
            </a:r>
          </a:p>
          <a:p>
            <a:r>
              <a:t>   * All the JOINs are correct - customers to orders to order_items following the foreign key relationships</a:t>
            </a:r>
          </a:p>
          <a:p>
            <a:r>
              <a:t>   * Aggregation is grouped by all non-aggregated customer columns to avoid errors</a:t>
            </a:r>
          </a:p>
          <a:p>
            <a:r>
              <a:t>   * The LIMIT is applied after ORDER BY to get exactly the top 5 by value</a:t>
            </a:r>
          </a:p>
          <a:p>
            <a:r>
              <a:t>   * Claude Code even included order_count as additional context without being asked - that's understanding the business question, not just translating words to SQL</a:t>
            </a:r>
          </a:p>
          <a:p>
            <a:endParaRPr/>
          </a:p>
          <a:p>
            <a:r>
              <a:t>REAL-WORLD EXAMPLE:</a:t>
            </a:r>
          </a:p>
          <a:p>
            <a:r>
              <a:t>   A developer used this exact query pattern to build a customer loyalty dashboard. Claude Code generated variants for different time windows (30 days, 6 months, year) and different metrics (revenue, order count, average order value) in under 2 minutes.</a:t>
            </a:r>
          </a:p>
          <a:p>
            <a:endParaRPr/>
          </a:p>
          <a:p>
            <a:r>
              <a:t>TRANSITION:</a:t>
            </a:r>
          </a:p>
          <a:p>
            <a:r>
              <a:t>   Beyond query generation, Claude Code excels at schema design</a:t>
            </a:r>
          </a:p>
        </p:txBody>
      </p:sp>
      <p:sp>
        <p:nvSpPr>
          <p:cNvPr id="4" name="Slide Number Placeholder 3"/>
          <p:cNvSpPr>
            <a:spLocks noGrp="1"/>
          </p:cNvSpPr>
          <p:nvPr>
            <p:ph type="sldNum" sz="quarter" idx="5"/>
          </p:nvPr>
        </p:nvSpPr>
        <p:spPr/>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4 min</a:t>
            </a:r>
          </a:p>
          <a:p>
            <a:endParaRPr/>
          </a:p>
          <a:p>
            <a:r>
              <a:t>OPEN WITH:</a:t>
            </a:r>
          </a:p>
          <a:p>
            <a:r>
              <a:t>   Schema design is where bad decisions cost you for years - Claude Code acts as a database design reviewer that catches problems before they become production nightmares.</a:t>
            </a:r>
          </a:p>
          <a:p>
            <a:endParaRPr/>
          </a:p>
          <a:p>
            <a:r>
              <a:t>KEY POINTS:</a:t>
            </a:r>
          </a:p>
          <a:p>
            <a:r>
              <a:t>   * Give Claude Code a business requirements description - like 'I need a system to track library books, members, and checkouts' - and it will generate a normalized schema with proper entities, relationships, and constraints</a:t>
            </a:r>
          </a:p>
          <a:p>
            <a:r>
              <a:t>   * Normalization is automatic - Claude Code understands 3NF and will separate data appropriately, using junction tables for many-to-many relationships and avoiding redundancy</a:t>
            </a:r>
          </a:p>
          <a:p>
            <a:r>
              <a:t>   * Data type selection is smart - it knows that money should be DECIMAL not FLOAT, that email addresses need VARCHAR with a length limit, that dates should be DATE or TIMESTAMP not VARCHAR</a:t>
            </a:r>
          </a:p>
          <a:p>
            <a:r>
              <a:t>   * Foreign keys are always included with proper ON DELETE and ON UPDATE actions - CASCADE for dependent data, RESTRICT for referenced data, SET NULL for optional relationships</a:t>
            </a:r>
          </a:p>
          <a:p>
            <a:r>
              <a:t>   * It proactively catches anti-patterns - if you describe something that would result in a denormalized design, Claude Code will suggest the normalized version and explain why</a:t>
            </a:r>
          </a:p>
          <a:p>
            <a:endParaRPr/>
          </a:p>
          <a:p>
            <a:r>
              <a:t>REAL-WORLD EXAMPLE:</a:t>
            </a:r>
          </a:p>
          <a:p>
            <a:r>
              <a:t>   A junior developer asked Claude Code to design a schema for an e-commerce store. Claude Code created tables for customers, products, categories, orders, order_items, reviews, and payment_methods with all proper relationships. It also caught that 'product_price' shouldn't be stored in order_items directly - instead it stored 'unit_price_at_time_of_order' to preserve historical pricing. That's the kind of foresight that comes from understanding business logic, not just SQL syntax.</a:t>
            </a:r>
          </a:p>
          <a:p>
            <a:endParaRPr/>
          </a:p>
          <a:p>
            <a:r>
              <a:t>TRANSITION:</a:t>
            </a:r>
          </a:p>
          <a:p>
            <a:r>
              <a:t>   Once you have queries, optimization becomes critical</a:t>
            </a:r>
          </a:p>
        </p:txBody>
      </p:sp>
      <p:sp>
        <p:nvSpPr>
          <p:cNvPr id="4" name="Slide Number Placeholder 3"/>
          <p:cNvSpPr>
            <a:spLocks noGrp="1"/>
          </p:cNvSpPr>
          <p:nvPr>
            <p:ph type="sldNum" sz="quarter" idx="5"/>
          </p:nvPr>
        </p:nvSpPr>
        <p:spPr/>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4 min</a:t>
            </a:r>
          </a:p>
          <a:p>
            <a:endParaRPr/>
          </a:p>
          <a:p>
            <a:r>
              <a:t>OPEN WITH:</a:t>
            </a:r>
          </a:p>
          <a:p>
            <a:r>
              <a:t>   Query optimization is part science, part art - Claude Code knows both. Look at this transformation from a slow query to a fast one.</a:t>
            </a:r>
          </a:p>
          <a:p>
            <a:endParaRPr/>
          </a:p>
          <a:p>
            <a:r>
              <a:t>KEY POINTS:</a:t>
            </a:r>
          </a:p>
          <a:p>
            <a:r>
              <a:t>   * The original query uses IN with a subquery - this forces the database to execute the subquery first and then filter, which is often slower than a JOIN</a:t>
            </a:r>
          </a:p>
          <a:p>
            <a:r>
              <a:t>   * Claude Code replaced it with a JOIN which allows the query planner to optimize the execution order and use indexes more effectively</a:t>
            </a:r>
          </a:p>
          <a:p>
            <a:r>
              <a:t>   * The SELECT * was replaced with explicit columns - this reduces data transfer and allows for covering indexes in some cases</a:t>
            </a:r>
          </a:p>
          <a:p>
            <a:r>
              <a:t>   * Three index recommendations ensure all WHERE and JOIN conditions can use indexes - this is the difference between a table scan and an index seek</a:t>
            </a:r>
          </a:p>
          <a:p>
            <a:r>
              <a:t>   * The EXPLAIN analysis shows the actual performance improvement - Claude Code runs EXPLAIN before and after to prove the optimization works</a:t>
            </a:r>
          </a:p>
          <a:p>
            <a:endParaRPr/>
          </a:p>
          <a:p>
            <a:r>
              <a:t>REAL-WORLD EXAMPLE:</a:t>
            </a:r>
          </a:p>
          <a:p>
            <a:r>
              <a:t>   A backend team had a dashboard query taking 15 seconds on a production database with millions of rows. They gave the query to Claude Code with the instruction 'optimize this and explain why it's slow.' Claude Code identified the missing indexes, rewrote the subqueries as CTEs with proper indexes, and reduced query time to under 200ms. The explanation included EXPLAIN output showing the query plan improvement.</a:t>
            </a:r>
          </a:p>
          <a:p>
            <a:endParaRPr/>
          </a:p>
          <a:p>
            <a:r>
              <a:t>TRANSITION:</a:t>
            </a:r>
          </a:p>
          <a:p>
            <a:r>
              <a:t>   SQL isn't just queries and schemas - there's also data transformation and ETL work</a:t>
            </a:r>
          </a:p>
        </p:txBody>
      </p:sp>
      <p:sp>
        <p:nvSpPr>
          <p:cNvPr id="4" name="Slide Number Placeholder 3"/>
          <p:cNvSpPr>
            <a:spLocks noGrp="1"/>
          </p:cNvSpPr>
          <p:nvPr>
            <p:ph type="sldNum" sz="quarter" idx="5"/>
          </p:nvPr>
        </p:nvSpPr>
        <p:spPr/>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4 min</a:t>
            </a:r>
          </a:p>
          <a:p>
            <a:endParaRPr/>
          </a:p>
          <a:p>
            <a:r>
              <a:t>OPEN WITH:</a:t>
            </a:r>
          </a:p>
          <a:p>
            <a:r>
              <a:t>   ETL work is usually manual, error-prone, and time-consuming - Claude Code automates the entire process from data extraction to transformation to loading, with validation at each step.</a:t>
            </a:r>
          </a:p>
          <a:p>
            <a:endParaRPr/>
          </a:p>
          <a:p>
            <a:r>
              <a:t>KEY POINTS:</a:t>
            </a:r>
          </a:p>
          <a:p>
            <a:r>
              <a:t>   * Data migration between schemas is common when you're refactoring a database - Claude Code generates the INSERT INTO ... SELECT statements with proper column mapping, type casting, and NULL handling</a:t>
            </a:r>
          </a:p>
          <a:p>
            <a:r>
              <a:t>   * Format conversions are handled intelligently - give Claude Code a CSV or JSON file and describe the target schema, it will generate the transformation SQL including data cleaning steps</a:t>
            </a:r>
          </a:p>
          <a:p>
            <a:r>
              <a:t>   * Deduplication logic is complex - Claude Code uses window functions (ROW_NUMBER) or GROUP BY with aggregation to identify and remove duplicates while preserving the best record</a:t>
            </a:r>
          </a:p>
          <a:p>
            <a:r>
              <a:t>   * Multi-step transformations use staging tables to break complex migrations into manageable, verifiable steps - each step can be validated before proceeding to the next</a:t>
            </a:r>
          </a:p>
          <a:p>
            <a:r>
              <a:t>   * All generated scripts are idempotent where possible - meaning you can run them multiple times safely, which is critical for retrying failed migrations</a:t>
            </a:r>
          </a:p>
          <a:p>
            <a:endParaRPr/>
          </a:p>
          <a:p>
            <a:r>
              <a:t>REAL-WORLD EXAMPLE:</a:t>
            </a:r>
          </a:p>
          <a:p>
            <a:r>
              <a:t>   A company was migrating from a legacy system with denormalized data to a new normalized schema. They described the old schema and new schema to Claude Code. It generated a 500-line migration script with staging tables, data validation queries, and rollback procedures. The migration ran successfully on the first attempt with zero data loss.</a:t>
            </a:r>
          </a:p>
          <a:p>
            <a:endParaRPr/>
          </a:p>
          <a:p>
            <a:r>
              <a:t>TRANSITION:</a:t>
            </a:r>
          </a:p>
          <a:p>
            <a:r>
              <a:t>   Different databases have different strengths - Claude Code knows them all</a:t>
            </a:r>
          </a:p>
        </p:txBody>
      </p:sp>
      <p:sp>
        <p:nvSpPr>
          <p:cNvPr id="4" name="Slide Number Placeholder 3"/>
          <p:cNvSpPr>
            <a:spLocks noGrp="1"/>
          </p:cNvSpPr>
          <p:nvPr>
            <p:ph type="sldNum" sz="quarter" idx="5"/>
          </p:nvPr>
        </p:nvSpPr>
        <p:spPr/>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4 min</a:t>
            </a:r>
          </a:p>
          <a:p>
            <a:endParaRPr/>
          </a:p>
          <a:p>
            <a:r>
              <a:t>OPEN WITH:</a:t>
            </a:r>
          </a:p>
          <a:p>
            <a:r>
              <a:t>   Claude Code doesn't just know SQL - it knows the nuances and strengths of different database engines and writes queries optimized for each one.</a:t>
            </a:r>
          </a:p>
          <a:p>
            <a:endParaRPr/>
          </a:p>
          <a:p>
            <a:r>
              <a:t>KEY POINTS:</a:t>
            </a:r>
          </a:p>
          <a:p>
            <a:r>
              <a:t>   * PostgreSQL support is extensive - Claude Code uses advanced features like JSONB for semi-structured data, array types for lists, and powerful window functions for analytics. If you're doing complex reporting or storing JSON, Claude Code will leverage Postgres-specific features.</a:t>
            </a:r>
          </a:p>
          <a:p>
            <a:r>
              <a:t>   * MySQL queries are compatibility-focused - Claude Code knows MySQL has different syntax for things like string concatenation (CONCAT vs ||) and limits (LIMIT vs FETCH FIRST). It also uses stored procedures when appropriate for complex business logic.</a:t>
            </a:r>
          </a:p>
          <a:p>
            <a:r>
              <a:t>   * SQLite is perfect for local development - Claude Code generates SQLite-compatible schemas for testing, uses the simpler SQLite syntax, and knows the limitations (no RIGHT JOIN, limited ALTER TABLE). This is great for running tests locally without a full database server.</a:t>
            </a:r>
          </a:p>
          <a:p>
            <a:r>
              <a:t>   * Specify your database engine and Claude Code adapts automatically - the same business requirement generates PostgreSQL-optimized queries if you say 'using PostgreSQL' or MySQL-compatible ones if you say 'using MySQL'</a:t>
            </a:r>
          </a:p>
          <a:p>
            <a:endParaRPr/>
          </a:p>
          <a:p>
            <a:r>
              <a:t>REAL-WORLD EXAMPLE:</a:t>
            </a:r>
          </a:p>
          <a:p>
            <a:r>
              <a:t>   A developer was prototyping a feature using SQLite locally, then deploying to PostgreSQL in production. Claude Code generated two versions of the schema - SQLite for local testing and PostgreSQL with JSONB and array types for production. The business logic stayed the same, but the SQL was optimized for each engine.</a:t>
            </a:r>
          </a:p>
          <a:p>
            <a:endParaRPr/>
          </a:p>
          <a:p>
            <a:r>
              <a:t>TRANSITION:</a:t>
            </a:r>
          </a:p>
          <a:p>
            <a:r>
              <a:t>   Data quality is critical - let's talk about validation</a:t>
            </a:r>
          </a:p>
        </p:txBody>
      </p:sp>
      <p:sp>
        <p:nvSpPr>
          <p:cNvPr id="4" name="Slide Number Placeholder 3"/>
          <p:cNvSpPr>
            <a:spLocks noGrp="1"/>
          </p:cNvSpPr>
          <p:nvPr>
            <p:ph type="sldNum" sz="quarter" idx="5"/>
          </p:nvPr>
        </p:nvSpPr>
        <p:spPr/>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4 min</a:t>
            </a:r>
          </a:p>
          <a:p>
            <a:endParaRPr/>
          </a:p>
          <a:p>
            <a:r>
              <a:t>OPEN WITH:</a:t>
            </a:r>
          </a:p>
          <a:p>
            <a:r>
              <a:t>   Data quality issues are expensive - catching them early with validation queries saves hours of debugging and potential data corruption. Claude Code generates comprehensive validation queries automatically.</a:t>
            </a:r>
          </a:p>
          <a:p>
            <a:endParaRPr/>
          </a:p>
          <a:p>
            <a:r>
              <a:t>KEY POINTS:</a:t>
            </a:r>
          </a:p>
          <a:p>
            <a:r>
              <a:t>   * Constraint generation is proactive - describe your business rules ('email must be unique', 'age must be between 0 and 120', 'order total must be positive') and Claude Code generates the SQL constraints to enforce them at the database level</a:t>
            </a:r>
          </a:p>
          <a:p>
            <a:r>
              <a:t>   * Data profiling queries give you a statistical overview - how many NULL values, what's the distribution of data, are there unexpected outliers? This is critical before running transformations.</a:t>
            </a:r>
          </a:p>
          <a:p>
            <a:r>
              <a:t>   * Anomaly detection finds problems you didn't know to look for - queries that identify orders with negative amounts, users with impossible signup dates, products with mismatched category relationships</a:t>
            </a:r>
          </a:p>
          <a:p>
            <a:r>
              <a:t>   * Referential integrity checks find orphaned records - order_items referencing deleted orders, reviews for non-existent products. These are bugs waiting to happen.</a:t>
            </a:r>
          </a:p>
          <a:p>
            <a:r>
              <a:t>   * Duplicate detection is smart - exact duplicates are easy (GROUP BY HAVING COUNT(*) &gt; 1), but fuzzy duplicates require SOUNDEX, LEVENSHTEIN, or trigram similarity functions which Claude Code generates correctly</a:t>
            </a:r>
          </a:p>
          <a:p>
            <a:r>
              <a:t>   * Format validation uses regex or pattern matching - ensuring emails have @ signs, phone numbers match expected formats, dates are actually valid dates</a:t>
            </a:r>
          </a:p>
          <a:p>
            <a:endParaRPr/>
          </a:p>
          <a:p>
            <a:r>
              <a:t>REAL-WORLD EXAMPLE:</a:t>
            </a:r>
          </a:p>
          <a:p>
            <a:r>
              <a:t>   Before a major data migration, a team asked Claude Code to generate validation queries for their entire database. Claude Code created 50+ validation queries covering constraints, duplicates, referential integrity, and anomalies. They found 12,000 orphaned records and 3,000 duplicates that would have caused issues post-migration. All fixed before the migration ran.</a:t>
            </a:r>
          </a:p>
          <a:p>
            <a:endParaRPr/>
          </a:p>
          <a:p>
            <a:r>
              <a:t>TRANSITION:</a:t>
            </a:r>
          </a:p>
          <a:p>
            <a:r>
              <a:t>   Let me show you a complete end-to-end demo</a:t>
            </a:r>
          </a:p>
        </p:txBody>
      </p:sp>
      <p:sp>
        <p:nvSpPr>
          <p:cNvPr id="4" name="Slide Number Placeholder 3"/>
          <p:cNvSpPr>
            <a:spLocks noGrp="1"/>
          </p:cNvSpPr>
          <p:nvPr>
            <p:ph type="sldNum" sz="quarter" idx="5"/>
          </p:nvPr>
        </p:nvSpPr>
        <p:spPr/>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6 min</a:t>
            </a:r>
          </a:p>
          <a:p>
            <a:endParaRPr/>
          </a:p>
          <a:p>
            <a:r>
              <a:t>OPEN WITH:</a:t>
            </a:r>
          </a:p>
          <a:p>
            <a:r>
              <a:t>   I'm going to give Claude Code a business requirements description and we'll watch it build a complete database from scratch - schema, seed data, validation queries, and example queries. This is the full power of AI-assisted database development.</a:t>
            </a:r>
          </a:p>
          <a:p>
            <a:endParaRPr/>
          </a:p>
          <a:p>
            <a:r>
              <a:t>KEY POINTS:</a:t>
            </a:r>
          </a:p>
          <a:p>
            <a:r>
              <a:t>   * I'll describe a task management system with teams, projects, tasks, and assignments - typical business software</a:t>
            </a:r>
          </a:p>
          <a:p>
            <a:r>
              <a:t>   * Watch Claude Code identify the entities: users, teams, projects, tasks, assignments, comments</a:t>
            </a:r>
          </a:p>
          <a:p>
            <a:r>
              <a:t>   * Watch it create proper relationships: teams have many users, projects belong to teams, tasks belong to projects, assignments are many-to-many between users and tasks</a:t>
            </a:r>
          </a:p>
          <a:p>
            <a:r>
              <a:t>   * Watch it add constraints: NOT NULL on required fields, UNIQUE on email, CHECK to ensure due dates are in the future</a:t>
            </a:r>
          </a:p>
          <a:p>
            <a:r>
              <a:t>   * The seed data will be realistic - team names like 'Engineering', 'Marketing'; task titles like 'Fix login bug', 'Design homepage'</a:t>
            </a:r>
          </a:p>
          <a:p>
            <a:r>
              <a:t>   * Validation queries will check for orphaned tasks, users not in any team, overdue tasks, etc.</a:t>
            </a:r>
          </a:p>
          <a:p>
            <a:endParaRPr/>
          </a:p>
          <a:p>
            <a:r>
              <a:t>REAL-WORLD EXAMPLE:</a:t>
            </a:r>
          </a:p>
          <a:p>
            <a:r>
              <a:t>   This is exactly what you'd do for a real project - requirements come in, you design the schema, you validate the design, you generate test data, and you're ready to build the application layer. Claude Code compressed a 4-hour task into 6 minutes.</a:t>
            </a:r>
          </a:p>
          <a:p>
            <a:endParaRPr/>
          </a:p>
          <a:p>
            <a:r>
              <a:t>DEMO:</a:t>
            </a:r>
          </a:p>
          <a:p>
            <a:r>
              <a:t>   Open terminal, start Claude Code session. Prompt: 'Design a database schema for a task management system. Include users, teams, projects, tasks, and assignments. Generate the schema in PostgreSQL format, create realistic seed data for 5 teams and 20 tasks, and write validation queries to check data integrity.' Show the generated schema, explain the relationships, run the seed data script, run a few validation queries. Highlight how comprehensive and correct it is without any iteration needed.</a:t>
            </a:r>
          </a:p>
          <a:p>
            <a:endParaRPr/>
          </a:p>
          <a:p>
            <a:r>
              <a:t>TRANSITION:</a:t>
            </a:r>
          </a:p>
          <a:p>
            <a:r>
              <a:t>   That's the SQL and data analysis section - now you'll practice this in Lab 3</a:t>
            </a:r>
          </a:p>
        </p:txBody>
      </p:sp>
      <p:sp>
        <p:nvSpPr>
          <p:cNvPr id="4" name="Slide Number Placeholder 3"/>
          <p:cNvSpPr>
            <a:spLocks noGrp="1"/>
          </p:cNvSpPr>
          <p:nvPr>
            <p:ph type="sldNum" sz="quarter" idx="5"/>
          </p:nvPr>
        </p:nvSpPr>
        <p:spPr/>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1 min</a:t>
            </a:r>
          </a:p>
          <a:p>
            <a:endParaRPr/>
          </a:p>
          <a:p>
            <a:r>
              <a:t>OPEN WITH:</a:t>
            </a:r>
          </a:p>
          <a:p>
            <a:r>
              <a:t>   Final lab - complete feature workflow.</a:t>
            </a:r>
          </a:p>
          <a:p>
            <a:endParaRPr/>
          </a:p>
          <a:p>
            <a:r>
              <a:t>KEY POINTS:</a:t>
            </a:r>
          </a:p>
          <a:p>
            <a:r>
              <a:t>   * End-to-end workflow</a:t>
            </a:r>
          </a:p>
          <a:p>
            <a:r>
              <a:t>   * Production-ready</a:t>
            </a:r>
          </a:p>
          <a:p>
            <a:endParaRPr/>
          </a:p>
          <a:p>
            <a:r>
              <a:t>TRANSITION:</a:t>
            </a:r>
          </a:p>
          <a:p>
            <a:r>
              <a:t>   Wrap-up</a:t>
            </a:r>
          </a:p>
        </p:txBody>
      </p:sp>
      <p:sp>
        <p:nvSpPr>
          <p:cNvPr id="4" name="Slide Number Placeholder 3"/>
          <p:cNvSpPr>
            <a:spLocks noGrp="1"/>
          </p:cNvSpPr>
          <p:nvPr>
            <p:ph type="sldNum" sz="quarter" idx="5"/>
          </p:nvPr>
        </p:nvSpPr>
        <p:spPr/>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3 min</a:t>
            </a:r>
          </a:p>
          <a:p>
            <a:endParaRPr/>
          </a:p>
          <a:p>
            <a:r>
              <a:t>OPEN WITH:</a:t>
            </a:r>
          </a:p>
          <a:p>
            <a:r>
              <a:t>   Here's a real example of how Claude Code changes the dynamics between PMs and engineering teams.</a:t>
            </a:r>
          </a:p>
          <a:p>
            <a:endParaRPr/>
          </a:p>
          <a:p>
            <a:r>
              <a:t>KEY POINTS:</a:t>
            </a:r>
          </a:p>
          <a:p>
            <a:r>
              <a:t>   * The old way: PM writes spec → design reviews → engineering estimates → 3 weeks → maybe it gets built</a:t>
            </a:r>
          </a:p>
          <a:p>
            <a:r>
              <a:t>   * The new way: PM prototypes in 2 hours → shows working demo → engineering says 'oh, that's what you mean' → 1 week estimate</a:t>
            </a:r>
          </a:p>
          <a:p>
            <a:r>
              <a:t>   * Key insight: 'Show rather than tell. Prove feasibility before asking engineering to estimate.'</a:t>
            </a:r>
          </a:p>
          <a:p>
            <a:r>
              <a:t>   * The prototype isn't production code — but it proves the concept and provides clear requirements</a:t>
            </a:r>
          </a:p>
          <a:p>
            <a:r>
              <a:t>   * Total ROI: 2 hours of PM time saved 20 hours of meetings, back-and-forth, and misunderstandings</a:t>
            </a:r>
          </a:p>
          <a:p>
            <a:r>
              <a:t>   * Source: Mohit Aggarwal, Claude Code for Product Managers (Feb 2026)</a:t>
            </a:r>
          </a:p>
          <a:p>
            <a:endParaRPr/>
          </a:p>
          <a:p>
            <a:r>
              <a:t>ASK THE CLASS:</a:t>
            </a:r>
          </a:p>
          <a:p>
            <a:r>
              <a:t>   "What's the last feature you spec'd that took weeks of back-and-forth? Could a 2-hour prototype have shortcut that?"</a:t>
            </a:r>
          </a:p>
          <a:p>
            <a:r>
              <a:t>   [PAUSE for 30-60 seconds]</a:t>
            </a:r>
          </a:p>
          <a:p>
            <a:endParaRPr/>
          </a:p>
          <a:p>
            <a:r>
              <a:t>TRANSITION:</a:t>
            </a:r>
          </a:p>
          <a:p>
            <a:r>
              <a:t>   Now let's put this into practice. Time for hands-on lab work.</a:t>
            </a:r>
          </a:p>
        </p:txBody>
      </p:sp>
      <p:sp>
        <p:nvSpPr>
          <p:cNvPr id="4" name="Slide Number Placeholder 3"/>
          <p:cNvSpPr>
            <a:spLocks noGrp="1"/>
          </p:cNvSpPr>
          <p:nvPr>
            <p:ph type="sldNum" sz="quarter" idx="5"/>
          </p:nvPr>
        </p:nvSpPr>
        <p:spPr/>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2 min</a:t>
            </a:r>
          </a:p>
          <a:p>
            <a:endParaRPr/>
          </a:p>
          <a:p>
            <a:r>
              <a:t>OPEN WITH:</a:t>
            </a:r>
          </a:p>
          <a:p>
            <a:r>
              <a:t>   Eight major capabilities learned today.</a:t>
            </a:r>
          </a:p>
          <a:p>
            <a:endParaRPr/>
          </a:p>
          <a:p>
            <a:r>
              <a:t>KEY POINTS:</a:t>
            </a:r>
          </a:p>
          <a:p>
            <a:r>
              <a:t>   * Complete toolkit</a:t>
            </a:r>
          </a:p>
          <a:p>
            <a:r>
              <a:t>   * Production-ready</a:t>
            </a:r>
          </a:p>
          <a:p>
            <a:r>
              <a:t>   * Transform development</a:t>
            </a:r>
          </a:p>
          <a:p>
            <a:endParaRPr/>
          </a:p>
          <a:p>
            <a:r>
              <a:t>REAL-WORLD EXAMPLE:</a:t>
            </a:r>
          </a:p>
          <a:p>
            <a:r>
              <a:t>   You're now equipped to use Claude Code professionally.</a:t>
            </a:r>
          </a:p>
          <a:p>
            <a:endParaRPr/>
          </a:p>
          <a:p>
            <a:r>
              <a:t>TRANSITION:</a:t>
            </a:r>
          </a:p>
          <a:p>
            <a:r>
              <a:t>   Thank you!</a:t>
            </a:r>
          </a:p>
        </p:txBody>
      </p:sp>
      <p:sp>
        <p:nvSpPr>
          <p:cNvPr id="4" name="Slide Number Placeholder 3"/>
          <p:cNvSpPr>
            <a:spLocks noGrp="1"/>
          </p:cNvSpPr>
          <p:nvPr>
            <p:ph type="sldNum" sz="quarter" idx="5"/>
          </p:nvPr>
        </p:nvSpPr>
        <p:spPr/>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4 min</a:t>
            </a:r>
          </a:p>
          <a:p>
            <a:endParaRPr/>
          </a:p>
          <a:p>
            <a:r>
              <a:t>OPEN WITH:</a:t>
            </a:r>
          </a:p>
          <a:p>
            <a:r>
              <a:t>   Before we wrap up, let me save you from the five mistakes I see most often. Each one ties back to an engineering principle we covered today.</a:t>
            </a:r>
          </a:p>
          <a:p>
            <a:endParaRPr/>
          </a:p>
          <a:p>
            <a:r>
              <a:t>KEY POINTS:</a:t>
            </a:r>
          </a:p>
          <a:p>
            <a:r>
              <a:t>   * Mistake 1: Context window overflow. The context window degrades as it fills — task 4 in a marathon session doesn't get the same attention as task 1. Use /compact regularly and keep sessions to 30-45 minutes.</a:t>
            </a:r>
          </a:p>
          <a:p>
            <a:r>
              <a:t>   * Mistake 2: Correction spirals. After 2 failed attempts to fix output, your context is poisoned with conflicting instructions. The 2-strike rule: /clear and restart with a better prompt. Don't throw good tokens after bad.</a:t>
            </a:r>
          </a:p>
          <a:p>
            <a:r>
              <a:t>   * Mistake 3: Forgotten guidelines. Without CLAUDE.md, every session starts cold. Invest 15 minutes creating one with your coding standards, naming conventions, and project context. It pays for itself in the first hour.</a:t>
            </a:r>
          </a:p>
          <a:p>
            <a:r>
              <a:t>   * Mistake 4: Scope creep. Claude is eager to help — sometimes too eager. Always set explicit boundaries: 'Only modify auth.py. Don't touch anything else.' This prevents cascading changes you didn't ask for.</a:t>
            </a:r>
          </a:p>
          <a:p>
            <a:r>
              <a:t>   * Mistake 5: Vibe coding. 'Vibecoding without metacognition is quite dangerous.' Always review diffs before accepting. Never auto-approve in production. If you can't explain why the code works, don't ship it.</a:t>
            </a:r>
          </a:p>
          <a:p>
            <a:endParaRPr/>
          </a:p>
          <a:p>
            <a:r>
              <a:t>ASK THE CLASS:</a:t>
            </a:r>
          </a:p>
          <a:p>
            <a:r>
              <a:t>   "Which of these mistakes have you already made today? No shame — we all do it. The goal is building habits that prevent them."</a:t>
            </a:r>
          </a:p>
          <a:p>
            <a:r>
              <a:t>   [PAUSE for 30-60 seconds]</a:t>
            </a:r>
          </a:p>
          <a:p>
            <a:endParaRPr/>
          </a:p>
          <a:p>
            <a:r>
              <a:t>TRANSITION:</a:t>
            </a:r>
          </a:p>
          <a:p>
            <a:r>
              <a:t>   Let's recap everything we covered and preview tomorrow's advanced topics.</a:t>
            </a:r>
          </a:p>
        </p:txBody>
      </p:sp>
      <p:sp>
        <p:nvSpPr>
          <p:cNvPr id="4" name="Slide Number Placeholder 3"/>
          <p:cNvSpPr>
            <a:spLocks noGrp="1"/>
          </p:cNvSpPr>
          <p:nvPr>
            <p:ph type="sldNum" sz="quarter" idx="5"/>
          </p:nvPr>
        </p:nvSpPr>
        <p:spPr/>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2 min</a:t>
            </a:r>
          </a:p>
          <a:p>
            <a:endParaRPr/>
          </a:p>
          <a:p>
            <a:r>
              <a:t>OPEN WITH:</a:t>
            </a:r>
          </a:p>
          <a:p>
            <a:r>
              <a:t>   Completed Claude Code Fundamentals!</a:t>
            </a:r>
          </a:p>
          <a:p>
            <a:endParaRPr/>
          </a:p>
          <a:p>
            <a:r>
              <a:t>KEY POINTS:</a:t>
            </a:r>
          </a:p>
          <a:p>
            <a:r>
              <a:t>   * Tomorrow: Advanced topics</a:t>
            </a:r>
          </a:p>
          <a:p>
            <a:r>
              <a:t>   * Custom commands, MCP, agent teams</a:t>
            </a:r>
          </a:p>
          <a:p>
            <a:endParaRPr/>
          </a:p>
          <a:p>
            <a:r>
              <a:t>TRANSITION:</a:t>
            </a:r>
          </a:p>
          <a:p>
            <a:r>
              <a:t>   See you tomorrow!</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3/1/2026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3/1/2026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3/1/2026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9.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3.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4.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5.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6.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8.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9.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0.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3.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4.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5.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6.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8.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9.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0.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1.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3.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4.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2286000"/>
            <a:ext cx="11277295" cy="2286000"/>
          </a:xfrm>
          <a:prstGeom prst="rect">
            <a:avLst/>
          </a:prstGeom>
          <a:noFill/>
        </p:spPr>
        <p:txBody>
          <a:bodyPr wrap="square">
            <a:spAutoFit/>
          </a:bodyPr>
          <a:lstStyle/>
          <a:p>
            <a:pPr algn="ctr">
              <a:defRPr sz="8000" b="1">
                <a:solidFill>
                  <a:srgbClr val="00D4AA"/>
                </a:solidFill>
              </a:defRPr>
            </a:pPr>
            <a:r>
              <a:t>Claude Code Fundamentals</a:t>
            </a:r>
          </a:p>
        </p:txBody>
      </p:sp>
      <p:sp>
        <p:nvSpPr>
          <p:cNvPr id="3" name="Rectangle 2"/>
          <p:cNvSpPr/>
          <p:nvPr/>
        </p:nvSpPr>
        <p:spPr>
          <a:xfrm>
            <a:off x="0" y="4754880"/>
            <a:ext cx="12191695" cy="3657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456307" y="5029200"/>
            <a:ext cx="2278188" cy="400110"/>
          </a:xfrm>
          <a:prstGeom prst="rect">
            <a:avLst/>
          </a:prstGeom>
          <a:noFill/>
        </p:spPr>
        <p:txBody>
          <a:bodyPr wrap="none">
            <a:spAutoFit/>
          </a:bodyPr>
          <a:lstStyle/>
          <a:p>
            <a:pPr algn="r">
              <a:defRPr sz="2000">
                <a:solidFill>
                  <a:srgbClr val="8B95A5"/>
                </a:solidFill>
              </a:defRPr>
            </a:pPr>
            <a:r>
              <a:rPr dirty="0"/>
              <a:t>© 2026 AIA Copilot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11277295" cy="822960"/>
          </a:xfrm>
          <a:prstGeom prst="rect">
            <a:avLst/>
          </a:prstGeom>
          <a:noFill/>
        </p:spPr>
        <p:txBody>
          <a:bodyPr wrap="none">
            <a:spAutoFit/>
          </a:bodyPr>
          <a:lstStyle/>
          <a:p>
            <a:pPr>
              <a:defRPr sz="4000" b="1">
                <a:solidFill>
                  <a:srgbClr val="FFFFFF"/>
                </a:solidFill>
              </a:defRPr>
            </a:pPr>
            <a:r>
              <a:t>Today's Agenda</a:t>
            </a:r>
          </a:p>
        </p:txBody>
      </p:sp>
      <p:sp>
        <p:nvSpPr>
          <p:cNvPr id="3" name="Rectangle 2"/>
          <p:cNvSpPr/>
          <p:nvPr/>
        </p:nvSpPr>
        <p:spPr>
          <a:xfrm>
            <a:off x="457200" y="1234440"/>
            <a:ext cx="1828800" cy="3657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457200" y="1645920"/>
            <a:ext cx="5410047" cy="640080"/>
          </a:xfrm>
          <a:prstGeom prst="round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645920"/>
            <a:ext cx="5135727" cy="640080"/>
          </a:xfrm>
          <a:prstGeom prst="rect">
            <a:avLst/>
          </a:prstGeom>
          <a:noFill/>
        </p:spPr>
        <p:txBody>
          <a:bodyPr wrap="none" anchor="ctr">
            <a:spAutoFit/>
          </a:bodyPr>
          <a:lstStyle/>
          <a:p>
            <a:pPr>
              <a:defRPr sz="1800" b="1">
                <a:solidFill>
                  <a:srgbClr val="0B0F1A"/>
                </a:solidFill>
              </a:defRPr>
            </a:pPr>
            <a:r>
              <a:t>Morning  (9:00 AM - 12:00 PM)</a:t>
            </a:r>
          </a:p>
        </p:txBody>
      </p:sp>
      <p:sp>
        <p:nvSpPr>
          <p:cNvPr id="6" name="Rectangle 5"/>
          <p:cNvSpPr/>
          <p:nvPr/>
        </p:nvSpPr>
        <p:spPr>
          <a:xfrm>
            <a:off x="457200" y="2468880"/>
            <a:ext cx="5410047" cy="502920"/>
          </a:xfrm>
          <a:prstGeom prst="rect">
            <a:avLst/>
          </a:prstGeom>
          <a:solidFill>
            <a:srgbClr val="141A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2468880"/>
            <a:ext cx="4221327" cy="502920"/>
          </a:xfrm>
          <a:prstGeom prst="rect">
            <a:avLst/>
          </a:prstGeom>
          <a:noFill/>
        </p:spPr>
        <p:txBody>
          <a:bodyPr wrap="square" anchor="ctr">
            <a:spAutoFit/>
          </a:bodyPr>
          <a:lstStyle/>
          <a:p>
            <a:pPr>
              <a:defRPr sz="1600">
                <a:solidFill>
                  <a:srgbClr val="FFFFFF"/>
                </a:solidFill>
              </a:defRPr>
            </a:pPr>
            <a:r>
              <a:t>Installation &amp; Setup</a:t>
            </a:r>
          </a:p>
        </p:txBody>
      </p:sp>
      <p:sp>
        <p:nvSpPr>
          <p:cNvPr id="8" name="Rounded Rectangle 7"/>
          <p:cNvSpPr/>
          <p:nvPr/>
        </p:nvSpPr>
        <p:spPr>
          <a:xfrm>
            <a:off x="4815687" y="2560320"/>
            <a:ext cx="914400" cy="320040"/>
          </a:xfrm>
          <a:prstGeom prst="roundRect">
            <a:avLst/>
          </a:prstGeom>
          <a:solidFill>
            <a:srgbClr val="1E1E2E"/>
          </a:solidFill>
          <a:ln w="12700">
            <a:solidFill>
              <a:srgbClr val="1F2A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815687" y="2560320"/>
            <a:ext cx="914400" cy="320040"/>
          </a:xfrm>
          <a:prstGeom prst="rect">
            <a:avLst/>
          </a:prstGeom>
          <a:noFill/>
        </p:spPr>
        <p:txBody>
          <a:bodyPr wrap="none" anchor="ctr">
            <a:spAutoFit/>
          </a:bodyPr>
          <a:lstStyle/>
          <a:p>
            <a:pPr algn="ctr">
              <a:defRPr sz="1300" b="1">
                <a:solidFill>
                  <a:srgbClr val="00D4AA"/>
                </a:solidFill>
              </a:defRPr>
            </a:pPr>
            <a:r>
              <a:t>30 min</a:t>
            </a:r>
          </a:p>
        </p:txBody>
      </p:sp>
      <p:sp>
        <p:nvSpPr>
          <p:cNvPr id="10" name="TextBox 9"/>
          <p:cNvSpPr txBox="1"/>
          <p:nvPr/>
        </p:nvSpPr>
        <p:spPr>
          <a:xfrm>
            <a:off x="594360" y="2971800"/>
            <a:ext cx="4221327" cy="502920"/>
          </a:xfrm>
          <a:prstGeom prst="rect">
            <a:avLst/>
          </a:prstGeom>
          <a:noFill/>
        </p:spPr>
        <p:txBody>
          <a:bodyPr wrap="square" anchor="ctr">
            <a:spAutoFit/>
          </a:bodyPr>
          <a:lstStyle/>
          <a:p>
            <a:pPr>
              <a:defRPr sz="1600">
                <a:solidFill>
                  <a:srgbClr val="FFFFFF"/>
                </a:solidFill>
              </a:defRPr>
            </a:pPr>
            <a:r>
              <a:t>The Agentic Loop</a:t>
            </a:r>
          </a:p>
        </p:txBody>
      </p:sp>
      <p:sp>
        <p:nvSpPr>
          <p:cNvPr id="11" name="Rounded Rectangle 10"/>
          <p:cNvSpPr/>
          <p:nvPr/>
        </p:nvSpPr>
        <p:spPr>
          <a:xfrm>
            <a:off x="4815687" y="3063240"/>
            <a:ext cx="914400" cy="320040"/>
          </a:xfrm>
          <a:prstGeom prst="roundRect">
            <a:avLst/>
          </a:prstGeom>
          <a:solidFill>
            <a:srgbClr val="1E1E2E"/>
          </a:solidFill>
          <a:ln w="12700">
            <a:solidFill>
              <a:srgbClr val="1F2A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815687" y="3063240"/>
            <a:ext cx="914400" cy="320040"/>
          </a:xfrm>
          <a:prstGeom prst="rect">
            <a:avLst/>
          </a:prstGeom>
          <a:noFill/>
        </p:spPr>
        <p:txBody>
          <a:bodyPr wrap="none" anchor="ctr">
            <a:spAutoFit/>
          </a:bodyPr>
          <a:lstStyle/>
          <a:p>
            <a:pPr algn="ctr">
              <a:defRPr sz="1300" b="1">
                <a:solidFill>
                  <a:srgbClr val="00D4AA"/>
                </a:solidFill>
              </a:defRPr>
            </a:pPr>
            <a:r>
              <a:t>30 min</a:t>
            </a:r>
          </a:p>
        </p:txBody>
      </p:sp>
      <p:sp>
        <p:nvSpPr>
          <p:cNvPr id="13" name="Rectangle 12"/>
          <p:cNvSpPr/>
          <p:nvPr/>
        </p:nvSpPr>
        <p:spPr>
          <a:xfrm>
            <a:off x="457200" y="3474720"/>
            <a:ext cx="5410047" cy="502920"/>
          </a:xfrm>
          <a:prstGeom prst="rect">
            <a:avLst/>
          </a:prstGeom>
          <a:solidFill>
            <a:srgbClr val="141A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94360" y="3474720"/>
            <a:ext cx="4221327" cy="502920"/>
          </a:xfrm>
          <a:prstGeom prst="rect">
            <a:avLst/>
          </a:prstGeom>
          <a:noFill/>
        </p:spPr>
        <p:txBody>
          <a:bodyPr wrap="square" anchor="ctr">
            <a:spAutoFit/>
          </a:bodyPr>
          <a:lstStyle/>
          <a:p>
            <a:pPr>
              <a:defRPr sz="1600">
                <a:solidFill>
                  <a:srgbClr val="FFFFFF"/>
                </a:solidFill>
              </a:defRPr>
            </a:pPr>
            <a:r>
              <a:t>CLAUDE.md Configuration</a:t>
            </a:r>
          </a:p>
        </p:txBody>
      </p:sp>
      <p:sp>
        <p:nvSpPr>
          <p:cNvPr id="15" name="Rounded Rectangle 14"/>
          <p:cNvSpPr/>
          <p:nvPr/>
        </p:nvSpPr>
        <p:spPr>
          <a:xfrm>
            <a:off x="4815687" y="3566160"/>
            <a:ext cx="914400" cy="320040"/>
          </a:xfrm>
          <a:prstGeom prst="roundRect">
            <a:avLst/>
          </a:prstGeom>
          <a:solidFill>
            <a:srgbClr val="1E1E2E"/>
          </a:solidFill>
          <a:ln w="12700">
            <a:solidFill>
              <a:srgbClr val="1F2A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815687" y="3566160"/>
            <a:ext cx="914400" cy="320040"/>
          </a:xfrm>
          <a:prstGeom prst="rect">
            <a:avLst/>
          </a:prstGeom>
          <a:noFill/>
        </p:spPr>
        <p:txBody>
          <a:bodyPr wrap="none" anchor="ctr">
            <a:spAutoFit/>
          </a:bodyPr>
          <a:lstStyle/>
          <a:p>
            <a:pPr algn="ctr">
              <a:defRPr sz="1300" b="1">
                <a:solidFill>
                  <a:srgbClr val="00D4AA"/>
                </a:solidFill>
              </a:defRPr>
            </a:pPr>
            <a:r>
              <a:t>20 min</a:t>
            </a:r>
          </a:p>
        </p:txBody>
      </p:sp>
      <p:sp>
        <p:nvSpPr>
          <p:cNvPr id="17" name="TextBox 16"/>
          <p:cNvSpPr txBox="1"/>
          <p:nvPr/>
        </p:nvSpPr>
        <p:spPr>
          <a:xfrm>
            <a:off x="594360" y="3977640"/>
            <a:ext cx="4221327" cy="502920"/>
          </a:xfrm>
          <a:prstGeom prst="rect">
            <a:avLst/>
          </a:prstGeom>
          <a:noFill/>
        </p:spPr>
        <p:txBody>
          <a:bodyPr wrap="square" anchor="ctr">
            <a:spAutoFit/>
          </a:bodyPr>
          <a:lstStyle/>
          <a:p>
            <a:pPr>
              <a:defRPr sz="1600">
                <a:solidFill>
                  <a:srgbClr val="FFFFFF"/>
                </a:solidFill>
              </a:defRPr>
            </a:pPr>
            <a:r>
              <a:t>@ Mentions &amp; Context</a:t>
            </a:r>
          </a:p>
        </p:txBody>
      </p:sp>
      <p:sp>
        <p:nvSpPr>
          <p:cNvPr id="18" name="Rounded Rectangle 17"/>
          <p:cNvSpPr/>
          <p:nvPr/>
        </p:nvSpPr>
        <p:spPr>
          <a:xfrm>
            <a:off x="4815687" y="4069080"/>
            <a:ext cx="914400" cy="320040"/>
          </a:xfrm>
          <a:prstGeom prst="roundRect">
            <a:avLst/>
          </a:prstGeom>
          <a:solidFill>
            <a:srgbClr val="1E1E2E"/>
          </a:solidFill>
          <a:ln w="12700">
            <a:solidFill>
              <a:srgbClr val="1F2A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815687" y="4069080"/>
            <a:ext cx="914400" cy="320040"/>
          </a:xfrm>
          <a:prstGeom prst="rect">
            <a:avLst/>
          </a:prstGeom>
          <a:noFill/>
        </p:spPr>
        <p:txBody>
          <a:bodyPr wrap="none" anchor="ctr">
            <a:spAutoFit/>
          </a:bodyPr>
          <a:lstStyle/>
          <a:p>
            <a:pPr algn="ctr">
              <a:defRPr sz="1300" b="1">
                <a:solidFill>
                  <a:srgbClr val="00D4AA"/>
                </a:solidFill>
              </a:defRPr>
            </a:pPr>
            <a:r>
              <a:t>25 min</a:t>
            </a:r>
          </a:p>
        </p:txBody>
      </p:sp>
      <p:sp>
        <p:nvSpPr>
          <p:cNvPr id="20" name="Rectangle 19"/>
          <p:cNvSpPr/>
          <p:nvPr/>
        </p:nvSpPr>
        <p:spPr>
          <a:xfrm>
            <a:off x="457200" y="4480560"/>
            <a:ext cx="5410047" cy="502920"/>
          </a:xfrm>
          <a:prstGeom prst="rect">
            <a:avLst/>
          </a:prstGeom>
          <a:solidFill>
            <a:srgbClr val="141A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94360" y="4480560"/>
            <a:ext cx="4221327" cy="502920"/>
          </a:xfrm>
          <a:prstGeom prst="rect">
            <a:avLst/>
          </a:prstGeom>
          <a:noFill/>
        </p:spPr>
        <p:txBody>
          <a:bodyPr wrap="square" anchor="ctr">
            <a:spAutoFit/>
          </a:bodyPr>
          <a:lstStyle/>
          <a:p>
            <a:pPr>
              <a:defRPr sz="1600" i="1">
                <a:solidFill>
                  <a:srgbClr val="8B95A5"/>
                </a:solidFill>
              </a:defRPr>
            </a:pPr>
            <a:r>
              <a:t>Break</a:t>
            </a:r>
          </a:p>
        </p:txBody>
      </p:sp>
      <p:sp>
        <p:nvSpPr>
          <p:cNvPr id="22" name="Rounded Rectangle 21"/>
          <p:cNvSpPr/>
          <p:nvPr/>
        </p:nvSpPr>
        <p:spPr>
          <a:xfrm>
            <a:off x="4815687" y="4572000"/>
            <a:ext cx="914400" cy="320040"/>
          </a:xfrm>
          <a:prstGeom prst="roundRect">
            <a:avLst/>
          </a:prstGeom>
          <a:solidFill>
            <a:srgbClr val="141A26"/>
          </a:solidFill>
          <a:ln w="12700">
            <a:solidFill>
              <a:srgbClr val="1F2A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815687" y="4572000"/>
            <a:ext cx="914400" cy="320040"/>
          </a:xfrm>
          <a:prstGeom prst="rect">
            <a:avLst/>
          </a:prstGeom>
          <a:noFill/>
        </p:spPr>
        <p:txBody>
          <a:bodyPr wrap="none" anchor="ctr">
            <a:spAutoFit/>
          </a:bodyPr>
          <a:lstStyle/>
          <a:p>
            <a:pPr algn="ctr">
              <a:defRPr sz="1300" b="1">
                <a:solidFill>
                  <a:srgbClr val="00D4AA"/>
                </a:solidFill>
              </a:defRPr>
            </a:pPr>
            <a:r>
              <a:t>15 min</a:t>
            </a:r>
          </a:p>
        </p:txBody>
      </p:sp>
      <p:sp>
        <p:nvSpPr>
          <p:cNvPr id="24" name="TextBox 23"/>
          <p:cNvSpPr txBox="1"/>
          <p:nvPr/>
        </p:nvSpPr>
        <p:spPr>
          <a:xfrm>
            <a:off x="594360" y="4983480"/>
            <a:ext cx="4221327" cy="502920"/>
          </a:xfrm>
          <a:prstGeom prst="rect">
            <a:avLst/>
          </a:prstGeom>
          <a:noFill/>
        </p:spPr>
        <p:txBody>
          <a:bodyPr wrap="square" anchor="ctr">
            <a:spAutoFit/>
          </a:bodyPr>
          <a:lstStyle/>
          <a:p>
            <a:pPr>
              <a:defRPr sz="1600">
                <a:solidFill>
                  <a:srgbClr val="FFFFFF"/>
                </a:solidFill>
              </a:defRPr>
            </a:pPr>
            <a:r>
              <a:t>Context Management</a:t>
            </a:r>
          </a:p>
        </p:txBody>
      </p:sp>
      <p:sp>
        <p:nvSpPr>
          <p:cNvPr id="25" name="Rounded Rectangle 24"/>
          <p:cNvSpPr/>
          <p:nvPr/>
        </p:nvSpPr>
        <p:spPr>
          <a:xfrm>
            <a:off x="4815687" y="5074920"/>
            <a:ext cx="914400" cy="320040"/>
          </a:xfrm>
          <a:prstGeom prst="roundRect">
            <a:avLst/>
          </a:prstGeom>
          <a:solidFill>
            <a:srgbClr val="1E1E2E"/>
          </a:solidFill>
          <a:ln w="12700">
            <a:solidFill>
              <a:srgbClr val="1F2A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815687" y="5074920"/>
            <a:ext cx="914400" cy="320040"/>
          </a:xfrm>
          <a:prstGeom prst="rect">
            <a:avLst/>
          </a:prstGeom>
          <a:noFill/>
        </p:spPr>
        <p:txBody>
          <a:bodyPr wrap="none" anchor="ctr">
            <a:spAutoFit/>
          </a:bodyPr>
          <a:lstStyle/>
          <a:p>
            <a:pPr algn="ctr">
              <a:defRPr sz="1300" b="1">
                <a:solidFill>
                  <a:srgbClr val="00D4AA"/>
                </a:solidFill>
              </a:defRPr>
            </a:pPr>
            <a:r>
              <a:t>30 min</a:t>
            </a:r>
          </a:p>
        </p:txBody>
      </p:sp>
      <p:sp>
        <p:nvSpPr>
          <p:cNvPr id="27" name="Rectangle 26"/>
          <p:cNvSpPr/>
          <p:nvPr/>
        </p:nvSpPr>
        <p:spPr>
          <a:xfrm>
            <a:off x="457200" y="5486400"/>
            <a:ext cx="5410047" cy="502920"/>
          </a:xfrm>
          <a:prstGeom prst="rect">
            <a:avLst/>
          </a:prstGeom>
          <a:solidFill>
            <a:srgbClr val="141A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94360" y="5486400"/>
            <a:ext cx="4221327" cy="502920"/>
          </a:xfrm>
          <a:prstGeom prst="rect">
            <a:avLst/>
          </a:prstGeom>
          <a:noFill/>
        </p:spPr>
        <p:txBody>
          <a:bodyPr wrap="square" anchor="ctr">
            <a:spAutoFit/>
          </a:bodyPr>
          <a:lstStyle/>
          <a:p>
            <a:pPr>
              <a:defRPr sz="1600">
                <a:solidFill>
                  <a:srgbClr val="FFFFFF"/>
                </a:solidFill>
              </a:defRPr>
            </a:pPr>
            <a:r>
              <a:t>Lab 1: Setup &amp; First Project</a:t>
            </a:r>
          </a:p>
        </p:txBody>
      </p:sp>
      <p:sp>
        <p:nvSpPr>
          <p:cNvPr id="29" name="Rounded Rectangle 28"/>
          <p:cNvSpPr/>
          <p:nvPr/>
        </p:nvSpPr>
        <p:spPr>
          <a:xfrm>
            <a:off x="4815687" y="5577840"/>
            <a:ext cx="914400" cy="320040"/>
          </a:xfrm>
          <a:prstGeom prst="roundRect">
            <a:avLst/>
          </a:prstGeom>
          <a:solidFill>
            <a:srgbClr val="1E1E2E"/>
          </a:solidFill>
          <a:ln w="12700">
            <a:solidFill>
              <a:srgbClr val="1F2A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815687" y="5577840"/>
            <a:ext cx="914400" cy="320040"/>
          </a:xfrm>
          <a:prstGeom prst="rect">
            <a:avLst/>
          </a:prstGeom>
          <a:noFill/>
        </p:spPr>
        <p:txBody>
          <a:bodyPr wrap="none" anchor="ctr">
            <a:spAutoFit/>
          </a:bodyPr>
          <a:lstStyle/>
          <a:p>
            <a:pPr algn="ctr">
              <a:defRPr sz="1300" b="1">
                <a:solidFill>
                  <a:srgbClr val="00D4AA"/>
                </a:solidFill>
              </a:defRPr>
            </a:pPr>
            <a:r>
              <a:t>45 min</a:t>
            </a:r>
          </a:p>
        </p:txBody>
      </p:sp>
      <p:sp>
        <p:nvSpPr>
          <p:cNvPr id="31" name="Rounded Rectangle 30"/>
          <p:cNvSpPr/>
          <p:nvPr/>
        </p:nvSpPr>
        <p:spPr>
          <a:xfrm>
            <a:off x="6324447" y="1645920"/>
            <a:ext cx="5410047" cy="640080"/>
          </a:xfrm>
          <a:prstGeom prst="round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461607" y="1645920"/>
            <a:ext cx="5135727" cy="640080"/>
          </a:xfrm>
          <a:prstGeom prst="rect">
            <a:avLst/>
          </a:prstGeom>
          <a:noFill/>
        </p:spPr>
        <p:txBody>
          <a:bodyPr wrap="none" anchor="ctr">
            <a:spAutoFit/>
          </a:bodyPr>
          <a:lstStyle/>
          <a:p>
            <a:pPr>
              <a:defRPr sz="1800" b="1">
                <a:solidFill>
                  <a:srgbClr val="0B0F1A"/>
                </a:solidFill>
              </a:defRPr>
            </a:pPr>
            <a:r>
              <a:t>Afternoon  (1:00 PM - 4:00 PM)</a:t>
            </a:r>
          </a:p>
        </p:txBody>
      </p:sp>
      <p:sp>
        <p:nvSpPr>
          <p:cNvPr id="33" name="Rectangle 32"/>
          <p:cNvSpPr/>
          <p:nvPr/>
        </p:nvSpPr>
        <p:spPr>
          <a:xfrm>
            <a:off x="6324447" y="2468880"/>
            <a:ext cx="5410047" cy="502920"/>
          </a:xfrm>
          <a:prstGeom prst="rect">
            <a:avLst/>
          </a:prstGeom>
          <a:solidFill>
            <a:srgbClr val="141A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461607" y="2468880"/>
            <a:ext cx="4221327" cy="502920"/>
          </a:xfrm>
          <a:prstGeom prst="rect">
            <a:avLst/>
          </a:prstGeom>
          <a:noFill/>
        </p:spPr>
        <p:txBody>
          <a:bodyPr wrap="square" anchor="ctr">
            <a:spAutoFit/>
          </a:bodyPr>
          <a:lstStyle/>
          <a:p>
            <a:pPr>
              <a:defRPr sz="1600">
                <a:solidFill>
                  <a:srgbClr val="FFFFFF"/>
                </a:solidFill>
              </a:defRPr>
            </a:pPr>
            <a:r>
              <a:t>Slash Commands</a:t>
            </a:r>
          </a:p>
        </p:txBody>
      </p:sp>
      <p:sp>
        <p:nvSpPr>
          <p:cNvPr id="35" name="Rounded Rectangle 34"/>
          <p:cNvSpPr/>
          <p:nvPr/>
        </p:nvSpPr>
        <p:spPr>
          <a:xfrm>
            <a:off x="10682935" y="2560320"/>
            <a:ext cx="914400" cy="320040"/>
          </a:xfrm>
          <a:prstGeom prst="roundRect">
            <a:avLst/>
          </a:prstGeom>
          <a:solidFill>
            <a:srgbClr val="1E1E2E"/>
          </a:solidFill>
          <a:ln w="12700">
            <a:solidFill>
              <a:srgbClr val="1F2A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0682935" y="2560320"/>
            <a:ext cx="914400" cy="320040"/>
          </a:xfrm>
          <a:prstGeom prst="rect">
            <a:avLst/>
          </a:prstGeom>
          <a:noFill/>
        </p:spPr>
        <p:txBody>
          <a:bodyPr wrap="none" anchor="ctr">
            <a:spAutoFit/>
          </a:bodyPr>
          <a:lstStyle/>
          <a:p>
            <a:pPr algn="ctr">
              <a:defRPr sz="1300" b="1">
                <a:solidFill>
                  <a:srgbClr val="00D4AA"/>
                </a:solidFill>
              </a:defRPr>
            </a:pPr>
            <a:r>
              <a:t>30 min</a:t>
            </a:r>
          </a:p>
        </p:txBody>
      </p:sp>
      <p:sp>
        <p:nvSpPr>
          <p:cNvPr id="37" name="TextBox 36"/>
          <p:cNvSpPr txBox="1"/>
          <p:nvPr/>
        </p:nvSpPr>
        <p:spPr>
          <a:xfrm>
            <a:off x="6461607" y="2971800"/>
            <a:ext cx="4221327" cy="502920"/>
          </a:xfrm>
          <a:prstGeom prst="rect">
            <a:avLst/>
          </a:prstGeom>
          <a:noFill/>
        </p:spPr>
        <p:txBody>
          <a:bodyPr wrap="square" anchor="ctr">
            <a:spAutoFit/>
          </a:bodyPr>
          <a:lstStyle/>
          <a:p>
            <a:pPr>
              <a:defRPr sz="1600">
                <a:solidFill>
                  <a:srgbClr val="FFFFFF"/>
                </a:solidFill>
              </a:defRPr>
            </a:pPr>
            <a:r>
              <a:t>Permissions &amp; Security</a:t>
            </a:r>
          </a:p>
        </p:txBody>
      </p:sp>
      <p:sp>
        <p:nvSpPr>
          <p:cNvPr id="38" name="Rounded Rectangle 37"/>
          <p:cNvSpPr/>
          <p:nvPr/>
        </p:nvSpPr>
        <p:spPr>
          <a:xfrm>
            <a:off x="10682935" y="3063240"/>
            <a:ext cx="914400" cy="320040"/>
          </a:xfrm>
          <a:prstGeom prst="roundRect">
            <a:avLst/>
          </a:prstGeom>
          <a:solidFill>
            <a:srgbClr val="1E1E2E"/>
          </a:solidFill>
          <a:ln w="12700">
            <a:solidFill>
              <a:srgbClr val="1F2A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10682935" y="3063240"/>
            <a:ext cx="914400" cy="320040"/>
          </a:xfrm>
          <a:prstGeom prst="rect">
            <a:avLst/>
          </a:prstGeom>
          <a:noFill/>
        </p:spPr>
        <p:txBody>
          <a:bodyPr wrap="none" anchor="ctr">
            <a:spAutoFit/>
          </a:bodyPr>
          <a:lstStyle/>
          <a:p>
            <a:pPr algn="ctr">
              <a:defRPr sz="1300" b="1">
                <a:solidFill>
                  <a:srgbClr val="00D4AA"/>
                </a:solidFill>
              </a:defRPr>
            </a:pPr>
            <a:r>
              <a:t>30 min</a:t>
            </a:r>
          </a:p>
        </p:txBody>
      </p:sp>
      <p:sp>
        <p:nvSpPr>
          <p:cNvPr id="40" name="Rectangle 39"/>
          <p:cNvSpPr/>
          <p:nvPr/>
        </p:nvSpPr>
        <p:spPr>
          <a:xfrm>
            <a:off x="6324447" y="3474720"/>
            <a:ext cx="5410047" cy="502920"/>
          </a:xfrm>
          <a:prstGeom prst="rect">
            <a:avLst/>
          </a:prstGeom>
          <a:solidFill>
            <a:srgbClr val="141A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461607" y="3474720"/>
            <a:ext cx="4221327" cy="502920"/>
          </a:xfrm>
          <a:prstGeom prst="rect">
            <a:avLst/>
          </a:prstGeom>
          <a:noFill/>
        </p:spPr>
        <p:txBody>
          <a:bodyPr wrap="square" anchor="ctr">
            <a:spAutoFit/>
          </a:bodyPr>
          <a:lstStyle/>
          <a:p>
            <a:pPr>
              <a:defRPr sz="1600" i="1">
                <a:solidFill>
                  <a:srgbClr val="8B95A5"/>
                </a:solidFill>
              </a:defRPr>
            </a:pPr>
            <a:r>
              <a:t>Break</a:t>
            </a:r>
          </a:p>
        </p:txBody>
      </p:sp>
      <p:sp>
        <p:nvSpPr>
          <p:cNvPr id="42" name="Rounded Rectangle 41"/>
          <p:cNvSpPr/>
          <p:nvPr/>
        </p:nvSpPr>
        <p:spPr>
          <a:xfrm>
            <a:off x="10682935" y="3566160"/>
            <a:ext cx="914400" cy="320040"/>
          </a:xfrm>
          <a:prstGeom prst="roundRect">
            <a:avLst/>
          </a:prstGeom>
          <a:solidFill>
            <a:srgbClr val="141A26"/>
          </a:solidFill>
          <a:ln w="12700">
            <a:solidFill>
              <a:srgbClr val="1F2A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0682935" y="3566160"/>
            <a:ext cx="914400" cy="320040"/>
          </a:xfrm>
          <a:prstGeom prst="rect">
            <a:avLst/>
          </a:prstGeom>
          <a:noFill/>
        </p:spPr>
        <p:txBody>
          <a:bodyPr wrap="none" anchor="ctr">
            <a:spAutoFit/>
          </a:bodyPr>
          <a:lstStyle/>
          <a:p>
            <a:pPr algn="ctr">
              <a:defRPr sz="1300" b="1">
                <a:solidFill>
                  <a:srgbClr val="00D4AA"/>
                </a:solidFill>
              </a:defRPr>
            </a:pPr>
            <a:r>
              <a:t>15 min</a:t>
            </a:r>
          </a:p>
        </p:txBody>
      </p:sp>
      <p:sp>
        <p:nvSpPr>
          <p:cNvPr id="44" name="TextBox 43"/>
          <p:cNvSpPr txBox="1"/>
          <p:nvPr/>
        </p:nvSpPr>
        <p:spPr>
          <a:xfrm>
            <a:off x="6461607" y="3977640"/>
            <a:ext cx="4221327" cy="502920"/>
          </a:xfrm>
          <a:prstGeom prst="rect">
            <a:avLst/>
          </a:prstGeom>
          <a:noFill/>
        </p:spPr>
        <p:txBody>
          <a:bodyPr wrap="square" anchor="ctr">
            <a:spAutoFit/>
          </a:bodyPr>
          <a:lstStyle/>
          <a:p>
            <a:pPr>
              <a:defRPr sz="1600">
                <a:solidFill>
                  <a:srgbClr val="FFFFFF"/>
                </a:solidFill>
              </a:defRPr>
            </a:pPr>
            <a:r>
              <a:t>Git Integration</a:t>
            </a:r>
          </a:p>
        </p:txBody>
      </p:sp>
      <p:sp>
        <p:nvSpPr>
          <p:cNvPr id="45" name="Rounded Rectangle 44"/>
          <p:cNvSpPr/>
          <p:nvPr/>
        </p:nvSpPr>
        <p:spPr>
          <a:xfrm>
            <a:off x="10682935" y="4069080"/>
            <a:ext cx="914400" cy="320040"/>
          </a:xfrm>
          <a:prstGeom prst="roundRect">
            <a:avLst/>
          </a:prstGeom>
          <a:solidFill>
            <a:srgbClr val="1E1E2E"/>
          </a:solidFill>
          <a:ln w="12700">
            <a:solidFill>
              <a:srgbClr val="1F2A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10682935" y="4069080"/>
            <a:ext cx="914400" cy="320040"/>
          </a:xfrm>
          <a:prstGeom prst="rect">
            <a:avLst/>
          </a:prstGeom>
          <a:noFill/>
        </p:spPr>
        <p:txBody>
          <a:bodyPr wrap="none" anchor="ctr">
            <a:spAutoFit/>
          </a:bodyPr>
          <a:lstStyle/>
          <a:p>
            <a:pPr algn="ctr">
              <a:defRPr sz="1300" b="1">
                <a:solidFill>
                  <a:srgbClr val="00D4AA"/>
                </a:solidFill>
              </a:defRPr>
            </a:pPr>
            <a:r>
              <a:t>30 min</a:t>
            </a:r>
          </a:p>
        </p:txBody>
      </p:sp>
      <p:sp>
        <p:nvSpPr>
          <p:cNvPr id="47" name="Rectangle 46"/>
          <p:cNvSpPr/>
          <p:nvPr/>
        </p:nvSpPr>
        <p:spPr>
          <a:xfrm>
            <a:off x="6324447" y="4480560"/>
            <a:ext cx="5410047" cy="502920"/>
          </a:xfrm>
          <a:prstGeom prst="rect">
            <a:avLst/>
          </a:prstGeom>
          <a:solidFill>
            <a:srgbClr val="141A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6461607" y="4480560"/>
            <a:ext cx="4221327" cy="502920"/>
          </a:xfrm>
          <a:prstGeom prst="rect">
            <a:avLst/>
          </a:prstGeom>
          <a:noFill/>
        </p:spPr>
        <p:txBody>
          <a:bodyPr wrap="square" anchor="ctr">
            <a:spAutoFit/>
          </a:bodyPr>
          <a:lstStyle/>
          <a:p>
            <a:pPr>
              <a:defRPr sz="1600">
                <a:solidFill>
                  <a:srgbClr val="FFFFFF"/>
                </a:solidFill>
              </a:defRPr>
            </a:pPr>
            <a:r>
              <a:t>File Operations &amp; Workflows</a:t>
            </a:r>
          </a:p>
        </p:txBody>
      </p:sp>
      <p:sp>
        <p:nvSpPr>
          <p:cNvPr id="49" name="Rounded Rectangle 48"/>
          <p:cNvSpPr/>
          <p:nvPr/>
        </p:nvSpPr>
        <p:spPr>
          <a:xfrm>
            <a:off x="10682935" y="4572000"/>
            <a:ext cx="914400" cy="320040"/>
          </a:xfrm>
          <a:prstGeom prst="roundRect">
            <a:avLst/>
          </a:prstGeom>
          <a:solidFill>
            <a:srgbClr val="1E1E2E"/>
          </a:solidFill>
          <a:ln w="12700">
            <a:solidFill>
              <a:srgbClr val="1F2A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10682935" y="4572000"/>
            <a:ext cx="914400" cy="320040"/>
          </a:xfrm>
          <a:prstGeom prst="rect">
            <a:avLst/>
          </a:prstGeom>
          <a:noFill/>
        </p:spPr>
        <p:txBody>
          <a:bodyPr wrap="none" anchor="ctr">
            <a:spAutoFit/>
          </a:bodyPr>
          <a:lstStyle/>
          <a:p>
            <a:pPr algn="ctr">
              <a:defRPr sz="1300" b="1">
                <a:solidFill>
                  <a:srgbClr val="00D4AA"/>
                </a:solidFill>
              </a:defRPr>
            </a:pPr>
            <a:r>
              <a:t>30 min</a:t>
            </a:r>
          </a:p>
        </p:txBody>
      </p:sp>
      <p:sp>
        <p:nvSpPr>
          <p:cNvPr id="51" name="TextBox 50"/>
          <p:cNvSpPr txBox="1"/>
          <p:nvPr/>
        </p:nvSpPr>
        <p:spPr>
          <a:xfrm>
            <a:off x="6461607" y="4983480"/>
            <a:ext cx="4221327" cy="502920"/>
          </a:xfrm>
          <a:prstGeom prst="rect">
            <a:avLst/>
          </a:prstGeom>
          <a:noFill/>
        </p:spPr>
        <p:txBody>
          <a:bodyPr wrap="square" anchor="ctr">
            <a:spAutoFit/>
          </a:bodyPr>
          <a:lstStyle/>
          <a:p>
            <a:pPr>
              <a:defRPr sz="1600">
                <a:solidFill>
                  <a:srgbClr val="FFFFFF"/>
                </a:solidFill>
              </a:defRPr>
            </a:pPr>
            <a:r>
              <a:t>Lab 2: Real Development Workflow</a:t>
            </a:r>
          </a:p>
        </p:txBody>
      </p:sp>
      <p:sp>
        <p:nvSpPr>
          <p:cNvPr id="52" name="Rounded Rectangle 51"/>
          <p:cNvSpPr/>
          <p:nvPr/>
        </p:nvSpPr>
        <p:spPr>
          <a:xfrm>
            <a:off x="10682935" y="5074920"/>
            <a:ext cx="914400" cy="320040"/>
          </a:xfrm>
          <a:prstGeom prst="roundRect">
            <a:avLst/>
          </a:prstGeom>
          <a:solidFill>
            <a:srgbClr val="1E1E2E"/>
          </a:solidFill>
          <a:ln w="12700">
            <a:solidFill>
              <a:srgbClr val="1F2A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10682935" y="5074920"/>
            <a:ext cx="914400" cy="320040"/>
          </a:xfrm>
          <a:prstGeom prst="rect">
            <a:avLst/>
          </a:prstGeom>
          <a:noFill/>
        </p:spPr>
        <p:txBody>
          <a:bodyPr wrap="none" anchor="ctr">
            <a:spAutoFit/>
          </a:bodyPr>
          <a:lstStyle/>
          <a:p>
            <a:pPr algn="ctr">
              <a:defRPr sz="1300" b="1">
                <a:solidFill>
                  <a:srgbClr val="00D4AA"/>
                </a:solidFill>
              </a:defRPr>
            </a:pPr>
            <a:r>
              <a:t>45 min</a:t>
            </a:r>
          </a:p>
        </p:txBody>
      </p:sp>
      <p:sp>
        <p:nvSpPr>
          <p:cNvPr id="54" name="Rectangle 53"/>
          <p:cNvSpPr/>
          <p:nvPr/>
        </p:nvSpPr>
        <p:spPr>
          <a:xfrm>
            <a:off x="6324447" y="5486400"/>
            <a:ext cx="5410047" cy="502920"/>
          </a:xfrm>
          <a:prstGeom prst="rect">
            <a:avLst/>
          </a:prstGeom>
          <a:solidFill>
            <a:srgbClr val="141A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6461607" y="5486400"/>
            <a:ext cx="4221327" cy="502920"/>
          </a:xfrm>
          <a:prstGeom prst="rect">
            <a:avLst/>
          </a:prstGeom>
          <a:noFill/>
        </p:spPr>
        <p:txBody>
          <a:bodyPr wrap="square" anchor="ctr">
            <a:spAutoFit/>
          </a:bodyPr>
          <a:lstStyle/>
          <a:p>
            <a:pPr>
              <a:defRPr sz="1600">
                <a:solidFill>
                  <a:srgbClr val="FFFFFF"/>
                </a:solidFill>
              </a:defRPr>
            </a:pPr>
            <a:r>
              <a:t>Wrap-up</a:t>
            </a:r>
          </a:p>
        </p:txBody>
      </p:sp>
      <p:sp>
        <p:nvSpPr>
          <p:cNvPr id="56" name="Rounded Rectangle 55"/>
          <p:cNvSpPr/>
          <p:nvPr/>
        </p:nvSpPr>
        <p:spPr>
          <a:xfrm>
            <a:off x="10682935" y="5577840"/>
            <a:ext cx="914400" cy="320040"/>
          </a:xfrm>
          <a:prstGeom prst="roundRect">
            <a:avLst/>
          </a:prstGeom>
          <a:solidFill>
            <a:srgbClr val="1E1E2E"/>
          </a:solidFill>
          <a:ln w="12700">
            <a:solidFill>
              <a:srgbClr val="1F2A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10682935" y="5577840"/>
            <a:ext cx="914400" cy="320040"/>
          </a:xfrm>
          <a:prstGeom prst="rect">
            <a:avLst/>
          </a:prstGeom>
          <a:noFill/>
        </p:spPr>
        <p:txBody>
          <a:bodyPr wrap="none" anchor="ctr">
            <a:spAutoFit/>
          </a:bodyPr>
          <a:lstStyle/>
          <a:p>
            <a:pPr algn="ctr">
              <a:defRPr sz="1300" b="1">
                <a:solidFill>
                  <a:srgbClr val="00D4AA"/>
                </a:solidFill>
              </a:defRPr>
            </a:pPr>
            <a:r>
              <a:t>15 min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Rectangle 1"/>
          <p:cNvSpPr/>
          <p:nvPr/>
        </p:nvSpPr>
        <p:spPr>
          <a:xfrm>
            <a:off x="0" y="1188720"/>
            <a:ext cx="91440" cy="50292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65760"/>
            <a:ext cx="11277295" cy="822960"/>
          </a:xfrm>
          <a:prstGeom prst="rect">
            <a:avLst/>
          </a:prstGeom>
          <a:noFill/>
        </p:spPr>
        <p:txBody>
          <a:bodyPr wrap="none">
            <a:spAutoFit/>
          </a:bodyPr>
          <a:lstStyle/>
          <a:p>
            <a:pPr>
              <a:defRPr sz="4000" b="1">
                <a:solidFill>
                  <a:srgbClr val="FFFFFF"/>
                </a:solidFill>
              </a:defRPr>
            </a:pPr>
            <a:r>
              <a:t>Learning Objectives</a:t>
            </a:r>
          </a:p>
        </p:txBody>
      </p:sp>
      <p:sp>
        <p:nvSpPr>
          <p:cNvPr id="4" name="Oval 3"/>
          <p:cNvSpPr/>
          <p:nvPr/>
        </p:nvSpPr>
        <p:spPr>
          <a:xfrm>
            <a:off x="457200" y="1371600"/>
            <a:ext cx="411480" cy="41148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371600"/>
            <a:ext cx="411480" cy="411480"/>
          </a:xfrm>
          <a:prstGeom prst="rect">
            <a:avLst/>
          </a:prstGeom>
          <a:noFill/>
        </p:spPr>
        <p:txBody>
          <a:bodyPr wrap="none" anchor="ctr">
            <a:spAutoFit/>
          </a:bodyPr>
          <a:lstStyle/>
          <a:p>
            <a:pPr algn="ctr">
              <a:defRPr sz="2000" b="1">
                <a:solidFill>
                  <a:srgbClr val="0B0F1A"/>
                </a:solidFill>
              </a:defRPr>
            </a:pPr>
            <a:r>
              <a:t>v</a:t>
            </a:r>
          </a:p>
        </p:txBody>
      </p:sp>
      <p:sp>
        <p:nvSpPr>
          <p:cNvPr id="6" name="TextBox 5"/>
          <p:cNvSpPr txBox="1"/>
          <p:nvPr/>
        </p:nvSpPr>
        <p:spPr>
          <a:xfrm>
            <a:off x="1005840" y="1417320"/>
            <a:ext cx="10728655" cy="731520"/>
          </a:xfrm>
          <a:prstGeom prst="rect">
            <a:avLst/>
          </a:prstGeom>
          <a:noFill/>
        </p:spPr>
        <p:txBody>
          <a:bodyPr wrap="square">
            <a:spAutoFit/>
          </a:bodyPr>
          <a:lstStyle/>
          <a:p>
            <a:pPr>
              <a:defRPr sz="2200">
                <a:solidFill>
                  <a:srgbClr val="FFFFFF"/>
                </a:solidFill>
              </a:defRPr>
            </a:pPr>
            <a:r>
              <a:t>Install and configure Claude Code CLI on your development machine</a:t>
            </a:r>
          </a:p>
        </p:txBody>
      </p:sp>
      <p:sp>
        <p:nvSpPr>
          <p:cNvPr id="7" name="Oval 6"/>
          <p:cNvSpPr/>
          <p:nvPr/>
        </p:nvSpPr>
        <p:spPr>
          <a:xfrm>
            <a:off x="457200" y="2194560"/>
            <a:ext cx="411480" cy="41148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2194560"/>
            <a:ext cx="411480" cy="411480"/>
          </a:xfrm>
          <a:prstGeom prst="rect">
            <a:avLst/>
          </a:prstGeom>
          <a:noFill/>
        </p:spPr>
        <p:txBody>
          <a:bodyPr wrap="none" anchor="ctr">
            <a:spAutoFit/>
          </a:bodyPr>
          <a:lstStyle/>
          <a:p>
            <a:pPr algn="ctr">
              <a:defRPr sz="2000" b="1">
                <a:solidFill>
                  <a:srgbClr val="0B0F1A"/>
                </a:solidFill>
              </a:defRPr>
            </a:pPr>
            <a:r>
              <a:t>v</a:t>
            </a:r>
          </a:p>
        </p:txBody>
      </p:sp>
      <p:sp>
        <p:nvSpPr>
          <p:cNvPr id="9" name="TextBox 8"/>
          <p:cNvSpPr txBox="1"/>
          <p:nvPr/>
        </p:nvSpPr>
        <p:spPr>
          <a:xfrm>
            <a:off x="1005840" y="2240280"/>
            <a:ext cx="10728655" cy="731520"/>
          </a:xfrm>
          <a:prstGeom prst="rect">
            <a:avLst/>
          </a:prstGeom>
          <a:noFill/>
        </p:spPr>
        <p:txBody>
          <a:bodyPr wrap="square">
            <a:spAutoFit/>
          </a:bodyPr>
          <a:lstStyle/>
          <a:p>
            <a:pPr>
              <a:defRPr sz="2200">
                <a:solidFill>
                  <a:srgbClr val="FFFFFF"/>
                </a:solidFill>
              </a:defRPr>
            </a:pPr>
            <a:r>
              <a:t>Understand the agentic loop and how Claude Code reads and executes changes</a:t>
            </a:r>
          </a:p>
        </p:txBody>
      </p:sp>
      <p:sp>
        <p:nvSpPr>
          <p:cNvPr id="10" name="Oval 9"/>
          <p:cNvSpPr/>
          <p:nvPr/>
        </p:nvSpPr>
        <p:spPr>
          <a:xfrm>
            <a:off x="457200" y="3017520"/>
            <a:ext cx="411480" cy="41148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7200" y="3017520"/>
            <a:ext cx="411480" cy="411480"/>
          </a:xfrm>
          <a:prstGeom prst="rect">
            <a:avLst/>
          </a:prstGeom>
          <a:noFill/>
        </p:spPr>
        <p:txBody>
          <a:bodyPr wrap="none" anchor="ctr">
            <a:spAutoFit/>
          </a:bodyPr>
          <a:lstStyle/>
          <a:p>
            <a:pPr algn="ctr">
              <a:defRPr sz="2000" b="1">
                <a:solidFill>
                  <a:srgbClr val="0B0F1A"/>
                </a:solidFill>
              </a:defRPr>
            </a:pPr>
            <a:r>
              <a:t>v</a:t>
            </a:r>
          </a:p>
        </p:txBody>
      </p:sp>
      <p:sp>
        <p:nvSpPr>
          <p:cNvPr id="12" name="TextBox 11"/>
          <p:cNvSpPr txBox="1"/>
          <p:nvPr/>
        </p:nvSpPr>
        <p:spPr>
          <a:xfrm>
            <a:off x="1005840" y="3063240"/>
            <a:ext cx="10728655" cy="731520"/>
          </a:xfrm>
          <a:prstGeom prst="rect">
            <a:avLst/>
          </a:prstGeom>
          <a:noFill/>
        </p:spPr>
        <p:txBody>
          <a:bodyPr wrap="square">
            <a:spAutoFit/>
          </a:bodyPr>
          <a:lstStyle/>
          <a:p>
            <a:pPr>
              <a:defRPr sz="2200">
                <a:solidFill>
                  <a:srgbClr val="FFFFFF"/>
                </a:solidFill>
              </a:defRPr>
            </a:pPr>
            <a:r>
              <a:t>Create effective CLAUDE.md configuration files for your projects</a:t>
            </a:r>
          </a:p>
        </p:txBody>
      </p:sp>
      <p:sp>
        <p:nvSpPr>
          <p:cNvPr id="13" name="Oval 12"/>
          <p:cNvSpPr/>
          <p:nvPr/>
        </p:nvSpPr>
        <p:spPr>
          <a:xfrm>
            <a:off x="457200" y="3840480"/>
            <a:ext cx="411480" cy="41148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7200" y="3840480"/>
            <a:ext cx="411480" cy="411480"/>
          </a:xfrm>
          <a:prstGeom prst="rect">
            <a:avLst/>
          </a:prstGeom>
          <a:noFill/>
        </p:spPr>
        <p:txBody>
          <a:bodyPr wrap="none" anchor="ctr">
            <a:spAutoFit/>
          </a:bodyPr>
          <a:lstStyle/>
          <a:p>
            <a:pPr algn="ctr">
              <a:defRPr sz="2000" b="1">
                <a:solidFill>
                  <a:srgbClr val="0B0F1A"/>
                </a:solidFill>
              </a:defRPr>
            </a:pPr>
            <a:r>
              <a:t>v</a:t>
            </a:r>
          </a:p>
        </p:txBody>
      </p:sp>
      <p:sp>
        <p:nvSpPr>
          <p:cNvPr id="15" name="TextBox 14"/>
          <p:cNvSpPr txBox="1"/>
          <p:nvPr/>
        </p:nvSpPr>
        <p:spPr>
          <a:xfrm>
            <a:off x="1005840" y="3886200"/>
            <a:ext cx="10728655" cy="731520"/>
          </a:xfrm>
          <a:prstGeom prst="rect">
            <a:avLst/>
          </a:prstGeom>
          <a:noFill/>
        </p:spPr>
        <p:txBody>
          <a:bodyPr wrap="square">
            <a:spAutoFit/>
          </a:bodyPr>
          <a:lstStyle/>
          <a:p>
            <a:pPr>
              <a:defRPr sz="2200">
                <a:solidFill>
                  <a:srgbClr val="FFFFFF"/>
                </a:solidFill>
              </a:defRPr>
            </a:pPr>
            <a:r>
              <a:t>Master @ mentions and context feeding techniques for precision work</a:t>
            </a:r>
          </a:p>
        </p:txBody>
      </p:sp>
      <p:sp>
        <p:nvSpPr>
          <p:cNvPr id="16" name="Oval 15"/>
          <p:cNvSpPr/>
          <p:nvPr/>
        </p:nvSpPr>
        <p:spPr>
          <a:xfrm>
            <a:off x="457200" y="4663440"/>
            <a:ext cx="411480" cy="41148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57200" y="4663440"/>
            <a:ext cx="411480" cy="411480"/>
          </a:xfrm>
          <a:prstGeom prst="rect">
            <a:avLst/>
          </a:prstGeom>
          <a:noFill/>
        </p:spPr>
        <p:txBody>
          <a:bodyPr wrap="none" anchor="ctr">
            <a:spAutoFit/>
          </a:bodyPr>
          <a:lstStyle/>
          <a:p>
            <a:pPr algn="ctr">
              <a:defRPr sz="2000" b="1">
                <a:solidFill>
                  <a:srgbClr val="0B0F1A"/>
                </a:solidFill>
              </a:defRPr>
            </a:pPr>
            <a:r>
              <a:t>v</a:t>
            </a:r>
          </a:p>
        </p:txBody>
      </p:sp>
      <p:sp>
        <p:nvSpPr>
          <p:cNvPr id="18" name="TextBox 17"/>
          <p:cNvSpPr txBox="1"/>
          <p:nvPr/>
        </p:nvSpPr>
        <p:spPr>
          <a:xfrm>
            <a:off x="1005840" y="4709160"/>
            <a:ext cx="10728655" cy="731520"/>
          </a:xfrm>
          <a:prstGeom prst="rect">
            <a:avLst/>
          </a:prstGeom>
          <a:noFill/>
        </p:spPr>
        <p:txBody>
          <a:bodyPr wrap="square">
            <a:spAutoFit/>
          </a:bodyPr>
          <a:lstStyle/>
          <a:p>
            <a:pPr>
              <a:defRPr sz="2200">
                <a:solidFill>
                  <a:srgbClr val="FFFFFF"/>
                </a:solidFill>
              </a:defRPr>
            </a:pPr>
            <a:r>
              <a:t>Manage token limits and optimize context with .claudeignore</a:t>
            </a:r>
          </a:p>
        </p:txBody>
      </p:sp>
      <p:sp>
        <p:nvSpPr>
          <p:cNvPr id="19" name="Oval 18"/>
          <p:cNvSpPr/>
          <p:nvPr/>
        </p:nvSpPr>
        <p:spPr>
          <a:xfrm>
            <a:off x="457200" y="5486400"/>
            <a:ext cx="411480" cy="41148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57200" y="5486400"/>
            <a:ext cx="411480" cy="411480"/>
          </a:xfrm>
          <a:prstGeom prst="rect">
            <a:avLst/>
          </a:prstGeom>
          <a:noFill/>
        </p:spPr>
        <p:txBody>
          <a:bodyPr wrap="none" anchor="ctr">
            <a:spAutoFit/>
          </a:bodyPr>
          <a:lstStyle/>
          <a:p>
            <a:pPr algn="ctr">
              <a:defRPr sz="2000" b="1">
                <a:solidFill>
                  <a:srgbClr val="0B0F1A"/>
                </a:solidFill>
              </a:defRPr>
            </a:pPr>
            <a:r>
              <a:t>v</a:t>
            </a:r>
          </a:p>
        </p:txBody>
      </p:sp>
      <p:sp>
        <p:nvSpPr>
          <p:cNvPr id="21" name="TextBox 20"/>
          <p:cNvSpPr txBox="1"/>
          <p:nvPr/>
        </p:nvSpPr>
        <p:spPr>
          <a:xfrm>
            <a:off x="1005840" y="5532120"/>
            <a:ext cx="10728655" cy="731520"/>
          </a:xfrm>
          <a:prstGeom prst="rect">
            <a:avLst/>
          </a:prstGeom>
          <a:noFill/>
        </p:spPr>
        <p:txBody>
          <a:bodyPr wrap="square">
            <a:spAutoFit/>
          </a:bodyPr>
          <a:lstStyle/>
          <a:p>
            <a:pPr>
              <a:defRPr sz="2200">
                <a:solidFill>
                  <a:srgbClr val="FFFFFF"/>
                </a:solidFill>
              </a:defRPr>
            </a:pPr>
            <a:r>
              <a:t>Use slash commands to control sessions, models, and permissions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Rectangle 1"/>
          <p:cNvSpPr/>
          <p:nvPr/>
        </p:nvSpPr>
        <p:spPr>
          <a:xfrm>
            <a:off x="0" y="1188720"/>
            <a:ext cx="91440" cy="50292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65760"/>
            <a:ext cx="11277295" cy="822960"/>
          </a:xfrm>
          <a:prstGeom prst="rect">
            <a:avLst/>
          </a:prstGeom>
          <a:noFill/>
        </p:spPr>
        <p:txBody>
          <a:bodyPr wrap="none">
            <a:spAutoFit/>
          </a:bodyPr>
          <a:lstStyle/>
          <a:p>
            <a:pPr>
              <a:defRPr sz="4000" b="1">
                <a:solidFill>
                  <a:srgbClr val="FFFFFF"/>
                </a:solidFill>
              </a:defRPr>
            </a:pPr>
            <a:r>
              <a:t>What We'll Build Today</a:t>
            </a:r>
          </a:p>
        </p:txBody>
      </p:sp>
      <p:sp>
        <p:nvSpPr>
          <p:cNvPr id="4" name="Oval 3"/>
          <p:cNvSpPr/>
          <p:nvPr/>
        </p:nvSpPr>
        <p:spPr>
          <a:xfrm>
            <a:off x="457200" y="1371600"/>
            <a:ext cx="411480" cy="41148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828800"/>
            <a:ext cx="1645920" cy="365760"/>
          </a:xfrm>
          <a:prstGeom prst="rect">
            <a:avLst/>
          </a:prstGeom>
          <a:noFill/>
        </p:spPr>
        <p:txBody>
          <a:bodyPr wrap="square">
            <a:spAutoFit/>
          </a:bodyPr>
          <a:lstStyle/>
          <a:p>
            <a:pPr>
              <a:defRPr sz="1800" b="1">
                <a:solidFill>
                  <a:srgbClr val="00D4AA"/>
                </a:solidFill>
              </a:defRPr>
            </a:pPr>
            <a:r>
              <a:t>Exercise 1:</a:t>
            </a:r>
          </a:p>
        </p:txBody>
      </p:sp>
      <p:sp>
        <p:nvSpPr>
          <p:cNvPr id="6" name="TextBox 5"/>
          <p:cNvSpPr txBox="1"/>
          <p:nvPr/>
        </p:nvSpPr>
        <p:spPr>
          <a:xfrm>
            <a:off x="2468880" y="1828800"/>
            <a:ext cx="7772400" cy="640080"/>
          </a:xfrm>
          <a:prstGeom prst="rect">
            <a:avLst/>
          </a:prstGeom>
          <a:noFill/>
        </p:spPr>
        <p:txBody>
          <a:bodyPr wrap="square">
            <a:spAutoFit/>
          </a:bodyPr>
          <a:lstStyle/>
          <a:p>
            <a:pPr>
              <a:defRPr sz="1600">
                <a:solidFill>
                  <a:srgbClr val="FFFFFF"/>
                </a:solidFill>
              </a:defRPr>
            </a:pPr>
            <a:r>
              <a:t>Build a complete Business Dashboard from a single prompt — API, database, and UI</a:t>
            </a:r>
          </a:p>
        </p:txBody>
      </p:sp>
      <p:sp>
        <p:nvSpPr>
          <p:cNvPr id="7" name="TextBox 6"/>
          <p:cNvSpPr txBox="1"/>
          <p:nvPr/>
        </p:nvSpPr>
        <p:spPr>
          <a:xfrm>
            <a:off x="731520" y="2606040"/>
            <a:ext cx="1645920" cy="365760"/>
          </a:xfrm>
          <a:prstGeom prst="rect">
            <a:avLst/>
          </a:prstGeom>
          <a:noFill/>
        </p:spPr>
        <p:txBody>
          <a:bodyPr wrap="square">
            <a:spAutoFit/>
          </a:bodyPr>
          <a:lstStyle/>
          <a:p>
            <a:pPr>
              <a:defRPr sz="1800" b="1">
                <a:solidFill>
                  <a:srgbClr val="00D4AA"/>
                </a:solidFill>
              </a:defRPr>
            </a:pPr>
            <a:r>
              <a:t>Exercise 2:</a:t>
            </a:r>
          </a:p>
        </p:txBody>
      </p:sp>
      <p:sp>
        <p:nvSpPr>
          <p:cNvPr id="8" name="TextBox 7"/>
          <p:cNvSpPr txBox="1"/>
          <p:nvPr/>
        </p:nvSpPr>
        <p:spPr>
          <a:xfrm>
            <a:off x="2468880" y="2606040"/>
            <a:ext cx="7772400" cy="640080"/>
          </a:xfrm>
          <a:prstGeom prst="rect">
            <a:avLst/>
          </a:prstGeom>
          <a:noFill/>
        </p:spPr>
        <p:txBody>
          <a:bodyPr wrap="square">
            <a:spAutoFit/>
          </a:bodyPr>
          <a:lstStyle/>
          <a:p>
            <a:pPr>
              <a:defRPr sz="1600">
                <a:solidFill>
                  <a:srgbClr val="FFFFFF"/>
                </a:solidFill>
              </a:defRPr>
            </a:pPr>
            <a:r>
              <a:t>Add a project brain with CLAUDE.md — conventions that enforce themselves</a:t>
            </a:r>
          </a:p>
        </p:txBody>
      </p:sp>
      <p:sp>
        <p:nvSpPr>
          <p:cNvPr id="9" name="TextBox 8"/>
          <p:cNvSpPr txBox="1"/>
          <p:nvPr/>
        </p:nvSpPr>
        <p:spPr>
          <a:xfrm>
            <a:off x="731520" y="3383280"/>
            <a:ext cx="1645920" cy="365760"/>
          </a:xfrm>
          <a:prstGeom prst="rect">
            <a:avLst/>
          </a:prstGeom>
          <a:noFill/>
        </p:spPr>
        <p:txBody>
          <a:bodyPr wrap="square">
            <a:spAutoFit/>
          </a:bodyPr>
          <a:lstStyle/>
          <a:p>
            <a:pPr>
              <a:defRPr sz="1800" b="1">
                <a:solidFill>
                  <a:srgbClr val="00D4AA"/>
                </a:solidFill>
              </a:defRPr>
            </a:pPr>
            <a:r>
              <a:t>Exercise 3:</a:t>
            </a:r>
          </a:p>
        </p:txBody>
      </p:sp>
      <p:sp>
        <p:nvSpPr>
          <p:cNvPr id="10" name="TextBox 9"/>
          <p:cNvSpPr txBox="1"/>
          <p:nvPr/>
        </p:nvSpPr>
        <p:spPr>
          <a:xfrm>
            <a:off x="2468880" y="3383280"/>
            <a:ext cx="7772400" cy="640080"/>
          </a:xfrm>
          <a:prstGeom prst="rect">
            <a:avLst/>
          </a:prstGeom>
          <a:noFill/>
        </p:spPr>
        <p:txBody>
          <a:bodyPr wrap="square">
            <a:spAutoFit/>
          </a:bodyPr>
          <a:lstStyle/>
          <a:p>
            <a:pPr>
              <a:defRPr sz="1600">
                <a:solidFill>
                  <a:srgbClr val="FFFFFF"/>
                </a:solidFill>
              </a:defRPr>
            </a:pPr>
            <a:r>
              <a:t>Master @ mentions for precision context, plus break-and-recover workflows</a:t>
            </a:r>
          </a:p>
        </p:txBody>
      </p:sp>
      <p:sp>
        <p:nvSpPr>
          <p:cNvPr id="11" name="TextBox 10"/>
          <p:cNvSpPr txBox="1"/>
          <p:nvPr/>
        </p:nvSpPr>
        <p:spPr>
          <a:xfrm>
            <a:off x="731520" y="4160520"/>
            <a:ext cx="1645920" cy="365760"/>
          </a:xfrm>
          <a:prstGeom prst="rect">
            <a:avLst/>
          </a:prstGeom>
          <a:noFill/>
        </p:spPr>
        <p:txBody>
          <a:bodyPr wrap="square">
            <a:spAutoFit/>
          </a:bodyPr>
          <a:lstStyle/>
          <a:p>
            <a:pPr>
              <a:defRPr sz="1800" b="1">
                <a:solidFill>
                  <a:srgbClr val="00D4AA"/>
                </a:solidFill>
              </a:defRPr>
            </a:pPr>
            <a:r>
              <a:t>Exercise 4:</a:t>
            </a:r>
          </a:p>
        </p:txBody>
      </p:sp>
      <p:sp>
        <p:nvSpPr>
          <p:cNvPr id="12" name="TextBox 11"/>
          <p:cNvSpPr txBox="1"/>
          <p:nvPr/>
        </p:nvSpPr>
        <p:spPr>
          <a:xfrm>
            <a:off x="2468880" y="4160520"/>
            <a:ext cx="7772400" cy="640080"/>
          </a:xfrm>
          <a:prstGeom prst="rect">
            <a:avLst/>
          </a:prstGeom>
          <a:noFill/>
        </p:spPr>
        <p:txBody>
          <a:bodyPr wrap="square">
            <a:spAutoFit/>
          </a:bodyPr>
          <a:lstStyle/>
          <a:p>
            <a:pPr>
              <a:defRPr sz="1600">
                <a:solidFill>
                  <a:srgbClr val="FFFFFF"/>
                </a:solidFill>
              </a:defRPr>
            </a:pPr>
            <a:r>
              <a:t>Iterate to great — charts, filters, production hardening</a:t>
            </a:r>
          </a:p>
        </p:txBody>
      </p:sp>
      <p:sp>
        <p:nvSpPr>
          <p:cNvPr id="13" name="TextBox 12"/>
          <p:cNvSpPr txBox="1"/>
          <p:nvPr/>
        </p:nvSpPr>
        <p:spPr>
          <a:xfrm>
            <a:off x="731520" y="4937760"/>
            <a:ext cx="1645920" cy="365760"/>
          </a:xfrm>
          <a:prstGeom prst="rect">
            <a:avLst/>
          </a:prstGeom>
          <a:noFill/>
        </p:spPr>
        <p:txBody>
          <a:bodyPr wrap="square">
            <a:spAutoFit/>
          </a:bodyPr>
          <a:lstStyle/>
          <a:p>
            <a:pPr>
              <a:defRPr sz="1800" b="1">
                <a:solidFill>
                  <a:srgbClr val="00D4AA"/>
                </a:solidFill>
              </a:defRPr>
            </a:pPr>
            <a:r>
              <a:t>Exercise 5:</a:t>
            </a:r>
          </a:p>
        </p:txBody>
      </p:sp>
      <p:sp>
        <p:nvSpPr>
          <p:cNvPr id="14" name="TextBox 13"/>
          <p:cNvSpPr txBox="1"/>
          <p:nvPr/>
        </p:nvSpPr>
        <p:spPr>
          <a:xfrm>
            <a:off x="2468880" y="4937760"/>
            <a:ext cx="7772400" cy="640080"/>
          </a:xfrm>
          <a:prstGeom prst="rect">
            <a:avLst/>
          </a:prstGeom>
          <a:noFill/>
        </p:spPr>
        <p:txBody>
          <a:bodyPr wrap="square">
            <a:spAutoFit/>
          </a:bodyPr>
          <a:lstStyle/>
          <a:p>
            <a:pPr>
              <a:defRPr sz="1600">
                <a:solidFill>
                  <a:srgbClr val="FFFFFF"/>
                </a:solidFill>
              </a:defRPr>
            </a:pPr>
            <a:r>
              <a:t>Git workflow in natural language — branches, commits, and merges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457200"/>
            <a:ext cx="11277295" cy="731520"/>
          </a:xfrm>
          <a:prstGeom prst="rect">
            <a:avLst/>
          </a:prstGeom>
          <a:noFill/>
        </p:spPr>
        <p:txBody>
          <a:bodyPr wrap="none">
            <a:spAutoFit/>
          </a:bodyPr>
          <a:lstStyle/>
          <a:p>
            <a:pPr algn="ctr">
              <a:defRPr sz="3600" b="1">
                <a:solidFill>
                  <a:srgbClr val="FFFFFF"/>
                </a:solidFill>
              </a:defRPr>
            </a:pPr>
            <a:r>
              <a:t>From Intern to Teammate</a:t>
            </a:r>
          </a:p>
        </p:txBody>
      </p:sp>
      <p:sp>
        <p:nvSpPr>
          <p:cNvPr id="3" name="Rectangle 2"/>
          <p:cNvSpPr/>
          <p:nvPr/>
        </p:nvSpPr>
        <p:spPr>
          <a:xfrm>
            <a:off x="6077559" y="1371600"/>
            <a:ext cx="36576" cy="45720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463040"/>
            <a:ext cx="5364327" cy="731520"/>
          </a:xfrm>
          <a:prstGeom prst="rect">
            <a:avLst/>
          </a:prstGeom>
          <a:noFill/>
        </p:spPr>
        <p:txBody>
          <a:bodyPr wrap="none">
            <a:spAutoFit/>
          </a:bodyPr>
          <a:lstStyle/>
          <a:p>
            <a:pPr algn="ctr">
              <a:defRPr sz="2800" b="1">
                <a:solidFill>
                  <a:srgbClr val="E86B4A"/>
                </a:solidFill>
              </a:defRPr>
            </a:pPr>
            <a:r>
              <a:t>Before</a:t>
            </a:r>
          </a:p>
        </p:txBody>
      </p:sp>
      <p:sp>
        <p:nvSpPr>
          <p:cNvPr id="5" name="TextBox 4"/>
          <p:cNvSpPr txBox="1"/>
          <p:nvPr/>
        </p:nvSpPr>
        <p:spPr>
          <a:xfrm>
            <a:off x="457200" y="2286000"/>
            <a:ext cx="5364327" cy="3657600"/>
          </a:xfrm>
          <a:prstGeom prst="rect">
            <a:avLst/>
          </a:prstGeom>
          <a:noFill/>
        </p:spPr>
        <p:txBody>
          <a:bodyPr wrap="square">
            <a:spAutoFit/>
          </a:bodyPr>
          <a:lstStyle/>
          <a:p>
            <a:pPr>
              <a:spcAft>
                <a:spcPts val="1200"/>
              </a:spcAft>
              <a:defRPr sz="1800">
                <a:solidFill>
                  <a:srgbClr val="FFFFFF"/>
                </a:solidFill>
              </a:defRPr>
            </a:pPr>
            <a:r>
              <a:t>  Copy-paste code from ChatGPT</a:t>
            </a:r>
          </a:p>
          <a:p>
            <a:pPr>
              <a:spcAft>
                <a:spcPts val="1200"/>
              </a:spcAft>
              <a:defRPr sz="1800">
                <a:solidFill>
                  <a:srgbClr val="FFFFFF"/>
                </a:solidFill>
              </a:defRPr>
            </a:pPr>
            <a:r>
              <a:t>  Context lost every conversation</a:t>
            </a:r>
          </a:p>
          <a:p>
            <a:pPr>
              <a:spcAft>
                <a:spcPts val="1200"/>
              </a:spcAft>
              <a:defRPr sz="1800">
                <a:solidFill>
                  <a:srgbClr val="FFFFFF"/>
                </a:solidFill>
              </a:defRPr>
            </a:pPr>
            <a:r>
              <a:t>  Manual file editing after suggestions</a:t>
            </a:r>
          </a:p>
          <a:p>
            <a:pPr>
              <a:spcAft>
                <a:spcPts val="1200"/>
              </a:spcAft>
              <a:defRPr sz="1800">
                <a:solidFill>
                  <a:srgbClr val="FFFFFF"/>
                </a:solidFill>
              </a:defRPr>
            </a:pPr>
            <a:r>
              <a:t>  No memory of your codebase</a:t>
            </a:r>
          </a:p>
          <a:p>
            <a:pPr>
              <a:spcAft>
                <a:spcPts val="1200"/>
              </a:spcAft>
              <a:defRPr sz="1800">
                <a:solidFill>
                  <a:srgbClr val="FFFFFF"/>
                </a:solidFill>
              </a:defRPr>
            </a:pPr>
            <a:r>
              <a:t>  Generic responses, no project awareness</a:t>
            </a:r>
          </a:p>
        </p:txBody>
      </p:sp>
      <p:sp>
        <p:nvSpPr>
          <p:cNvPr id="6" name="TextBox 5"/>
          <p:cNvSpPr txBox="1"/>
          <p:nvPr/>
        </p:nvSpPr>
        <p:spPr>
          <a:xfrm>
            <a:off x="6370167" y="1463040"/>
            <a:ext cx="5364327" cy="731520"/>
          </a:xfrm>
          <a:prstGeom prst="rect">
            <a:avLst/>
          </a:prstGeom>
          <a:noFill/>
        </p:spPr>
        <p:txBody>
          <a:bodyPr wrap="none">
            <a:spAutoFit/>
          </a:bodyPr>
          <a:lstStyle/>
          <a:p>
            <a:pPr algn="ctr">
              <a:defRPr sz="2800" b="1">
                <a:solidFill>
                  <a:srgbClr val="00D4AA"/>
                </a:solidFill>
              </a:defRPr>
            </a:pPr>
            <a:r>
              <a:t>After</a:t>
            </a:r>
          </a:p>
        </p:txBody>
      </p:sp>
      <p:sp>
        <p:nvSpPr>
          <p:cNvPr id="7" name="TextBox 6"/>
          <p:cNvSpPr txBox="1"/>
          <p:nvPr/>
        </p:nvSpPr>
        <p:spPr>
          <a:xfrm>
            <a:off x="6370167" y="2286000"/>
            <a:ext cx="5364327" cy="3657600"/>
          </a:xfrm>
          <a:prstGeom prst="rect">
            <a:avLst/>
          </a:prstGeom>
          <a:noFill/>
        </p:spPr>
        <p:txBody>
          <a:bodyPr wrap="square">
            <a:spAutoFit/>
          </a:bodyPr>
          <a:lstStyle/>
          <a:p>
            <a:pPr>
              <a:spcAft>
                <a:spcPts val="1200"/>
              </a:spcAft>
              <a:defRPr sz="1800">
                <a:solidFill>
                  <a:srgbClr val="FFFFFF"/>
                </a:solidFill>
              </a:defRPr>
            </a:pPr>
            <a:r>
              <a:t>  Claude Code edits files directly in your repo</a:t>
            </a:r>
          </a:p>
          <a:p>
            <a:pPr>
              <a:spcAft>
                <a:spcPts val="1200"/>
              </a:spcAft>
              <a:defRPr sz="1800">
                <a:solidFill>
                  <a:srgbClr val="FFFFFF"/>
                </a:solidFill>
              </a:defRPr>
            </a:pPr>
            <a:r>
              <a:t>  Reads your entire codebase for context</a:t>
            </a:r>
          </a:p>
          <a:p>
            <a:pPr>
              <a:spcAft>
                <a:spcPts val="1200"/>
              </a:spcAft>
              <a:defRPr sz="1800">
                <a:solidFill>
                  <a:srgbClr val="FFFFFF"/>
                </a:solidFill>
              </a:defRPr>
            </a:pPr>
            <a:r>
              <a:t>  CLAUDE.md remembers your conventions</a:t>
            </a:r>
          </a:p>
          <a:p>
            <a:pPr>
              <a:spcAft>
                <a:spcPts val="1200"/>
              </a:spcAft>
              <a:defRPr sz="1800">
                <a:solidFill>
                  <a:srgbClr val="FFFFFF"/>
                </a:solidFill>
              </a:defRPr>
            </a:pPr>
            <a:r>
              <a:t>  Git commits, branches, and PRs built-in</a:t>
            </a:r>
          </a:p>
          <a:p>
            <a:pPr>
              <a:spcAft>
                <a:spcPts val="1200"/>
              </a:spcAft>
              <a:defRPr sz="1800">
                <a:solidFill>
                  <a:srgbClr val="FFFFFF"/>
                </a:solidFill>
              </a:defRPr>
            </a:pPr>
            <a:r>
              <a:t>  Runs tests, catches errors, fixes them</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457200"/>
            <a:ext cx="11277295" cy="731520"/>
          </a:xfrm>
          <a:prstGeom prst="rect">
            <a:avLst/>
          </a:prstGeom>
          <a:noFill/>
        </p:spPr>
        <p:txBody>
          <a:bodyPr wrap="square">
            <a:spAutoFit/>
          </a:bodyPr>
          <a:lstStyle/>
          <a:p>
            <a:pPr algn="ctr">
              <a:defRPr sz="3600" b="1">
                <a:solidFill>
                  <a:srgbClr val="FFFFFF"/>
                </a:solidFill>
              </a:defRPr>
            </a:pPr>
            <a:r>
              <a:t>What Claude Code Handles vs. What Engineers Handle</a:t>
            </a:r>
          </a:p>
        </p:txBody>
      </p:sp>
      <p:sp>
        <p:nvSpPr>
          <p:cNvPr id="3" name="Rectangle 2"/>
          <p:cNvSpPr/>
          <p:nvPr/>
        </p:nvSpPr>
        <p:spPr>
          <a:xfrm>
            <a:off x="6077559" y="1371600"/>
            <a:ext cx="36576" cy="45720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463040"/>
            <a:ext cx="5364327" cy="731520"/>
          </a:xfrm>
          <a:prstGeom prst="rect">
            <a:avLst/>
          </a:prstGeom>
          <a:noFill/>
        </p:spPr>
        <p:txBody>
          <a:bodyPr wrap="none">
            <a:spAutoFit/>
          </a:bodyPr>
          <a:lstStyle/>
          <a:p>
            <a:pPr algn="ctr">
              <a:defRPr sz="2800" b="1">
                <a:solidFill>
                  <a:srgbClr val="00D4AA"/>
                </a:solidFill>
              </a:defRPr>
            </a:pPr>
            <a:r>
              <a:t>Claude Code Handles</a:t>
            </a:r>
          </a:p>
        </p:txBody>
      </p:sp>
      <p:sp>
        <p:nvSpPr>
          <p:cNvPr id="5" name="TextBox 4"/>
          <p:cNvSpPr txBox="1"/>
          <p:nvPr/>
        </p:nvSpPr>
        <p:spPr>
          <a:xfrm>
            <a:off x="457200" y="2286000"/>
            <a:ext cx="5364327" cy="3657600"/>
          </a:xfrm>
          <a:prstGeom prst="rect">
            <a:avLst/>
          </a:prstGeom>
          <a:noFill/>
        </p:spPr>
        <p:txBody>
          <a:bodyPr wrap="square">
            <a:spAutoFit/>
          </a:bodyPr>
          <a:lstStyle/>
          <a:p>
            <a:pPr>
              <a:spcAft>
                <a:spcPts val="1200"/>
              </a:spcAft>
              <a:defRPr sz="1800">
                <a:solidFill>
                  <a:srgbClr val="FFFFFF"/>
                </a:solidFill>
              </a:defRPr>
            </a:pPr>
            <a:r>
              <a:t>  File reading, searching, editing across repos</a:t>
            </a:r>
          </a:p>
          <a:p>
            <a:pPr>
              <a:spcAft>
                <a:spcPts val="1200"/>
              </a:spcAft>
              <a:defRPr sz="1800">
                <a:solidFill>
                  <a:srgbClr val="FFFFFF"/>
                </a:solidFill>
              </a:defRPr>
            </a:pPr>
            <a:r>
              <a:t>  Running tests and fixing failures</a:t>
            </a:r>
          </a:p>
          <a:p>
            <a:pPr>
              <a:spcAft>
                <a:spcPts val="1200"/>
              </a:spcAft>
              <a:defRPr sz="1800">
                <a:solidFill>
                  <a:srgbClr val="FFFFFF"/>
                </a:solidFill>
              </a:defRPr>
            </a:pPr>
            <a:r>
              <a:t>  Generating boilerplate and repetitive code</a:t>
            </a:r>
          </a:p>
          <a:p>
            <a:pPr>
              <a:spcAft>
                <a:spcPts val="1200"/>
              </a:spcAft>
              <a:defRPr sz="1800">
                <a:solidFill>
                  <a:srgbClr val="FFFFFF"/>
                </a:solidFill>
              </a:defRPr>
            </a:pPr>
            <a:r>
              <a:t>  Writing commit messages and PR descriptions</a:t>
            </a:r>
          </a:p>
          <a:p>
            <a:pPr>
              <a:spcAft>
                <a:spcPts val="1200"/>
              </a:spcAft>
              <a:defRPr sz="1800">
                <a:solidFill>
                  <a:srgbClr val="FFFFFF"/>
                </a:solidFill>
              </a:defRPr>
            </a:pPr>
            <a:r>
              <a:t>  Documentation from code analysis</a:t>
            </a:r>
          </a:p>
          <a:p>
            <a:pPr>
              <a:spcAft>
                <a:spcPts val="1200"/>
              </a:spcAft>
              <a:defRPr sz="1800">
                <a:solidFill>
                  <a:srgbClr val="FFFFFF"/>
                </a:solidFill>
              </a:defRPr>
            </a:pPr>
            <a:r>
              <a:t>  Refactoring with full codebase awareness</a:t>
            </a:r>
          </a:p>
        </p:txBody>
      </p:sp>
      <p:sp>
        <p:nvSpPr>
          <p:cNvPr id="6" name="TextBox 5"/>
          <p:cNvSpPr txBox="1"/>
          <p:nvPr/>
        </p:nvSpPr>
        <p:spPr>
          <a:xfrm>
            <a:off x="6370167" y="1463040"/>
            <a:ext cx="5364327" cy="731520"/>
          </a:xfrm>
          <a:prstGeom prst="rect">
            <a:avLst/>
          </a:prstGeom>
          <a:noFill/>
        </p:spPr>
        <p:txBody>
          <a:bodyPr wrap="none">
            <a:spAutoFit/>
          </a:bodyPr>
          <a:lstStyle/>
          <a:p>
            <a:pPr algn="ctr">
              <a:defRPr sz="2800" b="1">
                <a:solidFill>
                  <a:srgbClr val="E86B4A"/>
                </a:solidFill>
              </a:defRPr>
            </a:pPr>
            <a:r>
              <a:t>Engineers Handle</a:t>
            </a:r>
          </a:p>
        </p:txBody>
      </p:sp>
      <p:sp>
        <p:nvSpPr>
          <p:cNvPr id="7" name="TextBox 6"/>
          <p:cNvSpPr txBox="1"/>
          <p:nvPr/>
        </p:nvSpPr>
        <p:spPr>
          <a:xfrm>
            <a:off x="6370167" y="2286000"/>
            <a:ext cx="5364327" cy="3657600"/>
          </a:xfrm>
          <a:prstGeom prst="rect">
            <a:avLst/>
          </a:prstGeom>
          <a:noFill/>
        </p:spPr>
        <p:txBody>
          <a:bodyPr wrap="square">
            <a:spAutoFit/>
          </a:bodyPr>
          <a:lstStyle/>
          <a:p>
            <a:pPr>
              <a:spcAft>
                <a:spcPts val="1200"/>
              </a:spcAft>
              <a:defRPr sz="1800">
                <a:solidFill>
                  <a:srgbClr val="FFFFFF"/>
                </a:solidFill>
              </a:defRPr>
            </a:pPr>
            <a:r>
              <a:t>  Architecture decisions and system design</a:t>
            </a:r>
          </a:p>
          <a:p>
            <a:pPr>
              <a:spcAft>
                <a:spcPts val="1200"/>
              </a:spcAft>
              <a:defRPr sz="1800">
                <a:solidFill>
                  <a:srgbClr val="FFFFFF"/>
                </a:solidFill>
              </a:defRPr>
            </a:pPr>
            <a:r>
              <a:t>  Reviewing AI-generated code for correctness</a:t>
            </a:r>
          </a:p>
          <a:p>
            <a:pPr>
              <a:spcAft>
                <a:spcPts val="1200"/>
              </a:spcAft>
              <a:defRPr sz="1800">
                <a:solidFill>
                  <a:srgbClr val="FFFFFF"/>
                </a:solidFill>
              </a:defRPr>
            </a:pPr>
            <a:r>
              <a:t>  Defining requirements and acceptance criteria</a:t>
            </a:r>
          </a:p>
          <a:p>
            <a:pPr>
              <a:spcAft>
                <a:spcPts val="1200"/>
              </a:spcAft>
              <a:defRPr sz="1800">
                <a:solidFill>
                  <a:srgbClr val="FFFFFF"/>
                </a:solidFill>
              </a:defRPr>
            </a:pPr>
            <a:r>
              <a:t>  Security review and threat modeling</a:t>
            </a:r>
          </a:p>
          <a:p>
            <a:pPr>
              <a:spcAft>
                <a:spcPts val="1200"/>
              </a:spcAft>
              <a:defRPr sz="1800">
                <a:solidFill>
                  <a:srgbClr val="FFFFFF"/>
                </a:solidFill>
              </a:defRPr>
            </a:pPr>
            <a:r>
              <a:t>  Production deployment decisions</a:t>
            </a:r>
          </a:p>
          <a:p>
            <a:pPr>
              <a:spcAft>
                <a:spcPts val="1200"/>
              </a:spcAft>
              <a:defRPr sz="1800">
                <a:solidFill>
                  <a:srgbClr val="FFFFFF"/>
                </a:solidFill>
              </a:defRPr>
            </a:pPr>
            <a:r>
              <a:t>  Choosing the right approach for the problem</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457200"/>
            <a:ext cx="11277295" cy="731520"/>
          </a:xfrm>
          <a:prstGeom prst="rect">
            <a:avLst/>
          </a:prstGeom>
          <a:noFill/>
        </p:spPr>
        <p:txBody>
          <a:bodyPr wrap="none">
            <a:spAutoFit/>
          </a:bodyPr>
          <a:lstStyle/>
          <a:p>
            <a:pPr algn="ctr">
              <a:defRPr sz="3600" b="1">
                <a:solidFill>
                  <a:srgbClr val="FFFFFF"/>
                </a:solidFill>
              </a:defRPr>
            </a:pPr>
            <a:r>
              <a:t>Claude Code vs. The Competition</a:t>
            </a:r>
          </a:p>
        </p:txBody>
      </p:sp>
      <p:sp>
        <p:nvSpPr>
          <p:cNvPr id="3" name="Rectangle 2"/>
          <p:cNvSpPr/>
          <p:nvPr/>
        </p:nvSpPr>
        <p:spPr>
          <a:xfrm>
            <a:off x="6077559" y="1371600"/>
            <a:ext cx="36576" cy="45720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463040"/>
            <a:ext cx="5364327" cy="731520"/>
          </a:xfrm>
          <a:prstGeom prst="rect">
            <a:avLst/>
          </a:prstGeom>
          <a:noFill/>
        </p:spPr>
        <p:txBody>
          <a:bodyPr wrap="none">
            <a:spAutoFit/>
          </a:bodyPr>
          <a:lstStyle/>
          <a:p>
            <a:pPr algn="ctr">
              <a:defRPr sz="2800" b="1">
                <a:solidFill>
                  <a:srgbClr val="00D4AA"/>
                </a:solidFill>
              </a:defRPr>
            </a:pPr>
            <a:r>
              <a:t>Claude Code</a:t>
            </a:r>
          </a:p>
        </p:txBody>
      </p:sp>
      <p:sp>
        <p:nvSpPr>
          <p:cNvPr id="5" name="TextBox 4"/>
          <p:cNvSpPr txBox="1"/>
          <p:nvPr/>
        </p:nvSpPr>
        <p:spPr>
          <a:xfrm>
            <a:off x="457200" y="2286000"/>
            <a:ext cx="5364327" cy="3657600"/>
          </a:xfrm>
          <a:prstGeom prst="rect">
            <a:avLst/>
          </a:prstGeom>
          <a:noFill/>
        </p:spPr>
        <p:txBody>
          <a:bodyPr wrap="square">
            <a:spAutoFit/>
          </a:bodyPr>
          <a:lstStyle/>
          <a:p>
            <a:pPr>
              <a:spcAft>
                <a:spcPts val="1200"/>
              </a:spcAft>
              <a:defRPr sz="1800">
                <a:solidFill>
                  <a:srgbClr val="FFFFFF"/>
                </a:solidFill>
              </a:defRPr>
            </a:pPr>
            <a:r>
              <a:t>  Full terminal access — runs commands directly</a:t>
            </a:r>
          </a:p>
          <a:p>
            <a:pPr>
              <a:spcAft>
                <a:spcPts val="1200"/>
              </a:spcAft>
              <a:defRPr sz="1800">
                <a:solidFill>
                  <a:srgbClr val="FFFFFF"/>
                </a:solidFill>
              </a:defRPr>
            </a:pPr>
            <a:r>
              <a:t>  Reads and edits actual files in your repo</a:t>
            </a:r>
          </a:p>
          <a:p>
            <a:pPr>
              <a:spcAft>
                <a:spcPts val="1200"/>
              </a:spcAft>
              <a:defRPr sz="1800">
                <a:solidFill>
                  <a:srgbClr val="FFFFFF"/>
                </a:solidFill>
              </a:defRPr>
            </a:pPr>
            <a:r>
              <a:t>  Git integration: commits, branches, PRs</a:t>
            </a:r>
          </a:p>
          <a:p>
            <a:pPr>
              <a:spcAft>
                <a:spcPts val="1200"/>
              </a:spcAft>
              <a:defRPr sz="1800">
                <a:solidFill>
                  <a:srgbClr val="FFFFFF"/>
                </a:solidFill>
              </a:defRPr>
            </a:pPr>
            <a:r>
              <a:t>  CLAUDE.md for persistent project memory</a:t>
            </a:r>
          </a:p>
          <a:p>
            <a:pPr>
              <a:spcAft>
                <a:spcPts val="1200"/>
              </a:spcAft>
              <a:defRPr sz="1800">
                <a:solidFill>
                  <a:srgbClr val="FFFFFF"/>
                </a:solidFill>
              </a:defRPr>
            </a:pPr>
            <a:r>
              <a:t>  MCP for unlimited tool extensibility</a:t>
            </a:r>
          </a:p>
          <a:p>
            <a:pPr>
              <a:spcAft>
                <a:spcPts val="1200"/>
              </a:spcAft>
              <a:defRPr sz="1800">
                <a:solidFill>
                  <a:srgbClr val="FFFFFF"/>
                </a:solidFill>
              </a:defRPr>
            </a:pPr>
            <a:r>
              <a:t>  Subagents for parallel task execution</a:t>
            </a:r>
          </a:p>
        </p:txBody>
      </p:sp>
      <p:sp>
        <p:nvSpPr>
          <p:cNvPr id="6" name="TextBox 5"/>
          <p:cNvSpPr txBox="1"/>
          <p:nvPr/>
        </p:nvSpPr>
        <p:spPr>
          <a:xfrm>
            <a:off x="6370167" y="1463040"/>
            <a:ext cx="5364327" cy="731520"/>
          </a:xfrm>
          <a:prstGeom prst="rect">
            <a:avLst/>
          </a:prstGeom>
          <a:noFill/>
        </p:spPr>
        <p:txBody>
          <a:bodyPr wrap="none">
            <a:spAutoFit/>
          </a:bodyPr>
          <a:lstStyle/>
          <a:p>
            <a:pPr algn="ctr">
              <a:defRPr sz="2800" b="1">
                <a:solidFill>
                  <a:srgbClr val="E86B4A"/>
                </a:solidFill>
              </a:defRPr>
            </a:pPr>
            <a:r>
              <a:t>Other AI Assistants</a:t>
            </a:r>
          </a:p>
        </p:txBody>
      </p:sp>
      <p:sp>
        <p:nvSpPr>
          <p:cNvPr id="7" name="TextBox 6"/>
          <p:cNvSpPr txBox="1"/>
          <p:nvPr/>
        </p:nvSpPr>
        <p:spPr>
          <a:xfrm>
            <a:off x="6370167" y="2286000"/>
            <a:ext cx="5364327" cy="3657600"/>
          </a:xfrm>
          <a:prstGeom prst="rect">
            <a:avLst/>
          </a:prstGeom>
          <a:noFill/>
        </p:spPr>
        <p:txBody>
          <a:bodyPr wrap="square">
            <a:spAutoFit/>
          </a:bodyPr>
          <a:lstStyle/>
          <a:p>
            <a:pPr>
              <a:spcAft>
                <a:spcPts val="1200"/>
              </a:spcAft>
              <a:defRPr sz="1800">
                <a:solidFill>
                  <a:srgbClr val="FFFFFF"/>
                </a:solidFill>
              </a:defRPr>
            </a:pPr>
            <a:r>
              <a:t>  Suggestions in sidebar — you copy/paste</a:t>
            </a:r>
          </a:p>
          <a:p>
            <a:pPr>
              <a:spcAft>
                <a:spcPts val="1200"/>
              </a:spcAft>
              <a:defRPr sz="1800">
                <a:solidFill>
                  <a:srgbClr val="FFFFFF"/>
                </a:solidFill>
              </a:defRPr>
            </a:pPr>
            <a:r>
              <a:t>  Limited to open file or selected code</a:t>
            </a:r>
          </a:p>
          <a:p>
            <a:pPr>
              <a:spcAft>
                <a:spcPts val="1200"/>
              </a:spcAft>
              <a:defRPr sz="1800">
                <a:solidFill>
                  <a:srgbClr val="FFFFFF"/>
                </a:solidFill>
              </a:defRPr>
            </a:pPr>
            <a:r>
              <a:t>  Manual git workflow</a:t>
            </a:r>
          </a:p>
          <a:p>
            <a:pPr>
              <a:spcAft>
                <a:spcPts val="1200"/>
              </a:spcAft>
              <a:defRPr sz="1800">
                <a:solidFill>
                  <a:srgbClr val="FFFFFF"/>
                </a:solidFill>
              </a:defRPr>
            </a:pPr>
            <a:r>
              <a:t>  No persistent project configuration</a:t>
            </a:r>
          </a:p>
          <a:p>
            <a:pPr>
              <a:spcAft>
                <a:spcPts val="1200"/>
              </a:spcAft>
              <a:defRPr sz="1800">
                <a:solidFill>
                  <a:srgbClr val="FFFFFF"/>
                </a:solidFill>
              </a:defRPr>
            </a:pPr>
            <a:r>
              <a:t>  Fixed feature set from vendor</a:t>
            </a:r>
          </a:p>
          <a:p>
            <a:pPr>
              <a:spcAft>
                <a:spcPts val="1200"/>
              </a:spcAft>
              <a:defRPr sz="1800">
                <a:solidFill>
                  <a:srgbClr val="FFFFFF"/>
                </a:solidFill>
              </a:defRPr>
            </a:pPr>
            <a:r>
              <a:t>  Single-threaded conversation only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11277295" cy="822960"/>
          </a:xfrm>
          <a:prstGeom prst="rect">
            <a:avLst/>
          </a:prstGeom>
          <a:noFill/>
        </p:spPr>
        <p:txBody>
          <a:bodyPr wrap="none">
            <a:spAutoFit/>
          </a:bodyPr>
          <a:lstStyle/>
          <a:p>
            <a:pPr>
              <a:defRPr sz="4000" b="1">
                <a:solidFill>
                  <a:srgbClr val="FFFFFF"/>
                </a:solidFill>
              </a:defRPr>
            </a:pPr>
            <a:r>
              <a:t>The Memory Architecture of AI</a:t>
            </a:r>
          </a:p>
        </p:txBody>
      </p:sp>
      <p:sp>
        <p:nvSpPr>
          <p:cNvPr id="3" name="Rectangle 2"/>
          <p:cNvSpPr/>
          <p:nvPr/>
        </p:nvSpPr>
        <p:spPr>
          <a:xfrm>
            <a:off x="457200" y="1234440"/>
            <a:ext cx="1828800" cy="3657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1828800"/>
            <a:ext cx="3200400" cy="822960"/>
          </a:xfrm>
          <a:prstGeom prst="rect">
            <a:avLst/>
          </a:prstGeom>
          <a:noFill/>
        </p:spPr>
        <p:txBody>
          <a:bodyPr wrap="square">
            <a:spAutoFit/>
          </a:bodyPr>
          <a:lstStyle/>
          <a:p>
            <a:pPr algn="r">
              <a:defRPr sz="2200" b="1">
                <a:solidFill>
                  <a:srgbClr val="FF6B6B"/>
                </a:solidFill>
              </a:defRPr>
            </a:pPr>
            <a:r>
              <a:t>Working memory</a:t>
            </a:r>
          </a:p>
        </p:txBody>
      </p:sp>
      <p:sp>
        <p:nvSpPr>
          <p:cNvPr id="5" name="TextBox 4"/>
          <p:cNvSpPr txBox="1"/>
          <p:nvPr/>
        </p:nvSpPr>
        <p:spPr>
          <a:xfrm>
            <a:off x="4297680" y="1828800"/>
            <a:ext cx="731520" cy="822960"/>
          </a:xfrm>
          <a:prstGeom prst="rect">
            <a:avLst/>
          </a:prstGeom>
          <a:noFill/>
        </p:spPr>
        <p:txBody>
          <a:bodyPr wrap="none">
            <a:spAutoFit/>
          </a:bodyPr>
          <a:lstStyle/>
          <a:p>
            <a:pPr algn="ctr">
              <a:defRPr sz="2800">
                <a:solidFill>
                  <a:srgbClr val="8A8F98"/>
                </a:solidFill>
              </a:defRPr>
            </a:pPr>
            <a:r>
              <a:t>→</a:t>
            </a:r>
          </a:p>
        </p:txBody>
      </p:sp>
      <p:sp>
        <p:nvSpPr>
          <p:cNvPr id="6" name="TextBox 5"/>
          <p:cNvSpPr txBox="1"/>
          <p:nvPr/>
        </p:nvSpPr>
        <p:spPr>
          <a:xfrm>
            <a:off x="5212080" y="1828800"/>
            <a:ext cx="3657600" cy="822960"/>
          </a:xfrm>
          <a:prstGeom prst="rect">
            <a:avLst/>
          </a:prstGeom>
          <a:noFill/>
        </p:spPr>
        <p:txBody>
          <a:bodyPr wrap="square">
            <a:spAutoFit/>
          </a:bodyPr>
          <a:lstStyle/>
          <a:p>
            <a:pPr algn="l">
              <a:defRPr sz="2200" b="1">
                <a:solidFill>
                  <a:srgbClr val="00D4AA"/>
                </a:solidFill>
              </a:defRPr>
            </a:pPr>
            <a:r>
              <a:t>Context window</a:t>
            </a:r>
          </a:p>
        </p:txBody>
      </p:sp>
      <p:sp>
        <p:nvSpPr>
          <p:cNvPr id="7" name="TextBox 6"/>
          <p:cNvSpPr txBox="1"/>
          <p:nvPr/>
        </p:nvSpPr>
        <p:spPr>
          <a:xfrm>
            <a:off x="914400" y="2651760"/>
            <a:ext cx="3200400" cy="822960"/>
          </a:xfrm>
          <a:prstGeom prst="rect">
            <a:avLst/>
          </a:prstGeom>
          <a:noFill/>
        </p:spPr>
        <p:txBody>
          <a:bodyPr wrap="square">
            <a:spAutoFit/>
          </a:bodyPr>
          <a:lstStyle/>
          <a:p>
            <a:pPr algn="r">
              <a:defRPr sz="2200" b="1">
                <a:solidFill>
                  <a:srgbClr val="FF6B6B"/>
                </a:solidFill>
              </a:defRPr>
            </a:pPr>
            <a:r>
              <a:t>Short-term memory</a:t>
            </a:r>
          </a:p>
        </p:txBody>
      </p:sp>
      <p:sp>
        <p:nvSpPr>
          <p:cNvPr id="8" name="TextBox 7"/>
          <p:cNvSpPr txBox="1"/>
          <p:nvPr/>
        </p:nvSpPr>
        <p:spPr>
          <a:xfrm>
            <a:off x="4297680" y="2651760"/>
            <a:ext cx="731520" cy="822960"/>
          </a:xfrm>
          <a:prstGeom prst="rect">
            <a:avLst/>
          </a:prstGeom>
          <a:noFill/>
        </p:spPr>
        <p:txBody>
          <a:bodyPr wrap="none">
            <a:spAutoFit/>
          </a:bodyPr>
          <a:lstStyle/>
          <a:p>
            <a:pPr algn="ctr">
              <a:defRPr sz="2800">
                <a:solidFill>
                  <a:srgbClr val="8A8F98"/>
                </a:solidFill>
              </a:defRPr>
            </a:pPr>
            <a:r>
              <a:t>→</a:t>
            </a:r>
          </a:p>
        </p:txBody>
      </p:sp>
      <p:sp>
        <p:nvSpPr>
          <p:cNvPr id="9" name="TextBox 8"/>
          <p:cNvSpPr txBox="1"/>
          <p:nvPr/>
        </p:nvSpPr>
        <p:spPr>
          <a:xfrm>
            <a:off x="5212080" y="2651760"/>
            <a:ext cx="3657600" cy="822960"/>
          </a:xfrm>
          <a:prstGeom prst="rect">
            <a:avLst/>
          </a:prstGeom>
          <a:noFill/>
        </p:spPr>
        <p:txBody>
          <a:bodyPr wrap="square">
            <a:spAutoFit/>
          </a:bodyPr>
          <a:lstStyle/>
          <a:p>
            <a:pPr algn="l">
              <a:defRPr sz="2200" b="1">
                <a:solidFill>
                  <a:srgbClr val="00D4AA"/>
                </a:solidFill>
              </a:defRPr>
            </a:pPr>
            <a:r>
              <a:t>Session history</a:t>
            </a:r>
          </a:p>
        </p:txBody>
      </p:sp>
      <p:sp>
        <p:nvSpPr>
          <p:cNvPr id="10" name="TextBox 9"/>
          <p:cNvSpPr txBox="1"/>
          <p:nvPr/>
        </p:nvSpPr>
        <p:spPr>
          <a:xfrm>
            <a:off x="914400" y="3474720"/>
            <a:ext cx="3200400" cy="822960"/>
          </a:xfrm>
          <a:prstGeom prst="rect">
            <a:avLst/>
          </a:prstGeom>
          <a:noFill/>
        </p:spPr>
        <p:txBody>
          <a:bodyPr wrap="square">
            <a:spAutoFit/>
          </a:bodyPr>
          <a:lstStyle/>
          <a:p>
            <a:pPr algn="r">
              <a:defRPr sz="2200" b="1">
                <a:solidFill>
                  <a:srgbClr val="FF6B6B"/>
                </a:solidFill>
              </a:defRPr>
            </a:pPr>
            <a:r>
              <a:t>Long-term memory</a:t>
            </a:r>
          </a:p>
        </p:txBody>
      </p:sp>
      <p:sp>
        <p:nvSpPr>
          <p:cNvPr id="11" name="TextBox 10"/>
          <p:cNvSpPr txBox="1"/>
          <p:nvPr/>
        </p:nvSpPr>
        <p:spPr>
          <a:xfrm>
            <a:off x="4297680" y="3474720"/>
            <a:ext cx="731520" cy="822960"/>
          </a:xfrm>
          <a:prstGeom prst="rect">
            <a:avLst/>
          </a:prstGeom>
          <a:noFill/>
        </p:spPr>
        <p:txBody>
          <a:bodyPr wrap="none">
            <a:spAutoFit/>
          </a:bodyPr>
          <a:lstStyle/>
          <a:p>
            <a:pPr algn="ctr">
              <a:defRPr sz="2800">
                <a:solidFill>
                  <a:srgbClr val="8A8F98"/>
                </a:solidFill>
              </a:defRPr>
            </a:pPr>
            <a:r>
              <a:t>→</a:t>
            </a:r>
          </a:p>
        </p:txBody>
      </p:sp>
      <p:sp>
        <p:nvSpPr>
          <p:cNvPr id="12" name="TextBox 11"/>
          <p:cNvSpPr txBox="1"/>
          <p:nvPr/>
        </p:nvSpPr>
        <p:spPr>
          <a:xfrm>
            <a:off x="5212080" y="3474720"/>
            <a:ext cx="3657600" cy="822960"/>
          </a:xfrm>
          <a:prstGeom prst="rect">
            <a:avLst/>
          </a:prstGeom>
          <a:noFill/>
        </p:spPr>
        <p:txBody>
          <a:bodyPr wrap="square">
            <a:spAutoFit/>
          </a:bodyPr>
          <a:lstStyle/>
          <a:p>
            <a:pPr algn="l">
              <a:defRPr sz="2200" b="1">
                <a:solidFill>
                  <a:srgbClr val="00D4AA"/>
                </a:solidFill>
              </a:defRPr>
            </a:pPr>
            <a:r>
              <a:t>CLAUDE.md</a:t>
            </a:r>
          </a:p>
        </p:txBody>
      </p:sp>
      <p:sp>
        <p:nvSpPr>
          <p:cNvPr id="13" name="TextBox 12"/>
          <p:cNvSpPr txBox="1"/>
          <p:nvPr/>
        </p:nvSpPr>
        <p:spPr>
          <a:xfrm>
            <a:off x="914400" y="4297680"/>
            <a:ext cx="3200400" cy="822960"/>
          </a:xfrm>
          <a:prstGeom prst="rect">
            <a:avLst/>
          </a:prstGeom>
          <a:noFill/>
        </p:spPr>
        <p:txBody>
          <a:bodyPr wrap="square">
            <a:spAutoFit/>
          </a:bodyPr>
          <a:lstStyle/>
          <a:p>
            <a:pPr algn="r">
              <a:defRPr sz="2200" b="1">
                <a:solidFill>
                  <a:srgbClr val="FF6B6B"/>
                </a:solidFill>
              </a:defRPr>
            </a:pPr>
            <a:r>
              <a:t>Muscle memory</a:t>
            </a:r>
          </a:p>
        </p:txBody>
      </p:sp>
      <p:sp>
        <p:nvSpPr>
          <p:cNvPr id="14" name="TextBox 13"/>
          <p:cNvSpPr txBox="1"/>
          <p:nvPr/>
        </p:nvSpPr>
        <p:spPr>
          <a:xfrm>
            <a:off x="4297680" y="4297680"/>
            <a:ext cx="731520" cy="822960"/>
          </a:xfrm>
          <a:prstGeom prst="rect">
            <a:avLst/>
          </a:prstGeom>
          <a:noFill/>
        </p:spPr>
        <p:txBody>
          <a:bodyPr wrap="none">
            <a:spAutoFit/>
          </a:bodyPr>
          <a:lstStyle/>
          <a:p>
            <a:pPr algn="ctr">
              <a:defRPr sz="2800">
                <a:solidFill>
                  <a:srgbClr val="8A8F98"/>
                </a:solidFill>
              </a:defRPr>
            </a:pPr>
            <a:r>
              <a:t>→</a:t>
            </a:r>
          </a:p>
        </p:txBody>
      </p:sp>
      <p:sp>
        <p:nvSpPr>
          <p:cNvPr id="15" name="TextBox 14"/>
          <p:cNvSpPr txBox="1"/>
          <p:nvPr/>
        </p:nvSpPr>
        <p:spPr>
          <a:xfrm>
            <a:off x="5212080" y="4297680"/>
            <a:ext cx="3657600" cy="822960"/>
          </a:xfrm>
          <a:prstGeom prst="rect">
            <a:avLst/>
          </a:prstGeom>
          <a:noFill/>
        </p:spPr>
        <p:txBody>
          <a:bodyPr wrap="square">
            <a:spAutoFit/>
          </a:bodyPr>
          <a:lstStyle/>
          <a:p>
            <a:pPr algn="l">
              <a:defRPr sz="2200" b="1">
                <a:solidFill>
                  <a:srgbClr val="00D4AA"/>
                </a:solidFill>
              </a:defRPr>
            </a:pPr>
            <a:r>
              <a:t>Skills &amp; commands</a:t>
            </a:r>
          </a:p>
        </p:txBody>
      </p:sp>
      <p:sp>
        <p:nvSpPr>
          <p:cNvPr id="16" name="TextBox 15"/>
          <p:cNvSpPr txBox="1"/>
          <p:nvPr/>
        </p:nvSpPr>
        <p:spPr>
          <a:xfrm>
            <a:off x="1371600" y="5303520"/>
            <a:ext cx="8229600" cy="548640"/>
          </a:xfrm>
          <a:prstGeom prst="rect">
            <a:avLst/>
          </a:prstGeom>
          <a:noFill/>
        </p:spPr>
        <p:txBody>
          <a:bodyPr wrap="square">
            <a:spAutoFit/>
          </a:bodyPr>
          <a:lstStyle/>
          <a:p>
            <a:pPr algn="ctr">
              <a:defRPr sz="1600">
                <a:solidFill>
                  <a:srgbClr val="8A8F98"/>
                </a:solidFill>
              </a:defRPr>
            </a:pPr>
            <a:r>
              <a:t>Everything today teaches you how to manage these four memory layers.</a:t>
            </a:r>
          </a:p>
        </p:txBody>
      </p:sp>
      <p:sp>
        <p:nvSpPr>
          <p:cNvPr id="17" name="TextBox 16"/>
          <p:cNvSpPr txBox="1"/>
          <p:nvPr/>
        </p:nvSpPr>
        <p:spPr>
          <a:xfrm>
            <a:off x="4297680" y="1828800"/>
            <a:ext cx="731520" cy="822960"/>
          </a:xfrm>
          <a:prstGeom prst="rect">
            <a:avLst/>
          </a:prstGeom>
          <a:noFill/>
        </p:spPr>
        <p:txBody>
          <a:bodyPr wrap="none">
            <a:spAutoFit/>
          </a:bodyPr>
          <a:lstStyle/>
          <a:p>
            <a:pPr algn="ctr">
              <a:defRPr sz="2800">
                <a:solidFill>
                  <a:srgbClr val="8A8F98"/>
                </a:solidFill>
              </a:defRPr>
            </a:pPr>
            <a:r>
              <a:t>→</a:t>
            </a:r>
          </a:p>
        </p:txBody>
      </p:sp>
      <p:sp>
        <p:nvSpPr>
          <p:cNvPr id="18" name="TextBox 17"/>
          <p:cNvSpPr txBox="1"/>
          <p:nvPr/>
        </p:nvSpPr>
        <p:spPr>
          <a:xfrm>
            <a:off x="5212080" y="1828800"/>
            <a:ext cx="3657600" cy="822960"/>
          </a:xfrm>
          <a:prstGeom prst="rect">
            <a:avLst/>
          </a:prstGeom>
          <a:noFill/>
        </p:spPr>
        <p:txBody>
          <a:bodyPr wrap="square">
            <a:spAutoFit/>
          </a:bodyPr>
          <a:lstStyle/>
          <a:p>
            <a:pPr algn="l">
              <a:defRPr sz="2200" b="1">
                <a:solidFill>
                  <a:srgbClr val="00D4AA"/>
                </a:solidFill>
              </a:defRPr>
            </a:pPr>
            <a:r>
              <a:t>Context window</a:t>
            </a:r>
          </a:p>
        </p:txBody>
      </p:sp>
      <p:sp>
        <p:nvSpPr>
          <p:cNvPr id="19" name="TextBox 18"/>
          <p:cNvSpPr txBox="1"/>
          <p:nvPr/>
        </p:nvSpPr>
        <p:spPr>
          <a:xfrm>
            <a:off x="914400" y="2651760"/>
            <a:ext cx="3200400" cy="822960"/>
          </a:xfrm>
          <a:prstGeom prst="rect">
            <a:avLst/>
          </a:prstGeom>
          <a:noFill/>
        </p:spPr>
        <p:txBody>
          <a:bodyPr wrap="square">
            <a:spAutoFit/>
          </a:bodyPr>
          <a:lstStyle/>
          <a:p>
            <a:pPr algn="r">
              <a:defRPr sz="2200" b="1">
                <a:solidFill>
                  <a:srgbClr val="FF6B6B"/>
                </a:solidFill>
              </a:defRPr>
            </a:pPr>
            <a:r>
              <a:t>Short-term memory</a:t>
            </a:r>
          </a:p>
        </p:txBody>
      </p:sp>
      <p:sp>
        <p:nvSpPr>
          <p:cNvPr id="20" name="TextBox 19"/>
          <p:cNvSpPr txBox="1"/>
          <p:nvPr/>
        </p:nvSpPr>
        <p:spPr>
          <a:xfrm>
            <a:off x="4297680" y="2651760"/>
            <a:ext cx="731520" cy="822960"/>
          </a:xfrm>
          <a:prstGeom prst="rect">
            <a:avLst/>
          </a:prstGeom>
          <a:noFill/>
        </p:spPr>
        <p:txBody>
          <a:bodyPr wrap="none">
            <a:spAutoFit/>
          </a:bodyPr>
          <a:lstStyle/>
          <a:p>
            <a:pPr algn="ctr">
              <a:defRPr sz="2800">
                <a:solidFill>
                  <a:srgbClr val="8A8F98"/>
                </a:solidFill>
              </a:defRPr>
            </a:pPr>
            <a:r>
              <a:t>→</a:t>
            </a:r>
          </a:p>
        </p:txBody>
      </p:sp>
      <p:sp>
        <p:nvSpPr>
          <p:cNvPr id="21" name="TextBox 20"/>
          <p:cNvSpPr txBox="1"/>
          <p:nvPr/>
        </p:nvSpPr>
        <p:spPr>
          <a:xfrm>
            <a:off x="5212080" y="2651760"/>
            <a:ext cx="3657600" cy="822960"/>
          </a:xfrm>
          <a:prstGeom prst="rect">
            <a:avLst/>
          </a:prstGeom>
          <a:noFill/>
        </p:spPr>
        <p:txBody>
          <a:bodyPr wrap="square">
            <a:spAutoFit/>
          </a:bodyPr>
          <a:lstStyle/>
          <a:p>
            <a:pPr algn="l">
              <a:defRPr sz="2200" b="1">
                <a:solidFill>
                  <a:srgbClr val="00D4AA"/>
                </a:solidFill>
              </a:defRPr>
            </a:pPr>
            <a:r>
              <a:t>Session history</a:t>
            </a:r>
          </a:p>
        </p:txBody>
      </p:sp>
      <p:sp>
        <p:nvSpPr>
          <p:cNvPr id="22" name="TextBox 21"/>
          <p:cNvSpPr txBox="1"/>
          <p:nvPr/>
        </p:nvSpPr>
        <p:spPr>
          <a:xfrm>
            <a:off x="914400" y="3474720"/>
            <a:ext cx="3200400" cy="822960"/>
          </a:xfrm>
          <a:prstGeom prst="rect">
            <a:avLst/>
          </a:prstGeom>
          <a:noFill/>
        </p:spPr>
        <p:txBody>
          <a:bodyPr wrap="square">
            <a:spAutoFit/>
          </a:bodyPr>
          <a:lstStyle/>
          <a:p>
            <a:pPr algn="r">
              <a:defRPr sz="2200" b="1">
                <a:solidFill>
                  <a:srgbClr val="FF6B6B"/>
                </a:solidFill>
              </a:defRPr>
            </a:pPr>
            <a:r>
              <a:t>Long-term memory</a:t>
            </a:r>
          </a:p>
        </p:txBody>
      </p:sp>
      <p:sp>
        <p:nvSpPr>
          <p:cNvPr id="23" name="TextBox 22"/>
          <p:cNvSpPr txBox="1"/>
          <p:nvPr/>
        </p:nvSpPr>
        <p:spPr>
          <a:xfrm>
            <a:off x="4297680" y="3474720"/>
            <a:ext cx="731520" cy="822960"/>
          </a:xfrm>
          <a:prstGeom prst="rect">
            <a:avLst/>
          </a:prstGeom>
          <a:noFill/>
        </p:spPr>
        <p:txBody>
          <a:bodyPr wrap="none">
            <a:spAutoFit/>
          </a:bodyPr>
          <a:lstStyle/>
          <a:p>
            <a:pPr algn="ctr">
              <a:defRPr sz="2800">
                <a:solidFill>
                  <a:srgbClr val="8A8F98"/>
                </a:solidFill>
              </a:defRPr>
            </a:pPr>
            <a:r>
              <a:t>→</a:t>
            </a:r>
          </a:p>
        </p:txBody>
      </p:sp>
      <p:sp>
        <p:nvSpPr>
          <p:cNvPr id="24" name="TextBox 23"/>
          <p:cNvSpPr txBox="1"/>
          <p:nvPr/>
        </p:nvSpPr>
        <p:spPr>
          <a:xfrm>
            <a:off x="5212080" y="3474720"/>
            <a:ext cx="3657600" cy="822960"/>
          </a:xfrm>
          <a:prstGeom prst="rect">
            <a:avLst/>
          </a:prstGeom>
          <a:noFill/>
        </p:spPr>
        <p:txBody>
          <a:bodyPr wrap="square">
            <a:spAutoFit/>
          </a:bodyPr>
          <a:lstStyle/>
          <a:p>
            <a:pPr algn="l">
              <a:defRPr sz="2200" b="1">
                <a:solidFill>
                  <a:srgbClr val="00D4AA"/>
                </a:solidFill>
              </a:defRPr>
            </a:pPr>
            <a:r>
              <a:t>CLAUDE.md</a:t>
            </a:r>
          </a:p>
        </p:txBody>
      </p:sp>
      <p:sp>
        <p:nvSpPr>
          <p:cNvPr id="25" name="TextBox 24"/>
          <p:cNvSpPr txBox="1"/>
          <p:nvPr/>
        </p:nvSpPr>
        <p:spPr>
          <a:xfrm>
            <a:off x="914400" y="4297680"/>
            <a:ext cx="3200400" cy="822960"/>
          </a:xfrm>
          <a:prstGeom prst="rect">
            <a:avLst/>
          </a:prstGeom>
          <a:noFill/>
        </p:spPr>
        <p:txBody>
          <a:bodyPr wrap="square">
            <a:spAutoFit/>
          </a:bodyPr>
          <a:lstStyle/>
          <a:p>
            <a:pPr algn="r">
              <a:defRPr sz="2200" b="1">
                <a:solidFill>
                  <a:srgbClr val="FF6B6B"/>
                </a:solidFill>
              </a:defRPr>
            </a:pPr>
            <a:r>
              <a:t>Muscle memory</a:t>
            </a:r>
          </a:p>
        </p:txBody>
      </p:sp>
      <p:sp>
        <p:nvSpPr>
          <p:cNvPr id="26" name="TextBox 25"/>
          <p:cNvSpPr txBox="1"/>
          <p:nvPr/>
        </p:nvSpPr>
        <p:spPr>
          <a:xfrm>
            <a:off x="4297680" y="4297680"/>
            <a:ext cx="731520" cy="822960"/>
          </a:xfrm>
          <a:prstGeom prst="rect">
            <a:avLst/>
          </a:prstGeom>
          <a:noFill/>
        </p:spPr>
        <p:txBody>
          <a:bodyPr wrap="none">
            <a:spAutoFit/>
          </a:bodyPr>
          <a:lstStyle/>
          <a:p>
            <a:pPr algn="ctr">
              <a:defRPr sz="2800">
                <a:solidFill>
                  <a:srgbClr val="8A8F98"/>
                </a:solidFill>
              </a:defRPr>
            </a:pPr>
            <a:r>
              <a:t>→</a:t>
            </a:r>
          </a:p>
        </p:txBody>
      </p:sp>
      <p:sp>
        <p:nvSpPr>
          <p:cNvPr id="27" name="TextBox 26"/>
          <p:cNvSpPr txBox="1"/>
          <p:nvPr/>
        </p:nvSpPr>
        <p:spPr>
          <a:xfrm>
            <a:off x="5212080" y="4297680"/>
            <a:ext cx="3657600" cy="822960"/>
          </a:xfrm>
          <a:prstGeom prst="rect">
            <a:avLst/>
          </a:prstGeom>
          <a:noFill/>
        </p:spPr>
        <p:txBody>
          <a:bodyPr wrap="square">
            <a:spAutoFit/>
          </a:bodyPr>
          <a:lstStyle/>
          <a:p>
            <a:pPr algn="l">
              <a:defRPr sz="2200" b="1">
                <a:solidFill>
                  <a:srgbClr val="00D4AA"/>
                </a:solidFill>
              </a:defRPr>
            </a:pPr>
            <a:r>
              <a:t>Skills &amp; commands</a:t>
            </a:r>
          </a:p>
        </p:txBody>
      </p:sp>
      <p:sp>
        <p:nvSpPr>
          <p:cNvPr id="28" name="TextBox 27"/>
          <p:cNvSpPr txBox="1"/>
          <p:nvPr/>
        </p:nvSpPr>
        <p:spPr>
          <a:xfrm>
            <a:off x="1371600" y="5303520"/>
            <a:ext cx="8229600" cy="548640"/>
          </a:xfrm>
          <a:prstGeom prst="rect">
            <a:avLst/>
          </a:prstGeom>
          <a:noFill/>
        </p:spPr>
        <p:txBody>
          <a:bodyPr wrap="square">
            <a:spAutoFit/>
          </a:bodyPr>
          <a:lstStyle/>
          <a:p>
            <a:pPr algn="ctr">
              <a:defRPr sz="1600">
                <a:solidFill>
                  <a:srgbClr val="8A8F98"/>
                </a:solidFill>
              </a:defRPr>
            </a:pPr>
            <a:r>
              <a:t>Everything today teaches you how to manage these four memory layers.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Rectangle 1"/>
          <p:cNvSpPr/>
          <p:nvPr/>
        </p:nvSpPr>
        <p:spPr>
          <a:xfrm>
            <a:off x="0" y="1828800"/>
            <a:ext cx="137160" cy="32004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0"/>
            <a:ext cx="11277295" cy="1371600"/>
          </a:xfrm>
          <a:prstGeom prst="rect">
            <a:avLst/>
          </a:prstGeom>
          <a:noFill/>
        </p:spPr>
        <p:txBody>
          <a:bodyPr wrap="square">
            <a:spAutoFit/>
          </a:bodyPr>
          <a:lstStyle/>
          <a:p>
            <a:pPr>
              <a:defRPr sz="5600" b="1">
                <a:solidFill>
                  <a:srgbClr val="FFFFFF"/>
                </a:solidFill>
              </a:defRPr>
            </a:pPr>
            <a:r>
              <a:t>Installation &amp; Setup</a:t>
            </a:r>
          </a:p>
        </p:txBody>
      </p:sp>
      <p:sp>
        <p:nvSpPr>
          <p:cNvPr id="4" name="TextBox 3"/>
          <p:cNvSpPr txBox="1"/>
          <p:nvPr/>
        </p:nvSpPr>
        <p:spPr>
          <a:xfrm>
            <a:off x="457200" y="3840480"/>
            <a:ext cx="11277295" cy="914400"/>
          </a:xfrm>
          <a:prstGeom prst="rect">
            <a:avLst/>
          </a:prstGeom>
          <a:noFill/>
        </p:spPr>
        <p:txBody>
          <a:bodyPr wrap="square">
            <a:spAutoFit/>
          </a:bodyPr>
          <a:lstStyle/>
          <a:p>
            <a:pPr>
              <a:defRPr sz="2400">
                <a:solidFill>
                  <a:srgbClr val="8B95A5"/>
                </a:solidFill>
              </a:defRPr>
            </a:pPr>
            <a:r>
              <a:t>30 minutes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731520"/>
            <a:ext cx="11277295" cy="914400"/>
          </a:xfrm>
          <a:prstGeom prst="rect">
            <a:avLst/>
          </a:prstGeom>
          <a:noFill/>
        </p:spPr>
        <p:txBody>
          <a:bodyPr wrap="none">
            <a:spAutoFit/>
          </a:bodyPr>
          <a:lstStyle/>
          <a:p>
            <a:pPr algn="ctr">
              <a:defRPr sz="4000" b="1">
                <a:solidFill>
                  <a:srgbClr val="FFFFFF"/>
                </a:solidFill>
              </a:defRPr>
            </a:pPr>
            <a:r>
              <a:t>System Requirements</a:t>
            </a:r>
          </a:p>
        </p:txBody>
      </p:sp>
      <p:sp>
        <p:nvSpPr>
          <p:cNvPr id="3" name="Rounded Rectangle 2"/>
          <p:cNvSpPr/>
          <p:nvPr/>
        </p:nvSpPr>
        <p:spPr>
          <a:xfrm>
            <a:off x="2301087" y="2011680"/>
            <a:ext cx="2286000" cy="320040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2986887" y="2468880"/>
            <a:ext cx="914400" cy="91440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986887" y="2468880"/>
            <a:ext cx="914400" cy="914400"/>
          </a:xfrm>
          <a:prstGeom prst="rect">
            <a:avLst/>
          </a:prstGeom>
          <a:noFill/>
        </p:spPr>
        <p:txBody>
          <a:bodyPr wrap="none" anchor="ctr">
            <a:spAutoFit/>
          </a:bodyPr>
          <a:lstStyle/>
          <a:p>
            <a:pPr algn="ctr">
              <a:defRPr sz="3600" b="1">
                <a:solidFill>
                  <a:srgbClr val="0B0F1A"/>
                </a:solidFill>
              </a:defRPr>
            </a:pPr>
            <a:r>
              <a:t>1</a:t>
            </a:r>
          </a:p>
        </p:txBody>
      </p:sp>
      <p:sp>
        <p:nvSpPr>
          <p:cNvPr id="6" name="TextBox 5"/>
          <p:cNvSpPr txBox="1"/>
          <p:nvPr/>
        </p:nvSpPr>
        <p:spPr>
          <a:xfrm>
            <a:off x="2392527" y="3657600"/>
            <a:ext cx="2103120" cy="1371600"/>
          </a:xfrm>
          <a:prstGeom prst="rect">
            <a:avLst/>
          </a:prstGeom>
          <a:noFill/>
        </p:spPr>
        <p:txBody>
          <a:bodyPr wrap="square">
            <a:normAutofit/>
          </a:bodyPr>
          <a:lstStyle/>
          <a:p>
            <a:pPr algn="ctr">
              <a:defRPr sz="1800" b="1">
                <a:solidFill>
                  <a:srgbClr val="FFFFFF"/>
                </a:solidFill>
              </a:defRPr>
            </a:pPr>
            <a:r>
              <a:t>Machine</a:t>
            </a:r>
          </a:p>
          <a:p>
            <a:pPr algn="ctr">
              <a:spcBef>
                <a:spcPts val="800"/>
              </a:spcBef>
              <a:defRPr sz="1300">
                <a:solidFill>
                  <a:srgbClr val="8B95A5"/>
                </a:solidFill>
              </a:defRPr>
            </a:pPr>
            <a:r>
              <a:t>macOS, Linux, or Windows (via WSL)</a:t>
            </a:r>
            <a:br/>
            <a:r>
              <a:t>8GB+ RAM recommended</a:t>
            </a:r>
            <a:br/>
            <a:r>
              <a:t>Node.js 18+ required</a:t>
            </a:r>
          </a:p>
        </p:txBody>
      </p:sp>
      <p:sp>
        <p:nvSpPr>
          <p:cNvPr id="7" name="Rounded Rectangle 6"/>
          <p:cNvSpPr/>
          <p:nvPr/>
        </p:nvSpPr>
        <p:spPr>
          <a:xfrm>
            <a:off x="4952847" y="2011680"/>
            <a:ext cx="2286000" cy="320040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5638647" y="2468880"/>
            <a:ext cx="914400" cy="91440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638647" y="2468880"/>
            <a:ext cx="914400" cy="914400"/>
          </a:xfrm>
          <a:prstGeom prst="rect">
            <a:avLst/>
          </a:prstGeom>
          <a:noFill/>
        </p:spPr>
        <p:txBody>
          <a:bodyPr wrap="none" anchor="ctr">
            <a:spAutoFit/>
          </a:bodyPr>
          <a:lstStyle/>
          <a:p>
            <a:pPr algn="ctr">
              <a:defRPr sz="3600" b="1">
                <a:solidFill>
                  <a:srgbClr val="0B0F1A"/>
                </a:solidFill>
              </a:defRPr>
            </a:pPr>
            <a:r>
              <a:t>2</a:t>
            </a:r>
          </a:p>
        </p:txBody>
      </p:sp>
      <p:sp>
        <p:nvSpPr>
          <p:cNvPr id="10" name="TextBox 9"/>
          <p:cNvSpPr txBox="1"/>
          <p:nvPr/>
        </p:nvSpPr>
        <p:spPr>
          <a:xfrm>
            <a:off x="5044287" y="3657600"/>
            <a:ext cx="2103120" cy="1371600"/>
          </a:xfrm>
          <a:prstGeom prst="rect">
            <a:avLst/>
          </a:prstGeom>
          <a:noFill/>
        </p:spPr>
        <p:txBody>
          <a:bodyPr wrap="square">
            <a:normAutofit lnSpcReduction="10000"/>
          </a:bodyPr>
          <a:lstStyle/>
          <a:p>
            <a:pPr algn="ctr">
              <a:defRPr sz="1800" b="1">
                <a:solidFill>
                  <a:srgbClr val="FFFFFF"/>
                </a:solidFill>
              </a:defRPr>
            </a:pPr>
            <a:r>
              <a:rPr dirty="0"/>
              <a:t>Tools</a:t>
            </a:r>
          </a:p>
          <a:p>
            <a:pPr algn="ctr">
              <a:spcBef>
                <a:spcPts val="800"/>
              </a:spcBef>
              <a:defRPr sz="1300">
                <a:solidFill>
                  <a:srgbClr val="8B95A5"/>
                </a:solidFill>
              </a:defRPr>
            </a:pPr>
            <a:r>
              <a:rPr dirty="0"/>
              <a:t>Terminal (iTerm2, Windows Terminal, etc.)</a:t>
            </a:r>
            <a:br>
              <a:rPr dirty="0"/>
            </a:br>
            <a:r>
              <a:rPr dirty="0"/>
              <a:t>Git installed and configured</a:t>
            </a:r>
            <a:br>
              <a:rPr dirty="0"/>
            </a:br>
            <a:r>
              <a:rPr dirty="0"/>
              <a:t>VS Code or JetBrains IDE (optional)</a:t>
            </a:r>
          </a:p>
        </p:txBody>
      </p:sp>
      <p:sp>
        <p:nvSpPr>
          <p:cNvPr id="11" name="Rounded Rectangle 10"/>
          <p:cNvSpPr/>
          <p:nvPr/>
        </p:nvSpPr>
        <p:spPr>
          <a:xfrm>
            <a:off x="7604607" y="2011680"/>
            <a:ext cx="2286001" cy="320040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8290407" y="2468880"/>
            <a:ext cx="914400" cy="91440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290407" y="2468880"/>
            <a:ext cx="914400" cy="914400"/>
          </a:xfrm>
          <a:prstGeom prst="rect">
            <a:avLst/>
          </a:prstGeom>
          <a:noFill/>
        </p:spPr>
        <p:txBody>
          <a:bodyPr wrap="none" anchor="ctr">
            <a:spAutoFit/>
          </a:bodyPr>
          <a:lstStyle/>
          <a:p>
            <a:pPr algn="ctr">
              <a:defRPr sz="3600" b="1">
                <a:solidFill>
                  <a:srgbClr val="0B0F1A"/>
                </a:solidFill>
              </a:defRPr>
            </a:pPr>
            <a:r>
              <a:t>3</a:t>
            </a:r>
          </a:p>
        </p:txBody>
      </p:sp>
      <p:sp>
        <p:nvSpPr>
          <p:cNvPr id="14" name="TextBox 13"/>
          <p:cNvSpPr txBox="1"/>
          <p:nvPr/>
        </p:nvSpPr>
        <p:spPr>
          <a:xfrm>
            <a:off x="7696047" y="3657600"/>
            <a:ext cx="2194866" cy="1371600"/>
          </a:xfrm>
          <a:prstGeom prst="rect">
            <a:avLst/>
          </a:prstGeom>
          <a:noFill/>
        </p:spPr>
        <p:txBody>
          <a:bodyPr wrap="square">
            <a:noAutofit/>
          </a:bodyPr>
          <a:lstStyle/>
          <a:p>
            <a:pPr algn="ctr">
              <a:defRPr sz="1800" b="1">
                <a:solidFill>
                  <a:srgbClr val="FFFFFF"/>
                </a:solidFill>
                <a:latin typeface="Consolas"/>
              </a:defRPr>
            </a:pPr>
            <a:r>
              <a:rPr dirty="0"/>
              <a:t>Account</a:t>
            </a:r>
          </a:p>
          <a:p>
            <a:pPr algn="ctr">
              <a:spcBef>
                <a:spcPts val="400"/>
              </a:spcBef>
              <a:defRPr sz="1100">
                <a:solidFill>
                  <a:srgbClr val="8A8F98"/>
                </a:solidFill>
              </a:defRPr>
            </a:pPr>
            <a:r>
              <a:rPr dirty="0"/>
              <a:t>Anthropic Pro or Max plan</a:t>
            </a:r>
          </a:p>
          <a:p>
            <a:pPr algn="ctr">
              <a:spcBef>
                <a:spcPts val="400"/>
              </a:spcBef>
              <a:defRPr sz="1100">
                <a:solidFill>
                  <a:srgbClr val="8A8F98"/>
                </a:solidFill>
              </a:defRPr>
            </a:pPr>
            <a:r>
              <a:rPr dirty="0"/>
              <a:t>Install: claude.ai/install.sh</a:t>
            </a:r>
          </a:p>
          <a:p>
            <a:pPr algn="ctr">
              <a:spcBef>
                <a:spcPts val="400"/>
              </a:spcBef>
              <a:defRPr sz="1100">
                <a:solidFill>
                  <a:srgbClr val="8A8F98"/>
                </a:solidFill>
              </a:defRPr>
            </a:pPr>
            <a:r>
              <a:rPr dirty="0"/>
              <a:t>Authenticate: </a:t>
            </a:r>
            <a:r>
              <a:rPr dirty="0" err="1"/>
              <a:t>claude</a:t>
            </a:r>
            <a:r>
              <a:rPr dirty="0"/>
              <a:t> login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457200"/>
            <a:ext cx="11277295" cy="731520"/>
          </a:xfrm>
          <a:prstGeom prst="rect">
            <a:avLst/>
          </a:prstGeom>
          <a:noFill/>
        </p:spPr>
        <p:txBody>
          <a:bodyPr wrap="none">
            <a:spAutoFit/>
          </a:bodyPr>
          <a:lstStyle/>
          <a:p>
            <a:pPr algn="ctr">
              <a:defRPr sz="3600" b="1">
                <a:solidFill>
                  <a:srgbClr val="FFFFFF"/>
                </a:solidFill>
              </a:defRPr>
            </a:pPr>
            <a:r>
              <a:t>Installation Methods</a:t>
            </a:r>
          </a:p>
        </p:txBody>
      </p:sp>
      <p:sp>
        <p:nvSpPr>
          <p:cNvPr id="3" name="Rounded Rectangle 2"/>
          <p:cNvSpPr/>
          <p:nvPr/>
        </p:nvSpPr>
        <p:spPr>
          <a:xfrm>
            <a:off x="914400" y="1645920"/>
            <a:ext cx="10362895" cy="4114800"/>
          </a:xfrm>
          <a:prstGeom prst="round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97280" y="1783080"/>
            <a:ext cx="1828800" cy="365760"/>
          </a:xfrm>
          <a:prstGeom prst="rect">
            <a:avLst/>
          </a:prstGeom>
          <a:noFill/>
        </p:spPr>
        <p:txBody>
          <a:bodyPr wrap="none">
            <a:spAutoFit/>
          </a:bodyPr>
          <a:lstStyle/>
          <a:p>
            <a:pPr>
              <a:defRPr sz="1200" b="1">
                <a:solidFill>
                  <a:srgbClr val="00D4AA"/>
                </a:solidFill>
              </a:defRPr>
            </a:pPr>
            <a:r>
              <a:t>BASH</a:t>
            </a:r>
          </a:p>
        </p:txBody>
      </p:sp>
      <p:sp>
        <p:nvSpPr>
          <p:cNvPr id="5" name="TextBox 4"/>
          <p:cNvSpPr txBox="1"/>
          <p:nvPr/>
        </p:nvSpPr>
        <p:spPr>
          <a:xfrm>
            <a:off x="1097280" y="2194560"/>
            <a:ext cx="9997135" cy="3291840"/>
          </a:xfrm>
          <a:prstGeom prst="rect">
            <a:avLst/>
          </a:prstGeom>
          <a:noFill/>
        </p:spPr>
        <p:txBody>
          <a:bodyPr wrap="square">
            <a:spAutoFit/>
          </a:bodyPr>
          <a:lstStyle/>
          <a:p>
            <a:pPr>
              <a:defRPr sz="1400">
                <a:solidFill>
                  <a:srgbClr val="F8F8F2"/>
                </a:solidFill>
                <a:latin typeface="Consolas"/>
              </a:defRPr>
            </a:pPr>
            <a:r>
              <a:t># Method 1: Native install (recommended — auto-updates)</a:t>
            </a:r>
          </a:p>
          <a:p>
            <a:pPr>
              <a:defRPr sz="1400">
                <a:solidFill>
                  <a:srgbClr val="F8F8F2"/>
                </a:solidFill>
                <a:latin typeface="Consolas"/>
              </a:defRPr>
            </a:pPr>
            <a:r>
              <a:t>curl -fsSL https://claude.ai/install.sh | bash</a:t>
            </a:r>
          </a:p>
          <a:p>
            <a:pPr>
              <a:defRPr sz="1400">
                <a:solidFill>
                  <a:srgbClr val="F8F8F2"/>
                </a:solidFill>
                <a:latin typeface="Consolas"/>
              </a:defRPr>
            </a:pPr>
            <a:endParaRPr/>
          </a:p>
          <a:p>
            <a:pPr>
              <a:defRPr sz="1400">
                <a:solidFill>
                  <a:srgbClr val="F8F8F2"/>
                </a:solidFill>
                <a:latin typeface="Consolas"/>
              </a:defRPr>
            </a:pPr>
            <a:r>
              <a:t># Method 2: Homebrew (macOS/Linux — manual updates)</a:t>
            </a:r>
          </a:p>
          <a:p>
            <a:pPr>
              <a:defRPr sz="1400">
                <a:solidFill>
                  <a:srgbClr val="F8F8F2"/>
                </a:solidFill>
                <a:latin typeface="Consolas"/>
              </a:defRPr>
            </a:pPr>
            <a:r>
              <a:t>brew install --cask claude-code</a:t>
            </a:r>
          </a:p>
          <a:p>
            <a:pPr>
              <a:defRPr sz="1400">
                <a:solidFill>
                  <a:srgbClr val="F8F8F2"/>
                </a:solidFill>
                <a:latin typeface="Consolas"/>
              </a:defRPr>
            </a:pPr>
            <a:endParaRPr/>
          </a:p>
          <a:p>
            <a:pPr>
              <a:defRPr sz="1400">
                <a:solidFill>
                  <a:srgbClr val="F8F8F2"/>
                </a:solidFill>
                <a:latin typeface="Consolas"/>
              </a:defRPr>
            </a:pPr>
            <a:r>
              <a:t># Method 3: WinGet (Windows — manual updates)</a:t>
            </a:r>
          </a:p>
          <a:p>
            <a:pPr>
              <a:defRPr sz="1400">
                <a:solidFill>
                  <a:srgbClr val="F8F8F2"/>
                </a:solidFill>
                <a:latin typeface="Consolas"/>
              </a:defRPr>
            </a:pPr>
            <a:r>
              <a:t>winget install Anthropic.ClaudeCode</a:t>
            </a:r>
          </a:p>
          <a:p>
            <a:pPr>
              <a:defRPr sz="1400">
                <a:solidFill>
                  <a:srgbClr val="F8F8F2"/>
                </a:solidFill>
                <a:latin typeface="Consolas"/>
              </a:defRPr>
            </a:pPr>
            <a:endParaRPr/>
          </a:p>
          <a:p>
            <a:pPr>
              <a:defRPr sz="1400">
                <a:solidFill>
                  <a:srgbClr val="F8F8F2"/>
                </a:solidFill>
                <a:latin typeface="Consolas"/>
              </a:defRPr>
            </a:pPr>
            <a:r>
              <a:t># Verify installation</a:t>
            </a:r>
          </a:p>
          <a:p>
            <a:pPr>
              <a:defRPr sz="1400">
                <a:solidFill>
                  <a:srgbClr val="F8F8F2"/>
                </a:solidFill>
                <a:latin typeface="Consolas"/>
              </a:defRPr>
            </a:pPr>
            <a:r>
              <a:t>claude --version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457200"/>
            <a:ext cx="11277295" cy="731520"/>
          </a:xfrm>
          <a:prstGeom prst="rect">
            <a:avLst/>
          </a:prstGeom>
          <a:noFill/>
        </p:spPr>
        <p:txBody>
          <a:bodyPr wrap="none">
            <a:spAutoFit/>
          </a:bodyPr>
          <a:lstStyle/>
          <a:p>
            <a:pPr algn="ctr">
              <a:defRPr sz="3600" b="1">
                <a:solidFill>
                  <a:srgbClr val="FFFFFF"/>
                </a:solidFill>
              </a:defRPr>
            </a:pPr>
            <a:r>
              <a:t>Two Ways to Use Claude Code</a:t>
            </a:r>
          </a:p>
        </p:txBody>
      </p:sp>
      <p:sp>
        <p:nvSpPr>
          <p:cNvPr id="3" name="Rectangle 2"/>
          <p:cNvSpPr/>
          <p:nvPr/>
        </p:nvSpPr>
        <p:spPr>
          <a:xfrm>
            <a:off x="6077559" y="1371600"/>
            <a:ext cx="36576" cy="45720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463040"/>
            <a:ext cx="5364327" cy="731520"/>
          </a:xfrm>
          <a:prstGeom prst="rect">
            <a:avLst/>
          </a:prstGeom>
          <a:noFill/>
        </p:spPr>
        <p:txBody>
          <a:bodyPr wrap="none">
            <a:spAutoFit/>
          </a:bodyPr>
          <a:lstStyle/>
          <a:p>
            <a:pPr algn="ctr">
              <a:defRPr sz="2800" b="1">
                <a:solidFill>
                  <a:srgbClr val="00D4AA"/>
                </a:solidFill>
              </a:defRPr>
            </a:pPr>
            <a:r>
              <a:t>Terminal (CLI)</a:t>
            </a:r>
          </a:p>
        </p:txBody>
      </p:sp>
      <p:sp>
        <p:nvSpPr>
          <p:cNvPr id="5" name="TextBox 4"/>
          <p:cNvSpPr txBox="1"/>
          <p:nvPr/>
        </p:nvSpPr>
        <p:spPr>
          <a:xfrm>
            <a:off x="457200" y="2286000"/>
            <a:ext cx="5364327" cy="3657600"/>
          </a:xfrm>
          <a:prstGeom prst="rect">
            <a:avLst/>
          </a:prstGeom>
          <a:noFill/>
        </p:spPr>
        <p:txBody>
          <a:bodyPr wrap="square">
            <a:spAutoFit/>
          </a:bodyPr>
          <a:lstStyle/>
          <a:p>
            <a:pPr>
              <a:spcAft>
                <a:spcPts val="1200"/>
              </a:spcAft>
              <a:defRPr sz="1800">
                <a:solidFill>
                  <a:srgbClr val="FFFFFF"/>
                </a:solidFill>
              </a:defRPr>
            </a:pPr>
            <a:r>
              <a:t>  Run 'claude' in any project directory</a:t>
            </a:r>
          </a:p>
          <a:p>
            <a:pPr>
              <a:spcAft>
                <a:spcPts val="1200"/>
              </a:spcAft>
              <a:defRPr sz="1800">
                <a:solidFill>
                  <a:srgbClr val="FFFFFF"/>
                </a:solidFill>
              </a:defRPr>
            </a:pPr>
            <a:r>
              <a:t>  Full power — all commands available</a:t>
            </a:r>
          </a:p>
          <a:p>
            <a:pPr>
              <a:spcAft>
                <a:spcPts val="1200"/>
              </a:spcAft>
              <a:defRPr sz="1800">
                <a:solidFill>
                  <a:srgbClr val="FFFFFF"/>
                </a:solidFill>
              </a:defRPr>
            </a:pPr>
            <a:r>
              <a:t>  Best for: dedicated coding sessions</a:t>
            </a:r>
          </a:p>
          <a:p>
            <a:pPr>
              <a:spcAft>
                <a:spcPts val="1200"/>
              </a:spcAft>
              <a:defRPr sz="1800">
                <a:solidFill>
                  <a:srgbClr val="FFFFFF"/>
                </a:solidFill>
              </a:defRPr>
            </a:pPr>
            <a:r>
              <a:t>  Multiple instances via tabs/tmux</a:t>
            </a:r>
          </a:p>
          <a:p>
            <a:pPr>
              <a:spcAft>
                <a:spcPts val="1200"/>
              </a:spcAft>
              <a:defRPr sz="1800">
                <a:solidFill>
                  <a:srgbClr val="FFFFFF"/>
                </a:solidFill>
              </a:defRPr>
            </a:pPr>
            <a:r>
              <a:t>  Direct file system access</a:t>
            </a:r>
          </a:p>
        </p:txBody>
      </p:sp>
      <p:sp>
        <p:nvSpPr>
          <p:cNvPr id="6" name="TextBox 5"/>
          <p:cNvSpPr txBox="1"/>
          <p:nvPr/>
        </p:nvSpPr>
        <p:spPr>
          <a:xfrm>
            <a:off x="6370167" y="1463040"/>
            <a:ext cx="5364327" cy="731520"/>
          </a:xfrm>
          <a:prstGeom prst="rect">
            <a:avLst/>
          </a:prstGeom>
          <a:noFill/>
        </p:spPr>
        <p:txBody>
          <a:bodyPr wrap="none">
            <a:spAutoFit/>
          </a:bodyPr>
          <a:lstStyle/>
          <a:p>
            <a:pPr algn="ctr">
              <a:defRPr sz="2800" b="1">
                <a:solidFill>
                  <a:srgbClr val="E86B4A"/>
                </a:solidFill>
              </a:defRPr>
            </a:pPr>
            <a:r>
              <a:t>IDE Integration</a:t>
            </a:r>
          </a:p>
        </p:txBody>
      </p:sp>
      <p:sp>
        <p:nvSpPr>
          <p:cNvPr id="7" name="TextBox 6"/>
          <p:cNvSpPr txBox="1"/>
          <p:nvPr/>
        </p:nvSpPr>
        <p:spPr>
          <a:xfrm>
            <a:off x="6370167" y="2286000"/>
            <a:ext cx="5364327" cy="3657600"/>
          </a:xfrm>
          <a:prstGeom prst="rect">
            <a:avLst/>
          </a:prstGeom>
          <a:noFill/>
        </p:spPr>
        <p:txBody>
          <a:bodyPr wrap="square">
            <a:spAutoFit/>
          </a:bodyPr>
          <a:lstStyle/>
          <a:p>
            <a:pPr>
              <a:spcAft>
                <a:spcPts val="1200"/>
              </a:spcAft>
              <a:defRPr sz="1800">
                <a:solidFill>
                  <a:srgbClr val="FFFFFF"/>
                </a:solidFill>
              </a:defRPr>
            </a:pPr>
            <a:r>
              <a:t>  Run in VS Code or JetBrains terminal</a:t>
            </a:r>
          </a:p>
          <a:p>
            <a:pPr>
              <a:spcAft>
                <a:spcPts val="1200"/>
              </a:spcAft>
              <a:defRPr sz="1800">
                <a:solidFill>
                  <a:srgbClr val="FFFFFF"/>
                </a:solidFill>
              </a:defRPr>
            </a:pPr>
            <a:r>
              <a:t>  Changes appear live in your editor</a:t>
            </a:r>
          </a:p>
          <a:p>
            <a:pPr>
              <a:spcAft>
                <a:spcPts val="1200"/>
              </a:spcAft>
              <a:defRPr sz="1800">
                <a:solidFill>
                  <a:srgbClr val="FFFFFF"/>
                </a:solidFill>
              </a:defRPr>
            </a:pPr>
            <a:r>
              <a:t>  Claude sees diagnostic errors automatically</a:t>
            </a:r>
          </a:p>
          <a:p>
            <a:pPr>
              <a:spcAft>
                <a:spcPts val="1200"/>
              </a:spcAft>
              <a:defRPr sz="1800">
                <a:solidFill>
                  <a:srgbClr val="FFFFFF"/>
                </a:solidFill>
              </a:defRPr>
            </a:pPr>
            <a:r>
              <a:t>  Reads your open files and selections</a:t>
            </a:r>
          </a:p>
          <a:p>
            <a:pPr>
              <a:spcAft>
                <a:spcPts val="1200"/>
              </a:spcAft>
              <a:defRPr sz="1800">
                <a:solidFill>
                  <a:srgbClr val="FFFFFF"/>
                </a:solidFill>
              </a:defRPr>
            </a:pPr>
            <a:r>
              <a:t>  Best for: editing while you code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11277295" cy="640080"/>
          </a:xfrm>
          <a:prstGeom prst="rect">
            <a:avLst/>
          </a:prstGeom>
          <a:noFill/>
        </p:spPr>
        <p:txBody>
          <a:bodyPr wrap="none">
            <a:spAutoFit/>
          </a:bodyPr>
          <a:lstStyle/>
          <a:p>
            <a:pPr>
              <a:defRPr sz="3200" b="1">
                <a:solidFill>
                  <a:srgbClr val="FFFFFF"/>
                </a:solidFill>
              </a:defRPr>
            </a:pPr>
            <a:r>
              <a:t>Claude Code Desktop Interface</a:t>
            </a:r>
          </a:p>
        </p:txBody>
      </p:sp>
      <p:sp>
        <p:nvSpPr>
          <p:cNvPr id="3" name="Rounded Rectangle 2"/>
          <p:cNvSpPr/>
          <p:nvPr/>
        </p:nvSpPr>
        <p:spPr>
          <a:xfrm>
            <a:off x="914400" y="1280160"/>
            <a:ext cx="10362895" cy="4754880"/>
          </a:xfrm>
          <a:prstGeom prst="roundRect">
            <a:avLst/>
          </a:prstGeom>
          <a:solidFill>
            <a:srgbClr val="141A26"/>
          </a:solidFill>
          <a:ln w="25400">
            <a:solidFill>
              <a:srgbClr val="00D4AA"/>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3200400"/>
            <a:ext cx="10362895" cy="914400"/>
          </a:xfrm>
          <a:prstGeom prst="rect">
            <a:avLst/>
          </a:prstGeom>
          <a:noFill/>
        </p:spPr>
        <p:txBody>
          <a:bodyPr wrap="none">
            <a:spAutoFit/>
          </a:bodyPr>
          <a:lstStyle/>
          <a:p>
            <a:pPr algn="ctr">
              <a:defRPr sz="2400" b="1">
                <a:solidFill>
                  <a:srgbClr val="8B95A5"/>
                </a:solidFill>
              </a:defRPr>
            </a:pPr>
            <a:r>
              <a:t>[Screenshot]</a:t>
            </a:r>
          </a:p>
        </p:txBody>
      </p:sp>
      <p:sp>
        <p:nvSpPr>
          <p:cNvPr id="6" name="TextBox 5">
            <a:extLst>
              <a:ext uri="{FF2B5EF4-FFF2-40B4-BE49-F238E27FC236}">
                <a16:creationId xmlns:a16="http://schemas.microsoft.com/office/drawing/2014/main" id="{20DA46C1-A09C-CC85-41D0-591C5CEE27C2}"/>
              </a:ext>
            </a:extLst>
          </p:cNvPr>
          <p:cNvSpPr txBox="1"/>
          <p:nvPr/>
        </p:nvSpPr>
        <p:spPr>
          <a:xfrm>
            <a:off x="7300452" y="1778568"/>
            <a:ext cx="3976843" cy="3785652"/>
          </a:xfrm>
          <a:prstGeom prst="rect">
            <a:avLst/>
          </a:prstGeom>
          <a:noFill/>
        </p:spPr>
        <p:txBody>
          <a:bodyPr wrap="square">
            <a:spAutoFit/>
          </a:bodyPr>
          <a:lstStyle/>
          <a:p>
            <a:r>
              <a:rPr lang="en-US" sz="1600" dirty="0">
                <a:solidFill>
                  <a:schemeClr val="bg1"/>
                </a:solidFill>
              </a:rPr>
              <a:t>GUI for Claude Code — no terminal required</a:t>
            </a:r>
          </a:p>
          <a:p>
            <a:endParaRPr lang="en-US" sz="1600" dirty="0">
              <a:solidFill>
                <a:schemeClr val="bg1"/>
              </a:solidFill>
            </a:endParaRPr>
          </a:p>
          <a:p>
            <a:r>
              <a:rPr lang="en-US" sz="1600" dirty="0">
                <a:solidFill>
                  <a:schemeClr val="bg1"/>
                </a:solidFill>
              </a:rPr>
              <a:t>Parallel sessions with git </a:t>
            </a:r>
            <a:r>
              <a:rPr lang="en-US" sz="1600" dirty="0" err="1">
                <a:solidFill>
                  <a:schemeClr val="bg1"/>
                </a:solidFill>
              </a:rPr>
              <a:t>worktree</a:t>
            </a:r>
            <a:r>
              <a:rPr lang="en-US" sz="1600" dirty="0">
                <a:solidFill>
                  <a:schemeClr val="bg1"/>
                </a:solidFill>
              </a:rPr>
              <a:t> isolation</a:t>
            </a:r>
          </a:p>
          <a:p>
            <a:endParaRPr lang="en-US" sz="1600" dirty="0">
              <a:solidFill>
                <a:schemeClr val="bg1"/>
              </a:solidFill>
            </a:endParaRPr>
          </a:p>
          <a:p>
            <a:r>
              <a:rPr lang="en-US" sz="1600" dirty="0">
                <a:solidFill>
                  <a:schemeClr val="bg1"/>
                </a:solidFill>
              </a:rPr>
              <a:t>Visual diff review and server previews</a:t>
            </a:r>
          </a:p>
          <a:p>
            <a:endParaRPr lang="en-US" sz="1600" dirty="0">
              <a:solidFill>
                <a:schemeClr val="bg1"/>
              </a:solidFill>
            </a:endParaRPr>
          </a:p>
          <a:p>
            <a:r>
              <a:rPr lang="en-US" sz="1600" dirty="0">
                <a:solidFill>
                  <a:schemeClr val="bg1"/>
                </a:solidFill>
              </a:rPr>
              <a:t>Local or remote (cloud) sessions from</a:t>
            </a:r>
            <a:br>
              <a:rPr lang="en-US" sz="1600" dirty="0">
                <a:solidFill>
                  <a:schemeClr val="bg1"/>
                </a:solidFill>
              </a:rPr>
            </a:br>
            <a:r>
              <a:rPr lang="en-US" sz="1600" dirty="0">
                <a:solidFill>
                  <a:schemeClr val="bg1"/>
                </a:solidFill>
              </a:rPr>
              <a:t> same interface</a:t>
            </a:r>
          </a:p>
          <a:p>
            <a:endParaRPr lang="en-US" sz="1600" dirty="0">
              <a:solidFill>
                <a:schemeClr val="bg1"/>
              </a:solidFill>
            </a:endParaRPr>
          </a:p>
          <a:p>
            <a:r>
              <a:rPr lang="en-US" sz="1600" dirty="0">
                <a:solidFill>
                  <a:schemeClr val="bg1"/>
                </a:solidFill>
              </a:rPr>
              <a:t>PR monitoring and status tracking</a:t>
            </a:r>
          </a:p>
          <a:p>
            <a:endParaRPr lang="en-US" sz="1600" dirty="0">
              <a:solidFill>
                <a:schemeClr val="bg1"/>
              </a:solidFill>
            </a:endParaRPr>
          </a:p>
          <a:p>
            <a:r>
              <a:rPr lang="en-US" sz="1600" dirty="0">
                <a:solidFill>
                  <a:schemeClr val="bg1"/>
                </a:solidFill>
              </a:rPr>
              <a:t>/desktop </a:t>
            </a:r>
            <a:r>
              <a:rPr lang="en-US" sz="1600" dirty="0" err="1">
                <a:solidFill>
                  <a:schemeClr val="bg1"/>
                </a:solidFill>
              </a:rPr>
              <a:t>cmd</a:t>
            </a:r>
            <a:r>
              <a:rPr lang="en-US" sz="1600" dirty="0">
                <a:solidFill>
                  <a:schemeClr val="bg1"/>
                </a:solidFill>
              </a:rPr>
              <a:t> moves a CLI session to the app</a:t>
            </a:r>
          </a:p>
          <a:p>
            <a:endParaRPr lang="en-US" sz="1600" dirty="0">
              <a:solidFill>
                <a:schemeClr val="bg1"/>
              </a:solidFill>
            </a:endParaRPr>
          </a:p>
          <a:p>
            <a:r>
              <a:rPr lang="en-US" sz="1600" dirty="0">
                <a:solidFill>
                  <a:schemeClr val="bg1"/>
                </a:solidFill>
              </a:rPr>
              <a:t>Best for: non-terminal users, multi-session </a:t>
            </a:r>
            <a:br>
              <a:rPr lang="en-US" sz="1600" dirty="0">
                <a:solidFill>
                  <a:schemeClr val="bg1"/>
                </a:solidFill>
              </a:rPr>
            </a:br>
            <a:r>
              <a:rPr lang="en-US" sz="1600" dirty="0">
                <a:solidFill>
                  <a:schemeClr val="bg1"/>
                </a:solidFill>
              </a:rPr>
              <a:t> management, visual workflows</a:t>
            </a:r>
          </a:p>
        </p:txBody>
      </p:sp>
      <p:pic>
        <p:nvPicPr>
          <p:cNvPr id="7" name="Picture 6">
            <a:extLst>
              <a:ext uri="{FF2B5EF4-FFF2-40B4-BE49-F238E27FC236}">
                <a16:creationId xmlns:a16="http://schemas.microsoft.com/office/drawing/2014/main" id="{1CE2B5A9-A391-ACE3-A562-6E21FAF6C260}"/>
              </a:ext>
            </a:extLst>
          </p:cNvPr>
          <p:cNvPicPr>
            <a:picLocks noChangeAspect="1"/>
          </p:cNvPicPr>
          <p:nvPr/>
        </p:nvPicPr>
        <p:blipFill>
          <a:blip r:embed="rId3"/>
          <a:stretch>
            <a:fillRect/>
          </a:stretch>
        </p:blipFill>
        <p:spPr>
          <a:xfrm>
            <a:off x="1203631" y="1828800"/>
            <a:ext cx="5912508" cy="36576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457200"/>
            <a:ext cx="11277295" cy="731520"/>
          </a:xfrm>
          <a:prstGeom prst="rect">
            <a:avLst/>
          </a:prstGeom>
          <a:noFill/>
        </p:spPr>
        <p:txBody>
          <a:bodyPr wrap="none">
            <a:spAutoFit/>
          </a:bodyPr>
          <a:lstStyle/>
          <a:p>
            <a:pPr algn="ctr">
              <a:defRPr sz="3600" b="1">
                <a:solidFill>
                  <a:srgbClr val="FFFFFF"/>
                </a:solidFill>
              </a:defRPr>
            </a:pPr>
            <a:r>
              <a:t>Authentication &amp; Configuration</a:t>
            </a:r>
          </a:p>
        </p:txBody>
      </p:sp>
      <p:sp>
        <p:nvSpPr>
          <p:cNvPr id="3" name="Rounded Rectangle 2"/>
          <p:cNvSpPr/>
          <p:nvPr/>
        </p:nvSpPr>
        <p:spPr>
          <a:xfrm>
            <a:off x="914400" y="1645920"/>
            <a:ext cx="10362895" cy="4114800"/>
          </a:xfrm>
          <a:prstGeom prst="round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97280" y="1783080"/>
            <a:ext cx="1828800" cy="365760"/>
          </a:xfrm>
          <a:prstGeom prst="rect">
            <a:avLst/>
          </a:prstGeom>
          <a:noFill/>
        </p:spPr>
        <p:txBody>
          <a:bodyPr wrap="none">
            <a:spAutoFit/>
          </a:bodyPr>
          <a:lstStyle/>
          <a:p>
            <a:pPr>
              <a:defRPr sz="1200" b="1">
                <a:solidFill>
                  <a:srgbClr val="00D4AA"/>
                </a:solidFill>
              </a:defRPr>
            </a:pPr>
            <a:r>
              <a:t>BASH</a:t>
            </a:r>
          </a:p>
        </p:txBody>
      </p:sp>
      <p:sp>
        <p:nvSpPr>
          <p:cNvPr id="5" name="TextBox 4"/>
          <p:cNvSpPr txBox="1"/>
          <p:nvPr/>
        </p:nvSpPr>
        <p:spPr>
          <a:xfrm>
            <a:off x="1097280" y="2194560"/>
            <a:ext cx="9997135" cy="3291840"/>
          </a:xfrm>
          <a:prstGeom prst="rect">
            <a:avLst/>
          </a:prstGeom>
          <a:noFill/>
        </p:spPr>
        <p:txBody>
          <a:bodyPr wrap="square">
            <a:spAutoFit/>
          </a:bodyPr>
          <a:lstStyle/>
          <a:p>
            <a:pPr>
              <a:defRPr sz="1400">
                <a:solidFill>
                  <a:srgbClr val="FFFFFF"/>
                </a:solidFill>
                <a:latin typeface="Consolas"/>
              </a:defRPr>
            </a:pPr>
            <a:r>
              <a:t># Step 1: Authenticate with Anthropic</a:t>
            </a:r>
          </a:p>
          <a:p>
            <a:pPr>
              <a:defRPr sz="1400">
                <a:solidFill>
                  <a:srgbClr val="FFFFFF"/>
                </a:solidFill>
                <a:latin typeface="Consolas"/>
              </a:defRPr>
            </a:pPr>
            <a:r>
              <a:t>claude login</a:t>
            </a:r>
          </a:p>
          <a:p>
            <a:pPr>
              <a:defRPr sz="1400">
                <a:solidFill>
                  <a:srgbClr val="FFFFFF"/>
                </a:solidFill>
                <a:latin typeface="Consolas"/>
              </a:defRPr>
            </a:pPr>
            <a:r>
              <a:t># Opens browser, you authorize, token is saved locally</a:t>
            </a:r>
          </a:p>
          <a:p>
            <a:pPr>
              <a:defRPr sz="1400">
                <a:solidFill>
                  <a:srgbClr val="FFFFFF"/>
                </a:solidFill>
                <a:latin typeface="Consolas"/>
              </a:defRPr>
            </a:pPr>
            <a:endParaRPr/>
          </a:p>
          <a:p>
            <a:pPr>
              <a:defRPr sz="1400">
                <a:solidFill>
                  <a:srgbClr val="FFFFFF"/>
                </a:solidFill>
                <a:latin typeface="Consolas"/>
              </a:defRPr>
            </a:pPr>
            <a:r>
              <a:t># Step 2: Verify authentication</a:t>
            </a:r>
          </a:p>
          <a:p>
            <a:pPr>
              <a:defRPr sz="1400">
                <a:solidFill>
                  <a:srgbClr val="FFFFFF"/>
                </a:solidFill>
                <a:latin typeface="Consolas"/>
              </a:defRPr>
            </a:pPr>
            <a:r>
              <a:t>claude whoami</a:t>
            </a:r>
          </a:p>
          <a:p>
            <a:pPr>
              <a:defRPr sz="1400">
                <a:solidFill>
                  <a:srgbClr val="FFFFFF"/>
                </a:solidFill>
                <a:latin typeface="Consolas"/>
              </a:defRPr>
            </a:pPr>
            <a:r>
              <a:t># Shows your account email and plan tier</a:t>
            </a:r>
          </a:p>
          <a:p>
            <a:pPr>
              <a:defRPr sz="1400">
                <a:solidFill>
                  <a:srgbClr val="FFFFFF"/>
                </a:solidFill>
                <a:latin typeface="Consolas"/>
              </a:defRPr>
            </a:pPr>
            <a:endParaRPr/>
          </a:p>
          <a:p>
            <a:pPr>
              <a:defRPr sz="1400">
                <a:solidFill>
                  <a:srgbClr val="FFFFFF"/>
                </a:solidFill>
                <a:latin typeface="Consolas"/>
              </a:defRPr>
            </a:pPr>
            <a:r>
              <a:t># Step 3: Set default model (optional)</a:t>
            </a:r>
          </a:p>
          <a:p>
            <a:pPr>
              <a:defRPr sz="1400">
                <a:solidFill>
                  <a:srgbClr val="FFFFFF"/>
                </a:solidFill>
                <a:latin typeface="Consolas"/>
              </a:defRPr>
            </a:pPr>
            <a:r>
              <a:t>claude config set model claude-sonnet-4</a:t>
            </a:r>
          </a:p>
          <a:p>
            <a:pPr>
              <a:defRPr sz="1400">
                <a:solidFill>
                  <a:srgbClr val="FFFFFF"/>
                </a:solidFill>
                <a:latin typeface="Consolas"/>
              </a:defRPr>
            </a:pPr>
            <a:endParaRPr/>
          </a:p>
          <a:p>
            <a:pPr>
              <a:defRPr sz="1400">
                <a:solidFill>
                  <a:srgbClr val="FFFFFF"/>
                </a:solidFill>
                <a:latin typeface="Consolas"/>
              </a:defRPr>
            </a:pPr>
            <a:r>
              <a:t># Step 4: Check all settings</a:t>
            </a:r>
          </a:p>
          <a:p>
            <a:pPr>
              <a:defRPr sz="1400">
                <a:solidFill>
                  <a:srgbClr val="FFFFFF"/>
                </a:solidFill>
                <a:latin typeface="Consolas"/>
              </a:defRPr>
            </a:pPr>
            <a:r>
              <a:t>claude config list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457200"/>
            <a:ext cx="11277295" cy="731520"/>
          </a:xfrm>
          <a:prstGeom prst="rect">
            <a:avLst/>
          </a:prstGeom>
          <a:noFill/>
        </p:spPr>
        <p:txBody>
          <a:bodyPr wrap="none">
            <a:spAutoFit/>
          </a:bodyPr>
          <a:lstStyle/>
          <a:p>
            <a:pPr algn="ctr">
              <a:defRPr sz="3600" b="1">
                <a:solidFill>
                  <a:srgbClr val="FFFFFF"/>
                </a:solidFill>
              </a:defRPr>
            </a:pPr>
            <a:r>
              <a:t>Model Selection</a:t>
            </a:r>
          </a:p>
        </p:txBody>
      </p:sp>
      <p:sp>
        <p:nvSpPr>
          <p:cNvPr id="3" name="Rectangle 2"/>
          <p:cNvSpPr/>
          <p:nvPr/>
        </p:nvSpPr>
        <p:spPr>
          <a:xfrm>
            <a:off x="6077559" y="1371600"/>
            <a:ext cx="36576" cy="45720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463040"/>
            <a:ext cx="5364327" cy="731520"/>
          </a:xfrm>
          <a:prstGeom prst="rect">
            <a:avLst/>
          </a:prstGeom>
          <a:noFill/>
        </p:spPr>
        <p:txBody>
          <a:bodyPr wrap="none">
            <a:spAutoFit/>
          </a:bodyPr>
          <a:lstStyle/>
          <a:p>
            <a:pPr algn="ctr">
              <a:defRPr sz="2800" b="1">
                <a:solidFill>
                  <a:srgbClr val="00D4AA"/>
                </a:solidFill>
              </a:defRPr>
            </a:pPr>
            <a:r>
              <a:t>Sonnet (Default)</a:t>
            </a:r>
          </a:p>
        </p:txBody>
      </p:sp>
      <p:sp>
        <p:nvSpPr>
          <p:cNvPr id="5" name="TextBox 4"/>
          <p:cNvSpPr txBox="1"/>
          <p:nvPr/>
        </p:nvSpPr>
        <p:spPr>
          <a:xfrm>
            <a:off x="457200" y="2286000"/>
            <a:ext cx="5364327" cy="3657600"/>
          </a:xfrm>
          <a:prstGeom prst="rect">
            <a:avLst/>
          </a:prstGeom>
          <a:noFill/>
        </p:spPr>
        <p:txBody>
          <a:bodyPr wrap="square">
            <a:spAutoFit/>
          </a:bodyPr>
          <a:lstStyle/>
          <a:p>
            <a:pPr>
              <a:spcAft>
                <a:spcPts val="1200"/>
              </a:spcAft>
              <a:defRPr sz="1800">
                <a:solidFill>
                  <a:srgbClr val="FFFFFF"/>
                </a:solidFill>
              </a:defRPr>
            </a:pPr>
            <a:r>
              <a:t>  Fast, efficient, great for most tasks</a:t>
            </a:r>
          </a:p>
          <a:p>
            <a:pPr>
              <a:spcAft>
                <a:spcPts val="1200"/>
              </a:spcAft>
              <a:defRPr sz="1800">
                <a:solidFill>
                  <a:srgbClr val="FFFFFF"/>
                </a:solidFill>
              </a:defRPr>
            </a:pPr>
            <a:r>
              <a:t>  Code generation, editing, debugging</a:t>
            </a:r>
          </a:p>
          <a:p>
            <a:pPr>
              <a:spcAft>
                <a:spcPts val="1200"/>
              </a:spcAft>
              <a:defRPr sz="1800">
                <a:solidFill>
                  <a:srgbClr val="FFFFFF"/>
                </a:solidFill>
              </a:defRPr>
            </a:pPr>
            <a:r>
              <a:t>  Lower token cost per request</a:t>
            </a:r>
          </a:p>
          <a:p>
            <a:pPr>
              <a:spcAft>
                <a:spcPts val="1200"/>
              </a:spcAft>
              <a:defRPr sz="1800">
                <a:solidFill>
                  <a:srgbClr val="FFFFFF"/>
                </a:solidFill>
              </a:defRPr>
            </a:pPr>
            <a:r>
              <a:t>  Best for: everyday development work</a:t>
            </a:r>
          </a:p>
        </p:txBody>
      </p:sp>
      <p:sp>
        <p:nvSpPr>
          <p:cNvPr id="6" name="TextBox 5"/>
          <p:cNvSpPr txBox="1"/>
          <p:nvPr/>
        </p:nvSpPr>
        <p:spPr>
          <a:xfrm>
            <a:off x="6370167" y="1463040"/>
            <a:ext cx="5364327" cy="731520"/>
          </a:xfrm>
          <a:prstGeom prst="rect">
            <a:avLst/>
          </a:prstGeom>
          <a:noFill/>
        </p:spPr>
        <p:txBody>
          <a:bodyPr wrap="none">
            <a:spAutoFit/>
          </a:bodyPr>
          <a:lstStyle/>
          <a:p>
            <a:pPr algn="ctr">
              <a:defRPr sz="2800" b="1">
                <a:solidFill>
                  <a:srgbClr val="E86B4A"/>
                </a:solidFill>
              </a:defRPr>
            </a:pPr>
            <a:r>
              <a:t>Opus (Premium)</a:t>
            </a:r>
          </a:p>
        </p:txBody>
      </p:sp>
      <p:sp>
        <p:nvSpPr>
          <p:cNvPr id="7" name="TextBox 6"/>
          <p:cNvSpPr txBox="1"/>
          <p:nvPr/>
        </p:nvSpPr>
        <p:spPr>
          <a:xfrm>
            <a:off x="6370167" y="2286000"/>
            <a:ext cx="5364327" cy="3657600"/>
          </a:xfrm>
          <a:prstGeom prst="rect">
            <a:avLst/>
          </a:prstGeom>
          <a:noFill/>
        </p:spPr>
        <p:txBody>
          <a:bodyPr wrap="square">
            <a:spAutoFit/>
          </a:bodyPr>
          <a:lstStyle/>
          <a:p>
            <a:pPr>
              <a:spcAft>
                <a:spcPts val="1200"/>
              </a:spcAft>
              <a:defRPr sz="1800">
                <a:solidFill>
                  <a:srgbClr val="FFFFFF"/>
                </a:solidFill>
              </a:defRPr>
            </a:pPr>
            <a:r>
              <a:t>  Deeper reasoning, complex architecture</a:t>
            </a:r>
          </a:p>
          <a:p>
            <a:pPr>
              <a:spcAft>
                <a:spcPts val="1200"/>
              </a:spcAft>
              <a:defRPr sz="1800">
                <a:solidFill>
                  <a:srgbClr val="FFFFFF"/>
                </a:solidFill>
              </a:defRPr>
            </a:pPr>
            <a:r>
              <a:t>  Better at multi-file refactoring</a:t>
            </a:r>
          </a:p>
          <a:p>
            <a:pPr>
              <a:spcAft>
                <a:spcPts val="1200"/>
              </a:spcAft>
              <a:defRPr sz="1800">
                <a:solidFill>
                  <a:srgbClr val="FFFFFF"/>
                </a:solidFill>
              </a:defRPr>
            </a:pPr>
            <a:r>
              <a:t>  Higher token cost but fewer iterations</a:t>
            </a:r>
          </a:p>
          <a:p>
            <a:pPr>
              <a:spcAft>
                <a:spcPts val="1200"/>
              </a:spcAft>
              <a:defRPr sz="1800">
                <a:solidFill>
                  <a:srgbClr val="FFFFFF"/>
                </a:solidFill>
              </a:defRPr>
            </a:pPr>
            <a:r>
              <a:t>  Best for: hard problems, security reviews</a:t>
            </a:r>
          </a:p>
          <a:p>
            <a:pPr>
              <a:spcAft>
                <a:spcPts val="1200"/>
              </a:spcAft>
              <a:defRPr sz="1800">
                <a:solidFill>
                  <a:srgbClr val="FFFFFF"/>
                </a:solidFill>
              </a:defRPr>
            </a:pPr>
            <a:r>
              <a:t>  Switch with: /model opus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1828800"/>
            <a:ext cx="11277295" cy="1371600"/>
          </a:xfrm>
          <a:prstGeom prst="rect">
            <a:avLst/>
          </a:prstGeom>
          <a:noFill/>
        </p:spPr>
        <p:txBody>
          <a:bodyPr wrap="none">
            <a:spAutoFit/>
          </a:bodyPr>
          <a:lstStyle/>
          <a:p>
            <a:pPr algn="ctr">
              <a:defRPr sz="9600" b="1">
                <a:solidFill>
                  <a:srgbClr val="00D4AA"/>
                </a:solidFill>
              </a:defRPr>
            </a:pPr>
            <a:r>
              <a:t>DEMO</a:t>
            </a:r>
          </a:p>
        </p:txBody>
      </p:sp>
      <p:sp>
        <p:nvSpPr>
          <p:cNvPr id="3" name="Rectangle 2"/>
          <p:cNvSpPr/>
          <p:nvPr/>
        </p:nvSpPr>
        <p:spPr>
          <a:xfrm>
            <a:off x="4724247" y="3474720"/>
            <a:ext cx="2743200" cy="54864"/>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3840480"/>
            <a:ext cx="11277295" cy="914400"/>
          </a:xfrm>
          <a:prstGeom prst="rect">
            <a:avLst/>
          </a:prstGeom>
          <a:noFill/>
        </p:spPr>
        <p:txBody>
          <a:bodyPr wrap="square">
            <a:spAutoFit/>
          </a:bodyPr>
          <a:lstStyle/>
          <a:p>
            <a:pPr algn="ctr">
              <a:defRPr sz="3200" b="1">
                <a:solidFill>
                  <a:srgbClr val="FFFFFF"/>
                </a:solidFill>
              </a:defRPr>
            </a:pPr>
            <a:r>
              <a:t>First Command Walkthrough</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Rectangle 1"/>
          <p:cNvSpPr/>
          <p:nvPr/>
        </p:nvSpPr>
        <p:spPr>
          <a:xfrm>
            <a:off x="0" y="1828800"/>
            <a:ext cx="137160" cy="32004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0"/>
            <a:ext cx="11277295" cy="1371600"/>
          </a:xfrm>
          <a:prstGeom prst="rect">
            <a:avLst/>
          </a:prstGeom>
          <a:noFill/>
        </p:spPr>
        <p:txBody>
          <a:bodyPr wrap="square">
            <a:spAutoFit/>
          </a:bodyPr>
          <a:lstStyle/>
          <a:p>
            <a:pPr>
              <a:defRPr sz="5600" b="1">
                <a:solidFill>
                  <a:srgbClr val="FFFFFF"/>
                </a:solidFill>
              </a:defRPr>
            </a:pPr>
            <a:r>
              <a:t>The Agentic Loop</a:t>
            </a:r>
          </a:p>
        </p:txBody>
      </p:sp>
      <p:sp>
        <p:nvSpPr>
          <p:cNvPr id="4" name="TextBox 3"/>
          <p:cNvSpPr txBox="1"/>
          <p:nvPr/>
        </p:nvSpPr>
        <p:spPr>
          <a:xfrm>
            <a:off x="457200" y="3840480"/>
            <a:ext cx="11277295" cy="914400"/>
          </a:xfrm>
          <a:prstGeom prst="rect">
            <a:avLst/>
          </a:prstGeom>
          <a:noFill/>
        </p:spPr>
        <p:txBody>
          <a:bodyPr wrap="square">
            <a:spAutoFit/>
          </a:bodyPr>
          <a:lstStyle/>
          <a:p>
            <a:pPr>
              <a:defRPr sz="2400">
                <a:solidFill>
                  <a:srgbClr val="8B95A5"/>
                </a:solidFill>
              </a:defRPr>
            </a:pPr>
            <a:r>
              <a:t>How Claude Code Actually Works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731520" y="2286000"/>
            <a:ext cx="10728655" cy="1371600"/>
          </a:xfrm>
          <a:prstGeom prst="rect">
            <a:avLst/>
          </a:prstGeom>
          <a:noFill/>
        </p:spPr>
        <p:txBody>
          <a:bodyPr wrap="square">
            <a:spAutoFit/>
          </a:bodyPr>
          <a:lstStyle/>
          <a:p>
            <a:pPr algn="ctr">
              <a:defRPr sz="5200" b="1">
                <a:solidFill>
                  <a:srgbClr val="FFFFFF"/>
                </a:solidFill>
              </a:defRPr>
            </a:pPr>
            <a:r>
              <a:t>The Agentic Loop</a:t>
            </a:r>
          </a:p>
        </p:txBody>
      </p:sp>
      <p:sp>
        <p:nvSpPr>
          <p:cNvPr id="3" name="TextBox 2"/>
          <p:cNvSpPr txBox="1"/>
          <p:nvPr/>
        </p:nvSpPr>
        <p:spPr>
          <a:xfrm>
            <a:off x="914400" y="3840480"/>
            <a:ext cx="10362895" cy="914400"/>
          </a:xfrm>
          <a:prstGeom prst="rect">
            <a:avLst/>
          </a:prstGeom>
          <a:noFill/>
        </p:spPr>
        <p:txBody>
          <a:bodyPr wrap="square">
            <a:spAutoFit/>
          </a:bodyPr>
          <a:lstStyle/>
          <a:p>
            <a:pPr algn="ctr">
              <a:defRPr sz="2400">
                <a:solidFill>
                  <a:srgbClr val="8B95A5"/>
                </a:solidFill>
              </a:defRPr>
            </a:pPr>
            <a:r>
              <a:t>Read → Analyze → Plan → Execute → Verify</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457200"/>
            <a:ext cx="11277295" cy="731520"/>
          </a:xfrm>
          <a:prstGeom prst="rect">
            <a:avLst/>
          </a:prstGeom>
          <a:noFill/>
        </p:spPr>
        <p:txBody>
          <a:bodyPr wrap="none">
            <a:spAutoFit/>
          </a:bodyPr>
          <a:lstStyle/>
          <a:p>
            <a:pPr algn="ctr">
              <a:defRPr sz="3600" b="1">
                <a:solidFill>
                  <a:srgbClr val="FFFFFF"/>
                </a:solidFill>
              </a:defRPr>
            </a:pPr>
            <a:r>
              <a:t>Stage 1: Read</a:t>
            </a:r>
          </a:p>
        </p:txBody>
      </p:sp>
      <p:sp>
        <p:nvSpPr>
          <p:cNvPr id="3" name="Rectangle 2"/>
          <p:cNvSpPr/>
          <p:nvPr/>
        </p:nvSpPr>
        <p:spPr>
          <a:xfrm>
            <a:off x="6077559" y="1371600"/>
            <a:ext cx="36576" cy="45720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463040"/>
            <a:ext cx="5364327" cy="731520"/>
          </a:xfrm>
          <a:prstGeom prst="rect">
            <a:avLst/>
          </a:prstGeom>
          <a:noFill/>
        </p:spPr>
        <p:txBody>
          <a:bodyPr wrap="none">
            <a:spAutoFit/>
          </a:bodyPr>
          <a:lstStyle/>
          <a:p>
            <a:pPr algn="ctr">
              <a:defRPr sz="2800" b="1">
                <a:solidFill>
                  <a:srgbClr val="00D4AA"/>
                </a:solidFill>
              </a:defRPr>
            </a:pPr>
            <a:r>
              <a:t>What Claude Reads</a:t>
            </a:r>
          </a:p>
        </p:txBody>
      </p:sp>
      <p:sp>
        <p:nvSpPr>
          <p:cNvPr id="5" name="TextBox 4"/>
          <p:cNvSpPr txBox="1"/>
          <p:nvPr/>
        </p:nvSpPr>
        <p:spPr>
          <a:xfrm>
            <a:off x="457200" y="2286000"/>
            <a:ext cx="5364327" cy="3657600"/>
          </a:xfrm>
          <a:prstGeom prst="rect">
            <a:avLst/>
          </a:prstGeom>
          <a:noFill/>
        </p:spPr>
        <p:txBody>
          <a:bodyPr wrap="square">
            <a:spAutoFit/>
          </a:bodyPr>
          <a:lstStyle/>
          <a:p>
            <a:pPr>
              <a:spcAft>
                <a:spcPts val="1200"/>
              </a:spcAft>
              <a:defRPr sz="1800">
                <a:solidFill>
                  <a:srgbClr val="FFFFFF"/>
                </a:solidFill>
              </a:defRPr>
            </a:pPr>
            <a:r>
              <a:t>  CLAUDE.md and project configuration</a:t>
            </a:r>
          </a:p>
          <a:p>
            <a:pPr>
              <a:spcAft>
                <a:spcPts val="1200"/>
              </a:spcAft>
              <a:defRPr sz="1800">
                <a:solidFill>
                  <a:srgbClr val="FFFFFF"/>
                </a:solidFill>
              </a:defRPr>
            </a:pPr>
            <a:r>
              <a:t>  Files you @ mention explicitly</a:t>
            </a:r>
          </a:p>
          <a:p>
            <a:pPr>
              <a:spcAft>
                <a:spcPts val="1200"/>
              </a:spcAft>
              <a:defRPr sz="1800">
                <a:solidFill>
                  <a:srgbClr val="FFFFFF"/>
                </a:solidFill>
              </a:defRPr>
            </a:pPr>
            <a:r>
              <a:t>  Files discovered via search and grep</a:t>
            </a:r>
          </a:p>
          <a:p>
            <a:pPr>
              <a:spcAft>
                <a:spcPts val="1200"/>
              </a:spcAft>
              <a:defRPr sz="1800">
                <a:solidFill>
                  <a:srgbClr val="FFFFFF"/>
                </a:solidFill>
              </a:defRPr>
            </a:pPr>
            <a:r>
              <a:t>  Directory structure and file relationships</a:t>
            </a:r>
          </a:p>
          <a:p>
            <a:pPr>
              <a:spcAft>
                <a:spcPts val="1200"/>
              </a:spcAft>
              <a:defRPr sz="1800">
                <a:solidFill>
                  <a:srgbClr val="FFFFFF"/>
                </a:solidFill>
              </a:defRPr>
            </a:pPr>
            <a:r>
              <a:t>  Git history and recent changes</a:t>
            </a:r>
          </a:p>
        </p:txBody>
      </p:sp>
      <p:sp>
        <p:nvSpPr>
          <p:cNvPr id="6" name="TextBox 5"/>
          <p:cNvSpPr txBox="1"/>
          <p:nvPr/>
        </p:nvSpPr>
        <p:spPr>
          <a:xfrm>
            <a:off x="6370167" y="1463040"/>
            <a:ext cx="5364327" cy="731520"/>
          </a:xfrm>
          <a:prstGeom prst="rect">
            <a:avLst/>
          </a:prstGeom>
          <a:noFill/>
        </p:spPr>
        <p:txBody>
          <a:bodyPr wrap="none">
            <a:spAutoFit/>
          </a:bodyPr>
          <a:lstStyle/>
          <a:p>
            <a:pPr algn="ctr">
              <a:defRPr sz="2800" b="1">
                <a:solidFill>
                  <a:srgbClr val="E86B4A"/>
                </a:solidFill>
              </a:defRPr>
            </a:pPr>
            <a:r>
              <a:t>Why It Matters</a:t>
            </a:r>
          </a:p>
        </p:txBody>
      </p:sp>
      <p:sp>
        <p:nvSpPr>
          <p:cNvPr id="7" name="TextBox 6"/>
          <p:cNvSpPr txBox="1"/>
          <p:nvPr/>
        </p:nvSpPr>
        <p:spPr>
          <a:xfrm>
            <a:off x="6370167" y="2286000"/>
            <a:ext cx="5364327" cy="3657600"/>
          </a:xfrm>
          <a:prstGeom prst="rect">
            <a:avLst/>
          </a:prstGeom>
          <a:noFill/>
        </p:spPr>
        <p:txBody>
          <a:bodyPr wrap="square">
            <a:spAutoFit/>
          </a:bodyPr>
          <a:lstStyle/>
          <a:p>
            <a:pPr>
              <a:spcAft>
                <a:spcPts val="1200"/>
              </a:spcAft>
              <a:defRPr sz="1800">
                <a:solidFill>
                  <a:srgbClr val="FFFFFF"/>
                </a:solidFill>
              </a:defRPr>
            </a:pPr>
            <a:r>
              <a:t>  Context quality determines output quality</a:t>
            </a:r>
          </a:p>
          <a:p>
            <a:pPr>
              <a:spcAft>
                <a:spcPts val="1200"/>
              </a:spcAft>
              <a:defRPr sz="1800">
                <a:solidFill>
                  <a:srgbClr val="FFFFFF"/>
                </a:solidFill>
              </a:defRPr>
            </a:pPr>
            <a:r>
              <a:t>  More relevant context = fewer iterations</a:t>
            </a:r>
          </a:p>
          <a:p>
            <a:pPr>
              <a:spcAft>
                <a:spcPts val="1200"/>
              </a:spcAft>
              <a:defRPr sz="1800">
                <a:solidFill>
                  <a:srgbClr val="FFFFFF"/>
                </a:solidFill>
              </a:defRPr>
            </a:pPr>
            <a:r>
              <a:t>  Claude reads strategically — not every file</a:t>
            </a:r>
          </a:p>
          <a:p>
            <a:pPr>
              <a:spcAft>
                <a:spcPts val="1200"/>
              </a:spcAft>
              <a:defRPr sz="1800">
                <a:solidFill>
                  <a:srgbClr val="FFFFFF"/>
                </a:solidFill>
              </a:defRPr>
            </a:pPr>
            <a:r>
              <a:t>  You control what loads via @ mentions</a:t>
            </a:r>
          </a:p>
          <a:p>
            <a:pPr>
              <a:spcAft>
                <a:spcPts val="1200"/>
              </a:spcAft>
              <a:defRPr sz="1800">
                <a:solidFill>
                  <a:srgbClr val="FFFFFF"/>
                </a:solidFill>
              </a:defRPr>
            </a:pPr>
            <a:r>
              <a:t>  Large repos: .claudeignore prevents overload</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457200"/>
            <a:ext cx="11277295" cy="731520"/>
          </a:xfrm>
          <a:prstGeom prst="rect">
            <a:avLst/>
          </a:prstGeom>
          <a:noFill/>
        </p:spPr>
        <p:txBody>
          <a:bodyPr wrap="none">
            <a:spAutoFit/>
          </a:bodyPr>
          <a:lstStyle/>
          <a:p>
            <a:pPr algn="ctr">
              <a:defRPr sz="3600" b="1">
                <a:solidFill>
                  <a:srgbClr val="FFFFFF"/>
                </a:solidFill>
              </a:defRPr>
            </a:pPr>
            <a:r>
              <a:t>Stage 2: Analyze</a:t>
            </a:r>
          </a:p>
        </p:txBody>
      </p:sp>
      <p:sp>
        <p:nvSpPr>
          <p:cNvPr id="3" name="Rectangle 2"/>
          <p:cNvSpPr/>
          <p:nvPr/>
        </p:nvSpPr>
        <p:spPr>
          <a:xfrm>
            <a:off x="6077559" y="1371600"/>
            <a:ext cx="36576" cy="45720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463040"/>
            <a:ext cx="5364327" cy="731520"/>
          </a:xfrm>
          <a:prstGeom prst="rect">
            <a:avLst/>
          </a:prstGeom>
          <a:noFill/>
        </p:spPr>
        <p:txBody>
          <a:bodyPr wrap="none">
            <a:spAutoFit/>
          </a:bodyPr>
          <a:lstStyle/>
          <a:p>
            <a:pPr algn="ctr">
              <a:defRPr sz="2800" b="1">
                <a:solidFill>
                  <a:srgbClr val="00D4AA"/>
                </a:solidFill>
              </a:defRPr>
            </a:pPr>
            <a:r>
              <a:t>Analysis Phase</a:t>
            </a:r>
          </a:p>
        </p:txBody>
      </p:sp>
      <p:sp>
        <p:nvSpPr>
          <p:cNvPr id="5" name="TextBox 4"/>
          <p:cNvSpPr txBox="1"/>
          <p:nvPr/>
        </p:nvSpPr>
        <p:spPr>
          <a:xfrm>
            <a:off x="457200" y="2286000"/>
            <a:ext cx="5364327" cy="3657600"/>
          </a:xfrm>
          <a:prstGeom prst="rect">
            <a:avLst/>
          </a:prstGeom>
          <a:noFill/>
        </p:spPr>
        <p:txBody>
          <a:bodyPr wrap="square">
            <a:spAutoFit/>
          </a:bodyPr>
          <a:lstStyle/>
          <a:p>
            <a:pPr>
              <a:spcAft>
                <a:spcPts val="1200"/>
              </a:spcAft>
              <a:defRPr sz="1800">
                <a:solidFill>
                  <a:srgbClr val="FFFFFF"/>
                </a:solidFill>
              </a:defRPr>
            </a:pPr>
            <a:r>
              <a:t>  Maps dependencies between files</a:t>
            </a:r>
          </a:p>
          <a:p>
            <a:pPr>
              <a:spcAft>
                <a:spcPts val="1200"/>
              </a:spcAft>
              <a:defRPr sz="1800">
                <a:solidFill>
                  <a:srgbClr val="FFFFFF"/>
                </a:solidFill>
              </a:defRPr>
            </a:pPr>
            <a:r>
              <a:t>  Identifies patterns and conventions</a:t>
            </a:r>
          </a:p>
          <a:p>
            <a:pPr>
              <a:spcAft>
                <a:spcPts val="1200"/>
              </a:spcAft>
              <a:defRPr sz="1800">
                <a:solidFill>
                  <a:srgbClr val="FFFFFF"/>
                </a:solidFill>
              </a:defRPr>
            </a:pPr>
            <a:r>
              <a:t>  Understands your coding style from examples</a:t>
            </a:r>
          </a:p>
          <a:p>
            <a:pPr>
              <a:spcAft>
                <a:spcPts val="1200"/>
              </a:spcAft>
              <a:defRPr sz="1800">
                <a:solidFill>
                  <a:srgbClr val="FFFFFF"/>
                </a:solidFill>
              </a:defRPr>
            </a:pPr>
            <a:r>
              <a:t>  Detects potential issues before acting</a:t>
            </a:r>
          </a:p>
          <a:p>
            <a:pPr>
              <a:spcAft>
                <a:spcPts val="1200"/>
              </a:spcAft>
              <a:defRPr sz="1800">
                <a:solidFill>
                  <a:srgbClr val="FFFFFF"/>
                </a:solidFill>
              </a:defRPr>
            </a:pPr>
            <a:r>
              <a:t>  Builds mental model of the codebase</a:t>
            </a:r>
          </a:p>
        </p:txBody>
      </p:sp>
      <p:sp>
        <p:nvSpPr>
          <p:cNvPr id="6" name="TextBox 5"/>
          <p:cNvSpPr txBox="1"/>
          <p:nvPr/>
        </p:nvSpPr>
        <p:spPr>
          <a:xfrm>
            <a:off x="6370167" y="1463040"/>
            <a:ext cx="5364327" cy="731520"/>
          </a:xfrm>
          <a:prstGeom prst="rect">
            <a:avLst/>
          </a:prstGeom>
          <a:noFill/>
        </p:spPr>
        <p:txBody>
          <a:bodyPr wrap="none">
            <a:spAutoFit/>
          </a:bodyPr>
          <a:lstStyle/>
          <a:p>
            <a:pPr algn="ctr">
              <a:defRPr sz="2800" b="1">
                <a:solidFill>
                  <a:srgbClr val="E86B4A"/>
                </a:solidFill>
              </a:defRPr>
            </a:pPr>
            <a:r>
              <a:t>What This Enables</a:t>
            </a:r>
          </a:p>
        </p:txBody>
      </p:sp>
      <p:sp>
        <p:nvSpPr>
          <p:cNvPr id="7" name="TextBox 6"/>
          <p:cNvSpPr txBox="1"/>
          <p:nvPr/>
        </p:nvSpPr>
        <p:spPr>
          <a:xfrm>
            <a:off x="6370167" y="2286000"/>
            <a:ext cx="5364327" cy="3657600"/>
          </a:xfrm>
          <a:prstGeom prst="rect">
            <a:avLst/>
          </a:prstGeom>
          <a:noFill/>
        </p:spPr>
        <p:txBody>
          <a:bodyPr wrap="square">
            <a:spAutoFit/>
          </a:bodyPr>
          <a:lstStyle/>
          <a:p>
            <a:pPr>
              <a:spcAft>
                <a:spcPts val="1200"/>
              </a:spcAft>
              <a:defRPr sz="1800">
                <a:solidFill>
                  <a:srgbClr val="FFFFFF"/>
                </a:solidFill>
              </a:defRPr>
            </a:pPr>
            <a:r>
              <a:t>  Changes that respect existing patterns</a:t>
            </a:r>
          </a:p>
          <a:p>
            <a:pPr>
              <a:spcAft>
                <a:spcPts val="1200"/>
              </a:spcAft>
              <a:defRPr sz="1800">
                <a:solidFill>
                  <a:srgbClr val="FFFFFF"/>
                </a:solidFill>
              </a:defRPr>
            </a:pPr>
            <a:r>
              <a:t>  Edits that don't break dependencies</a:t>
            </a:r>
          </a:p>
          <a:p>
            <a:pPr>
              <a:spcAft>
                <a:spcPts val="1200"/>
              </a:spcAft>
              <a:defRPr sz="1800">
                <a:solidFill>
                  <a:srgbClr val="FFFFFF"/>
                </a:solidFill>
              </a:defRPr>
            </a:pPr>
            <a:r>
              <a:t>  Suggestions that match your team's style</a:t>
            </a:r>
          </a:p>
          <a:p>
            <a:pPr>
              <a:spcAft>
                <a:spcPts val="1200"/>
              </a:spcAft>
              <a:defRPr sz="1800">
                <a:solidFill>
                  <a:srgbClr val="FFFFFF"/>
                </a:solidFill>
              </a:defRPr>
            </a:pPr>
            <a:r>
              <a:t>  Proactive error prevention</a:t>
            </a:r>
          </a:p>
          <a:p>
            <a:pPr>
              <a:spcAft>
                <a:spcPts val="1200"/>
              </a:spcAft>
              <a:defRPr sz="1800">
                <a:solidFill>
                  <a:srgbClr val="FFFFFF"/>
                </a:solidFill>
              </a:defRPr>
            </a:pPr>
            <a:r>
              <a:t>  Context-aware code generation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457200"/>
            <a:ext cx="11277295" cy="731520"/>
          </a:xfrm>
          <a:prstGeom prst="rect">
            <a:avLst/>
          </a:prstGeom>
          <a:noFill/>
        </p:spPr>
        <p:txBody>
          <a:bodyPr wrap="none">
            <a:spAutoFit/>
          </a:bodyPr>
          <a:lstStyle/>
          <a:p>
            <a:pPr algn="ctr">
              <a:defRPr sz="3600" b="1">
                <a:solidFill>
                  <a:srgbClr val="FFFFFF"/>
                </a:solidFill>
              </a:defRPr>
            </a:pPr>
            <a:r>
              <a:t>Stage 3: Plan</a:t>
            </a:r>
          </a:p>
        </p:txBody>
      </p:sp>
      <p:sp>
        <p:nvSpPr>
          <p:cNvPr id="3" name="Rectangle 2"/>
          <p:cNvSpPr/>
          <p:nvPr/>
        </p:nvSpPr>
        <p:spPr>
          <a:xfrm>
            <a:off x="6077559" y="1371600"/>
            <a:ext cx="36576" cy="45720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463040"/>
            <a:ext cx="5364327" cy="731520"/>
          </a:xfrm>
          <a:prstGeom prst="rect">
            <a:avLst/>
          </a:prstGeom>
          <a:noFill/>
        </p:spPr>
        <p:txBody>
          <a:bodyPr wrap="none">
            <a:spAutoFit/>
          </a:bodyPr>
          <a:lstStyle/>
          <a:p>
            <a:pPr algn="ctr">
              <a:defRPr sz="2800" b="1">
                <a:solidFill>
                  <a:srgbClr val="00D4AA"/>
                </a:solidFill>
              </a:defRPr>
            </a:pPr>
            <a:r>
              <a:t>Planning Phase</a:t>
            </a:r>
          </a:p>
        </p:txBody>
      </p:sp>
      <p:sp>
        <p:nvSpPr>
          <p:cNvPr id="5" name="TextBox 4"/>
          <p:cNvSpPr txBox="1"/>
          <p:nvPr/>
        </p:nvSpPr>
        <p:spPr>
          <a:xfrm>
            <a:off x="457200" y="2286000"/>
            <a:ext cx="5364327" cy="3657600"/>
          </a:xfrm>
          <a:prstGeom prst="rect">
            <a:avLst/>
          </a:prstGeom>
          <a:noFill/>
        </p:spPr>
        <p:txBody>
          <a:bodyPr wrap="square">
            <a:spAutoFit/>
          </a:bodyPr>
          <a:lstStyle/>
          <a:p>
            <a:pPr>
              <a:spcAft>
                <a:spcPts val="1200"/>
              </a:spcAft>
              <a:defRPr sz="1800">
                <a:solidFill>
                  <a:srgbClr val="FFFFFF"/>
                </a:solidFill>
              </a:defRPr>
            </a:pPr>
            <a:r>
              <a:t>  Breaks complex tasks into steps</a:t>
            </a:r>
          </a:p>
          <a:p>
            <a:pPr>
              <a:spcAft>
                <a:spcPts val="1200"/>
              </a:spcAft>
              <a:defRPr sz="1800">
                <a:solidFill>
                  <a:srgbClr val="FFFFFF"/>
                </a:solidFill>
              </a:defRPr>
            </a:pPr>
            <a:r>
              <a:t>  Identifies which files need changes</a:t>
            </a:r>
          </a:p>
          <a:p>
            <a:pPr>
              <a:spcAft>
                <a:spcPts val="1200"/>
              </a:spcAft>
              <a:defRPr sz="1800">
                <a:solidFill>
                  <a:srgbClr val="FFFFFF"/>
                </a:solidFill>
              </a:defRPr>
            </a:pPr>
            <a:r>
              <a:t>  Determines order of operations</a:t>
            </a:r>
          </a:p>
          <a:p>
            <a:pPr>
              <a:spcAft>
                <a:spcPts val="1200"/>
              </a:spcAft>
              <a:defRPr sz="1800">
                <a:solidFill>
                  <a:srgbClr val="FFFFFF"/>
                </a:solidFill>
              </a:defRPr>
            </a:pPr>
            <a:r>
              <a:t>  Considers edge cases and impacts</a:t>
            </a:r>
          </a:p>
          <a:p>
            <a:pPr>
              <a:spcAft>
                <a:spcPts val="1200"/>
              </a:spcAft>
              <a:defRPr sz="1800">
                <a:solidFill>
                  <a:srgbClr val="FFFFFF"/>
                </a:solidFill>
              </a:defRPr>
            </a:pPr>
            <a:r>
              <a:t>  Creates execution strategy</a:t>
            </a:r>
          </a:p>
        </p:txBody>
      </p:sp>
      <p:sp>
        <p:nvSpPr>
          <p:cNvPr id="6" name="TextBox 5"/>
          <p:cNvSpPr txBox="1"/>
          <p:nvPr/>
        </p:nvSpPr>
        <p:spPr>
          <a:xfrm>
            <a:off x="6370167" y="1463040"/>
            <a:ext cx="5364327" cy="731520"/>
          </a:xfrm>
          <a:prstGeom prst="rect">
            <a:avLst/>
          </a:prstGeom>
          <a:noFill/>
        </p:spPr>
        <p:txBody>
          <a:bodyPr wrap="none">
            <a:spAutoFit/>
          </a:bodyPr>
          <a:lstStyle/>
          <a:p>
            <a:pPr algn="ctr">
              <a:defRPr sz="2800" b="1">
                <a:solidFill>
                  <a:srgbClr val="E86B4A"/>
                </a:solidFill>
              </a:defRPr>
            </a:pPr>
            <a:r>
              <a:t>You Can See This</a:t>
            </a:r>
          </a:p>
        </p:txBody>
      </p:sp>
      <p:sp>
        <p:nvSpPr>
          <p:cNvPr id="7" name="TextBox 6"/>
          <p:cNvSpPr txBox="1"/>
          <p:nvPr/>
        </p:nvSpPr>
        <p:spPr>
          <a:xfrm>
            <a:off x="6370167" y="2286000"/>
            <a:ext cx="5364327" cy="3657600"/>
          </a:xfrm>
          <a:prstGeom prst="rect">
            <a:avLst/>
          </a:prstGeom>
          <a:noFill/>
        </p:spPr>
        <p:txBody>
          <a:bodyPr wrap="square">
            <a:spAutoFit/>
          </a:bodyPr>
          <a:lstStyle/>
          <a:p>
            <a:pPr>
              <a:spcAft>
                <a:spcPts val="1200"/>
              </a:spcAft>
              <a:defRPr sz="1800">
                <a:solidFill>
                  <a:srgbClr val="FFFFFF"/>
                </a:solidFill>
              </a:defRPr>
            </a:pPr>
            <a:r>
              <a:t>  Extended Thinking shows reasoning (Tab key)</a:t>
            </a:r>
          </a:p>
          <a:p>
            <a:pPr>
              <a:spcAft>
                <a:spcPts val="1200"/>
              </a:spcAft>
              <a:defRPr sz="1800">
                <a:solidFill>
                  <a:srgbClr val="FFFFFF"/>
                </a:solidFill>
              </a:defRPr>
            </a:pPr>
            <a:r>
              <a:t>  Plan Mode pauses for approval (Shift+Tab)</a:t>
            </a:r>
          </a:p>
          <a:p>
            <a:pPr>
              <a:spcAft>
                <a:spcPts val="1200"/>
              </a:spcAft>
              <a:defRPr sz="1800">
                <a:solidFill>
                  <a:srgbClr val="FFFFFF"/>
                </a:solidFill>
              </a:defRPr>
            </a:pPr>
            <a:r>
              <a:t>  Review the plan before any code changes</a:t>
            </a:r>
          </a:p>
          <a:p>
            <a:pPr>
              <a:spcAft>
                <a:spcPts val="1200"/>
              </a:spcAft>
              <a:defRPr sz="1800">
                <a:solidFill>
                  <a:srgbClr val="FFFFFF"/>
                </a:solidFill>
              </a:defRPr>
            </a:pPr>
            <a:r>
              <a:t>  Edit the plan to redirect approach</a:t>
            </a:r>
          </a:p>
          <a:p>
            <a:pPr>
              <a:spcAft>
                <a:spcPts val="1200"/>
              </a:spcAft>
              <a:defRPr sz="1800">
                <a:solidFill>
                  <a:srgbClr val="FFFFFF"/>
                </a:solidFill>
              </a:defRPr>
            </a:pPr>
            <a:r>
              <a:t>  Best for complex multi-file changes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457200"/>
            <a:ext cx="11277295" cy="731520"/>
          </a:xfrm>
          <a:prstGeom prst="rect">
            <a:avLst/>
          </a:prstGeom>
          <a:noFill/>
        </p:spPr>
        <p:txBody>
          <a:bodyPr wrap="none">
            <a:spAutoFit/>
          </a:bodyPr>
          <a:lstStyle/>
          <a:p>
            <a:pPr algn="ctr">
              <a:defRPr sz="3600" b="1">
                <a:solidFill>
                  <a:srgbClr val="FFFFFF"/>
                </a:solidFill>
              </a:defRPr>
            </a:pPr>
            <a:r>
              <a:t>Stage 4: Execute</a:t>
            </a:r>
          </a:p>
        </p:txBody>
      </p:sp>
      <p:sp>
        <p:nvSpPr>
          <p:cNvPr id="3" name="Rectangle 2"/>
          <p:cNvSpPr/>
          <p:nvPr/>
        </p:nvSpPr>
        <p:spPr>
          <a:xfrm>
            <a:off x="6077559" y="1371600"/>
            <a:ext cx="36576" cy="45720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463040"/>
            <a:ext cx="5364327" cy="731520"/>
          </a:xfrm>
          <a:prstGeom prst="rect">
            <a:avLst/>
          </a:prstGeom>
          <a:noFill/>
        </p:spPr>
        <p:txBody>
          <a:bodyPr wrap="none">
            <a:spAutoFit/>
          </a:bodyPr>
          <a:lstStyle/>
          <a:p>
            <a:pPr algn="ctr">
              <a:defRPr sz="2800" b="1">
                <a:solidFill>
                  <a:srgbClr val="00D4AA"/>
                </a:solidFill>
              </a:defRPr>
            </a:pPr>
            <a:r>
              <a:t>Execution Phase</a:t>
            </a:r>
          </a:p>
        </p:txBody>
      </p:sp>
      <p:sp>
        <p:nvSpPr>
          <p:cNvPr id="5" name="TextBox 4"/>
          <p:cNvSpPr txBox="1"/>
          <p:nvPr/>
        </p:nvSpPr>
        <p:spPr>
          <a:xfrm>
            <a:off x="457200" y="2286000"/>
            <a:ext cx="5364327" cy="3657600"/>
          </a:xfrm>
          <a:prstGeom prst="rect">
            <a:avLst/>
          </a:prstGeom>
          <a:noFill/>
        </p:spPr>
        <p:txBody>
          <a:bodyPr wrap="square">
            <a:spAutoFit/>
          </a:bodyPr>
          <a:lstStyle/>
          <a:p>
            <a:pPr>
              <a:spcAft>
                <a:spcPts val="1200"/>
              </a:spcAft>
              <a:defRPr sz="1800">
                <a:solidFill>
                  <a:srgbClr val="FFFFFF"/>
                </a:solidFill>
              </a:defRPr>
            </a:pPr>
            <a:r>
              <a:t>  Creates and edits files directly</a:t>
            </a:r>
          </a:p>
          <a:p>
            <a:pPr>
              <a:spcAft>
                <a:spcPts val="1200"/>
              </a:spcAft>
              <a:defRPr sz="1800">
                <a:solidFill>
                  <a:srgbClr val="FFFFFF"/>
                </a:solidFill>
              </a:defRPr>
            </a:pPr>
            <a:r>
              <a:t>  Runs shell commands (npm, git, tests)</a:t>
            </a:r>
          </a:p>
          <a:p>
            <a:pPr>
              <a:spcAft>
                <a:spcPts val="1200"/>
              </a:spcAft>
              <a:defRPr sz="1800">
                <a:solidFill>
                  <a:srgbClr val="FFFFFF"/>
                </a:solidFill>
              </a:defRPr>
            </a:pPr>
            <a:r>
              <a:t>  Installs dependencies as needed</a:t>
            </a:r>
          </a:p>
          <a:p>
            <a:pPr>
              <a:spcAft>
                <a:spcPts val="1200"/>
              </a:spcAft>
              <a:defRPr sz="1800">
                <a:solidFill>
                  <a:srgbClr val="FFFFFF"/>
                </a:solidFill>
              </a:defRPr>
            </a:pPr>
            <a:r>
              <a:t>  Makes changes across multiple files</a:t>
            </a:r>
          </a:p>
          <a:p>
            <a:pPr>
              <a:spcAft>
                <a:spcPts val="1200"/>
              </a:spcAft>
              <a:defRPr sz="1800">
                <a:solidFill>
                  <a:srgbClr val="FFFFFF"/>
                </a:solidFill>
              </a:defRPr>
            </a:pPr>
            <a:r>
              <a:t>  Follows the plan from Stage 3</a:t>
            </a:r>
          </a:p>
        </p:txBody>
      </p:sp>
      <p:sp>
        <p:nvSpPr>
          <p:cNvPr id="6" name="TextBox 5"/>
          <p:cNvSpPr txBox="1"/>
          <p:nvPr/>
        </p:nvSpPr>
        <p:spPr>
          <a:xfrm>
            <a:off x="6370167" y="1463040"/>
            <a:ext cx="5364327" cy="731520"/>
          </a:xfrm>
          <a:prstGeom prst="rect">
            <a:avLst/>
          </a:prstGeom>
          <a:noFill/>
        </p:spPr>
        <p:txBody>
          <a:bodyPr wrap="none">
            <a:spAutoFit/>
          </a:bodyPr>
          <a:lstStyle/>
          <a:p>
            <a:pPr algn="ctr">
              <a:defRPr sz="2800" b="1">
                <a:solidFill>
                  <a:srgbClr val="E86B4A"/>
                </a:solidFill>
              </a:defRPr>
            </a:pPr>
            <a:r>
              <a:t>Permission Model</a:t>
            </a:r>
          </a:p>
        </p:txBody>
      </p:sp>
      <p:sp>
        <p:nvSpPr>
          <p:cNvPr id="7" name="TextBox 6"/>
          <p:cNvSpPr txBox="1"/>
          <p:nvPr/>
        </p:nvSpPr>
        <p:spPr>
          <a:xfrm>
            <a:off x="6370167" y="2286000"/>
            <a:ext cx="5364327" cy="3657600"/>
          </a:xfrm>
          <a:prstGeom prst="rect">
            <a:avLst/>
          </a:prstGeom>
          <a:noFill/>
        </p:spPr>
        <p:txBody>
          <a:bodyPr wrap="square">
            <a:spAutoFit/>
          </a:bodyPr>
          <a:lstStyle/>
          <a:p>
            <a:pPr>
              <a:spcAft>
                <a:spcPts val="1200"/>
              </a:spcAft>
              <a:defRPr sz="1800">
                <a:solidFill>
                  <a:srgbClr val="FFFFFF"/>
                </a:solidFill>
              </a:defRPr>
            </a:pPr>
            <a:r>
              <a:t>  Asks before running destructive commands</a:t>
            </a:r>
          </a:p>
          <a:p>
            <a:pPr>
              <a:spcAft>
                <a:spcPts val="1200"/>
              </a:spcAft>
              <a:defRPr sz="1800">
                <a:solidFill>
                  <a:srgbClr val="FFFFFF"/>
                </a:solidFill>
              </a:defRPr>
            </a:pPr>
            <a:r>
              <a:t>  Allowlist for trusted operations</a:t>
            </a:r>
          </a:p>
          <a:p>
            <a:pPr>
              <a:spcAft>
                <a:spcPts val="1200"/>
              </a:spcAft>
              <a:defRPr sz="1800">
                <a:solidFill>
                  <a:srgbClr val="FFFFFF"/>
                </a:solidFill>
              </a:defRPr>
            </a:pPr>
            <a:r>
              <a:t>  You approve each tool use (or auto-accept)</a:t>
            </a:r>
          </a:p>
          <a:p>
            <a:pPr>
              <a:spcAft>
                <a:spcPts val="1200"/>
              </a:spcAft>
              <a:defRPr sz="1800">
                <a:solidFill>
                  <a:srgbClr val="FFFFFF"/>
                </a:solidFill>
              </a:defRPr>
            </a:pPr>
            <a:r>
              <a:t>  Shift+Tab toggles auto-accept mode</a:t>
            </a:r>
          </a:p>
          <a:p>
            <a:pPr>
              <a:spcAft>
                <a:spcPts val="1200"/>
              </a:spcAft>
              <a:defRPr sz="1800">
                <a:solidFill>
                  <a:srgbClr val="FFFFFF"/>
                </a:solidFill>
              </a:defRPr>
            </a:pPr>
            <a:r>
              <a:t>  Never modifies files outside your project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457200"/>
            <a:ext cx="11277295" cy="731520"/>
          </a:xfrm>
          <a:prstGeom prst="rect">
            <a:avLst/>
          </a:prstGeom>
          <a:noFill/>
        </p:spPr>
        <p:txBody>
          <a:bodyPr wrap="none">
            <a:spAutoFit/>
          </a:bodyPr>
          <a:lstStyle/>
          <a:p>
            <a:pPr algn="ctr">
              <a:defRPr sz="3600" b="1">
                <a:solidFill>
                  <a:srgbClr val="FFFFFF"/>
                </a:solidFill>
              </a:defRPr>
            </a:pPr>
            <a:r>
              <a:t>Stage 5: Verify</a:t>
            </a:r>
          </a:p>
        </p:txBody>
      </p:sp>
      <p:sp>
        <p:nvSpPr>
          <p:cNvPr id="3" name="Rectangle 2"/>
          <p:cNvSpPr/>
          <p:nvPr/>
        </p:nvSpPr>
        <p:spPr>
          <a:xfrm>
            <a:off x="6077559" y="1371600"/>
            <a:ext cx="36576" cy="45720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463040"/>
            <a:ext cx="5364327" cy="731520"/>
          </a:xfrm>
          <a:prstGeom prst="rect">
            <a:avLst/>
          </a:prstGeom>
          <a:noFill/>
        </p:spPr>
        <p:txBody>
          <a:bodyPr wrap="none">
            <a:spAutoFit/>
          </a:bodyPr>
          <a:lstStyle/>
          <a:p>
            <a:pPr algn="ctr">
              <a:defRPr sz="2800" b="1">
                <a:solidFill>
                  <a:srgbClr val="00D4AA"/>
                </a:solidFill>
              </a:defRPr>
            </a:pPr>
            <a:r>
              <a:t>Verification Phase</a:t>
            </a:r>
          </a:p>
        </p:txBody>
      </p:sp>
      <p:sp>
        <p:nvSpPr>
          <p:cNvPr id="5" name="TextBox 4"/>
          <p:cNvSpPr txBox="1"/>
          <p:nvPr/>
        </p:nvSpPr>
        <p:spPr>
          <a:xfrm>
            <a:off x="457200" y="2286000"/>
            <a:ext cx="5364327" cy="3657600"/>
          </a:xfrm>
          <a:prstGeom prst="rect">
            <a:avLst/>
          </a:prstGeom>
          <a:noFill/>
        </p:spPr>
        <p:txBody>
          <a:bodyPr wrap="square">
            <a:spAutoFit/>
          </a:bodyPr>
          <a:lstStyle/>
          <a:p>
            <a:pPr>
              <a:spcAft>
                <a:spcPts val="1200"/>
              </a:spcAft>
              <a:defRPr sz="1800">
                <a:solidFill>
                  <a:srgbClr val="FFFFFF"/>
                </a:solidFill>
              </a:defRPr>
            </a:pPr>
            <a:r>
              <a:t>  Runs tests to confirm changes work</a:t>
            </a:r>
          </a:p>
          <a:p>
            <a:pPr>
              <a:spcAft>
                <a:spcPts val="1200"/>
              </a:spcAft>
              <a:defRPr sz="1800">
                <a:solidFill>
                  <a:srgbClr val="FFFFFF"/>
                </a:solidFill>
              </a:defRPr>
            </a:pPr>
            <a:r>
              <a:t>  Checks for syntax and type errors</a:t>
            </a:r>
          </a:p>
          <a:p>
            <a:pPr>
              <a:spcAft>
                <a:spcPts val="1200"/>
              </a:spcAft>
              <a:defRPr sz="1800">
                <a:solidFill>
                  <a:srgbClr val="FFFFFF"/>
                </a:solidFill>
              </a:defRPr>
            </a:pPr>
            <a:r>
              <a:t>  Validates against your CLAUDE.md rules</a:t>
            </a:r>
          </a:p>
          <a:p>
            <a:pPr>
              <a:spcAft>
                <a:spcPts val="1200"/>
              </a:spcAft>
              <a:defRPr sz="1800">
                <a:solidFill>
                  <a:srgbClr val="FFFFFF"/>
                </a:solidFill>
              </a:defRPr>
            </a:pPr>
            <a:r>
              <a:t>  Reports what changed and why</a:t>
            </a:r>
          </a:p>
          <a:p>
            <a:pPr>
              <a:spcAft>
                <a:spcPts val="1200"/>
              </a:spcAft>
              <a:defRPr sz="1800">
                <a:solidFill>
                  <a:srgbClr val="FFFFFF"/>
                </a:solidFill>
              </a:defRPr>
            </a:pPr>
            <a:r>
              <a:t>  Suggests follow-up improvements</a:t>
            </a:r>
          </a:p>
        </p:txBody>
      </p:sp>
      <p:sp>
        <p:nvSpPr>
          <p:cNvPr id="6" name="TextBox 5"/>
          <p:cNvSpPr txBox="1"/>
          <p:nvPr/>
        </p:nvSpPr>
        <p:spPr>
          <a:xfrm>
            <a:off x="6370167" y="1463040"/>
            <a:ext cx="5364327" cy="731520"/>
          </a:xfrm>
          <a:prstGeom prst="rect">
            <a:avLst/>
          </a:prstGeom>
          <a:noFill/>
        </p:spPr>
        <p:txBody>
          <a:bodyPr wrap="none">
            <a:spAutoFit/>
          </a:bodyPr>
          <a:lstStyle/>
          <a:p>
            <a:pPr algn="ctr">
              <a:defRPr sz="2800" b="1">
                <a:solidFill>
                  <a:srgbClr val="E86B4A"/>
                </a:solidFill>
              </a:defRPr>
            </a:pPr>
            <a:r>
              <a:t>Your Role</a:t>
            </a:r>
          </a:p>
        </p:txBody>
      </p:sp>
      <p:sp>
        <p:nvSpPr>
          <p:cNvPr id="7" name="TextBox 6"/>
          <p:cNvSpPr txBox="1"/>
          <p:nvPr/>
        </p:nvSpPr>
        <p:spPr>
          <a:xfrm>
            <a:off x="6370167" y="2286000"/>
            <a:ext cx="5364327" cy="3657600"/>
          </a:xfrm>
          <a:prstGeom prst="rect">
            <a:avLst/>
          </a:prstGeom>
          <a:noFill/>
        </p:spPr>
        <p:txBody>
          <a:bodyPr wrap="square">
            <a:spAutoFit/>
          </a:bodyPr>
          <a:lstStyle/>
          <a:p>
            <a:pPr>
              <a:spcAft>
                <a:spcPts val="1200"/>
              </a:spcAft>
              <a:defRPr sz="1800">
                <a:solidFill>
                  <a:srgbClr val="FFFFFF"/>
                </a:solidFill>
              </a:defRPr>
            </a:pPr>
            <a:r>
              <a:t>  Review the output — don't blindly accept</a:t>
            </a:r>
          </a:p>
          <a:p>
            <a:pPr>
              <a:spcAft>
                <a:spcPts val="1200"/>
              </a:spcAft>
              <a:defRPr sz="1800">
                <a:solidFill>
                  <a:srgbClr val="FFFFFF"/>
                </a:solidFill>
              </a:defRPr>
            </a:pPr>
            <a:r>
              <a:t>  Run /review for code quality check</a:t>
            </a:r>
          </a:p>
          <a:p>
            <a:pPr>
              <a:spcAft>
                <a:spcPts val="1200"/>
              </a:spcAft>
              <a:defRPr sz="1800">
                <a:solidFill>
                  <a:srgbClr val="FFFFFF"/>
                </a:solidFill>
              </a:defRPr>
            </a:pPr>
            <a:r>
              <a:t>  Run /test for test coverage</a:t>
            </a:r>
          </a:p>
          <a:p>
            <a:pPr>
              <a:spcAft>
                <a:spcPts val="1200"/>
              </a:spcAft>
              <a:defRPr sz="1800">
                <a:solidFill>
                  <a:srgbClr val="FFFFFF"/>
                </a:solidFill>
              </a:defRPr>
            </a:pPr>
            <a:r>
              <a:t>  Check git diff before committing</a:t>
            </a:r>
          </a:p>
          <a:p>
            <a:pPr>
              <a:spcAft>
                <a:spcPts val="1200"/>
              </a:spcAft>
              <a:defRPr sz="1800">
                <a:solidFill>
                  <a:srgbClr val="FFFFFF"/>
                </a:solidFill>
              </a:defRPr>
            </a:pPr>
            <a:r>
              <a:t>  Iterate: 'make it better' is a valid prompt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731520"/>
            <a:ext cx="11277295" cy="914400"/>
          </a:xfrm>
          <a:prstGeom prst="rect">
            <a:avLst/>
          </a:prstGeom>
          <a:noFill/>
        </p:spPr>
        <p:txBody>
          <a:bodyPr wrap="square">
            <a:spAutoFit/>
          </a:bodyPr>
          <a:lstStyle/>
          <a:p>
            <a:pPr algn="ctr">
              <a:defRPr sz="4000" b="1">
                <a:solidFill>
                  <a:srgbClr val="FFFFFF"/>
                </a:solidFill>
              </a:defRPr>
            </a:pPr>
            <a:r>
              <a:t>Engineering Principle: Small, Frequent, Actionable Output</a:t>
            </a:r>
          </a:p>
        </p:txBody>
      </p:sp>
      <p:sp>
        <p:nvSpPr>
          <p:cNvPr id="3" name="Rounded Rectangle 2"/>
          <p:cNvSpPr/>
          <p:nvPr/>
        </p:nvSpPr>
        <p:spPr>
          <a:xfrm>
            <a:off x="2301087" y="2011680"/>
            <a:ext cx="2286000" cy="320040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2986887" y="2468880"/>
            <a:ext cx="914400" cy="91440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986887" y="2468880"/>
            <a:ext cx="914400" cy="914400"/>
          </a:xfrm>
          <a:prstGeom prst="rect">
            <a:avLst/>
          </a:prstGeom>
          <a:noFill/>
        </p:spPr>
        <p:txBody>
          <a:bodyPr wrap="none" anchor="ctr">
            <a:spAutoFit/>
          </a:bodyPr>
          <a:lstStyle/>
          <a:p>
            <a:pPr algn="ctr">
              <a:defRPr sz="3600" b="1">
                <a:solidFill>
                  <a:srgbClr val="0B0F1A"/>
                </a:solidFill>
              </a:defRPr>
            </a:pPr>
            <a:r>
              <a:t>1</a:t>
            </a:r>
          </a:p>
        </p:txBody>
      </p:sp>
      <p:sp>
        <p:nvSpPr>
          <p:cNvPr id="6" name="TextBox 5"/>
          <p:cNvSpPr txBox="1"/>
          <p:nvPr/>
        </p:nvSpPr>
        <p:spPr>
          <a:xfrm>
            <a:off x="2392527" y="3657600"/>
            <a:ext cx="2103120" cy="1371600"/>
          </a:xfrm>
          <a:prstGeom prst="rect">
            <a:avLst/>
          </a:prstGeom>
          <a:noFill/>
        </p:spPr>
        <p:txBody>
          <a:bodyPr wrap="square">
            <a:normAutofit lnSpcReduction="10000"/>
          </a:bodyPr>
          <a:lstStyle/>
          <a:p>
            <a:pPr algn="ctr">
              <a:defRPr sz="1800" b="1">
                <a:solidFill>
                  <a:srgbClr val="FFFFFF"/>
                </a:solidFill>
              </a:defRPr>
            </a:pPr>
            <a:r>
              <a:t>Small</a:t>
            </a:r>
          </a:p>
          <a:p>
            <a:pPr algn="ctr">
              <a:spcBef>
                <a:spcPts val="800"/>
              </a:spcBef>
              <a:defRPr sz="1300">
                <a:solidFill>
                  <a:srgbClr val="8B95A5"/>
                </a:solidFill>
              </a:defRPr>
            </a:pPr>
            <a:r>
              <a:t>One task per session.</a:t>
            </a:r>
            <a:br/>
            <a:r>
              <a:t>Don't ask Claude to 'refactor the whole app.'</a:t>
            </a:r>
            <a:br/>
            <a:r>
              <a:t>Ask it to 'refactor the auth middleware to use JWT v3.'</a:t>
            </a:r>
          </a:p>
        </p:txBody>
      </p:sp>
      <p:sp>
        <p:nvSpPr>
          <p:cNvPr id="7" name="Rounded Rectangle 6"/>
          <p:cNvSpPr/>
          <p:nvPr/>
        </p:nvSpPr>
        <p:spPr>
          <a:xfrm>
            <a:off x="4952847" y="2011680"/>
            <a:ext cx="2286000" cy="320040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5638647" y="2468880"/>
            <a:ext cx="914400" cy="91440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638647" y="2468880"/>
            <a:ext cx="914400" cy="914400"/>
          </a:xfrm>
          <a:prstGeom prst="rect">
            <a:avLst/>
          </a:prstGeom>
          <a:noFill/>
        </p:spPr>
        <p:txBody>
          <a:bodyPr wrap="none" anchor="ctr">
            <a:spAutoFit/>
          </a:bodyPr>
          <a:lstStyle/>
          <a:p>
            <a:pPr algn="ctr">
              <a:defRPr sz="3600" b="1">
                <a:solidFill>
                  <a:srgbClr val="0B0F1A"/>
                </a:solidFill>
              </a:defRPr>
            </a:pPr>
            <a:r>
              <a:t>2</a:t>
            </a:r>
          </a:p>
        </p:txBody>
      </p:sp>
      <p:sp>
        <p:nvSpPr>
          <p:cNvPr id="10" name="TextBox 9"/>
          <p:cNvSpPr txBox="1"/>
          <p:nvPr/>
        </p:nvSpPr>
        <p:spPr>
          <a:xfrm>
            <a:off x="5044287" y="3657600"/>
            <a:ext cx="2103120" cy="1371600"/>
          </a:xfrm>
          <a:prstGeom prst="rect">
            <a:avLst/>
          </a:prstGeom>
          <a:noFill/>
        </p:spPr>
        <p:txBody>
          <a:bodyPr wrap="square">
            <a:normAutofit/>
          </a:bodyPr>
          <a:lstStyle/>
          <a:p>
            <a:pPr algn="ctr">
              <a:defRPr sz="1800" b="1">
                <a:solidFill>
                  <a:srgbClr val="FFFFFF"/>
                </a:solidFill>
              </a:defRPr>
            </a:pPr>
            <a:r>
              <a:t>Frequent</a:t>
            </a:r>
          </a:p>
          <a:p>
            <a:pPr algn="ctr">
              <a:spcBef>
                <a:spcPts val="800"/>
              </a:spcBef>
              <a:defRPr sz="1300">
                <a:solidFill>
                  <a:srgbClr val="8B95A5"/>
                </a:solidFill>
              </a:defRPr>
            </a:pPr>
            <a:r>
              <a:t>Commit after each change.</a:t>
            </a:r>
            <a:br/>
            <a:r>
              <a:t>Use /clear between tasks.</a:t>
            </a:r>
            <a:br/>
            <a:r>
              <a:t>Keep context fresh and focused.</a:t>
            </a:r>
          </a:p>
        </p:txBody>
      </p:sp>
      <p:sp>
        <p:nvSpPr>
          <p:cNvPr id="11" name="Rounded Rectangle 10"/>
          <p:cNvSpPr/>
          <p:nvPr/>
        </p:nvSpPr>
        <p:spPr>
          <a:xfrm>
            <a:off x="7604607" y="2011680"/>
            <a:ext cx="2286000" cy="320040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8290407" y="2468880"/>
            <a:ext cx="914400" cy="91440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290407" y="2468880"/>
            <a:ext cx="914400" cy="914400"/>
          </a:xfrm>
          <a:prstGeom prst="rect">
            <a:avLst/>
          </a:prstGeom>
          <a:noFill/>
        </p:spPr>
        <p:txBody>
          <a:bodyPr wrap="none" anchor="ctr">
            <a:spAutoFit/>
          </a:bodyPr>
          <a:lstStyle/>
          <a:p>
            <a:pPr algn="ctr">
              <a:defRPr sz="3600" b="1">
                <a:solidFill>
                  <a:srgbClr val="0B0F1A"/>
                </a:solidFill>
              </a:defRPr>
            </a:pPr>
            <a:r>
              <a:t>3</a:t>
            </a:r>
          </a:p>
        </p:txBody>
      </p:sp>
      <p:sp>
        <p:nvSpPr>
          <p:cNvPr id="14" name="TextBox 13"/>
          <p:cNvSpPr txBox="1"/>
          <p:nvPr/>
        </p:nvSpPr>
        <p:spPr>
          <a:xfrm>
            <a:off x="7696047" y="3657600"/>
            <a:ext cx="2103120" cy="1371600"/>
          </a:xfrm>
          <a:prstGeom prst="rect">
            <a:avLst/>
          </a:prstGeom>
          <a:noFill/>
        </p:spPr>
        <p:txBody>
          <a:bodyPr wrap="square">
            <a:normAutofit fontScale="92500"/>
          </a:bodyPr>
          <a:lstStyle/>
          <a:p>
            <a:pPr algn="ctr">
              <a:defRPr sz="1800" b="1">
                <a:solidFill>
                  <a:srgbClr val="FFFFFF"/>
                </a:solidFill>
              </a:defRPr>
            </a:pPr>
            <a:r>
              <a:t>Actionable</a:t>
            </a:r>
          </a:p>
          <a:p>
            <a:pPr algn="ctr">
              <a:spcBef>
                <a:spcPts val="800"/>
              </a:spcBef>
              <a:defRPr sz="1300">
                <a:solidFill>
                  <a:srgbClr val="8B95A5"/>
                </a:solidFill>
              </a:defRPr>
            </a:pPr>
            <a:r>
              <a:t>Every prompt should produce a testable result.</a:t>
            </a:r>
            <a:br/>
            <a:r>
              <a:t>Not 'explain microservices' but 'extract the user service into its own module with tests.'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1828800"/>
            <a:ext cx="11277295" cy="1371600"/>
          </a:xfrm>
          <a:prstGeom prst="rect">
            <a:avLst/>
          </a:prstGeom>
          <a:noFill/>
        </p:spPr>
        <p:txBody>
          <a:bodyPr wrap="none">
            <a:spAutoFit/>
          </a:bodyPr>
          <a:lstStyle/>
          <a:p>
            <a:pPr algn="ctr">
              <a:defRPr sz="9600" b="1">
                <a:solidFill>
                  <a:srgbClr val="00D4AA"/>
                </a:solidFill>
              </a:defRPr>
            </a:pPr>
            <a:r>
              <a:t>DEMO</a:t>
            </a:r>
          </a:p>
        </p:txBody>
      </p:sp>
      <p:sp>
        <p:nvSpPr>
          <p:cNvPr id="3" name="Rectangle 2"/>
          <p:cNvSpPr/>
          <p:nvPr/>
        </p:nvSpPr>
        <p:spPr>
          <a:xfrm>
            <a:off x="4724247" y="3474720"/>
            <a:ext cx="2743200" cy="54864"/>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3840480"/>
            <a:ext cx="11277295" cy="914400"/>
          </a:xfrm>
          <a:prstGeom prst="rect">
            <a:avLst/>
          </a:prstGeom>
          <a:noFill/>
        </p:spPr>
        <p:txBody>
          <a:bodyPr wrap="square">
            <a:spAutoFit/>
          </a:bodyPr>
          <a:lstStyle/>
          <a:p>
            <a:pPr algn="ctr">
              <a:defRPr sz="3200" b="1">
                <a:solidFill>
                  <a:srgbClr val="FFFFFF"/>
                </a:solidFill>
              </a:defRPr>
            </a:pPr>
            <a:r>
              <a:t>The Complete Agentic Loop</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457200"/>
            <a:ext cx="11277295" cy="731520"/>
          </a:xfrm>
          <a:prstGeom prst="rect">
            <a:avLst/>
          </a:prstGeom>
          <a:noFill/>
        </p:spPr>
        <p:txBody>
          <a:bodyPr wrap="none">
            <a:spAutoFit/>
          </a:bodyPr>
          <a:lstStyle/>
          <a:p>
            <a:pPr algn="ctr">
              <a:defRPr sz="3600" b="1">
                <a:solidFill>
                  <a:srgbClr val="FFFFFF"/>
                </a:solidFill>
              </a:defRPr>
            </a:pPr>
            <a:r>
              <a:t>When the Loop Breaks</a:t>
            </a:r>
          </a:p>
        </p:txBody>
      </p:sp>
      <p:sp>
        <p:nvSpPr>
          <p:cNvPr id="3" name="Rectangle 2"/>
          <p:cNvSpPr/>
          <p:nvPr/>
        </p:nvSpPr>
        <p:spPr>
          <a:xfrm>
            <a:off x="6077559" y="1371600"/>
            <a:ext cx="36576" cy="45720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463040"/>
            <a:ext cx="5364327" cy="731520"/>
          </a:xfrm>
          <a:prstGeom prst="rect">
            <a:avLst/>
          </a:prstGeom>
          <a:noFill/>
        </p:spPr>
        <p:txBody>
          <a:bodyPr wrap="none">
            <a:spAutoFit/>
          </a:bodyPr>
          <a:lstStyle/>
          <a:p>
            <a:pPr algn="ctr">
              <a:defRPr sz="2800" b="1">
                <a:solidFill>
                  <a:srgbClr val="E86B4A"/>
                </a:solidFill>
              </a:defRPr>
            </a:pPr>
            <a:r>
              <a:t>Symptoms</a:t>
            </a:r>
          </a:p>
        </p:txBody>
      </p:sp>
      <p:sp>
        <p:nvSpPr>
          <p:cNvPr id="5" name="TextBox 4"/>
          <p:cNvSpPr txBox="1"/>
          <p:nvPr/>
        </p:nvSpPr>
        <p:spPr>
          <a:xfrm>
            <a:off x="457200" y="2286000"/>
            <a:ext cx="5364327" cy="3657600"/>
          </a:xfrm>
          <a:prstGeom prst="rect">
            <a:avLst/>
          </a:prstGeom>
          <a:noFill/>
        </p:spPr>
        <p:txBody>
          <a:bodyPr wrap="square">
            <a:spAutoFit/>
          </a:bodyPr>
          <a:lstStyle/>
          <a:p>
            <a:pPr>
              <a:spcAft>
                <a:spcPts val="1200"/>
              </a:spcAft>
              <a:defRPr sz="1800">
                <a:solidFill>
                  <a:srgbClr val="FFFFFF"/>
                </a:solidFill>
              </a:defRPr>
            </a:pPr>
            <a:r>
              <a:t>  Claude makes the same mistake repeatedly</a:t>
            </a:r>
          </a:p>
          <a:p>
            <a:pPr>
              <a:spcAft>
                <a:spcPts val="1200"/>
              </a:spcAft>
              <a:defRPr sz="1800">
                <a:solidFill>
                  <a:srgbClr val="FFFFFF"/>
                </a:solidFill>
              </a:defRPr>
            </a:pPr>
            <a:r>
              <a:t>  Output quality drops mid-conversation</a:t>
            </a:r>
          </a:p>
          <a:p>
            <a:pPr>
              <a:spcAft>
                <a:spcPts val="1200"/>
              </a:spcAft>
              <a:defRPr sz="1800">
                <a:solidFill>
                  <a:srgbClr val="FFFFFF"/>
                </a:solidFill>
              </a:defRPr>
            </a:pPr>
            <a:r>
              <a:t>  Claude 'forgets' earlier instructions</a:t>
            </a:r>
          </a:p>
          <a:p>
            <a:pPr>
              <a:spcAft>
                <a:spcPts val="1200"/>
              </a:spcAft>
              <a:defRPr sz="1800">
                <a:solidFill>
                  <a:srgbClr val="FFFFFF"/>
                </a:solidFill>
              </a:defRPr>
            </a:pPr>
            <a:r>
              <a:t>  Responses become generic or vague</a:t>
            </a:r>
          </a:p>
          <a:p>
            <a:pPr>
              <a:spcAft>
                <a:spcPts val="1200"/>
              </a:spcAft>
              <a:defRPr sz="1800">
                <a:solidFill>
                  <a:srgbClr val="FFFFFF"/>
                </a:solidFill>
              </a:defRPr>
            </a:pPr>
            <a:r>
              <a:t>  Edits start conflicting with each other</a:t>
            </a:r>
          </a:p>
        </p:txBody>
      </p:sp>
      <p:sp>
        <p:nvSpPr>
          <p:cNvPr id="6" name="TextBox 5"/>
          <p:cNvSpPr txBox="1"/>
          <p:nvPr/>
        </p:nvSpPr>
        <p:spPr>
          <a:xfrm>
            <a:off x="6370167" y="1463040"/>
            <a:ext cx="5364327" cy="731520"/>
          </a:xfrm>
          <a:prstGeom prst="rect">
            <a:avLst/>
          </a:prstGeom>
          <a:noFill/>
        </p:spPr>
        <p:txBody>
          <a:bodyPr wrap="none">
            <a:spAutoFit/>
          </a:bodyPr>
          <a:lstStyle/>
          <a:p>
            <a:pPr algn="ctr">
              <a:defRPr sz="2800" b="1">
                <a:solidFill>
                  <a:srgbClr val="00D4AA"/>
                </a:solidFill>
              </a:defRPr>
            </a:pPr>
            <a:r>
              <a:t>Fixes</a:t>
            </a:r>
          </a:p>
        </p:txBody>
      </p:sp>
      <p:sp>
        <p:nvSpPr>
          <p:cNvPr id="7" name="TextBox 6"/>
          <p:cNvSpPr txBox="1"/>
          <p:nvPr/>
        </p:nvSpPr>
        <p:spPr>
          <a:xfrm>
            <a:off x="6370167" y="2286000"/>
            <a:ext cx="5364327" cy="3657600"/>
          </a:xfrm>
          <a:prstGeom prst="rect">
            <a:avLst/>
          </a:prstGeom>
          <a:noFill/>
        </p:spPr>
        <p:txBody>
          <a:bodyPr wrap="square">
            <a:spAutoFit/>
          </a:bodyPr>
          <a:lstStyle/>
          <a:p>
            <a:pPr>
              <a:spcAft>
                <a:spcPts val="1200"/>
              </a:spcAft>
              <a:defRPr sz="1800">
                <a:solidFill>
                  <a:srgbClr val="FFFFFF"/>
                </a:solidFill>
              </a:defRPr>
            </a:pPr>
            <a:r>
              <a:t>  Run /clear and restart the task</a:t>
            </a:r>
          </a:p>
          <a:p>
            <a:pPr>
              <a:spcAft>
                <a:spcPts val="1200"/>
              </a:spcAft>
              <a:defRPr sz="1800">
                <a:solidFill>
                  <a:srgbClr val="FFFFFF"/>
                </a:solidFill>
              </a:defRPr>
            </a:pPr>
            <a:r>
              <a:t>  Break the task into smaller pieces</a:t>
            </a:r>
          </a:p>
          <a:p>
            <a:pPr>
              <a:spcAft>
                <a:spcPts val="1200"/>
              </a:spcAft>
              <a:defRPr sz="1800">
                <a:solidFill>
                  <a:srgbClr val="FFFFFF"/>
                </a:solidFill>
              </a:defRPr>
            </a:pPr>
            <a:r>
              <a:t>  Add the mistake to CLAUDE.md as a rule</a:t>
            </a:r>
          </a:p>
          <a:p>
            <a:pPr>
              <a:spcAft>
                <a:spcPts val="1200"/>
              </a:spcAft>
              <a:defRPr sz="1800">
                <a:solidFill>
                  <a:srgbClr val="FFFFFF"/>
                </a:solidFill>
              </a:defRPr>
            </a:pPr>
            <a:r>
              <a:t>  Use /compact to summarize and continue</a:t>
            </a:r>
          </a:p>
          <a:p>
            <a:pPr>
              <a:spcAft>
                <a:spcPts val="1200"/>
              </a:spcAft>
              <a:defRPr sz="1800">
                <a:solidFill>
                  <a:srgbClr val="FFFFFF"/>
                </a:solidFill>
              </a:defRPr>
            </a:pPr>
            <a:r>
              <a:t>  Switch to Plan Mode for complex changes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Rectangle 1"/>
          <p:cNvSpPr/>
          <p:nvPr/>
        </p:nvSpPr>
        <p:spPr>
          <a:xfrm>
            <a:off x="0" y="1828800"/>
            <a:ext cx="137160" cy="32004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0"/>
            <a:ext cx="11277295" cy="1371600"/>
          </a:xfrm>
          <a:prstGeom prst="rect">
            <a:avLst/>
          </a:prstGeom>
          <a:noFill/>
        </p:spPr>
        <p:txBody>
          <a:bodyPr wrap="square">
            <a:spAutoFit/>
          </a:bodyPr>
          <a:lstStyle/>
          <a:p>
            <a:pPr>
              <a:defRPr sz="5600" b="1">
                <a:solidFill>
                  <a:srgbClr val="FFFFFF"/>
                </a:solidFill>
              </a:defRPr>
            </a:pPr>
            <a:r>
              <a:t>CLAUDE.md Configuration</a:t>
            </a:r>
          </a:p>
        </p:txBody>
      </p:sp>
      <p:sp>
        <p:nvSpPr>
          <p:cNvPr id="4" name="TextBox 3"/>
          <p:cNvSpPr txBox="1"/>
          <p:nvPr/>
        </p:nvSpPr>
        <p:spPr>
          <a:xfrm>
            <a:off x="457200" y="3840480"/>
            <a:ext cx="11277295" cy="914400"/>
          </a:xfrm>
          <a:prstGeom prst="rect">
            <a:avLst/>
          </a:prstGeom>
          <a:noFill/>
        </p:spPr>
        <p:txBody>
          <a:bodyPr wrap="square">
            <a:spAutoFit/>
          </a:bodyPr>
          <a:lstStyle/>
          <a:p>
            <a:pPr>
              <a:defRPr sz="2400">
                <a:solidFill>
                  <a:srgbClr val="8B95A5"/>
                </a:solidFill>
              </a:defRPr>
            </a:pPr>
            <a:r>
              <a:t>Your Project's AI Playbook</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731520" y="2286000"/>
            <a:ext cx="10728655" cy="1371600"/>
          </a:xfrm>
          <a:prstGeom prst="rect">
            <a:avLst/>
          </a:prstGeom>
          <a:noFill/>
        </p:spPr>
        <p:txBody>
          <a:bodyPr wrap="square">
            <a:spAutoFit/>
          </a:bodyPr>
          <a:lstStyle/>
          <a:p>
            <a:pPr algn="ctr">
              <a:defRPr sz="5200" b="1">
                <a:solidFill>
                  <a:srgbClr val="FFFFFF"/>
                </a:solidFill>
              </a:defRPr>
            </a:pPr>
            <a:r>
              <a:t>What is CLAUDE.md?</a:t>
            </a:r>
          </a:p>
        </p:txBody>
      </p:sp>
      <p:sp>
        <p:nvSpPr>
          <p:cNvPr id="3" name="TextBox 2"/>
          <p:cNvSpPr txBox="1"/>
          <p:nvPr/>
        </p:nvSpPr>
        <p:spPr>
          <a:xfrm>
            <a:off x="914400" y="3840480"/>
            <a:ext cx="10362895" cy="914400"/>
          </a:xfrm>
          <a:prstGeom prst="rect">
            <a:avLst/>
          </a:prstGeom>
          <a:noFill/>
        </p:spPr>
        <p:txBody>
          <a:bodyPr wrap="square">
            <a:spAutoFit/>
          </a:bodyPr>
          <a:lstStyle/>
          <a:p>
            <a:pPr algn="ctr">
              <a:defRPr sz="2400">
                <a:solidFill>
                  <a:srgbClr val="8B95A5"/>
                </a:solidFill>
              </a:defRPr>
            </a:pPr>
            <a:r>
              <a:t>CLAUDE.md is a configuration file that lives in your project root.</a:t>
            </a:r>
          </a:p>
          <a:p>
            <a:pPr>
              <a:defRPr sz="2400">
                <a:solidFill>
                  <a:srgbClr val="8B95A5"/>
                </a:solidFill>
              </a:defRPr>
            </a:pPr>
            <a:endParaRPr/>
          </a:p>
          <a:p>
            <a:pPr>
              <a:defRPr sz="2400">
                <a:solidFill>
                  <a:srgbClr val="8B95A5"/>
                </a:solidFill>
              </a:defRPr>
            </a:pPr>
            <a:r>
              <a:t>Claude Code reads it first, every session.</a:t>
            </a:r>
          </a:p>
          <a:p>
            <a:pPr>
              <a:defRPr sz="2400">
                <a:solidFill>
                  <a:srgbClr val="8B95A5"/>
                </a:solidFill>
              </a:defRPr>
            </a:pPr>
            <a:endParaRPr/>
          </a:p>
          <a:p>
            <a:pPr>
              <a:defRPr sz="2400">
                <a:solidFill>
                  <a:srgbClr val="8B95A5"/>
                </a:solidFill>
              </a:defRPr>
            </a:pPr>
            <a:r>
              <a:t>It's your project's instruction manual for AI.</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457200"/>
            <a:ext cx="11277295" cy="731520"/>
          </a:xfrm>
          <a:prstGeom prst="rect">
            <a:avLst/>
          </a:prstGeom>
          <a:noFill/>
        </p:spPr>
        <p:txBody>
          <a:bodyPr wrap="none">
            <a:spAutoFit/>
          </a:bodyPr>
          <a:lstStyle/>
          <a:p>
            <a:pPr algn="ctr">
              <a:defRPr sz="3600" b="1">
                <a:solidFill>
                  <a:srgbClr val="FFFFFF"/>
                </a:solidFill>
              </a:defRPr>
            </a:pPr>
            <a:r>
              <a:t>Basic CLAUDE.md Structure</a:t>
            </a:r>
          </a:p>
        </p:txBody>
      </p:sp>
      <p:sp>
        <p:nvSpPr>
          <p:cNvPr id="3" name="Rounded Rectangle 2"/>
          <p:cNvSpPr/>
          <p:nvPr/>
        </p:nvSpPr>
        <p:spPr>
          <a:xfrm>
            <a:off x="914400" y="1645920"/>
            <a:ext cx="10362895" cy="4114800"/>
          </a:xfrm>
          <a:prstGeom prst="round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97280" y="1783080"/>
            <a:ext cx="1828800" cy="365760"/>
          </a:xfrm>
          <a:prstGeom prst="rect">
            <a:avLst/>
          </a:prstGeom>
          <a:noFill/>
        </p:spPr>
        <p:txBody>
          <a:bodyPr wrap="none">
            <a:spAutoFit/>
          </a:bodyPr>
          <a:lstStyle/>
          <a:p>
            <a:pPr>
              <a:defRPr sz="1200" b="1">
                <a:solidFill>
                  <a:srgbClr val="00D4AA"/>
                </a:solidFill>
              </a:defRPr>
            </a:pPr>
            <a:r>
              <a:t>MARKDOWN</a:t>
            </a:r>
          </a:p>
        </p:txBody>
      </p:sp>
      <p:sp>
        <p:nvSpPr>
          <p:cNvPr id="5" name="TextBox 4"/>
          <p:cNvSpPr txBox="1"/>
          <p:nvPr/>
        </p:nvSpPr>
        <p:spPr>
          <a:xfrm>
            <a:off x="1097280" y="2194560"/>
            <a:ext cx="9997135" cy="3291840"/>
          </a:xfrm>
          <a:prstGeom prst="rect">
            <a:avLst/>
          </a:prstGeom>
          <a:noFill/>
        </p:spPr>
        <p:txBody>
          <a:bodyPr wrap="square">
            <a:spAutoFit/>
          </a:bodyPr>
          <a:lstStyle/>
          <a:p>
            <a:pPr>
              <a:defRPr sz="1400">
                <a:solidFill>
                  <a:srgbClr val="FFFFFF"/>
                </a:solidFill>
                <a:latin typeface="Consolas"/>
              </a:defRPr>
            </a:pPr>
            <a:r>
              <a:t># Project: E-Commerce API</a:t>
            </a:r>
          </a:p>
          <a:p>
            <a:pPr>
              <a:defRPr sz="1400">
                <a:solidFill>
                  <a:srgbClr val="FFFFFF"/>
                </a:solidFill>
                <a:latin typeface="Consolas"/>
              </a:defRPr>
            </a:pPr>
            <a:endParaRPr/>
          </a:p>
          <a:p>
            <a:pPr>
              <a:defRPr sz="1400">
                <a:solidFill>
                  <a:srgbClr val="FFFFFF"/>
                </a:solidFill>
                <a:latin typeface="Consolas"/>
              </a:defRPr>
            </a:pPr>
            <a:r>
              <a:t>## Description</a:t>
            </a:r>
          </a:p>
          <a:p>
            <a:pPr>
              <a:defRPr sz="1400">
                <a:solidFill>
                  <a:srgbClr val="FFFFFF"/>
                </a:solidFill>
                <a:latin typeface="Consolas"/>
              </a:defRPr>
            </a:pPr>
            <a:r>
              <a:t>REST API for online store. FastAPI + PostgreSQL + Redis.</a:t>
            </a:r>
          </a:p>
          <a:p>
            <a:pPr>
              <a:defRPr sz="1400">
                <a:solidFill>
                  <a:srgbClr val="FFFFFF"/>
                </a:solidFill>
                <a:latin typeface="Consolas"/>
              </a:defRPr>
            </a:pPr>
            <a:endParaRPr/>
          </a:p>
          <a:p>
            <a:pPr>
              <a:defRPr sz="1400">
                <a:solidFill>
                  <a:srgbClr val="FFFFFF"/>
                </a:solidFill>
                <a:latin typeface="Consolas"/>
              </a:defRPr>
            </a:pPr>
            <a:r>
              <a:t>## Code Conventions</a:t>
            </a:r>
          </a:p>
          <a:p>
            <a:pPr>
              <a:defRPr sz="1400">
                <a:solidFill>
                  <a:srgbClr val="FFFFFF"/>
                </a:solidFill>
                <a:latin typeface="Consolas"/>
              </a:defRPr>
            </a:pPr>
            <a:r>
              <a:t>- Python 3.11, PEP 8 style</a:t>
            </a:r>
          </a:p>
          <a:p>
            <a:pPr>
              <a:defRPr sz="1400">
                <a:solidFill>
                  <a:srgbClr val="FFFFFF"/>
                </a:solidFill>
                <a:latin typeface="Consolas"/>
              </a:defRPr>
            </a:pPr>
            <a:r>
              <a:t>- Use type hints for all functions</a:t>
            </a:r>
          </a:p>
          <a:p>
            <a:pPr>
              <a:defRPr sz="1400">
                <a:solidFill>
                  <a:srgbClr val="FFFFFF"/>
                </a:solidFill>
                <a:latin typeface="Consolas"/>
              </a:defRPr>
            </a:pPr>
            <a:r>
              <a:t>- Async/await for all database calls</a:t>
            </a:r>
          </a:p>
          <a:p>
            <a:pPr>
              <a:defRPr sz="1400">
                <a:solidFill>
                  <a:srgbClr val="FFFFFF"/>
                </a:solidFill>
                <a:latin typeface="Consolas"/>
              </a:defRPr>
            </a:pPr>
            <a:r>
              <a:t>- Snake_case for functions, PascalCase for classes</a:t>
            </a:r>
          </a:p>
          <a:p>
            <a:pPr>
              <a:defRPr sz="1400">
                <a:solidFill>
                  <a:srgbClr val="FFFFFF"/>
                </a:solidFill>
                <a:latin typeface="Consolas"/>
              </a:defRPr>
            </a:pPr>
            <a:endParaRPr/>
          </a:p>
          <a:p>
            <a:pPr>
              <a:defRPr sz="1400">
                <a:solidFill>
                  <a:srgbClr val="FFFFFF"/>
                </a:solidFill>
                <a:latin typeface="Consolas"/>
              </a:defRPr>
            </a:pPr>
            <a:r>
              <a:t>## Testing</a:t>
            </a:r>
          </a:p>
          <a:p>
            <a:pPr>
              <a:defRPr sz="1400">
                <a:solidFill>
                  <a:srgbClr val="FFFFFF"/>
                </a:solidFill>
                <a:latin typeface="Consolas"/>
              </a:defRPr>
            </a:pPr>
            <a:r>
              <a:t>- Write pytest tests for all new endpoints</a:t>
            </a:r>
          </a:p>
          <a:p>
            <a:pPr>
              <a:defRPr sz="1400">
                <a:solidFill>
                  <a:srgbClr val="FFFFFF"/>
                </a:solidFill>
                <a:latin typeface="Consolas"/>
              </a:defRPr>
            </a:pPr>
            <a:r>
              <a:t>- Aim for 80%+ coverage</a:t>
            </a:r>
          </a:p>
          <a:p>
            <a:pPr>
              <a:defRPr sz="1400">
                <a:solidFill>
                  <a:srgbClr val="FFFFFF"/>
                </a:solidFill>
                <a:latin typeface="Consolas"/>
              </a:defRPr>
            </a:pPr>
            <a:r>
              <a:t>- Tests go in tests/ matching source structure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731520"/>
            <a:ext cx="11277295" cy="914400"/>
          </a:xfrm>
          <a:prstGeom prst="rect">
            <a:avLst/>
          </a:prstGeom>
          <a:noFill/>
        </p:spPr>
        <p:txBody>
          <a:bodyPr wrap="square">
            <a:spAutoFit/>
          </a:bodyPr>
          <a:lstStyle/>
          <a:p>
            <a:pPr algn="ctr">
              <a:defRPr sz="4000" b="1">
                <a:solidFill>
                  <a:srgbClr val="FFFFFF"/>
                </a:solidFill>
              </a:defRPr>
            </a:pPr>
            <a:r>
              <a:t>Engineering Principle: Prefer Routing Over Organizing</a:t>
            </a:r>
          </a:p>
        </p:txBody>
      </p:sp>
      <p:sp>
        <p:nvSpPr>
          <p:cNvPr id="3" name="Rounded Rectangle 2"/>
          <p:cNvSpPr/>
          <p:nvPr/>
        </p:nvSpPr>
        <p:spPr>
          <a:xfrm>
            <a:off x="2301087" y="2011680"/>
            <a:ext cx="2286000" cy="320040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2986887" y="2468880"/>
            <a:ext cx="914400" cy="91440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986887" y="2468880"/>
            <a:ext cx="914400" cy="914400"/>
          </a:xfrm>
          <a:prstGeom prst="rect">
            <a:avLst/>
          </a:prstGeom>
          <a:noFill/>
        </p:spPr>
        <p:txBody>
          <a:bodyPr wrap="none" anchor="ctr">
            <a:spAutoFit/>
          </a:bodyPr>
          <a:lstStyle/>
          <a:p>
            <a:pPr algn="ctr">
              <a:defRPr sz="3600" b="1">
                <a:solidFill>
                  <a:srgbClr val="0B0F1A"/>
                </a:solidFill>
              </a:defRPr>
            </a:pPr>
            <a:r>
              <a:t>1</a:t>
            </a:r>
          </a:p>
        </p:txBody>
      </p:sp>
      <p:sp>
        <p:nvSpPr>
          <p:cNvPr id="6" name="TextBox 5"/>
          <p:cNvSpPr txBox="1"/>
          <p:nvPr/>
        </p:nvSpPr>
        <p:spPr>
          <a:xfrm>
            <a:off x="2392527" y="3657600"/>
            <a:ext cx="2103120" cy="1371600"/>
          </a:xfrm>
          <a:prstGeom prst="rect">
            <a:avLst/>
          </a:prstGeom>
          <a:noFill/>
        </p:spPr>
        <p:txBody>
          <a:bodyPr wrap="square">
            <a:normAutofit lnSpcReduction="10000"/>
          </a:bodyPr>
          <a:lstStyle/>
          <a:p>
            <a:pPr algn="ctr">
              <a:defRPr sz="1800" b="1">
                <a:solidFill>
                  <a:srgbClr val="FFFFFF"/>
                </a:solidFill>
              </a:defRPr>
            </a:pPr>
            <a:r>
              <a:t>Organizing</a:t>
            </a:r>
          </a:p>
          <a:p>
            <a:pPr algn="ctr">
              <a:spcBef>
                <a:spcPts val="800"/>
              </a:spcBef>
              <a:defRPr sz="1300">
                <a:solidFill>
                  <a:srgbClr val="8B95A5"/>
                </a:solidFill>
              </a:defRPr>
            </a:pPr>
            <a:r>
              <a:t>One massive CLAUDE.md with everything.</a:t>
            </a:r>
            <a:br/>
            <a:r>
              <a:t>500+ lines of instructions.</a:t>
            </a:r>
            <a:br/>
            <a:r>
              <a:t>Claude ignores half of it because context is diluted.</a:t>
            </a:r>
          </a:p>
        </p:txBody>
      </p:sp>
      <p:sp>
        <p:nvSpPr>
          <p:cNvPr id="7" name="Rounded Rectangle 6"/>
          <p:cNvSpPr/>
          <p:nvPr/>
        </p:nvSpPr>
        <p:spPr>
          <a:xfrm>
            <a:off x="4952847" y="2011680"/>
            <a:ext cx="2286000" cy="320040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5638647" y="2468880"/>
            <a:ext cx="914400" cy="91440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638647" y="2468880"/>
            <a:ext cx="914400" cy="914400"/>
          </a:xfrm>
          <a:prstGeom prst="rect">
            <a:avLst/>
          </a:prstGeom>
          <a:noFill/>
        </p:spPr>
        <p:txBody>
          <a:bodyPr wrap="none" anchor="ctr">
            <a:spAutoFit/>
          </a:bodyPr>
          <a:lstStyle/>
          <a:p>
            <a:pPr algn="ctr">
              <a:defRPr sz="3600" b="1">
                <a:solidFill>
                  <a:srgbClr val="0B0F1A"/>
                </a:solidFill>
              </a:defRPr>
            </a:pPr>
            <a:r>
              <a:t>2</a:t>
            </a:r>
          </a:p>
        </p:txBody>
      </p:sp>
      <p:sp>
        <p:nvSpPr>
          <p:cNvPr id="10" name="TextBox 9"/>
          <p:cNvSpPr txBox="1"/>
          <p:nvPr/>
        </p:nvSpPr>
        <p:spPr>
          <a:xfrm>
            <a:off x="5044287" y="3657600"/>
            <a:ext cx="2103120" cy="1371600"/>
          </a:xfrm>
          <a:prstGeom prst="rect">
            <a:avLst/>
          </a:prstGeom>
          <a:noFill/>
        </p:spPr>
        <p:txBody>
          <a:bodyPr wrap="square">
            <a:normAutofit fontScale="92500" lnSpcReduction="20000"/>
          </a:bodyPr>
          <a:lstStyle/>
          <a:p>
            <a:pPr algn="ctr">
              <a:defRPr sz="1800" b="1">
                <a:solidFill>
                  <a:srgbClr val="FFFFFF"/>
                </a:solidFill>
              </a:defRPr>
            </a:pPr>
            <a:r>
              <a:t>Routing</a:t>
            </a:r>
          </a:p>
          <a:p>
            <a:pPr algn="ctr">
              <a:spcBef>
                <a:spcPts val="800"/>
              </a:spcBef>
              <a:defRPr sz="1300">
                <a:solidFill>
                  <a:srgbClr val="8B95A5"/>
                </a:solidFill>
              </a:defRPr>
            </a:pPr>
            <a:r>
              <a:t>Core CLAUDE.md: 50-100 lines of essentials.</a:t>
            </a:r>
            <a:br/>
            <a:r>
              <a:t>.claude/rules/*.md for topic-specific guidelines.</a:t>
            </a:r>
            <a:br/>
            <a:r>
              <a:t>Claude loads what's relevant, ignores the rest.</a:t>
            </a:r>
          </a:p>
        </p:txBody>
      </p:sp>
      <p:sp>
        <p:nvSpPr>
          <p:cNvPr id="11" name="Rounded Rectangle 10"/>
          <p:cNvSpPr/>
          <p:nvPr/>
        </p:nvSpPr>
        <p:spPr>
          <a:xfrm>
            <a:off x="7604607" y="2011680"/>
            <a:ext cx="2286000" cy="320040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8290407" y="2468880"/>
            <a:ext cx="914400" cy="91440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290407" y="2468880"/>
            <a:ext cx="914400" cy="914400"/>
          </a:xfrm>
          <a:prstGeom prst="rect">
            <a:avLst/>
          </a:prstGeom>
          <a:noFill/>
        </p:spPr>
        <p:txBody>
          <a:bodyPr wrap="none" anchor="ctr">
            <a:spAutoFit/>
          </a:bodyPr>
          <a:lstStyle/>
          <a:p>
            <a:pPr algn="ctr">
              <a:defRPr sz="3600" b="1">
                <a:solidFill>
                  <a:srgbClr val="0B0F1A"/>
                </a:solidFill>
              </a:defRPr>
            </a:pPr>
            <a:r>
              <a:t>3</a:t>
            </a:r>
          </a:p>
        </p:txBody>
      </p:sp>
      <p:sp>
        <p:nvSpPr>
          <p:cNvPr id="14" name="TextBox 13"/>
          <p:cNvSpPr txBox="1"/>
          <p:nvPr/>
        </p:nvSpPr>
        <p:spPr>
          <a:xfrm>
            <a:off x="7696047" y="3657600"/>
            <a:ext cx="2103120" cy="1371600"/>
          </a:xfrm>
          <a:prstGeom prst="rect">
            <a:avLst/>
          </a:prstGeom>
          <a:noFill/>
        </p:spPr>
        <p:txBody>
          <a:bodyPr wrap="square">
            <a:normAutofit fontScale="92500" lnSpcReduction="20000"/>
          </a:bodyPr>
          <a:lstStyle/>
          <a:p>
            <a:pPr algn="ctr">
              <a:defRPr sz="1800" b="1">
                <a:solidFill>
                  <a:srgbClr val="FFFFFF"/>
                </a:solidFill>
              </a:defRPr>
            </a:pPr>
            <a:r>
              <a:t>Result</a:t>
            </a:r>
          </a:p>
          <a:p>
            <a:pPr algn="ctr">
              <a:spcBef>
                <a:spcPts val="800"/>
              </a:spcBef>
              <a:defRPr sz="1300">
                <a:solidFill>
                  <a:srgbClr val="8B95A5"/>
                </a:solidFill>
              </a:defRPr>
            </a:pPr>
            <a:r>
              <a:t>Better compliance with your rules.</a:t>
            </a:r>
            <a:br/>
            <a:r>
              <a:t>Less context wasted on irrelevant instructions.</a:t>
            </a:r>
            <a:br/>
            <a:r>
              <a:t>Easier to maintain — edit one file per topic.</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457200"/>
            <a:ext cx="11277295" cy="731520"/>
          </a:xfrm>
          <a:prstGeom prst="rect">
            <a:avLst/>
          </a:prstGeom>
          <a:noFill/>
        </p:spPr>
        <p:txBody>
          <a:bodyPr wrap="none">
            <a:spAutoFit/>
          </a:bodyPr>
          <a:lstStyle/>
          <a:p>
            <a:pPr algn="ctr">
              <a:defRPr sz="3600" b="1">
                <a:solidFill>
                  <a:srgbClr val="FFFFFF"/>
                </a:solidFill>
              </a:defRPr>
            </a:pPr>
            <a:r>
              <a:t>Team Settings &amp; Style Guides</a:t>
            </a:r>
          </a:p>
        </p:txBody>
      </p:sp>
      <p:sp>
        <p:nvSpPr>
          <p:cNvPr id="3" name="Rectangle 2"/>
          <p:cNvSpPr/>
          <p:nvPr/>
        </p:nvSpPr>
        <p:spPr>
          <a:xfrm>
            <a:off x="6077559" y="1371600"/>
            <a:ext cx="36576" cy="45720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463040"/>
            <a:ext cx="5364327" cy="731520"/>
          </a:xfrm>
          <a:prstGeom prst="rect">
            <a:avLst/>
          </a:prstGeom>
          <a:noFill/>
        </p:spPr>
        <p:txBody>
          <a:bodyPr wrap="none">
            <a:spAutoFit/>
          </a:bodyPr>
          <a:lstStyle/>
          <a:p>
            <a:pPr algn="ctr">
              <a:defRPr sz="2800" b="1">
                <a:solidFill>
                  <a:srgbClr val="00D4AA"/>
                </a:solidFill>
              </a:defRPr>
            </a:pPr>
            <a:r>
              <a:t>What to Include</a:t>
            </a:r>
          </a:p>
        </p:txBody>
      </p:sp>
      <p:sp>
        <p:nvSpPr>
          <p:cNvPr id="5" name="TextBox 4"/>
          <p:cNvSpPr txBox="1"/>
          <p:nvPr/>
        </p:nvSpPr>
        <p:spPr>
          <a:xfrm>
            <a:off x="457200" y="2286000"/>
            <a:ext cx="5364327" cy="3657600"/>
          </a:xfrm>
          <a:prstGeom prst="rect">
            <a:avLst/>
          </a:prstGeom>
          <a:noFill/>
        </p:spPr>
        <p:txBody>
          <a:bodyPr wrap="square">
            <a:spAutoFit/>
          </a:bodyPr>
          <a:lstStyle/>
          <a:p>
            <a:pPr>
              <a:spcAft>
                <a:spcPts val="1200"/>
              </a:spcAft>
              <a:defRPr sz="1800">
                <a:solidFill>
                  <a:srgbClr val="FFFFFF"/>
                </a:solidFill>
              </a:defRPr>
            </a:pPr>
            <a:r>
              <a:t>  Coding standards (naming, formatting)</a:t>
            </a:r>
          </a:p>
          <a:p>
            <a:pPr>
              <a:spcAft>
                <a:spcPts val="1200"/>
              </a:spcAft>
              <a:defRPr sz="1800">
                <a:solidFill>
                  <a:srgbClr val="FFFFFF"/>
                </a:solidFill>
              </a:defRPr>
            </a:pPr>
            <a:r>
              <a:t>  Testing requirements (coverage, frameworks)</a:t>
            </a:r>
          </a:p>
          <a:p>
            <a:pPr>
              <a:spcAft>
                <a:spcPts val="1200"/>
              </a:spcAft>
              <a:defRPr sz="1800">
                <a:solidFill>
                  <a:srgbClr val="FFFFFF"/>
                </a:solidFill>
              </a:defRPr>
            </a:pPr>
            <a:r>
              <a:t>  Git conventions (commit format, branch naming)</a:t>
            </a:r>
          </a:p>
          <a:p>
            <a:pPr>
              <a:spcAft>
                <a:spcPts val="1200"/>
              </a:spcAft>
              <a:defRPr sz="1800">
                <a:solidFill>
                  <a:srgbClr val="FFFFFF"/>
                </a:solidFill>
              </a:defRPr>
            </a:pPr>
            <a:r>
              <a:t>  Architecture patterns (where to put new code)</a:t>
            </a:r>
          </a:p>
          <a:p>
            <a:pPr>
              <a:spcAft>
                <a:spcPts val="1200"/>
              </a:spcAft>
              <a:defRPr sz="1800">
                <a:solidFill>
                  <a:srgbClr val="FFFFFF"/>
                </a:solidFill>
              </a:defRPr>
            </a:pPr>
            <a:r>
              <a:t>  Review requirements (what must be checked)</a:t>
            </a:r>
          </a:p>
        </p:txBody>
      </p:sp>
      <p:sp>
        <p:nvSpPr>
          <p:cNvPr id="6" name="TextBox 5"/>
          <p:cNvSpPr txBox="1"/>
          <p:nvPr/>
        </p:nvSpPr>
        <p:spPr>
          <a:xfrm>
            <a:off x="6370167" y="1463040"/>
            <a:ext cx="5364327" cy="731520"/>
          </a:xfrm>
          <a:prstGeom prst="rect">
            <a:avLst/>
          </a:prstGeom>
          <a:noFill/>
        </p:spPr>
        <p:txBody>
          <a:bodyPr wrap="none">
            <a:spAutoFit/>
          </a:bodyPr>
          <a:lstStyle/>
          <a:p>
            <a:pPr algn="ctr">
              <a:defRPr sz="2800" b="1">
                <a:solidFill>
                  <a:srgbClr val="E86B4A"/>
                </a:solidFill>
              </a:defRPr>
            </a:pPr>
            <a:r>
              <a:t>How to Share</a:t>
            </a:r>
          </a:p>
        </p:txBody>
      </p:sp>
      <p:sp>
        <p:nvSpPr>
          <p:cNvPr id="7" name="TextBox 6"/>
          <p:cNvSpPr txBox="1"/>
          <p:nvPr/>
        </p:nvSpPr>
        <p:spPr>
          <a:xfrm>
            <a:off x="6370167" y="2286000"/>
            <a:ext cx="5364327" cy="3657600"/>
          </a:xfrm>
          <a:prstGeom prst="rect">
            <a:avLst/>
          </a:prstGeom>
          <a:noFill/>
        </p:spPr>
        <p:txBody>
          <a:bodyPr wrap="square">
            <a:spAutoFit/>
          </a:bodyPr>
          <a:lstStyle/>
          <a:p>
            <a:pPr>
              <a:spcAft>
                <a:spcPts val="1200"/>
              </a:spcAft>
              <a:defRPr sz="1800">
                <a:solidFill>
                  <a:srgbClr val="FFFFFF"/>
                </a:solidFill>
              </a:defRPr>
            </a:pPr>
            <a:r>
              <a:t>  Commit .claude/settings.json to git</a:t>
            </a:r>
          </a:p>
          <a:p>
            <a:pPr>
              <a:spcAft>
                <a:spcPts val="1200"/>
              </a:spcAft>
              <a:defRPr sz="1800">
                <a:solidFill>
                  <a:srgbClr val="FFFFFF"/>
                </a:solidFill>
              </a:defRPr>
            </a:pPr>
            <a:r>
              <a:t>  Commit CLAUDE.md to repo root</a:t>
            </a:r>
          </a:p>
          <a:p>
            <a:pPr>
              <a:spcAft>
                <a:spcPts val="1200"/>
              </a:spcAft>
              <a:defRPr sz="1800">
                <a:solidFill>
                  <a:srgbClr val="FFFFFF"/>
                </a:solidFill>
              </a:defRPr>
            </a:pPr>
            <a:r>
              <a:t>  .claude/rules/*.md for modular guidelines</a:t>
            </a:r>
          </a:p>
          <a:p>
            <a:pPr>
              <a:spcAft>
                <a:spcPts val="1200"/>
              </a:spcAft>
              <a:defRPr sz="1800">
                <a:solidFill>
                  <a:srgbClr val="FFFFFF"/>
                </a:solidFill>
              </a:defRPr>
            </a:pPr>
            <a:r>
              <a:t>  CLAUDE.local.md for personal overrides (gitignored)</a:t>
            </a:r>
          </a:p>
          <a:p>
            <a:pPr>
              <a:spcAft>
                <a:spcPts val="1200"/>
              </a:spcAft>
              <a:defRPr sz="1800">
                <a:solidFill>
                  <a:srgbClr val="FFFFFF"/>
                </a:solidFill>
              </a:defRPr>
            </a:pPr>
            <a:r>
              <a:t>  Managed settings for enterprise-wide policies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457200"/>
            <a:ext cx="11277295" cy="731520"/>
          </a:xfrm>
          <a:prstGeom prst="rect">
            <a:avLst/>
          </a:prstGeom>
          <a:noFill/>
        </p:spPr>
        <p:txBody>
          <a:bodyPr wrap="square">
            <a:spAutoFit/>
          </a:bodyPr>
          <a:lstStyle/>
          <a:p>
            <a:pPr algn="ctr">
              <a:defRPr sz="3600" b="1">
                <a:solidFill>
                  <a:srgbClr val="FFFFFF"/>
                </a:solidFill>
              </a:defRPr>
            </a:pPr>
            <a:r>
              <a:t>Advanced: Model Preferences &amp; Custom Rules</a:t>
            </a:r>
          </a:p>
        </p:txBody>
      </p:sp>
      <p:sp>
        <p:nvSpPr>
          <p:cNvPr id="3" name="Rounded Rectangle 2"/>
          <p:cNvSpPr/>
          <p:nvPr/>
        </p:nvSpPr>
        <p:spPr>
          <a:xfrm>
            <a:off x="914400" y="1645920"/>
            <a:ext cx="10362895" cy="4114800"/>
          </a:xfrm>
          <a:prstGeom prst="round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97280" y="1783080"/>
            <a:ext cx="1828800" cy="365760"/>
          </a:xfrm>
          <a:prstGeom prst="rect">
            <a:avLst/>
          </a:prstGeom>
          <a:noFill/>
        </p:spPr>
        <p:txBody>
          <a:bodyPr wrap="none">
            <a:spAutoFit/>
          </a:bodyPr>
          <a:lstStyle/>
          <a:p>
            <a:pPr>
              <a:defRPr sz="1200" b="1">
                <a:solidFill>
                  <a:srgbClr val="00D4AA"/>
                </a:solidFill>
              </a:defRPr>
            </a:pPr>
            <a:r>
              <a:t>CODE</a:t>
            </a:r>
          </a:p>
        </p:txBody>
      </p:sp>
      <p:sp>
        <p:nvSpPr>
          <p:cNvPr id="5" name="TextBox 4"/>
          <p:cNvSpPr txBox="1"/>
          <p:nvPr/>
        </p:nvSpPr>
        <p:spPr>
          <a:xfrm>
            <a:off x="1097280" y="2194560"/>
            <a:ext cx="9997135" cy="3291840"/>
          </a:xfrm>
          <a:prstGeom prst="rect">
            <a:avLst/>
          </a:prstGeom>
          <a:noFill/>
        </p:spPr>
        <p:txBody>
          <a:bodyPr wrap="square">
            <a:spAutoFit/>
          </a:bodyPr>
          <a:lstStyle/>
          <a:p>
            <a:pPr>
              <a:defRPr sz="1400">
                <a:solidFill>
                  <a:srgbClr val="FFFFFF"/>
                </a:solidFill>
                <a:latin typeface="Consolas"/>
              </a:defRPr>
            </a:pPr>
            <a:r>
              <a:t># Model preferences in CLAUDE.md</a:t>
            </a:r>
          </a:p>
          <a:p>
            <a:pPr>
              <a:defRPr sz="1400">
                <a:solidFill>
                  <a:srgbClr val="FFFFFF"/>
                </a:solidFill>
                <a:latin typeface="Consolas"/>
              </a:defRPr>
            </a:pPr>
            <a:endParaRPr/>
          </a:p>
          <a:p>
            <a:pPr>
              <a:defRPr sz="1400">
                <a:solidFill>
                  <a:srgbClr val="FFFFFF"/>
                </a:solidFill>
                <a:latin typeface="Consolas"/>
              </a:defRPr>
            </a:pPr>
            <a:r>
              <a:t>## Model Selection</a:t>
            </a:r>
          </a:p>
          <a:p>
            <a:pPr>
              <a:defRPr sz="1400">
                <a:solidFill>
                  <a:srgbClr val="FFFFFF"/>
                </a:solidFill>
                <a:latin typeface="Consolas"/>
              </a:defRPr>
            </a:pPr>
            <a:r>
              <a:t>- Default: claude-sonnet-4-20250514</a:t>
            </a:r>
          </a:p>
          <a:p>
            <a:pPr>
              <a:defRPr sz="1400">
                <a:solidFill>
                  <a:srgbClr val="FFFFFF"/>
                </a:solidFill>
                <a:latin typeface="Consolas"/>
              </a:defRPr>
            </a:pPr>
            <a:r>
              <a:t>- Complex tasks: claude-opus-4-20250514</a:t>
            </a:r>
          </a:p>
          <a:p>
            <a:pPr>
              <a:defRPr sz="1400">
                <a:solidFill>
                  <a:srgbClr val="FFFFFF"/>
                </a:solidFill>
                <a:latin typeface="Consolas"/>
              </a:defRPr>
            </a:pPr>
            <a:r>
              <a:t>- Quick edits: claude-haiku-4-20250514</a:t>
            </a:r>
          </a:p>
          <a:p>
            <a:pPr>
              <a:defRPr sz="1400">
                <a:solidFill>
                  <a:srgbClr val="FFFFFF"/>
                </a:solidFill>
                <a:latin typeface="Consolas"/>
              </a:defRPr>
            </a:pPr>
            <a:endParaRPr/>
          </a:p>
          <a:p>
            <a:pPr>
              <a:defRPr sz="1400">
                <a:solidFill>
                  <a:srgbClr val="FFFFFF"/>
                </a:solidFill>
                <a:latin typeface="Consolas"/>
              </a:defRPr>
            </a:pPr>
            <a:r>
              <a:t>## Custom Rules</a:t>
            </a:r>
          </a:p>
          <a:p>
            <a:pPr>
              <a:defRPr sz="1400">
                <a:solidFill>
                  <a:srgbClr val="FFFFFF"/>
                </a:solidFill>
                <a:latin typeface="Consolas"/>
              </a:defRPr>
            </a:pPr>
            <a:r>
              <a:t>- Always run tests before committing</a:t>
            </a:r>
          </a:p>
          <a:p>
            <a:pPr>
              <a:defRPr sz="1400">
                <a:solidFill>
                  <a:srgbClr val="FFFFFF"/>
                </a:solidFill>
                <a:latin typeface="Consolas"/>
              </a:defRPr>
            </a:pPr>
            <a:r>
              <a:t>- Never modify /config without asking</a:t>
            </a:r>
          </a:p>
          <a:p>
            <a:pPr>
              <a:defRPr sz="1400">
                <a:solidFill>
                  <a:srgbClr val="FFFFFF"/>
                </a:solidFill>
                <a:latin typeface="Consolas"/>
              </a:defRPr>
            </a:pPr>
            <a:r>
              <a:t>- Use TypeScript strict mode for new files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11277295" cy="822960"/>
          </a:xfrm>
          <a:prstGeom prst="rect">
            <a:avLst/>
          </a:prstGeom>
          <a:noFill/>
        </p:spPr>
        <p:txBody>
          <a:bodyPr wrap="none">
            <a:spAutoFit/>
          </a:bodyPr>
          <a:lstStyle/>
          <a:p>
            <a:pPr>
              <a:defRPr sz="4000" b="1">
                <a:solidFill>
                  <a:srgbClr val="FFFFFF"/>
                </a:solidFill>
              </a:defRPr>
            </a:pPr>
            <a:r>
              <a:t>CLAUDE.md for Non-Engineers</a:t>
            </a:r>
          </a:p>
        </p:txBody>
      </p:sp>
      <p:sp>
        <p:nvSpPr>
          <p:cNvPr id="3" name="Rectangle 2"/>
          <p:cNvSpPr/>
          <p:nvPr/>
        </p:nvSpPr>
        <p:spPr>
          <a:xfrm>
            <a:off x="457200" y="1234440"/>
            <a:ext cx="1828800" cy="3657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463040"/>
            <a:ext cx="11277295" cy="4572000"/>
          </a:xfrm>
          <a:prstGeom prst="rect">
            <a:avLst/>
          </a:prstGeom>
          <a:noFill/>
        </p:spPr>
        <p:txBody>
          <a:bodyPr wrap="square">
            <a:spAutoFit/>
          </a:bodyPr>
          <a:lstStyle/>
          <a:p>
            <a:pPr>
              <a:spcBef>
                <a:spcPts val="800"/>
              </a:spcBef>
              <a:spcAft>
                <a:spcPts val="800"/>
              </a:spcAft>
              <a:defRPr sz="2200">
                <a:solidFill>
                  <a:srgbClr val="FFFFFF"/>
                </a:solidFill>
              </a:defRPr>
            </a:pPr>
            <a:r>
              <a:t>  A PM's CLAUDE.</a:t>
            </a:r>
          </a:p>
          <a:p>
            <a:pPr>
              <a:spcBef>
                <a:spcPts val="800"/>
              </a:spcBef>
              <a:spcAft>
                <a:spcPts val="800"/>
              </a:spcAft>
              <a:defRPr sz="2200">
                <a:solidFill>
                  <a:srgbClr val="FFFFFF"/>
                </a:solidFill>
              </a:defRPr>
            </a:pPr>
            <a:r>
              <a:t>  Example: 'I'm a PM at a B2B SaaS company.</a:t>
            </a:r>
          </a:p>
          <a:p>
            <a:pPr>
              <a:spcBef>
                <a:spcPts val="800"/>
              </a:spcBef>
              <a:spcAft>
                <a:spcPts val="800"/>
              </a:spcAft>
              <a:defRPr sz="2200">
                <a:solidFill>
                  <a:srgbClr val="FFFFFF"/>
                </a:solidFill>
              </a:defRPr>
            </a:pPr>
            <a:r>
              <a:t>  Claude reads this automatically — no more starting every conversation with background info.</a:t>
            </a:r>
          </a:p>
          <a:p>
            <a:pPr>
              <a:spcBef>
                <a:spcPts val="800"/>
              </a:spcBef>
              <a:spcAft>
                <a:spcPts val="800"/>
              </a:spcAft>
              <a:defRPr sz="2200">
                <a:solidFill>
                  <a:srgbClr val="FFFFFF"/>
                </a:solidFill>
              </a:defRPr>
            </a:pPr>
            <a:r>
              <a:t>  Source: Mohit Aggarwal's 'Claude Code for Product Managers' — invest 15 min, save hours.</a:t>
            </a:r>
          </a:p>
          <a:p>
            <a:pPr>
              <a:spcBef>
                <a:spcPts val="800"/>
              </a:spcBef>
              <a:spcAft>
                <a:spcPts val="800"/>
              </a:spcAft>
              <a:defRPr sz="2200">
                <a:solidFill>
                  <a:srgbClr val="FFFFFF"/>
                </a:solidFill>
              </a:defRPr>
            </a:pPr>
            <a:r>
              <a:t>  This ties directly to Engineering Principle #10: Build for Restart, Not Perfection — CLAUDE.</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731520"/>
            <a:ext cx="11277295" cy="914400"/>
          </a:xfrm>
          <a:prstGeom prst="rect">
            <a:avLst/>
          </a:prstGeom>
          <a:noFill/>
        </p:spPr>
        <p:txBody>
          <a:bodyPr wrap="none">
            <a:spAutoFit/>
          </a:bodyPr>
          <a:lstStyle/>
          <a:p>
            <a:pPr algn="ctr">
              <a:defRPr sz="4000" b="1">
                <a:solidFill>
                  <a:srgbClr val="FFFFFF"/>
                </a:solidFill>
              </a:defRPr>
            </a:pPr>
            <a:r>
              <a:t>CLAUDE.md Best Practices</a:t>
            </a:r>
          </a:p>
        </p:txBody>
      </p:sp>
      <p:sp>
        <p:nvSpPr>
          <p:cNvPr id="3" name="Rounded Rectangle 2"/>
          <p:cNvSpPr/>
          <p:nvPr/>
        </p:nvSpPr>
        <p:spPr>
          <a:xfrm>
            <a:off x="2301087" y="2011680"/>
            <a:ext cx="2286000" cy="320040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2986887" y="2468880"/>
            <a:ext cx="914400" cy="91440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986887" y="2468880"/>
            <a:ext cx="914400" cy="914400"/>
          </a:xfrm>
          <a:prstGeom prst="rect">
            <a:avLst/>
          </a:prstGeom>
          <a:noFill/>
        </p:spPr>
        <p:txBody>
          <a:bodyPr wrap="none" anchor="ctr">
            <a:spAutoFit/>
          </a:bodyPr>
          <a:lstStyle/>
          <a:p>
            <a:pPr algn="ctr">
              <a:defRPr sz="3600" b="1">
                <a:solidFill>
                  <a:srgbClr val="0B0F1A"/>
                </a:solidFill>
              </a:defRPr>
            </a:pPr>
            <a:r>
              <a:t>1</a:t>
            </a:r>
          </a:p>
        </p:txBody>
      </p:sp>
      <p:sp>
        <p:nvSpPr>
          <p:cNvPr id="6" name="TextBox 5"/>
          <p:cNvSpPr txBox="1"/>
          <p:nvPr/>
        </p:nvSpPr>
        <p:spPr>
          <a:xfrm>
            <a:off x="2392527" y="3657600"/>
            <a:ext cx="2103120" cy="1371600"/>
          </a:xfrm>
          <a:prstGeom prst="rect">
            <a:avLst/>
          </a:prstGeom>
          <a:noFill/>
        </p:spPr>
        <p:txBody>
          <a:bodyPr wrap="square">
            <a:normAutofit/>
          </a:bodyPr>
          <a:lstStyle/>
          <a:p>
            <a:pPr algn="ctr">
              <a:defRPr sz="1800" b="1">
                <a:solidFill>
                  <a:srgbClr val="FFFFFF"/>
                </a:solidFill>
              </a:defRPr>
            </a:pPr>
            <a:r>
              <a:t>Be Specific</a:t>
            </a:r>
          </a:p>
        </p:txBody>
      </p:sp>
      <p:sp>
        <p:nvSpPr>
          <p:cNvPr id="7" name="Rounded Rectangle 6"/>
          <p:cNvSpPr/>
          <p:nvPr/>
        </p:nvSpPr>
        <p:spPr>
          <a:xfrm>
            <a:off x="4952847" y="2011680"/>
            <a:ext cx="2286000" cy="320040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5638647" y="2468880"/>
            <a:ext cx="914400" cy="91440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638647" y="2468880"/>
            <a:ext cx="914400" cy="914400"/>
          </a:xfrm>
          <a:prstGeom prst="rect">
            <a:avLst/>
          </a:prstGeom>
          <a:noFill/>
        </p:spPr>
        <p:txBody>
          <a:bodyPr wrap="none" anchor="ctr">
            <a:spAutoFit/>
          </a:bodyPr>
          <a:lstStyle/>
          <a:p>
            <a:pPr algn="ctr">
              <a:defRPr sz="3600" b="1">
                <a:solidFill>
                  <a:srgbClr val="0B0F1A"/>
                </a:solidFill>
              </a:defRPr>
            </a:pPr>
            <a:r>
              <a:t>2</a:t>
            </a:r>
          </a:p>
        </p:txBody>
      </p:sp>
      <p:sp>
        <p:nvSpPr>
          <p:cNvPr id="10" name="TextBox 9"/>
          <p:cNvSpPr txBox="1"/>
          <p:nvPr/>
        </p:nvSpPr>
        <p:spPr>
          <a:xfrm>
            <a:off x="5044287" y="3657600"/>
            <a:ext cx="2103120" cy="1371600"/>
          </a:xfrm>
          <a:prstGeom prst="rect">
            <a:avLst/>
          </a:prstGeom>
          <a:noFill/>
        </p:spPr>
        <p:txBody>
          <a:bodyPr wrap="square">
            <a:normAutofit/>
          </a:bodyPr>
          <a:lstStyle/>
          <a:p>
            <a:pPr algn="ctr">
              <a:defRPr sz="1800" b="1">
                <a:solidFill>
                  <a:srgbClr val="FFFFFF"/>
                </a:solidFill>
              </a:defRPr>
            </a:pPr>
            <a:r>
              <a:t>Be Behavioral</a:t>
            </a:r>
          </a:p>
        </p:txBody>
      </p:sp>
      <p:sp>
        <p:nvSpPr>
          <p:cNvPr id="11" name="Rounded Rectangle 10"/>
          <p:cNvSpPr/>
          <p:nvPr/>
        </p:nvSpPr>
        <p:spPr>
          <a:xfrm>
            <a:off x="7604607" y="2011680"/>
            <a:ext cx="2286000" cy="320040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8290407" y="2468880"/>
            <a:ext cx="914400" cy="91440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290407" y="2468880"/>
            <a:ext cx="914400" cy="914400"/>
          </a:xfrm>
          <a:prstGeom prst="rect">
            <a:avLst/>
          </a:prstGeom>
          <a:noFill/>
        </p:spPr>
        <p:txBody>
          <a:bodyPr wrap="none" anchor="ctr">
            <a:spAutoFit/>
          </a:bodyPr>
          <a:lstStyle/>
          <a:p>
            <a:pPr algn="ctr">
              <a:defRPr sz="3600" b="1">
                <a:solidFill>
                  <a:srgbClr val="0B0F1A"/>
                </a:solidFill>
              </a:defRPr>
            </a:pPr>
            <a:r>
              <a:t>3</a:t>
            </a:r>
          </a:p>
        </p:txBody>
      </p:sp>
      <p:sp>
        <p:nvSpPr>
          <p:cNvPr id="14" name="TextBox 13"/>
          <p:cNvSpPr txBox="1"/>
          <p:nvPr/>
        </p:nvSpPr>
        <p:spPr>
          <a:xfrm>
            <a:off x="7696047" y="3657600"/>
            <a:ext cx="2103120" cy="1371600"/>
          </a:xfrm>
          <a:prstGeom prst="rect">
            <a:avLst/>
          </a:prstGeom>
          <a:noFill/>
        </p:spPr>
        <p:txBody>
          <a:bodyPr wrap="square">
            <a:normAutofit/>
          </a:bodyPr>
          <a:lstStyle/>
          <a:p>
            <a:pPr algn="ctr">
              <a:defRPr sz="1800" b="1">
                <a:solidFill>
                  <a:srgbClr val="FFFFFF"/>
                </a:solidFill>
              </a:defRPr>
            </a:pPr>
            <a:r>
              <a:t>Keep It Current</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11277295" cy="822960"/>
          </a:xfrm>
          <a:prstGeom prst="rect">
            <a:avLst/>
          </a:prstGeom>
          <a:noFill/>
        </p:spPr>
        <p:txBody>
          <a:bodyPr wrap="square">
            <a:spAutoFit/>
          </a:bodyPr>
          <a:lstStyle/>
          <a:p>
            <a:pPr>
              <a:defRPr sz="4000" b="1">
                <a:solidFill>
                  <a:srgbClr val="FFFFFF"/>
                </a:solidFill>
              </a:defRPr>
            </a:pPr>
            <a:r>
              <a:t>CLAUDE.md Maintenance: The Pruning Rule</a:t>
            </a:r>
          </a:p>
        </p:txBody>
      </p:sp>
      <p:sp>
        <p:nvSpPr>
          <p:cNvPr id="3" name="Rectangle 2"/>
          <p:cNvSpPr/>
          <p:nvPr/>
        </p:nvSpPr>
        <p:spPr>
          <a:xfrm>
            <a:off x="457200" y="1234440"/>
            <a:ext cx="1828800" cy="3657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463040"/>
            <a:ext cx="11277295" cy="4572000"/>
          </a:xfrm>
          <a:prstGeom prst="rect">
            <a:avLst/>
          </a:prstGeom>
          <a:noFill/>
        </p:spPr>
        <p:txBody>
          <a:bodyPr wrap="square">
            <a:spAutoFit/>
          </a:bodyPr>
          <a:lstStyle/>
          <a:p>
            <a:pPr>
              <a:spcBef>
                <a:spcPts val="800"/>
              </a:spcBef>
              <a:spcAft>
                <a:spcPts val="800"/>
              </a:spcAft>
              <a:defRPr sz="2200">
                <a:solidFill>
                  <a:srgbClr val="FFFFFF"/>
                </a:solidFill>
              </a:defRPr>
            </a:pPr>
            <a:r>
              <a:t>  Pruning rule: 'Would removing this line cause Claude to make mistakes? If not, cut it.</a:t>
            </a:r>
          </a:p>
          <a:p>
            <a:pPr>
              <a:spcBef>
                <a:spcPts val="800"/>
              </a:spcBef>
              <a:spcAft>
                <a:spcPts val="800"/>
              </a:spcAft>
              <a:defRPr sz="2200">
                <a:solidFill>
                  <a:srgbClr val="FFFFFF"/>
                </a:solidFill>
              </a:defRPr>
            </a:pPr>
            <a:r>
              <a:t>  Monthly review cadence — put it on your calendar.</a:t>
            </a:r>
          </a:p>
          <a:p>
            <a:pPr>
              <a:spcBef>
                <a:spcPts val="800"/>
              </a:spcBef>
              <a:spcAft>
                <a:spcPts val="800"/>
              </a:spcAft>
              <a:defRPr sz="2200">
                <a:solidFill>
                  <a:srgbClr val="FFFFFF"/>
                </a:solidFill>
              </a:defRPr>
            </a:pPr>
            <a:r>
              <a:t>  Signs of bloat: Claude following old conventions you've abandoned, conflicting rules, generic advice that adds no value.</a:t>
            </a:r>
          </a:p>
          <a:p>
            <a:pPr>
              <a:spcBef>
                <a:spcPts val="800"/>
              </a:spcBef>
              <a:spcAft>
                <a:spcPts val="800"/>
              </a:spcAft>
              <a:defRPr sz="2200">
                <a:solidFill>
                  <a:srgbClr val="FFFFFF"/>
                </a:solidFill>
              </a:defRPr>
            </a:pPr>
            <a:r>
              <a:t>  Short, specific CLAUDE.</a:t>
            </a:r>
          </a:p>
          <a:p>
            <a:pPr>
              <a:spcBef>
                <a:spcPts val="800"/>
              </a:spcBef>
              <a:spcAft>
                <a:spcPts val="800"/>
              </a:spcAft>
              <a:defRPr sz="2200">
                <a:solidFill>
                  <a:srgbClr val="FFFFFF"/>
                </a:solidFill>
              </a:defRPr>
            </a:pPr>
            <a:r>
              <a:t>  Source: Reza Rezvani — 'I spent months blaming Claude for not understanding my project while doing nothing to help it...</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731520"/>
            <a:ext cx="11277295" cy="914400"/>
          </a:xfrm>
          <a:prstGeom prst="rect">
            <a:avLst/>
          </a:prstGeom>
          <a:noFill/>
        </p:spPr>
        <p:txBody>
          <a:bodyPr wrap="square">
            <a:spAutoFit/>
          </a:bodyPr>
          <a:lstStyle/>
          <a:p>
            <a:pPr algn="ctr">
              <a:defRPr sz="4000" b="1">
                <a:solidFill>
                  <a:srgbClr val="FFFFFF"/>
                </a:solidFill>
              </a:defRPr>
            </a:pPr>
            <a:r>
              <a:t>CLAUDE.md Behavior Templates: Pick Your Style</a:t>
            </a:r>
          </a:p>
        </p:txBody>
      </p:sp>
      <p:sp>
        <p:nvSpPr>
          <p:cNvPr id="3" name="Rounded Rectangle 2"/>
          <p:cNvSpPr/>
          <p:nvPr/>
        </p:nvSpPr>
        <p:spPr>
          <a:xfrm>
            <a:off x="2301087" y="2011679"/>
            <a:ext cx="2286000" cy="3689873"/>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2986887" y="2468880"/>
            <a:ext cx="914400" cy="91440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986887" y="2468880"/>
            <a:ext cx="914400" cy="914400"/>
          </a:xfrm>
          <a:prstGeom prst="rect">
            <a:avLst/>
          </a:prstGeom>
          <a:noFill/>
        </p:spPr>
        <p:txBody>
          <a:bodyPr wrap="none" anchor="ctr">
            <a:spAutoFit/>
          </a:bodyPr>
          <a:lstStyle/>
          <a:p>
            <a:pPr algn="ctr">
              <a:defRPr sz="3600" b="1">
                <a:solidFill>
                  <a:srgbClr val="0B0F1A"/>
                </a:solidFill>
              </a:defRPr>
            </a:pPr>
            <a:r>
              <a:t>⚡</a:t>
            </a:r>
          </a:p>
        </p:txBody>
      </p:sp>
      <p:sp>
        <p:nvSpPr>
          <p:cNvPr id="6" name="TextBox 5"/>
          <p:cNvSpPr txBox="1"/>
          <p:nvPr/>
        </p:nvSpPr>
        <p:spPr>
          <a:xfrm>
            <a:off x="2392527" y="3657600"/>
            <a:ext cx="2103120" cy="1371600"/>
          </a:xfrm>
          <a:prstGeom prst="rect">
            <a:avLst/>
          </a:prstGeom>
          <a:noFill/>
        </p:spPr>
        <p:txBody>
          <a:bodyPr wrap="square">
            <a:normAutofit fontScale="92500" lnSpcReduction="20000"/>
          </a:bodyPr>
          <a:lstStyle/>
          <a:p>
            <a:pPr algn="ctr">
              <a:defRPr sz="1800" b="1">
                <a:solidFill>
                  <a:srgbClr val="FFFFFF"/>
                </a:solidFill>
              </a:defRPr>
            </a:pPr>
            <a:r>
              <a:t>Fast &amp; Autonomous</a:t>
            </a:r>
          </a:p>
          <a:p>
            <a:pPr algn="ctr">
              <a:spcBef>
                <a:spcPts val="800"/>
              </a:spcBef>
              <a:defRPr sz="1300">
                <a:solidFill>
                  <a:srgbClr val="8B95A5"/>
                </a:solidFill>
              </a:defRPr>
            </a:pPr>
            <a:r>
              <a:t>Proactive mode + parallel execution + anti-hallucination.</a:t>
            </a:r>
            <a:br/>
            <a:r>
              <a:t>Claude takes initiative, works fast,</a:t>
            </a:r>
            <a:br/>
            <a:r>
              <a:t>but always reads before answering</a:t>
            </a:r>
          </a:p>
        </p:txBody>
      </p:sp>
      <p:sp>
        <p:nvSpPr>
          <p:cNvPr id="7" name="Rounded Rectangle 6"/>
          <p:cNvSpPr/>
          <p:nvPr/>
        </p:nvSpPr>
        <p:spPr>
          <a:xfrm>
            <a:off x="4952847" y="2011679"/>
            <a:ext cx="2286000" cy="3689873"/>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5638647" y="2468880"/>
            <a:ext cx="914400" cy="91440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638647" y="2468880"/>
            <a:ext cx="914400" cy="914400"/>
          </a:xfrm>
          <a:prstGeom prst="rect">
            <a:avLst/>
          </a:prstGeom>
          <a:noFill/>
        </p:spPr>
        <p:txBody>
          <a:bodyPr wrap="none" anchor="ctr">
            <a:spAutoFit/>
          </a:bodyPr>
          <a:lstStyle/>
          <a:p>
            <a:pPr algn="ctr">
              <a:defRPr sz="3600" b="1">
                <a:solidFill>
                  <a:srgbClr val="0B0F1A"/>
                </a:solidFill>
              </a:defRPr>
            </a:pPr>
            <a:r>
              <a:t>🎯</a:t>
            </a:r>
          </a:p>
        </p:txBody>
      </p:sp>
      <p:sp>
        <p:nvSpPr>
          <p:cNvPr id="10" name="TextBox 9"/>
          <p:cNvSpPr txBox="1"/>
          <p:nvPr/>
        </p:nvSpPr>
        <p:spPr>
          <a:xfrm>
            <a:off x="5044287" y="3657600"/>
            <a:ext cx="2103120" cy="1371600"/>
          </a:xfrm>
          <a:prstGeom prst="rect">
            <a:avLst/>
          </a:prstGeom>
          <a:noFill/>
        </p:spPr>
        <p:txBody>
          <a:bodyPr wrap="square">
            <a:normAutofit fontScale="92500" lnSpcReduction="20000"/>
          </a:bodyPr>
          <a:lstStyle/>
          <a:p>
            <a:pPr algn="ctr">
              <a:defRPr sz="1800" b="1">
                <a:solidFill>
                  <a:srgbClr val="FFFFFF"/>
                </a:solidFill>
              </a:defRPr>
            </a:pPr>
            <a:r>
              <a:t>Careful &amp; Controlled</a:t>
            </a:r>
          </a:p>
          <a:p>
            <a:pPr algn="ctr">
              <a:spcBef>
                <a:spcPts val="800"/>
              </a:spcBef>
              <a:defRPr sz="1300">
                <a:solidFill>
                  <a:srgbClr val="8B95A5"/>
                </a:solidFill>
              </a:defRPr>
            </a:pPr>
            <a:r>
              <a:t>Conservative mode + explain everything + anti-hallucination.</a:t>
            </a:r>
            <a:br/>
            <a:r>
              <a:t>Claude asks before acting,</a:t>
            </a:r>
            <a:br/>
            <a:r>
              <a:t>explains reasoning after each step</a:t>
            </a:r>
          </a:p>
        </p:txBody>
      </p:sp>
      <p:sp>
        <p:nvSpPr>
          <p:cNvPr id="11" name="Rounded Rectangle 10"/>
          <p:cNvSpPr/>
          <p:nvPr/>
        </p:nvSpPr>
        <p:spPr>
          <a:xfrm>
            <a:off x="7604607" y="2011679"/>
            <a:ext cx="2286000" cy="3689873"/>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8290407" y="2468880"/>
            <a:ext cx="914400" cy="91440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290407" y="2468880"/>
            <a:ext cx="914400" cy="914400"/>
          </a:xfrm>
          <a:prstGeom prst="rect">
            <a:avLst/>
          </a:prstGeom>
          <a:noFill/>
        </p:spPr>
        <p:txBody>
          <a:bodyPr wrap="none" anchor="ctr">
            <a:spAutoFit/>
          </a:bodyPr>
          <a:lstStyle/>
          <a:p>
            <a:pPr algn="ctr">
              <a:defRPr sz="3600" b="1">
                <a:solidFill>
                  <a:srgbClr val="0B0F1A"/>
                </a:solidFill>
              </a:defRPr>
            </a:pPr>
            <a:r>
              <a:t>🏗️</a:t>
            </a:r>
          </a:p>
        </p:txBody>
      </p:sp>
      <p:sp>
        <p:nvSpPr>
          <p:cNvPr id="14" name="TextBox 13"/>
          <p:cNvSpPr txBox="1"/>
          <p:nvPr/>
        </p:nvSpPr>
        <p:spPr>
          <a:xfrm>
            <a:off x="7696047" y="3657600"/>
            <a:ext cx="2103120" cy="1371600"/>
          </a:xfrm>
          <a:prstGeom prst="rect">
            <a:avLst/>
          </a:prstGeom>
          <a:noFill/>
        </p:spPr>
        <p:txBody>
          <a:bodyPr wrap="square">
            <a:normAutofit fontScale="92500" lnSpcReduction="20000"/>
          </a:bodyPr>
          <a:lstStyle/>
          <a:p>
            <a:pPr algn="ctr">
              <a:defRPr sz="1800" b="1">
                <a:solidFill>
                  <a:srgbClr val="FFFFFF"/>
                </a:solidFill>
              </a:defRPr>
            </a:pPr>
            <a:r>
              <a:t>Long Projects</a:t>
            </a:r>
          </a:p>
          <a:p>
            <a:pPr algn="ctr">
              <a:spcBef>
                <a:spcPts val="800"/>
              </a:spcBef>
              <a:defRPr sz="1300">
                <a:solidFill>
                  <a:srgbClr val="8B95A5"/>
                </a:solidFill>
              </a:defRPr>
            </a:pPr>
            <a:r>
              <a:t>Context management + state tracking + complete work.</a:t>
            </a:r>
            <a:br/>
            <a:r>
              <a:t>Claude persists across sessions,</a:t>
            </a:r>
            <a:br/>
            <a:r>
              <a:t>never stops early, tracks progress</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11277295" cy="822960"/>
          </a:xfrm>
          <a:prstGeom prst="rect">
            <a:avLst/>
          </a:prstGeom>
          <a:noFill/>
        </p:spPr>
        <p:txBody>
          <a:bodyPr wrap="none">
            <a:spAutoFit/>
          </a:bodyPr>
          <a:lstStyle/>
          <a:p>
            <a:pPr>
              <a:defRPr sz="3600" b="1">
                <a:solidFill>
                  <a:srgbClr val="FFFFFF"/>
                </a:solidFill>
              </a:defRPr>
            </a:pPr>
            <a:r>
              <a:t>The Full Memory Hierarchy</a:t>
            </a:r>
          </a:p>
        </p:txBody>
      </p:sp>
      <p:sp>
        <p:nvSpPr>
          <p:cNvPr id="3" name="TextBox 2"/>
          <p:cNvSpPr txBox="1"/>
          <p:nvPr/>
        </p:nvSpPr>
        <p:spPr>
          <a:xfrm>
            <a:off x="457200" y="1463040"/>
            <a:ext cx="11277295" cy="457200"/>
          </a:xfrm>
          <a:prstGeom prst="rect">
            <a:avLst/>
          </a:prstGeom>
          <a:noFill/>
        </p:spPr>
        <p:txBody>
          <a:bodyPr wrap="square">
            <a:spAutoFit/>
          </a:bodyPr>
          <a:lstStyle/>
          <a:p>
            <a:pPr>
              <a:defRPr sz="1600" b="1">
                <a:solidFill>
                  <a:srgbClr val="00D4AA"/>
                </a:solidFill>
              </a:defRPr>
            </a:pPr>
            <a:r>
              <a:t>Layer   |   Location   |   Who It Affects   |   Shared?</a:t>
            </a:r>
          </a:p>
        </p:txBody>
      </p:sp>
      <p:sp>
        <p:nvSpPr>
          <p:cNvPr id="4" name="Rectangle 3"/>
          <p:cNvSpPr/>
          <p:nvPr/>
        </p:nvSpPr>
        <p:spPr>
          <a:xfrm>
            <a:off x="457200" y="1920240"/>
            <a:ext cx="11277295" cy="27432"/>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2057400"/>
            <a:ext cx="11277295" cy="411480"/>
          </a:xfrm>
          <a:prstGeom prst="rect">
            <a:avLst/>
          </a:prstGeom>
          <a:noFill/>
        </p:spPr>
        <p:txBody>
          <a:bodyPr wrap="square">
            <a:spAutoFit/>
          </a:bodyPr>
          <a:lstStyle/>
          <a:p>
            <a:pPr>
              <a:defRPr sz="1400">
                <a:solidFill>
                  <a:srgbClr val="FFFFFF"/>
                </a:solidFill>
              </a:defRPr>
            </a:pPr>
            <a:r>
              <a:t>Managed Policy   |   /etc/claude-code/CLAUDE.md or registry   |   All users in org   |   Yes (IT deploys)</a:t>
            </a:r>
          </a:p>
        </p:txBody>
      </p:sp>
      <p:sp>
        <p:nvSpPr>
          <p:cNvPr id="6" name="TextBox 5"/>
          <p:cNvSpPr txBox="1"/>
          <p:nvPr/>
        </p:nvSpPr>
        <p:spPr>
          <a:xfrm>
            <a:off x="457200" y="2468880"/>
            <a:ext cx="11277295" cy="411480"/>
          </a:xfrm>
          <a:prstGeom prst="rect">
            <a:avLst/>
          </a:prstGeom>
          <a:noFill/>
        </p:spPr>
        <p:txBody>
          <a:bodyPr wrap="square">
            <a:spAutoFit/>
          </a:bodyPr>
          <a:lstStyle/>
          <a:p>
            <a:pPr>
              <a:defRPr sz="1400">
                <a:solidFill>
                  <a:srgbClr val="FFFFFF"/>
                </a:solidFill>
              </a:defRPr>
            </a:pPr>
            <a:r>
              <a:t>Project Memory   |   ./CLAUDE.md or .claude/CLAUDE.md   |   All collaborators   |   Yes (via git)</a:t>
            </a:r>
          </a:p>
        </p:txBody>
      </p:sp>
      <p:sp>
        <p:nvSpPr>
          <p:cNvPr id="7" name="TextBox 6"/>
          <p:cNvSpPr txBox="1"/>
          <p:nvPr/>
        </p:nvSpPr>
        <p:spPr>
          <a:xfrm>
            <a:off x="457200" y="2880360"/>
            <a:ext cx="11277295" cy="411480"/>
          </a:xfrm>
          <a:prstGeom prst="rect">
            <a:avLst/>
          </a:prstGeom>
          <a:noFill/>
        </p:spPr>
        <p:txBody>
          <a:bodyPr wrap="square">
            <a:spAutoFit/>
          </a:bodyPr>
          <a:lstStyle/>
          <a:p>
            <a:pPr>
              <a:defRPr sz="1400">
                <a:solidFill>
                  <a:srgbClr val="FFFFFF"/>
                </a:solidFill>
              </a:defRPr>
            </a:pPr>
            <a:r>
              <a:t>Project Rules   |   .claude/rules/*.md   |   All collaborators   |   Yes (via git)</a:t>
            </a:r>
          </a:p>
        </p:txBody>
      </p:sp>
      <p:sp>
        <p:nvSpPr>
          <p:cNvPr id="8" name="TextBox 7"/>
          <p:cNvSpPr txBox="1"/>
          <p:nvPr/>
        </p:nvSpPr>
        <p:spPr>
          <a:xfrm>
            <a:off x="457200" y="3291840"/>
            <a:ext cx="11277295" cy="411480"/>
          </a:xfrm>
          <a:prstGeom prst="rect">
            <a:avLst/>
          </a:prstGeom>
          <a:noFill/>
        </p:spPr>
        <p:txBody>
          <a:bodyPr wrap="square">
            <a:spAutoFit/>
          </a:bodyPr>
          <a:lstStyle/>
          <a:p>
            <a:pPr>
              <a:defRPr sz="1400">
                <a:solidFill>
                  <a:srgbClr val="FFFFFF"/>
                </a:solidFill>
              </a:defRPr>
            </a:pPr>
            <a:r>
              <a:t>User Memory   |   ~/.claude/CLAUDE.md   |   You, all projects   |   No</a:t>
            </a:r>
          </a:p>
        </p:txBody>
      </p:sp>
      <p:sp>
        <p:nvSpPr>
          <p:cNvPr id="9" name="TextBox 8"/>
          <p:cNvSpPr txBox="1"/>
          <p:nvPr/>
        </p:nvSpPr>
        <p:spPr>
          <a:xfrm>
            <a:off x="457200" y="3703320"/>
            <a:ext cx="11277295" cy="411480"/>
          </a:xfrm>
          <a:prstGeom prst="rect">
            <a:avLst/>
          </a:prstGeom>
          <a:noFill/>
        </p:spPr>
        <p:txBody>
          <a:bodyPr wrap="square">
            <a:spAutoFit/>
          </a:bodyPr>
          <a:lstStyle/>
          <a:p>
            <a:pPr>
              <a:defRPr sz="1400">
                <a:solidFill>
                  <a:srgbClr val="FFFFFF"/>
                </a:solidFill>
              </a:defRPr>
            </a:pPr>
            <a:r>
              <a:t>Local Override   |   ./CLAUDE.local.md   |   You, this project   |   No (auto-gitignored)</a:t>
            </a:r>
          </a:p>
        </p:txBody>
      </p:sp>
      <p:sp>
        <p:nvSpPr>
          <p:cNvPr id="10" name="TextBox 9"/>
          <p:cNvSpPr txBox="1"/>
          <p:nvPr/>
        </p:nvSpPr>
        <p:spPr>
          <a:xfrm>
            <a:off x="457200" y="4114800"/>
            <a:ext cx="11277295" cy="411480"/>
          </a:xfrm>
          <a:prstGeom prst="rect">
            <a:avLst/>
          </a:prstGeom>
          <a:noFill/>
        </p:spPr>
        <p:txBody>
          <a:bodyPr wrap="square">
            <a:spAutoFit/>
          </a:bodyPr>
          <a:lstStyle/>
          <a:p>
            <a:pPr>
              <a:defRPr sz="1400">
                <a:solidFill>
                  <a:srgbClr val="FFFFFF"/>
                </a:solidFill>
              </a:defRPr>
            </a:pPr>
            <a:r>
              <a:t>Auto Memory   |   ~/.claude/projects/&lt;project&gt;/memory/   |   You, per project   |   No (Claude writes)</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457200"/>
            <a:ext cx="11277295" cy="731520"/>
          </a:xfrm>
          <a:prstGeom prst="rect">
            <a:avLst/>
          </a:prstGeom>
          <a:noFill/>
        </p:spPr>
        <p:txBody>
          <a:bodyPr wrap="square">
            <a:spAutoFit/>
          </a:bodyPr>
          <a:lstStyle/>
          <a:p>
            <a:pPr algn="ctr">
              <a:defRPr sz="3600" b="1">
                <a:solidFill>
                  <a:srgbClr val="FFFFFF"/>
                </a:solidFill>
              </a:defRPr>
            </a:pPr>
            <a:r>
              <a:t>Auto Memory: Claude Learns as It Works</a:t>
            </a:r>
          </a:p>
        </p:txBody>
      </p:sp>
      <p:sp>
        <p:nvSpPr>
          <p:cNvPr id="3" name="Rectangle 2"/>
          <p:cNvSpPr/>
          <p:nvPr/>
        </p:nvSpPr>
        <p:spPr>
          <a:xfrm>
            <a:off x="6077559" y="1371600"/>
            <a:ext cx="36576" cy="45720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463040"/>
            <a:ext cx="5364327" cy="731520"/>
          </a:xfrm>
          <a:prstGeom prst="rect">
            <a:avLst/>
          </a:prstGeom>
          <a:noFill/>
        </p:spPr>
        <p:txBody>
          <a:bodyPr wrap="none">
            <a:spAutoFit/>
          </a:bodyPr>
          <a:lstStyle/>
          <a:p>
            <a:pPr algn="ctr">
              <a:defRPr sz="2800" b="1">
                <a:solidFill>
                  <a:srgbClr val="00D4AA"/>
                </a:solidFill>
              </a:defRPr>
            </a:pPr>
            <a:r>
              <a:t>What Claude Remembers</a:t>
            </a:r>
          </a:p>
        </p:txBody>
      </p:sp>
      <p:sp>
        <p:nvSpPr>
          <p:cNvPr id="5" name="TextBox 4"/>
          <p:cNvSpPr txBox="1"/>
          <p:nvPr/>
        </p:nvSpPr>
        <p:spPr>
          <a:xfrm>
            <a:off x="457200" y="2286000"/>
            <a:ext cx="5364327" cy="3657600"/>
          </a:xfrm>
          <a:prstGeom prst="rect">
            <a:avLst/>
          </a:prstGeom>
          <a:noFill/>
        </p:spPr>
        <p:txBody>
          <a:bodyPr wrap="square">
            <a:spAutoFit/>
          </a:bodyPr>
          <a:lstStyle/>
          <a:p>
            <a:pPr>
              <a:spcAft>
                <a:spcPts val="1200"/>
              </a:spcAft>
              <a:defRPr sz="1800">
                <a:solidFill>
                  <a:srgbClr val="FFFFFF"/>
                </a:solidFill>
              </a:defRPr>
            </a:pPr>
            <a:r>
              <a:t>  Project patterns: build commands, test conventions, code style</a:t>
            </a:r>
          </a:p>
          <a:p>
            <a:pPr>
              <a:spcAft>
                <a:spcPts val="1200"/>
              </a:spcAft>
              <a:defRPr sz="1800">
                <a:solidFill>
                  <a:srgbClr val="FFFFFF"/>
                </a:solidFill>
              </a:defRPr>
            </a:pPr>
            <a:r>
              <a:t>  Debugging insights: solutions to tricky problems, error causes</a:t>
            </a:r>
          </a:p>
          <a:p>
            <a:pPr>
              <a:spcAft>
                <a:spcPts val="1200"/>
              </a:spcAft>
              <a:defRPr sz="1800">
                <a:solidFill>
                  <a:srgbClr val="FFFFFF"/>
                </a:solidFill>
              </a:defRPr>
            </a:pPr>
            <a:r>
              <a:t>  Architecture notes: key files, module relationships, abstractions</a:t>
            </a:r>
          </a:p>
          <a:p>
            <a:pPr>
              <a:spcAft>
                <a:spcPts val="1200"/>
              </a:spcAft>
              <a:defRPr sz="1800">
                <a:solidFill>
                  <a:srgbClr val="FFFFFF"/>
                </a:solidFill>
              </a:defRPr>
            </a:pPr>
            <a:r>
              <a:t>  Your preferences: communication style, workflow habits, tool choices</a:t>
            </a:r>
          </a:p>
        </p:txBody>
      </p:sp>
      <p:sp>
        <p:nvSpPr>
          <p:cNvPr id="6" name="TextBox 5"/>
          <p:cNvSpPr txBox="1"/>
          <p:nvPr/>
        </p:nvSpPr>
        <p:spPr>
          <a:xfrm>
            <a:off x="6370167" y="1463040"/>
            <a:ext cx="5364327" cy="731520"/>
          </a:xfrm>
          <a:prstGeom prst="rect">
            <a:avLst/>
          </a:prstGeom>
          <a:noFill/>
        </p:spPr>
        <p:txBody>
          <a:bodyPr wrap="none">
            <a:spAutoFit/>
          </a:bodyPr>
          <a:lstStyle/>
          <a:p>
            <a:pPr algn="ctr">
              <a:defRPr sz="2800" b="1">
                <a:solidFill>
                  <a:srgbClr val="E86B4A"/>
                </a:solidFill>
              </a:defRPr>
            </a:pPr>
            <a:r>
              <a:t>How It Works</a:t>
            </a:r>
          </a:p>
        </p:txBody>
      </p:sp>
      <p:sp>
        <p:nvSpPr>
          <p:cNvPr id="7" name="TextBox 6"/>
          <p:cNvSpPr txBox="1"/>
          <p:nvPr/>
        </p:nvSpPr>
        <p:spPr>
          <a:xfrm>
            <a:off x="6370167" y="2286000"/>
            <a:ext cx="5364327" cy="3657600"/>
          </a:xfrm>
          <a:prstGeom prst="rect">
            <a:avLst/>
          </a:prstGeom>
          <a:noFill/>
        </p:spPr>
        <p:txBody>
          <a:bodyPr wrap="square">
            <a:spAutoFit/>
          </a:bodyPr>
          <a:lstStyle/>
          <a:p>
            <a:pPr>
              <a:spcAft>
                <a:spcPts val="1200"/>
              </a:spcAft>
              <a:defRPr sz="1800">
                <a:solidFill>
                  <a:srgbClr val="FFFFFF"/>
                </a:solidFill>
              </a:defRPr>
            </a:pPr>
            <a:r>
              <a:t>  Stored in ~/.claude/projects/&lt;project&gt;/memory/</a:t>
            </a:r>
          </a:p>
          <a:p>
            <a:pPr>
              <a:spcAft>
                <a:spcPts val="1200"/>
              </a:spcAft>
              <a:defRPr sz="1800">
                <a:solidFill>
                  <a:srgbClr val="FFFFFF"/>
                </a:solidFill>
              </a:defRPr>
            </a:pPr>
            <a:r>
              <a:t>  MEMORY.md index + topic files (debugging.md, patterns.md)</a:t>
            </a:r>
          </a:p>
          <a:p>
            <a:pPr>
              <a:spcAft>
                <a:spcPts val="1200"/>
              </a:spcAft>
              <a:defRPr sz="1800">
                <a:solidFill>
                  <a:srgbClr val="FFFFFF"/>
                </a:solidFill>
              </a:defRPr>
            </a:pPr>
            <a:r>
              <a:t>  First 200 lines of MEMORY.md loaded at session start</a:t>
            </a:r>
          </a:p>
          <a:p>
            <a:pPr>
              <a:spcAft>
                <a:spcPts val="1200"/>
              </a:spcAft>
              <a:defRPr sz="1800">
                <a:solidFill>
                  <a:srgbClr val="FFFFFF"/>
                </a:solidFill>
              </a:defRPr>
            </a:pPr>
            <a:r>
              <a:t>  Topic files loaded on demand when Claude needs them</a:t>
            </a:r>
          </a:p>
          <a:p>
            <a:pPr>
              <a:spcAft>
                <a:spcPts val="1200"/>
              </a:spcAft>
              <a:defRPr sz="1800">
                <a:solidFill>
                  <a:srgbClr val="FFFFFF"/>
                </a:solidFill>
              </a:defRPr>
            </a:pPr>
            <a:r>
              <a:t>  Claude reads AND writes these files during your session</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731520"/>
            <a:ext cx="11277295" cy="914400"/>
          </a:xfrm>
          <a:prstGeom prst="rect">
            <a:avLst/>
          </a:prstGeom>
          <a:noFill/>
        </p:spPr>
        <p:txBody>
          <a:bodyPr wrap="square">
            <a:spAutoFit/>
          </a:bodyPr>
          <a:lstStyle/>
          <a:p>
            <a:pPr algn="ctr">
              <a:defRPr sz="4000" b="1">
                <a:solidFill>
                  <a:srgbClr val="FFFFFF"/>
                </a:solidFill>
              </a:defRPr>
            </a:pPr>
            <a:r>
              <a:t>The /memory Command &amp; Memory Management</a:t>
            </a:r>
          </a:p>
        </p:txBody>
      </p:sp>
      <p:sp>
        <p:nvSpPr>
          <p:cNvPr id="3" name="Rounded Rectangle 2"/>
          <p:cNvSpPr/>
          <p:nvPr/>
        </p:nvSpPr>
        <p:spPr>
          <a:xfrm>
            <a:off x="2301087" y="2011679"/>
            <a:ext cx="2286000" cy="4702885"/>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2986887" y="2468880"/>
            <a:ext cx="914400" cy="91440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986887" y="2468880"/>
            <a:ext cx="914400" cy="914400"/>
          </a:xfrm>
          <a:prstGeom prst="rect">
            <a:avLst/>
          </a:prstGeom>
          <a:noFill/>
        </p:spPr>
        <p:txBody>
          <a:bodyPr wrap="none" anchor="ctr">
            <a:spAutoFit/>
          </a:bodyPr>
          <a:lstStyle/>
          <a:p>
            <a:pPr algn="ctr">
              <a:defRPr sz="3600" b="1">
                <a:solidFill>
                  <a:srgbClr val="0B0F1A"/>
                </a:solidFill>
              </a:defRPr>
            </a:pPr>
            <a:r>
              <a:t>1</a:t>
            </a:r>
          </a:p>
        </p:txBody>
      </p:sp>
      <p:sp>
        <p:nvSpPr>
          <p:cNvPr id="6" name="TextBox 5"/>
          <p:cNvSpPr txBox="1"/>
          <p:nvPr/>
        </p:nvSpPr>
        <p:spPr>
          <a:xfrm>
            <a:off x="2392527" y="3657600"/>
            <a:ext cx="2103120" cy="1371600"/>
          </a:xfrm>
          <a:prstGeom prst="rect">
            <a:avLst/>
          </a:prstGeom>
          <a:noFill/>
        </p:spPr>
        <p:txBody>
          <a:bodyPr wrap="square">
            <a:normAutofit fontScale="70000" lnSpcReduction="20000"/>
          </a:bodyPr>
          <a:lstStyle/>
          <a:p>
            <a:pPr algn="ctr">
              <a:defRPr sz="1800" b="1">
                <a:solidFill>
                  <a:srgbClr val="FFFFFF"/>
                </a:solidFill>
              </a:defRPr>
            </a:pPr>
            <a:r>
              <a:t>/memory Command</a:t>
            </a:r>
          </a:p>
          <a:p>
            <a:pPr algn="ctr">
              <a:spcBef>
                <a:spcPts val="800"/>
              </a:spcBef>
              <a:defRPr sz="1300">
                <a:solidFill>
                  <a:srgbClr val="8B95A5"/>
                </a:solidFill>
              </a:defRPr>
            </a:pPr>
            <a:r>
              <a:t>Opens file selector showing ALL memory types:</a:t>
            </a:r>
            <a:br/>
            <a:r>
              <a:t>• Managed policy CLAUDE.md</a:t>
            </a:r>
            <a:br/>
            <a:r>
              <a:t>• Project CLAUDE.md</a:t>
            </a:r>
            <a:br/>
            <a:r>
              <a:t>• User CLAUDE.md</a:t>
            </a:r>
            <a:br/>
            <a:r>
              <a:t>• CLAUDE.local.md</a:t>
            </a:r>
            <a:br/>
            <a:r>
              <a:t>• Auto memory MEMORY.md</a:t>
            </a:r>
            <a:br/>
            <a:br/>
            <a:r>
              <a:t>Includes auto-memory on/off toggle</a:t>
            </a:r>
          </a:p>
        </p:txBody>
      </p:sp>
      <p:sp>
        <p:nvSpPr>
          <p:cNvPr id="7" name="Rounded Rectangle 6"/>
          <p:cNvSpPr/>
          <p:nvPr/>
        </p:nvSpPr>
        <p:spPr>
          <a:xfrm>
            <a:off x="4952847" y="2011679"/>
            <a:ext cx="2286000" cy="4702885"/>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5638647" y="2468880"/>
            <a:ext cx="914400" cy="91440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638647" y="2468880"/>
            <a:ext cx="914400" cy="914400"/>
          </a:xfrm>
          <a:prstGeom prst="rect">
            <a:avLst/>
          </a:prstGeom>
          <a:noFill/>
        </p:spPr>
        <p:txBody>
          <a:bodyPr wrap="none" anchor="ctr">
            <a:spAutoFit/>
          </a:bodyPr>
          <a:lstStyle/>
          <a:p>
            <a:pPr algn="ctr">
              <a:defRPr sz="3600" b="1">
                <a:solidFill>
                  <a:srgbClr val="0B0F1A"/>
                </a:solidFill>
              </a:defRPr>
            </a:pPr>
            <a:r>
              <a:t>2</a:t>
            </a:r>
          </a:p>
        </p:txBody>
      </p:sp>
      <p:sp>
        <p:nvSpPr>
          <p:cNvPr id="10" name="TextBox 9"/>
          <p:cNvSpPr txBox="1"/>
          <p:nvPr/>
        </p:nvSpPr>
        <p:spPr>
          <a:xfrm>
            <a:off x="5044287" y="3657600"/>
            <a:ext cx="2103120" cy="1371600"/>
          </a:xfrm>
          <a:prstGeom prst="rect">
            <a:avLst/>
          </a:prstGeom>
          <a:noFill/>
        </p:spPr>
        <p:txBody>
          <a:bodyPr wrap="square">
            <a:normAutofit fontScale="70000" lnSpcReduction="20000"/>
          </a:bodyPr>
          <a:lstStyle/>
          <a:p>
            <a:pPr algn="ctr">
              <a:defRPr sz="1800" b="1">
                <a:solidFill>
                  <a:srgbClr val="FFFFFF"/>
                </a:solidFill>
              </a:defRPr>
            </a:pPr>
            <a:r>
              <a:t>"Remember That..."</a:t>
            </a:r>
          </a:p>
          <a:p>
            <a:pPr algn="ctr">
              <a:spcBef>
                <a:spcPts val="800"/>
              </a:spcBef>
              <a:defRPr sz="1300">
                <a:solidFill>
                  <a:srgbClr val="8B95A5"/>
                </a:solidFill>
              </a:defRPr>
            </a:pPr>
            <a:r>
              <a:t>Tell Claude directly:</a:t>
            </a:r>
            <a:br/>
            <a:r>
              <a:t>• "Remember we use pnpm, not npm"</a:t>
            </a:r>
            <a:br/>
            <a:r>
              <a:t>• "Save to memory that API tests need Redis"</a:t>
            </a:r>
            <a:br/>
            <a:r>
              <a:t>• "Note that the auth module uses JWT v3"</a:t>
            </a:r>
            <a:br/>
            <a:br/>
            <a:r>
              <a:t>Claude writes to auto memory — persists across sessions</a:t>
            </a:r>
          </a:p>
        </p:txBody>
      </p:sp>
      <p:sp>
        <p:nvSpPr>
          <p:cNvPr id="11" name="Rounded Rectangle 10"/>
          <p:cNvSpPr/>
          <p:nvPr/>
        </p:nvSpPr>
        <p:spPr>
          <a:xfrm>
            <a:off x="7604607" y="2011679"/>
            <a:ext cx="2286000" cy="4702885"/>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8290407" y="2468880"/>
            <a:ext cx="914400" cy="91440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290407" y="2468880"/>
            <a:ext cx="914400" cy="914400"/>
          </a:xfrm>
          <a:prstGeom prst="rect">
            <a:avLst/>
          </a:prstGeom>
          <a:noFill/>
        </p:spPr>
        <p:txBody>
          <a:bodyPr wrap="none" anchor="ctr">
            <a:spAutoFit/>
          </a:bodyPr>
          <a:lstStyle/>
          <a:p>
            <a:pPr algn="ctr">
              <a:defRPr sz="3600" b="1">
                <a:solidFill>
                  <a:srgbClr val="0B0F1A"/>
                </a:solidFill>
              </a:defRPr>
            </a:pPr>
            <a:r>
              <a:t>3</a:t>
            </a:r>
          </a:p>
        </p:txBody>
      </p:sp>
      <p:sp>
        <p:nvSpPr>
          <p:cNvPr id="14" name="TextBox 13"/>
          <p:cNvSpPr txBox="1"/>
          <p:nvPr/>
        </p:nvSpPr>
        <p:spPr>
          <a:xfrm>
            <a:off x="7696047" y="3657600"/>
            <a:ext cx="2103120" cy="1371600"/>
          </a:xfrm>
          <a:prstGeom prst="rect">
            <a:avLst/>
          </a:prstGeom>
          <a:noFill/>
        </p:spPr>
        <p:txBody>
          <a:bodyPr wrap="square">
            <a:normAutofit fontScale="62500" lnSpcReduction="20000"/>
          </a:bodyPr>
          <a:lstStyle/>
          <a:p>
            <a:pPr algn="ctr">
              <a:defRPr sz="1800" b="1">
                <a:solidFill>
                  <a:srgbClr val="FFFFFF"/>
                </a:solidFill>
              </a:defRPr>
            </a:pPr>
            <a:r>
              <a:t>Managing Memory</a:t>
            </a:r>
          </a:p>
          <a:p>
            <a:pPr algn="ctr">
              <a:spcBef>
                <a:spcPts val="800"/>
              </a:spcBef>
              <a:defRPr sz="1300">
                <a:solidFill>
                  <a:srgbClr val="8B95A5"/>
                </a:solidFill>
              </a:defRPr>
            </a:pPr>
            <a:r>
              <a:t>Auto memory files are plain markdown — edit anytime</a:t>
            </a:r>
            <a:br/>
            <a:br/>
            <a:r>
              <a:t>Disable per-project or globally:</a:t>
            </a:r>
            <a:br/>
            <a:r>
              <a:t>• settings.json: autoMemoryEnabled: false</a:t>
            </a:r>
            <a:br/>
            <a:r>
              <a:t>• Env: CLAUDE_CODE_AUTO_MEMORY=false</a:t>
            </a:r>
            <a:br/>
            <a:br/>
            <a:r>
              <a:t># shortcut adds quick notes from chat</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1828800"/>
            <a:ext cx="11277295" cy="1371600"/>
          </a:xfrm>
          <a:prstGeom prst="rect">
            <a:avLst/>
          </a:prstGeom>
          <a:noFill/>
        </p:spPr>
        <p:txBody>
          <a:bodyPr wrap="none">
            <a:spAutoFit/>
          </a:bodyPr>
          <a:lstStyle/>
          <a:p>
            <a:pPr algn="ctr">
              <a:defRPr sz="9600" b="1">
                <a:solidFill>
                  <a:srgbClr val="00D4AA"/>
                </a:solidFill>
              </a:defRPr>
            </a:pPr>
            <a:r>
              <a:t>DEMO</a:t>
            </a:r>
          </a:p>
        </p:txBody>
      </p:sp>
      <p:sp>
        <p:nvSpPr>
          <p:cNvPr id="3" name="Rectangle 2"/>
          <p:cNvSpPr/>
          <p:nvPr/>
        </p:nvSpPr>
        <p:spPr>
          <a:xfrm>
            <a:off x="4724247" y="3474720"/>
            <a:ext cx="2743200" cy="54864"/>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3840480"/>
            <a:ext cx="11277295" cy="914400"/>
          </a:xfrm>
          <a:prstGeom prst="rect">
            <a:avLst/>
          </a:prstGeom>
          <a:noFill/>
        </p:spPr>
        <p:txBody>
          <a:bodyPr wrap="square">
            <a:spAutoFit/>
          </a:bodyPr>
          <a:lstStyle/>
          <a:p>
            <a:pPr algn="ctr">
              <a:defRPr sz="3200" b="1">
                <a:solidFill>
                  <a:srgbClr val="FFFFFF"/>
                </a:solidFill>
              </a:defRPr>
            </a:pPr>
            <a:r>
              <a:t>Demo: Folder-Based Competitive Analysis</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Rectangle 1"/>
          <p:cNvSpPr/>
          <p:nvPr/>
        </p:nvSpPr>
        <p:spPr>
          <a:xfrm>
            <a:off x="0" y="1828800"/>
            <a:ext cx="137160" cy="32004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0"/>
            <a:ext cx="11277295" cy="1371600"/>
          </a:xfrm>
          <a:prstGeom prst="rect">
            <a:avLst/>
          </a:prstGeom>
          <a:noFill/>
        </p:spPr>
        <p:txBody>
          <a:bodyPr wrap="square">
            <a:spAutoFit/>
          </a:bodyPr>
          <a:lstStyle/>
          <a:p>
            <a:pPr>
              <a:defRPr sz="5600" b="1">
                <a:solidFill>
                  <a:srgbClr val="FFFFFF"/>
                </a:solidFill>
              </a:defRPr>
            </a:pPr>
            <a:r>
              <a:t>@ Mentions &amp; Context Feeding</a:t>
            </a:r>
          </a:p>
        </p:txBody>
      </p:sp>
      <p:sp>
        <p:nvSpPr>
          <p:cNvPr id="4" name="TextBox 3"/>
          <p:cNvSpPr txBox="1"/>
          <p:nvPr/>
        </p:nvSpPr>
        <p:spPr>
          <a:xfrm>
            <a:off x="457200" y="3840480"/>
            <a:ext cx="11277295" cy="914400"/>
          </a:xfrm>
          <a:prstGeom prst="rect">
            <a:avLst/>
          </a:prstGeom>
          <a:noFill/>
        </p:spPr>
        <p:txBody>
          <a:bodyPr wrap="square">
            <a:spAutoFit/>
          </a:bodyPr>
          <a:lstStyle/>
          <a:p>
            <a:pPr>
              <a:defRPr sz="2400">
                <a:solidFill>
                  <a:srgbClr val="8B95A5"/>
                </a:solidFill>
              </a:defRPr>
            </a:pPr>
            <a:r>
              <a:t>Point Claude at exactly what matters — save tokens, get better results</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457200"/>
            <a:ext cx="11277295" cy="731520"/>
          </a:xfrm>
          <a:prstGeom prst="rect">
            <a:avLst/>
          </a:prstGeom>
          <a:noFill/>
        </p:spPr>
        <p:txBody>
          <a:bodyPr wrap="none">
            <a:spAutoFit/>
          </a:bodyPr>
          <a:lstStyle/>
          <a:p>
            <a:pPr algn="ctr">
              <a:defRPr sz="3600" b="1">
                <a:solidFill>
                  <a:srgbClr val="FFFFFF"/>
                </a:solidFill>
              </a:defRPr>
            </a:pPr>
            <a:r>
              <a:t>@ Mentioning Files</a:t>
            </a:r>
          </a:p>
        </p:txBody>
      </p:sp>
      <p:sp>
        <p:nvSpPr>
          <p:cNvPr id="3" name="Rectangle 2"/>
          <p:cNvSpPr/>
          <p:nvPr/>
        </p:nvSpPr>
        <p:spPr>
          <a:xfrm>
            <a:off x="6077559" y="1371600"/>
            <a:ext cx="36576" cy="45720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463040"/>
            <a:ext cx="5364327" cy="731520"/>
          </a:xfrm>
          <a:prstGeom prst="rect">
            <a:avLst/>
          </a:prstGeom>
          <a:noFill/>
        </p:spPr>
        <p:txBody>
          <a:bodyPr wrap="none">
            <a:spAutoFit/>
          </a:bodyPr>
          <a:lstStyle/>
          <a:p>
            <a:pPr algn="ctr">
              <a:defRPr sz="2800" b="1">
                <a:solidFill>
                  <a:srgbClr val="00D4AA"/>
                </a:solidFill>
              </a:defRPr>
            </a:pPr>
            <a:r>
              <a:t>Syntax</a:t>
            </a:r>
          </a:p>
        </p:txBody>
      </p:sp>
      <p:sp>
        <p:nvSpPr>
          <p:cNvPr id="5" name="TextBox 4"/>
          <p:cNvSpPr txBox="1"/>
          <p:nvPr/>
        </p:nvSpPr>
        <p:spPr>
          <a:xfrm>
            <a:off x="457200" y="2286000"/>
            <a:ext cx="5364327" cy="3657600"/>
          </a:xfrm>
          <a:prstGeom prst="rect">
            <a:avLst/>
          </a:prstGeom>
          <a:noFill/>
        </p:spPr>
        <p:txBody>
          <a:bodyPr wrap="square">
            <a:spAutoFit/>
          </a:bodyPr>
          <a:lstStyle/>
          <a:p>
            <a:pPr>
              <a:spcAft>
                <a:spcPts val="1200"/>
              </a:spcAft>
              <a:defRPr sz="1800">
                <a:solidFill>
                  <a:srgbClr val="FFFFFF"/>
                </a:solidFill>
              </a:defRPr>
            </a:pPr>
            <a:r>
              <a:t>  @filename.ts — load specific file</a:t>
            </a:r>
          </a:p>
          <a:p>
            <a:pPr>
              <a:spcAft>
                <a:spcPts val="1200"/>
              </a:spcAft>
              <a:defRPr sz="1800">
                <a:solidFill>
                  <a:srgbClr val="FFFFFF"/>
                </a:solidFill>
              </a:defRPr>
            </a:pPr>
            <a:r>
              <a:t>  @src/auth/ — load entire directory</a:t>
            </a:r>
          </a:p>
          <a:p>
            <a:pPr>
              <a:spcAft>
                <a:spcPts val="1200"/>
              </a:spcAft>
              <a:defRPr sz="1800">
                <a:solidFill>
                  <a:srgbClr val="FFFFFF"/>
                </a:solidFill>
              </a:defRPr>
            </a:pPr>
            <a:r>
              <a:t>  @package.json — load config files</a:t>
            </a:r>
          </a:p>
          <a:p>
            <a:pPr>
              <a:spcAft>
                <a:spcPts val="1200"/>
              </a:spcAft>
              <a:defRPr sz="1800">
                <a:solidFill>
                  <a:srgbClr val="FFFFFF"/>
                </a:solidFill>
              </a:defRPr>
            </a:pPr>
            <a:r>
              <a:t>  Multiple: @file1.ts @file2.ts explain how these connect</a:t>
            </a:r>
          </a:p>
          <a:p>
            <a:pPr>
              <a:spcAft>
                <a:spcPts val="1200"/>
              </a:spcAft>
              <a:defRPr sz="1800">
                <a:solidFill>
                  <a:srgbClr val="FFFFFF"/>
                </a:solidFill>
              </a:defRPr>
            </a:pPr>
            <a:r>
              <a:t>  Tab completion works for file paths</a:t>
            </a:r>
          </a:p>
        </p:txBody>
      </p:sp>
      <p:sp>
        <p:nvSpPr>
          <p:cNvPr id="6" name="TextBox 5"/>
          <p:cNvSpPr txBox="1"/>
          <p:nvPr/>
        </p:nvSpPr>
        <p:spPr>
          <a:xfrm>
            <a:off x="6370167" y="1463040"/>
            <a:ext cx="5364327" cy="731520"/>
          </a:xfrm>
          <a:prstGeom prst="rect">
            <a:avLst/>
          </a:prstGeom>
          <a:noFill/>
        </p:spPr>
        <p:txBody>
          <a:bodyPr wrap="none">
            <a:spAutoFit/>
          </a:bodyPr>
          <a:lstStyle/>
          <a:p>
            <a:pPr algn="ctr">
              <a:defRPr sz="2800" b="1">
                <a:solidFill>
                  <a:srgbClr val="E86B4A"/>
                </a:solidFill>
              </a:defRPr>
            </a:pPr>
            <a:r>
              <a:t>When to Use</a:t>
            </a:r>
          </a:p>
        </p:txBody>
      </p:sp>
      <p:sp>
        <p:nvSpPr>
          <p:cNvPr id="7" name="TextBox 6"/>
          <p:cNvSpPr txBox="1"/>
          <p:nvPr/>
        </p:nvSpPr>
        <p:spPr>
          <a:xfrm>
            <a:off x="6370167" y="2286000"/>
            <a:ext cx="5364327" cy="3657600"/>
          </a:xfrm>
          <a:prstGeom prst="rect">
            <a:avLst/>
          </a:prstGeom>
          <a:noFill/>
        </p:spPr>
        <p:txBody>
          <a:bodyPr wrap="square">
            <a:spAutoFit/>
          </a:bodyPr>
          <a:lstStyle/>
          <a:p>
            <a:pPr>
              <a:spcAft>
                <a:spcPts val="1200"/>
              </a:spcAft>
              <a:defRPr sz="1800">
                <a:solidFill>
                  <a:srgbClr val="FFFFFF"/>
                </a:solidFill>
              </a:defRPr>
            </a:pPr>
            <a:r>
              <a:t>  Targeted edits: 'fix the bug in @auth.ts'</a:t>
            </a:r>
          </a:p>
          <a:p>
            <a:pPr>
              <a:spcAft>
                <a:spcPts val="1200"/>
              </a:spcAft>
              <a:defRPr sz="1800">
                <a:solidFill>
                  <a:srgbClr val="FFFFFF"/>
                </a:solidFill>
              </a:defRPr>
            </a:pPr>
            <a:r>
              <a:t>  Cross-file work: '@model.ts @controller.ts add validation'</a:t>
            </a:r>
          </a:p>
          <a:p>
            <a:pPr>
              <a:spcAft>
                <a:spcPts val="1200"/>
              </a:spcAft>
              <a:defRPr sz="1800">
                <a:solidFill>
                  <a:srgbClr val="FFFFFF"/>
                </a:solidFill>
              </a:defRPr>
            </a:pPr>
            <a:r>
              <a:t>  Context loading: '@README.md what does this project do?'</a:t>
            </a:r>
          </a:p>
          <a:p>
            <a:pPr>
              <a:spcAft>
                <a:spcPts val="1200"/>
              </a:spcAft>
              <a:defRPr sz="1800">
                <a:solidFill>
                  <a:srgbClr val="FFFFFF"/>
                </a:solidFill>
              </a:defRPr>
            </a:pPr>
            <a:r>
              <a:t>  Faster than letting Claude search</a:t>
            </a:r>
          </a:p>
          <a:p>
            <a:pPr>
              <a:spcAft>
                <a:spcPts val="1200"/>
              </a:spcAft>
              <a:defRPr sz="1800">
                <a:solidFill>
                  <a:srgbClr val="FFFFFF"/>
                </a:solidFill>
              </a:defRPr>
            </a:pPr>
            <a:r>
              <a:t>  Precise control over what's in context</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731520"/>
            <a:ext cx="11277295" cy="914400"/>
          </a:xfrm>
          <a:prstGeom prst="rect">
            <a:avLst/>
          </a:prstGeom>
          <a:noFill/>
        </p:spPr>
        <p:txBody>
          <a:bodyPr wrap="none">
            <a:spAutoFit/>
          </a:bodyPr>
          <a:lstStyle/>
          <a:p>
            <a:pPr algn="ctr">
              <a:defRPr sz="4000" b="1">
                <a:solidFill>
                  <a:srgbClr val="FFFFFF"/>
                </a:solidFill>
              </a:defRPr>
            </a:pPr>
            <a:r>
              <a:t>@ Folders, URLs, Git Commits</a:t>
            </a:r>
          </a:p>
        </p:txBody>
      </p:sp>
      <p:sp>
        <p:nvSpPr>
          <p:cNvPr id="3" name="Rounded Rectangle 2"/>
          <p:cNvSpPr/>
          <p:nvPr/>
        </p:nvSpPr>
        <p:spPr>
          <a:xfrm>
            <a:off x="2301087" y="2011680"/>
            <a:ext cx="2286000" cy="3546438"/>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2986887" y="2468880"/>
            <a:ext cx="914400" cy="91440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986887" y="2468880"/>
            <a:ext cx="914400" cy="914400"/>
          </a:xfrm>
          <a:prstGeom prst="rect">
            <a:avLst/>
          </a:prstGeom>
          <a:noFill/>
        </p:spPr>
        <p:txBody>
          <a:bodyPr wrap="none" anchor="ctr">
            <a:spAutoFit/>
          </a:bodyPr>
          <a:lstStyle/>
          <a:p>
            <a:pPr algn="ctr">
              <a:defRPr sz="3600" b="1">
                <a:solidFill>
                  <a:srgbClr val="0B0F1A"/>
                </a:solidFill>
              </a:defRPr>
            </a:pPr>
            <a:r>
              <a:t>1</a:t>
            </a:r>
          </a:p>
        </p:txBody>
      </p:sp>
      <p:sp>
        <p:nvSpPr>
          <p:cNvPr id="6" name="TextBox 5"/>
          <p:cNvSpPr txBox="1"/>
          <p:nvPr/>
        </p:nvSpPr>
        <p:spPr>
          <a:xfrm>
            <a:off x="2392527" y="3657600"/>
            <a:ext cx="2103120" cy="1371600"/>
          </a:xfrm>
          <a:prstGeom prst="rect">
            <a:avLst/>
          </a:prstGeom>
          <a:noFill/>
        </p:spPr>
        <p:txBody>
          <a:bodyPr wrap="square">
            <a:normAutofit fontScale="92500" lnSpcReduction="20000"/>
          </a:bodyPr>
          <a:lstStyle/>
          <a:p>
            <a:pPr algn="ctr">
              <a:defRPr sz="1800" b="1">
                <a:solidFill>
                  <a:srgbClr val="FFFFFF"/>
                </a:solidFill>
              </a:defRPr>
            </a:pPr>
            <a:r>
              <a:t>Folders</a:t>
            </a:r>
          </a:p>
          <a:p>
            <a:pPr algn="ctr">
              <a:spcBef>
                <a:spcPts val="800"/>
              </a:spcBef>
              <a:defRPr sz="1300">
                <a:solidFill>
                  <a:srgbClr val="8B95A5"/>
                </a:solidFill>
              </a:defRPr>
            </a:pPr>
            <a:r>
              <a:t>@src/routes/ — loads all files in directory</a:t>
            </a:r>
            <a:br/>
            <a:r>
              <a:t>@tests/ — great for 'run all tests and fix failures'</a:t>
            </a:r>
            <a:br/>
            <a:r>
              <a:t>Use sparingly — large folders eat context</a:t>
            </a:r>
          </a:p>
        </p:txBody>
      </p:sp>
      <p:sp>
        <p:nvSpPr>
          <p:cNvPr id="7" name="Rounded Rectangle 6"/>
          <p:cNvSpPr/>
          <p:nvPr/>
        </p:nvSpPr>
        <p:spPr>
          <a:xfrm>
            <a:off x="4952847" y="2011680"/>
            <a:ext cx="2286000" cy="3546438"/>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5638647" y="2468880"/>
            <a:ext cx="914400" cy="91440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638647" y="2468880"/>
            <a:ext cx="914400" cy="914400"/>
          </a:xfrm>
          <a:prstGeom prst="rect">
            <a:avLst/>
          </a:prstGeom>
          <a:noFill/>
        </p:spPr>
        <p:txBody>
          <a:bodyPr wrap="none" anchor="ctr">
            <a:spAutoFit/>
          </a:bodyPr>
          <a:lstStyle/>
          <a:p>
            <a:pPr algn="ctr">
              <a:defRPr sz="3600" b="1">
                <a:solidFill>
                  <a:srgbClr val="0B0F1A"/>
                </a:solidFill>
              </a:defRPr>
            </a:pPr>
            <a:r>
              <a:t>2</a:t>
            </a:r>
          </a:p>
        </p:txBody>
      </p:sp>
      <p:sp>
        <p:nvSpPr>
          <p:cNvPr id="10" name="TextBox 9"/>
          <p:cNvSpPr txBox="1"/>
          <p:nvPr/>
        </p:nvSpPr>
        <p:spPr>
          <a:xfrm>
            <a:off x="5044287" y="3657600"/>
            <a:ext cx="2103120" cy="1371600"/>
          </a:xfrm>
          <a:prstGeom prst="rect">
            <a:avLst/>
          </a:prstGeom>
          <a:noFill/>
        </p:spPr>
        <p:txBody>
          <a:bodyPr wrap="square">
            <a:normAutofit fontScale="92500" lnSpcReduction="20000"/>
          </a:bodyPr>
          <a:lstStyle/>
          <a:p>
            <a:pPr algn="ctr">
              <a:defRPr sz="1800" b="1">
                <a:solidFill>
                  <a:srgbClr val="FFFFFF"/>
                </a:solidFill>
              </a:defRPr>
            </a:pPr>
            <a:r>
              <a:t>URLs</a:t>
            </a:r>
          </a:p>
          <a:p>
            <a:pPr algn="ctr">
              <a:spcBef>
                <a:spcPts val="800"/>
              </a:spcBef>
              <a:defRPr sz="1300">
                <a:solidFill>
                  <a:srgbClr val="8B95A5"/>
                </a:solidFill>
              </a:defRPr>
            </a:pPr>
            <a:r>
              <a:t>@https://docs.example.com — fetch live documentation</a:t>
            </a:r>
            <a:br/>
            <a:r>
              <a:t>'Check the official docs' triggers web search</a:t>
            </a:r>
            <a:br/>
            <a:r>
              <a:t>Great for staying current with API changes</a:t>
            </a:r>
          </a:p>
        </p:txBody>
      </p:sp>
      <p:sp>
        <p:nvSpPr>
          <p:cNvPr id="11" name="Rounded Rectangle 10"/>
          <p:cNvSpPr/>
          <p:nvPr/>
        </p:nvSpPr>
        <p:spPr>
          <a:xfrm>
            <a:off x="7604607" y="2011680"/>
            <a:ext cx="2286000" cy="3546438"/>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8290407" y="2468880"/>
            <a:ext cx="914400" cy="91440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290407" y="2468880"/>
            <a:ext cx="914400" cy="914400"/>
          </a:xfrm>
          <a:prstGeom prst="rect">
            <a:avLst/>
          </a:prstGeom>
          <a:noFill/>
        </p:spPr>
        <p:txBody>
          <a:bodyPr wrap="none" anchor="ctr">
            <a:spAutoFit/>
          </a:bodyPr>
          <a:lstStyle/>
          <a:p>
            <a:pPr algn="ctr">
              <a:defRPr sz="3600" b="1">
                <a:solidFill>
                  <a:srgbClr val="0B0F1A"/>
                </a:solidFill>
              </a:defRPr>
            </a:pPr>
            <a:r>
              <a:t>3</a:t>
            </a:r>
          </a:p>
        </p:txBody>
      </p:sp>
      <p:sp>
        <p:nvSpPr>
          <p:cNvPr id="14" name="TextBox 13"/>
          <p:cNvSpPr txBox="1"/>
          <p:nvPr/>
        </p:nvSpPr>
        <p:spPr>
          <a:xfrm>
            <a:off x="7696047" y="3657600"/>
            <a:ext cx="2103120" cy="1371600"/>
          </a:xfrm>
          <a:prstGeom prst="rect">
            <a:avLst/>
          </a:prstGeom>
          <a:noFill/>
        </p:spPr>
        <p:txBody>
          <a:bodyPr wrap="square">
            <a:normAutofit fontScale="92500" lnSpcReduction="20000"/>
          </a:bodyPr>
          <a:lstStyle/>
          <a:p>
            <a:pPr algn="ctr">
              <a:defRPr sz="1800" b="1">
                <a:solidFill>
                  <a:srgbClr val="FFFFFF"/>
                </a:solidFill>
              </a:defRPr>
            </a:pPr>
            <a:r>
              <a:t>Git Commits</a:t>
            </a:r>
          </a:p>
          <a:p>
            <a:pPr algn="ctr">
              <a:spcBef>
                <a:spcPts val="800"/>
              </a:spcBef>
              <a:defRPr sz="1300">
                <a:solidFill>
                  <a:srgbClr val="8B95A5"/>
                </a:solidFill>
              </a:defRPr>
            </a:pPr>
            <a:r>
              <a:t>@git:abc123 — load a specific commit's diff</a:t>
            </a:r>
            <a:br/>
            <a:r>
              <a:t>@git:HEAD~3 — last 3 commits</a:t>
            </a:r>
            <a:br/>
            <a:r>
              <a:t>'What changed in the last PR?' with git context</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457200"/>
            <a:ext cx="11277295" cy="731520"/>
          </a:xfrm>
          <a:prstGeom prst="rect">
            <a:avLst/>
          </a:prstGeom>
          <a:noFill/>
        </p:spPr>
        <p:txBody>
          <a:bodyPr wrap="none">
            <a:spAutoFit/>
          </a:bodyPr>
          <a:lstStyle/>
          <a:p>
            <a:pPr algn="ctr">
              <a:defRPr sz="3600" b="1">
                <a:solidFill>
                  <a:srgbClr val="FFFFFF"/>
                </a:solidFill>
              </a:defRPr>
            </a:pPr>
            <a:r>
              <a:t>Building Context: Focused vs Broad</a:t>
            </a:r>
          </a:p>
        </p:txBody>
      </p:sp>
      <p:sp>
        <p:nvSpPr>
          <p:cNvPr id="3" name="Rectangle 2"/>
          <p:cNvSpPr/>
          <p:nvPr/>
        </p:nvSpPr>
        <p:spPr>
          <a:xfrm>
            <a:off x="6077559" y="1371600"/>
            <a:ext cx="36576" cy="45720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463040"/>
            <a:ext cx="5364327" cy="731520"/>
          </a:xfrm>
          <a:prstGeom prst="rect">
            <a:avLst/>
          </a:prstGeom>
          <a:noFill/>
        </p:spPr>
        <p:txBody>
          <a:bodyPr wrap="none">
            <a:spAutoFit/>
          </a:bodyPr>
          <a:lstStyle/>
          <a:p>
            <a:pPr algn="ctr">
              <a:defRPr sz="2800" b="1">
                <a:solidFill>
                  <a:srgbClr val="00D4AA"/>
                </a:solidFill>
              </a:defRPr>
            </a:pPr>
            <a:r>
              <a:t>Focused (Preferred)</a:t>
            </a:r>
          </a:p>
        </p:txBody>
      </p:sp>
      <p:sp>
        <p:nvSpPr>
          <p:cNvPr id="5" name="TextBox 4"/>
          <p:cNvSpPr txBox="1"/>
          <p:nvPr/>
        </p:nvSpPr>
        <p:spPr>
          <a:xfrm>
            <a:off x="457200" y="2286000"/>
            <a:ext cx="5364327" cy="3657600"/>
          </a:xfrm>
          <a:prstGeom prst="rect">
            <a:avLst/>
          </a:prstGeom>
          <a:noFill/>
        </p:spPr>
        <p:txBody>
          <a:bodyPr wrap="square">
            <a:spAutoFit/>
          </a:bodyPr>
          <a:lstStyle/>
          <a:p>
            <a:pPr>
              <a:spcAft>
                <a:spcPts val="1200"/>
              </a:spcAft>
              <a:defRPr sz="1800">
                <a:solidFill>
                  <a:srgbClr val="FFFFFF"/>
                </a:solidFill>
              </a:defRPr>
            </a:pPr>
            <a:r>
              <a:t>  @specific-file.ts — exact file needed</a:t>
            </a:r>
          </a:p>
          <a:p>
            <a:pPr>
              <a:spcAft>
                <a:spcPts val="1200"/>
              </a:spcAft>
              <a:defRPr sz="1800">
                <a:solidFill>
                  <a:srgbClr val="FFFFFF"/>
                </a:solidFill>
              </a:defRPr>
            </a:pPr>
            <a:r>
              <a:t>  One task per session</a:t>
            </a:r>
          </a:p>
          <a:p>
            <a:pPr>
              <a:spcAft>
                <a:spcPts val="1200"/>
              </a:spcAft>
              <a:defRPr sz="1800">
                <a:solidFill>
                  <a:srgbClr val="FFFFFF"/>
                </a:solidFill>
              </a:defRPr>
            </a:pPr>
            <a:r>
              <a:t>  Precise prompts with file references</a:t>
            </a:r>
          </a:p>
          <a:p>
            <a:pPr>
              <a:spcAft>
                <a:spcPts val="1200"/>
              </a:spcAft>
              <a:defRPr sz="1800">
                <a:solidFill>
                  <a:srgbClr val="FFFFFF"/>
                </a:solidFill>
              </a:defRPr>
            </a:pPr>
            <a:r>
              <a:t>  Less context = better output quality</a:t>
            </a:r>
          </a:p>
          <a:p>
            <a:pPr>
              <a:spcAft>
                <a:spcPts val="1200"/>
              </a:spcAft>
              <a:defRPr sz="1800">
                <a:solidFill>
                  <a:srgbClr val="FFFFFF"/>
                </a:solidFill>
              </a:defRPr>
            </a:pPr>
            <a:r>
              <a:t>  Faster responses, lower token cost</a:t>
            </a:r>
          </a:p>
        </p:txBody>
      </p:sp>
      <p:sp>
        <p:nvSpPr>
          <p:cNvPr id="6" name="TextBox 5"/>
          <p:cNvSpPr txBox="1"/>
          <p:nvPr/>
        </p:nvSpPr>
        <p:spPr>
          <a:xfrm>
            <a:off x="6370167" y="1463040"/>
            <a:ext cx="5364327" cy="731520"/>
          </a:xfrm>
          <a:prstGeom prst="rect">
            <a:avLst/>
          </a:prstGeom>
          <a:noFill/>
        </p:spPr>
        <p:txBody>
          <a:bodyPr wrap="none">
            <a:spAutoFit/>
          </a:bodyPr>
          <a:lstStyle/>
          <a:p>
            <a:pPr algn="ctr">
              <a:defRPr sz="2800" b="1">
                <a:solidFill>
                  <a:srgbClr val="E86B4A"/>
                </a:solidFill>
              </a:defRPr>
            </a:pPr>
            <a:r>
              <a:t>Broad (When Needed)</a:t>
            </a:r>
          </a:p>
        </p:txBody>
      </p:sp>
      <p:sp>
        <p:nvSpPr>
          <p:cNvPr id="7" name="TextBox 6"/>
          <p:cNvSpPr txBox="1"/>
          <p:nvPr/>
        </p:nvSpPr>
        <p:spPr>
          <a:xfrm>
            <a:off x="6370167" y="2286000"/>
            <a:ext cx="5364327" cy="3657600"/>
          </a:xfrm>
          <a:prstGeom prst="rect">
            <a:avLst/>
          </a:prstGeom>
          <a:noFill/>
        </p:spPr>
        <p:txBody>
          <a:bodyPr wrap="square">
            <a:spAutoFit/>
          </a:bodyPr>
          <a:lstStyle/>
          <a:p>
            <a:pPr>
              <a:spcAft>
                <a:spcPts val="1200"/>
              </a:spcAft>
              <a:defRPr sz="1800">
                <a:solidFill>
                  <a:srgbClr val="FFFFFF"/>
                </a:solidFill>
              </a:defRPr>
            </a:pPr>
            <a:r>
              <a:t>  @src/ — entire directory for architecture work</a:t>
            </a:r>
          </a:p>
          <a:p>
            <a:pPr>
              <a:spcAft>
                <a:spcPts val="1200"/>
              </a:spcAft>
              <a:defRPr sz="1800">
                <a:solidFill>
                  <a:srgbClr val="FFFFFF"/>
                </a:solidFill>
              </a:defRPr>
            </a:pPr>
            <a:r>
              <a:t>  Multi-file refactoring across modules</a:t>
            </a:r>
          </a:p>
          <a:p>
            <a:pPr>
              <a:spcAft>
                <a:spcPts val="1200"/>
              </a:spcAft>
              <a:defRPr sz="1800">
                <a:solidFill>
                  <a:srgbClr val="FFFFFF"/>
                </a:solidFill>
              </a:defRPr>
            </a:pPr>
            <a:r>
              <a:t>  Discovery: 'find all API endpoints'</a:t>
            </a:r>
          </a:p>
          <a:p>
            <a:pPr>
              <a:spcAft>
                <a:spcPts val="1200"/>
              </a:spcAft>
              <a:defRPr sz="1800">
                <a:solidFill>
                  <a:srgbClr val="FFFFFF"/>
                </a:solidFill>
              </a:defRPr>
            </a:pPr>
            <a:r>
              <a:t>  More context = risk of confusion</a:t>
            </a:r>
          </a:p>
          <a:p>
            <a:pPr>
              <a:spcAft>
                <a:spcPts val="1200"/>
              </a:spcAft>
              <a:defRPr sz="1800">
                <a:solidFill>
                  <a:srgbClr val="FFFFFF"/>
                </a:solidFill>
              </a:defRPr>
            </a:pPr>
            <a:r>
              <a:t>  Use /compact when context grows large</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1828800"/>
            <a:ext cx="11277295" cy="1371600"/>
          </a:xfrm>
          <a:prstGeom prst="rect">
            <a:avLst/>
          </a:prstGeom>
          <a:noFill/>
        </p:spPr>
        <p:txBody>
          <a:bodyPr wrap="none">
            <a:spAutoFit/>
          </a:bodyPr>
          <a:lstStyle/>
          <a:p>
            <a:pPr algn="ctr">
              <a:defRPr sz="9600" b="1">
                <a:solidFill>
                  <a:srgbClr val="00D4AA"/>
                </a:solidFill>
              </a:defRPr>
            </a:pPr>
            <a:r>
              <a:t>DEMO</a:t>
            </a:r>
          </a:p>
        </p:txBody>
      </p:sp>
      <p:sp>
        <p:nvSpPr>
          <p:cNvPr id="3" name="Rectangle 2"/>
          <p:cNvSpPr/>
          <p:nvPr/>
        </p:nvSpPr>
        <p:spPr>
          <a:xfrm>
            <a:off x="4724247" y="3474720"/>
            <a:ext cx="2743200" cy="54864"/>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3840480"/>
            <a:ext cx="11277295" cy="914400"/>
          </a:xfrm>
          <a:prstGeom prst="rect">
            <a:avLst/>
          </a:prstGeom>
          <a:noFill/>
        </p:spPr>
        <p:txBody>
          <a:bodyPr wrap="square">
            <a:spAutoFit/>
          </a:bodyPr>
          <a:lstStyle/>
          <a:p>
            <a:pPr algn="ctr">
              <a:defRPr sz="3200" b="1">
                <a:solidFill>
                  <a:srgbClr val="FFFFFF"/>
                </a:solidFill>
              </a:defRPr>
            </a:pPr>
            <a:r>
              <a:t>Context Feeding Techniques</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914400" y="1371600"/>
            <a:ext cx="914400" cy="914400"/>
          </a:xfrm>
          <a:prstGeom prst="rect">
            <a:avLst/>
          </a:prstGeom>
          <a:noFill/>
        </p:spPr>
        <p:txBody>
          <a:bodyPr wrap="none">
            <a:spAutoFit/>
          </a:bodyPr>
          <a:lstStyle/>
          <a:p>
            <a:pPr>
              <a:defRPr sz="12000">
                <a:solidFill>
                  <a:srgbClr val="00D4AA"/>
                </a:solidFill>
              </a:defRPr>
            </a:pPr>
            <a:r>
              <a:t>"</a:t>
            </a:r>
          </a:p>
        </p:txBody>
      </p:sp>
      <p:sp>
        <p:nvSpPr>
          <p:cNvPr id="3" name="TextBox 2"/>
          <p:cNvSpPr txBox="1"/>
          <p:nvPr/>
        </p:nvSpPr>
        <p:spPr>
          <a:xfrm>
            <a:off x="1371600" y="2286000"/>
            <a:ext cx="9448495" cy="2286000"/>
          </a:xfrm>
          <a:prstGeom prst="rect">
            <a:avLst/>
          </a:prstGeom>
          <a:noFill/>
        </p:spPr>
        <p:txBody>
          <a:bodyPr wrap="square">
            <a:spAutoFit/>
          </a:bodyPr>
          <a:lstStyle/>
          <a:p>
            <a:pPr algn="ctr">
              <a:defRPr sz="3600" i="1">
                <a:solidFill>
                  <a:srgbClr val="FFFFFF"/>
                </a:solidFill>
              </a:defRPr>
            </a:pPr>
            <a:r>
              <a:t>Break</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Rectangle 1"/>
          <p:cNvSpPr/>
          <p:nvPr/>
        </p:nvSpPr>
        <p:spPr>
          <a:xfrm>
            <a:off x="0" y="1828800"/>
            <a:ext cx="137160" cy="32004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0"/>
            <a:ext cx="11277295" cy="1371600"/>
          </a:xfrm>
          <a:prstGeom prst="rect">
            <a:avLst/>
          </a:prstGeom>
          <a:noFill/>
        </p:spPr>
        <p:txBody>
          <a:bodyPr wrap="square">
            <a:spAutoFit/>
          </a:bodyPr>
          <a:lstStyle/>
          <a:p>
            <a:pPr>
              <a:defRPr sz="5600" b="1">
                <a:solidFill>
                  <a:srgbClr val="FFFFFF"/>
                </a:solidFill>
              </a:defRPr>
            </a:pPr>
            <a:r>
              <a:t>Context Management</a:t>
            </a:r>
          </a:p>
        </p:txBody>
      </p:sp>
      <p:sp>
        <p:nvSpPr>
          <p:cNvPr id="4" name="TextBox 3"/>
          <p:cNvSpPr txBox="1"/>
          <p:nvPr/>
        </p:nvSpPr>
        <p:spPr>
          <a:xfrm>
            <a:off x="457200" y="3840480"/>
            <a:ext cx="11277295" cy="914400"/>
          </a:xfrm>
          <a:prstGeom prst="rect">
            <a:avLst/>
          </a:prstGeom>
          <a:noFill/>
        </p:spPr>
        <p:txBody>
          <a:bodyPr wrap="square">
            <a:spAutoFit/>
          </a:bodyPr>
          <a:lstStyle/>
          <a:p>
            <a:pPr>
              <a:defRPr sz="2400">
                <a:solidFill>
                  <a:srgbClr val="8B95A5"/>
                </a:solidFill>
              </a:defRPr>
            </a:pPr>
            <a:r>
              <a:t>Your context window is finite — learn to manage it like a budget</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457200"/>
            <a:ext cx="11277295" cy="731520"/>
          </a:xfrm>
          <a:prstGeom prst="rect">
            <a:avLst/>
          </a:prstGeom>
          <a:noFill/>
        </p:spPr>
        <p:txBody>
          <a:bodyPr wrap="square">
            <a:spAutoFit/>
          </a:bodyPr>
          <a:lstStyle/>
          <a:p>
            <a:pPr algn="ctr">
              <a:defRPr sz="3600" b="1">
                <a:solidFill>
                  <a:srgbClr val="FFFFFF"/>
                </a:solidFill>
              </a:defRPr>
            </a:pPr>
            <a:r>
              <a:t>How Claude Code Reads Your Workspace</a:t>
            </a:r>
          </a:p>
        </p:txBody>
      </p:sp>
      <p:sp>
        <p:nvSpPr>
          <p:cNvPr id="3" name="Rectangle 2"/>
          <p:cNvSpPr/>
          <p:nvPr/>
        </p:nvSpPr>
        <p:spPr>
          <a:xfrm>
            <a:off x="6077559" y="1371600"/>
            <a:ext cx="36576" cy="45720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463040"/>
            <a:ext cx="5364327" cy="731520"/>
          </a:xfrm>
          <a:prstGeom prst="rect">
            <a:avLst/>
          </a:prstGeom>
          <a:noFill/>
        </p:spPr>
        <p:txBody>
          <a:bodyPr wrap="none">
            <a:spAutoFit/>
          </a:bodyPr>
          <a:lstStyle/>
          <a:p>
            <a:pPr algn="ctr">
              <a:defRPr sz="2800" b="1">
                <a:solidFill>
                  <a:srgbClr val="00D4AA"/>
                </a:solidFill>
              </a:defRPr>
            </a:pPr>
            <a:r>
              <a:t>Auto-Loaded</a:t>
            </a:r>
          </a:p>
        </p:txBody>
      </p:sp>
      <p:sp>
        <p:nvSpPr>
          <p:cNvPr id="5" name="TextBox 4"/>
          <p:cNvSpPr txBox="1"/>
          <p:nvPr/>
        </p:nvSpPr>
        <p:spPr>
          <a:xfrm>
            <a:off x="457200" y="2286000"/>
            <a:ext cx="5364327" cy="3657600"/>
          </a:xfrm>
          <a:prstGeom prst="rect">
            <a:avLst/>
          </a:prstGeom>
          <a:noFill/>
        </p:spPr>
        <p:txBody>
          <a:bodyPr wrap="square">
            <a:spAutoFit/>
          </a:bodyPr>
          <a:lstStyle/>
          <a:p>
            <a:pPr>
              <a:spcAft>
                <a:spcPts val="1200"/>
              </a:spcAft>
              <a:defRPr sz="1800">
                <a:solidFill>
                  <a:srgbClr val="FFFFFF"/>
                </a:solidFill>
              </a:defRPr>
            </a:pPr>
            <a:r>
              <a:t>  CLAUDE.md at project root</a:t>
            </a:r>
          </a:p>
          <a:p>
            <a:pPr>
              <a:spcAft>
                <a:spcPts val="1200"/>
              </a:spcAft>
              <a:defRPr sz="1800">
                <a:solidFill>
                  <a:srgbClr val="FFFFFF"/>
                </a:solidFill>
              </a:defRPr>
            </a:pPr>
            <a:r>
              <a:t>  .claude/settings.json</a:t>
            </a:r>
          </a:p>
          <a:p>
            <a:pPr>
              <a:spcAft>
                <a:spcPts val="1200"/>
              </a:spcAft>
              <a:defRPr sz="1800">
                <a:solidFill>
                  <a:srgbClr val="FFFFFF"/>
                </a:solidFill>
              </a:defRPr>
            </a:pPr>
            <a:r>
              <a:t>  .claude/rules/*.md</a:t>
            </a:r>
          </a:p>
          <a:p>
            <a:pPr>
              <a:spcAft>
                <a:spcPts val="1200"/>
              </a:spcAft>
              <a:defRPr sz="1800">
                <a:solidFill>
                  <a:srgbClr val="FFFFFF"/>
                </a:solidFill>
              </a:defRPr>
            </a:pPr>
            <a:r>
              <a:t>  Auto memory (first 200 lines)</a:t>
            </a:r>
          </a:p>
          <a:p>
            <a:pPr>
              <a:spcAft>
                <a:spcPts val="1200"/>
              </a:spcAft>
              <a:defRPr sz="1800">
                <a:solidFill>
                  <a:srgbClr val="FFFFFF"/>
                </a:solidFill>
              </a:defRPr>
            </a:pPr>
            <a:r>
              <a:t>  File tree structure (names only)</a:t>
            </a:r>
          </a:p>
        </p:txBody>
      </p:sp>
      <p:sp>
        <p:nvSpPr>
          <p:cNvPr id="6" name="TextBox 5"/>
          <p:cNvSpPr txBox="1"/>
          <p:nvPr/>
        </p:nvSpPr>
        <p:spPr>
          <a:xfrm>
            <a:off x="6370167" y="1463040"/>
            <a:ext cx="5364327" cy="731520"/>
          </a:xfrm>
          <a:prstGeom prst="rect">
            <a:avLst/>
          </a:prstGeom>
          <a:noFill/>
        </p:spPr>
        <p:txBody>
          <a:bodyPr wrap="none">
            <a:spAutoFit/>
          </a:bodyPr>
          <a:lstStyle/>
          <a:p>
            <a:pPr algn="ctr">
              <a:defRPr sz="2800" b="1">
                <a:solidFill>
                  <a:srgbClr val="E86B4A"/>
                </a:solidFill>
              </a:defRPr>
            </a:pPr>
            <a:r>
              <a:t>On-Demand</a:t>
            </a:r>
          </a:p>
        </p:txBody>
      </p:sp>
      <p:sp>
        <p:nvSpPr>
          <p:cNvPr id="7" name="TextBox 6"/>
          <p:cNvSpPr txBox="1"/>
          <p:nvPr/>
        </p:nvSpPr>
        <p:spPr>
          <a:xfrm>
            <a:off x="6370167" y="2286000"/>
            <a:ext cx="5364327" cy="3657600"/>
          </a:xfrm>
          <a:prstGeom prst="rect">
            <a:avLst/>
          </a:prstGeom>
          <a:noFill/>
        </p:spPr>
        <p:txBody>
          <a:bodyPr wrap="square">
            <a:spAutoFit/>
          </a:bodyPr>
          <a:lstStyle/>
          <a:p>
            <a:pPr>
              <a:spcAft>
                <a:spcPts val="1200"/>
              </a:spcAft>
              <a:defRPr sz="1800">
                <a:solidFill>
                  <a:srgbClr val="FFFFFF"/>
                </a:solidFill>
              </a:defRPr>
            </a:pPr>
            <a:r>
              <a:t>  Files you @ mention</a:t>
            </a:r>
          </a:p>
          <a:p>
            <a:pPr>
              <a:spcAft>
                <a:spcPts val="1200"/>
              </a:spcAft>
              <a:defRPr sz="1800">
                <a:solidFill>
                  <a:srgbClr val="FFFFFF"/>
                </a:solidFill>
              </a:defRPr>
            </a:pPr>
            <a:r>
              <a:t>  Files found via search/grep</a:t>
            </a:r>
          </a:p>
          <a:p>
            <a:pPr>
              <a:spcAft>
                <a:spcPts val="1200"/>
              </a:spcAft>
              <a:defRPr sz="1800">
                <a:solidFill>
                  <a:srgbClr val="FFFFFF"/>
                </a:solidFill>
              </a:defRPr>
            </a:pPr>
            <a:r>
              <a:t>  Files Claude needs to edit</a:t>
            </a:r>
          </a:p>
          <a:p>
            <a:pPr>
              <a:spcAft>
                <a:spcPts val="1200"/>
              </a:spcAft>
              <a:defRPr sz="1800">
                <a:solidFill>
                  <a:srgbClr val="FFFFFF"/>
                </a:solidFill>
              </a:defRPr>
            </a:pPr>
            <a:r>
              <a:t>  Reference files from skills</a:t>
            </a:r>
          </a:p>
          <a:p>
            <a:pPr>
              <a:spcAft>
                <a:spcPts val="1200"/>
              </a:spcAft>
              <a:defRPr sz="1800">
                <a:solidFill>
                  <a:srgbClr val="FFFFFF"/>
                </a:solidFill>
              </a:defRPr>
            </a:pPr>
            <a:r>
              <a:t>  Auto memory topic files</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457200"/>
            <a:ext cx="11277295" cy="731520"/>
          </a:xfrm>
          <a:prstGeom prst="rect">
            <a:avLst/>
          </a:prstGeom>
          <a:noFill/>
        </p:spPr>
        <p:txBody>
          <a:bodyPr wrap="none">
            <a:spAutoFit/>
          </a:bodyPr>
          <a:lstStyle/>
          <a:p>
            <a:pPr algn="ctr">
              <a:defRPr sz="3600" b="1">
                <a:solidFill>
                  <a:srgbClr val="FFFFFF"/>
                </a:solidFill>
              </a:defRPr>
            </a:pPr>
            <a:r>
              <a:t>What's in Context Right Now</a:t>
            </a:r>
          </a:p>
        </p:txBody>
      </p:sp>
      <p:sp>
        <p:nvSpPr>
          <p:cNvPr id="3" name="Rectangle 2"/>
          <p:cNvSpPr/>
          <p:nvPr/>
        </p:nvSpPr>
        <p:spPr>
          <a:xfrm>
            <a:off x="6077559" y="1371600"/>
            <a:ext cx="36576" cy="45720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463040"/>
            <a:ext cx="5364327" cy="731520"/>
          </a:xfrm>
          <a:prstGeom prst="rect">
            <a:avLst/>
          </a:prstGeom>
          <a:noFill/>
        </p:spPr>
        <p:txBody>
          <a:bodyPr wrap="none">
            <a:spAutoFit/>
          </a:bodyPr>
          <a:lstStyle/>
          <a:p>
            <a:pPr algn="ctr">
              <a:defRPr sz="2800" b="1">
                <a:solidFill>
                  <a:srgbClr val="00D4AA"/>
                </a:solidFill>
              </a:defRPr>
            </a:pPr>
            <a:r>
              <a:t>Check Context</a:t>
            </a:r>
          </a:p>
        </p:txBody>
      </p:sp>
      <p:sp>
        <p:nvSpPr>
          <p:cNvPr id="5" name="TextBox 4"/>
          <p:cNvSpPr txBox="1"/>
          <p:nvPr/>
        </p:nvSpPr>
        <p:spPr>
          <a:xfrm>
            <a:off x="457200" y="2286000"/>
            <a:ext cx="5364327" cy="3657600"/>
          </a:xfrm>
          <a:prstGeom prst="rect">
            <a:avLst/>
          </a:prstGeom>
          <a:noFill/>
        </p:spPr>
        <p:txBody>
          <a:bodyPr wrap="square">
            <a:spAutoFit/>
          </a:bodyPr>
          <a:lstStyle/>
          <a:p>
            <a:pPr>
              <a:spcAft>
                <a:spcPts val="1200"/>
              </a:spcAft>
              <a:defRPr sz="1800">
                <a:solidFill>
                  <a:srgbClr val="FFFFFF"/>
                </a:solidFill>
              </a:defRPr>
            </a:pPr>
            <a:r>
              <a:t>  /cost — see token usage for current session</a:t>
            </a:r>
          </a:p>
          <a:p>
            <a:pPr>
              <a:spcAft>
                <a:spcPts val="1200"/>
              </a:spcAft>
              <a:defRPr sz="1800">
                <a:solidFill>
                  <a:srgbClr val="FFFFFF"/>
                </a:solidFill>
              </a:defRPr>
            </a:pPr>
            <a:r>
              <a:t>  /verbose — detailed logging of tool use</a:t>
            </a:r>
          </a:p>
          <a:p>
            <a:pPr>
              <a:spcAft>
                <a:spcPts val="1200"/>
              </a:spcAft>
              <a:defRPr sz="1800">
                <a:solidFill>
                  <a:srgbClr val="FFFFFF"/>
                </a:solidFill>
              </a:defRPr>
            </a:pPr>
            <a:r>
              <a:t>  Watch for: 'reading file X' in Claude's output</a:t>
            </a:r>
          </a:p>
          <a:p>
            <a:pPr>
              <a:spcAft>
                <a:spcPts val="1200"/>
              </a:spcAft>
              <a:defRPr sz="1800">
                <a:solidFill>
                  <a:srgbClr val="FFFFFF"/>
                </a:solidFill>
              </a:defRPr>
            </a:pPr>
            <a:r>
              <a:t>  Context window: ~200K tokens (Sonnet/Opus)</a:t>
            </a:r>
          </a:p>
        </p:txBody>
      </p:sp>
      <p:sp>
        <p:nvSpPr>
          <p:cNvPr id="6" name="TextBox 5"/>
          <p:cNvSpPr txBox="1"/>
          <p:nvPr/>
        </p:nvSpPr>
        <p:spPr>
          <a:xfrm>
            <a:off x="6370167" y="1463040"/>
            <a:ext cx="5364327" cy="731520"/>
          </a:xfrm>
          <a:prstGeom prst="rect">
            <a:avLst/>
          </a:prstGeom>
          <a:noFill/>
        </p:spPr>
        <p:txBody>
          <a:bodyPr wrap="none">
            <a:spAutoFit/>
          </a:bodyPr>
          <a:lstStyle/>
          <a:p>
            <a:pPr algn="ctr">
              <a:defRPr sz="2800" b="1">
                <a:solidFill>
                  <a:srgbClr val="E86B4A"/>
                </a:solidFill>
              </a:defRPr>
            </a:pPr>
            <a:r>
              <a:t>Manage Context</a:t>
            </a:r>
          </a:p>
        </p:txBody>
      </p:sp>
      <p:sp>
        <p:nvSpPr>
          <p:cNvPr id="7" name="TextBox 6"/>
          <p:cNvSpPr txBox="1"/>
          <p:nvPr/>
        </p:nvSpPr>
        <p:spPr>
          <a:xfrm>
            <a:off x="6370167" y="2286000"/>
            <a:ext cx="5364327" cy="3657600"/>
          </a:xfrm>
          <a:prstGeom prst="rect">
            <a:avLst/>
          </a:prstGeom>
          <a:noFill/>
        </p:spPr>
        <p:txBody>
          <a:bodyPr wrap="square">
            <a:spAutoFit/>
          </a:bodyPr>
          <a:lstStyle/>
          <a:p>
            <a:pPr>
              <a:spcAft>
                <a:spcPts val="1200"/>
              </a:spcAft>
              <a:defRPr sz="1800">
                <a:solidFill>
                  <a:srgbClr val="FFFFFF"/>
                </a:solidFill>
              </a:defRPr>
            </a:pPr>
            <a:r>
              <a:t>  /clear — reset completely (fresh start)</a:t>
            </a:r>
          </a:p>
          <a:p>
            <a:pPr>
              <a:spcAft>
                <a:spcPts val="1200"/>
              </a:spcAft>
              <a:defRPr sz="1800">
                <a:solidFill>
                  <a:srgbClr val="FFFFFF"/>
                </a:solidFill>
              </a:defRPr>
            </a:pPr>
            <a:r>
              <a:t>  /compact — summarize and continue</a:t>
            </a:r>
          </a:p>
          <a:p>
            <a:pPr>
              <a:spcAft>
                <a:spcPts val="1200"/>
              </a:spcAft>
              <a:defRPr sz="1800">
                <a:solidFill>
                  <a:srgbClr val="FFFFFF"/>
                </a:solidFill>
              </a:defRPr>
            </a:pPr>
            <a:r>
              <a:t>  .claudeignore — exclude files permanently</a:t>
            </a:r>
          </a:p>
          <a:p>
            <a:pPr>
              <a:spcAft>
                <a:spcPts val="1200"/>
              </a:spcAft>
              <a:defRPr sz="1800">
                <a:solidFill>
                  <a:srgbClr val="FFFFFF"/>
                </a:solidFill>
              </a:defRPr>
            </a:pPr>
            <a:r>
              <a:t>  Smaller prompts = more room for code</a:t>
            </a:r>
          </a:p>
          <a:p>
            <a:pPr>
              <a:spcAft>
                <a:spcPts val="1200"/>
              </a:spcAft>
              <a:defRPr sz="1800">
                <a:solidFill>
                  <a:srgbClr val="FFFFFF"/>
                </a:solidFill>
              </a:defRPr>
            </a:pPr>
            <a:r>
              <a:t>  One task per session = clean context</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457200"/>
            <a:ext cx="11277295" cy="731520"/>
          </a:xfrm>
          <a:prstGeom prst="rect">
            <a:avLst/>
          </a:prstGeom>
          <a:noFill/>
        </p:spPr>
        <p:txBody>
          <a:bodyPr wrap="none">
            <a:spAutoFit/>
          </a:bodyPr>
          <a:lstStyle/>
          <a:p>
            <a:pPr algn="ctr">
              <a:defRPr sz="3600" b="1">
                <a:solidFill>
                  <a:srgbClr val="FFFFFF"/>
                </a:solidFill>
              </a:defRPr>
            </a:pPr>
            <a:r>
              <a:t>Token Limits &amp; Optimization</a:t>
            </a:r>
          </a:p>
        </p:txBody>
      </p:sp>
      <p:sp>
        <p:nvSpPr>
          <p:cNvPr id="3" name="Rectangle 2"/>
          <p:cNvSpPr/>
          <p:nvPr/>
        </p:nvSpPr>
        <p:spPr>
          <a:xfrm>
            <a:off x="6077559" y="1371600"/>
            <a:ext cx="36576" cy="45720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463040"/>
            <a:ext cx="5364327" cy="731520"/>
          </a:xfrm>
          <a:prstGeom prst="rect">
            <a:avLst/>
          </a:prstGeom>
          <a:noFill/>
        </p:spPr>
        <p:txBody>
          <a:bodyPr wrap="none">
            <a:spAutoFit/>
          </a:bodyPr>
          <a:lstStyle/>
          <a:p>
            <a:pPr algn="ctr">
              <a:defRPr sz="2800" b="1">
                <a:solidFill>
                  <a:srgbClr val="E86B4A"/>
                </a:solidFill>
              </a:defRPr>
            </a:pPr>
            <a:r>
              <a:t>Context Full</a:t>
            </a:r>
          </a:p>
        </p:txBody>
      </p:sp>
      <p:sp>
        <p:nvSpPr>
          <p:cNvPr id="5" name="TextBox 4"/>
          <p:cNvSpPr txBox="1"/>
          <p:nvPr/>
        </p:nvSpPr>
        <p:spPr>
          <a:xfrm>
            <a:off x="457200" y="2286000"/>
            <a:ext cx="5364327" cy="3657600"/>
          </a:xfrm>
          <a:prstGeom prst="rect">
            <a:avLst/>
          </a:prstGeom>
          <a:noFill/>
        </p:spPr>
        <p:txBody>
          <a:bodyPr wrap="square">
            <a:spAutoFit/>
          </a:bodyPr>
          <a:lstStyle/>
          <a:p>
            <a:pPr>
              <a:spcAft>
                <a:spcPts val="1200"/>
              </a:spcAft>
              <a:defRPr sz="1800">
                <a:solidFill>
                  <a:srgbClr val="FFFFFF"/>
                </a:solidFill>
              </a:defRPr>
            </a:pPr>
            <a:r>
              <a:t>  Responses get shorter and less detailed</a:t>
            </a:r>
          </a:p>
          <a:p>
            <a:pPr>
              <a:spcAft>
                <a:spcPts val="1200"/>
              </a:spcAft>
              <a:defRPr sz="1800">
                <a:solidFill>
                  <a:srgbClr val="FFFFFF"/>
                </a:solidFill>
              </a:defRPr>
            </a:pPr>
            <a:r>
              <a:t>  Claude starts 'forgetting' earlier context</a:t>
            </a:r>
          </a:p>
          <a:p>
            <a:pPr>
              <a:spcAft>
                <a:spcPts val="1200"/>
              </a:spcAft>
              <a:defRPr sz="1800">
                <a:solidFill>
                  <a:srgbClr val="FFFFFF"/>
                </a:solidFill>
              </a:defRPr>
            </a:pPr>
            <a:r>
              <a:t>  Errors increase as reasoning degrades</a:t>
            </a:r>
          </a:p>
          <a:p>
            <a:pPr>
              <a:spcAft>
                <a:spcPts val="1200"/>
              </a:spcAft>
              <a:defRPr sz="1800">
                <a:solidFill>
                  <a:srgbClr val="FFFFFF"/>
                </a:solidFill>
              </a:defRPr>
            </a:pPr>
            <a:r>
              <a:t>  You see 'context window approaching limit'</a:t>
            </a:r>
          </a:p>
        </p:txBody>
      </p:sp>
      <p:sp>
        <p:nvSpPr>
          <p:cNvPr id="6" name="TextBox 5"/>
          <p:cNvSpPr txBox="1"/>
          <p:nvPr/>
        </p:nvSpPr>
        <p:spPr>
          <a:xfrm>
            <a:off x="6370167" y="1463040"/>
            <a:ext cx="5364327" cy="731520"/>
          </a:xfrm>
          <a:prstGeom prst="rect">
            <a:avLst/>
          </a:prstGeom>
          <a:noFill/>
        </p:spPr>
        <p:txBody>
          <a:bodyPr wrap="none">
            <a:spAutoFit/>
          </a:bodyPr>
          <a:lstStyle/>
          <a:p>
            <a:pPr algn="ctr">
              <a:defRPr sz="2800" b="1">
                <a:solidFill>
                  <a:srgbClr val="00D4AA"/>
                </a:solidFill>
              </a:defRPr>
            </a:pPr>
            <a:r>
              <a:t>Stay Efficient</a:t>
            </a:r>
          </a:p>
        </p:txBody>
      </p:sp>
      <p:sp>
        <p:nvSpPr>
          <p:cNvPr id="7" name="TextBox 6"/>
          <p:cNvSpPr txBox="1"/>
          <p:nvPr/>
        </p:nvSpPr>
        <p:spPr>
          <a:xfrm>
            <a:off x="6370167" y="2286000"/>
            <a:ext cx="5364327" cy="3657600"/>
          </a:xfrm>
          <a:prstGeom prst="rect">
            <a:avLst/>
          </a:prstGeom>
          <a:noFill/>
        </p:spPr>
        <p:txBody>
          <a:bodyPr wrap="square">
            <a:spAutoFit/>
          </a:bodyPr>
          <a:lstStyle/>
          <a:p>
            <a:pPr>
              <a:spcAft>
                <a:spcPts val="1200"/>
              </a:spcAft>
              <a:defRPr sz="1800">
                <a:solidFill>
                  <a:srgbClr val="FFFFFF"/>
                </a:solidFill>
              </a:defRPr>
            </a:pPr>
            <a:r>
              <a:t>  Use /clear between unrelated tasks</a:t>
            </a:r>
          </a:p>
          <a:p>
            <a:pPr>
              <a:spcAft>
                <a:spcPts val="1200"/>
              </a:spcAft>
              <a:defRPr sz="1800">
                <a:solidFill>
                  <a:srgbClr val="FFFFFF"/>
                </a:solidFill>
              </a:defRPr>
            </a:pPr>
            <a:r>
              <a:t>  Use /compact for long sessions</a:t>
            </a:r>
          </a:p>
          <a:p>
            <a:pPr>
              <a:spcAft>
                <a:spcPts val="1200"/>
              </a:spcAft>
              <a:defRPr sz="1800">
                <a:solidFill>
                  <a:srgbClr val="FFFFFF"/>
                </a:solidFill>
              </a:defRPr>
            </a:pPr>
            <a:r>
              <a:t>  .claudeignore for node_modules, build/, dist/</a:t>
            </a:r>
          </a:p>
          <a:p>
            <a:pPr>
              <a:spcAft>
                <a:spcPts val="1200"/>
              </a:spcAft>
              <a:defRPr sz="1800">
                <a:solidFill>
                  <a:srgbClr val="FFFFFF"/>
                </a:solidFill>
              </a:defRPr>
            </a:pPr>
            <a:r>
              <a:t>  @ mention specific files, not directories</a:t>
            </a:r>
          </a:p>
          <a:p>
            <a:pPr>
              <a:spcAft>
                <a:spcPts val="1200"/>
              </a:spcAft>
              <a:defRPr sz="1800">
                <a:solidFill>
                  <a:srgbClr val="FFFFFF"/>
                </a:solidFill>
              </a:defRPr>
            </a:pPr>
            <a:r>
              <a:t>  One task per session is the golden rule</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457200"/>
            <a:ext cx="11277295" cy="731520"/>
          </a:xfrm>
          <a:prstGeom prst="rect">
            <a:avLst/>
          </a:prstGeom>
          <a:noFill/>
        </p:spPr>
        <p:txBody>
          <a:bodyPr wrap="none">
            <a:spAutoFit/>
          </a:bodyPr>
          <a:lstStyle/>
          <a:p>
            <a:pPr algn="ctr">
              <a:defRPr sz="3600" b="1">
                <a:solidFill>
                  <a:srgbClr val="FFFFFF"/>
                </a:solidFill>
              </a:defRPr>
            </a:pPr>
            <a:r>
              <a:t>.claudeignore Patterns</a:t>
            </a:r>
          </a:p>
        </p:txBody>
      </p:sp>
      <p:sp>
        <p:nvSpPr>
          <p:cNvPr id="3" name="Rounded Rectangle 2"/>
          <p:cNvSpPr/>
          <p:nvPr/>
        </p:nvSpPr>
        <p:spPr>
          <a:xfrm>
            <a:off x="914400" y="1645920"/>
            <a:ext cx="10362895" cy="4114800"/>
          </a:xfrm>
          <a:prstGeom prst="round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97280" y="1783080"/>
            <a:ext cx="1828800" cy="365760"/>
          </a:xfrm>
          <a:prstGeom prst="rect">
            <a:avLst/>
          </a:prstGeom>
          <a:noFill/>
        </p:spPr>
        <p:txBody>
          <a:bodyPr wrap="none">
            <a:spAutoFit/>
          </a:bodyPr>
          <a:lstStyle/>
          <a:p>
            <a:pPr>
              <a:defRPr sz="1200" b="1">
                <a:solidFill>
                  <a:srgbClr val="00D4AA"/>
                </a:solidFill>
              </a:defRPr>
            </a:pPr>
            <a:r>
              <a:t>GITIGNORE</a:t>
            </a:r>
          </a:p>
        </p:txBody>
      </p:sp>
      <p:sp>
        <p:nvSpPr>
          <p:cNvPr id="5" name="TextBox 4"/>
          <p:cNvSpPr txBox="1"/>
          <p:nvPr/>
        </p:nvSpPr>
        <p:spPr>
          <a:xfrm>
            <a:off x="1097280" y="2194560"/>
            <a:ext cx="9997135" cy="3291840"/>
          </a:xfrm>
          <a:prstGeom prst="rect">
            <a:avLst/>
          </a:prstGeom>
          <a:noFill/>
        </p:spPr>
        <p:txBody>
          <a:bodyPr wrap="square">
            <a:spAutoFit/>
          </a:bodyPr>
          <a:lstStyle/>
          <a:p>
            <a:pPr>
              <a:defRPr sz="1400">
                <a:solidFill>
                  <a:srgbClr val="FFFFFF"/>
                </a:solidFill>
                <a:latin typeface="Consolas"/>
              </a:defRPr>
            </a:pPr>
            <a:r>
              <a:t># .claudeignore - place in project root</a:t>
            </a:r>
          </a:p>
          <a:p>
            <a:pPr>
              <a:defRPr sz="1400">
                <a:solidFill>
                  <a:srgbClr val="FFFFFF"/>
                </a:solidFill>
                <a:latin typeface="Consolas"/>
              </a:defRPr>
            </a:pPr>
            <a:endParaRPr/>
          </a:p>
          <a:p>
            <a:pPr>
              <a:defRPr sz="1400">
                <a:solidFill>
                  <a:srgbClr val="FFFFFF"/>
                </a:solidFill>
                <a:latin typeface="Consolas"/>
              </a:defRPr>
            </a:pPr>
            <a:r>
              <a:t># Dependencies</a:t>
            </a:r>
          </a:p>
          <a:p>
            <a:pPr>
              <a:defRPr sz="1400">
                <a:solidFill>
                  <a:srgbClr val="FFFFFF"/>
                </a:solidFill>
                <a:latin typeface="Consolas"/>
              </a:defRPr>
            </a:pPr>
            <a:r>
              <a:t>node_modules/</a:t>
            </a:r>
          </a:p>
          <a:p>
            <a:pPr>
              <a:defRPr sz="1400">
                <a:solidFill>
                  <a:srgbClr val="FFFFFF"/>
                </a:solidFill>
                <a:latin typeface="Consolas"/>
              </a:defRPr>
            </a:pPr>
            <a:r>
              <a:t>venv/</a:t>
            </a:r>
          </a:p>
          <a:p>
            <a:pPr>
              <a:defRPr sz="1400">
                <a:solidFill>
                  <a:srgbClr val="FFFFFF"/>
                </a:solidFill>
                <a:latin typeface="Consolas"/>
              </a:defRPr>
            </a:pPr>
            <a:endParaRPr/>
          </a:p>
          <a:p>
            <a:pPr>
              <a:defRPr sz="1400">
                <a:solidFill>
                  <a:srgbClr val="FFFFFF"/>
                </a:solidFill>
                <a:latin typeface="Consolas"/>
              </a:defRPr>
            </a:pPr>
            <a:r>
              <a:t># Build outputs</a:t>
            </a:r>
          </a:p>
          <a:p>
            <a:pPr>
              <a:defRPr sz="1400">
                <a:solidFill>
                  <a:srgbClr val="FFFFFF"/>
                </a:solidFill>
                <a:latin typeface="Consolas"/>
              </a:defRPr>
            </a:pPr>
            <a:r>
              <a:t>dist/</a:t>
            </a:r>
          </a:p>
          <a:p>
            <a:pPr>
              <a:defRPr sz="1400">
                <a:solidFill>
                  <a:srgbClr val="FFFFFF"/>
                </a:solidFill>
                <a:latin typeface="Consolas"/>
              </a:defRPr>
            </a:pPr>
            <a:r>
              <a:t>build/</a:t>
            </a:r>
          </a:p>
          <a:p>
            <a:pPr>
              <a:defRPr sz="1400">
                <a:solidFill>
                  <a:srgbClr val="FFFFFF"/>
                </a:solidFill>
                <a:latin typeface="Consolas"/>
              </a:defRPr>
            </a:pPr>
            <a:endParaRPr/>
          </a:p>
          <a:p>
            <a:pPr>
              <a:defRPr sz="1400">
                <a:solidFill>
                  <a:srgbClr val="FFFFFF"/>
                </a:solidFill>
                <a:latin typeface="Consolas"/>
              </a:defRPr>
            </a:pPr>
            <a:r>
              <a:t># Media</a:t>
            </a:r>
          </a:p>
          <a:p>
            <a:pPr>
              <a:defRPr sz="1400">
                <a:solidFill>
                  <a:srgbClr val="FFFFFF"/>
                </a:solidFill>
                <a:latin typeface="Consolas"/>
              </a:defRPr>
            </a:pPr>
            <a:r>
              <a:t>*.jpg</a:t>
            </a:r>
          </a:p>
          <a:p>
            <a:pPr>
              <a:defRPr sz="1400">
                <a:solidFill>
                  <a:srgbClr val="FFFFFF"/>
                </a:solidFill>
                <a:latin typeface="Consolas"/>
              </a:defRPr>
            </a:pPr>
            <a:r>
              <a:t>*.png</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731520"/>
            <a:ext cx="11277295" cy="914400"/>
          </a:xfrm>
          <a:prstGeom prst="rect">
            <a:avLst/>
          </a:prstGeom>
          <a:noFill/>
        </p:spPr>
        <p:txBody>
          <a:bodyPr wrap="none">
            <a:spAutoFit/>
          </a:bodyPr>
          <a:lstStyle/>
          <a:p>
            <a:pPr algn="ctr">
              <a:defRPr sz="4000" b="1">
                <a:solidFill>
                  <a:srgbClr val="FFFFFF"/>
                </a:solidFill>
              </a:defRPr>
            </a:pPr>
            <a:r>
              <a:t>Managing Large Codebases</a:t>
            </a:r>
          </a:p>
        </p:txBody>
      </p:sp>
      <p:sp>
        <p:nvSpPr>
          <p:cNvPr id="3" name="Rounded Rectangle 2"/>
          <p:cNvSpPr/>
          <p:nvPr/>
        </p:nvSpPr>
        <p:spPr>
          <a:xfrm>
            <a:off x="2301087" y="2011679"/>
            <a:ext cx="2286000" cy="3761591"/>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2986887" y="2468880"/>
            <a:ext cx="914400" cy="91440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986887" y="2468880"/>
            <a:ext cx="914400" cy="914400"/>
          </a:xfrm>
          <a:prstGeom prst="rect">
            <a:avLst/>
          </a:prstGeom>
          <a:noFill/>
        </p:spPr>
        <p:txBody>
          <a:bodyPr wrap="none" anchor="ctr">
            <a:spAutoFit/>
          </a:bodyPr>
          <a:lstStyle/>
          <a:p>
            <a:pPr algn="ctr">
              <a:defRPr sz="3600" b="1">
                <a:solidFill>
                  <a:srgbClr val="0B0F1A"/>
                </a:solidFill>
              </a:defRPr>
            </a:pPr>
            <a:r>
              <a:t>1</a:t>
            </a:r>
          </a:p>
        </p:txBody>
      </p:sp>
      <p:sp>
        <p:nvSpPr>
          <p:cNvPr id="6" name="TextBox 5"/>
          <p:cNvSpPr txBox="1"/>
          <p:nvPr/>
        </p:nvSpPr>
        <p:spPr>
          <a:xfrm>
            <a:off x="2392527" y="3657600"/>
            <a:ext cx="2103120" cy="1371600"/>
          </a:xfrm>
          <a:prstGeom prst="rect">
            <a:avLst/>
          </a:prstGeom>
          <a:noFill/>
        </p:spPr>
        <p:txBody>
          <a:bodyPr wrap="square">
            <a:normAutofit fontScale="77500" lnSpcReduction="20000"/>
          </a:bodyPr>
          <a:lstStyle/>
          <a:p>
            <a:pPr algn="ctr">
              <a:defRPr sz="1800" b="1">
                <a:solidFill>
                  <a:srgbClr val="FFFFFF"/>
                </a:solidFill>
              </a:defRPr>
            </a:pPr>
            <a:r>
              <a:t>.claudeignore</a:t>
            </a:r>
          </a:p>
          <a:p>
            <a:pPr algn="ctr">
              <a:spcBef>
                <a:spcPts val="800"/>
              </a:spcBef>
              <a:defRPr sz="1300">
                <a:solidFill>
                  <a:srgbClr val="8B95A5"/>
                </a:solidFill>
              </a:defRPr>
            </a:pPr>
            <a:r>
              <a:t>node_modules/</a:t>
            </a:r>
            <a:br/>
            <a:r>
              <a:t>dist/</a:t>
            </a:r>
            <a:br/>
            <a:r>
              <a:t>build/</a:t>
            </a:r>
            <a:br/>
            <a:r>
              <a:t>*.min.js</a:t>
            </a:r>
            <a:br/>
            <a:r>
              <a:t>coverage/</a:t>
            </a:r>
            <a:br/>
            <a:r>
              <a:t>.env*</a:t>
            </a:r>
            <a:br/>
            <a:br/>
            <a:r>
              <a:t>Same syntax as .gitignore</a:t>
            </a:r>
          </a:p>
        </p:txBody>
      </p:sp>
      <p:sp>
        <p:nvSpPr>
          <p:cNvPr id="7" name="Rounded Rectangle 6"/>
          <p:cNvSpPr/>
          <p:nvPr/>
        </p:nvSpPr>
        <p:spPr>
          <a:xfrm>
            <a:off x="4952847" y="2011679"/>
            <a:ext cx="2286000" cy="3761591"/>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5638647" y="2468880"/>
            <a:ext cx="914400" cy="91440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638647" y="2468880"/>
            <a:ext cx="914400" cy="914400"/>
          </a:xfrm>
          <a:prstGeom prst="rect">
            <a:avLst/>
          </a:prstGeom>
          <a:noFill/>
        </p:spPr>
        <p:txBody>
          <a:bodyPr wrap="none" anchor="ctr">
            <a:spAutoFit/>
          </a:bodyPr>
          <a:lstStyle/>
          <a:p>
            <a:pPr algn="ctr">
              <a:defRPr sz="3600" b="1">
                <a:solidFill>
                  <a:srgbClr val="0B0F1A"/>
                </a:solidFill>
              </a:defRPr>
            </a:pPr>
            <a:r>
              <a:t>2</a:t>
            </a:r>
          </a:p>
        </p:txBody>
      </p:sp>
      <p:sp>
        <p:nvSpPr>
          <p:cNvPr id="10" name="TextBox 9"/>
          <p:cNvSpPr txBox="1"/>
          <p:nvPr/>
        </p:nvSpPr>
        <p:spPr>
          <a:xfrm>
            <a:off x="5044287" y="3657600"/>
            <a:ext cx="2103120" cy="1371600"/>
          </a:xfrm>
          <a:prstGeom prst="rect">
            <a:avLst/>
          </a:prstGeom>
          <a:noFill/>
        </p:spPr>
        <p:txBody>
          <a:bodyPr wrap="square">
            <a:normAutofit fontScale="92500" lnSpcReduction="20000"/>
          </a:bodyPr>
          <a:lstStyle/>
          <a:p>
            <a:pPr algn="ctr">
              <a:defRPr sz="1800" b="1">
                <a:solidFill>
                  <a:srgbClr val="FFFFFF"/>
                </a:solidFill>
              </a:defRPr>
            </a:pPr>
            <a:r>
              <a:t>Focused Sessions</a:t>
            </a:r>
          </a:p>
          <a:p>
            <a:pPr algn="ctr">
              <a:spcBef>
                <a:spcPts val="800"/>
              </a:spcBef>
              <a:defRPr sz="1300">
                <a:solidFill>
                  <a:srgbClr val="8B95A5"/>
                </a:solidFill>
              </a:defRPr>
            </a:pPr>
            <a:r>
              <a:t>Work on one module at a time.</a:t>
            </a:r>
            <a:br/>
            <a:r>
              <a:t>@ mention only the files you need.</a:t>
            </a:r>
            <a:br/>
            <a:r>
              <a:t>Use /clear between different modules.</a:t>
            </a:r>
          </a:p>
        </p:txBody>
      </p:sp>
      <p:sp>
        <p:nvSpPr>
          <p:cNvPr id="11" name="Rounded Rectangle 10"/>
          <p:cNvSpPr/>
          <p:nvPr/>
        </p:nvSpPr>
        <p:spPr>
          <a:xfrm>
            <a:off x="7604607" y="2011679"/>
            <a:ext cx="2286000" cy="3761591"/>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8290407" y="2468880"/>
            <a:ext cx="914400" cy="91440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290407" y="2468880"/>
            <a:ext cx="914400" cy="914400"/>
          </a:xfrm>
          <a:prstGeom prst="rect">
            <a:avLst/>
          </a:prstGeom>
          <a:noFill/>
        </p:spPr>
        <p:txBody>
          <a:bodyPr wrap="none" anchor="ctr">
            <a:spAutoFit/>
          </a:bodyPr>
          <a:lstStyle/>
          <a:p>
            <a:pPr algn="ctr">
              <a:defRPr sz="3600" b="1">
                <a:solidFill>
                  <a:srgbClr val="0B0F1A"/>
                </a:solidFill>
              </a:defRPr>
            </a:pPr>
            <a:r>
              <a:t>3</a:t>
            </a:r>
          </a:p>
        </p:txBody>
      </p:sp>
      <p:sp>
        <p:nvSpPr>
          <p:cNvPr id="14" name="TextBox 13"/>
          <p:cNvSpPr txBox="1"/>
          <p:nvPr/>
        </p:nvSpPr>
        <p:spPr>
          <a:xfrm>
            <a:off x="7696047" y="3657600"/>
            <a:ext cx="2103120" cy="1371600"/>
          </a:xfrm>
          <a:prstGeom prst="rect">
            <a:avLst/>
          </a:prstGeom>
          <a:noFill/>
        </p:spPr>
        <p:txBody>
          <a:bodyPr wrap="square">
            <a:normAutofit fontScale="92500" lnSpcReduction="20000"/>
          </a:bodyPr>
          <a:lstStyle/>
          <a:p>
            <a:pPr algn="ctr">
              <a:defRPr sz="1800" b="1">
                <a:solidFill>
                  <a:srgbClr val="FFFFFF"/>
                </a:solidFill>
              </a:defRPr>
            </a:pPr>
            <a:r>
              <a:t>Guide Claude</a:t>
            </a:r>
          </a:p>
          <a:p>
            <a:pPr algn="ctr">
              <a:spcBef>
                <a:spcPts val="800"/>
              </a:spcBef>
              <a:defRPr sz="1300">
                <a:solidFill>
                  <a:srgbClr val="8B95A5"/>
                </a:solidFill>
              </a:defRPr>
            </a:pPr>
            <a:r>
              <a:t>CLAUDE.md: describe the architecture.</a:t>
            </a:r>
            <a:br/>
            <a:r>
              <a:t>'Auth is in src/auth/, API routes in src/routes/'</a:t>
            </a:r>
            <a:br/>
            <a:r>
              <a:t>Claude searches smarter with a map.</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11277295" cy="822960"/>
          </a:xfrm>
          <a:prstGeom prst="rect">
            <a:avLst/>
          </a:prstGeom>
          <a:noFill/>
        </p:spPr>
        <p:txBody>
          <a:bodyPr wrap="square">
            <a:spAutoFit/>
          </a:bodyPr>
          <a:lstStyle/>
          <a:p>
            <a:pPr>
              <a:defRPr sz="4000" b="1">
                <a:solidFill>
                  <a:srgbClr val="FFFFFF"/>
                </a:solidFill>
              </a:defRPr>
            </a:pPr>
            <a:r>
              <a:t>Context Window: Your Hidden Bottleneck</a:t>
            </a:r>
          </a:p>
        </p:txBody>
      </p:sp>
      <p:sp>
        <p:nvSpPr>
          <p:cNvPr id="3" name="Rectangle 2"/>
          <p:cNvSpPr/>
          <p:nvPr/>
        </p:nvSpPr>
        <p:spPr>
          <a:xfrm>
            <a:off x="457200" y="1234440"/>
            <a:ext cx="1828800" cy="3657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463040"/>
            <a:ext cx="11277295" cy="4572000"/>
          </a:xfrm>
          <a:prstGeom prst="rect">
            <a:avLst/>
          </a:prstGeom>
          <a:noFill/>
        </p:spPr>
        <p:txBody>
          <a:bodyPr wrap="square">
            <a:spAutoFit/>
          </a:bodyPr>
          <a:lstStyle/>
          <a:p>
            <a:pPr>
              <a:spcBef>
                <a:spcPts val="800"/>
              </a:spcBef>
              <a:spcAft>
                <a:spcPts val="800"/>
              </a:spcAft>
              <a:defRPr sz="2200">
                <a:solidFill>
                  <a:srgbClr val="FFFFFF"/>
                </a:solidFill>
              </a:defRPr>
            </a:pPr>
            <a:r>
              <a:t>  Context window is finite — currently 200K tokens for Claude, but effective quality degrades well before the limit.</a:t>
            </a:r>
          </a:p>
          <a:p>
            <a:pPr>
              <a:spcBef>
                <a:spcPts val="800"/>
              </a:spcBef>
              <a:spcAft>
                <a:spcPts val="800"/>
              </a:spcAft>
              <a:defRPr sz="2200">
                <a:solidFill>
                  <a:srgbClr val="FFFFFF"/>
                </a:solidFill>
              </a:defRPr>
            </a:pPr>
            <a:r>
              <a:t>  MCP tools: each server registers tool descriptions that stay in context permanently during the session.</a:t>
            </a:r>
          </a:p>
          <a:p>
            <a:pPr>
              <a:spcBef>
                <a:spcPts val="800"/>
              </a:spcBef>
              <a:spcAft>
                <a:spcPts val="800"/>
              </a:spcAft>
              <a:defRPr sz="2200">
                <a:solidFill>
                  <a:srgbClr val="FFFFFF"/>
                </a:solidFill>
              </a:defRPr>
            </a:pPr>
            <a:r>
              <a:t>  Solution: Only enable MCP servers you actually need for the current task.</a:t>
            </a:r>
          </a:p>
          <a:p>
            <a:pPr>
              <a:spcBef>
                <a:spcPts val="800"/>
              </a:spcBef>
              <a:spcAft>
                <a:spcPts val="800"/>
              </a:spcAft>
              <a:defRPr sz="2200">
                <a:solidFill>
                  <a:srgbClr val="FFFFFF"/>
                </a:solidFill>
              </a:defRPr>
            </a:pPr>
            <a:r>
              <a:t>  /cost shows your current token usage — check it periodically.</a:t>
            </a:r>
          </a:p>
          <a:p>
            <a:pPr>
              <a:spcBef>
                <a:spcPts val="800"/>
              </a:spcBef>
              <a:spcAft>
                <a:spcPts val="800"/>
              </a:spcAft>
              <a:defRPr sz="2200">
                <a:solidFill>
                  <a:srgbClr val="FFFFFF"/>
                </a:solidFill>
              </a:defRPr>
            </a:pPr>
            <a:r>
              <a:t>  /compact summarizes conversation history to free up context without losing key decisions.</a:t>
            </a:r>
          </a:p>
          <a:p>
            <a:pPr>
              <a:spcBef>
                <a:spcPts val="800"/>
              </a:spcBef>
              <a:spcAft>
                <a:spcPts val="800"/>
              </a:spcAft>
              <a:defRPr sz="2200">
                <a:solidFill>
                  <a:srgbClr val="FFFFFF"/>
                </a:solidFill>
              </a:defRPr>
            </a:pPr>
            <a:r>
              <a:t>  Source: Reza Rezvani — monitoring context was the second major breakthrough after Plan Mode.</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1828800"/>
            <a:ext cx="11277295" cy="1371600"/>
          </a:xfrm>
          <a:prstGeom prst="rect">
            <a:avLst/>
          </a:prstGeom>
          <a:noFill/>
        </p:spPr>
        <p:txBody>
          <a:bodyPr wrap="none">
            <a:spAutoFit/>
          </a:bodyPr>
          <a:lstStyle/>
          <a:p>
            <a:pPr algn="ctr">
              <a:defRPr sz="9600" b="1">
                <a:solidFill>
                  <a:srgbClr val="00D4AA"/>
                </a:solidFill>
              </a:defRPr>
            </a:pPr>
            <a:r>
              <a:t>DEMO</a:t>
            </a:r>
          </a:p>
        </p:txBody>
      </p:sp>
      <p:sp>
        <p:nvSpPr>
          <p:cNvPr id="3" name="Rectangle 2"/>
          <p:cNvSpPr/>
          <p:nvPr/>
        </p:nvSpPr>
        <p:spPr>
          <a:xfrm>
            <a:off x="4724247" y="3474720"/>
            <a:ext cx="2743200" cy="54864"/>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3840480"/>
            <a:ext cx="11277295" cy="914400"/>
          </a:xfrm>
          <a:prstGeom prst="rect">
            <a:avLst/>
          </a:prstGeom>
          <a:noFill/>
        </p:spPr>
        <p:txBody>
          <a:bodyPr wrap="square">
            <a:spAutoFit/>
          </a:bodyPr>
          <a:lstStyle/>
          <a:p>
            <a:pPr algn="ctr">
              <a:defRPr sz="3200" b="1">
                <a:solidFill>
                  <a:srgbClr val="FFFFFF"/>
                </a:solidFill>
              </a:defRPr>
            </a:pPr>
            <a:r>
              <a:t>Context Optimization</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Rounded Rectangle 1"/>
          <p:cNvSpPr/>
          <p:nvPr/>
        </p:nvSpPr>
        <p:spPr>
          <a:xfrm>
            <a:off x="457200" y="365760"/>
            <a:ext cx="1097280" cy="457200"/>
          </a:xfrm>
          <a:prstGeom prst="round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429768"/>
            <a:ext cx="1097280" cy="365760"/>
          </a:xfrm>
          <a:prstGeom prst="rect">
            <a:avLst/>
          </a:prstGeom>
          <a:noFill/>
        </p:spPr>
        <p:txBody>
          <a:bodyPr wrap="none">
            <a:spAutoFit/>
          </a:bodyPr>
          <a:lstStyle/>
          <a:p>
            <a:pPr algn="ctr">
              <a:defRPr sz="1800" b="1">
                <a:solidFill>
                  <a:srgbClr val="0B0F1A"/>
                </a:solidFill>
              </a:defRPr>
            </a:pPr>
            <a:r>
              <a:t>LAB</a:t>
            </a:r>
          </a:p>
        </p:txBody>
      </p:sp>
      <p:sp>
        <p:nvSpPr>
          <p:cNvPr id="4" name="Rounded Rectangle 3"/>
          <p:cNvSpPr/>
          <p:nvPr/>
        </p:nvSpPr>
        <p:spPr>
          <a:xfrm>
            <a:off x="10362895" y="365760"/>
            <a:ext cx="1371600" cy="457200"/>
          </a:xfrm>
          <a:prstGeom prst="roundRect">
            <a:avLst/>
          </a:prstGeom>
          <a:solidFill>
            <a:srgbClr val="141A26"/>
          </a:solidFill>
          <a:ln>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362895" y="429768"/>
            <a:ext cx="1371600" cy="365760"/>
          </a:xfrm>
          <a:prstGeom prst="rect">
            <a:avLst/>
          </a:prstGeom>
          <a:noFill/>
        </p:spPr>
        <p:txBody>
          <a:bodyPr wrap="none">
            <a:spAutoFit/>
          </a:bodyPr>
          <a:lstStyle/>
          <a:p>
            <a:pPr algn="ctr">
              <a:defRPr sz="1400" b="1">
                <a:solidFill>
                  <a:srgbClr val="00D4AA"/>
                </a:solidFill>
              </a:defRPr>
            </a:pPr>
            <a:r>
              <a:t>5 minutes</a:t>
            </a:r>
          </a:p>
        </p:txBody>
      </p:sp>
      <p:sp>
        <p:nvSpPr>
          <p:cNvPr id="6" name="TextBox 5"/>
          <p:cNvSpPr txBox="1"/>
          <p:nvPr/>
        </p:nvSpPr>
        <p:spPr>
          <a:xfrm>
            <a:off x="457200" y="1005840"/>
            <a:ext cx="11277295" cy="731520"/>
          </a:xfrm>
          <a:prstGeom prst="rect">
            <a:avLst/>
          </a:prstGeom>
          <a:noFill/>
        </p:spPr>
        <p:txBody>
          <a:bodyPr wrap="none">
            <a:spAutoFit/>
          </a:bodyPr>
          <a:lstStyle/>
          <a:p>
            <a:pPr>
              <a:defRPr sz="3200" b="1">
                <a:solidFill>
                  <a:srgbClr val="FFFFFF"/>
                </a:solidFill>
              </a:defRPr>
            </a:pPr>
            <a:r>
              <a:t>Lab 1: Setup &amp; First Project</a:t>
            </a:r>
          </a:p>
        </p:txBody>
      </p:sp>
      <p:sp>
        <p:nvSpPr>
          <p:cNvPr id="7" name="Rectangle 6"/>
          <p:cNvSpPr/>
          <p:nvPr/>
        </p:nvSpPr>
        <p:spPr>
          <a:xfrm>
            <a:off x="457200" y="1737360"/>
            <a:ext cx="2743200" cy="3657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Rectangle 1"/>
          <p:cNvSpPr/>
          <p:nvPr/>
        </p:nvSpPr>
        <p:spPr>
          <a:xfrm>
            <a:off x="0" y="1828800"/>
            <a:ext cx="137160" cy="32004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0"/>
            <a:ext cx="11277295" cy="1371600"/>
          </a:xfrm>
          <a:prstGeom prst="rect">
            <a:avLst/>
          </a:prstGeom>
          <a:noFill/>
        </p:spPr>
        <p:txBody>
          <a:bodyPr wrap="square">
            <a:spAutoFit/>
          </a:bodyPr>
          <a:lstStyle/>
          <a:p>
            <a:pPr>
              <a:defRPr sz="5600" b="1">
                <a:solidFill>
                  <a:srgbClr val="FFFFFF"/>
                </a:solidFill>
              </a:defRPr>
            </a:pPr>
            <a:r>
              <a:t>Slash Commands</a:t>
            </a:r>
          </a:p>
        </p:txBody>
      </p:sp>
      <p:sp>
        <p:nvSpPr>
          <p:cNvPr id="4" name="TextBox 3"/>
          <p:cNvSpPr txBox="1"/>
          <p:nvPr/>
        </p:nvSpPr>
        <p:spPr>
          <a:xfrm>
            <a:off x="457200" y="3840480"/>
            <a:ext cx="11277295" cy="914400"/>
          </a:xfrm>
          <a:prstGeom prst="rect">
            <a:avLst/>
          </a:prstGeom>
          <a:noFill/>
        </p:spPr>
        <p:txBody>
          <a:bodyPr wrap="square">
            <a:spAutoFit/>
          </a:bodyPr>
          <a:lstStyle/>
          <a:p>
            <a:pPr>
              <a:defRPr sz="2400">
                <a:solidFill>
                  <a:srgbClr val="8B95A5"/>
                </a:solidFill>
              </a:defRPr>
            </a:pPr>
            <a:r>
              <a:t>Power User Tools</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731520"/>
            <a:ext cx="11277295" cy="914400"/>
          </a:xfrm>
          <a:prstGeom prst="rect">
            <a:avLst/>
          </a:prstGeom>
          <a:noFill/>
        </p:spPr>
        <p:txBody>
          <a:bodyPr wrap="none">
            <a:spAutoFit/>
          </a:bodyPr>
          <a:lstStyle/>
          <a:p>
            <a:pPr algn="ctr">
              <a:defRPr sz="4000" b="1">
                <a:solidFill>
                  <a:srgbClr val="FFFFFF"/>
                </a:solidFill>
              </a:defRPr>
            </a:pPr>
            <a:r>
              <a:t>Command Overview</a:t>
            </a:r>
          </a:p>
        </p:txBody>
      </p:sp>
      <p:sp>
        <p:nvSpPr>
          <p:cNvPr id="3" name="Rounded Rectangle 2"/>
          <p:cNvSpPr/>
          <p:nvPr/>
        </p:nvSpPr>
        <p:spPr>
          <a:xfrm>
            <a:off x="2301087" y="2011680"/>
            <a:ext cx="2286000" cy="411480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2986887" y="2468880"/>
            <a:ext cx="914400" cy="91440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986887" y="2468880"/>
            <a:ext cx="914400" cy="914400"/>
          </a:xfrm>
          <a:prstGeom prst="rect">
            <a:avLst/>
          </a:prstGeom>
          <a:noFill/>
        </p:spPr>
        <p:txBody>
          <a:bodyPr wrap="none" anchor="ctr">
            <a:spAutoFit/>
          </a:bodyPr>
          <a:lstStyle/>
          <a:p>
            <a:pPr algn="ctr">
              <a:defRPr sz="3600" b="1">
                <a:solidFill>
                  <a:srgbClr val="0B0F1A"/>
                </a:solidFill>
              </a:defRPr>
            </a:pPr>
            <a:r>
              <a:t>1</a:t>
            </a:r>
          </a:p>
        </p:txBody>
      </p:sp>
      <p:sp>
        <p:nvSpPr>
          <p:cNvPr id="6" name="TextBox 5"/>
          <p:cNvSpPr txBox="1"/>
          <p:nvPr/>
        </p:nvSpPr>
        <p:spPr>
          <a:xfrm>
            <a:off x="2392527" y="3657600"/>
            <a:ext cx="2103120" cy="1371600"/>
          </a:xfrm>
          <a:prstGeom prst="rect">
            <a:avLst/>
          </a:prstGeom>
          <a:noFill/>
        </p:spPr>
        <p:txBody>
          <a:bodyPr wrap="square">
            <a:normAutofit fontScale="85000" lnSpcReduction="10000"/>
          </a:bodyPr>
          <a:lstStyle/>
          <a:p>
            <a:pPr algn="ctr">
              <a:defRPr sz="1800" b="1">
                <a:solidFill>
                  <a:srgbClr val="FFFFFF"/>
                </a:solidFill>
              </a:defRPr>
            </a:pPr>
            <a:r>
              <a:t>Session</a:t>
            </a:r>
          </a:p>
          <a:p>
            <a:pPr algn="ctr">
              <a:spcBef>
                <a:spcPts val="800"/>
              </a:spcBef>
              <a:defRPr sz="1300">
                <a:solidFill>
                  <a:srgbClr val="8B95A5"/>
                </a:solidFill>
              </a:defRPr>
            </a:pPr>
            <a:r>
              <a:t>/init — initialize project context</a:t>
            </a:r>
            <a:br/>
            <a:r>
              <a:t>/clear — reset conversation</a:t>
            </a:r>
            <a:br/>
            <a:r>
              <a:t>/compact — summarize and continue</a:t>
            </a:r>
            <a:br/>
            <a:r>
              <a:t>/cost — show token usage</a:t>
            </a:r>
            <a:br/>
            <a:r>
              <a:t>/logout — sign out</a:t>
            </a:r>
          </a:p>
        </p:txBody>
      </p:sp>
      <p:sp>
        <p:nvSpPr>
          <p:cNvPr id="7" name="Rounded Rectangle 6"/>
          <p:cNvSpPr/>
          <p:nvPr/>
        </p:nvSpPr>
        <p:spPr>
          <a:xfrm>
            <a:off x="4952847" y="2011680"/>
            <a:ext cx="2286000" cy="411480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5638647" y="2468880"/>
            <a:ext cx="914400" cy="91440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638647" y="2468880"/>
            <a:ext cx="914400" cy="914400"/>
          </a:xfrm>
          <a:prstGeom prst="rect">
            <a:avLst/>
          </a:prstGeom>
          <a:noFill/>
        </p:spPr>
        <p:txBody>
          <a:bodyPr wrap="none" anchor="ctr">
            <a:spAutoFit/>
          </a:bodyPr>
          <a:lstStyle/>
          <a:p>
            <a:pPr algn="ctr">
              <a:defRPr sz="3600" b="1">
                <a:solidFill>
                  <a:srgbClr val="0B0F1A"/>
                </a:solidFill>
              </a:defRPr>
            </a:pPr>
            <a:r>
              <a:t>2</a:t>
            </a:r>
          </a:p>
        </p:txBody>
      </p:sp>
      <p:sp>
        <p:nvSpPr>
          <p:cNvPr id="10" name="TextBox 9"/>
          <p:cNvSpPr txBox="1"/>
          <p:nvPr/>
        </p:nvSpPr>
        <p:spPr>
          <a:xfrm>
            <a:off x="5044287" y="3657600"/>
            <a:ext cx="2103120" cy="1371600"/>
          </a:xfrm>
          <a:prstGeom prst="rect">
            <a:avLst/>
          </a:prstGeom>
          <a:noFill/>
        </p:spPr>
        <p:txBody>
          <a:bodyPr wrap="square">
            <a:normAutofit fontScale="77500" lnSpcReduction="20000"/>
          </a:bodyPr>
          <a:lstStyle/>
          <a:p>
            <a:pPr algn="ctr">
              <a:defRPr sz="1800" b="1">
                <a:solidFill>
                  <a:srgbClr val="FFFFFF"/>
                </a:solidFill>
              </a:defRPr>
            </a:pPr>
            <a:r>
              <a:t>Control</a:t>
            </a:r>
          </a:p>
          <a:p>
            <a:pPr algn="ctr">
              <a:spcBef>
                <a:spcPts val="800"/>
              </a:spcBef>
              <a:defRPr sz="1300">
                <a:solidFill>
                  <a:srgbClr val="8B95A5"/>
                </a:solidFill>
              </a:defRPr>
            </a:pPr>
            <a:r>
              <a:t>/model — switch models (sonnet/opus)</a:t>
            </a:r>
            <a:br/>
            <a:r>
              <a:t>/thinking — toggle extended thinking</a:t>
            </a:r>
            <a:br/>
            <a:r>
              <a:t>/permissions — manage tool access</a:t>
            </a:r>
            <a:br/>
            <a:r>
              <a:t>/allowed-tools — view tool allowlist</a:t>
            </a:r>
            <a:br/>
            <a:r>
              <a:t>/memory — manage all memory files</a:t>
            </a:r>
          </a:p>
        </p:txBody>
      </p:sp>
      <p:sp>
        <p:nvSpPr>
          <p:cNvPr id="11" name="Rounded Rectangle 10"/>
          <p:cNvSpPr/>
          <p:nvPr/>
        </p:nvSpPr>
        <p:spPr>
          <a:xfrm>
            <a:off x="7604607" y="2011680"/>
            <a:ext cx="2286000" cy="411480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8290407" y="2468880"/>
            <a:ext cx="914400" cy="91440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290407" y="2468880"/>
            <a:ext cx="914400" cy="914400"/>
          </a:xfrm>
          <a:prstGeom prst="rect">
            <a:avLst/>
          </a:prstGeom>
          <a:noFill/>
        </p:spPr>
        <p:txBody>
          <a:bodyPr wrap="none" anchor="ctr">
            <a:spAutoFit/>
          </a:bodyPr>
          <a:lstStyle/>
          <a:p>
            <a:pPr algn="ctr">
              <a:defRPr sz="3600" b="1">
                <a:solidFill>
                  <a:srgbClr val="0B0F1A"/>
                </a:solidFill>
              </a:defRPr>
            </a:pPr>
            <a:r>
              <a:t>3</a:t>
            </a:r>
          </a:p>
        </p:txBody>
      </p:sp>
      <p:sp>
        <p:nvSpPr>
          <p:cNvPr id="14" name="TextBox 13"/>
          <p:cNvSpPr txBox="1"/>
          <p:nvPr/>
        </p:nvSpPr>
        <p:spPr>
          <a:xfrm>
            <a:off x="7696047" y="3657600"/>
            <a:ext cx="2103120" cy="1371600"/>
          </a:xfrm>
          <a:prstGeom prst="rect">
            <a:avLst/>
          </a:prstGeom>
          <a:noFill/>
        </p:spPr>
        <p:txBody>
          <a:bodyPr wrap="square">
            <a:normAutofit fontScale="92500" lnSpcReduction="20000"/>
          </a:bodyPr>
          <a:lstStyle/>
          <a:p>
            <a:pPr algn="ctr">
              <a:defRPr sz="1800" b="1">
                <a:solidFill>
                  <a:srgbClr val="FFFFFF"/>
                </a:solidFill>
              </a:defRPr>
            </a:pPr>
            <a:r>
              <a:t>Output</a:t>
            </a:r>
          </a:p>
          <a:p>
            <a:pPr algn="ctr">
              <a:spcBef>
                <a:spcPts val="800"/>
              </a:spcBef>
              <a:defRPr sz="1300">
                <a:solidFill>
                  <a:srgbClr val="8B95A5"/>
                </a:solidFill>
              </a:defRPr>
            </a:pPr>
            <a:r>
              <a:t>/output-format — set response format</a:t>
            </a:r>
            <a:br/>
            <a:r>
              <a:t>/verbose — detailed logging</a:t>
            </a:r>
            <a:br/>
            <a:r>
              <a:t>/review — code quality review</a:t>
            </a:r>
            <a:br/>
            <a:r>
              <a:t>/test — run test suite</a:t>
            </a:r>
            <a:br/>
            <a:r>
              <a:t>/doctor — diagnose issues</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731520"/>
            <a:ext cx="11277295" cy="914400"/>
          </a:xfrm>
          <a:prstGeom prst="rect">
            <a:avLst/>
          </a:prstGeom>
          <a:noFill/>
        </p:spPr>
        <p:txBody>
          <a:bodyPr wrap="square">
            <a:spAutoFit/>
          </a:bodyPr>
          <a:lstStyle/>
          <a:p>
            <a:pPr algn="ctr">
              <a:defRPr sz="4000" b="1">
                <a:solidFill>
                  <a:srgbClr val="FFFFFF"/>
                </a:solidFill>
              </a:defRPr>
            </a:pPr>
            <a:r>
              <a:t>Session Management: /init, /clear, /compact</a:t>
            </a:r>
          </a:p>
        </p:txBody>
      </p:sp>
      <p:sp>
        <p:nvSpPr>
          <p:cNvPr id="3" name="Rounded Rectangle 2"/>
          <p:cNvSpPr/>
          <p:nvPr/>
        </p:nvSpPr>
        <p:spPr>
          <a:xfrm>
            <a:off x="2301087" y="2011680"/>
            <a:ext cx="2286000" cy="3546438"/>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2986887" y="2468880"/>
            <a:ext cx="914400" cy="91440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986887" y="2468880"/>
            <a:ext cx="914400" cy="914400"/>
          </a:xfrm>
          <a:prstGeom prst="rect">
            <a:avLst/>
          </a:prstGeom>
          <a:noFill/>
        </p:spPr>
        <p:txBody>
          <a:bodyPr wrap="none" anchor="ctr">
            <a:spAutoFit/>
          </a:bodyPr>
          <a:lstStyle/>
          <a:p>
            <a:pPr algn="ctr">
              <a:defRPr sz="3600" b="1">
                <a:solidFill>
                  <a:srgbClr val="0B0F1A"/>
                </a:solidFill>
              </a:defRPr>
            </a:pPr>
            <a:r>
              <a:t>1</a:t>
            </a:r>
          </a:p>
        </p:txBody>
      </p:sp>
      <p:sp>
        <p:nvSpPr>
          <p:cNvPr id="6" name="TextBox 5"/>
          <p:cNvSpPr txBox="1"/>
          <p:nvPr/>
        </p:nvSpPr>
        <p:spPr>
          <a:xfrm>
            <a:off x="2392527" y="3657600"/>
            <a:ext cx="2103120" cy="1371600"/>
          </a:xfrm>
          <a:prstGeom prst="rect">
            <a:avLst/>
          </a:prstGeom>
          <a:noFill/>
        </p:spPr>
        <p:txBody>
          <a:bodyPr wrap="square">
            <a:normAutofit lnSpcReduction="10000"/>
          </a:bodyPr>
          <a:lstStyle/>
          <a:p>
            <a:pPr algn="ctr">
              <a:defRPr sz="1800" b="1">
                <a:solidFill>
                  <a:srgbClr val="FFFFFF"/>
                </a:solidFill>
              </a:defRPr>
            </a:pPr>
            <a:r>
              <a:t>/init</a:t>
            </a:r>
          </a:p>
          <a:p>
            <a:pPr algn="ctr">
              <a:spcBef>
                <a:spcPts val="800"/>
              </a:spcBef>
              <a:defRPr sz="1300">
                <a:solidFill>
                  <a:srgbClr val="8B95A5"/>
                </a:solidFill>
              </a:defRPr>
            </a:pPr>
            <a:r>
              <a:t>Scans project structure.</a:t>
            </a:r>
            <a:br/>
            <a:r>
              <a:t>Reads CLAUDE.md.</a:t>
            </a:r>
            <a:br/>
            <a:r>
              <a:t>Sets up initial context.</a:t>
            </a:r>
            <a:br/>
            <a:r>
              <a:t>Run once when starting a new project.</a:t>
            </a:r>
          </a:p>
        </p:txBody>
      </p:sp>
      <p:sp>
        <p:nvSpPr>
          <p:cNvPr id="7" name="Rounded Rectangle 6"/>
          <p:cNvSpPr/>
          <p:nvPr/>
        </p:nvSpPr>
        <p:spPr>
          <a:xfrm>
            <a:off x="4952847" y="2011680"/>
            <a:ext cx="2286000" cy="3546438"/>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5638647" y="2468880"/>
            <a:ext cx="914400" cy="91440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638647" y="2468880"/>
            <a:ext cx="914400" cy="914400"/>
          </a:xfrm>
          <a:prstGeom prst="rect">
            <a:avLst/>
          </a:prstGeom>
          <a:noFill/>
        </p:spPr>
        <p:txBody>
          <a:bodyPr wrap="none" anchor="ctr">
            <a:spAutoFit/>
          </a:bodyPr>
          <a:lstStyle/>
          <a:p>
            <a:pPr algn="ctr">
              <a:defRPr sz="3600" b="1">
                <a:solidFill>
                  <a:srgbClr val="0B0F1A"/>
                </a:solidFill>
              </a:defRPr>
            </a:pPr>
            <a:r>
              <a:t>2</a:t>
            </a:r>
          </a:p>
        </p:txBody>
      </p:sp>
      <p:sp>
        <p:nvSpPr>
          <p:cNvPr id="10" name="TextBox 9"/>
          <p:cNvSpPr txBox="1"/>
          <p:nvPr/>
        </p:nvSpPr>
        <p:spPr>
          <a:xfrm>
            <a:off x="5044287" y="3657600"/>
            <a:ext cx="2103120" cy="1371600"/>
          </a:xfrm>
          <a:prstGeom prst="rect">
            <a:avLst/>
          </a:prstGeom>
          <a:noFill/>
        </p:spPr>
        <p:txBody>
          <a:bodyPr wrap="square">
            <a:normAutofit fontScale="92500"/>
          </a:bodyPr>
          <a:lstStyle/>
          <a:p>
            <a:pPr algn="ctr">
              <a:defRPr sz="1800" b="1">
                <a:solidFill>
                  <a:srgbClr val="FFFFFF"/>
                </a:solidFill>
              </a:defRPr>
            </a:pPr>
            <a:r>
              <a:t>/clear</a:t>
            </a:r>
          </a:p>
          <a:p>
            <a:pPr algn="ctr">
              <a:spcBef>
                <a:spcPts val="800"/>
              </a:spcBef>
              <a:defRPr sz="1300">
                <a:solidFill>
                  <a:srgbClr val="8B95A5"/>
                </a:solidFill>
              </a:defRPr>
            </a:pPr>
            <a:r>
              <a:t>Resets entire conversation.</a:t>
            </a:r>
            <a:br/>
            <a:r>
              <a:t>Project files stay on disk.</a:t>
            </a:r>
            <a:br/>
            <a:r>
              <a:t>Use between unrelated tasks.</a:t>
            </a:r>
            <a:br/>
            <a:r>
              <a:t>The most important command to learn.</a:t>
            </a:r>
          </a:p>
        </p:txBody>
      </p:sp>
      <p:sp>
        <p:nvSpPr>
          <p:cNvPr id="11" name="Rounded Rectangle 10"/>
          <p:cNvSpPr/>
          <p:nvPr/>
        </p:nvSpPr>
        <p:spPr>
          <a:xfrm>
            <a:off x="7604607" y="2011680"/>
            <a:ext cx="2286000" cy="3546438"/>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8290407" y="2468880"/>
            <a:ext cx="914400" cy="91440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290407" y="2468880"/>
            <a:ext cx="914400" cy="914400"/>
          </a:xfrm>
          <a:prstGeom prst="rect">
            <a:avLst/>
          </a:prstGeom>
          <a:noFill/>
        </p:spPr>
        <p:txBody>
          <a:bodyPr wrap="none" anchor="ctr">
            <a:spAutoFit/>
          </a:bodyPr>
          <a:lstStyle/>
          <a:p>
            <a:pPr algn="ctr">
              <a:defRPr sz="3600" b="1">
                <a:solidFill>
                  <a:srgbClr val="0B0F1A"/>
                </a:solidFill>
              </a:defRPr>
            </a:pPr>
            <a:r>
              <a:t>3</a:t>
            </a:r>
          </a:p>
        </p:txBody>
      </p:sp>
      <p:sp>
        <p:nvSpPr>
          <p:cNvPr id="14" name="TextBox 13"/>
          <p:cNvSpPr txBox="1"/>
          <p:nvPr/>
        </p:nvSpPr>
        <p:spPr>
          <a:xfrm>
            <a:off x="7696047" y="3657600"/>
            <a:ext cx="2103120" cy="1371600"/>
          </a:xfrm>
          <a:prstGeom prst="rect">
            <a:avLst/>
          </a:prstGeom>
          <a:noFill/>
        </p:spPr>
        <p:txBody>
          <a:bodyPr wrap="square">
            <a:normAutofit fontScale="85000" lnSpcReduction="10000"/>
          </a:bodyPr>
          <a:lstStyle/>
          <a:p>
            <a:pPr algn="ctr">
              <a:defRPr sz="1800" b="1">
                <a:solidFill>
                  <a:srgbClr val="FFFFFF"/>
                </a:solidFill>
              </a:defRPr>
            </a:pPr>
            <a:r>
              <a:t>/compact</a:t>
            </a:r>
          </a:p>
          <a:p>
            <a:pPr algn="ctr">
              <a:spcBef>
                <a:spcPts val="800"/>
              </a:spcBef>
              <a:defRPr sz="1300">
                <a:solidFill>
                  <a:srgbClr val="8B95A5"/>
                </a:solidFill>
              </a:defRPr>
            </a:pPr>
            <a:r>
              <a:t>Summarizes conversation so far.</a:t>
            </a:r>
            <a:br/>
            <a:r>
              <a:t>Frees up context window space.</a:t>
            </a:r>
            <a:br/>
            <a:r>
              <a:t>Use during long sessions.</a:t>
            </a:r>
            <a:br/>
            <a:r>
              <a:t>Keeps key decisions, drops details.</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457200"/>
            <a:ext cx="11277295" cy="731520"/>
          </a:xfrm>
          <a:prstGeom prst="rect">
            <a:avLst/>
          </a:prstGeom>
          <a:noFill/>
        </p:spPr>
        <p:txBody>
          <a:bodyPr wrap="none">
            <a:spAutoFit/>
          </a:bodyPr>
          <a:lstStyle/>
          <a:p>
            <a:pPr algn="ctr">
              <a:defRPr sz="3600" b="1">
                <a:solidFill>
                  <a:srgbClr val="FFFFFF"/>
                </a:solidFill>
              </a:defRPr>
            </a:pPr>
            <a:r>
              <a:t>Model Control: /model, /thinking</a:t>
            </a:r>
          </a:p>
        </p:txBody>
      </p:sp>
      <p:sp>
        <p:nvSpPr>
          <p:cNvPr id="3" name="Rectangle 2"/>
          <p:cNvSpPr/>
          <p:nvPr/>
        </p:nvSpPr>
        <p:spPr>
          <a:xfrm>
            <a:off x="6077559" y="1371600"/>
            <a:ext cx="36576" cy="45720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463040"/>
            <a:ext cx="5364327" cy="731520"/>
          </a:xfrm>
          <a:prstGeom prst="rect">
            <a:avLst/>
          </a:prstGeom>
          <a:noFill/>
        </p:spPr>
        <p:txBody>
          <a:bodyPr wrap="none">
            <a:spAutoFit/>
          </a:bodyPr>
          <a:lstStyle/>
          <a:p>
            <a:pPr algn="ctr">
              <a:defRPr sz="2800" b="1">
                <a:solidFill>
                  <a:srgbClr val="00D4AA"/>
                </a:solidFill>
              </a:defRPr>
            </a:pPr>
            <a:r>
              <a:t>/model</a:t>
            </a:r>
          </a:p>
        </p:txBody>
      </p:sp>
      <p:sp>
        <p:nvSpPr>
          <p:cNvPr id="5" name="TextBox 4"/>
          <p:cNvSpPr txBox="1"/>
          <p:nvPr/>
        </p:nvSpPr>
        <p:spPr>
          <a:xfrm>
            <a:off x="457200" y="2286000"/>
            <a:ext cx="5364327" cy="3657600"/>
          </a:xfrm>
          <a:prstGeom prst="rect">
            <a:avLst/>
          </a:prstGeom>
          <a:noFill/>
        </p:spPr>
        <p:txBody>
          <a:bodyPr wrap="square">
            <a:spAutoFit/>
          </a:bodyPr>
          <a:lstStyle/>
          <a:p>
            <a:pPr>
              <a:spcAft>
                <a:spcPts val="1200"/>
              </a:spcAft>
              <a:defRPr sz="1800">
                <a:solidFill>
                  <a:srgbClr val="FFFFFF"/>
                </a:solidFill>
              </a:defRPr>
            </a:pPr>
            <a:r>
              <a:t>  /model — see current model</a:t>
            </a:r>
          </a:p>
          <a:p>
            <a:pPr>
              <a:spcAft>
                <a:spcPts val="1200"/>
              </a:spcAft>
              <a:defRPr sz="1800">
                <a:solidFill>
                  <a:srgbClr val="FFFFFF"/>
                </a:solidFill>
              </a:defRPr>
            </a:pPr>
            <a:r>
              <a:t>  /model sonnet — switch to Sonnet (fast)</a:t>
            </a:r>
          </a:p>
          <a:p>
            <a:pPr>
              <a:spcAft>
                <a:spcPts val="1200"/>
              </a:spcAft>
              <a:defRPr sz="1800">
                <a:solidFill>
                  <a:srgbClr val="FFFFFF"/>
                </a:solidFill>
              </a:defRPr>
            </a:pPr>
            <a:r>
              <a:t>  /model opus — switch to Opus (deep reasoning)</a:t>
            </a:r>
          </a:p>
          <a:p>
            <a:pPr>
              <a:spcAft>
                <a:spcPts val="1200"/>
              </a:spcAft>
              <a:defRPr sz="1800">
                <a:solidFill>
                  <a:srgbClr val="FFFFFF"/>
                </a:solidFill>
              </a:defRPr>
            </a:pPr>
            <a:r>
              <a:t>  Opus for: architecture, security review, complex bugs</a:t>
            </a:r>
          </a:p>
          <a:p>
            <a:pPr>
              <a:spcAft>
                <a:spcPts val="1200"/>
              </a:spcAft>
              <a:defRPr sz="1800">
                <a:solidFill>
                  <a:srgbClr val="FFFFFF"/>
                </a:solidFill>
              </a:defRPr>
            </a:pPr>
            <a:r>
              <a:t>  Sonnet for: everyday coding, generation, editing</a:t>
            </a:r>
          </a:p>
        </p:txBody>
      </p:sp>
      <p:sp>
        <p:nvSpPr>
          <p:cNvPr id="6" name="TextBox 5"/>
          <p:cNvSpPr txBox="1"/>
          <p:nvPr/>
        </p:nvSpPr>
        <p:spPr>
          <a:xfrm>
            <a:off x="6370167" y="1463040"/>
            <a:ext cx="5364327" cy="731520"/>
          </a:xfrm>
          <a:prstGeom prst="rect">
            <a:avLst/>
          </a:prstGeom>
          <a:noFill/>
        </p:spPr>
        <p:txBody>
          <a:bodyPr wrap="none">
            <a:spAutoFit/>
          </a:bodyPr>
          <a:lstStyle/>
          <a:p>
            <a:pPr algn="ctr">
              <a:defRPr sz="2800" b="1">
                <a:solidFill>
                  <a:srgbClr val="E86B4A"/>
                </a:solidFill>
              </a:defRPr>
            </a:pPr>
            <a:r>
              <a:t>/thinking</a:t>
            </a:r>
          </a:p>
        </p:txBody>
      </p:sp>
      <p:sp>
        <p:nvSpPr>
          <p:cNvPr id="7" name="TextBox 6"/>
          <p:cNvSpPr txBox="1"/>
          <p:nvPr/>
        </p:nvSpPr>
        <p:spPr>
          <a:xfrm>
            <a:off x="6370167" y="2286000"/>
            <a:ext cx="5364327" cy="3657600"/>
          </a:xfrm>
          <a:prstGeom prst="rect">
            <a:avLst/>
          </a:prstGeom>
          <a:noFill/>
        </p:spPr>
        <p:txBody>
          <a:bodyPr wrap="square">
            <a:spAutoFit/>
          </a:bodyPr>
          <a:lstStyle/>
          <a:p>
            <a:pPr>
              <a:spcAft>
                <a:spcPts val="1200"/>
              </a:spcAft>
              <a:defRPr sz="1800">
                <a:solidFill>
                  <a:srgbClr val="FFFFFF"/>
                </a:solidFill>
              </a:defRPr>
            </a:pPr>
            <a:r>
              <a:t>  Tab key — toggle extended thinking</a:t>
            </a:r>
          </a:p>
          <a:p>
            <a:pPr>
              <a:spcAft>
                <a:spcPts val="1200"/>
              </a:spcAft>
              <a:defRPr sz="1800">
                <a:solidFill>
                  <a:srgbClr val="FFFFFF"/>
                </a:solidFill>
              </a:defRPr>
            </a:pPr>
            <a:r>
              <a:t>  Shows Claude's reasoning process</a:t>
            </a:r>
          </a:p>
          <a:p>
            <a:pPr>
              <a:spcAft>
                <a:spcPts val="1200"/>
              </a:spcAft>
              <a:defRPr sz="1800">
                <a:solidFill>
                  <a:srgbClr val="FFFFFF"/>
                </a:solidFill>
              </a:defRPr>
            </a:pPr>
            <a:r>
              <a:t>  Costs more tokens but improves quality</a:t>
            </a:r>
          </a:p>
          <a:p>
            <a:pPr>
              <a:spcAft>
                <a:spcPts val="1200"/>
              </a:spcAft>
              <a:defRPr sz="1800">
                <a:solidFill>
                  <a:srgbClr val="FFFFFF"/>
                </a:solidFill>
              </a:defRPr>
            </a:pPr>
            <a:r>
              <a:t>  Essential for complex multi-step tasks</a:t>
            </a:r>
          </a:p>
          <a:p>
            <a:pPr>
              <a:spcAft>
                <a:spcPts val="1200"/>
              </a:spcAft>
              <a:defRPr sz="1800">
                <a:solidFill>
                  <a:srgbClr val="FFFFFF"/>
                </a:solidFill>
              </a:defRPr>
            </a:pPr>
            <a:r>
              <a:t>  Plan Mode (Shift+Tab) uses thinking automatically</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457200"/>
            <a:ext cx="11277295" cy="731520"/>
          </a:xfrm>
          <a:prstGeom prst="rect">
            <a:avLst/>
          </a:prstGeom>
          <a:noFill/>
        </p:spPr>
        <p:txBody>
          <a:bodyPr wrap="square">
            <a:spAutoFit/>
          </a:bodyPr>
          <a:lstStyle/>
          <a:p>
            <a:pPr algn="ctr">
              <a:defRPr sz="3600" b="1">
                <a:solidFill>
                  <a:srgbClr val="FFFFFF"/>
                </a:solidFill>
              </a:defRPr>
            </a:pPr>
            <a:r>
              <a:t>Permissions: /permissions, /allowed-tools</a:t>
            </a:r>
          </a:p>
        </p:txBody>
      </p:sp>
      <p:sp>
        <p:nvSpPr>
          <p:cNvPr id="3" name="Rectangle 2"/>
          <p:cNvSpPr/>
          <p:nvPr/>
        </p:nvSpPr>
        <p:spPr>
          <a:xfrm>
            <a:off x="6077559" y="1371600"/>
            <a:ext cx="36576" cy="45720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463040"/>
            <a:ext cx="5364327" cy="731520"/>
          </a:xfrm>
          <a:prstGeom prst="rect">
            <a:avLst/>
          </a:prstGeom>
          <a:noFill/>
        </p:spPr>
        <p:txBody>
          <a:bodyPr wrap="none">
            <a:spAutoFit/>
          </a:bodyPr>
          <a:lstStyle/>
          <a:p>
            <a:pPr algn="ctr">
              <a:defRPr sz="2800" b="1">
                <a:solidFill>
                  <a:srgbClr val="00D4AA"/>
                </a:solidFill>
              </a:defRPr>
            </a:pPr>
            <a:r>
              <a:t>/permissions</a:t>
            </a:r>
          </a:p>
        </p:txBody>
      </p:sp>
      <p:sp>
        <p:nvSpPr>
          <p:cNvPr id="5" name="TextBox 4"/>
          <p:cNvSpPr txBox="1"/>
          <p:nvPr/>
        </p:nvSpPr>
        <p:spPr>
          <a:xfrm>
            <a:off x="457200" y="2286000"/>
            <a:ext cx="5364327" cy="3657600"/>
          </a:xfrm>
          <a:prstGeom prst="rect">
            <a:avLst/>
          </a:prstGeom>
          <a:noFill/>
        </p:spPr>
        <p:txBody>
          <a:bodyPr wrap="square">
            <a:spAutoFit/>
          </a:bodyPr>
          <a:lstStyle/>
          <a:p>
            <a:pPr>
              <a:spcAft>
                <a:spcPts val="1200"/>
              </a:spcAft>
              <a:defRPr sz="1800">
                <a:solidFill>
                  <a:srgbClr val="FFFFFF"/>
                </a:solidFill>
              </a:defRPr>
            </a:pPr>
            <a:r>
              <a:t>  View current permission rules</a:t>
            </a:r>
          </a:p>
          <a:p>
            <a:pPr>
              <a:spcAft>
                <a:spcPts val="1200"/>
              </a:spcAft>
              <a:defRPr sz="1800">
                <a:solidFill>
                  <a:srgbClr val="FFFFFF"/>
                </a:solidFill>
              </a:defRPr>
            </a:pPr>
            <a:r>
              <a:t>  Add allow/deny rules interactively</a:t>
            </a:r>
          </a:p>
          <a:p>
            <a:pPr>
              <a:spcAft>
                <a:spcPts val="1200"/>
              </a:spcAft>
              <a:defRPr sz="1800">
                <a:solidFill>
                  <a:srgbClr val="FFFFFF"/>
                </a:solidFill>
              </a:defRPr>
            </a:pPr>
            <a:r>
              <a:t>  Rules persist in .claude/settings.json</a:t>
            </a:r>
          </a:p>
          <a:p>
            <a:pPr>
              <a:spcAft>
                <a:spcPts val="1200"/>
              </a:spcAft>
              <a:defRPr sz="1800">
                <a:solidFill>
                  <a:srgbClr val="FFFFFF"/>
                </a:solidFill>
              </a:defRPr>
            </a:pPr>
            <a:r>
              <a:t>  Scoped by tool type (Read, Write, Bash, etc.)</a:t>
            </a:r>
          </a:p>
        </p:txBody>
      </p:sp>
      <p:sp>
        <p:nvSpPr>
          <p:cNvPr id="6" name="TextBox 5"/>
          <p:cNvSpPr txBox="1"/>
          <p:nvPr/>
        </p:nvSpPr>
        <p:spPr>
          <a:xfrm>
            <a:off x="6370167" y="1463040"/>
            <a:ext cx="5364327" cy="731520"/>
          </a:xfrm>
          <a:prstGeom prst="rect">
            <a:avLst/>
          </a:prstGeom>
          <a:noFill/>
        </p:spPr>
        <p:txBody>
          <a:bodyPr wrap="none">
            <a:spAutoFit/>
          </a:bodyPr>
          <a:lstStyle/>
          <a:p>
            <a:pPr algn="ctr">
              <a:defRPr sz="2800" b="1">
                <a:solidFill>
                  <a:srgbClr val="E86B4A"/>
                </a:solidFill>
              </a:defRPr>
            </a:pPr>
            <a:r>
              <a:t>/allowed-tools</a:t>
            </a:r>
          </a:p>
        </p:txBody>
      </p:sp>
      <p:sp>
        <p:nvSpPr>
          <p:cNvPr id="7" name="TextBox 6"/>
          <p:cNvSpPr txBox="1"/>
          <p:nvPr/>
        </p:nvSpPr>
        <p:spPr>
          <a:xfrm>
            <a:off x="6370167" y="2286000"/>
            <a:ext cx="5364327" cy="3657600"/>
          </a:xfrm>
          <a:prstGeom prst="rect">
            <a:avLst/>
          </a:prstGeom>
          <a:noFill/>
        </p:spPr>
        <p:txBody>
          <a:bodyPr wrap="square">
            <a:spAutoFit/>
          </a:bodyPr>
          <a:lstStyle/>
          <a:p>
            <a:pPr>
              <a:spcAft>
                <a:spcPts val="1200"/>
              </a:spcAft>
              <a:defRPr sz="1800">
                <a:solidFill>
                  <a:srgbClr val="FFFFFF"/>
                </a:solidFill>
              </a:defRPr>
            </a:pPr>
            <a:r>
              <a:t>  See which tools Claude can use</a:t>
            </a:r>
          </a:p>
          <a:p>
            <a:pPr>
              <a:spcAft>
                <a:spcPts val="1200"/>
              </a:spcAft>
              <a:defRPr sz="1800">
                <a:solidFill>
                  <a:srgbClr val="FFFFFF"/>
                </a:solidFill>
              </a:defRPr>
            </a:pPr>
            <a:r>
              <a:t>  Add tools to allowlist for auto-approval</a:t>
            </a:r>
          </a:p>
          <a:p>
            <a:pPr>
              <a:spcAft>
                <a:spcPts val="1200"/>
              </a:spcAft>
              <a:defRPr sz="1800">
                <a:solidFill>
                  <a:srgbClr val="FFFFFF"/>
                </a:solidFill>
              </a:defRPr>
            </a:pPr>
            <a:r>
              <a:t>  Reduce permission prompts for trusted operations</a:t>
            </a:r>
          </a:p>
          <a:p>
            <a:pPr>
              <a:spcAft>
                <a:spcPts val="1200"/>
              </a:spcAft>
              <a:defRPr sz="1800">
                <a:solidFill>
                  <a:srgbClr val="FFFFFF"/>
                </a:solidFill>
              </a:defRPr>
            </a:pPr>
            <a:r>
              <a:t>  Example: allow Bash(npm test) to run tests without asking</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457200"/>
            <a:ext cx="11277295" cy="731520"/>
          </a:xfrm>
          <a:prstGeom prst="rect">
            <a:avLst/>
          </a:prstGeom>
          <a:noFill/>
        </p:spPr>
        <p:txBody>
          <a:bodyPr wrap="square">
            <a:spAutoFit/>
          </a:bodyPr>
          <a:lstStyle/>
          <a:p>
            <a:pPr algn="ctr">
              <a:defRPr sz="3600" b="1">
                <a:solidFill>
                  <a:srgbClr val="FFFFFF"/>
                </a:solidFill>
              </a:defRPr>
            </a:pPr>
            <a:r>
              <a:t>Output: /output-format, /verbose, /cost</a:t>
            </a:r>
          </a:p>
        </p:txBody>
      </p:sp>
      <p:sp>
        <p:nvSpPr>
          <p:cNvPr id="3" name="Rectangle 2"/>
          <p:cNvSpPr/>
          <p:nvPr/>
        </p:nvSpPr>
        <p:spPr>
          <a:xfrm>
            <a:off x="6077559" y="1371600"/>
            <a:ext cx="36576" cy="45720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463040"/>
            <a:ext cx="5364327" cy="731520"/>
          </a:xfrm>
          <a:prstGeom prst="rect">
            <a:avLst/>
          </a:prstGeom>
          <a:noFill/>
        </p:spPr>
        <p:txBody>
          <a:bodyPr wrap="none">
            <a:spAutoFit/>
          </a:bodyPr>
          <a:lstStyle/>
          <a:p>
            <a:pPr algn="ctr">
              <a:defRPr sz="2800" b="1">
                <a:solidFill>
                  <a:srgbClr val="00D4AA"/>
                </a:solidFill>
              </a:defRPr>
            </a:pPr>
            <a:r>
              <a:t>Formatting</a:t>
            </a:r>
          </a:p>
        </p:txBody>
      </p:sp>
      <p:sp>
        <p:nvSpPr>
          <p:cNvPr id="5" name="TextBox 4"/>
          <p:cNvSpPr txBox="1"/>
          <p:nvPr/>
        </p:nvSpPr>
        <p:spPr>
          <a:xfrm>
            <a:off x="457200" y="2286000"/>
            <a:ext cx="5364327" cy="3657600"/>
          </a:xfrm>
          <a:prstGeom prst="rect">
            <a:avLst/>
          </a:prstGeom>
          <a:noFill/>
        </p:spPr>
        <p:txBody>
          <a:bodyPr wrap="square">
            <a:spAutoFit/>
          </a:bodyPr>
          <a:lstStyle/>
          <a:p>
            <a:pPr>
              <a:spcAft>
                <a:spcPts val="1200"/>
              </a:spcAft>
              <a:defRPr sz="1800">
                <a:solidFill>
                  <a:srgbClr val="FFFFFF"/>
                </a:solidFill>
              </a:defRPr>
            </a:pPr>
            <a:r>
              <a:t>  /output-format — set response style</a:t>
            </a:r>
          </a:p>
          <a:p>
            <a:pPr>
              <a:spcAft>
                <a:spcPts val="1200"/>
              </a:spcAft>
              <a:defRPr sz="1800">
                <a:solidFill>
                  <a:srgbClr val="FFFFFF"/>
                </a:solidFill>
              </a:defRPr>
            </a:pPr>
            <a:r>
              <a:t>  Options: text, json, markdown, stream-json</a:t>
            </a:r>
          </a:p>
          <a:p>
            <a:pPr>
              <a:spcAft>
                <a:spcPts val="1200"/>
              </a:spcAft>
              <a:defRPr sz="1800">
                <a:solidFill>
                  <a:srgbClr val="FFFFFF"/>
                </a:solidFill>
              </a:defRPr>
            </a:pPr>
            <a:r>
              <a:t>  Useful for piping output to other tools</a:t>
            </a:r>
          </a:p>
          <a:p>
            <a:pPr>
              <a:spcAft>
                <a:spcPts val="1200"/>
              </a:spcAft>
              <a:defRPr sz="1800">
                <a:solidFill>
                  <a:srgbClr val="FFFFFF"/>
                </a:solidFill>
              </a:defRPr>
            </a:pPr>
            <a:r>
              <a:t>  /verbose — see every tool call Claude makes</a:t>
            </a:r>
          </a:p>
        </p:txBody>
      </p:sp>
      <p:sp>
        <p:nvSpPr>
          <p:cNvPr id="6" name="TextBox 5"/>
          <p:cNvSpPr txBox="1"/>
          <p:nvPr/>
        </p:nvSpPr>
        <p:spPr>
          <a:xfrm>
            <a:off x="6370167" y="1463040"/>
            <a:ext cx="5364327" cy="731520"/>
          </a:xfrm>
          <a:prstGeom prst="rect">
            <a:avLst/>
          </a:prstGeom>
          <a:noFill/>
        </p:spPr>
        <p:txBody>
          <a:bodyPr wrap="none">
            <a:spAutoFit/>
          </a:bodyPr>
          <a:lstStyle/>
          <a:p>
            <a:pPr algn="ctr">
              <a:defRPr sz="2800" b="1">
                <a:solidFill>
                  <a:srgbClr val="E86B4A"/>
                </a:solidFill>
              </a:defRPr>
            </a:pPr>
            <a:r>
              <a:t>Analysis</a:t>
            </a:r>
          </a:p>
        </p:txBody>
      </p:sp>
      <p:sp>
        <p:nvSpPr>
          <p:cNvPr id="7" name="TextBox 6"/>
          <p:cNvSpPr txBox="1"/>
          <p:nvPr/>
        </p:nvSpPr>
        <p:spPr>
          <a:xfrm>
            <a:off x="6370167" y="2286000"/>
            <a:ext cx="5364327" cy="3657600"/>
          </a:xfrm>
          <a:prstGeom prst="rect">
            <a:avLst/>
          </a:prstGeom>
          <a:noFill/>
        </p:spPr>
        <p:txBody>
          <a:bodyPr wrap="square">
            <a:spAutoFit/>
          </a:bodyPr>
          <a:lstStyle/>
          <a:p>
            <a:pPr>
              <a:spcAft>
                <a:spcPts val="1200"/>
              </a:spcAft>
              <a:defRPr sz="1800">
                <a:solidFill>
                  <a:srgbClr val="FFFFFF"/>
                </a:solidFill>
              </a:defRPr>
            </a:pPr>
            <a:r>
              <a:t>  /cost — token usage and estimated cost</a:t>
            </a:r>
          </a:p>
          <a:p>
            <a:pPr>
              <a:spcAft>
                <a:spcPts val="1200"/>
              </a:spcAft>
              <a:defRPr sz="1800">
                <a:solidFill>
                  <a:srgbClr val="FFFFFF"/>
                </a:solidFill>
              </a:defRPr>
            </a:pPr>
            <a:r>
              <a:t>  /review — code quality analysis</a:t>
            </a:r>
          </a:p>
          <a:p>
            <a:pPr>
              <a:spcAft>
                <a:spcPts val="1200"/>
              </a:spcAft>
              <a:defRPr sz="1800">
                <a:solidFill>
                  <a:srgbClr val="FFFFFF"/>
                </a:solidFill>
              </a:defRPr>
            </a:pPr>
            <a:r>
              <a:t>  /test — run and analyze test results</a:t>
            </a:r>
          </a:p>
          <a:p>
            <a:pPr>
              <a:spcAft>
                <a:spcPts val="1200"/>
              </a:spcAft>
              <a:defRPr sz="1800">
                <a:solidFill>
                  <a:srgbClr val="FFFFFF"/>
                </a:solidFill>
              </a:defRPr>
            </a:pPr>
            <a:r>
              <a:t>  /doctor — diagnose Claude Code issues</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457200"/>
            <a:ext cx="11277295" cy="731520"/>
          </a:xfrm>
          <a:prstGeom prst="rect">
            <a:avLst/>
          </a:prstGeom>
          <a:noFill/>
        </p:spPr>
        <p:txBody>
          <a:bodyPr wrap="none">
            <a:spAutoFit/>
          </a:bodyPr>
          <a:lstStyle/>
          <a:p>
            <a:pPr algn="ctr">
              <a:defRPr sz="3600" b="1">
                <a:solidFill>
                  <a:srgbClr val="FFFFFF"/>
                </a:solidFill>
              </a:defRPr>
            </a:pPr>
            <a:r>
              <a:t>Creating Custom Slash Commands</a:t>
            </a:r>
          </a:p>
        </p:txBody>
      </p:sp>
      <p:sp>
        <p:nvSpPr>
          <p:cNvPr id="3" name="Rounded Rectangle 2"/>
          <p:cNvSpPr/>
          <p:nvPr/>
        </p:nvSpPr>
        <p:spPr>
          <a:xfrm>
            <a:off x="914400" y="1645920"/>
            <a:ext cx="10362895" cy="4114800"/>
          </a:xfrm>
          <a:prstGeom prst="round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97280" y="1783080"/>
            <a:ext cx="1828800" cy="365760"/>
          </a:xfrm>
          <a:prstGeom prst="rect">
            <a:avLst/>
          </a:prstGeom>
          <a:noFill/>
        </p:spPr>
        <p:txBody>
          <a:bodyPr wrap="none">
            <a:spAutoFit/>
          </a:bodyPr>
          <a:lstStyle/>
          <a:p>
            <a:pPr>
              <a:defRPr sz="1200" b="1">
                <a:solidFill>
                  <a:srgbClr val="00D4AA"/>
                </a:solidFill>
              </a:defRPr>
            </a:pPr>
            <a:r>
              <a:t>JSON</a:t>
            </a:r>
          </a:p>
        </p:txBody>
      </p:sp>
      <p:sp>
        <p:nvSpPr>
          <p:cNvPr id="5" name="TextBox 4"/>
          <p:cNvSpPr txBox="1"/>
          <p:nvPr/>
        </p:nvSpPr>
        <p:spPr>
          <a:xfrm>
            <a:off x="1097280" y="2194560"/>
            <a:ext cx="9997135" cy="3291840"/>
          </a:xfrm>
          <a:prstGeom prst="rect">
            <a:avLst/>
          </a:prstGeom>
          <a:noFill/>
        </p:spPr>
        <p:txBody>
          <a:bodyPr wrap="square">
            <a:spAutoFit/>
          </a:bodyPr>
          <a:lstStyle/>
          <a:p>
            <a:pPr>
              <a:defRPr sz="1400">
                <a:solidFill>
                  <a:srgbClr val="FFFFFF"/>
                </a:solidFill>
                <a:latin typeface="Consolas"/>
              </a:defRPr>
            </a:pPr>
            <a:r>
              <a:t># In CLAUDE.md</a:t>
            </a:r>
          </a:p>
          <a:p>
            <a:pPr>
              <a:defRPr sz="1400">
                <a:solidFill>
                  <a:srgbClr val="FFFFFF"/>
                </a:solidFill>
                <a:latin typeface="Consolas"/>
              </a:defRPr>
            </a:pPr>
            <a:endParaRPr/>
          </a:p>
          <a:p>
            <a:pPr>
              <a:defRPr sz="1400">
                <a:solidFill>
                  <a:srgbClr val="FFFFFF"/>
                </a:solidFill>
                <a:latin typeface="Consolas"/>
              </a:defRPr>
            </a:pPr>
            <a:r>
              <a:t>"custom_commands": {</a:t>
            </a:r>
          </a:p>
          <a:p>
            <a:pPr>
              <a:defRPr sz="1400">
                <a:solidFill>
                  <a:srgbClr val="FFFFFF"/>
                </a:solidFill>
                <a:latin typeface="Consolas"/>
              </a:defRPr>
            </a:pPr>
            <a:r>
              <a:t>  "/test": "Run all tests with pytest -v",</a:t>
            </a:r>
          </a:p>
          <a:p>
            <a:pPr>
              <a:defRPr sz="1400">
                <a:solidFill>
                  <a:srgbClr val="FFFFFF"/>
                </a:solidFill>
                <a:latin typeface="Consolas"/>
              </a:defRPr>
            </a:pPr>
            <a:r>
              <a:t>  "/lint": "Run black, isort, and mypy",</a:t>
            </a:r>
          </a:p>
          <a:p>
            <a:pPr>
              <a:defRPr sz="1400">
                <a:solidFill>
                  <a:srgbClr val="FFFFFF"/>
                </a:solidFill>
                <a:latin typeface="Consolas"/>
              </a:defRPr>
            </a:pPr>
            <a:r>
              <a:t>  "/docs": "Generate API documentation"</a:t>
            </a:r>
          </a:p>
          <a:p>
            <a:pPr>
              <a:defRPr sz="1400">
                <a:solidFill>
                  <a:srgbClr val="FFFFFF"/>
                </a:solidFill>
                <a:latin typeface="Consolas"/>
              </a:defRPr>
            </a:pPr>
            <a:r>
              <a:t>}</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1828800"/>
            <a:ext cx="11277295" cy="1371600"/>
          </a:xfrm>
          <a:prstGeom prst="rect">
            <a:avLst/>
          </a:prstGeom>
          <a:noFill/>
        </p:spPr>
        <p:txBody>
          <a:bodyPr wrap="none">
            <a:spAutoFit/>
          </a:bodyPr>
          <a:lstStyle/>
          <a:p>
            <a:pPr algn="ctr">
              <a:defRPr sz="9600" b="1">
                <a:solidFill>
                  <a:srgbClr val="00D4AA"/>
                </a:solidFill>
              </a:defRPr>
            </a:pPr>
            <a:r>
              <a:t>DEMO</a:t>
            </a:r>
          </a:p>
        </p:txBody>
      </p:sp>
      <p:sp>
        <p:nvSpPr>
          <p:cNvPr id="3" name="Rectangle 2"/>
          <p:cNvSpPr/>
          <p:nvPr/>
        </p:nvSpPr>
        <p:spPr>
          <a:xfrm>
            <a:off x="4724247" y="3474720"/>
            <a:ext cx="2743200" cy="54864"/>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3840480"/>
            <a:ext cx="11277295" cy="914400"/>
          </a:xfrm>
          <a:prstGeom prst="rect">
            <a:avLst/>
          </a:prstGeom>
          <a:noFill/>
        </p:spPr>
        <p:txBody>
          <a:bodyPr wrap="square">
            <a:spAutoFit/>
          </a:bodyPr>
          <a:lstStyle/>
          <a:p>
            <a:pPr algn="ctr">
              <a:defRPr sz="3200" b="1">
                <a:solidFill>
                  <a:srgbClr val="FFFFFF"/>
                </a:solidFill>
              </a:defRPr>
            </a:pPr>
            <a:r>
              <a:t>Command Mastery</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Rectangle 1"/>
          <p:cNvSpPr/>
          <p:nvPr/>
        </p:nvSpPr>
        <p:spPr>
          <a:xfrm>
            <a:off x="0" y="1828800"/>
            <a:ext cx="137160" cy="32004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0"/>
            <a:ext cx="11277295" cy="1371600"/>
          </a:xfrm>
          <a:prstGeom prst="rect">
            <a:avLst/>
          </a:prstGeom>
          <a:noFill/>
        </p:spPr>
        <p:txBody>
          <a:bodyPr wrap="square">
            <a:spAutoFit/>
          </a:bodyPr>
          <a:lstStyle/>
          <a:p>
            <a:pPr>
              <a:defRPr sz="5600" b="1">
                <a:solidFill>
                  <a:srgbClr val="FFFFFF"/>
                </a:solidFill>
              </a:defRPr>
            </a:pPr>
            <a:r>
              <a:t>Plan Mode: Think Before You Build</a:t>
            </a:r>
          </a:p>
        </p:txBody>
      </p:sp>
      <p:sp>
        <p:nvSpPr>
          <p:cNvPr id="4" name="TextBox 3"/>
          <p:cNvSpPr txBox="1"/>
          <p:nvPr/>
        </p:nvSpPr>
        <p:spPr>
          <a:xfrm>
            <a:off x="457200" y="3840480"/>
            <a:ext cx="11277295" cy="914400"/>
          </a:xfrm>
          <a:prstGeom prst="rect">
            <a:avLst/>
          </a:prstGeom>
          <a:noFill/>
        </p:spPr>
        <p:txBody>
          <a:bodyPr wrap="square">
            <a:spAutoFit/>
          </a:bodyPr>
          <a:lstStyle/>
          <a:p>
            <a:pPr>
              <a:defRPr sz="2400">
                <a:solidFill>
                  <a:srgbClr val="8B95A5"/>
                </a:solidFill>
              </a:defRPr>
            </a:pPr>
            <a:r>
              <a:t>The discipline that separates AI power users from everyone else</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731520" y="2286000"/>
            <a:ext cx="10728655" cy="1371600"/>
          </a:xfrm>
          <a:prstGeom prst="rect">
            <a:avLst/>
          </a:prstGeom>
          <a:noFill/>
        </p:spPr>
        <p:txBody>
          <a:bodyPr wrap="square">
            <a:spAutoFit/>
          </a:bodyPr>
          <a:lstStyle/>
          <a:p>
            <a:pPr algn="ctr">
              <a:defRPr sz="5200" b="1">
                <a:solidFill>
                  <a:srgbClr val="FFFFFF"/>
                </a:solidFill>
              </a:defRPr>
            </a:pPr>
            <a:r>
              <a:t>Plan Mode (Shift+Tab)</a:t>
            </a:r>
          </a:p>
        </p:txBody>
      </p:sp>
      <p:sp>
        <p:nvSpPr>
          <p:cNvPr id="3" name="TextBox 2"/>
          <p:cNvSpPr txBox="1"/>
          <p:nvPr/>
        </p:nvSpPr>
        <p:spPr>
          <a:xfrm>
            <a:off x="914400" y="3840480"/>
            <a:ext cx="10362895" cy="914400"/>
          </a:xfrm>
          <a:prstGeom prst="rect">
            <a:avLst/>
          </a:prstGeom>
          <a:noFill/>
        </p:spPr>
        <p:txBody>
          <a:bodyPr wrap="square">
            <a:spAutoFit/>
          </a:bodyPr>
          <a:lstStyle/>
          <a:p>
            <a:pPr algn="ctr">
              <a:defRPr sz="2400">
                <a:solidFill>
                  <a:srgbClr val="8B95A5"/>
                </a:solidFill>
              </a:defRPr>
            </a:pPr>
            <a:r>
              <a:t>Claude analyzes and proposes.</a:t>
            </a:r>
            <a:br/>
            <a:r>
              <a:t>But CAN'T change files.</a:t>
            </a:r>
            <a:br/>
            <a:r>
              <a:t>Until you approve.</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1828800"/>
            <a:ext cx="11277295" cy="1371600"/>
          </a:xfrm>
          <a:prstGeom prst="rect">
            <a:avLst/>
          </a:prstGeom>
          <a:noFill/>
        </p:spPr>
        <p:txBody>
          <a:bodyPr wrap="none">
            <a:spAutoFit/>
          </a:bodyPr>
          <a:lstStyle/>
          <a:p>
            <a:pPr algn="ctr">
              <a:defRPr sz="9600" b="1">
                <a:solidFill>
                  <a:srgbClr val="00D4AA"/>
                </a:solidFill>
              </a:defRPr>
            </a:pPr>
            <a:r>
              <a:t>DEMO</a:t>
            </a:r>
          </a:p>
        </p:txBody>
      </p:sp>
      <p:sp>
        <p:nvSpPr>
          <p:cNvPr id="3" name="Rectangle 2"/>
          <p:cNvSpPr/>
          <p:nvPr/>
        </p:nvSpPr>
        <p:spPr>
          <a:xfrm>
            <a:off x="4724247" y="3474720"/>
            <a:ext cx="2743200" cy="54864"/>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3840480"/>
            <a:ext cx="11277295" cy="914400"/>
          </a:xfrm>
          <a:prstGeom prst="rect">
            <a:avLst/>
          </a:prstGeom>
          <a:noFill/>
        </p:spPr>
        <p:txBody>
          <a:bodyPr wrap="square">
            <a:spAutoFit/>
          </a:bodyPr>
          <a:lstStyle/>
          <a:p>
            <a:pPr algn="ctr">
              <a:defRPr sz="3200" b="1">
                <a:solidFill>
                  <a:srgbClr val="FFFFFF"/>
                </a:solidFill>
              </a:defRPr>
            </a:pPr>
            <a:r>
              <a:t>Demo: Plan Mode vs. Cowboy Coding</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457200"/>
            <a:ext cx="11277295" cy="731520"/>
          </a:xfrm>
          <a:prstGeom prst="rect">
            <a:avLst/>
          </a:prstGeom>
          <a:noFill/>
        </p:spPr>
        <p:txBody>
          <a:bodyPr wrap="none">
            <a:spAutoFit/>
          </a:bodyPr>
          <a:lstStyle/>
          <a:p>
            <a:pPr algn="ctr">
              <a:defRPr sz="3600" b="1">
                <a:solidFill>
                  <a:srgbClr val="FFFFFF"/>
                </a:solidFill>
              </a:defRPr>
            </a:pPr>
            <a:r>
              <a:t>When to Use Plan Mode</a:t>
            </a:r>
          </a:p>
        </p:txBody>
      </p:sp>
      <p:sp>
        <p:nvSpPr>
          <p:cNvPr id="3" name="Rectangle 2"/>
          <p:cNvSpPr/>
          <p:nvPr/>
        </p:nvSpPr>
        <p:spPr>
          <a:xfrm>
            <a:off x="6077559" y="1371600"/>
            <a:ext cx="36576" cy="45720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463040"/>
            <a:ext cx="5364327" cy="731520"/>
          </a:xfrm>
          <a:prstGeom prst="rect">
            <a:avLst/>
          </a:prstGeom>
          <a:noFill/>
        </p:spPr>
        <p:txBody>
          <a:bodyPr wrap="none">
            <a:spAutoFit/>
          </a:bodyPr>
          <a:lstStyle/>
          <a:p>
            <a:pPr algn="ctr">
              <a:defRPr sz="2800" b="1">
                <a:solidFill>
                  <a:srgbClr val="00D4AA"/>
                </a:solidFill>
              </a:defRPr>
            </a:pPr>
            <a:r>
              <a:t>Use Plan Mode</a:t>
            </a:r>
          </a:p>
        </p:txBody>
      </p:sp>
      <p:sp>
        <p:nvSpPr>
          <p:cNvPr id="5" name="TextBox 4"/>
          <p:cNvSpPr txBox="1"/>
          <p:nvPr/>
        </p:nvSpPr>
        <p:spPr>
          <a:xfrm>
            <a:off x="457200" y="2286000"/>
            <a:ext cx="5364327" cy="3657600"/>
          </a:xfrm>
          <a:prstGeom prst="rect">
            <a:avLst/>
          </a:prstGeom>
          <a:noFill/>
        </p:spPr>
        <p:txBody>
          <a:bodyPr wrap="square">
            <a:spAutoFit/>
          </a:bodyPr>
          <a:lstStyle/>
          <a:p>
            <a:pPr>
              <a:spcAft>
                <a:spcPts val="1200"/>
              </a:spcAft>
              <a:defRPr sz="1800">
                <a:solidFill>
                  <a:srgbClr val="FFFFFF"/>
                </a:solidFill>
              </a:defRPr>
            </a:pPr>
            <a:r>
              <a:t>  Multi-file changes (3+ files)</a:t>
            </a:r>
          </a:p>
          <a:p>
            <a:pPr>
              <a:spcAft>
                <a:spcPts val="1200"/>
              </a:spcAft>
              <a:defRPr sz="1800">
                <a:solidFill>
                  <a:srgbClr val="FFFFFF"/>
                </a:solidFill>
              </a:defRPr>
            </a:pPr>
            <a:r>
              <a:t>  Architectural decisions</a:t>
            </a:r>
          </a:p>
          <a:p>
            <a:pPr>
              <a:spcAft>
                <a:spcPts val="1200"/>
              </a:spcAft>
              <a:defRPr sz="1800">
                <a:solidFill>
                  <a:srgbClr val="FFFFFF"/>
                </a:solidFill>
              </a:defRPr>
            </a:pPr>
            <a:r>
              <a:t>  Unfamiliar codebase exploration</a:t>
            </a:r>
          </a:p>
          <a:p>
            <a:pPr>
              <a:spcAft>
                <a:spcPts val="1200"/>
              </a:spcAft>
              <a:defRPr sz="1800">
                <a:solidFill>
                  <a:srgbClr val="FFFFFF"/>
                </a:solidFill>
              </a:defRPr>
            </a:pPr>
            <a:r>
              <a:t>  Complex refactoring</a:t>
            </a:r>
          </a:p>
          <a:p>
            <a:pPr>
              <a:spcAft>
                <a:spcPts val="1200"/>
              </a:spcAft>
              <a:defRPr sz="1800">
                <a:solidFill>
                  <a:srgbClr val="FFFFFF"/>
                </a:solidFill>
              </a:defRPr>
            </a:pPr>
            <a:r>
              <a:t>  When you want to review before executing</a:t>
            </a:r>
          </a:p>
        </p:txBody>
      </p:sp>
      <p:sp>
        <p:nvSpPr>
          <p:cNvPr id="6" name="TextBox 5"/>
          <p:cNvSpPr txBox="1"/>
          <p:nvPr/>
        </p:nvSpPr>
        <p:spPr>
          <a:xfrm>
            <a:off x="6370167" y="1463040"/>
            <a:ext cx="5364327" cy="731520"/>
          </a:xfrm>
          <a:prstGeom prst="rect">
            <a:avLst/>
          </a:prstGeom>
          <a:noFill/>
        </p:spPr>
        <p:txBody>
          <a:bodyPr wrap="none">
            <a:spAutoFit/>
          </a:bodyPr>
          <a:lstStyle/>
          <a:p>
            <a:pPr algn="ctr">
              <a:defRPr sz="2800" b="1">
                <a:solidFill>
                  <a:srgbClr val="E86B4A"/>
                </a:solidFill>
              </a:defRPr>
            </a:pPr>
            <a:r>
              <a:t>Skip Plan Mode</a:t>
            </a:r>
          </a:p>
        </p:txBody>
      </p:sp>
      <p:sp>
        <p:nvSpPr>
          <p:cNvPr id="7" name="TextBox 6"/>
          <p:cNvSpPr txBox="1"/>
          <p:nvPr/>
        </p:nvSpPr>
        <p:spPr>
          <a:xfrm>
            <a:off x="6370167" y="2286000"/>
            <a:ext cx="5364327" cy="3657600"/>
          </a:xfrm>
          <a:prstGeom prst="rect">
            <a:avLst/>
          </a:prstGeom>
          <a:noFill/>
        </p:spPr>
        <p:txBody>
          <a:bodyPr wrap="square">
            <a:spAutoFit/>
          </a:bodyPr>
          <a:lstStyle/>
          <a:p>
            <a:pPr>
              <a:spcAft>
                <a:spcPts val="1200"/>
              </a:spcAft>
              <a:defRPr sz="1800">
                <a:solidFill>
                  <a:srgbClr val="FFFFFF"/>
                </a:solidFill>
              </a:defRPr>
            </a:pPr>
            <a:r>
              <a:t>  Simple single-file edits</a:t>
            </a:r>
          </a:p>
          <a:p>
            <a:pPr>
              <a:spcAft>
                <a:spcPts val="1200"/>
              </a:spcAft>
              <a:defRPr sz="1800">
                <a:solidFill>
                  <a:srgbClr val="FFFFFF"/>
                </a:solidFill>
              </a:defRPr>
            </a:pPr>
            <a:r>
              <a:t>  Well-defined small tasks</a:t>
            </a:r>
          </a:p>
          <a:p>
            <a:pPr>
              <a:spcAft>
                <a:spcPts val="1200"/>
              </a:spcAft>
              <a:defRPr sz="1800">
                <a:solidFill>
                  <a:srgbClr val="FFFFFF"/>
                </a:solidFill>
              </a:defRPr>
            </a:pPr>
            <a:r>
              <a:t>  Running tests or scripts</a:t>
            </a:r>
          </a:p>
          <a:p>
            <a:pPr>
              <a:spcAft>
                <a:spcPts val="1200"/>
              </a:spcAft>
              <a:defRPr sz="1800">
                <a:solidFill>
                  <a:srgbClr val="FFFFFF"/>
                </a:solidFill>
              </a:defRPr>
            </a:pPr>
            <a:r>
              <a:t>  Git operations (commit, push)</a:t>
            </a:r>
          </a:p>
          <a:p>
            <a:pPr>
              <a:spcAft>
                <a:spcPts val="1200"/>
              </a:spcAft>
              <a:defRPr sz="1800">
                <a:solidFill>
                  <a:srgbClr val="FFFFFF"/>
                </a:solidFill>
              </a:defRPr>
            </a:pPr>
            <a:r>
              <a:t>  Quick questions about code</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11277295" cy="822960"/>
          </a:xfrm>
          <a:prstGeom prst="rect">
            <a:avLst/>
          </a:prstGeom>
          <a:noFill/>
        </p:spPr>
        <p:txBody>
          <a:bodyPr wrap="none">
            <a:spAutoFit/>
          </a:bodyPr>
          <a:lstStyle/>
          <a:p>
            <a:pPr>
              <a:defRPr sz="4000" b="1">
                <a:solidFill>
                  <a:srgbClr val="FFFFFF"/>
                </a:solidFill>
              </a:defRPr>
            </a:pPr>
            <a:r>
              <a:t>The 'Interview Me' Pattern</a:t>
            </a:r>
          </a:p>
        </p:txBody>
      </p:sp>
      <p:sp>
        <p:nvSpPr>
          <p:cNvPr id="3" name="Rectangle 2"/>
          <p:cNvSpPr/>
          <p:nvPr/>
        </p:nvSpPr>
        <p:spPr>
          <a:xfrm>
            <a:off x="457200" y="1234440"/>
            <a:ext cx="1828800" cy="3657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463040"/>
            <a:ext cx="11277295" cy="4572000"/>
          </a:xfrm>
          <a:prstGeom prst="rect">
            <a:avLst/>
          </a:prstGeom>
          <a:noFill/>
        </p:spPr>
        <p:txBody>
          <a:bodyPr wrap="square">
            <a:spAutoFit/>
          </a:bodyPr>
          <a:lstStyle/>
          <a:p>
            <a:pPr>
              <a:spcBef>
                <a:spcPts val="800"/>
              </a:spcBef>
              <a:spcAft>
                <a:spcPts val="800"/>
              </a:spcAft>
              <a:defRPr sz="2200">
                <a:solidFill>
                  <a:srgbClr val="FFFFFF"/>
                </a:solidFill>
              </a:defRPr>
            </a:pPr>
            <a:r>
              <a:t>  Claude will ask about things you hadn't thought through: 'What happens when a token expires mid-request?', 'Do you ne...</a:t>
            </a:r>
          </a:p>
          <a:p>
            <a:pPr>
              <a:spcBef>
                <a:spcPts val="800"/>
              </a:spcBef>
              <a:spcAft>
                <a:spcPts val="800"/>
              </a:spcAft>
              <a:defRPr sz="2200">
                <a:solidFill>
                  <a:srgbClr val="FFFFFF"/>
                </a:solidFill>
              </a:defRPr>
            </a:pPr>
            <a:r>
              <a:t>  This isn't Claude being annoying — it's Claude preventing future bugs.</a:t>
            </a:r>
          </a:p>
          <a:p>
            <a:pPr>
              <a:spcBef>
                <a:spcPts val="800"/>
              </a:spcBef>
              <a:spcAft>
                <a:spcPts val="800"/>
              </a:spcAft>
              <a:defRPr sz="2200">
                <a:solidFill>
                  <a:srgbClr val="FFFFFF"/>
                </a:solidFill>
              </a:defRPr>
            </a:pPr>
            <a:r>
              <a:t>  The output SPEC.</a:t>
            </a:r>
          </a:p>
          <a:p>
            <a:pPr>
              <a:spcBef>
                <a:spcPts val="800"/>
              </a:spcBef>
              <a:spcAft>
                <a:spcPts val="800"/>
              </a:spcAft>
              <a:defRPr sz="2200">
                <a:solidFill>
                  <a:srgbClr val="FFFFFF"/>
                </a:solidFill>
              </a:defRPr>
            </a:pPr>
            <a:r>
              <a:t>  Combine with Plan Mode: Interview → Spec → Plan → Execute.</a:t>
            </a:r>
          </a:p>
          <a:p>
            <a:pPr>
              <a:spcBef>
                <a:spcPts val="800"/>
              </a:spcBef>
              <a:spcAft>
                <a:spcPts val="800"/>
              </a:spcAft>
              <a:defRPr sz="2200">
                <a:solidFill>
                  <a:srgbClr val="FFFFFF"/>
                </a:solidFill>
              </a:defRPr>
            </a:pPr>
            <a:r>
              <a:t>  Source: Reza Rezvani — this pattern eliminated most of his 'Claude didn't understand what I wanted' complaints.</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731520" y="2286000"/>
            <a:ext cx="10728655" cy="1371600"/>
          </a:xfrm>
          <a:prstGeom prst="rect">
            <a:avLst/>
          </a:prstGeom>
          <a:noFill/>
        </p:spPr>
        <p:txBody>
          <a:bodyPr wrap="square">
            <a:spAutoFit/>
          </a:bodyPr>
          <a:lstStyle/>
          <a:p>
            <a:pPr algn="ctr">
              <a:defRPr sz="5200" b="1">
                <a:solidFill>
                  <a:srgbClr val="FFFFFF"/>
                </a:solidFill>
              </a:defRPr>
            </a:pPr>
            <a:r>
              <a:t>The Skill That Separates AI Power Users</a:t>
            </a:r>
            <a:br/>
            <a:r>
              <a:t>From Everyone Else</a:t>
            </a:r>
          </a:p>
        </p:txBody>
      </p:sp>
      <p:sp>
        <p:nvSpPr>
          <p:cNvPr id="3" name="TextBox 2"/>
          <p:cNvSpPr txBox="1"/>
          <p:nvPr/>
        </p:nvSpPr>
        <p:spPr>
          <a:xfrm>
            <a:off x="914399" y="5043991"/>
            <a:ext cx="10362895" cy="914400"/>
          </a:xfrm>
          <a:prstGeom prst="rect">
            <a:avLst/>
          </a:prstGeom>
          <a:noFill/>
        </p:spPr>
        <p:txBody>
          <a:bodyPr wrap="square">
            <a:spAutoFit/>
          </a:bodyPr>
          <a:lstStyle/>
          <a:p>
            <a:pPr algn="ctr">
              <a:defRPr sz="2400">
                <a:solidFill>
                  <a:srgbClr val="8B95A5"/>
                </a:solidFill>
              </a:defRPr>
            </a:pPr>
            <a:r>
              <a:rPr dirty="0"/>
              <a:t>It's not prompting. It's specification.</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457200"/>
            <a:ext cx="11277295" cy="731520"/>
          </a:xfrm>
          <a:prstGeom prst="rect">
            <a:avLst/>
          </a:prstGeom>
          <a:noFill/>
        </p:spPr>
        <p:txBody>
          <a:bodyPr wrap="none">
            <a:spAutoFit/>
          </a:bodyPr>
          <a:lstStyle/>
          <a:p>
            <a:pPr algn="ctr">
              <a:defRPr sz="3600" b="1">
                <a:solidFill>
                  <a:srgbClr val="FFFFFF"/>
                </a:solidFill>
              </a:defRPr>
            </a:pPr>
            <a:r>
              <a:t>Spec Quality = Output Quality</a:t>
            </a:r>
          </a:p>
        </p:txBody>
      </p:sp>
      <p:sp>
        <p:nvSpPr>
          <p:cNvPr id="3" name="Rectangle 2"/>
          <p:cNvSpPr/>
          <p:nvPr/>
        </p:nvSpPr>
        <p:spPr>
          <a:xfrm>
            <a:off x="6077559" y="1371600"/>
            <a:ext cx="36576" cy="45720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463040"/>
            <a:ext cx="5364327" cy="731520"/>
          </a:xfrm>
          <a:prstGeom prst="rect">
            <a:avLst/>
          </a:prstGeom>
          <a:noFill/>
        </p:spPr>
        <p:txBody>
          <a:bodyPr wrap="none">
            <a:spAutoFit/>
          </a:bodyPr>
          <a:lstStyle/>
          <a:p>
            <a:pPr algn="ctr">
              <a:defRPr sz="2800" b="1">
                <a:solidFill>
                  <a:srgbClr val="E86B4A"/>
                </a:solidFill>
              </a:defRPr>
            </a:pPr>
            <a:r>
              <a:t>Vague Spec</a:t>
            </a:r>
          </a:p>
        </p:txBody>
      </p:sp>
      <p:sp>
        <p:nvSpPr>
          <p:cNvPr id="5" name="TextBox 4"/>
          <p:cNvSpPr txBox="1"/>
          <p:nvPr/>
        </p:nvSpPr>
        <p:spPr>
          <a:xfrm>
            <a:off x="457200" y="2286000"/>
            <a:ext cx="5364327" cy="3657600"/>
          </a:xfrm>
          <a:prstGeom prst="rect">
            <a:avLst/>
          </a:prstGeom>
          <a:noFill/>
        </p:spPr>
        <p:txBody>
          <a:bodyPr wrap="square">
            <a:spAutoFit/>
          </a:bodyPr>
          <a:lstStyle/>
          <a:p>
            <a:pPr>
              <a:spcAft>
                <a:spcPts val="1200"/>
              </a:spcAft>
              <a:defRPr sz="1800">
                <a:solidFill>
                  <a:srgbClr val="FFFFFF"/>
                </a:solidFill>
              </a:defRPr>
            </a:pPr>
            <a:r>
              <a:t>  'Build me an API'</a:t>
            </a:r>
          </a:p>
          <a:p>
            <a:pPr>
              <a:spcAft>
                <a:spcPts val="1200"/>
              </a:spcAft>
              <a:defRPr sz="1800">
                <a:solidFill>
                  <a:srgbClr val="FFFFFF"/>
                </a:solidFill>
              </a:defRPr>
            </a:pPr>
            <a:r>
              <a:t>  Claude guesses architecture, endpoints, auth</a:t>
            </a:r>
          </a:p>
          <a:p>
            <a:pPr>
              <a:spcAft>
                <a:spcPts val="1200"/>
              </a:spcAft>
              <a:defRPr sz="1800">
                <a:solidFill>
                  <a:srgbClr val="FFFFFF"/>
                </a:solidFill>
              </a:defRPr>
            </a:pPr>
            <a:r>
              <a:t>  3 rounds of revision to get close</a:t>
            </a:r>
          </a:p>
          <a:p>
            <a:pPr>
              <a:spcAft>
                <a:spcPts val="1200"/>
              </a:spcAft>
              <a:defRPr sz="1800">
                <a:solidFill>
                  <a:srgbClr val="FFFFFF"/>
                </a:solidFill>
              </a:defRPr>
            </a:pPr>
            <a:r>
              <a:t>  Still doesn't match what you wanted</a:t>
            </a:r>
          </a:p>
          <a:p>
            <a:pPr>
              <a:spcAft>
                <a:spcPts val="1200"/>
              </a:spcAft>
              <a:defRPr sz="1800">
                <a:solidFill>
                  <a:srgbClr val="FFFFFF"/>
                </a:solidFill>
              </a:defRPr>
            </a:pPr>
            <a:r>
              <a:t>  4 hours wasted</a:t>
            </a:r>
          </a:p>
        </p:txBody>
      </p:sp>
      <p:sp>
        <p:nvSpPr>
          <p:cNvPr id="6" name="TextBox 5"/>
          <p:cNvSpPr txBox="1"/>
          <p:nvPr/>
        </p:nvSpPr>
        <p:spPr>
          <a:xfrm>
            <a:off x="6370167" y="1463040"/>
            <a:ext cx="5364327" cy="731520"/>
          </a:xfrm>
          <a:prstGeom prst="rect">
            <a:avLst/>
          </a:prstGeom>
          <a:noFill/>
        </p:spPr>
        <p:txBody>
          <a:bodyPr wrap="none">
            <a:spAutoFit/>
          </a:bodyPr>
          <a:lstStyle/>
          <a:p>
            <a:pPr algn="ctr">
              <a:defRPr sz="2800" b="1">
                <a:solidFill>
                  <a:srgbClr val="00D4AA"/>
                </a:solidFill>
              </a:defRPr>
            </a:pPr>
            <a:r>
              <a:t>Clear Spec</a:t>
            </a:r>
          </a:p>
        </p:txBody>
      </p:sp>
      <p:sp>
        <p:nvSpPr>
          <p:cNvPr id="7" name="TextBox 6"/>
          <p:cNvSpPr txBox="1"/>
          <p:nvPr/>
        </p:nvSpPr>
        <p:spPr>
          <a:xfrm>
            <a:off x="6370167" y="2286000"/>
            <a:ext cx="5364327" cy="3657600"/>
          </a:xfrm>
          <a:prstGeom prst="rect">
            <a:avLst/>
          </a:prstGeom>
          <a:noFill/>
        </p:spPr>
        <p:txBody>
          <a:bodyPr wrap="square">
            <a:spAutoFit/>
          </a:bodyPr>
          <a:lstStyle/>
          <a:p>
            <a:pPr>
              <a:spcAft>
                <a:spcPts val="1200"/>
              </a:spcAft>
              <a:defRPr sz="1800">
                <a:solidFill>
                  <a:srgbClr val="FFFFFF"/>
                </a:solidFill>
              </a:defRPr>
            </a:pPr>
            <a:r>
              <a:t>  'Build a REST API with Express + SQLite...'</a:t>
            </a:r>
          </a:p>
          <a:p>
            <a:pPr>
              <a:spcAft>
                <a:spcPts val="1200"/>
              </a:spcAft>
              <a:defRPr sz="1800">
                <a:solidFill>
                  <a:srgbClr val="FFFFFF"/>
                </a:solidFill>
              </a:defRPr>
            </a:pPr>
            <a:r>
              <a:t>  Claude builds exactly what you described</a:t>
            </a:r>
          </a:p>
          <a:p>
            <a:pPr>
              <a:spcAft>
                <a:spcPts val="1200"/>
              </a:spcAft>
              <a:defRPr sz="1800">
                <a:solidFill>
                  <a:srgbClr val="FFFFFF"/>
                </a:solidFill>
              </a:defRPr>
            </a:pPr>
            <a:r>
              <a:t>  1 round of minor refinement</a:t>
            </a:r>
          </a:p>
          <a:p>
            <a:pPr>
              <a:spcAft>
                <a:spcPts val="1200"/>
              </a:spcAft>
              <a:defRPr sz="1800">
                <a:solidFill>
                  <a:srgbClr val="FFFFFF"/>
                </a:solidFill>
              </a:defRPr>
            </a:pPr>
            <a:r>
              <a:t>  Matches your mental model from the start</a:t>
            </a:r>
          </a:p>
          <a:p>
            <a:pPr>
              <a:spcAft>
                <a:spcPts val="1200"/>
              </a:spcAft>
              <a:defRPr sz="1800">
                <a:solidFill>
                  <a:srgbClr val="FFFFFF"/>
                </a:solidFill>
              </a:defRPr>
            </a:pPr>
            <a:r>
              <a:t>  45 minutes total</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457200"/>
            <a:ext cx="11277295" cy="731520"/>
          </a:xfrm>
          <a:prstGeom prst="rect">
            <a:avLst/>
          </a:prstGeom>
          <a:noFill/>
        </p:spPr>
        <p:txBody>
          <a:bodyPr wrap="none">
            <a:spAutoFit/>
          </a:bodyPr>
          <a:lstStyle/>
          <a:p>
            <a:pPr algn="ctr">
              <a:defRPr sz="3600" b="1">
                <a:solidFill>
                  <a:srgbClr val="FFFFFF"/>
                </a:solidFill>
              </a:defRPr>
            </a:pPr>
            <a:r>
              <a:t>The Spec Template: 6 Questions</a:t>
            </a:r>
          </a:p>
        </p:txBody>
      </p:sp>
      <p:sp>
        <p:nvSpPr>
          <p:cNvPr id="3" name="Rounded Rectangle 2"/>
          <p:cNvSpPr/>
          <p:nvPr/>
        </p:nvSpPr>
        <p:spPr>
          <a:xfrm>
            <a:off x="914400" y="1645920"/>
            <a:ext cx="10362895" cy="4114800"/>
          </a:xfrm>
          <a:prstGeom prst="round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97280" y="1783080"/>
            <a:ext cx="1828800" cy="365760"/>
          </a:xfrm>
          <a:prstGeom prst="rect">
            <a:avLst/>
          </a:prstGeom>
          <a:noFill/>
        </p:spPr>
        <p:txBody>
          <a:bodyPr wrap="none">
            <a:spAutoFit/>
          </a:bodyPr>
          <a:lstStyle/>
          <a:p>
            <a:pPr>
              <a:defRPr sz="1200" b="1">
                <a:solidFill>
                  <a:srgbClr val="00D4AA"/>
                </a:solidFill>
              </a:defRPr>
            </a:pPr>
            <a:r>
              <a:t>MARKDOWN</a:t>
            </a:r>
          </a:p>
        </p:txBody>
      </p:sp>
      <p:sp>
        <p:nvSpPr>
          <p:cNvPr id="5" name="TextBox 4"/>
          <p:cNvSpPr txBox="1"/>
          <p:nvPr/>
        </p:nvSpPr>
        <p:spPr>
          <a:xfrm>
            <a:off x="1097280" y="2194560"/>
            <a:ext cx="9997135" cy="3291840"/>
          </a:xfrm>
          <a:prstGeom prst="rect">
            <a:avLst/>
          </a:prstGeom>
          <a:noFill/>
        </p:spPr>
        <p:txBody>
          <a:bodyPr wrap="square">
            <a:spAutoFit/>
          </a:bodyPr>
          <a:lstStyle/>
          <a:p>
            <a:pPr>
              <a:defRPr sz="1400">
                <a:solidFill>
                  <a:srgbClr val="FFFFFF"/>
                </a:solidFill>
                <a:latin typeface="Consolas"/>
              </a:defRPr>
            </a:pPr>
            <a:r>
              <a:t># Before you type ANY prompt, answer these:</a:t>
            </a:r>
          </a:p>
          <a:p>
            <a:pPr>
              <a:defRPr sz="1400">
                <a:solidFill>
                  <a:srgbClr val="FFFFFF"/>
                </a:solidFill>
                <a:latin typeface="Consolas"/>
              </a:defRPr>
            </a:pPr>
            <a:endParaRPr/>
          </a:p>
          <a:p>
            <a:pPr>
              <a:defRPr sz="1400">
                <a:solidFill>
                  <a:srgbClr val="FFFFFF"/>
                </a:solidFill>
                <a:latin typeface="Consolas"/>
              </a:defRPr>
            </a:pPr>
            <a:r>
              <a:t>1. PROBLEM: What problem am I solving?</a:t>
            </a:r>
          </a:p>
          <a:p>
            <a:pPr>
              <a:defRPr sz="1400">
                <a:solidFill>
                  <a:srgbClr val="FFFFFF"/>
                </a:solidFill>
                <a:latin typeface="Consolas"/>
              </a:defRPr>
            </a:pPr>
            <a:r>
              <a:t>   (Not "build X" — why does X need to exist?)</a:t>
            </a:r>
          </a:p>
          <a:p>
            <a:pPr>
              <a:defRPr sz="1400">
                <a:solidFill>
                  <a:srgbClr val="FFFFFF"/>
                </a:solidFill>
                <a:latin typeface="Consolas"/>
              </a:defRPr>
            </a:pPr>
            <a:endParaRPr/>
          </a:p>
          <a:p>
            <a:pPr>
              <a:defRPr sz="1400">
                <a:solidFill>
                  <a:srgbClr val="FFFFFF"/>
                </a:solidFill>
                <a:latin typeface="Consolas"/>
              </a:defRPr>
            </a:pPr>
            <a:r>
              <a:t>2. USERS: Who uses this and what do they need?</a:t>
            </a:r>
          </a:p>
          <a:p>
            <a:pPr>
              <a:defRPr sz="1400">
                <a:solidFill>
                  <a:srgbClr val="FFFFFF"/>
                </a:solidFill>
                <a:latin typeface="Consolas"/>
              </a:defRPr>
            </a:pPr>
            <a:r>
              <a:t>   (Scenarios, not features)</a:t>
            </a:r>
          </a:p>
          <a:p>
            <a:pPr>
              <a:defRPr sz="1400">
                <a:solidFill>
                  <a:srgbClr val="FFFFFF"/>
                </a:solidFill>
                <a:latin typeface="Consolas"/>
              </a:defRPr>
            </a:pPr>
            <a:endParaRPr/>
          </a:p>
          <a:p>
            <a:pPr>
              <a:defRPr sz="1400">
                <a:solidFill>
                  <a:srgbClr val="FFFFFF"/>
                </a:solidFill>
                <a:latin typeface="Consolas"/>
              </a:defRPr>
            </a:pPr>
            <a:r>
              <a:t>3. REQUIREMENTS: What MUST it do?</a:t>
            </a:r>
          </a:p>
          <a:p>
            <a:pPr>
              <a:defRPr sz="1400">
                <a:solidFill>
                  <a:srgbClr val="FFFFFF"/>
                </a:solidFill>
                <a:latin typeface="Consolas"/>
              </a:defRPr>
            </a:pPr>
            <a:r>
              <a:t>   (Use MUST/SHOULD/COULD prioritization)</a:t>
            </a:r>
          </a:p>
          <a:p>
            <a:pPr>
              <a:defRPr sz="1400">
                <a:solidFill>
                  <a:srgbClr val="FFFFFF"/>
                </a:solidFill>
                <a:latin typeface="Consolas"/>
              </a:defRPr>
            </a:pPr>
            <a:endParaRPr/>
          </a:p>
          <a:p>
            <a:pPr>
              <a:defRPr sz="1400">
                <a:solidFill>
                  <a:srgbClr val="FFFFFF"/>
                </a:solidFill>
                <a:latin typeface="Consolas"/>
              </a:defRPr>
            </a:pPr>
            <a:r>
              <a:t>4. BOUNDARIES: What must it NOT do?</a:t>
            </a:r>
          </a:p>
          <a:p>
            <a:pPr>
              <a:defRPr sz="1400">
                <a:solidFill>
                  <a:srgbClr val="FFFFFF"/>
                </a:solidFill>
                <a:latin typeface="Consolas"/>
              </a:defRPr>
            </a:pPr>
            <a:r>
              <a:t>   (Out of scope = fewer wrong assumptions)</a:t>
            </a:r>
          </a:p>
          <a:p>
            <a:pPr>
              <a:defRPr sz="1400">
                <a:solidFill>
                  <a:srgbClr val="FFFFFF"/>
                </a:solidFill>
                <a:latin typeface="Consolas"/>
              </a:defRPr>
            </a:pPr>
            <a:endParaRPr/>
          </a:p>
          <a:p>
            <a:pPr>
              <a:defRPr sz="1400">
                <a:solidFill>
                  <a:srgbClr val="FFFFFF"/>
                </a:solidFill>
                <a:latin typeface="Consolas"/>
              </a:defRPr>
            </a:pPr>
            <a:r>
              <a:t>5. ACCEPTANCE: How do I know it's correct?</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1828800"/>
            <a:ext cx="11277295" cy="1371600"/>
          </a:xfrm>
          <a:prstGeom prst="rect">
            <a:avLst/>
          </a:prstGeom>
          <a:noFill/>
        </p:spPr>
        <p:txBody>
          <a:bodyPr wrap="none">
            <a:spAutoFit/>
          </a:bodyPr>
          <a:lstStyle/>
          <a:p>
            <a:pPr algn="ctr">
              <a:defRPr sz="9600" b="1">
                <a:solidFill>
                  <a:srgbClr val="00D4AA"/>
                </a:solidFill>
              </a:defRPr>
            </a:pPr>
            <a:r>
              <a:t>DEMO</a:t>
            </a:r>
          </a:p>
        </p:txBody>
      </p:sp>
      <p:sp>
        <p:nvSpPr>
          <p:cNvPr id="3" name="Rectangle 2"/>
          <p:cNvSpPr/>
          <p:nvPr/>
        </p:nvSpPr>
        <p:spPr>
          <a:xfrm>
            <a:off x="4724247" y="3474720"/>
            <a:ext cx="2743200" cy="54864"/>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3840480"/>
            <a:ext cx="11277295" cy="914400"/>
          </a:xfrm>
          <a:prstGeom prst="rect">
            <a:avLst/>
          </a:prstGeom>
          <a:noFill/>
        </p:spPr>
        <p:txBody>
          <a:bodyPr wrap="square">
            <a:spAutoFit/>
          </a:bodyPr>
          <a:lstStyle/>
          <a:p>
            <a:pPr algn="ctr">
              <a:defRPr sz="3200" b="1">
                <a:solidFill>
                  <a:srgbClr val="FFFFFF"/>
                </a:solidFill>
              </a:defRPr>
            </a:pPr>
            <a:r>
              <a:t>Demo: Spec-Driven Development with Claude Code</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Rectangle 1"/>
          <p:cNvSpPr/>
          <p:nvPr/>
        </p:nvSpPr>
        <p:spPr>
          <a:xfrm>
            <a:off x="0" y="1828800"/>
            <a:ext cx="137160" cy="32004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0"/>
            <a:ext cx="11277295" cy="1371600"/>
          </a:xfrm>
          <a:prstGeom prst="rect">
            <a:avLst/>
          </a:prstGeom>
          <a:noFill/>
        </p:spPr>
        <p:txBody>
          <a:bodyPr wrap="square">
            <a:spAutoFit/>
          </a:bodyPr>
          <a:lstStyle/>
          <a:p>
            <a:pPr>
              <a:defRPr sz="5600" b="1">
                <a:solidFill>
                  <a:srgbClr val="FFFFFF"/>
                </a:solidFill>
              </a:defRPr>
            </a:pPr>
            <a:r>
              <a:t>Session Hygiene: The Discipline That Matters Most</a:t>
            </a:r>
          </a:p>
        </p:txBody>
      </p:sp>
      <p:sp>
        <p:nvSpPr>
          <p:cNvPr id="4" name="TextBox 3"/>
          <p:cNvSpPr txBox="1"/>
          <p:nvPr/>
        </p:nvSpPr>
        <p:spPr>
          <a:xfrm>
            <a:off x="457200" y="4445598"/>
            <a:ext cx="11277295" cy="914400"/>
          </a:xfrm>
          <a:prstGeom prst="rect">
            <a:avLst/>
          </a:prstGeom>
          <a:noFill/>
        </p:spPr>
        <p:txBody>
          <a:bodyPr wrap="square">
            <a:spAutoFit/>
          </a:bodyPr>
          <a:lstStyle/>
          <a:p>
            <a:pPr>
              <a:defRPr sz="2400">
                <a:solidFill>
                  <a:srgbClr val="8B95A5"/>
                </a:solidFill>
              </a:defRPr>
            </a:pPr>
            <a:r>
              <a:rPr dirty="0"/>
              <a:t>One task per session — the rule that prevents 80% of failures</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11277295" cy="822960"/>
          </a:xfrm>
          <a:prstGeom prst="rect">
            <a:avLst/>
          </a:prstGeom>
          <a:noFill/>
        </p:spPr>
        <p:txBody>
          <a:bodyPr wrap="none">
            <a:spAutoFit/>
          </a:bodyPr>
          <a:lstStyle/>
          <a:p>
            <a:pPr>
              <a:defRPr sz="4000" b="1">
                <a:solidFill>
                  <a:srgbClr val="FFFFFF"/>
                </a:solidFill>
              </a:defRPr>
            </a:pPr>
            <a:r>
              <a:t>One Task Per Session. Period.</a:t>
            </a:r>
          </a:p>
        </p:txBody>
      </p:sp>
      <p:sp>
        <p:nvSpPr>
          <p:cNvPr id="3" name="Rectangle 2"/>
          <p:cNvSpPr/>
          <p:nvPr/>
        </p:nvSpPr>
        <p:spPr>
          <a:xfrm>
            <a:off x="457200" y="1234440"/>
            <a:ext cx="1828800" cy="3657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463040"/>
            <a:ext cx="11277295" cy="4572000"/>
          </a:xfrm>
          <a:prstGeom prst="rect">
            <a:avLst/>
          </a:prstGeom>
          <a:noFill/>
        </p:spPr>
        <p:txBody>
          <a:bodyPr wrap="square">
            <a:spAutoFit/>
          </a:bodyPr>
          <a:lstStyle/>
          <a:p>
            <a:pPr>
              <a:spcBef>
                <a:spcPts val="800"/>
              </a:spcBef>
              <a:spcAft>
                <a:spcPts val="800"/>
              </a:spcAft>
              <a:defRPr sz="2200">
                <a:solidFill>
                  <a:srgbClr val="FFFFFF"/>
                </a:solidFill>
              </a:defRPr>
            </a:pPr>
            <a:r>
              <a:t>  Context degrades over long sessions — like starting a meeting where someone's been talking for 20 minutes about somet...</a:t>
            </a:r>
          </a:p>
          <a:p>
            <a:pPr>
              <a:spcBef>
                <a:spcPts val="800"/>
              </a:spcBef>
              <a:spcAft>
                <a:spcPts val="800"/>
              </a:spcAft>
              <a:defRPr sz="2200">
                <a:solidFill>
                  <a:srgbClr val="FFFFFF"/>
                </a:solidFill>
              </a:defRPr>
            </a:pPr>
            <a:r>
              <a:t>  The correction spiral: after 2 failed attempts to correct output, your context is poisoned with conflicting instructi...</a:t>
            </a:r>
          </a:p>
          <a:p>
            <a:pPr>
              <a:spcBef>
                <a:spcPts val="800"/>
              </a:spcBef>
              <a:spcAft>
                <a:spcPts val="800"/>
              </a:spcAft>
              <a:defRPr sz="2200">
                <a:solidFill>
                  <a:srgbClr val="FFFFFF"/>
                </a:solidFill>
              </a:defRPr>
            </a:pPr>
            <a:r>
              <a:t>  Quote: 'I spent months blaming Claude for not understanding my project while doing nothing to help it understand.</a:t>
            </a:r>
          </a:p>
          <a:p>
            <a:pPr>
              <a:spcBef>
                <a:spcPts val="800"/>
              </a:spcBef>
              <a:spcAft>
                <a:spcPts val="800"/>
              </a:spcAft>
              <a:defRPr sz="2200">
                <a:solidFill>
                  <a:srgbClr val="FFFFFF"/>
                </a:solidFill>
              </a:defRPr>
            </a:pPr>
            <a:r>
              <a:t>  Rule of thumb: one task per session.</a:t>
            </a:r>
          </a:p>
          <a:p>
            <a:pPr>
              <a:spcBef>
                <a:spcPts val="800"/>
              </a:spcBef>
              <a:spcAft>
                <a:spcPts val="800"/>
              </a:spcAft>
              <a:defRPr sz="2200">
                <a:solidFill>
                  <a:srgbClr val="FFFFFF"/>
                </a:solidFill>
              </a:defRPr>
            </a:pPr>
            <a:r>
              <a:t>  The anti-pattern has a name: 'vibes-driven development' — just hoping Claude gets it right without structure.</a:t>
            </a:r>
          </a:p>
          <a:p>
            <a:pPr>
              <a:spcBef>
                <a:spcPts val="800"/>
              </a:spcBef>
              <a:spcAft>
                <a:spcPts val="800"/>
              </a:spcAft>
              <a:defRPr sz="2200">
                <a:solidFill>
                  <a:srgbClr val="FFFFFF"/>
                </a:solidFill>
              </a:defRPr>
            </a:pPr>
            <a:r>
              <a:t>  According to MIT 2025 research, 95% of AI projects fail — and $644B has been lost globally on failed AI implementations.</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11277295" cy="731520"/>
          </a:xfrm>
          <a:prstGeom prst="rect">
            <a:avLst/>
          </a:prstGeom>
          <a:noFill/>
        </p:spPr>
        <p:txBody>
          <a:bodyPr wrap="square">
            <a:spAutoFit/>
          </a:bodyPr>
          <a:lstStyle/>
          <a:p>
            <a:pPr algn="ctr">
              <a:defRPr sz="3600" b="1">
                <a:solidFill>
                  <a:srgbClr val="FFFFFF"/>
                </a:solidFill>
              </a:defRPr>
            </a:pPr>
            <a:r>
              <a:t>Case Study: The Payment Module Disaster</a:t>
            </a:r>
          </a:p>
        </p:txBody>
      </p:sp>
      <p:sp>
        <p:nvSpPr>
          <p:cNvPr id="3" name="Rounded Rectangle 2"/>
          <p:cNvSpPr/>
          <p:nvPr/>
        </p:nvSpPr>
        <p:spPr>
          <a:xfrm>
            <a:off x="2255367" y="1371600"/>
            <a:ext cx="822960" cy="82296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2918307" y="1211580"/>
            <a:ext cx="320040" cy="32004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918307" y="1211580"/>
            <a:ext cx="320040" cy="320040"/>
          </a:xfrm>
          <a:prstGeom prst="rect">
            <a:avLst/>
          </a:prstGeom>
          <a:noFill/>
        </p:spPr>
        <p:txBody>
          <a:bodyPr wrap="none" anchor="ctr">
            <a:spAutoFit/>
          </a:bodyPr>
          <a:lstStyle/>
          <a:p>
            <a:pPr algn="ctr">
              <a:defRPr sz="1400" b="1">
                <a:solidFill>
                  <a:srgbClr val="0B0F1A"/>
                </a:solidFill>
              </a:defRPr>
            </a:pPr>
            <a:r>
              <a:t>1</a:t>
            </a:r>
          </a:p>
        </p:txBody>
      </p:sp>
      <p:sp>
        <p:nvSpPr>
          <p:cNvPr id="6" name="Right Arrow 5"/>
          <p:cNvSpPr/>
          <p:nvPr/>
        </p:nvSpPr>
        <p:spPr>
          <a:xfrm>
            <a:off x="3169767" y="1645920"/>
            <a:ext cx="365760" cy="274320"/>
          </a:xfrm>
          <a:prstGeom prst="rightArrow">
            <a:avLst/>
          </a:prstGeom>
          <a:solidFill>
            <a:srgbClr val="8B95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3626967" y="1371600"/>
            <a:ext cx="822960" cy="82296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4289907" y="1211580"/>
            <a:ext cx="320040" cy="32004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289907" y="1211580"/>
            <a:ext cx="320040" cy="320040"/>
          </a:xfrm>
          <a:prstGeom prst="rect">
            <a:avLst/>
          </a:prstGeom>
          <a:noFill/>
        </p:spPr>
        <p:txBody>
          <a:bodyPr wrap="none" anchor="ctr">
            <a:spAutoFit/>
          </a:bodyPr>
          <a:lstStyle/>
          <a:p>
            <a:pPr algn="ctr">
              <a:defRPr sz="1400" b="1">
                <a:solidFill>
                  <a:srgbClr val="0B0F1A"/>
                </a:solidFill>
              </a:defRPr>
            </a:pPr>
            <a:r>
              <a:t>2</a:t>
            </a:r>
          </a:p>
        </p:txBody>
      </p:sp>
      <p:sp>
        <p:nvSpPr>
          <p:cNvPr id="10" name="Right Arrow 9"/>
          <p:cNvSpPr/>
          <p:nvPr/>
        </p:nvSpPr>
        <p:spPr>
          <a:xfrm>
            <a:off x="4541367" y="1645920"/>
            <a:ext cx="365760" cy="274320"/>
          </a:xfrm>
          <a:prstGeom prst="rightArrow">
            <a:avLst/>
          </a:prstGeom>
          <a:solidFill>
            <a:srgbClr val="8B95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4998567" y="1371600"/>
            <a:ext cx="822960" cy="82296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5661507" y="1211580"/>
            <a:ext cx="320040" cy="32004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661507" y="1211580"/>
            <a:ext cx="320040" cy="320040"/>
          </a:xfrm>
          <a:prstGeom prst="rect">
            <a:avLst/>
          </a:prstGeom>
          <a:noFill/>
        </p:spPr>
        <p:txBody>
          <a:bodyPr wrap="none" anchor="ctr">
            <a:spAutoFit/>
          </a:bodyPr>
          <a:lstStyle/>
          <a:p>
            <a:pPr algn="ctr">
              <a:defRPr sz="1400" b="1">
                <a:solidFill>
                  <a:srgbClr val="0B0F1A"/>
                </a:solidFill>
              </a:defRPr>
            </a:pPr>
            <a:r>
              <a:t>3</a:t>
            </a:r>
          </a:p>
        </p:txBody>
      </p:sp>
      <p:sp>
        <p:nvSpPr>
          <p:cNvPr id="14" name="Right Arrow 13"/>
          <p:cNvSpPr/>
          <p:nvPr/>
        </p:nvSpPr>
        <p:spPr>
          <a:xfrm>
            <a:off x="5912967" y="1645920"/>
            <a:ext cx="365760" cy="274320"/>
          </a:xfrm>
          <a:prstGeom prst="rightArrow">
            <a:avLst/>
          </a:prstGeom>
          <a:solidFill>
            <a:srgbClr val="8B95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6370167" y="1371600"/>
            <a:ext cx="822960" cy="82296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7033107" y="1211580"/>
            <a:ext cx="320040" cy="32004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033107" y="1211580"/>
            <a:ext cx="320040" cy="320040"/>
          </a:xfrm>
          <a:prstGeom prst="rect">
            <a:avLst/>
          </a:prstGeom>
          <a:noFill/>
        </p:spPr>
        <p:txBody>
          <a:bodyPr wrap="none" anchor="ctr">
            <a:spAutoFit/>
          </a:bodyPr>
          <a:lstStyle/>
          <a:p>
            <a:pPr algn="ctr">
              <a:defRPr sz="1400" b="1">
                <a:solidFill>
                  <a:srgbClr val="0B0F1A"/>
                </a:solidFill>
              </a:defRPr>
            </a:pPr>
            <a:r>
              <a:t>4</a:t>
            </a:r>
          </a:p>
        </p:txBody>
      </p:sp>
      <p:sp>
        <p:nvSpPr>
          <p:cNvPr id="18" name="Right Arrow 17"/>
          <p:cNvSpPr/>
          <p:nvPr/>
        </p:nvSpPr>
        <p:spPr>
          <a:xfrm>
            <a:off x="7284567" y="1645920"/>
            <a:ext cx="365760" cy="274320"/>
          </a:xfrm>
          <a:prstGeom prst="rightArrow">
            <a:avLst/>
          </a:prstGeom>
          <a:solidFill>
            <a:srgbClr val="8B95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7741767" y="1371600"/>
            <a:ext cx="822960" cy="82296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8404707" y="1211580"/>
            <a:ext cx="320040" cy="32004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404707" y="1211580"/>
            <a:ext cx="320040" cy="320040"/>
          </a:xfrm>
          <a:prstGeom prst="rect">
            <a:avLst/>
          </a:prstGeom>
          <a:noFill/>
        </p:spPr>
        <p:txBody>
          <a:bodyPr wrap="none" anchor="ctr">
            <a:spAutoFit/>
          </a:bodyPr>
          <a:lstStyle/>
          <a:p>
            <a:pPr algn="ctr">
              <a:defRPr sz="1400" b="1">
                <a:solidFill>
                  <a:srgbClr val="0B0F1A"/>
                </a:solidFill>
              </a:defRPr>
            </a:pPr>
            <a:r>
              <a:t>5</a:t>
            </a:r>
          </a:p>
        </p:txBody>
      </p:sp>
      <p:sp>
        <p:nvSpPr>
          <p:cNvPr id="22" name="Right Arrow 21"/>
          <p:cNvSpPr/>
          <p:nvPr/>
        </p:nvSpPr>
        <p:spPr>
          <a:xfrm>
            <a:off x="8656167" y="1645920"/>
            <a:ext cx="365760" cy="274320"/>
          </a:xfrm>
          <a:prstGeom prst="rightArrow">
            <a:avLst/>
          </a:prstGeom>
          <a:solidFill>
            <a:srgbClr val="8B95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9113367" y="1371600"/>
            <a:ext cx="822960" cy="82296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9776307" y="1211580"/>
            <a:ext cx="320040" cy="32004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776307" y="1211580"/>
            <a:ext cx="320040" cy="320040"/>
          </a:xfrm>
          <a:prstGeom prst="rect">
            <a:avLst/>
          </a:prstGeom>
          <a:noFill/>
        </p:spPr>
        <p:txBody>
          <a:bodyPr wrap="none" anchor="ctr">
            <a:spAutoFit/>
          </a:bodyPr>
          <a:lstStyle/>
          <a:p>
            <a:pPr algn="ctr">
              <a:defRPr sz="1400" b="1">
                <a:solidFill>
                  <a:srgbClr val="0B0F1A"/>
                </a:solidFill>
              </a:defRPr>
            </a:pPr>
            <a:r>
              <a:t>6</a:t>
            </a:r>
          </a:p>
        </p:txBody>
      </p:sp>
      <p:sp>
        <p:nvSpPr>
          <p:cNvPr id="26" name="TextBox 25"/>
          <p:cNvSpPr txBox="1"/>
          <p:nvPr/>
        </p:nvSpPr>
        <p:spPr>
          <a:xfrm>
            <a:off x="1371600" y="2743200"/>
            <a:ext cx="457200" cy="457200"/>
          </a:xfrm>
          <a:prstGeom prst="rect">
            <a:avLst/>
          </a:prstGeom>
          <a:noFill/>
        </p:spPr>
        <p:txBody>
          <a:bodyPr wrap="none">
            <a:spAutoFit/>
          </a:bodyPr>
          <a:lstStyle/>
          <a:p>
            <a:pPr>
              <a:defRPr sz="2000" b="1">
                <a:solidFill>
                  <a:srgbClr val="00D4AA"/>
                </a:solidFill>
              </a:defRPr>
            </a:pPr>
            <a:r>
              <a:t>1</a:t>
            </a:r>
          </a:p>
        </p:txBody>
      </p:sp>
      <p:sp>
        <p:nvSpPr>
          <p:cNvPr id="27" name="TextBox 26"/>
          <p:cNvSpPr txBox="1"/>
          <p:nvPr/>
        </p:nvSpPr>
        <p:spPr>
          <a:xfrm>
            <a:off x="1828800" y="2743200"/>
            <a:ext cx="8991295" cy="548640"/>
          </a:xfrm>
          <a:prstGeom prst="rect">
            <a:avLst/>
          </a:prstGeom>
          <a:noFill/>
        </p:spPr>
        <p:txBody>
          <a:bodyPr wrap="square">
            <a:spAutoFit/>
          </a:bodyPr>
          <a:lstStyle/>
          <a:p>
            <a:pPr>
              <a:defRPr sz="1800">
                <a:solidFill>
                  <a:srgbClr val="FFFFFF"/>
                </a:solidFill>
              </a:defRPr>
            </a:pPr>
            <a:r>
              <a:t>Developer starts: 'Add payment processing to our app'</a:t>
            </a:r>
          </a:p>
        </p:txBody>
      </p:sp>
      <p:sp>
        <p:nvSpPr>
          <p:cNvPr id="28" name="TextBox 27"/>
          <p:cNvSpPr txBox="1"/>
          <p:nvPr/>
        </p:nvSpPr>
        <p:spPr>
          <a:xfrm>
            <a:off x="1371600" y="3383280"/>
            <a:ext cx="457200" cy="457200"/>
          </a:xfrm>
          <a:prstGeom prst="rect">
            <a:avLst/>
          </a:prstGeom>
          <a:noFill/>
        </p:spPr>
        <p:txBody>
          <a:bodyPr wrap="none">
            <a:spAutoFit/>
          </a:bodyPr>
          <a:lstStyle/>
          <a:p>
            <a:pPr>
              <a:defRPr sz="2000" b="1">
                <a:solidFill>
                  <a:srgbClr val="00D4AA"/>
                </a:solidFill>
              </a:defRPr>
            </a:pPr>
            <a:r>
              <a:t>2</a:t>
            </a:r>
          </a:p>
        </p:txBody>
      </p:sp>
      <p:sp>
        <p:nvSpPr>
          <p:cNvPr id="29" name="TextBox 28"/>
          <p:cNvSpPr txBox="1"/>
          <p:nvPr/>
        </p:nvSpPr>
        <p:spPr>
          <a:xfrm>
            <a:off x="1828800" y="3383280"/>
            <a:ext cx="8991295" cy="548640"/>
          </a:xfrm>
          <a:prstGeom prst="rect">
            <a:avLst/>
          </a:prstGeom>
          <a:noFill/>
        </p:spPr>
        <p:txBody>
          <a:bodyPr wrap="square">
            <a:spAutoFit/>
          </a:bodyPr>
          <a:lstStyle/>
          <a:p>
            <a:pPr>
              <a:defRPr sz="1800">
                <a:solidFill>
                  <a:srgbClr val="FFFFFF"/>
                </a:solidFill>
              </a:defRPr>
            </a:pPr>
            <a:r>
              <a:t>Mid-session pivot: 'Also fix the auth bug'</a:t>
            </a:r>
          </a:p>
        </p:txBody>
      </p:sp>
      <p:sp>
        <p:nvSpPr>
          <p:cNvPr id="30" name="TextBox 29"/>
          <p:cNvSpPr txBox="1"/>
          <p:nvPr/>
        </p:nvSpPr>
        <p:spPr>
          <a:xfrm>
            <a:off x="1371600" y="4023360"/>
            <a:ext cx="457200" cy="457200"/>
          </a:xfrm>
          <a:prstGeom prst="rect">
            <a:avLst/>
          </a:prstGeom>
          <a:noFill/>
        </p:spPr>
        <p:txBody>
          <a:bodyPr wrap="none">
            <a:spAutoFit/>
          </a:bodyPr>
          <a:lstStyle/>
          <a:p>
            <a:pPr>
              <a:defRPr sz="2000" b="1">
                <a:solidFill>
                  <a:srgbClr val="00D4AA"/>
                </a:solidFill>
              </a:defRPr>
            </a:pPr>
            <a:r>
              <a:t>3</a:t>
            </a:r>
          </a:p>
        </p:txBody>
      </p:sp>
      <p:sp>
        <p:nvSpPr>
          <p:cNvPr id="31" name="TextBox 30"/>
          <p:cNvSpPr txBox="1"/>
          <p:nvPr/>
        </p:nvSpPr>
        <p:spPr>
          <a:xfrm>
            <a:off x="1828800" y="4023360"/>
            <a:ext cx="8991295" cy="548640"/>
          </a:xfrm>
          <a:prstGeom prst="rect">
            <a:avLst/>
          </a:prstGeom>
          <a:noFill/>
        </p:spPr>
        <p:txBody>
          <a:bodyPr wrap="square">
            <a:spAutoFit/>
          </a:bodyPr>
          <a:lstStyle/>
          <a:p>
            <a:pPr>
              <a:defRPr sz="1800">
                <a:solidFill>
                  <a:srgbClr val="FFFFFF"/>
                </a:solidFill>
              </a:defRPr>
            </a:pPr>
            <a:r>
              <a:t>Claude mixes payment logic with auth fixes — neither works</a:t>
            </a:r>
          </a:p>
        </p:txBody>
      </p:sp>
      <p:sp>
        <p:nvSpPr>
          <p:cNvPr id="32" name="TextBox 31"/>
          <p:cNvSpPr txBox="1"/>
          <p:nvPr/>
        </p:nvSpPr>
        <p:spPr>
          <a:xfrm>
            <a:off x="1371600" y="4663440"/>
            <a:ext cx="457200" cy="457200"/>
          </a:xfrm>
          <a:prstGeom prst="rect">
            <a:avLst/>
          </a:prstGeom>
          <a:noFill/>
        </p:spPr>
        <p:txBody>
          <a:bodyPr wrap="none">
            <a:spAutoFit/>
          </a:bodyPr>
          <a:lstStyle/>
          <a:p>
            <a:pPr>
              <a:defRPr sz="2000" b="1">
                <a:solidFill>
                  <a:srgbClr val="00D4AA"/>
                </a:solidFill>
              </a:defRPr>
            </a:pPr>
            <a:r>
              <a:t>4</a:t>
            </a:r>
          </a:p>
        </p:txBody>
      </p:sp>
      <p:sp>
        <p:nvSpPr>
          <p:cNvPr id="33" name="TextBox 32"/>
          <p:cNvSpPr txBox="1"/>
          <p:nvPr/>
        </p:nvSpPr>
        <p:spPr>
          <a:xfrm>
            <a:off x="1828800" y="4663440"/>
            <a:ext cx="8991295" cy="548640"/>
          </a:xfrm>
          <a:prstGeom prst="rect">
            <a:avLst/>
          </a:prstGeom>
          <a:noFill/>
        </p:spPr>
        <p:txBody>
          <a:bodyPr wrap="square">
            <a:spAutoFit/>
          </a:bodyPr>
          <a:lstStyle/>
          <a:p>
            <a:pPr>
              <a:defRPr sz="1800">
                <a:solidFill>
                  <a:srgbClr val="FFFFFF"/>
                </a:solidFill>
              </a:defRPr>
            </a:pPr>
            <a:r>
              <a:t>3 hours debugging: payment code references auth variables</a:t>
            </a:r>
          </a:p>
        </p:txBody>
      </p:sp>
      <p:sp>
        <p:nvSpPr>
          <p:cNvPr id="34" name="TextBox 33"/>
          <p:cNvSpPr txBox="1"/>
          <p:nvPr/>
        </p:nvSpPr>
        <p:spPr>
          <a:xfrm>
            <a:off x="1371600" y="5303520"/>
            <a:ext cx="457200" cy="457200"/>
          </a:xfrm>
          <a:prstGeom prst="rect">
            <a:avLst/>
          </a:prstGeom>
          <a:noFill/>
        </p:spPr>
        <p:txBody>
          <a:bodyPr wrap="none">
            <a:spAutoFit/>
          </a:bodyPr>
          <a:lstStyle/>
          <a:p>
            <a:pPr>
              <a:defRPr sz="2000" b="1">
                <a:solidFill>
                  <a:srgbClr val="00D4AA"/>
                </a:solidFill>
              </a:defRPr>
            </a:pPr>
            <a:r>
              <a:t>5</a:t>
            </a:r>
          </a:p>
        </p:txBody>
      </p:sp>
      <p:sp>
        <p:nvSpPr>
          <p:cNvPr id="35" name="TextBox 34"/>
          <p:cNvSpPr txBox="1"/>
          <p:nvPr/>
        </p:nvSpPr>
        <p:spPr>
          <a:xfrm>
            <a:off x="1828800" y="5303520"/>
            <a:ext cx="8991295" cy="548640"/>
          </a:xfrm>
          <a:prstGeom prst="rect">
            <a:avLst/>
          </a:prstGeom>
          <a:noFill/>
        </p:spPr>
        <p:txBody>
          <a:bodyPr wrap="square">
            <a:spAutoFit/>
          </a:bodyPr>
          <a:lstStyle/>
          <a:p>
            <a:pPr>
              <a:defRPr sz="1800">
                <a:solidFill>
                  <a:srgbClr val="FFFFFF"/>
                </a:solidFill>
              </a:defRPr>
            </a:pPr>
            <a:r>
              <a:t>The fix: Revert. Two clean sessions. Each done in 30 minutes.</a:t>
            </a:r>
          </a:p>
        </p:txBody>
      </p:sp>
      <p:sp>
        <p:nvSpPr>
          <p:cNvPr id="36" name="TextBox 35"/>
          <p:cNvSpPr txBox="1"/>
          <p:nvPr/>
        </p:nvSpPr>
        <p:spPr>
          <a:xfrm>
            <a:off x="1371600" y="5943600"/>
            <a:ext cx="457200" cy="457200"/>
          </a:xfrm>
          <a:prstGeom prst="rect">
            <a:avLst/>
          </a:prstGeom>
          <a:noFill/>
        </p:spPr>
        <p:txBody>
          <a:bodyPr wrap="none">
            <a:spAutoFit/>
          </a:bodyPr>
          <a:lstStyle/>
          <a:p>
            <a:pPr>
              <a:defRPr sz="2000" b="1">
                <a:solidFill>
                  <a:srgbClr val="00D4AA"/>
                </a:solidFill>
              </a:defRPr>
            </a:pPr>
            <a:r>
              <a:t>6</a:t>
            </a:r>
          </a:p>
        </p:txBody>
      </p:sp>
      <p:sp>
        <p:nvSpPr>
          <p:cNvPr id="37" name="TextBox 36"/>
          <p:cNvSpPr txBox="1"/>
          <p:nvPr/>
        </p:nvSpPr>
        <p:spPr>
          <a:xfrm>
            <a:off x="1828800" y="5943600"/>
            <a:ext cx="8991295" cy="548640"/>
          </a:xfrm>
          <a:prstGeom prst="rect">
            <a:avLst/>
          </a:prstGeom>
          <a:noFill/>
        </p:spPr>
        <p:txBody>
          <a:bodyPr wrap="square">
            <a:spAutoFit/>
          </a:bodyPr>
          <a:lstStyle/>
          <a:p>
            <a:pPr>
              <a:defRPr sz="1800">
                <a:solidFill>
                  <a:srgbClr val="FFFFFF"/>
                </a:solidFill>
              </a:defRPr>
            </a:pPr>
            <a:r>
              <a:t>Lesson: One task per session is load-bearing architecture.</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Rectangle 1"/>
          <p:cNvSpPr/>
          <p:nvPr/>
        </p:nvSpPr>
        <p:spPr>
          <a:xfrm>
            <a:off x="0" y="1828800"/>
            <a:ext cx="137160" cy="32004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0"/>
            <a:ext cx="11277295" cy="1371600"/>
          </a:xfrm>
          <a:prstGeom prst="rect">
            <a:avLst/>
          </a:prstGeom>
          <a:noFill/>
        </p:spPr>
        <p:txBody>
          <a:bodyPr wrap="square">
            <a:spAutoFit/>
          </a:bodyPr>
          <a:lstStyle/>
          <a:p>
            <a:pPr>
              <a:defRPr sz="5600" b="1">
                <a:solidFill>
                  <a:srgbClr val="FFFFFF"/>
                </a:solidFill>
              </a:defRPr>
            </a:pPr>
            <a:r>
              <a:t>Permissions &amp; Security</a:t>
            </a:r>
          </a:p>
        </p:txBody>
      </p:sp>
      <p:sp>
        <p:nvSpPr>
          <p:cNvPr id="4" name="TextBox 3"/>
          <p:cNvSpPr txBox="1"/>
          <p:nvPr/>
        </p:nvSpPr>
        <p:spPr>
          <a:xfrm>
            <a:off x="457200" y="3840480"/>
            <a:ext cx="11277295" cy="914400"/>
          </a:xfrm>
          <a:prstGeom prst="rect">
            <a:avLst/>
          </a:prstGeom>
          <a:noFill/>
        </p:spPr>
        <p:txBody>
          <a:bodyPr wrap="square">
            <a:spAutoFit/>
          </a:bodyPr>
          <a:lstStyle/>
          <a:p>
            <a:pPr>
              <a:defRPr sz="2400">
                <a:solidFill>
                  <a:srgbClr val="8B95A5"/>
                </a:solidFill>
              </a:defRPr>
            </a:pPr>
            <a:r>
              <a:t>Safe AI-Assisted Development</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731520"/>
            <a:ext cx="11277295" cy="914400"/>
          </a:xfrm>
          <a:prstGeom prst="rect">
            <a:avLst/>
          </a:prstGeom>
          <a:noFill/>
        </p:spPr>
        <p:txBody>
          <a:bodyPr wrap="none">
            <a:spAutoFit/>
          </a:bodyPr>
          <a:lstStyle/>
          <a:p>
            <a:pPr algn="ctr">
              <a:defRPr sz="4000" b="1">
                <a:solidFill>
                  <a:srgbClr val="FFFFFF"/>
                </a:solidFill>
              </a:defRPr>
            </a:pPr>
            <a:r>
              <a:t>Security Model Overview</a:t>
            </a:r>
          </a:p>
        </p:txBody>
      </p:sp>
      <p:sp>
        <p:nvSpPr>
          <p:cNvPr id="3" name="Rounded Rectangle 2"/>
          <p:cNvSpPr/>
          <p:nvPr/>
        </p:nvSpPr>
        <p:spPr>
          <a:xfrm>
            <a:off x="2301087" y="2011679"/>
            <a:ext cx="2286000" cy="3743661"/>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2986887" y="2468880"/>
            <a:ext cx="914400" cy="91440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986887" y="2468880"/>
            <a:ext cx="914400" cy="914400"/>
          </a:xfrm>
          <a:prstGeom prst="rect">
            <a:avLst/>
          </a:prstGeom>
          <a:noFill/>
        </p:spPr>
        <p:txBody>
          <a:bodyPr wrap="none" anchor="ctr">
            <a:spAutoFit/>
          </a:bodyPr>
          <a:lstStyle/>
          <a:p>
            <a:pPr algn="ctr">
              <a:defRPr sz="3600" b="1">
                <a:solidFill>
                  <a:srgbClr val="0B0F1A"/>
                </a:solidFill>
              </a:defRPr>
            </a:pPr>
            <a:r>
              <a:t>1</a:t>
            </a:r>
          </a:p>
        </p:txBody>
      </p:sp>
      <p:sp>
        <p:nvSpPr>
          <p:cNvPr id="6" name="TextBox 5"/>
          <p:cNvSpPr txBox="1"/>
          <p:nvPr/>
        </p:nvSpPr>
        <p:spPr>
          <a:xfrm>
            <a:off x="2392527" y="3657600"/>
            <a:ext cx="2103120" cy="1371600"/>
          </a:xfrm>
          <a:prstGeom prst="rect">
            <a:avLst/>
          </a:prstGeom>
          <a:noFill/>
        </p:spPr>
        <p:txBody>
          <a:bodyPr wrap="square">
            <a:normAutofit fontScale="85000" lnSpcReduction="10000"/>
          </a:bodyPr>
          <a:lstStyle/>
          <a:p>
            <a:pPr algn="ctr">
              <a:defRPr sz="1800" b="1">
                <a:solidFill>
                  <a:srgbClr val="FFFFFF"/>
                </a:solidFill>
              </a:defRPr>
            </a:pPr>
            <a:r>
              <a:rPr dirty="0"/>
              <a:t>Permission Prompts</a:t>
            </a:r>
          </a:p>
          <a:p>
            <a:pPr algn="ctr">
              <a:spcBef>
                <a:spcPts val="800"/>
              </a:spcBef>
              <a:defRPr sz="1300">
                <a:solidFill>
                  <a:srgbClr val="8B95A5"/>
                </a:solidFill>
              </a:defRPr>
            </a:pPr>
            <a:r>
              <a:rPr dirty="0"/>
              <a:t>Claude asks before:</a:t>
            </a:r>
            <a:br>
              <a:rPr dirty="0"/>
            </a:br>
            <a:r>
              <a:rPr dirty="0"/>
              <a:t>• Writing/editing files</a:t>
            </a:r>
            <a:br>
              <a:rPr dirty="0"/>
            </a:br>
            <a:r>
              <a:rPr dirty="0"/>
              <a:t>• Running shell commands</a:t>
            </a:r>
            <a:br>
              <a:rPr dirty="0"/>
            </a:br>
            <a:r>
              <a:rPr dirty="0"/>
              <a:t>• Installing packages</a:t>
            </a:r>
            <a:br>
              <a:rPr dirty="0"/>
            </a:br>
            <a:br>
              <a:rPr dirty="0"/>
            </a:br>
            <a:r>
              <a:rPr dirty="0"/>
              <a:t>You approve or deny each action.</a:t>
            </a:r>
          </a:p>
        </p:txBody>
      </p:sp>
      <p:sp>
        <p:nvSpPr>
          <p:cNvPr id="7" name="Rounded Rectangle 6"/>
          <p:cNvSpPr/>
          <p:nvPr/>
        </p:nvSpPr>
        <p:spPr>
          <a:xfrm>
            <a:off x="4952847" y="2011679"/>
            <a:ext cx="2286000" cy="3743661"/>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5638647" y="2468880"/>
            <a:ext cx="914400" cy="91440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638647" y="2468880"/>
            <a:ext cx="914400" cy="914400"/>
          </a:xfrm>
          <a:prstGeom prst="rect">
            <a:avLst/>
          </a:prstGeom>
          <a:noFill/>
        </p:spPr>
        <p:txBody>
          <a:bodyPr wrap="none" anchor="ctr">
            <a:spAutoFit/>
          </a:bodyPr>
          <a:lstStyle/>
          <a:p>
            <a:pPr algn="ctr">
              <a:defRPr sz="3600" b="1">
                <a:solidFill>
                  <a:srgbClr val="0B0F1A"/>
                </a:solidFill>
              </a:defRPr>
            </a:pPr>
            <a:r>
              <a:t>2</a:t>
            </a:r>
          </a:p>
        </p:txBody>
      </p:sp>
      <p:sp>
        <p:nvSpPr>
          <p:cNvPr id="10" name="TextBox 9"/>
          <p:cNvSpPr txBox="1"/>
          <p:nvPr/>
        </p:nvSpPr>
        <p:spPr>
          <a:xfrm>
            <a:off x="5044287" y="3657600"/>
            <a:ext cx="2103120" cy="1371600"/>
          </a:xfrm>
          <a:prstGeom prst="rect">
            <a:avLst/>
          </a:prstGeom>
          <a:noFill/>
        </p:spPr>
        <p:txBody>
          <a:bodyPr wrap="square">
            <a:normAutofit fontScale="85000" lnSpcReduction="20000"/>
          </a:bodyPr>
          <a:lstStyle/>
          <a:p>
            <a:pPr algn="ctr">
              <a:defRPr sz="1800" b="1">
                <a:solidFill>
                  <a:srgbClr val="FFFFFF"/>
                </a:solidFill>
              </a:defRPr>
            </a:pPr>
            <a:r>
              <a:t>Allowlists</a:t>
            </a:r>
          </a:p>
          <a:p>
            <a:pPr algn="ctr">
              <a:spcBef>
                <a:spcPts val="800"/>
              </a:spcBef>
              <a:defRPr sz="1300">
                <a:solidFill>
                  <a:srgbClr val="8B95A5"/>
                </a:solidFill>
              </a:defRPr>
            </a:pPr>
            <a:r>
              <a:t>Pre-approve trusted operations:</a:t>
            </a:r>
            <a:br/>
            <a:r>
              <a:t>• Bash(npm test)</a:t>
            </a:r>
            <a:br/>
            <a:r>
              <a:t>• Bash(git *)</a:t>
            </a:r>
            <a:br/>
            <a:r>
              <a:t>• Read(**/*.ts)</a:t>
            </a:r>
            <a:br/>
            <a:br/>
            <a:r>
              <a:t>Reduces friction for safe commands.</a:t>
            </a:r>
          </a:p>
        </p:txBody>
      </p:sp>
      <p:sp>
        <p:nvSpPr>
          <p:cNvPr id="11" name="Rounded Rectangle 10"/>
          <p:cNvSpPr/>
          <p:nvPr/>
        </p:nvSpPr>
        <p:spPr>
          <a:xfrm>
            <a:off x="7604607" y="2011679"/>
            <a:ext cx="2286000" cy="3743661"/>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8290407" y="2468880"/>
            <a:ext cx="914400" cy="91440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290407" y="2468880"/>
            <a:ext cx="914400" cy="914400"/>
          </a:xfrm>
          <a:prstGeom prst="rect">
            <a:avLst/>
          </a:prstGeom>
          <a:noFill/>
        </p:spPr>
        <p:txBody>
          <a:bodyPr wrap="none" anchor="ctr">
            <a:spAutoFit/>
          </a:bodyPr>
          <a:lstStyle/>
          <a:p>
            <a:pPr algn="ctr">
              <a:defRPr sz="3600" b="1">
                <a:solidFill>
                  <a:srgbClr val="0B0F1A"/>
                </a:solidFill>
              </a:defRPr>
            </a:pPr>
            <a:r>
              <a:t>3</a:t>
            </a:r>
          </a:p>
        </p:txBody>
      </p:sp>
      <p:sp>
        <p:nvSpPr>
          <p:cNvPr id="14" name="TextBox 13"/>
          <p:cNvSpPr txBox="1"/>
          <p:nvPr/>
        </p:nvSpPr>
        <p:spPr>
          <a:xfrm>
            <a:off x="7696047" y="3657600"/>
            <a:ext cx="2103120" cy="1371600"/>
          </a:xfrm>
          <a:prstGeom prst="rect">
            <a:avLst/>
          </a:prstGeom>
          <a:noFill/>
        </p:spPr>
        <p:txBody>
          <a:bodyPr wrap="square">
            <a:normAutofit fontScale="85000" lnSpcReduction="20000"/>
          </a:bodyPr>
          <a:lstStyle/>
          <a:p>
            <a:pPr algn="ctr">
              <a:defRPr sz="1800" b="1">
                <a:solidFill>
                  <a:srgbClr val="FFFFFF"/>
                </a:solidFill>
              </a:defRPr>
            </a:pPr>
            <a:r>
              <a:t>Deny Rules</a:t>
            </a:r>
          </a:p>
          <a:p>
            <a:pPr algn="ctr">
              <a:spcBef>
                <a:spcPts val="800"/>
              </a:spcBef>
              <a:defRPr sz="1300">
                <a:solidFill>
                  <a:srgbClr val="8B95A5"/>
                </a:solidFill>
              </a:defRPr>
            </a:pPr>
            <a:r>
              <a:t>Block dangerous operations:</a:t>
            </a:r>
            <a:br/>
            <a:r>
              <a:t>• Bash(rm -rf *)</a:t>
            </a:r>
            <a:br/>
            <a:r>
              <a:t>• Bash(sudo *)</a:t>
            </a:r>
            <a:br/>
            <a:r>
              <a:t>• Read(**/.env)</a:t>
            </a:r>
            <a:br/>
            <a:br/>
            <a:r>
              <a:t>Defense in depth — even if you slip.</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731520"/>
            <a:ext cx="11277295" cy="914400"/>
          </a:xfrm>
          <a:prstGeom prst="rect">
            <a:avLst/>
          </a:prstGeom>
          <a:noFill/>
        </p:spPr>
        <p:txBody>
          <a:bodyPr wrap="none">
            <a:spAutoFit/>
          </a:bodyPr>
          <a:lstStyle/>
          <a:p>
            <a:pPr algn="ctr">
              <a:defRPr sz="4000" b="1">
                <a:solidFill>
                  <a:srgbClr val="FFFFFF"/>
                </a:solidFill>
              </a:defRPr>
            </a:pPr>
            <a:r>
              <a:t>Trust Levels</a:t>
            </a:r>
          </a:p>
        </p:txBody>
      </p:sp>
      <p:sp>
        <p:nvSpPr>
          <p:cNvPr id="3" name="Rounded Rectangle 2"/>
          <p:cNvSpPr/>
          <p:nvPr/>
        </p:nvSpPr>
        <p:spPr>
          <a:xfrm>
            <a:off x="2301087" y="2011680"/>
            <a:ext cx="2286000" cy="320040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2986887" y="2468880"/>
            <a:ext cx="914400" cy="91440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986887" y="2468880"/>
            <a:ext cx="914400" cy="914400"/>
          </a:xfrm>
          <a:prstGeom prst="rect">
            <a:avLst/>
          </a:prstGeom>
          <a:noFill/>
        </p:spPr>
        <p:txBody>
          <a:bodyPr wrap="none" anchor="ctr">
            <a:spAutoFit/>
          </a:bodyPr>
          <a:lstStyle/>
          <a:p>
            <a:pPr algn="ctr">
              <a:defRPr sz="2800" b="1">
                <a:solidFill>
                  <a:srgbClr val="0B0F1A"/>
                </a:solidFill>
              </a:defRPr>
            </a:pPr>
            <a:r>
              <a:t>👁</a:t>
            </a:r>
          </a:p>
        </p:txBody>
      </p:sp>
      <p:sp>
        <p:nvSpPr>
          <p:cNvPr id="6" name="TextBox 5"/>
          <p:cNvSpPr txBox="1"/>
          <p:nvPr/>
        </p:nvSpPr>
        <p:spPr>
          <a:xfrm>
            <a:off x="2392527" y="3657600"/>
            <a:ext cx="2103120" cy="1371600"/>
          </a:xfrm>
          <a:prstGeom prst="rect">
            <a:avLst/>
          </a:prstGeom>
          <a:noFill/>
        </p:spPr>
        <p:txBody>
          <a:bodyPr wrap="square">
            <a:normAutofit/>
          </a:bodyPr>
          <a:lstStyle/>
          <a:p>
            <a:pPr algn="ctr">
              <a:defRPr sz="1800" b="1">
                <a:solidFill>
                  <a:srgbClr val="FFFFFF"/>
                </a:solidFill>
              </a:defRPr>
            </a:pPr>
            <a:r>
              <a:t>Suggest Only</a:t>
            </a:r>
          </a:p>
        </p:txBody>
      </p:sp>
      <p:sp>
        <p:nvSpPr>
          <p:cNvPr id="7" name="Rounded Rectangle 6"/>
          <p:cNvSpPr/>
          <p:nvPr/>
        </p:nvSpPr>
        <p:spPr>
          <a:xfrm>
            <a:off x="4952847" y="2011680"/>
            <a:ext cx="2286000" cy="320040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5638647" y="2468880"/>
            <a:ext cx="914400" cy="91440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638647" y="2468880"/>
            <a:ext cx="914400" cy="914400"/>
          </a:xfrm>
          <a:prstGeom prst="rect">
            <a:avLst/>
          </a:prstGeom>
          <a:noFill/>
        </p:spPr>
        <p:txBody>
          <a:bodyPr wrap="none" anchor="ctr">
            <a:spAutoFit/>
          </a:bodyPr>
          <a:lstStyle/>
          <a:p>
            <a:pPr algn="ctr">
              <a:defRPr sz="2800" b="1">
                <a:solidFill>
                  <a:srgbClr val="0B0F1A"/>
                </a:solidFill>
              </a:defRPr>
            </a:pPr>
            <a:r>
              <a:t>📖</a:t>
            </a:r>
          </a:p>
        </p:txBody>
      </p:sp>
      <p:sp>
        <p:nvSpPr>
          <p:cNvPr id="10" name="TextBox 9"/>
          <p:cNvSpPr txBox="1"/>
          <p:nvPr/>
        </p:nvSpPr>
        <p:spPr>
          <a:xfrm>
            <a:off x="5044287" y="3657600"/>
            <a:ext cx="2103120" cy="1371600"/>
          </a:xfrm>
          <a:prstGeom prst="rect">
            <a:avLst/>
          </a:prstGeom>
          <a:noFill/>
        </p:spPr>
        <p:txBody>
          <a:bodyPr wrap="square">
            <a:normAutofit/>
          </a:bodyPr>
          <a:lstStyle/>
          <a:p>
            <a:pPr algn="ctr">
              <a:defRPr sz="1800" b="1">
                <a:solidFill>
                  <a:srgbClr val="FFFFFF"/>
                </a:solidFill>
              </a:defRPr>
            </a:pPr>
            <a:r>
              <a:t>Auto-Approve Read</a:t>
            </a:r>
          </a:p>
        </p:txBody>
      </p:sp>
      <p:sp>
        <p:nvSpPr>
          <p:cNvPr id="11" name="Rounded Rectangle 10"/>
          <p:cNvSpPr/>
          <p:nvPr/>
        </p:nvSpPr>
        <p:spPr>
          <a:xfrm>
            <a:off x="7604607" y="2011680"/>
            <a:ext cx="2286000" cy="3200400"/>
          </a:xfrm>
          <a:prstGeom prst="roundRect">
            <a:avLst/>
          </a:prstGeom>
          <a:solidFill>
            <a:srgbClr val="141A26"/>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8290407" y="2468880"/>
            <a:ext cx="914400" cy="91440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290407" y="2468880"/>
            <a:ext cx="914400" cy="914400"/>
          </a:xfrm>
          <a:prstGeom prst="rect">
            <a:avLst/>
          </a:prstGeom>
          <a:noFill/>
        </p:spPr>
        <p:txBody>
          <a:bodyPr wrap="none" anchor="ctr">
            <a:spAutoFit/>
          </a:bodyPr>
          <a:lstStyle/>
          <a:p>
            <a:pPr algn="ctr">
              <a:defRPr sz="2800" b="1">
                <a:solidFill>
                  <a:srgbClr val="0B0F1A"/>
                </a:solidFill>
              </a:defRPr>
            </a:pPr>
            <a:r>
              <a:t>⚡</a:t>
            </a:r>
          </a:p>
        </p:txBody>
      </p:sp>
      <p:sp>
        <p:nvSpPr>
          <p:cNvPr id="14" name="TextBox 13"/>
          <p:cNvSpPr txBox="1"/>
          <p:nvPr/>
        </p:nvSpPr>
        <p:spPr>
          <a:xfrm>
            <a:off x="7696047" y="3657600"/>
            <a:ext cx="2103120" cy="1371600"/>
          </a:xfrm>
          <a:prstGeom prst="rect">
            <a:avLst/>
          </a:prstGeom>
          <a:noFill/>
        </p:spPr>
        <p:txBody>
          <a:bodyPr wrap="square">
            <a:normAutofit/>
          </a:bodyPr>
          <a:lstStyle/>
          <a:p>
            <a:pPr algn="ctr">
              <a:defRPr sz="1800" b="1">
                <a:solidFill>
                  <a:srgbClr val="FFFFFF"/>
                </a:solidFill>
              </a:defRPr>
            </a:pPr>
            <a:r>
              <a:t>Auto-Approve All</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457200"/>
            <a:ext cx="11277295" cy="731520"/>
          </a:xfrm>
          <a:prstGeom prst="rect">
            <a:avLst/>
          </a:prstGeom>
          <a:noFill/>
        </p:spPr>
        <p:txBody>
          <a:bodyPr wrap="none">
            <a:spAutoFit/>
          </a:bodyPr>
          <a:lstStyle/>
          <a:p>
            <a:pPr algn="ctr">
              <a:defRPr sz="3600" b="1">
                <a:solidFill>
                  <a:srgbClr val="FFFFFF"/>
                </a:solidFill>
              </a:defRPr>
            </a:pPr>
            <a:r>
              <a:t>Allowlists and Blocklists</a:t>
            </a:r>
          </a:p>
        </p:txBody>
      </p:sp>
      <p:sp>
        <p:nvSpPr>
          <p:cNvPr id="3" name="Rectangle 2"/>
          <p:cNvSpPr/>
          <p:nvPr/>
        </p:nvSpPr>
        <p:spPr>
          <a:xfrm>
            <a:off x="6077559" y="1371600"/>
            <a:ext cx="36576" cy="45720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463040"/>
            <a:ext cx="5364327" cy="731520"/>
          </a:xfrm>
          <a:prstGeom prst="rect">
            <a:avLst/>
          </a:prstGeom>
          <a:noFill/>
        </p:spPr>
        <p:txBody>
          <a:bodyPr wrap="none">
            <a:spAutoFit/>
          </a:bodyPr>
          <a:lstStyle/>
          <a:p>
            <a:pPr algn="ctr">
              <a:defRPr sz="2800" b="1">
                <a:solidFill>
                  <a:srgbClr val="00D4AA"/>
                </a:solidFill>
              </a:defRPr>
            </a:pPr>
            <a:r>
              <a:t>Allow (Auto-approve)</a:t>
            </a:r>
          </a:p>
        </p:txBody>
      </p:sp>
      <p:sp>
        <p:nvSpPr>
          <p:cNvPr id="5" name="TextBox 4"/>
          <p:cNvSpPr txBox="1"/>
          <p:nvPr/>
        </p:nvSpPr>
        <p:spPr>
          <a:xfrm>
            <a:off x="457200" y="2286000"/>
            <a:ext cx="5364327" cy="3657600"/>
          </a:xfrm>
          <a:prstGeom prst="rect">
            <a:avLst/>
          </a:prstGeom>
          <a:noFill/>
        </p:spPr>
        <p:txBody>
          <a:bodyPr wrap="square">
            <a:spAutoFit/>
          </a:bodyPr>
          <a:lstStyle/>
          <a:p>
            <a:pPr>
              <a:spcAft>
                <a:spcPts val="1200"/>
              </a:spcAft>
              <a:defRPr sz="1800">
                <a:solidFill>
                  <a:srgbClr val="FFFFFF"/>
                </a:solidFill>
              </a:defRPr>
            </a:pPr>
            <a:r>
              <a:t>  Bash(npm test) — run tests freely</a:t>
            </a:r>
          </a:p>
          <a:p>
            <a:pPr>
              <a:spcAft>
                <a:spcPts val="1200"/>
              </a:spcAft>
              <a:defRPr sz="1800">
                <a:solidFill>
                  <a:srgbClr val="FFFFFF"/>
                </a:solidFill>
              </a:defRPr>
            </a:pPr>
            <a:r>
              <a:t>  Bash(npm run *) — all npm scripts</a:t>
            </a:r>
          </a:p>
          <a:p>
            <a:pPr>
              <a:spcAft>
                <a:spcPts val="1200"/>
              </a:spcAft>
              <a:defRPr sz="1800">
                <a:solidFill>
                  <a:srgbClr val="FFFFFF"/>
                </a:solidFill>
              </a:defRPr>
            </a:pPr>
            <a:r>
              <a:t>  Bash(git add:*) — stage files</a:t>
            </a:r>
          </a:p>
          <a:p>
            <a:pPr>
              <a:spcAft>
                <a:spcPts val="1200"/>
              </a:spcAft>
              <a:defRPr sz="1800">
                <a:solidFill>
                  <a:srgbClr val="FFFFFF"/>
                </a:solidFill>
              </a:defRPr>
            </a:pPr>
            <a:r>
              <a:t>  Bash(git commit:*) — commit changes</a:t>
            </a:r>
          </a:p>
          <a:p>
            <a:pPr>
              <a:spcAft>
                <a:spcPts val="1200"/>
              </a:spcAft>
              <a:defRPr sz="1800">
                <a:solidFill>
                  <a:srgbClr val="FFFFFF"/>
                </a:solidFill>
              </a:defRPr>
            </a:pPr>
            <a:r>
              <a:t>  Read(**/*) — read any project file</a:t>
            </a:r>
          </a:p>
        </p:txBody>
      </p:sp>
      <p:sp>
        <p:nvSpPr>
          <p:cNvPr id="6" name="TextBox 5"/>
          <p:cNvSpPr txBox="1"/>
          <p:nvPr/>
        </p:nvSpPr>
        <p:spPr>
          <a:xfrm>
            <a:off x="6370167" y="1463040"/>
            <a:ext cx="5364327" cy="731520"/>
          </a:xfrm>
          <a:prstGeom prst="rect">
            <a:avLst/>
          </a:prstGeom>
          <a:noFill/>
        </p:spPr>
        <p:txBody>
          <a:bodyPr wrap="none">
            <a:spAutoFit/>
          </a:bodyPr>
          <a:lstStyle/>
          <a:p>
            <a:pPr algn="ctr">
              <a:defRPr sz="2800" b="1">
                <a:solidFill>
                  <a:srgbClr val="E86B4A"/>
                </a:solidFill>
              </a:defRPr>
            </a:pPr>
            <a:r>
              <a:t>Deny (Always block)</a:t>
            </a:r>
          </a:p>
        </p:txBody>
      </p:sp>
      <p:sp>
        <p:nvSpPr>
          <p:cNvPr id="7" name="TextBox 6"/>
          <p:cNvSpPr txBox="1"/>
          <p:nvPr/>
        </p:nvSpPr>
        <p:spPr>
          <a:xfrm>
            <a:off x="6370167" y="2286000"/>
            <a:ext cx="5364327" cy="3657600"/>
          </a:xfrm>
          <a:prstGeom prst="rect">
            <a:avLst/>
          </a:prstGeom>
          <a:noFill/>
        </p:spPr>
        <p:txBody>
          <a:bodyPr wrap="square">
            <a:spAutoFit/>
          </a:bodyPr>
          <a:lstStyle/>
          <a:p>
            <a:pPr>
              <a:spcAft>
                <a:spcPts val="1200"/>
              </a:spcAft>
              <a:defRPr sz="1800">
                <a:solidFill>
                  <a:srgbClr val="FFFFFF"/>
                </a:solidFill>
              </a:defRPr>
            </a:pPr>
            <a:r>
              <a:t>  Bash(rm -rf:*) — prevent recursive delete</a:t>
            </a:r>
          </a:p>
          <a:p>
            <a:pPr>
              <a:spcAft>
                <a:spcPts val="1200"/>
              </a:spcAft>
              <a:defRPr sz="1800">
                <a:solidFill>
                  <a:srgbClr val="FFFFFF"/>
                </a:solidFill>
              </a:defRPr>
            </a:pPr>
            <a:r>
              <a:t>  Bash(sudo:*) — no elevated access</a:t>
            </a:r>
          </a:p>
          <a:p>
            <a:pPr>
              <a:spcAft>
                <a:spcPts val="1200"/>
              </a:spcAft>
              <a:defRPr sz="1800">
                <a:solidFill>
                  <a:srgbClr val="FFFFFF"/>
                </a:solidFill>
              </a:defRPr>
            </a:pPr>
            <a:r>
              <a:t>  Bash(curl:*) — prevent data exfiltration</a:t>
            </a:r>
          </a:p>
          <a:p>
            <a:pPr>
              <a:spcAft>
                <a:spcPts val="1200"/>
              </a:spcAft>
              <a:defRPr sz="1800">
                <a:solidFill>
                  <a:srgbClr val="FFFFFF"/>
                </a:solidFill>
              </a:defRPr>
            </a:pPr>
            <a:r>
              <a:t>  Read(**/.env) — protect secrets</a:t>
            </a:r>
          </a:p>
          <a:p>
            <a:pPr>
              <a:spcAft>
                <a:spcPts val="1200"/>
              </a:spcAft>
              <a:defRPr sz="1800">
                <a:solidFill>
                  <a:srgbClr val="FFFFFF"/>
                </a:solidFill>
              </a:defRPr>
            </a:pPr>
            <a:r>
              <a:t>  Bash(ssh:*) — no remote access</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457200"/>
            <a:ext cx="11277295" cy="731520"/>
          </a:xfrm>
          <a:prstGeom prst="rect">
            <a:avLst/>
          </a:prstGeom>
          <a:noFill/>
        </p:spPr>
        <p:txBody>
          <a:bodyPr wrap="none">
            <a:spAutoFit/>
          </a:bodyPr>
          <a:lstStyle/>
          <a:p>
            <a:pPr algn="ctr">
              <a:defRPr sz="3600" b="1">
                <a:solidFill>
                  <a:srgbClr val="FFFFFF"/>
                </a:solidFill>
              </a:defRPr>
            </a:pPr>
            <a:r>
              <a:t>.claudeignore for Sensitive Files</a:t>
            </a:r>
          </a:p>
        </p:txBody>
      </p:sp>
      <p:sp>
        <p:nvSpPr>
          <p:cNvPr id="3" name="Rounded Rectangle 2"/>
          <p:cNvSpPr/>
          <p:nvPr/>
        </p:nvSpPr>
        <p:spPr>
          <a:xfrm>
            <a:off x="914400" y="1645920"/>
            <a:ext cx="10362895" cy="4114800"/>
          </a:xfrm>
          <a:prstGeom prst="round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97280" y="1783080"/>
            <a:ext cx="1828800" cy="365760"/>
          </a:xfrm>
          <a:prstGeom prst="rect">
            <a:avLst/>
          </a:prstGeom>
          <a:noFill/>
        </p:spPr>
        <p:txBody>
          <a:bodyPr wrap="none">
            <a:spAutoFit/>
          </a:bodyPr>
          <a:lstStyle/>
          <a:p>
            <a:pPr>
              <a:defRPr sz="1200" b="1">
                <a:solidFill>
                  <a:srgbClr val="00D4AA"/>
                </a:solidFill>
              </a:defRPr>
            </a:pPr>
            <a:r>
              <a:t>GITIGNORE</a:t>
            </a:r>
          </a:p>
        </p:txBody>
      </p:sp>
      <p:sp>
        <p:nvSpPr>
          <p:cNvPr id="5" name="TextBox 4"/>
          <p:cNvSpPr txBox="1"/>
          <p:nvPr/>
        </p:nvSpPr>
        <p:spPr>
          <a:xfrm>
            <a:off x="1097280" y="2194560"/>
            <a:ext cx="9997135" cy="3291840"/>
          </a:xfrm>
          <a:prstGeom prst="rect">
            <a:avLst/>
          </a:prstGeom>
          <a:noFill/>
        </p:spPr>
        <p:txBody>
          <a:bodyPr wrap="square">
            <a:spAutoFit/>
          </a:bodyPr>
          <a:lstStyle/>
          <a:p>
            <a:pPr>
              <a:defRPr sz="1400">
                <a:solidFill>
                  <a:srgbClr val="FFFFFF"/>
                </a:solidFill>
                <a:latin typeface="Consolas"/>
              </a:defRPr>
            </a:pPr>
            <a:r>
              <a:t># .claudeignore - Security</a:t>
            </a:r>
          </a:p>
          <a:p>
            <a:pPr>
              <a:defRPr sz="1400">
                <a:solidFill>
                  <a:srgbClr val="FFFFFF"/>
                </a:solidFill>
                <a:latin typeface="Consolas"/>
              </a:defRPr>
            </a:pPr>
            <a:endParaRPr/>
          </a:p>
          <a:p>
            <a:pPr>
              <a:defRPr sz="1400">
                <a:solidFill>
                  <a:srgbClr val="FFFFFF"/>
                </a:solidFill>
                <a:latin typeface="Consolas"/>
              </a:defRPr>
            </a:pPr>
            <a:r>
              <a:t># Environment and secrets</a:t>
            </a:r>
          </a:p>
          <a:p>
            <a:pPr>
              <a:defRPr sz="1400">
                <a:solidFill>
                  <a:srgbClr val="FFFFFF"/>
                </a:solidFill>
                <a:latin typeface="Consolas"/>
              </a:defRPr>
            </a:pPr>
            <a:r>
              <a:t>.env</a:t>
            </a:r>
          </a:p>
          <a:p>
            <a:pPr>
              <a:defRPr sz="1400">
                <a:solidFill>
                  <a:srgbClr val="FFFFFF"/>
                </a:solidFill>
                <a:latin typeface="Consolas"/>
              </a:defRPr>
            </a:pPr>
            <a:r>
              <a:t>*.key</a:t>
            </a:r>
          </a:p>
          <a:p>
            <a:pPr>
              <a:defRPr sz="1400">
                <a:solidFill>
                  <a:srgbClr val="FFFFFF"/>
                </a:solidFill>
                <a:latin typeface="Consolas"/>
              </a:defRPr>
            </a:pPr>
            <a:r>
              <a:t>*.pem</a:t>
            </a:r>
          </a:p>
          <a:p>
            <a:pPr>
              <a:defRPr sz="1400">
                <a:solidFill>
                  <a:srgbClr val="FFFFFF"/>
                </a:solidFill>
                <a:latin typeface="Consolas"/>
              </a:defRPr>
            </a:pPr>
            <a:r>
              <a:t>secrets/</a:t>
            </a:r>
          </a:p>
          <a:p>
            <a:pPr>
              <a:defRPr sz="1400">
                <a:solidFill>
                  <a:srgbClr val="FFFFFF"/>
                </a:solidFill>
                <a:latin typeface="Consolas"/>
              </a:defRPr>
            </a:pPr>
            <a:endParaRPr/>
          </a:p>
          <a:p>
            <a:pPr>
              <a:defRPr sz="1400">
                <a:solidFill>
                  <a:srgbClr val="FFFFFF"/>
                </a:solidFill>
                <a:latin typeface="Consolas"/>
              </a:defRPr>
            </a:pPr>
            <a:r>
              <a:t># Credentials</a:t>
            </a:r>
          </a:p>
          <a:p>
            <a:pPr>
              <a:defRPr sz="1400">
                <a:solidFill>
                  <a:srgbClr val="FFFFFF"/>
                </a:solidFill>
                <a:latin typeface="Consolas"/>
              </a:defRPr>
            </a:pPr>
            <a:r>
              <a:t>.aws/</a:t>
            </a:r>
          </a:p>
          <a:p>
            <a:pPr>
              <a:defRPr sz="1400">
                <a:solidFill>
                  <a:srgbClr val="FFFFFF"/>
                </a:solidFill>
                <a:latin typeface="Consolas"/>
              </a:defRPr>
            </a:pPr>
            <a:r>
              <a:t>.ssh/</a:t>
            </a:r>
          </a:p>
          <a:p>
            <a:pPr>
              <a:defRPr sz="1400">
                <a:solidFill>
                  <a:srgbClr val="FFFFFF"/>
                </a:solidFill>
                <a:latin typeface="Consolas"/>
              </a:defRPr>
            </a:pPr>
            <a:endParaRPr/>
          </a:p>
          <a:p>
            <a:pPr>
              <a:defRPr sz="1400">
                <a:solidFill>
                  <a:srgbClr val="FFFFFF"/>
                </a:solidFill>
                <a:latin typeface="Consolas"/>
              </a:defRPr>
            </a:pPr>
            <a:r>
              <a:t># Production</a:t>
            </a:r>
          </a:p>
          <a:p>
            <a:pPr>
              <a:defRPr sz="1400">
                <a:solidFill>
                  <a:srgbClr val="FFFFFF"/>
                </a:solidFill>
                <a:latin typeface="Consolas"/>
              </a:defRPr>
            </a:pPr>
            <a:r>
              <a:t>production/</a:t>
            </a:r>
          </a:p>
          <a:p>
            <a:pPr>
              <a:defRPr sz="1400">
                <a:solidFill>
                  <a:srgbClr val="FFFFFF"/>
                </a:solidFill>
                <a:latin typeface="Consolas"/>
              </a:defRPr>
            </a:pPr>
            <a:r>
              <a:t>deploy/</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731520"/>
            <a:ext cx="11277295" cy="914400"/>
          </a:xfrm>
          <a:prstGeom prst="rect">
            <a:avLst/>
          </a:prstGeom>
          <a:noFill/>
        </p:spPr>
        <p:txBody>
          <a:bodyPr wrap="none">
            <a:spAutoFit/>
          </a:bodyPr>
          <a:lstStyle/>
          <a:p>
            <a:pPr algn="ctr">
              <a:defRPr sz="4000" b="1">
                <a:solidFill>
                  <a:srgbClr val="FFFFFF"/>
                </a:solidFill>
              </a:defRPr>
            </a:pPr>
            <a:r>
              <a:t>Enterprise Security</a:t>
            </a:r>
          </a:p>
        </p:txBody>
      </p:sp>
      <p:sp>
        <p:nvSpPr>
          <p:cNvPr id="3" name="Rounded Rectangle 2"/>
          <p:cNvSpPr/>
          <p:nvPr/>
        </p:nvSpPr>
        <p:spPr>
          <a:xfrm>
            <a:off x="2301087" y="2011680"/>
            <a:ext cx="2286000" cy="3860202"/>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2986887" y="2468880"/>
            <a:ext cx="914400" cy="91440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986887" y="2468880"/>
            <a:ext cx="914400" cy="914400"/>
          </a:xfrm>
          <a:prstGeom prst="rect">
            <a:avLst/>
          </a:prstGeom>
          <a:noFill/>
        </p:spPr>
        <p:txBody>
          <a:bodyPr wrap="none" anchor="ctr">
            <a:spAutoFit/>
          </a:bodyPr>
          <a:lstStyle/>
          <a:p>
            <a:pPr algn="ctr">
              <a:defRPr sz="3600" b="1">
                <a:solidFill>
                  <a:srgbClr val="0B0F1A"/>
                </a:solidFill>
              </a:defRPr>
            </a:pPr>
            <a:r>
              <a:t>1</a:t>
            </a:r>
          </a:p>
        </p:txBody>
      </p:sp>
      <p:sp>
        <p:nvSpPr>
          <p:cNvPr id="6" name="TextBox 5"/>
          <p:cNvSpPr txBox="1"/>
          <p:nvPr/>
        </p:nvSpPr>
        <p:spPr>
          <a:xfrm>
            <a:off x="2392527" y="3657600"/>
            <a:ext cx="2103120" cy="1371600"/>
          </a:xfrm>
          <a:prstGeom prst="rect">
            <a:avLst/>
          </a:prstGeom>
          <a:noFill/>
        </p:spPr>
        <p:txBody>
          <a:bodyPr wrap="square">
            <a:normAutofit fontScale="92500"/>
          </a:bodyPr>
          <a:lstStyle/>
          <a:p>
            <a:pPr algn="ctr">
              <a:defRPr sz="1800" b="1">
                <a:solidFill>
                  <a:srgbClr val="FFFFFF"/>
                </a:solidFill>
              </a:defRPr>
            </a:pPr>
            <a:r>
              <a:t>Managed Settings</a:t>
            </a:r>
          </a:p>
          <a:p>
            <a:pPr algn="ctr">
              <a:spcBef>
                <a:spcPts val="800"/>
              </a:spcBef>
              <a:defRPr sz="1300">
                <a:solidFill>
                  <a:srgbClr val="8B95A5"/>
                </a:solidFill>
              </a:defRPr>
            </a:pPr>
            <a:r>
              <a:t>IT deploys policies that can't be overridden.</a:t>
            </a:r>
            <a:br/>
            <a:r>
              <a:t>Disable bypass mode.</a:t>
            </a:r>
            <a:br/>
            <a:r>
              <a:t>Restrict allowed MCP servers.</a:t>
            </a:r>
            <a:br/>
            <a:r>
              <a:t>Enforce hooks across all users.</a:t>
            </a:r>
          </a:p>
        </p:txBody>
      </p:sp>
      <p:sp>
        <p:nvSpPr>
          <p:cNvPr id="7" name="Rounded Rectangle 6"/>
          <p:cNvSpPr/>
          <p:nvPr/>
        </p:nvSpPr>
        <p:spPr>
          <a:xfrm>
            <a:off x="4952847" y="2011680"/>
            <a:ext cx="2286000" cy="3860202"/>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5638647" y="2468880"/>
            <a:ext cx="914400" cy="91440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638647" y="2468880"/>
            <a:ext cx="914400" cy="914400"/>
          </a:xfrm>
          <a:prstGeom prst="rect">
            <a:avLst/>
          </a:prstGeom>
          <a:noFill/>
        </p:spPr>
        <p:txBody>
          <a:bodyPr wrap="none" anchor="ctr">
            <a:spAutoFit/>
          </a:bodyPr>
          <a:lstStyle/>
          <a:p>
            <a:pPr algn="ctr">
              <a:defRPr sz="3600" b="1">
                <a:solidFill>
                  <a:srgbClr val="0B0F1A"/>
                </a:solidFill>
              </a:defRPr>
            </a:pPr>
            <a:r>
              <a:t>2</a:t>
            </a:r>
          </a:p>
        </p:txBody>
      </p:sp>
      <p:sp>
        <p:nvSpPr>
          <p:cNvPr id="10" name="TextBox 9"/>
          <p:cNvSpPr txBox="1"/>
          <p:nvPr/>
        </p:nvSpPr>
        <p:spPr>
          <a:xfrm>
            <a:off x="5044287" y="3657600"/>
            <a:ext cx="2103120" cy="1371600"/>
          </a:xfrm>
          <a:prstGeom prst="rect">
            <a:avLst/>
          </a:prstGeom>
          <a:noFill/>
        </p:spPr>
        <p:txBody>
          <a:bodyPr wrap="square">
            <a:normAutofit fontScale="85000" lnSpcReduction="10000"/>
          </a:bodyPr>
          <a:lstStyle/>
          <a:p>
            <a:pPr algn="ctr">
              <a:defRPr sz="1800" b="1">
                <a:solidFill>
                  <a:srgbClr val="FFFFFF"/>
                </a:solidFill>
              </a:defRPr>
            </a:pPr>
            <a:r>
              <a:t>Audit Logging</a:t>
            </a:r>
          </a:p>
          <a:p>
            <a:pPr algn="ctr">
              <a:spcBef>
                <a:spcPts val="800"/>
              </a:spcBef>
              <a:defRPr sz="1300">
                <a:solidFill>
                  <a:srgbClr val="8B95A5"/>
                </a:solidFill>
              </a:defRPr>
            </a:pPr>
            <a:r>
              <a:t>Track all Claude Code activity.</a:t>
            </a:r>
            <a:br/>
            <a:r>
              <a:t>File changes, commands run, tools used.</a:t>
            </a:r>
            <a:br/>
            <a:r>
              <a:t>Export to SIEM (Splunk, Datadog).</a:t>
            </a:r>
            <a:br/>
            <a:r>
              <a:t>Compliance API for automated monitoring.</a:t>
            </a:r>
          </a:p>
        </p:txBody>
      </p:sp>
      <p:sp>
        <p:nvSpPr>
          <p:cNvPr id="11" name="Rounded Rectangle 10"/>
          <p:cNvSpPr/>
          <p:nvPr/>
        </p:nvSpPr>
        <p:spPr>
          <a:xfrm>
            <a:off x="7604607" y="2011680"/>
            <a:ext cx="2286000" cy="3860202"/>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8290407" y="2468880"/>
            <a:ext cx="914400" cy="91440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290407" y="2468880"/>
            <a:ext cx="914400" cy="914400"/>
          </a:xfrm>
          <a:prstGeom prst="rect">
            <a:avLst/>
          </a:prstGeom>
          <a:noFill/>
        </p:spPr>
        <p:txBody>
          <a:bodyPr wrap="none" anchor="ctr">
            <a:spAutoFit/>
          </a:bodyPr>
          <a:lstStyle/>
          <a:p>
            <a:pPr algn="ctr">
              <a:defRPr sz="3600" b="1">
                <a:solidFill>
                  <a:srgbClr val="0B0F1A"/>
                </a:solidFill>
              </a:defRPr>
            </a:pPr>
            <a:r>
              <a:t>3</a:t>
            </a:r>
          </a:p>
        </p:txBody>
      </p:sp>
      <p:sp>
        <p:nvSpPr>
          <p:cNvPr id="14" name="TextBox 13"/>
          <p:cNvSpPr txBox="1"/>
          <p:nvPr/>
        </p:nvSpPr>
        <p:spPr>
          <a:xfrm>
            <a:off x="7696047" y="3657600"/>
            <a:ext cx="2103120" cy="1371600"/>
          </a:xfrm>
          <a:prstGeom prst="rect">
            <a:avLst/>
          </a:prstGeom>
          <a:noFill/>
        </p:spPr>
        <p:txBody>
          <a:bodyPr wrap="square">
            <a:normAutofit lnSpcReduction="10000"/>
          </a:bodyPr>
          <a:lstStyle/>
          <a:p>
            <a:pPr algn="ctr">
              <a:defRPr sz="1800" b="1">
                <a:solidFill>
                  <a:srgbClr val="FFFFFF"/>
                </a:solidFill>
              </a:defRPr>
            </a:pPr>
            <a:r>
              <a:t>Access Control</a:t>
            </a:r>
          </a:p>
          <a:p>
            <a:pPr algn="ctr">
              <a:spcBef>
                <a:spcPts val="800"/>
              </a:spcBef>
              <a:defRPr sz="1300">
                <a:solidFill>
                  <a:srgbClr val="8B95A5"/>
                </a:solidFill>
              </a:defRPr>
            </a:pPr>
            <a:r>
              <a:t>SSO/SAML + SCIM provisioning.</a:t>
            </a:r>
            <a:br/>
            <a:r>
              <a:t>Standard vs Premium seats.</a:t>
            </a:r>
            <a:br/>
            <a:r>
              <a:t>Per-user spending caps.</a:t>
            </a:r>
            <a:br/>
            <a:r>
              <a:t>Zero-Data-Retention option.</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457200"/>
            <a:ext cx="11277295" cy="731520"/>
          </a:xfrm>
          <a:prstGeom prst="rect">
            <a:avLst/>
          </a:prstGeom>
          <a:noFill/>
        </p:spPr>
        <p:txBody>
          <a:bodyPr wrap="none">
            <a:spAutoFit/>
          </a:bodyPr>
          <a:lstStyle/>
          <a:p>
            <a:pPr algn="ctr">
              <a:defRPr sz="3600" b="1">
                <a:solidFill>
                  <a:srgbClr val="FFFFFF"/>
                </a:solidFill>
              </a:defRPr>
            </a:pPr>
            <a:r>
              <a:t>Smart Permission Rules</a:t>
            </a:r>
          </a:p>
        </p:txBody>
      </p:sp>
      <p:sp>
        <p:nvSpPr>
          <p:cNvPr id="3" name="Rectangle 2"/>
          <p:cNvSpPr/>
          <p:nvPr/>
        </p:nvSpPr>
        <p:spPr>
          <a:xfrm>
            <a:off x="6077559" y="1371600"/>
            <a:ext cx="36576" cy="45720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463040"/>
            <a:ext cx="5364327" cy="731520"/>
          </a:xfrm>
          <a:prstGeom prst="rect">
            <a:avLst/>
          </a:prstGeom>
          <a:noFill/>
        </p:spPr>
        <p:txBody>
          <a:bodyPr wrap="none">
            <a:spAutoFit/>
          </a:bodyPr>
          <a:lstStyle/>
          <a:p>
            <a:pPr algn="ctr">
              <a:defRPr sz="2800" b="1">
                <a:solidFill>
                  <a:srgbClr val="E86B4A"/>
                </a:solidFill>
              </a:defRPr>
            </a:pPr>
            <a:r>
              <a:t>Too Restrictive</a:t>
            </a:r>
          </a:p>
        </p:txBody>
      </p:sp>
      <p:sp>
        <p:nvSpPr>
          <p:cNvPr id="5" name="TextBox 4"/>
          <p:cNvSpPr txBox="1"/>
          <p:nvPr/>
        </p:nvSpPr>
        <p:spPr>
          <a:xfrm>
            <a:off x="457200" y="2286000"/>
            <a:ext cx="5364327" cy="3657600"/>
          </a:xfrm>
          <a:prstGeom prst="rect">
            <a:avLst/>
          </a:prstGeom>
          <a:noFill/>
        </p:spPr>
        <p:txBody>
          <a:bodyPr wrap="square">
            <a:spAutoFit/>
          </a:bodyPr>
          <a:lstStyle/>
          <a:p>
            <a:pPr>
              <a:spcAft>
                <a:spcPts val="1200"/>
              </a:spcAft>
              <a:defRPr sz="1800">
                <a:solidFill>
                  <a:srgbClr val="FFFFFF"/>
                </a:solidFill>
              </a:defRPr>
            </a:pPr>
            <a:r>
              <a:t>  Approve every single file read</a:t>
            </a:r>
          </a:p>
          <a:p>
            <a:pPr>
              <a:spcAft>
                <a:spcPts val="1200"/>
              </a:spcAft>
              <a:defRPr sz="1800">
                <a:solidFill>
                  <a:srgbClr val="FFFFFF"/>
                </a:solidFill>
              </a:defRPr>
            </a:pPr>
            <a:r>
              <a:t>  Confirm every npm command</a:t>
            </a:r>
          </a:p>
          <a:p>
            <a:pPr>
              <a:spcAft>
                <a:spcPts val="1200"/>
              </a:spcAft>
              <a:defRPr sz="1800">
                <a:solidFill>
                  <a:srgbClr val="FFFFFF"/>
                </a:solidFill>
              </a:defRPr>
            </a:pPr>
            <a:r>
              <a:t>  10 permission prompts per task</a:t>
            </a:r>
          </a:p>
          <a:p>
            <a:pPr>
              <a:spcAft>
                <a:spcPts val="1200"/>
              </a:spcAft>
              <a:defRPr sz="1800">
                <a:solidFill>
                  <a:srgbClr val="FFFFFF"/>
                </a:solidFill>
              </a:defRPr>
            </a:pPr>
            <a:r>
              <a:t>  Developers disable permissions entirely</a:t>
            </a:r>
          </a:p>
          <a:p>
            <a:pPr>
              <a:spcAft>
                <a:spcPts val="1200"/>
              </a:spcAft>
              <a:defRPr sz="1800">
                <a:solidFill>
                  <a:srgbClr val="FFFFFF"/>
                </a:solidFill>
              </a:defRPr>
            </a:pPr>
            <a:r>
              <a:t>  Security theater — no actual protection</a:t>
            </a:r>
          </a:p>
        </p:txBody>
      </p:sp>
      <p:sp>
        <p:nvSpPr>
          <p:cNvPr id="6" name="TextBox 5"/>
          <p:cNvSpPr txBox="1"/>
          <p:nvPr/>
        </p:nvSpPr>
        <p:spPr>
          <a:xfrm>
            <a:off x="6370167" y="1463040"/>
            <a:ext cx="5364327" cy="731520"/>
          </a:xfrm>
          <a:prstGeom prst="rect">
            <a:avLst/>
          </a:prstGeom>
          <a:noFill/>
        </p:spPr>
        <p:txBody>
          <a:bodyPr wrap="none">
            <a:spAutoFit/>
          </a:bodyPr>
          <a:lstStyle/>
          <a:p>
            <a:pPr algn="ctr">
              <a:defRPr sz="2800" b="1">
                <a:solidFill>
                  <a:srgbClr val="00D4AA"/>
                </a:solidFill>
              </a:defRPr>
            </a:pPr>
            <a:r>
              <a:t>Smart Rules</a:t>
            </a:r>
          </a:p>
        </p:txBody>
      </p:sp>
      <p:sp>
        <p:nvSpPr>
          <p:cNvPr id="7" name="TextBox 6"/>
          <p:cNvSpPr txBox="1"/>
          <p:nvPr/>
        </p:nvSpPr>
        <p:spPr>
          <a:xfrm>
            <a:off x="6370167" y="2286000"/>
            <a:ext cx="5364327" cy="3657600"/>
          </a:xfrm>
          <a:prstGeom prst="rect">
            <a:avLst/>
          </a:prstGeom>
          <a:noFill/>
        </p:spPr>
        <p:txBody>
          <a:bodyPr wrap="square">
            <a:spAutoFit/>
          </a:bodyPr>
          <a:lstStyle/>
          <a:p>
            <a:pPr>
              <a:spcAft>
                <a:spcPts val="1200"/>
              </a:spcAft>
              <a:defRPr sz="1800">
                <a:solidFill>
                  <a:srgbClr val="FFFFFF"/>
                </a:solidFill>
              </a:defRPr>
            </a:pPr>
            <a:r>
              <a:t>  Allow reads for all project files</a:t>
            </a:r>
          </a:p>
          <a:p>
            <a:pPr>
              <a:spcAft>
                <a:spcPts val="1200"/>
              </a:spcAft>
              <a:defRPr sz="1800">
                <a:solidFill>
                  <a:srgbClr val="FFFFFF"/>
                </a:solidFill>
              </a:defRPr>
            </a:pPr>
            <a:r>
              <a:t>  Allow npm test, npm run, git commands</a:t>
            </a:r>
          </a:p>
          <a:p>
            <a:pPr>
              <a:spcAft>
                <a:spcPts val="1200"/>
              </a:spcAft>
              <a:defRPr sz="1800">
                <a:solidFill>
                  <a:srgbClr val="FFFFFF"/>
                </a:solidFill>
              </a:defRPr>
            </a:pPr>
            <a:r>
              <a:t>  Deny rm -rf, sudo, curl, ssh</a:t>
            </a:r>
          </a:p>
          <a:p>
            <a:pPr>
              <a:spcAft>
                <a:spcPts val="1200"/>
              </a:spcAft>
              <a:defRPr sz="1800">
                <a:solidFill>
                  <a:srgbClr val="FFFFFF"/>
                </a:solidFill>
              </a:defRPr>
            </a:pPr>
            <a:r>
              <a:t>  2-3 prompts per task for real decisions</a:t>
            </a:r>
          </a:p>
          <a:p>
            <a:pPr>
              <a:spcAft>
                <a:spcPts val="1200"/>
              </a:spcAft>
              <a:defRPr sz="1800">
                <a:solidFill>
                  <a:srgbClr val="FFFFFF"/>
                </a:solidFill>
              </a:defRPr>
            </a:pPr>
            <a:r>
              <a:t>  Developers keep permissions enabled</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731520" y="2286000"/>
            <a:ext cx="10728655" cy="1371600"/>
          </a:xfrm>
          <a:prstGeom prst="rect">
            <a:avLst/>
          </a:prstGeom>
          <a:noFill/>
        </p:spPr>
        <p:txBody>
          <a:bodyPr wrap="square">
            <a:spAutoFit/>
          </a:bodyPr>
          <a:lstStyle/>
          <a:p>
            <a:pPr algn="ctr">
              <a:defRPr sz="5200" b="1">
                <a:solidFill>
                  <a:srgbClr val="FFFFFF"/>
                </a:solidFill>
              </a:defRPr>
            </a:pPr>
            <a:r>
              <a:t>Engineering Principle: Default to Safe Behavior</a:t>
            </a:r>
          </a:p>
        </p:txBody>
      </p:sp>
      <p:sp>
        <p:nvSpPr>
          <p:cNvPr id="3" name="TextBox 2"/>
          <p:cNvSpPr txBox="1"/>
          <p:nvPr/>
        </p:nvSpPr>
        <p:spPr>
          <a:xfrm>
            <a:off x="914400" y="4127350"/>
            <a:ext cx="10362895" cy="914400"/>
          </a:xfrm>
          <a:prstGeom prst="rect">
            <a:avLst/>
          </a:prstGeom>
          <a:noFill/>
        </p:spPr>
        <p:txBody>
          <a:bodyPr wrap="square">
            <a:spAutoFit/>
          </a:bodyPr>
          <a:lstStyle/>
          <a:p>
            <a:pPr algn="ctr">
              <a:defRPr sz="2400">
                <a:solidFill>
                  <a:srgbClr val="8B95A5"/>
                </a:solidFill>
              </a:defRPr>
            </a:pPr>
            <a:r>
              <a:rPr dirty="0"/>
              <a:t>When uncertain, Claude Code asks first.</a:t>
            </a:r>
          </a:p>
          <a:p>
            <a:pPr>
              <a:defRPr sz="2400">
                <a:solidFill>
                  <a:srgbClr val="8B95A5"/>
                </a:solidFill>
              </a:defRPr>
            </a:pPr>
            <a:endParaRPr dirty="0"/>
          </a:p>
          <a:p>
            <a:pPr>
              <a:defRPr sz="2400">
                <a:solidFill>
                  <a:srgbClr val="8B95A5"/>
                </a:solidFill>
              </a:defRPr>
            </a:pPr>
            <a:r>
              <a:rPr dirty="0"/>
              <a:t>Safety &gt; Speed.</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1828800"/>
            <a:ext cx="11277295" cy="1371600"/>
          </a:xfrm>
          <a:prstGeom prst="rect">
            <a:avLst/>
          </a:prstGeom>
          <a:noFill/>
        </p:spPr>
        <p:txBody>
          <a:bodyPr wrap="none">
            <a:spAutoFit/>
          </a:bodyPr>
          <a:lstStyle/>
          <a:p>
            <a:pPr algn="ctr">
              <a:defRPr sz="9600" b="1">
                <a:solidFill>
                  <a:srgbClr val="00D4AA"/>
                </a:solidFill>
              </a:defRPr>
            </a:pPr>
            <a:r>
              <a:t>DEMO</a:t>
            </a:r>
          </a:p>
        </p:txBody>
      </p:sp>
      <p:sp>
        <p:nvSpPr>
          <p:cNvPr id="3" name="Rectangle 2"/>
          <p:cNvSpPr/>
          <p:nvPr/>
        </p:nvSpPr>
        <p:spPr>
          <a:xfrm>
            <a:off x="4724247" y="3474720"/>
            <a:ext cx="2743200" cy="54864"/>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3840480"/>
            <a:ext cx="11277295" cy="914400"/>
          </a:xfrm>
          <a:prstGeom prst="rect">
            <a:avLst/>
          </a:prstGeom>
          <a:noFill/>
        </p:spPr>
        <p:txBody>
          <a:bodyPr wrap="square">
            <a:spAutoFit/>
          </a:bodyPr>
          <a:lstStyle/>
          <a:p>
            <a:pPr algn="ctr">
              <a:defRPr sz="3200" b="1">
                <a:solidFill>
                  <a:srgbClr val="FFFFFF"/>
                </a:solidFill>
              </a:defRPr>
            </a:pPr>
            <a:r>
              <a:t>Secure Configuration</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914400" y="1371600"/>
            <a:ext cx="914400" cy="914400"/>
          </a:xfrm>
          <a:prstGeom prst="rect">
            <a:avLst/>
          </a:prstGeom>
          <a:noFill/>
        </p:spPr>
        <p:txBody>
          <a:bodyPr wrap="none">
            <a:spAutoFit/>
          </a:bodyPr>
          <a:lstStyle/>
          <a:p>
            <a:pPr>
              <a:defRPr sz="12000">
                <a:solidFill>
                  <a:srgbClr val="00D4AA"/>
                </a:solidFill>
              </a:defRPr>
            </a:pPr>
            <a:r>
              <a:t>"</a:t>
            </a:r>
          </a:p>
        </p:txBody>
      </p:sp>
      <p:sp>
        <p:nvSpPr>
          <p:cNvPr id="3" name="TextBox 2"/>
          <p:cNvSpPr txBox="1"/>
          <p:nvPr/>
        </p:nvSpPr>
        <p:spPr>
          <a:xfrm>
            <a:off x="1371600" y="2286000"/>
            <a:ext cx="9448495" cy="2286000"/>
          </a:xfrm>
          <a:prstGeom prst="rect">
            <a:avLst/>
          </a:prstGeom>
          <a:noFill/>
        </p:spPr>
        <p:txBody>
          <a:bodyPr wrap="square">
            <a:spAutoFit/>
          </a:bodyPr>
          <a:lstStyle/>
          <a:p>
            <a:pPr algn="ctr">
              <a:defRPr sz="3600" i="1">
                <a:solidFill>
                  <a:srgbClr val="FFFFFF"/>
                </a:solidFill>
              </a:defRPr>
            </a:pPr>
            <a:r>
              <a:t>Break</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Rectangle 1"/>
          <p:cNvSpPr/>
          <p:nvPr/>
        </p:nvSpPr>
        <p:spPr>
          <a:xfrm>
            <a:off x="0" y="1828800"/>
            <a:ext cx="137160" cy="32004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0"/>
            <a:ext cx="11277295" cy="1371600"/>
          </a:xfrm>
          <a:prstGeom prst="rect">
            <a:avLst/>
          </a:prstGeom>
          <a:noFill/>
        </p:spPr>
        <p:txBody>
          <a:bodyPr wrap="square">
            <a:spAutoFit/>
          </a:bodyPr>
          <a:lstStyle/>
          <a:p>
            <a:pPr>
              <a:defRPr sz="5600" b="1">
                <a:solidFill>
                  <a:srgbClr val="FFFFFF"/>
                </a:solidFill>
              </a:defRPr>
            </a:pPr>
            <a:r>
              <a:t>Git Integration</a:t>
            </a:r>
          </a:p>
        </p:txBody>
      </p:sp>
      <p:sp>
        <p:nvSpPr>
          <p:cNvPr id="4" name="TextBox 3"/>
          <p:cNvSpPr txBox="1"/>
          <p:nvPr/>
        </p:nvSpPr>
        <p:spPr>
          <a:xfrm>
            <a:off x="457200" y="3840480"/>
            <a:ext cx="11277295" cy="914400"/>
          </a:xfrm>
          <a:prstGeom prst="rect">
            <a:avLst/>
          </a:prstGeom>
          <a:noFill/>
        </p:spPr>
        <p:txBody>
          <a:bodyPr wrap="square">
            <a:spAutoFit/>
          </a:bodyPr>
          <a:lstStyle/>
          <a:p>
            <a:pPr>
              <a:defRPr sz="2400">
                <a:solidFill>
                  <a:srgbClr val="8B95A5"/>
                </a:solidFill>
              </a:defRPr>
            </a:pPr>
            <a:r>
              <a:t>AI-Powered Version Control</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457200"/>
            <a:ext cx="11277295" cy="731520"/>
          </a:xfrm>
          <a:prstGeom prst="rect">
            <a:avLst/>
          </a:prstGeom>
          <a:noFill/>
        </p:spPr>
        <p:txBody>
          <a:bodyPr wrap="none">
            <a:spAutoFit/>
          </a:bodyPr>
          <a:lstStyle/>
          <a:p>
            <a:pPr algn="ctr">
              <a:defRPr sz="3600" b="1">
                <a:solidFill>
                  <a:srgbClr val="FFFFFF"/>
                </a:solidFill>
              </a:defRPr>
            </a:pPr>
            <a:r>
              <a:t>Auto-Commit Workflows</a:t>
            </a:r>
          </a:p>
        </p:txBody>
      </p:sp>
      <p:sp>
        <p:nvSpPr>
          <p:cNvPr id="3" name="Rectangle 2"/>
          <p:cNvSpPr/>
          <p:nvPr/>
        </p:nvSpPr>
        <p:spPr>
          <a:xfrm>
            <a:off x="6077559" y="1371600"/>
            <a:ext cx="36576" cy="45720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463040"/>
            <a:ext cx="5364327" cy="731520"/>
          </a:xfrm>
          <a:prstGeom prst="rect">
            <a:avLst/>
          </a:prstGeom>
          <a:noFill/>
        </p:spPr>
        <p:txBody>
          <a:bodyPr wrap="none">
            <a:spAutoFit/>
          </a:bodyPr>
          <a:lstStyle/>
          <a:p>
            <a:pPr algn="ctr">
              <a:defRPr sz="2800" b="1">
                <a:solidFill>
                  <a:srgbClr val="00D4AA"/>
                </a:solidFill>
              </a:defRPr>
            </a:pPr>
            <a:r>
              <a:t>The Workflow</a:t>
            </a:r>
          </a:p>
        </p:txBody>
      </p:sp>
      <p:sp>
        <p:nvSpPr>
          <p:cNvPr id="5" name="TextBox 4"/>
          <p:cNvSpPr txBox="1"/>
          <p:nvPr/>
        </p:nvSpPr>
        <p:spPr>
          <a:xfrm>
            <a:off x="457200" y="2286000"/>
            <a:ext cx="5364327" cy="3657600"/>
          </a:xfrm>
          <a:prstGeom prst="rect">
            <a:avLst/>
          </a:prstGeom>
          <a:noFill/>
        </p:spPr>
        <p:txBody>
          <a:bodyPr wrap="square">
            <a:spAutoFit/>
          </a:bodyPr>
          <a:lstStyle/>
          <a:p>
            <a:pPr>
              <a:spcAft>
                <a:spcPts val="1200"/>
              </a:spcAft>
              <a:defRPr sz="1800">
                <a:solidFill>
                  <a:srgbClr val="FFFFFF"/>
                </a:solidFill>
              </a:defRPr>
            </a:pPr>
            <a:r>
              <a:t>  'Commit this change with a descriptive message'</a:t>
            </a:r>
          </a:p>
          <a:p>
            <a:pPr>
              <a:spcAft>
                <a:spcPts val="1200"/>
              </a:spcAft>
              <a:defRPr sz="1800">
                <a:solidFill>
                  <a:srgbClr val="FFFFFF"/>
                </a:solidFill>
              </a:defRPr>
            </a:pPr>
            <a:r>
              <a:t>  Claude analyzes the diff</a:t>
            </a:r>
          </a:p>
          <a:p>
            <a:pPr>
              <a:spcAft>
                <a:spcPts val="1200"/>
              </a:spcAft>
              <a:defRPr sz="1800">
                <a:solidFill>
                  <a:srgbClr val="FFFFFF"/>
                </a:solidFill>
              </a:defRPr>
            </a:pPr>
            <a:r>
              <a:t>  Generates conventional commit message</a:t>
            </a:r>
          </a:p>
          <a:p>
            <a:pPr>
              <a:spcAft>
                <a:spcPts val="1200"/>
              </a:spcAft>
              <a:defRPr sz="1800">
                <a:solidFill>
                  <a:srgbClr val="FFFFFF"/>
                </a:solidFill>
              </a:defRPr>
            </a:pPr>
            <a:r>
              <a:t>  Stages appropriate files</a:t>
            </a:r>
          </a:p>
          <a:p>
            <a:pPr>
              <a:spcAft>
                <a:spcPts val="1200"/>
              </a:spcAft>
              <a:defRPr sz="1800">
                <a:solidFill>
                  <a:srgbClr val="FFFFFF"/>
                </a:solidFill>
              </a:defRPr>
            </a:pPr>
            <a:r>
              <a:t>  Creates the commit</a:t>
            </a:r>
          </a:p>
        </p:txBody>
      </p:sp>
      <p:sp>
        <p:nvSpPr>
          <p:cNvPr id="6" name="TextBox 5"/>
          <p:cNvSpPr txBox="1"/>
          <p:nvPr/>
        </p:nvSpPr>
        <p:spPr>
          <a:xfrm>
            <a:off x="6370167" y="1463040"/>
            <a:ext cx="5364327" cy="731520"/>
          </a:xfrm>
          <a:prstGeom prst="rect">
            <a:avLst/>
          </a:prstGeom>
          <a:noFill/>
        </p:spPr>
        <p:txBody>
          <a:bodyPr wrap="none">
            <a:spAutoFit/>
          </a:bodyPr>
          <a:lstStyle/>
          <a:p>
            <a:pPr algn="ctr">
              <a:defRPr sz="2800" b="1">
                <a:solidFill>
                  <a:srgbClr val="E86B4A"/>
                </a:solidFill>
              </a:defRPr>
            </a:pPr>
            <a:r>
              <a:t>Pro Tips</a:t>
            </a:r>
          </a:p>
        </p:txBody>
      </p:sp>
      <p:sp>
        <p:nvSpPr>
          <p:cNvPr id="7" name="TextBox 6"/>
          <p:cNvSpPr txBox="1"/>
          <p:nvPr/>
        </p:nvSpPr>
        <p:spPr>
          <a:xfrm>
            <a:off x="6370167" y="2286000"/>
            <a:ext cx="5364327" cy="3657600"/>
          </a:xfrm>
          <a:prstGeom prst="rect">
            <a:avLst/>
          </a:prstGeom>
          <a:noFill/>
        </p:spPr>
        <p:txBody>
          <a:bodyPr wrap="square">
            <a:spAutoFit/>
          </a:bodyPr>
          <a:lstStyle/>
          <a:p>
            <a:pPr>
              <a:spcAft>
                <a:spcPts val="1200"/>
              </a:spcAft>
              <a:defRPr sz="1800">
                <a:solidFill>
                  <a:srgbClr val="FFFFFF"/>
                </a:solidFill>
              </a:defRPr>
            </a:pPr>
            <a:r>
              <a:t>  'Use conventional commits' in CLAUDE.md</a:t>
            </a:r>
          </a:p>
          <a:p>
            <a:pPr>
              <a:spcAft>
                <a:spcPts val="1200"/>
              </a:spcAft>
              <a:defRPr sz="1800">
                <a:solidFill>
                  <a:srgbClr val="FFFFFF"/>
                </a:solidFill>
              </a:defRPr>
            </a:pPr>
            <a:r>
              <a:t>  Claude follows: feat:, fix:, docs:, refactor:</a:t>
            </a:r>
          </a:p>
          <a:p>
            <a:pPr>
              <a:spcAft>
                <a:spcPts val="1200"/>
              </a:spcAft>
              <a:defRPr sz="1800">
                <a:solidFill>
                  <a:srgbClr val="FFFFFF"/>
                </a:solidFill>
              </a:defRPr>
            </a:pPr>
            <a:r>
              <a:t>  Multi-file changes get grouped logically</a:t>
            </a:r>
          </a:p>
          <a:p>
            <a:pPr>
              <a:spcAft>
                <a:spcPts val="1200"/>
              </a:spcAft>
              <a:defRPr sz="1800">
                <a:solidFill>
                  <a:srgbClr val="FFFFFF"/>
                </a:solidFill>
              </a:defRPr>
            </a:pPr>
            <a:r>
              <a:t>  Add '--no-verify' for speed (skip hooks)</a:t>
            </a:r>
          </a:p>
          <a:p>
            <a:pPr>
              <a:spcAft>
                <a:spcPts val="1200"/>
              </a:spcAft>
              <a:defRPr sz="1800">
                <a:solidFill>
                  <a:srgbClr val="FFFFFF"/>
                </a:solidFill>
              </a:defRPr>
            </a:pPr>
            <a:r>
              <a:t>  Always review: git log --oneline after</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457200"/>
            <a:ext cx="11277295" cy="731520"/>
          </a:xfrm>
          <a:prstGeom prst="rect">
            <a:avLst/>
          </a:prstGeom>
          <a:noFill/>
        </p:spPr>
        <p:txBody>
          <a:bodyPr wrap="none">
            <a:spAutoFit/>
          </a:bodyPr>
          <a:lstStyle/>
          <a:p>
            <a:pPr algn="ctr">
              <a:defRPr sz="3600" b="1">
                <a:solidFill>
                  <a:srgbClr val="FFFFFF"/>
                </a:solidFill>
              </a:defRPr>
            </a:pPr>
            <a:r>
              <a:t>Branch Creation &amp; Management</a:t>
            </a:r>
          </a:p>
        </p:txBody>
      </p:sp>
      <p:sp>
        <p:nvSpPr>
          <p:cNvPr id="3" name="Rectangle 2"/>
          <p:cNvSpPr/>
          <p:nvPr/>
        </p:nvSpPr>
        <p:spPr>
          <a:xfrm>
            <a:off x="6077559" y="1371600"/>
            <a:ext cx="36576" cy="45720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463040"/>
            <a:ext cx="5364327" cy="731520"/>
          </a:xfrm>
          <a:prstGeom prst="rect">
            <a:avLst/>
          </a:prstGeom>
          <a:noFill/>
        </p:spPr>
        <p:txBody>
          <a:bodyPr wrap="none">
            <a:spAutoFit/>
          </a:bodyPr>
          <a:lstStyle/>
          <a:p>
            <a:pPr algn="ctr">
              <a:defRPr sz="2800" b="1">
                <a:solidFill>
                  <a:srgbClr val="00D4AA"/>
                </a:solidFill>
              </a:defRPr>
            </a:pPr>
            <a:r>
              <a:t>Branch Commands</a:t>
            </a:r>
          </a:p>
        </p:txBody>
      </p:sp>
      <p:sp>
        <p:nvSpPr>
          <p:cNvPr id="5" name="TextBox 4"/>
          <p:cNvSpPr txBox="1"/>
          <p:nvPr/>
        </p:nvSpPr>
        <p:spPr>
          <a:xfrm>
            <a:off x="457200" y="2286000"/>
            <a:ext cx="5364327" cy="3657600"/>
          </a:xfrm>
          <a:prstGeom prst="rect">
            <a:avLst/>
          </a:prstGeom>
          <a:noFill/>
        </p:spPr>
        <p:txBody>
          <a:bodyPr wrap="square">
            <a:spAutoFit/>
          </a:bodyPr>
          <a:lstStyle/>
          <a:p>
            <a:pPr>
              <a:spcAft>
                <a:spcPts val="1200"/>
              </a:spcAft>
              <a:defRPr sz="1800">
                <a:solidFill>
                  <a:srgbClr val="FFFFFF"/>
                </a:solidFill>
              </a:defRPr>
            </a:pPr>
            <a:r>
              <a:t>  'Create a feature branch for user-auth'</a:t>
            </a:r>
          </a:p>
          <a:p>
            <a:pPr>
              <a:spcAft>
                <a:spcPts val="1200"/>
              </a:spcAft>
              <a:defRPr sz="1800">
                <a:solidFill>
                  <a:srgbClr val="FFFFFF"/>
                </a:solidFill>
              </a:defRPr>
            </a:pPr>
            <a:r>
              <a:t>  'Switch to the api-refactor branch'</a:t>
            </a:r>
          </a:p>
          <a:p>
            <a:pPr>
              <a:spcAft>
                <a:spcPts val="1200"/>
              </a:spcAft>
              <a:defRPr sz="1800">
                <a:solidFill>
                  <a:srgbClr val="FFFFFF"/>
                </a:solidFill>
              </a:defRPr>
            </a:pPr>
            <a:r>
              <a:t>  'Show me all branches and their status'</a:t>
            </a:r>
          </a:p>
          <a:p>
            <a:pPr>
              <a:spcAft>
                <a:spcPts val="1200"/>
              </a:spcAft>
              <a:defRPr sz="1800">
                <a:solidFill>
                  <a:srgbClr val="FFFFFF"/>
                </a:solidFill>
              </a:defRPr>
            </a:pPr>
            <a:r>
              <a:t>  'Merge feature-auth into main'</a:t>
            </a:r>
          </a:p>
          <a:p>
            <a:pPr>
              <a:spcAft>
                <a:spcPts val="1200"/>
              </a:spcAft>
              <a:defRPr sz="1800">
                <a:solidFill>
                  <a:srgbClr val="FFFFFF"/>
                </a:solidFill>
              </a:defRPr>
            </a:pPr>
            <a:r>
              <a:t>  'Rebase my branch on latest main'</a:t>
            </a:r>
          </a:p>
        </p:txBody>
      </p:sp>
      <p:sp>
        <p:nvSpPr>
          <p:cNvPr id="6" name="TextBox 5"/>
          <p:cNvSpPr txBox="1"/>
          <p:nvPr/>
        </p:nvSpPr>
        <p:spPr>
          <a:xfrm>
            <a:off x="6370167" y="1463040"/>
            <a:ext cx="5364327" cy="731520"/>
          </a:xfrm>
          <a:prstGeom prst="rect">
            <a:avLst/>
          </a:prstGeom>
          <a:noFill/>
        </p:spPr>
        <p:txBody>
          <a:bodyPr wrap="none">
            <a:spAutoFit/>
          </a:bodyPr>
          <a:lstStyle/>
          <a:p>
            <a:pPr algn="ctr">
              <a:defRPr sz="2800" b="1">
                <a:solidFill>
                  <a:srgbClr val="E86B4A"/>
                </a:solidFill>
              </a:defRPr>
            </a:pPr>
            <a:r>
              <a:t>Best Practices</a:t>
            </a:r>
          </a:p>
        </p:txBody>
      </p:sp>
      <p:sp>
        <p:nvSpPr>
          <p:cNvPr id="7" name="TextBox 6"/>
          <p:cNvSpPr txBox="1"/>
          <p:nvPr/>
        </p:nvSpPr>
        <p:spPr>
          <a:xfrm>
            <a:off x="6370167" y="2286000"/>
            <a:ext cx="5364327" cy="3657600"/>
          </a:xfrm>
          <a:prstGeom prst="rect">
            <a:avLst/>
          </a:prstGeom>
          <a:noFill/>
        </p:spPr>
        <p:txBody>
          <a:bodyPr wrap="square">
            <a:spAutoFit/>
          </a:bodyPr>
          <a:lstStyle/>
          <a:p>
            <a:pPr>
              <a:spcAft>
                <a:spcPts val="1200"/>
              </a:spcAft>
              <a:defRPr sz="1800">
                <a:solidFill>
                  <a:srgbClr val="FFFFFF"/>
                </a:solidFill>
              </a:defRPr>
            </a:pPr>
            <a:r>
              <a:t>  One feature per branch</a:t>
            </a:r>
          </a:p>
          <a:p>
            <a:pPr>
              <a:spcAft>
                <a:spcPts val="1200"/>
              </a:spcAft>
              <a:defRPr sz="1800">
                <a:solidFill>
                  <a:srgbClr val="FFFFFF"/>
                </a:solidFill>
              </a:defRPr>
            </a:pPr>
            <a:r>
              <a:t>  Branch naming in CLAUDE.md (feature/, fix/, docs/)</a:t>
            </a:r>
          </a:p>
          <a:p>
            <a:pPr>
              <a:spcAft>
                <a:spcPts val="1200"/>
              </a:spcAft>
              <a:defRPr sz="1800">
                <a:solidFill>
                  <a:srgbClr val="FFFFFF"/>
                </a:solidFill>
              </a:defRPr>
            </a:pPr>
            <a:r>
              <a:t>  Claude creates branches matching your conventions</a:t>
            </a:r>
          </a:p>
          <a:p>
            <a:pPr>
              <a:spcAft>
                <a:spcPts val="1200"/>
              </a:spcAft>
              <a:defRPr sz="1800">
                <a:solidFill>
                  <a:srgbClr val="FFFFFF"/>
                </a:solidFill>
              </a:defRPr>
            </a:pPr>
            <a:r>
              <a:t>  Commit frequently on feature branches</a:t>
            </a:r>
          </a:p>
          <a:p>
            <a:pPr>
              <a:spcAft>
                <a:spcPts val="1200"/>
              </a:spcAft>
              <a:defRPr sz="1800">
                <a:solidFill>
                  <a:srgbClr val="FFFFFF"/>
                </a:solidFill>
              </a:defRPr>
            </a:pPr>
            <a:r>
              <a:t>  Merge via PR — not direct merge to main</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457200"/>
            <a:ext cx="11277295" cy="731520"/>
          </a:xfrm>
          <a:prstGeom prst="rect">
            <a:avLst/>
          </a:prstGeom>
          <a:noFill/>
        </p:spPr>
        <p:txBody>
          <a:bodyPr wrap="none">
            <a:spAutoFit/>
          </a:bodyPr>
          <a:lstStyle/>
          <a:p>
            <a:pPr algn="ctr">
              <a:defRPr sz="3600" b="1">
                <a:solidFill>
                  <a:srgbClr val="FFFFFF"/>
                </a:solidFill>
              </a:defRPr>
            </a:pPr>
            <a:r>
              <a:t>Generating Commit Messages</a:t>
            </a:r>
          </a:p>
        </p:txBody>
      </p:sp>
      <p:sp>
        <p:nvSpPr>
          <p:cNvPr id="3" name="Rounded Rectangle 2"/>
          <p:cNvSpPr/>
          <p:nvPr/>
        </p:nvSpPr>
        <p:spPr>
          <a:xfrm>
            <a:off x="914400" y="1645920"/>
            <a:ext cx="10362895" cy="4114800"/>
          </a:xfrm>
          <a:prstGeom prst="round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97280" y="1783080"/>
            <a:ext cx="1828800" cy="365760"/>
          </a:xfrm>
          <a:prstGeom prst="rect">
            <a:avLst/>
          </a:prstGeom>
          <a:noFill/>
        </p:spPr>
        <p:txBody>
          <a:bodyPr wrap="none">
            <a:spAutoFit/>
          </a:bodyPr>
          <a:lstStyle/>
          <a:p>
            <a:pPr>
              <a:defRPr sz="1200" b="1">
                <a:solidFill>
                  <a:srgbClr val="00D4AA"/>
                </a:solidFill>
              </a:defRPr>
            </a:pPr>
            <a:r>
              <a:t>TEXT</a:t>
            </a:r>
          </a:p>
        </p:txBody>
      </p:sp>
      <p:sp>
        <p:nvSpPr>
          <p:cNvPr id="5" name="TextBox 4"/>
          <p:cNvSpPr txBox="1"/>
          <p:nvPr/>
        </p:nvSpPr>
        <p:spPr>
          <a:xfrm>
            <a:off x="1097280" y="2194560"/>
            <a:ext cx="9997135" cy="3291840"/>
          </a:xfrm>
          <a:prstGeom prst="rect">
            <a:avLst/>
          </a:prstGeom>
          <a:noFill/>
        </p:spPr>
        <p:txBody>
          <a:bodyPr wrap="square">
            <a:spAutoFit/>
          </a:bodyPr>
          <a:lstStyle/>
          <a:p>
            <a:pPr>
              <a:defRPr sz="1400">
                <a:solidFill>
                  <a:srgbClr val="FFFFFF"/>
                </a:solidFill>
                <a:latin typeface="Consolas"/>
              </a:defRPr>
            </a:pPr>
            <a:r>
              <a:t># Examples</a:t>
            </a:r>
          </a:p>
          <a:p>
            <a:pPr>
              <a:defRPr sz="1400">
                <a:solidFill>
                  <a:srgbClr val="FFFFFF"/>
                </a:solidFill>
                <a:latin typeface="Consolas"/>
              </a:defRPr>
            </a:pPr>
            <a:endParaRPr/>
          </a:p>
          <a:p>
            <a:pPr>
              <a:defRPr sz="1400">
                <a:solidFill>
                  <a:srgbClr val="FFFFFF"/>
                </a:solidFill>
                <a:latin typeface="Consolas"/>
              </a:defRPr>
            </a:pPr>
            <a:r>
              <a:t>feat(auth): add JWT authentication</a:t>
            </a:r>
          </a:p>
          <a:p>
            <a:pPr>
              <a:defRPr sz="1400">
                <a:solidFill>
                  <a:srgbClr val="FFFFFF"/>
                </a:solidFill>
                <a:latin typeface="Consolas"/>
              </a:defRPr>
            </a:pPr>
            <a:r>
              <a:t>- Implement token generation</a:t>
            </a:r>
          </a:p>
          <a:p>
            <a:pPr>
              <a:defRPr sz="1400">
                <a:solidFill>
                  <a:srgbClr val="FFFFFF"/>
                </a:solidFill>
                <a:latin typeface="Consolas"/>
              </a:defRPr>
            </a:pPr>
            <a:r>
              <a:t>- Add middleware</a:t>
            </a:r>
          </a:p>
          <a:p>
            <a:pPr>
              <a:defRPr sz="1400">
                <a:solidFill>
                  <a:srgbClr val="FFFFFF"/>
                </a:solidFill>
                <a:latin typeface="Consolas"/>
              </a:defRPr>
            </a:pPr>
            <a:endParaRPr/>
          </a:p>
          <a:p>
            <a:pPr>
              <a:defRPr sz="1400">
                <a:solidFill>
                  <a:srgbClr val="FFFFFF"/>
                </a:solidFill>
                <a:latin typeface="Consolas"/>
              </a:defRPr>
            </a:pPr>
            <a:r>
              <a:t>fix(payments): resolve duplicate charges</a:t>
            </a:r>
          </a:p>
          <a:p>
            <a:pPr>
              <a:defRPr sz="1400">
                <a:solidFill>
                  <a:srgbClr val="FFFFFF"/>
                </a:solidFill>
                <a:latin typeface="Consolas"/>
              </a:defRPr>
            </a:pPr>
            <a:r>
              <a:t>- Check existing transaction</a:t>
            </a:r>
          </a:p>
          <a:p>
            <a:pPr>
              <a:defRPr sz="1400">
                <a:solidFill>
                  <a:srgbClr val="FFFFFF"/>
                </a:solidFill>
                <a:latin typeface="Consolas"/>
              </a:defRPr>
            </a:pPr>
            <a:r>
              <a:t>- Add idempotency key</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457200"/>
            <a:ext cx="11277295" cy="731520"/>
          </a:xfrm>
          <a:prstGeom prst="rect">
            <a:avLst/>
          </a:prstGeom>
          <a:noFill/>
        </p:spPr>
        <p:txBody>
          <a:bodyPr wrap="none">
            <a:spAutoFit/>
          </a:bodyPr>
          <a:lstStyle/>
          <a:p>
            <a:pPr algn="ctr">
              <a:defRPr sz="3600" b="1">
                <a:solidFill>
                  <a:srgbClr val="FFFFFF"/>
                </a:solidFill>
              </a:defRPr>
            </a:pPr>
            <a:r>
              <a:t>Pull Request Creation</a:t>
            </a:r>
          </a:p>
        </p:txBody>
      </p:sp>
      <p:sp>
        <p:nvSpPr>
          <p:cNvPr id="3" name="Rectangle 2"/>
          <p:cNvSpPr/>
          <p:nvPr/>
        </p:nvSpPr>
        <p:spPr>
          <a:xfrm>
            <a:off x="6077559" y="1371600"/>
            <a:ext cx="36576" cy="45720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463040"/>
            <a:ext cx="5364327" cy="731520"/>
          </a:xfrm>
          <a:prstGeom prst="rect">
            <a:avLst/>
          </a:prstGeom>
          <a:noFill/>
        </p:spPr>
        <p:txBody>
          <a:bodyPr wrap="none">
            <a:spAutoFit/>
          </a:bodyPr>
          <a:lstStyle/>
          <a:p>
            <a:pPr algn="ctr">
              <a:defRPr sz="2800" b="1">
                <a:solidFill>
                  <a:srgbClr val="00D4AA"/>
                </a:solidFill>
              </a:defRPr>
            </a:pPr>
            <a:r>
              <a:t>The Prompt</a:t>
            </a:r>
          </a:p>
        </p:txBody>
      </p:sp>
      <p:sp>
        <p:nvSpPr>
          <p:cNvPr id="5" name="TextBox 4"/>
          <p:cNvSpPr txBox="1"/>
          <p:nvPr/>
        </p:nvSpPr>
        <p:spPr>
          <a:xfrm>
            <a:off x="457200" y="2286000"/>
            <a:ext cx="5364327" cy="3657600"/>
          </a:xfrm>
          <a:prstGeom prst="rect">
            <a:avLst/>
          </a:prstGeom>
          <a:noFill/>
        </p:spPr>
        <p:txBody>
          <a:bodyPr wrap="square">
            <a:spAutoFit/>
          </a:bodyPr>
          <a:lstStyle/>
          <a:p>
            <a:pPr>
              <a:spcAft>
                <a:spcPts val="1200"/>
              </a:spcAft>
              <a:defRPr sz="1800">
                <a:solidFill>
                  <a:srgbClr val="FFFFFF"/>
                </a:solidFill>
              </a:defRPr>
            </a:pPr>
            <a:r>
              <a:t>  'Create a PR for this feature branch'</a:t>
            </a:r>
          </a:p>
          <a:p>
            <a:pPr>
              <a:spcAft>
                <a:spcPts val="1200"/>
              </a:spcAft>
              <a:defRPr sz="1800">
                <a:solidFill>
                  <a:srgbClr val="FFFFFF"/>
                </a:solidFill>
              </a:defRPr>
            </a:pPr>
            <a:r>
              <a:t>  Claude generates: title, description, change summary</a:t>
            </a:r>
          </a:p>
          <a:p>
            <a:pPr>
              <a:spcAft>
                <a:spcPts val="1200"/>
              </a:spcAft>
              <a:defRPr sz="1800">
                <a:solidFill>
                  <a:srgbClr val="FFFFFF"/>
                </a:solidFill>
              </a:defRPr>
            </a:pPr>
            <a:r>
              <a:t>  Links related issues automatically</a:t>
            </a:r>
          </a:p>
          <a:p>
            <a:pPr>
              <a:spcAft>
                <a:spcPts val="1200"/>
              </a:spcAft>
              <a:defRPr sz="1800">
                <a:solidFill>
                  <a:srgbClr val="FFFFFF"/>
                </a:solidFill>
              </a:defRPr>
            </a:pPr>
            <a:r>
              <a:t>  Lists files changed with explanations</a:t>
            </a:r>
          </a:p>
          <a:p>
            <a:pPr>
              <a:spcAft>
                <a:spcPts val="1200"/>
              </a:spcAft>
              <a:defRPr sz="1800">
                <a:solidFill>
                  <a:srgbClr val="FFFFFF"/>
                </a:solidFill>
              </a:defRPr>
            </a:pPr>
            <a:r>
              <a:t>  Adds testing notes and reviewer guidance</a:t>
            </a:r>
          </a:p>
        </p:txBody>
      </p:sp>
      <p:sp>
        <p:nvSpPr>
          <p:cNvPr id="6" name="TextBox 5"/>
          <p:cNvSpPr txBox="1"/>
          <p:nvPr/>
        </p:nvSpPr>
        <p:spPr>
          <a:xfrm>
            <a:off x="6370167" y="1463040"/>
            <a:ext cx="5364327" cy="731520"/>
          </a:xfrm>
          <a:prstGeom prst="rect">
            <a:avLst/>
          </a:prstGeom>
          <a:noFill/>
        </p:spPr>
        <p:txBody>
          <a:bodyPr wrap="none">
            <a:spAutoFit/>
          </a:bodyPr>
          <a:lstStyle/>
          <a:p>
            <a:pPr algn="ctr">
              <a:defRPr sz="2800" b="1">
                <a:solidFill>
                  <a:srgbClr val="E86B4A"/>
                </a:solidFill>
              </a:defRPr>
            </a:pPr>
            <a:r>
              <a:t>Quality PRs</a:t>
            </a:r>
          </a:p>
        </p:txBody>
      </p:sp>
      <p:sp>
        <p:nvSpPr>
          <p:cNvPr id="7" name="TextBox 6"/>
          <p:cNvSpPr txBox="1"/>
          <p:nvPr/>
        </p:nvSpPr>
        <p:spPr>
          <a:xfrm>
            <a:off x="6370167" y="2286000"/>
            <a:ext cx="5364327" cy="3657600"/>
          </a:xfrm>
          <a:prstGeom prst="rect">
            <a:avLst/>
          </a:prstGeom>
          <a:noFill/>
        </p:spPr>
        <p:txBody>
          <a:bodyPr wrap="square">
            <a:spAutoFit/>
          </a:bodyPr>
          <a:lstStyle/>
          <a:p>
            <a:pPr>
              <a:spcAft>
                <a:spcPts val="1200"/>
              </a:spcAft>
              <a:defRPr sz="1800">
                <a:solidFill>
                  <a:srgbClr val="FFFFFF"/>
                </a:solidFill>
              </a:defRPr>
            </a:pPr>
            <a:r>
              <a:t>  Describe the why, not just the what</a:t>
            </a:r>
          </a:p>
          <a:p>
            <a:pPr>
              <a:spcAft>
                <a:spcPts val="1200"/>
              </a:spcAft>
              <a:defRPr sz="1800">
                <a:solidFill>
                  <a:srgbClr val="FFFFFF"/>
                </a:solidFill>
              </a:defRPr>
            </a:pPr>
            <a:r>
              <a:t>  'Include screenshots for UI changes'</a:t>
            </a:r>
          </a:p>
          <a:p>
            <a:pPr>
              <a:spcAft>
                <a:spcPts val="1200"/>
              </a:spcAft>
              <a:defRPr sz="1800">
                <a:solidFill>
                  <a:srgbClr val="FFFFFF"/>
                </a:solidFill>
              </a:defRPr>
            </a:pPr>
            <a:r>
              <a:t>  Claude adds conventional PR labels</a:t>
            </a:r>
          </a:p>
          <a:p>
            <a:pPr>
              <a:spcAft>
                <a:spcPts val="1200"/>
              </a:spcAft>
              <a:defRPr sz="1800">
                <a:solidFill>
                  <a:srgbClr val="FFFFFF"/>
                </a:solidFill>
              </a:defRPr>
            </a:pPr>
            <a:r>
              <a:t>  Reference ticket numbers from commit messages</a:t>
            </a:r>
          </a:p>
          <a:p>
            <a:pPr>
              <a:spcAft>
                <a:spcPts val="1200"/>
              </a:spcAft>
              <a:defRPr sz="1800">
                <a:solidFill>
                  <a:srgbClr val="FFFFFF"/>
                </a:solidFill>
              </a:defRPr>
            </a:pPr>
            <a:r>
              <a:t>  Review the PR description before submitting</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457200"/>
            <a:ext cx="11277295" cy="731520"/>
          </a:xfrm>
          <a:prstGeom prst="rect">
            <a:avLst/>
          </a:prstGeom>
          <a:noFill/>
        </p:spPr>
        <p:txBody>
          <a:bodyPr wrap="none">
            <a:spAutoFit/>
          </a:bodyPr>
          <a:lstStyle/>
          <a:p>
            <a:pPr algn="ctr">
              <a:defRPr sz="3600" b="1">
                <a:solidFill>
                  <a:srgbClr val="FFFFFF"/>
                </a:solidFill>
              </a:defRPr>
            </a:pPr>
            <a:r>
              <a:t>Git History Analysis</a:t>
            </a:r>
          </a:p>
        </p:txBody>
      </p:sp>
      <p:sp>
        <p:nvSpPr>
          <p:cNvPr id="3" name="Rectangle 2"/>
          <p:cNvSpPr/>
          <p:nvPr/>
        </p:nvSpPr>
        <p:spPr>
          <a:xfrm>
            <a:off x="6077559" y="1371600"/>
            <a:ext cx="36576" cy="45720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463040"/>
            <a:ext cx="5364327" cy="731520"/>
          </a:xfrm>
          <a:prstGeom prst="rect">
            <a:avLst/>
          </a:prstGeom>
          <a:noFill/>
        </p:spPr>
        <p:txBody>
          <a:bodyPr wrap="none">
            <a:spAutoFit/>
          </a:bodyPr>
          <a:lstStyle/>
          <a:p>
            <a:pPr algn="ctr">
              <a:defRPr sz="2800" b="1">
                <a:solidFill>
                  <a:srgbClr val="00D4AA"/>
                </a:solidFill>
              </a:defRPr>
            </a:pPr>
            <a:r>
              <a:t>History Commands</a:t>
            </a:r>
          </a:p>
        </p:txBody>
      </p:sp>
      <p:sp>
        <p:nvSpPr>
          <p:cNvPr id="5" name="TextBox 4"/>
          <p:cNvSpPr txBox="1"/>
          <p:nvPr/>
        </p:nvSpPr>
        <p:spPr>
          <a:xfrm>
            <a:off x="457200" y="2286000"/>
            <a:ext cx="5364327" cy="3657600"/>
          </a:xfrm>
          <a:prstGeom prst="rect">
            <a:avLst/>
          </a:prstGeom>
          <a:noFill/>
        </p:spPr>
        <p:txBody>
          <a:bodyPr wrap="square">
            <a:spAutoFit/>
          </a:bodyPr>
          <a:lstStyle/>
          <a:p>
            <a:pPr>
              <a:spcAft>
                <a:spcPts val="1200"/>
              </a:spcAft>
              <a:defRPr sz="1800">
                <a:solidFill>
                  <a:srgbClr val="FFFFFF"/>
                </a:solidFill>
              </a:defRPr>
            </a:pPr>
            <a:r>
              <a:t>  'What changed in the last 5 commits?'</a:t>
            </a:r>
          </a:p>
          <a:p>
            <a:pPr>
              <a:spcAft>
                <a:spcPts val="1200"/>
              </a:spcAft>
              <a:defRPr sz="1800">
                <a:solidFill>
                  <a:srgbClr val="FFFFFF"/>
                </a:solidFill>
              </a:defRPr>
            </a:pPr>
            <a:r>
              <a:t>  'Who last modified auth.ts and why?'</a:t>
            </a:r>
          </a:p>
          <a:p>
            <a:pPr>
              <a:spcAft>
                <a:spcPts val="1200"/>
              </a:spcAft>
              <a:defRPr sz="1800">
                <a:solidFill>
                  <a:srgbClr val="FFFFFF"/>
                </a:solidFill>
              </a:defRPr>
            </a:pPr>
            <a:r>
              <a:t>  'Show me the diff between v2.0 and main'</a:t>
            </a:r>
          </a:p>
          <a:p>
            <a:pPr>
              <a:spcAft>
                <a:spcPts val="1200"/>
              </a:spcAft>
              <a:defRPr sz="1800">
                <a:solidFill>
                  <a:srgbClr val="FFFFFF"/>
                </a:solidFill>
              </a:defRPr>
            </a:pPr>
            <a:r>
              <a:t>  'Find when the login bug was introduced'</a:t>
            </a:r>
          </a:p>
          <a:p>
            <a:pPr>
              <a:spcAft>
                <a:spcPts val="1200"/>
              </a:spcAft>
              <a:defRPr sz="1800">
                <a:solidFill>
                  <a:srgbClr val="FFFFFF"/>
                </a:solidFill>
              </a:defRPr>
            </a:pPr>
            <a:r>
              <a:t>  'Summarize this week's changes'</a:t>
            </a:r>
          </a:p>
        </p:txBody>
      </p:sp>
      <p:sp>
        <p:nvSpPr>
          <p:cNvPr id="6" name="TextBox 5"/>
          <p:cNvSpPr txBox="1"/>
          <p:nvPr/>
        </p:nvSpPr>
        <p:spPr>
          <a:xfrm>
            <a:off x="6370167" y="1463040"/>
            <a:ext cx="5364327" cy="731520"/>
          </a:xfrm>
          <a:prstGeom prst="rect">
            <a:avLst/>
          </a:prstGeom>
          <a:noFill/>
        </p:spPr>
        <p:txBody>
          <a:bodyPr wrap="none">
            <a:spAutoFit/>
          </a:bodyPr>
          <a:lstStyle/>
          <a:p>
            <a:pPr algn="ctr">
              <a:defRPr sz="2800" b="1">
                <a:solidFill>
                  <a:srgbClr val="E86B4A"/>
                </a:solidFill>
              </a:defRPr>
            </a:pPr>
            <a:r>
              <a:t>Use Cases</a:t>
            </a:r>
          </a:p>
        </p:txBody>
      </p:sp>
      <p:sp>
        <p:nvSpPr>
          <p:cNvPr id="7" name="TextBox 6"/>
          <p:cNvSpPr txBox="1"/>
          <p:nvPr/>
        </p:nvSpPr>
        <p:spPr>
          <a:xfrm>
            <a:off x="6370167" y="2286000"/>
            <a:ext cx="5364327" cy="3657600"/>
          </a:xfrm>
          <a:prstGeom prst="rect">
            <a:avLst/>
          </a:prstGeom>
          <a:noFill/>
        </p:spPr>
        <p:txBody>
          <a:bodyPr wrap="square">
            <a:spAutoFit/>
          </a:bodyPr>
          <a:lstStyle/>
          <a:p>
            <a:pPr>
              <a:spcAft>
                <a:spcPts val="1200"/>
              </a:spcAft>
              <a:defRPr sz="1800">
                <a:solidFill>
                  <a:srgbClr val="FFFFFF"/>
                </a:solidFill>
              </a:defRPr>
            </a:pPr>
            <a:r>
              <a:t>  Code review: understand context of changes</a:t>
            </a:r>
          </a:p>
          <a:p>
            <a:pPr>
              <a:spcAft>
                <a:spcPts val="1200"/>
              </a:spcAft>
              <a:defRPr sz="1800">
                <a:solidFill>
                  <a:srgbClr val="FFFFFF"/>
                </a:solidFill>
              </a:defRPr>
            </a:pPr>
            <a:r>
              <a:t>  Debugging: find when a regression started</a:t>
            </a:r>
          </a:p>
          <a:p>
            <a:pPr>
              <a:spcAft>
                <a:spcPts val="1200"/>
              </a:spcAft>
              <a:defRPr sz="1800">
                <a:solidFill>
                  <a:srgbClr val="FFFFFF"/>
                </a:solidFill>
              </a:defRPr>
            </a:pPr>
            <a:r>
              <a:t>  Onboarding: catch up on recent work</a:t>
            </a:r>
          </a:p>
          <a:p>
            <a:pPr>
              <a:spcAft>
                <a:spcPts val="1200"/>
              </a:spcAft>
              <a:defRPr sz="1800">
                <a:solidFill>
                  <a:srgbClr val="FFFFFF"/>
                </a:solidFill>
              </a:defRPr>
            </a:pPr>
            <a:r>
              <a:t>  Release notes: summarize changes since last tag</a:t>
            </a:r>
          </a:p>
          <a:p>
            <a:pPr>
              <a:spcAft>
                <a:spcPts val="1200"/>
              </a:spcAft>
              <a:defRPr sz="1800">
                <a:solidFill>
                  <a:srgbClr val="FFFFFF"/>
                </a:solidFill>
              </a:defRPr>
            </a:pPr>
            <a:r>
              <a:t>  Blame analysis: understand design decisions</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457200"/>
            <a:ext cx="11277295" cy="731520"/>
          </a:xfrm>
          <a:prstGeom prst="rect">
            <a:avLst/>
          </a:prstGeom>
          <a:noFill/>
        </p:spPr>
        <p:txBody>
          <a:bodyPr wrap="none">
            <a:spAutoFit/>
          </a:bodyPr>
          <a:lstStyle/>
          <a:p>
            <a:pPr algn="ctr">
              <a:defRPr sz="3600" b="1">
                <a:solidFill>
                  <a:srgbClr val="FFFFFF"/>
                </a:solidFill>
              </a:defRPr>
            </a:pPr>
            <a:r>
              <a:t>GitHub vs GitLab Integration</a:t>
            </a:r>
          </a:p>
        </p:txBody>
      </p:sp>
      <p:sp>
        <p:nvSpPr>
          <p:cNvPr id="3" name="Rectangle 2"/>
          <p:cNvSpPr/>
          <p:nvPr/>
        </p:nvSpPr>
        <p:spPr>
          <a:xfrm>
            <a:off x="6077559" y="1371600"/>
            <a:ext cx="36576" cy="45720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463040"/>
            <a:ext cx="5364327" cy="731520"/>
          </a:xfrm>
          <a:prstGeom prst="rect">
            <a:avLst/>
          </a:prstGeom>
          <a:noFill/>
        </p:spPr>
        <p:txBody>
          <a:bodyPr wrap="none">
            <a:spAutoFit/>
          </a:bodyPr>
          <a:lstStyle/>
          <a:p>
            <a:pPr algn="ctr">
              <a:defRPr sz="2800" b="1">
                <a:solidFill>
                  <a:srgbClr val="00D4AA"/>
                </a:solidFill>
              </a:defRPr>
            </a:pPr>
            <a:r>
              <a:t>GitHub</a:t>
            </a:r>
          </a:p>
        </p:txBody>
      </p:sp>
      <p:sp>
        <p:nvSpPr>
          <p:cNvPr id="5" name="TextBox 4"/>
          <p:cNvSpPr txBox="1"/>
          <p:nvPr/>
        </p:nvSpPr>
        <p:spPr>
          <a:xfrm>
            <a:off x="457200" y="2286000"/>
            <a:ext cx="5364327" cy="3657600"/>
          </a:xfrm>
          <a:prstGeom prst="rect">
            <a:avLst/>
          </a:prstGeom>
          <a:noFill/>
        </p:spPr>
        <p:txBody>
          <a:bodyPr wrap="square">
            <a:spAutoFit/>
          </a:bodyPr>
          <a:lstStyle/>
          <a:p>
            <a:pPr>
              <a:spcAft>
                <a:spcPts val="1200"/>
              </a:spcAft>
              <a:defRPr sz="1800">
                <a:solidFill>
                  <a:srgbClr val="FFFFFF"/>
                </a:solidFill>
              </a:defRPr>
            </a:pPr>
            <a:r>
              <a:t>  GitHub Actions integration built-in</a:t>
            </a:r>
          </a:p>
          <a:p>
            <a:pPr>
              <a:spcAft>
                <a:spcPts val="1200"/>
              </a:spcAft>
              <a:defRPr sz="1800">
                <a:solidFill>
                  <a:srgbClr val="FFFFFF"/>
                </a:solidFill>
              </a:defRPr>
            </a:pPr>
            <a:r>
              <a:t>  PR auto-review via Claude Code Action</a:t>
            </a:r>
          </a:p>
          <a:p>
            <a:pPr>
              <a:spcAft>
                <a:spcPts val="1200"/>
              </a:spcAft>
              <a:defRPr sz="1800">
                <a:solidFill>
                  <a:srgbClr val="FFFFFF"/>
                </a:solidFill>
              </a:defRPr>
            </a:pPr>
            <a:r>
              <a:t>  Issue linking in commit messages</a:t>
            </a:r>
          </a:p>
          <a:p>
            <a:pPr>
              <a:spcAft>
                <a:spcPts val="1200"/>
              </a:spcAft>
              <a:defRPr sz="1800">
                <a:solidFill>
                  <a:srgbClr val="FFFFFF"/>
                </a:solidFill>
              </a:defRPr>
            </a:pPr>
            <a:r>
              <a:t>  Copilot + Claude Code coexistence</a:t>
            </a:r>
          </a:p>
          <a:p>
            <a:pPr>
              <a:spcAft>
                <a:spcPts val="1200"/>
              </a:spcAft>
              <a:defRPr sz="1800">
                <a:solidFill>
                  <a:srgbClr val="FFFFFF"/>
                </a:solidFill>
              </a:defRPr>
            </a:pPr>
            <a:r>
              <a:t>  gh CLI commands accessible</a:t>
            </a:r>
          </a:p>
        </p:txBody>
      </p:sp>
      <p:sp>
        <p:nvSpPr>
          <p:cNvPr id="6" name="TextBox 5"/>
          <p:cNvSpPr txBox="1"/>
          <p:nvPr/>
        </p:nvSpPr>
        <p:spPr>
          <a:xfrm>
            <a:off x="6370167" y="1463040"/>
            <a:ext cx="5364327" cy="731520"/>
          </a:xfrm>
          <a:prstGeom prst="rect">
            <a:avLst/>
          </a:prstGeom>
          <a:noFill/>
        </p:spPr>
        <p:txBody>
          <a:bodyPr wrap="none">
            <a:spAutoFit/>
          </a:bodyPr>
          <a:lstStyle/>
          <a:p>
            <a:pPr algn="ctr">
              <a:defRPr sz="2800" b="1">
                <a:solidFill>
                  <a:srgbClr val="E86B4A"/>
                </a:solidFill>
              </a:defRPr>
            </a:pPr>
            <a:r>
              <a:t>GitLab</a:t>
            </a:r>
          </a:p>
        </p:txBody>
      </p:sp>
      <p:sp>
        <p:nvSpPr>
          <p:cNvPr id="7" name="TextBox 6"/>
          <p:cNvSpPr txBox="1"/>
          <p:nvPr/>
        </p:nvSpPr>
        <p:spPr>
          <a:xfrm>
            <a:off x="6370167" y="2286000"/>
            <a:ext cx="5364327" cy="3657600"/>
          </a:xfrm>
          <a:prstGeom prst="rect">
            <a:avLst/>
          </a:prstGeom>
          <a:noFill/>
        </p:spPr>
        <p:txBody>
          <a:bodyPr wrap="square">
            <a:spAutoFit/>
          </a:bodyPr>
          <a:lstStyle/>
          <a:p>
            <a:pPr>
              <a:spcAft>
                <a:spcPts val="1200"/>
              </a:spcAft>
              <a:defRPr sz="1800">
                <a:solidFill>
                  <a:srgbClr val="FFFFFF"/>
                </a:solidFill>
              </a:defRPr>
            </a:pPr>
            <a:r>
              <a:t>  GitLab CI/CD pipeline support</a:t>
            </a:r>
          </a:p>
          <a:p>
            <a:pPr>
              <a:spcAft>
                <a:spcPts val="1200"/>
              </a:spcAft>
              <a:defRPr sz="1800">
                <a:solidFill>
                  <a:srgbClr val="FFFFFF"/>
                </a:solidFill>
              </a:defRPr>
            </a:pPr>
            <a:r>
              <a:t>  Merge Request creation and description</a:t>
            </a:r>
          </a:p>
          <a:p>
            <a:pPr>
              <a:spcAft>
                <a:spcPts val="1200"/>
              </a:spcAft>
              <a:defRPr sz="1800">
                <a:solidFill>
                  <a:srgbClr val="FFFFFF"/>
                </a:solidFill>
              </a:defRPr>
            </a:pPr>
            <a:r>
              <a:t>  Issue board integration</a:t>
            </a:r>
          </a:p>
          <a:p>
            <a:pPr>
              <a:spcAft>
                <a:spcPts val="1200"/>
              </a:spcAft>
              <a:defRPr sz="1800">
                <a:solidFill>
                  <a:srgbClr val="FFFFFF"/>
                </a:solidFill>
              </a:defRPr>
            </a:pPr>
            <a:r>
              <a:t>  Self-hosted GitLab compatible</a:t>
            </a:r>
          </a:p>
          <a:p>
            <a:pPr>
              <a:spcAft>
                <a:spcPts val="1200"/>
              </a:spcAft>
              <a:defRPr sz="1800">
                <a:solidFill>
                  <a:srgbClr val="FFFFFF"/>
                </a:solidFill>
              </a:defRPr>
            </a:pPr>
            <a:r>
              <a:t>  glab CLI commands accessible</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1828800"/>
            <a:ext cx="11277295" cy="1371600"/>
          </a:xfrm>
          <a:prstGeom prst="rect">
            <a:avLst/>
          </a:prstGeom>
          <a:noFill/>
        </p:spPr>
        <p:txBody>
          <a:bodyPr wrap="none">
            <a:spAutoFit/>
          </a:bodyPr>
          <a:lstStyle/>
          <a:p>
            <a:pPr algn="ctr">
              <a:defRPr sz="9600" b="1">
                <a:solidFill>
                  <a:srgbClr val="00D4AA"/>
                </a:solidFill>
              </a:defRPr>
            </a:pPr>
            <a:r>
              <a:t>DEMO</a:t>
            </a:r>
          </a:p>
        </p:txBody>
      </p:sp>
      <p:sp>
        <p:nvSpPr>
          <p:cNvPr id="3" name="Rectangle 2"/>
          <p:cNvSpPr/>
          <p:nvPr/>
        </p:nvSpPr>
        <p:spPr>
          <a:xfrm>
            <a:off x="4724247" y="3474720"/>
            <a:ext cx="2743200" cy="54864"/>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3840480"/>
            <a:ext cx="11277295" cy="914400"/>
          </a:xfrm>
          <a:prstGeom prst="rect">
            <a:avLst/>
          </a:prstGeom>
          <a:noFill/>
        </p:spPr>
        <p:txBody>
          <a:bodyPr wrap="square">
            <a:spAutoFit/>
          </a:bodyPr>
          <a:lstStyle/>
          <a:p>
            <a:pPr algn="ctr">
              <a:defRPr sz="3200" b="1">
                <a:solidFill>
                  <a:srgbClr val="FFFFFF"/>
                </a:solidFill>
              </a:defRPr>
            </a:pPr>
            <a:r>
              <a:t>Complete Git Workflow</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Rectangle 1"/>
          <p:cNvSpPr/>
          <p:nvPr/>
        </p:nvSpPr>
        <p:spPr>
          <a:xfrm>
            <a:off x="0" y="1828800"/>
            <a:ext cx="137160" cy="32004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0"/>
            <a:ext cx="11277295" cy="1371600"/>
          </a:xfrm>
          <a:prstGeom prst="rect">
            <a:avLst/>
          </a:prstGeom>
          <a:noFill/>
        </p:spPr>
        <p:txBody>
          <a:bodyPr wrap="square">
            <a:spAutoFit/>
          </a:bodyPr>
          <a:lstStyle/>
          <a:p>
            <a:pPr>
              <a:defRPr sz="5600" b="1">
                <a:solidFill>
                  <a:srgbClr val="FFFFFF"/>
                </a:solidFill>
              </a:defRPr>
            </a:pPr>
            <a:r>
              <a:t>File Operations &amp; Development Workflows</a:t>
            </a:r>
          </a:p>
        </p:txBody>
      </p:sp>
      <p:sp>
        <p:nvSpPr>
          <p:cNvPr id="4" name="TextBox 3"/>
          <p:cNvSpPr txBox="1"/>
          <p:nvPr/>
        </p:nvSpPr>
        <p:spPr>
          <a:xfrm>
            <a:off x="457200" y="3840480"/>
            <a:ext cx="11277295" cy="914400"/>
          </a:xfrm>
          <a:prstGeom prst="rect">
            <a:avLst/>
          </a:prstGeom>
          <a:noFill/>
        </p:spPr>
        <p:txBody>
          <a:bodyPr wrap="square">
            <a:spAutoFit/>
          </a:bodyPr>
          <a:lstStyle/>
          <a:p>
            <a:pPr>
              <a:defRPr sz="2400">
                <a:solidFill>
                  <a:srgbClr val="8B95A5"/>
                </a:solidFill>
              </a:defRPr>
            </a:pPr>
            <a:r>
              <a:t>Reading, writing, searching, refactoring — the daily toolkit</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731520"/>
            <a:ext cx="11277295" cy="914400"/>
          </a:xfrm>
          <a:prstGeom prst="rect">
            <a:avLst/>
          </a:prstGeom>
          <a:noFill/>
        </p:spPr>
        <p:txBody>
          <a:bodyPr wrap="none">
            <a:spAutoFit/>
          </a:bodyPr>
          <a:lstStyle/>
          <a:p>
            <a:pPr algn="ctr">
              <a:defRPr sz="4000" b="1">
                <a:solidFill>
                  <a:srgbClr val="FFFFFF"/>
                </a:solidFill>
              </a:defRPr>
            </a:pPr>
            <a:r>
              <a:t>Reading, Writing, Searching Files</a:t>
            </a:r>
          </a:p>
        </p:txBody>
      </p:sp>
      <p:sp>
        <p:nvSpPr>
          <p:cNvPr id="3" name="Rounded Rectangle 2"/>
          <p:cNvSpPr/>
          <p:nvPr/>
        </p:nvSpPr>
        <p:spPr>
          <a:xfrm>
            <a:off x="2301087" y="2011680"/>
            <a:ext cx="2286000" cy="3546438"/>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2986887" y="2468880"/>
            <a:ext cx="914400" cy="91440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986887" y="2468880"/>
            <a:ext cx="914400" cy="914400"/>
          </a:xfrm>
          <a:prstGeom prst="rect">
            <a:avLst/>
          </a:prstGeom>
          <a:noFill/>
        </p:spPr>
        <p:txBody>
          <a:bodyPr wrap="none" anchor="ctr">
            <a:spAutoFit/>
          </a:bodyPr>
          <a:lstStyle/>
          <a:p>
            <a:pPr algn="ctr">
              <a:defRPr sz="3600" b="1">
                <a:solidFill>
                  <a:srgbClr val="0B0F1A"/>
                </a:solidFill>
              </a:defRPr>
            </a:pPr>
            <a:r>
              <a:t>1</a:t>
            </a:r>
          </a:p>
        </p:txBody>
      </p:sp>
      <p:sp>
        <p:nvSpPr>
          <p:cNvPr id="6" name="TextBox 5"/>
          <p:cNvSpPr txBox="1"/>
          <p:nvPr/>
        </p:nvSpPr>
        <p:spPr>
          <a:xfrm>
            <a:off x="2392527" y="3657600"/>
            <a:ext cx="2103120" cy="1371600"/>
          </a:xfrm>
          <a:prstGeom prst="rect">
            <a:avLst/>
          </a:prstGeom>
          <a:noFill/>
        </p:spPr>
        <p:txBody>
          <a:bodyPr wrap="square">
            <a:normAutofit fontScale="85000" lnSpcReduction="10000"/>
          </a:bodyPr>
          <a:lstStyle/>
          <a:p>
            <a:pPr algn="ctr">
              <a:defRPr sz="1800" b="1">
                <a:solidFill>
                  <a:srgbClr val="FFFFFF"/>
                </a:solidFill>
              </a:defRPr>
            </a:pPr>
            <a:r>
              <a:t>Read</a:t>
            </a:r>
          </a:p>
          <a:p>
            <a:pPr algn="ctr">
              <a:spcBef>
                <a:spcPts val="800"/>
              </a:spcBef>
              <a:defRPr sz="1300">
                <a:solidFill>
                  <a:srgbClr val="8B95A5"/>
                </a:solidFill>
              </a:defRPr>
            </a:pPr>
            <a:r>
              <a:t>@ mention files directly</a:t>
            </a:r>
            <a:br/>
            <a:r>
              <a:t>Claude searches with grep/glob</a:t>
            </a:r>
            <a:br/>
            <a:r>
              <a:t>Reads imports and dependencies</a:t>
            </a:r>
            <a:br/>
            <a:r>
              <a:t>Builds understanding from code</a:t>
            </a:r>
          </a:p>
        </p:txBody>
      </p:sp>
      <p:sp>
        <p:nvSpPr>
          <p:cNvPr id="7" name="Rounded Rectangle 6"/>
          <p:cNvSpPr/>
          <p:nvPr/>
        </p:nvSpPr>
        <p:spPr>
          <a:xfrm>
            <a:off x="4952847" y="2011680"/>
            <a:ext cx="2286000" cy="3546438"/>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5638647" y="2468880"/>
            <a:ext cx="914400" cy="91440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638647" y="2468880"/>
            <a:ext cx="914400" cy="914400"/>
          </a:xfrm>
          <a:prstGeom prst="rect">
            <a:avLst/>
          </a:prstGeom>
          <a:noFill/>
        </p:spPr>
        <p:txBody>
          <a:bodyPr wrap="none" anchor="ctr">
            <a:spAutoFit/>
          </a:bodyPr>
          <a:lstStyle/>
          <a:p>
            <a:pPr algn="ctr">
              <a:defRPr sz="3600" b="1">
                <a:solidFill>
                  <a:srgbClr val="0B0F1A"/>
                </a:solidFill>
              </a:defRPr>
            </a:pPr>
            <a:r>
              <a:t>2</a:t>
            </a:r>
          </a:p>
        </p:txBody>
      </p:sp>
      <p:sp>
        <p:nvSpPr>
          <p:cNvPr id="10" name="TextBox 9"/>
          <p:cNvSpPr txBox="1"/>
          <p:nvPr/>
        </p:nvSpPr>
        <p:spPr>
          <a:xfrm>
            <a:off x="5044287" y="3657600"/>
            <a:ext cx="2103120" cy="1371600"/>
          </a:xfrm>
          <a:prstGeom prst="rect">
            <a:avLst/>
          </a:prstGeom>
          <a:noFill/>
        </p:spPr>
        <p:txBody>
          <a:bodyPr wrap="square">
            <a:normAutofit lnSpcReduction="10000"/>
          </a:bodyPr>
          <a:lstStyle/>
          <a:p>
            <a:pPr algn="ctr">
              <a:defRPr sz="1800" b="1">
                <a:solidFill>
                  <a:srgbClr val="FFFFFF"/>
                </a:solidFill>
              </a:defRPr>
            </a:pPr>
            <a:r>
              <a:t>Write</a:t>
            </a:r>
          </a:p>
          <a:p>
            <a:pPr algn="ctr">
              <a:spcBef>
                <a:spcPts val="800"/>
              </a:spcBef>
              <a:defRPr sz="1300">
                <a:solidFill>
                  <a:srgbClr val="8B95A5"/>
                </a:solidFill>
              </a:defRPr>
            </a:pPr>
            <a:r>
              <a:t>Creates new files from specs</a:t>
            </a:r>
            <a:br/>
            <a:r>
              <a:t>Edits existing files surgically</a:t>
            </a:r>
            <a:br/>
            <a:r>
              <a:t>Multi-file changes in one pass</a:t>
            </a:r>
            <a:br/>
            <a:r>
              <a:t>Respects your code style</a:t>
            </a:r>
          </a:p>
        </p:txBody>
      </p:sp>
      <p:sp>
        <p:nvSpPr>
          <p:cNvPr id="11" name="Rounded Rectangle 10"/>
          <p:cNvSpPr/>
          <p:nvPr/>
        </p:nvSpPr>
        <p:spPr>
          <a:xfrm>
            <a:off x="7604607" y="2011680"/>
            <a:ext cx="2286000" cy="3546438"/>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8290407" y="2468880"/>
            <a:ext cx="914400" cy="91440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290407" y="2468880"/>
            <a:ext cx="914400" cy="914400"/>
          </a:xfrm>
          <a:prstGeom prst="rect">
            <a:avLst/>
          </a:prstGeom>
          <a:noFill/>
        </p:spPr>
        <p:txBody>
          <a:bodyPr wrap="none" anchor="ctr">
            <a:spAutoFit/>
          </a:bodyPr>
          <a:lstStyle/>
          <a:p>
            <a:pPr algn="ctr">
              <a:defRPr sz="3600" b="1">
                <a:solidFill>
                  <a:srgbClr val="0B0F1A"/>
                </a:solidFill>
              </a:defRPr>
            </a:pPr>
            <a:r>
              <a:t>3</a:t>
            </a:r>
          </a:p>
        </p:txBody>
      </p:sp>
      <p:sp>
        <p:nvSpPr>
          <p:cNvPr id="14" name="TextBox 13"/>
          <p:cNvSpPr txBox="1"/>
          <p:nvPr/>
        </p:nvSpPr>
        <p:spPr>
          <a:xfrm>
            <a:off x="7696047" y="3657600"/>
            <a:ext cx="2103120" cy="1371600"/>
          </a:xfrm>
          <a:prstGeom prst="rect">
            <a:avLst/>
          </a:prstGeom>
          <a:noFill/>
        </p:spPr>
        <p:txBody>
          <a:bodyPr wrap="square">
            <a:normAutofit fontScale="92500" lnSpcReduction="20000"/>
          </a:bodyPr>
          <a:lstStyle/>
          <a:p>
            <a:pPr algn="ctr">
              <a:defRPr sz="1800" b="1">
                <a:solidFill>
                  <a:srgbClr val="FFFFFF"/>
                </a:solidFill>
              </a:defRPr>
            </a:pPr>
            <a:r>
              <a:t>Search</a:t>
            </a:r>
          </a:p>
          <a:p>
            <a:pPr algn="ctr">
              <a:spcBef>
                <a:spcPts val="800"/>
              </a:spcBef>
              <a:defRPr sz="1300">
                <a:solidFill>
                  <a:srgbClr val="8B95A5"/>
                </a:solidFill>
              </a:defRPr>
            </a:pPr>
            <a:r>
              <a:t>'Find all API endpoints'</a:t>
            </a:r>
            <a:br/>
            <a:r>
              <a:t>'Where is auth middleware used?'</a:t>
            </a:r>
            <a:br/>
            <a:r>
              <a:t>'Show files importing utils.ts'</a:t>
            </a:r>
            <a:br/>
            <a:r>
              <a:t>Pattern matching across codebase</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457200"/>
            <a:ext cx="11277295" cy="731520"/>
          </a:xfrm>
          <a:prstGeom prst="rect">
            <a:avLst/>
          </a:prstGeom>
          <a:noFill/>
        </p:spPr>
        <p:txBody>
          <a:bodyPr wrap="none">
            <a:spAutoFit/>
          </a:bodyPr>
          <a:lstStyle/>
          <a:p>
            <a:pPr algn="ctr">
              <a:defRPr sz="3600" b="1">
                <a:solidFill>
                  <a:srgbClr val="FFFFFF"/>
                </a:solidFill>
              </a:defRPr>
            </a:pPr>
            <a:r>
              <a:t>Multi-File Edits &amp; Refactoring</a:t>
            </a:r>
          </a:p>
        </p:txBody>
      </p:sp>
      <p:sp>
        <p:nvSpPr>
          <p:cNvPr id="3" name="Rectangle 2"/>
          <p:cNvSpPr/>
          <p:nvPr/>
        </p:nvSpPr>
        <p:spPr>
          <a:xfrm>
            <a:off x="6077559" y="1371600"/>
            <a:ext cx="36576" cy="45720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463040"/>
            <a:ext cx="5364327" cy="731520"/>
          </a:xfrm>
          <a:prstGeom prst="rect">
            <a:avLst/>
          </a:prstGeom>
          <a:noFill/>
        </p:spPr>
        <p:txBody>
          <a:bodyPr wrap="none">
            <a:spAutoFit/>
          </a:bodyPr>
          <a:lstStyle/>
          <a:p>
            <a:pPr algn="ctr">
              <a:defRPr sz="2800" b="1">
                <a:solidFill>
                  <a:srgbClr val="00D4AA"/>
                </a:solidFill>
              </a:defRPr>
            </a:pPr>
            <a:r>
              <a:t>What Claude Does</a:t>
            </a:r>
          </a:p>
        </p:txBody>
      </p:sp>
      <p:sp>
        <p:nvSpPr>
          <p:cNvPr id="5" name="TextBox 4"/>
          <p:cNvSpPr txBox="1"/>
          <p:nvPr/>
        </p:nvSpPr>
        <p:spPr>
          <a:xfrm>
            <a:off x="457200" y="2286000"/>
            <a:ext cx="5364327" cy="3657600"/>
          </a:xfrm>
          <a:prstGeom prst="rect">
            <a:avLst/>
          </a:prstGeom>
          <a:noFill/>
        </p:spPr>
        <p:txBody>
          <a:bodyPr wrap="square">
            <a:spAutoFit/>
          </a:bodyPr>
          <a:lstStyle/>
          <a:p>
            <a:pPr>
              <a:spcAft>
                <a:spcPts val="1200"/>
              </a:spcAft>
              <a:defRPr sz="1800">
                <a:solidFill>
                  <a:srgbClr val="FFFFFF"/>
                </a:solidFill>
              </a:defRPr>
            </a:pPr>
            <a:r>
              <a:t>  Renames across all files simultaneously</a:t>
            </a:r>
          </a:p>
          <a:p>
            <a:pPr>
              <a:spcAft>
                <a:spcPts val="1200"/>
              </a:spcAft>
              <a:defRPr sz="1800">
                <a:solidFill>
                  <a:srgbClr val="FFFFFF"/>
                </a:solidFill>
              </a:defRPr>
            </a:pPr>
            <a:r>
              <a:t>  Moves functions between modules</a:t>
            </a:r>
          </a:p>
          <a:p>
            <a:pPr>
              <a:spcAft>
                <a:spcPts val="1200"/>
              </a:spcAft>
              <a:defRPr sz="1800">
                <a:solidFill>
                  <a:srgbClr val="FFFFFF"/>
                </a:solidFill>
              </a:defRPr>
            </a:pPr>
            <a:r>
              <a:t>  Updates imports after restructuring</a:t>
            </a:r>
          </a:p>
          <a:p>
            <a:pPr>
              <a:spcAft>
                <a:spcPts val="1200"/>
              </a:spcAft>
              <a:defRPr sz="1800">
                <a:solidFill>
                  <a:srgbClr val="FFFFFF"/>
                </a:solidFill>
              </a:defRPr>
            </a:pPr>
            <a:r>
              <a:t>  Maintains type safety during refactors</a:t>
            </a:r>
          </a:p>
          <a:p>
            <a:pPr>
              <a:spcAft>
                <a:spcPts val="1200"/>
              </a:spcAft>
              <a:defRPr sz="1800">
                <a:solidFill>
                  <a:srgbClr val="FFFFFF"/>
                </a:solidFill>
              </a:defRPr>
            </a:pPr>
            <a:r>
              <a:t>  Runs tests after each change</a:t>
            </a:r>
          </a:p>
        </p:txBody>
      </p:sp>
      <p:sp>
        <p:nvSpPr>
          <p:cNvPr id="6" name="TextBox 5"/>
          <p:cNvSpPr txBox="1"/>
          <p:nvPr/>
        </p:nvSpPr>
        <p:spPr>
          <a:xfrm>
            <a:off x="6370167" y="1463040"/>
            <a:ext cx="5364327" cy="731520"/>
          </a:xfrm>
          <a:prstGeom prst="rect">
            <a:avLst/>
          </a:prstGeom>
          <a:noFill/>
        </p:spPr>
        <p:txBody>
          <a:bodyPr wrap="none">
            <a:spAutoFit/>
          </a:bodyPr>
          <a:lstStyle/>
          <a:p>
            <a:pPr algn="ctr">
              <a:defRPr sz="2800" b="1">
                <a:solidFill>
                  <a:srgbClr val="E86B4A"/>
                </a:solidFill>
              </a:defRPr>
            </a:pPr>
            <a:r>
              <a:t>Best Prompts</a:t>
            </a:r>
          </a:p>
        </p:txBody>
      </p:sp>
      <p:sp>
        <p:nvSpPr>
          <p:cNvPr id="7" name="TextBox 6"/>
          <p:cNvSpPr txBox="1"/>
          <p:nvPr/>
        </p:nvSpPr>
        <p:spPr>
          <a:xfrm>
            <a:off x="6370167" y="2286000"/>
            <a:ext cx="5364327" cy="3657600"/>
          </a:xfrm>
          <a:prstGeom prst="rect">
            <a:avLst/>
          </a:prstGeom>
          <a:noFill/>
        </p:spPr>
        <p:txBody>
          <a:bodyPr wrap="square">
            <a:spAutoFit/>
          </a:bodyPr>
          <a:lstStyle/>
          <a:p>
            <a:pPr>
              <a:spcAft>
                <a:spcPts val="1200"/>
              </a:spcAft>
              <a:defRPr sz="1800">
                <a:solidFill>
                  <a:srgbClr val="FFFFFF"/>
                </a:solidFill>
              </a:defRPr>
            </a:pPr>
            <a:r>
              <a:t>  'Extract the auth logic into src/middleware/auth.ts'</a:t>
            </a:r>
          </a:p>
          <a:p>
            <a:pPr>
              <a:spcAft>
                <a:spcPts val="1200"/>
              </a:spcAft>
              <a:defRPr sz="1800">
                <a:solidFill>
                  <a:srgbClr val="FFFFFF"/>
                </a:solidFill>
              </a:defRPr>
            </a:pPr>
            <a:r>
              <a:t>  'Rename UserService to AccountService everywhere'</a:t>
            </a:r>
          </a:p>
          <a:p>
            <a:pPr>
              <a:spcAft>
                <a:spcPts val="1200"/>
              </a:spcAft>
              <a:defRPr sz="1800">
                <a:solidFill>
                  <a:srgbClr val="FFFFFF"/>
                </a:solidFill>
              </a:defRPr>
            </a:pPr>
            <a:r>
              <a:t>  'Split this 500-line file into separate modules'</a:t>
            </a:r>
          </a:p>
          <a:p>
            <a:pPr>
              <a:spcAft>
                <a:spcPts val="1200"/>
              </a:spcAft>
              <a:defRPr sz="1800">
                <a:solidFill>
                  <a:srgbClr val="FFFFFF"/>
                </a:solidFill>
              </a:defRPr>
            </a:pPr>
            <a:r>
              <a:t>  'Convert all callbacks to async/await'</a:t>
            </a:r>
          </a:p>
          <a:p>
            <a:pPr>
              <a:spcAft>
                <a:spcPts val="1200"/>
              </a:spcAft>
              <a:defRPr sz="1800">
                <a:solidFill>
                  <a:srgbClr val="FFFFFF"/>
                </a:solidFill>
              </a:defRPr>
            </a:pPr>
            <a:r>
              <a:t>  Use Plan Mode for refactors touching 3+ files</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731520"/>
            <a:ext cx="11277295" cy="914400"/>
          </a:xfrm>
          <a:prstGeom prst="rect">
            <a:avLst/>
          </a:prstGeom>
          <a:noFill/>
        </p:spPr>
        <p:txBody>
          <a:bodyPr wrap="none">
            <a:spAutoFit/>
          </a:bodyPr>
          <a:lstStyle/>
          <a:p>
            <a:pPr algn="ctr">
              <a:defRPr sz="4000" b="1">
                <a:solidFill>
                  <a:srgbClr val="FFFFFF"/>
                </a:solidFill>
              </a:defRPr>
            </a:pPr>
            <a:r>
              <a:t>Code Generation Patterns</a:t>
            </a:r>
          </a:p>
        </p:txBody>
      </p:sp>
      <p:sp>
        <p:nvSpPr>
          <p:cNvPr id="3" name="Rounded Rectangle 2"/>
          <p:cNvSpPr/>
          <p:nvPr/>
        </p:nvSpPr>
        <p:spPr>
          <a:xfrm>
            <a:off x="2301087" y="2011680"/>
            <a:ext cx="2286000" cy="3420932"/>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2986887" y="2468880"/>
            <a:ext cx="914400" cy="91440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986887" y="2468880"/>
            <a:ext cx="914400" cy="914400"/>
          </a:xfrm>
          <a:prstGeom prst="rect">
            <a:avLst/>
          </a:prstGeom>
          <a:noFill/>
        </p:spPr>
        <p:txBody>
          <a:bodyPr wrap="none" anchor="ctr">
            <a:spAutoFit/>
          </a:bodyPr>
          <a:lstStyle/>
          <a:p>
            <a:pPr algn="ctr">
              <a:defRPr sz="3600" b="1">
                <a:solidFill>
                  <a:srgbClr val="0B0F1A"/>
                </a:solidFill>
              </a:defRPr>
            </a:pPr>
            <a:r>
              <a:t>1</a:t>
            </a:r>
          </a:p>
        </p:txBody>
      </p:sp>
      <p:sp>
        <p:nvSpPr>
          <p:cNvPr id="6" name="TextBox 5"/>
          <p:cNvSpPr txBox="1"/>
          <p:nvPr/>
        </p:nvSpPr>
        <p:spPr>
          <a:xfrm>
            <a:off x="2392527" y="3657600"/>
            <a:ext cx="2103120" cy="1371600"/>
          </a:xfrm>
          <a:prstGeom prst="rect">
            <a:avLst/>
          </a:prstGeom>
          <a:noFill/>
        </p:spPr>
        <p:txBody>
          <a:bodyPr wrap="square">
            <a:normAutofit fontScale="92500" lnSpcReduction="20000"/>
          </a:bodyPr>
          <a:lstStyle/>
          <a:p>
            <a:pPr algn="ctr">
              <a:defRPr sz="1800" b="1">
                <a:solidFill>
                  <a:srgbClr val="FFFFFF"/>
                </a:solidFill>
              </a:defRPr>
            </a:pPr>
            <a:r>
              <a:t>Scaffold</a:t>
            </a:r>
          </a:p>
          <a:p>
            <a:pPr algn="ctr">
              <a:spcBef>
                <a:spcPts val="800"/>
              </a:spcBef>
              <a:defRPr sz="1300">
                <a:solidFill>
                  <a:srgbClr val="8B95A5"/>
                </a:solidFill>
              </a:defRPr>
            </a:pPr>
            <a:r>
              <a:t>'Create an Express REST API with auth'</a:t>
            </a:r>
            <a:br/>
            <a:r>
              <a:t>'Set up a React component library'</a:t>
            </a:r>
            <a:br/>
            <a:r>
              <a:t>Full project structure from a spec</a:t>
            </a:r>
          </a:p>
        </p:txBody>
      </p:sp>
      <p:sp>
        <p:nvSpPr>
          <p:cNvPr id="7" name="Rounded Rectangle 6"/>
          <p:cNvSpPr/>
          <p:nvPr/>
        </p:nvSpPr>
        <p:spPr>
          <a:xfrm>
            <a:off x="4952847" y="2011680"/>
            <a:ext cx="2286000" cy="3420932"/>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5638647" y="2468880"/>
            <a:ext cx="914400" cy="91440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638647" y="2468880"/>
            <a:ext cx="914400" cy="914400"/>
          </a:xfrm>
          <a:prstGeom prst="rect">
            <a:avLst/>
          </a:prstGeom>
          <a:noFill/>
        </p:spPr>
        <p:txBody>
          <a:bodyPr wrap="none" anchor="ctr">
            <a:spAutoFit/>
          </a:bodyPr>
          <a:lstStyle/>
          <a:p>
            <a:pPr algn="ctr">
              <a:defRPr sz="3600" b="1">
                <a:solidFill>
                  <a:srgbClr val="0B0F1A"/>
                </a:solidFill>
              </a:defRPr>
            </a:pPr>
            <a:r>
              <a:t>2</a:t>
            </a:r>
          </a:p>
        </p:txBody>
      </p:sp>
      <p:sp>
        <p:nvSpPr>
          <p:cNvPr id="10" name="TextBox 9"/>
          <p:cNvSpPr txBox="1"/>
          <p:nvPr/>
        </p:nvSpPr>
        <p:spPr>
          <a:xfrm>
            <a:off x="5044287" y="3657600"/>
            <a:ext cx="2103120" cy="1371600"/>
          </a:xfrm>
          <a:prstGeom prst="rect">
            <a:avLst/>
          </a:prstGeom>
          <a:noFill/>
        </p:spPr>
        <p:txBody>
          <a:bodyPr wrap="square">
            <a:normAutofit fontScale="92500" lnSpcReduction="20000"/>
          </a:bodyPr>
          <a:lstStyle/>
          <a:p>
            <a:pPr algn="ctr">
              <a:defRPr sz="1800" b="1">
                <a:solidFill>
                  <a:srgbClr val="FFFFFF"/>
                </a:solidFill>
              </a:defRPr>
            </a:pPr>
            <a:r>
              <a:t>Transform</a:t>
            </a:r>
          </a:p>
          <a:p>
            <a:pPr algn="ctr">
              <a:spcBef>
                <a:spcPts val="800"/>
              </a:spcBef>
              <a:defRPr sz="1300">
                <a:solidFill>
                  <a:srgbClr val="8B95A5"/>
                </a:solidFill>
              </a:defRPr>
            </a:pPr>
            <a:r>
              <a:t>'Convert this class to functional'</a:t>
            </a:r>
            <a:br/>
            <a:r>
              <a:t>'Migrate from JavaScript to TypeScript'</a:t>
            </a:r>
            <a:br/>
            <a:r>
              <a:t>'Add error handling to all endpoints'</a:t>
            </a:r>
          </a:p>
        </p:txBody>
      </p:sp>
      <p:sp>
        <p:nvSpPr>
          <p:cNvPr id="11" name="Rounded Rectangle 10"/>
          <p:cNvSpPr/>
          <p:nvPr/>
        </p:nvSpPr>
        <p:spPr>
          <a:xfrm>
            <a:off x="7604607" y="2011680"/>
            <a:ext cx="2286000" cy="3420932"/>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8290407" y="2468880"/>
            <a:ext cx="914400" cy="91440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290407" y="2468880"/>
            <a:ext cx="914400" cy="914400"/>
          </a:xfrm>
          <a:prstGeom prst="rect">
            <a:avLst/>
          </a:prstGeom>
          <a:noFill/>
        </p:spPr>
        <p:txBody>
          <a:bodyPr wrap="none" anchor="ctr">
            <a:spAutoFit/>
          </a:bodyPr>
          <a:lstStyle/>
          <a:p>
            <a:pPr algn="ctr">
              <a:defRPr sz="3600" b="1">
                <a:solidFill>
                  <a:srgbClr val="0B0F1A"/>
                </a:solidFill>
              </a:defRPr>
            </a:pPr>
            <a:r>
              <a:t>3</a:t>
            </a:r>
          </a:p>
        </p:txBody>
      </p:sp>
      <p:sp>
        <p:nvSpPr>
          <p:cNvPr id="14" name="TextBox 13"/>
          <p:cNvSpPr txBox="1"/>
          <p:nvPr/>
        </p:nvSpPr>
        <p:spPr>
          <a:xfrm>
            <a:off x="7696047" y="3657600"/>
            <a:ext cx="2103120" cy="1371600"/>
          </a:xfrm>
          <a:prstGeom prst="rect">
            <a:avLst/>
          </a:prstGeom>
          <a:noFill/>
        </p:spPr>
        <p:txBody>
          <a:bodyPr wrap="square">
            <a:normAutofit fontScale="92500"/>
          </a:bodyPr>
          <a:lstStyle/>
          <a:p>
            <a:pPr algn="ctr">
              <a:defRPr sz="1800" b="1">
                <a:solidFill>
                  <a:srgbClr val="FFFFFF"/>
                </a:solidFill>
              </a:defRPr>
            </a:pPr>
            <a:r>
              <a:t>Pattern</a:t>
            </a:r>
          </a:p>
          <a:p>
            <a:pPr algn="ctr">
              <a:spcBef>
                <a:spcPts val="800"/>
              </a:spcBef>
              <a:defRPr sz="1300">
                <a:solidFill>
                  <a:srgbClr val="8B95A5"/>
                </a:solidFill>
              </a:defRPr>
            </a:pPr>
            <a:r>
              <a:t>'Add the repository pattern for User'</a:t>
            </a:r>
            <a:br/>
            <a:r>
              <a:t>'Create a factory for test data'</a:t>
            </a:r>
            <a:br/>
            <a:r>
              <a:t>'Implement the observer pattern here'</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457200"/>
            <a:ext cx="11277295" cy="731520"/>
          </a:xfrm>
          <a:prstGeom prst="rect">
            <a:avLst/>
          </a:prstGeom>
          <a:noFill/>
        </p:spPr>
        <p:txBody>
          <a:bodyPr wrap="none">
            <a:spAutoFit/>
          </a:bodyPr>
          <a:lstStyle/>
          <a:p>
            <a:pPr algn="ctr">
              <a:defRPr sz="3600" b="1">
                <a:solidFill>
                  <a:srgbClr val="FFFFFF"/>
                </a:solidFill>
              </a:defRPr>
            </a:pPr>
            <a:r>
              <a:t>Debugging Workflows</a:t>
            </a:r>
          </a:p>
        </p:txBody>
      </p:sp>
      <p:sp>
        <p:nvSpPr>
          <p:cNvPr id="3" name="Rectangle 2"/>
          <p:cNvSpPr/>
          <p:nvPr/>
        </p:nvSpPr>
        <p:spPr>
          <a:xfrm>
            <a:off x="6077559" y="1371600"/>
            <a:ext cx="36576" cy="45720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463040"/>
            <a:ext cx="5364327" cy="731520"/>
          </a:xfrm>
          <a:prstGeom prst="rect">
            <a:avLst/>
          </a:prstGeom>
          <a:noFill/>
        </p:spPr>
        <p:txBody>
          <a:bodyPr wrap="none">
            <a:spAutoFit/>
          </a:bodyPr>
          <a:lstStyle/>
          <a:p>
            <a:pPr algn="ctr">
              <a:defRPr sz="2800" b="1">
                <a:solidFill>
                  <a:srgbClr val="E86B4A"/>
                </a:solidFill>
              </a:defRPr>
            </a:pPr>
            <a:r>
              <a:t>The Problem</a:t>
            </a:r>
          </a:p>
        </p:txBody>
      </p:sp>
      <p:sp>
        <p:nvSpPr>
          <p:cNvPr id="5" name="TextBox 4"/>
          <p:cNvSpPr txBox="1"/>
          <p:nvPr/>
        </p:nvSpPr>
        <p:spPr>
          <a:xfrm>
            <a:off x="457200" y="2286000"/>
            <a:ext cx="5364327" cy="3657600"/>
          </a:xfrm>
          <a:prstGeom prst="rect">
            <a:avLst/>
          </a:prstGeom>
          <a:noFill/>
        </p:spPr>
        <p:txBody>
          <a:bodyPr wrap="square">
            <a:spAutoFit/>
          </a:bodyPr>
          <a:lstStyle/>
          <a:p>
            <a:pPr>
              <a:spcAft>
                <a:spcPts val="1200"/>
              </a:spcAft>
              <a:defRPr sz="1800">
                <a:solidFill>
                  <a:srgbClr val="FFFFFF"/>
                </a:solidFill>
              </a:defRPr>
            </a:pPr>
            <a:r>
              <a:t>  Paste error message</a:t>
            </a:r>
          </a:p>
          <a:p>
            <a:pPr>
              <a:spcAft>
                <a:spcPts val="1200"/>
              </a:spcAft>
              <a:defRPr sz="1800">
                <a:solidFill>
                  <a:srgbClr val="FFFFFF"/>
                </a:solidFill>
              </a:defRPr>
            </a:pPr>
            <a:r>
              <a:t>  'This test is failing — fix it'</a:t>
            </a:r>
          </a:p>
          <a:p>
            <a:pPr>
              <a:spcAft>
                <a:spcPts val="1200"/>
              </a:spcAft>
              <a:defRPr sz="1800">
                <a:solidFill>
                  <a:srgbClr val="FFFFFF"/>
                </a:solidFill>
              </a:defRPr>
            </a:pPr>
            <a:r>
              <a:t>  'Users report 500 errors on /api/login'</a:t>
            </a:r>
          </a:p>
          <a:p>
            <a:pPr>
              <a:spcAft>
                <a:spcPts val="1200"/>
              </a:spcAft>
              <a:defRPr sz="1800">
                <a:solidFill>
                  <a:srgbClr val="FFFFFF"/>
                </a:solidFill>
              </a:defRPr>
            </a:pPr>
            <a:r>
              <a:t>  Claude reads logs, traces the issue</a:t>
            </a:r>
          </a:p>
        </p:txBody>
      </p:sp>
      <p:sp>
        <p:nvSpPr>
          <p:cNvPr id="6" name="TextBox 5"/>
          <p:cNvSpPr txBox="1"/>
          <p:nvPr/>
        </p:nvSpPr>
        <p:spPr>
          <a:xfrm>
            <a:off x="6370167" y="1463040"/>
            <a:ext cx="5364327" cy="731520"/>
          </a:xfrm>
          <a:prstGeom prst="rect">
            <a:avLst/>
          </a:prstGeom>
          <a:noFill/>
        </p:spPr>
        <p:txBody>
          <a:bodyPr wrap="none">
            <a:spAutoFit/>
          </a:bodyPr>
          <a:lstStyle/>
          <a:p>
            <a:pPr algn="ctr">
              <a:defRPr sz="2800" b="1">
                <a:solidFill>
                  <a:srgbClr val="00D4AA"/>
                </a:solidFill>
              </a:defRPr>
            </a:pPr>
            <a:r>
              <a:t>The Process</a:t>
            </a:r>
          </a:p>
        </p:txBody>
      </p:sp>
      <p:sp>
        <p:nvSpPr>
          <p:cNvPr id="7" name="TextBox 6"/>
          <p:cNvSpPr txBox="1"/>
          <p:nvPr/>
        </p:nvSpPr>
        <p:spPr>
          <a:xfrm>
            <a:off x="6370167" y="2286000"/>
            <a:ext cx="5364327" cy="3657600"/>
          </a:xfrm>
          <a:prstGeom prst="rect">
            <a:avLst/>
          </a:prstGeom>
          <a:noFill/>
        </p:spPr>
        <p:txBody>
          <a:bodyPr wrap="square">
            <a:spAutoFit/>
          </a:bodyPr>
          <a:lstStyle/>
          <a:p>
            <a:pPr>
              <a:spcAft>
                <a:spcPts val="1200"/>
              </a:spcAft>
              <a:defRPr sz="1800">
                <a:solidFill>
                  <a:srgbClr val="FFFFFF"/>
                </a:solidFill>
              </a:defRPr>
            </a:pPr>
            <a:r>
              <a:t>  Claude reads error + related code</a:t>
            </a:r>
          </a:p>
          <a:p>
            <a:pPr>
              <a:spcAft>
                <a:spcPts val="1200"/>
              </a:spcAft>
              <a:defRPr sz="1800">
                <a:solidFill>
                  <a:srgbClr val="FFFFFF"/>
                </a:solidFill>
              </a:defRPr>
            </a:pPr>
            <a:r>
              <a:t>  Identifies root cause (not just symptoms)</a:t>
            </a:r>
          </a:p>
          <a:p>
            <a:pPr>
              <a:spcAft>
                <a:spcPts val="1200"/>
              </a:spcAft>
              <a:defRPr sz="1800">
                <a:solidFill>
                  <a:srgbClr val="FFFFFF"/>
                </a:solidFill>
              </a:defRPr>
            </a:pPr>
            <a:r>
              <a:t>  Proposes fix with explanation</a:t>
            </a:r>
          </a:p>
          <a:p>
            <a:pPr>
              <a:spcAft>
                <a:spcPts val="1200"/>
              </a:spcAft>
              <a:defRPr sz="1800">
                <a:solidFill>
                  <a:srgbClr val="FFFFFF"/>
                </a:solidFill>
              </a:defRPr>
            </a:pPr>
            <a:r>
              <a:t>  Applies fix and runs tests to verify</a:t>
            </a:r>
          </a:p>
          <a:p>
            <a:pPr>
              <a:spcAft>
                <a:spcPts val="1200"/>
              </a:spcAft>
              <a:defRPr sz="1800">
                <a:solidFill>
                  <a:srgbClr val="FFFFFF"/>
                </a:solidFill>
              </a:defRPr>
            </a:pPr>
            <a:r>
              <a:t>  Suggests preventing similar bugs</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457200"/>
            <a:ext cx="11277295" cy="731520"/>
          </a:xfrm>
          <a:prstGeom prst="rect">
            <a:avLst/>
          </a:prstGeom>
          <a:noFill/>
        </p:spPr>
        <p:txBody>
          <a:bodyPr wrap="square">
            <a:spAutoFit/>
          </a:bodyPr>
          <a:lstStyle/>
          <a:p>
            <a:pPr algn="ctr">
              <a:defRPr sz="3600" b="1">
                <a:solidFill>
                  <a:srgbClr val="FFFFFF"/>
                </a:solidFill>
              </a:defRPr>
            </a:pPr>
            <a:r>
              <a:t>Engineering Principle: Think in Next Actions</a:t>
            </a:r>
          </a:p>
        </p:txBody>
      </p:sp>
      <p:sp>
        <p:nvSpPr>
          <p:cNvPr id="3" name="Rectangle 2"/>
          <p:cNvSpPr/>
          <p:nvPr/>
        </p:nvSpPr>
        <p:spPr>
          <a:xfrm>
            <a:off x="6077559" y="1371600"/>
            <a:ext cx="36576" cy="45720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463040"/>
            <a:ext cx="5364327" cy="731520"/>
          </a:xfrm>
          <a:prstGeom prst="rect">
            <a:avLst/>
          </a:prstGeom>
          <a:noFill/>
        </p:spPr>
        <p:txBody>
          <a:bodyPr wrap="none">
            <a:spAutoFit/>
          </a:bodyPr>
          <a:lstStyle/>
          <a:p>
            <a:pPr algn="ctr">
              <a:defRPr sz="2800" b="1">
                <a:solidFill>
                  <a:srgbClr val="E86B4A"/>
                </a:solidFill>
              </a:defRPr>
            </a:pPr>
            <a:r>
              <a:t>Don't</a:t>
            </a:r>
          </a:p>
        </p:txBody>
      </p:sp>
      <p:sp>
        <p:nvSpPr>
          <p:cNvPr id="5" name="TextBox 4"/>
          <p:cNvSpPr txBox="1"/>
          <p:nvPr/>
        </p:nvSpPr>
        <p:spPr>
          <a:xfrm>
            <a:off x="457200" y="2286000"/>
            <a:ext cx="5364327" cy="3657600"/>
          </a:xfrm>
          <a:prstGeom prst="rect">
            <a:avLst/>
          </a:prstGeom>
          <a:noFill/>
        </p:spPr>
        <p:txBody>
          <a:bodyPr wrap="square">
            <a:spAutoFit/>
          </a:bodyPr>
          <a:lstStyle/>
          <a:p>
            <a:pPr>
              <a:spcAft>
                <a:spcPts val="1200"/>
              </a:spcAft>
              <a:defRPr sz="1800">
                <a:solidFill>
                  <a:srgbClr val="FFFFFF"/>
                </a:solidFill>
              </a:defRPr>
            </a:pPr>
            <a:r>
              <a:t>  'Fix everything wrong with this codebase'</a:t>
            </a:r>
          </a:p>
          <a:p>
            <a:pPr>
              <a:spcAft>
                <a:spcPts val="1200"/>
              </a:spcAft>
              <a:defRPr sz="1800">
                <a:solidFill>
                  <a:srgbClr val="FFFFFF"/>
                </a:solidFill>
              </a:defRPr>
            </a:pPr>
            <a:r>
              <a:t>  'Make the app production-ready'</a:t>
            </a:r>
          </a:p>
          <a:p>
            <a:pPr>
              <a:spcAft>
                <a:spcPts val="1200"/>
              </a:spcAft>
              <a:defRPr sz="1800">
                <a:solidFill>
                  <a:srgbClr val="FFFFFF"/>
                </a:solidFill>
              </a:defRPr>
            </a:pPr>
            <a:r>
              <a:t>  'Improve performance everywhere'</a:t>
            </a:r>
          </a:p>
          <a:p>
            <a:pPr>
              <a:spcAft>
                <a:spcPts val="1200"/>
              </a:spcAft>
              <a:defRPr sz="1800">
                <a:solidFill>
                  <a:srgbClr val="FFFFFF"/>
                </a:solidFill>
              </a:defRPr>
            </a:pPr>
            <a:r>
              <a:t>  Vague, unbounded, guaranteed to disappoint</a:t>
            </a:r>
          </a:p>
        </p:txBody>
      </p:sp>
      <p:sp>
        <p:nvSpPr>
          <p:cNvPr id="6" name="TextBox 5"/>
          <p:cNvSpPr txBox="1"/>
          <p:nvPr/>
        </p:nvSpPr>
        <p:spPr>
          <a:xfrm>
            <a:off x="6370167" y="1463040"/>
            <a:ext cx="5364327" cy="731520"/>
          </a:xfrm>
          <a:prstGeom prst="rect">
            <a:avLst/>
          </a:prstGeom>
          <a:noFill/>
        </p:spPr>
        <p:txBody>
          <a:bodyPr wrap="none">
            <a:spAutoFit/>
          </a:bodyPr>
          <a:lstStyle/>
          <a:p>
            <a:pPr algn="ctr">
              <a:defRPr sz="2800" b="1">
                <a:solidFill>
                  <a:srgbClr val="00D4AA"/>
                </a:solidFill>
              </a:defRPr>
            </a:pPr>
            <a:r>
              <a:t>Do</a:t>
            </a:r>
          </a:p>
        </p:txBody>
      </p:sp>
      <p:sp>
        <p:nvSpPr>
          <p:cNvPr id="7" name="TextBox 6"/>
          <p:cNvSpPr txBox="1"/>
          <p:nvPr/>
        </p:nvSpPr>
        <p:spPr>
          <a:xfrm>
            <a:off x="6370167" y="2286000"/>
            <a:ext cx="5364327" cy="3657600"/>
          </a:xfrm>
          <a:prstGeom prst="rect">
            <a:avLst/>
          </a:prstGeom>
          <a:noFill/>
        </p:spPr>
        <p:txBody>
          <a:bodyPr wrap="square">
            <a:spAutoFit/>
          </a:bodyPr>
          <a:lstStyle/>
          <a:p>
            <a:pPr>
              <a:spcAft>
                <a:spcPts val="1200"/>
              </a:spcAft>
              <a:defRPr sz="1800">
                <a:solidFill>
                  <a:srgbClr val="FFFFFF"/>
                </a:solidFill>
              </a:defRPr>
            </a:pPr>
            <a:r>
              <a:t>  'Fix the N+1 query in getUserPosts'</a:t>
            </a:r>
          </a:p>
          <a:p>
            <a:pPr>
              <a:spcAft>
                <a:spcPts val="1200"/>
              </a:spcAft>
              <a:defRPr sz="1800">
                <a:solidFill>
                  <a:srgbClr val="FFFFFF"/>
                </a:solidFill>
              </a:defRPr>
            </a:pPr>
            <a:r>
              <a:t>  'Add rate limiting to /api/auth endpoints'</a:t>
            </a:r>
          </a:p>
          <a:p>
            <a:pPr>
              <a:spcAft>
                <a:spcPts val="1200"/>
              </a:spcAft>
              <a:defRPr sz="1800">
                <a:solidFill>
                  <a:srgbClr val="FFFFFF"/>
                </a:solidFill>
              </a:defRPr>
            </a:pPr>
            <a:r>
              <a:t>  'Cache the product catalog for 5 minutes'</a:t>
            </a:r>
          </a:p>
          <a:p>
            <a:pPr>
              <a:spcAft>
                <a:spcPts val="1200"/>
              </a:spcAft>
              <a:defRPr sz="1800">
                <a:solidFill>
                  <a:srgbClr val="FFFFFF"/>
                </a:solidFill>
              </a:defRPr>
            </a:pPr>
            <a:r>
              <a:t>  Specific, testable, completable in one session</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457200"/>
            <a:ext cx="11277295" cy="731520"/>
          </a:xfrm>
          <a:prstGeom prst="rect">
            <a:avLst/>
          </a:prstGeom>
          <a:noFill/>
        </p:spPr>
        <p:txBody>
          <a:bodyPr wrap="none">
            <a:spAutoFit/>
          </a:bodyPr>
          <a:lstStyle/>
          <a:p>
            <a:pPr algn="ctr">
              <a:defRPr sz="3600" b="1">
                <a:solidFill>
                  <a:srgbClr val="FFFFFF"/>
                </a:solidFill>
              </a:defRPr>
            </a:pPr>
            <a:r>
              <a:t>Test Generation</a:t>
            </a:r>
          </a:p>
        </p:txBody>
      </p:sp>
      <p:sp>
        <p:nvSpPr>
          <p:cNvPr id="3" name="Rectangle 2"/>
          <p:cNvSpPr/>
          <p:nvPr/>
        </p:nvSpPr>
        <p:spPr>
          <a:xfrm>
            <a:off x="6077559" y="1371600"/>
            <a:ext cx="36576" cy="45720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463040"/>
            <a:ext cx="5364327" cy="731520"/>
          </a:xfrm>
          <a:prstGeom prst="rect">
            <a:avLst/>
          </a:prstGeom>
          <a:noFill/>
        </p:spPr>
        <p:txBody>
          <a:bodyPr wrap="none">
            <a:spAutoFit/>
          </a:bodyPr>
          <a:lstStyle/>
          <a:p>
            <a:pPr algn="ctr">
              <a:defRPr sz="2800" b="1">
                <a:solidFill>
                  <a:srgbClr val="00D4AA"/>
                </a:solidFill>
              </a:defRPr>
            </a:pPr>
            <a:r>
              <a:t>What Claude Generates</a:t>
            </a:r>
          </a:p>
        </p:txBody>
      </p:sp>
      <p:sp>
        <p:nvSpPr>
          <p:cNvPr id="5" name="TextBox 4"/>
          <p:cNvSpPr txBox="1"/>
          <p:nvPr/>
        </p:nvSpPr>
        <p:spPr>
          <a:xfrm>
            <a:off x="457200" y="2286000"/>
            <a:ext cx="5364327" cy="3657600"/>
          </a:xfrm>
          <a:prstGeom prst="rect">
            <a:avLst/>
          </a:prstGeom>
          <a:noFill/>
        </p:spPr>
        <p:txBody>
          <a:bodyPr wrap="square">
            <a:spAutoFit/>
          </a:bodyPr>
          <a:lstStyle/>
          <a:p>
            <a:pPr>
              <a:spcAft>
                <a:spcPts val="1200"/>
              </a:spcAft>
              <a:defRPr sz="1800">
                <a:solidFill>
                  <a:srgbClr val="FFFFFF"/>
                </a:solidFill>
              </a:defRPr>
            </a:pPr>
            <a:r>
              <a:t>  Unit tests for individual functions</a:t>
            </a:r>
          </a:p>
          <a:p>
            <a:pPr>
              <a:spcAft>
                <a:spcPts val="1200"/>
              </a:spcAft>
              <a:defRPr sz="1800">
                <a:solidFill>
                  <a:srgbClr val="FFFFFF"/>
                </a:solidFill>
              </a:defRPr>
            </a:pPr>
            <a:r>
              <a:t>  Integration tests for API endpoints</a:t>
            </a:r>
          </a:p>
          <a:p>
            <a:pPr>
              <a:spcAft>
                <a:spcPts val="1200"/>
              </a:spcAft>
              <a:defRPr sz="1800">
                <a:solidFill>
                  <a:srgbClr val="FFFFFF"/>
                </a:solidFill>
              </a:defRPr>
            </a:pPr>
            <a:r>
              <a:t>  Edge cases you didn't think of</a:t>
            </a:r>
          </a:p>
          <a:p>
            <a:pPr>
              <a:spcAft>
                <a:spcPts val="1200"/>
              </a:spcAft>
              <a:defRPr sz="1800">
                <a:solidFill>
                  <a:srgbClr val="FFFFFF"/>
                </a:solidFill>
              </a:defRPr>
            </a:pPr>
            <a:r>
              <a:t>  Mock/stub setup for dependencies</a:t>
            </a:r>
          </a:p>
          <a:p>
            <a:pPr>
              <a:spcAft>
                <a:spcPts val="1200"/>
              </a:spcAft>
              <a:defRPr sz="1800">
                <a:solidFill>
                  <a:srgbClr val="FFFFFF"/>
                </a:solidFill>
              </a:defRPr>
            </a:pPr>
            <a:r>
              <a:t>  Test descriptions that document behavior</a:t>
            </a:r>
          </a:p>
        </p:txBody>
      </p:sp>
      <p:sp>
        <p:nvSpPr>
          <p:cNvPr id="6" name="TextBox 5"/>
          <p:cNvSpPr txBox="1"/>
          <p:nvPr/>
        </p:nvSpPr>
        <p:spPr>
          <a:xfrm>
            <a:off x="6370167" y="1463040"/>
            <a:ext cx="5364327" cy="731520"/>
          </a:xfrm>
          <a:prstGeom prst="rect">
            <a:avLst/>
          </a:prstGeom>
          <a:noFill/>
        </p:spPr>
        <p:txBody>
          <a:bodyPr wrap="none">
            <a:spAutoFit/>
          </a:bodyPr>
          <a:lstStyle/>
          <a:p>
            <a:pPr algn="ctr">
              <a:defRPr sz="2800" b="1">
                <a:solidFill>
                  <a:srgbClr val="E86B4A"/>
                </a:solidFill>
              </a:defRPr>
            </a:pPr>
            <a:r>
              <a:t>Best Prompts</a:t>
            </a:r>
          </a:p>
        </p:txBody>
      </p:sp>
      <p:sp>
        <p:nvSpPr>
          <p:cNvPr id="7" name="TextBox 6"/>
          <p:cNvSpPr txBox="1"/>
          <p:nvPr/>
        </p:nvSpPr>
        <p:spPr>
          <a:xfrm>
            <a:off x="6370167" y="2286000"/>
            <a:ext cx="5364327" cy="3657600"/>
          </a:xfrm>
          <a:prstGeom prst="rect">
            <a:avLst/>
          </a:prstGeom>
          <a:noFill/>
        </p:spPr>
        <p:txBody>
          <a:bodyPr wrap="square">
            <a:spAutoFit/>
          </a:bodyPr>
          <a:lstStyle/>
          <a:p>
            <a:pPr>
              <a:spcAft>
                <a:spcPts val="1200"/>
              </a:spcAft>
              <a:defRPr sz="1800">
                <a:solidFill>
                  <a:srgbClr val="FFFFFF"/>
                </a:solidFill>
              </a:defRPr>
            </a:pPr>
            <a:r>
              <a:t>  'Write tests for @auth.ts — cover happy path and errors'</a:t>
            </a:r>
          </a:p>
          <a:p>
            <a:pPr>
              <a:spcAft>
                <a:spcPts val="1200"/>
              </a:spcAft>
              <a:defRPr sz="1800">
                <a:solidFill>
                  <a:srgbClr val="FFFFFF"/>
                </a:solidFill>
              </a:defRPr>
            </a:pPr>
            <a:r>
              <a:t>  'Add integration tests for the /api/tasks endpoints'</a:t>
            </a:r>
          </a:p>
          <a:p>
            <a:pPr>
              <a:spcAft>
                <a:spcPts val="1200"/>
              </a:spcAft>
              <a:defRPr sz="1800">
                <a:solidFill>
                  <a:srgbClr val="FFFFFF"/>
                </a:solidFill>
              </a:defRPr>
            </a:pPr>
            <a:r>
              <a:t>  'What edge cases am I missing in these tests?'</a:t>
            </a:r>
          </a:p>
          <a:p>
            <a:pPr>
              <a:spcAft>
                <a:spcPts val="1200"/>
              </a:spcAft>
              <a:defRPr sz="1800">
                <a:solidFill>
                  <a:srgbClr val="FFFFFF"/>
                </a:solidFill>
              </a:defRPr>
            </a:pPr>
            <a:r>
              <a:t>  'Generate test data fixtures for the User model'</a:t>
            </a:r>
          </a:p>
          <a:p>
            <a:pPr>
              <a:spcAft>
                <a:spcPts val="1200"/>
              </a:spcAft>
              <a:defRPr sz="1800">
                <a:solidFill>
                  <a:srgbClr val="FFFFFF"/>
                </a:solidFill>
              </a:defRPr>
            </a:pPr>
            <a:r>
              <a:t>  'Increase coverage for src/services/ to 80%'</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11277295" cy="822960"/>
          </a:xfrm>
          <a:prstGeom prst="rect">
            <a:avLst/>
          </a:prstGeom>
          <a:noFill/>
        </p:spPr>
        <p:txBody>
          <a:bodyPr wrap="none">
            <a:spAutoFit/>
          </a:bodyPr>
          <a:lstStyle/>
          <a:p>
            <a:pPr>
              <a:defRPr sz="4000" b="1">
                <a:solidFill>
                  <a:srgbClr val="FFFFFF"/>
                </a:solidFill>
              </a:defRPr>
            </a:pPr>
            <a:r>
              <a:t>Never Trust, Always Verify</a:t>
            </a:r>
          </a:p>
        </p:txBody>
      </p:sp>
      <p:sp>
        <p:nvSpPr>
          <p:cNvPr id="3" name="Rectangle 2"/>
          <p:cNvSpPr/>
          <p:nvPr/>
        </p:nvSpPr>
        <p:spPr>
          <a:xfrm>
            <a:off x="457200" y="1234440"/>
            <a:ext cx="1828800" cy="3657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463040"/>
            <a:ext cx="11277295" cy="4572000"/>
          </a:xfrm>
          <a:prstGeom prst="rect">
            <a:avLst/>
          </a:prstGeom>
          <a:noFill/>
        </p:spPr>
        <p:txBody>
          <a:bodyPr wrap="square">
            <a:spAutoFit/>
          </a:bodyPr>
          <a:lstStyle/>
          <a:p>
            <a:pPr>
              <a:spcBef>
                <a:spcPts val="800"/>
              </a:spcBef>
              <a:spcAft>
                <a:spcPts val="800"/>
              </a:spcAft>
              <a:defRPr sz="2200">
                <a:solidFill>
                  <a:srgbClr val="FFFFFF"/>
                </a:solidFill>
              </a:defRPr>
            </a:pPr>
            <a:r>
              <a:t>  The verification loop: write code → write tests → run tests → if fail, Claude fixes → run again.</a:t>
            </a:r>
          </a:p>
          <a:p>
            <a:pPr>
              <a:spcBef>
                <a:spcPts val="800"/>
              </a:spcBef>
              <a:spcAft>
                <a:spcPts val="800"/>
              </a:spcAft>
              <a:defRPr sz="2200">
                <a:solidFill>
                  <a:srgbClr val="FFFFFF"/>
                </a:solidFill>
              </a:defRPr>
            </a:pPr>
            <a:r>
              <a:t>  Key insight: Claude is confident even when wrong.</a:t>
            </a:r>
          </a:p>
          <a:p>
            <a:pPr>
              <a:spcBef>
                <a:spcPts val="800"/>
              </a:spcBef>
              <a:spcAft>
                <a:spcPts val="800"/>
              </a:spcAft>
              <a:defRPr sz="2200">
                <a:solidFill>
                  <a:srgbClr val="FFFFFF"/>
                </a:solidFill>
              </a:defRPr>
            </a:pPr>
            <a:r>
              <a:t>  Almost right is worse than clearly wrong — almost right passes tests, ships to production, breaks at 3 AM.</a:t>
            </a:r>
          </a:p>
          <a:p>
            <a:pPr>
              <a:spcBef>
                <a:spcPts val="800"/>
              </a:spcBef>
              <a:spcAft>
                <a:spcPts val="800"/>
              </a:spcAft>
              <a:defRPr sz="2200">
                <a:solidFill>
                  <a:srgbClr val="FFFFFF"/>
                </a:solidFill>
              </a:defRPr>
            </a:pPr>
            <a:r>
              <a:t>  Ties to Principle #4: Build trust mechanisms, not just capabilities.</a:t>
            </a:r>
          </a:p>
          <a:p>
            <a:pPr>
              <a:spcBef>
                <a:spcPts val="800"/>
              </a:spcBef>
              <a:spcAft>
                <a:spcPts val="800"/>
              </a:spcAft>
              <a:defRPr sz="2200">
                <a:solidFill>
                  <a:srgbClr val="FFFFFF"/>
                </a:solidFill>
              </a:defRPr>
            </a:pPr>
            <a:r>
              <a:t>  Always run existing tests after changes — regressions are the silent killer.</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731520"/>
            <a:ext cx="11277295" cy="914400"/>
          </a:xfrm>
          <a:prstGeom prst="rect">
            <a:avLst/>
          </a:prstGeom>
          <a:noFill/>
        </p:spPr>
        <p:txBody>
          <a:bodyPr wrap="none">
            <a:spAutoFit/>
          </a:bodyPr>
          <a:lstStyle/>
          <a:p>
            <a:pPr algn="ctr">
              <a:defRPr sz="4000" b="1">
                <a:solidFill>
                  <a:srgbClr val="FFFFFF"/>
                </a:solidFill>
              </a:defRPr>
            </a:pPr>
            <a:r>
              <a:t>Documentation Creation</a:t>
            </a:r>
          </a:p>
        </p:txBody>
      </p:sp>
      <p:sp>
        <p:nvSpPr>
          <p:cNvPr id="3" name="Rounded Rectangle 2"/>
          <p:cNvSpPr/>
          <p:nvPr/>
        </p:nvSpPr>
        <p:spPr>
          <a:xfrm>
            <a:off x="2301087" y="2011680"/>
            <a:ext cx="2286000" cy="320040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2986887" y="2468880"/>
            <a:ext cx="914400" cy="91440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986887" y="2468880"/>
            <a:ext cx="914400" cy="914400"/>
          </a:xfrm>
          <a:prstGeom prst="rect">
            <a:avLst/>
          </a:prstGeom>
          <a:noFill/>
        </p:spPr>
        <p:txBody>
          <a:bodyPr wrap="none" anchor="ctr">
            <a:spAutoFit/>
          </a:bodyPr>
          <a:lstStyle/>
          <a:p>
            <a:pPr algn="ctr">
              <a:defRPr sz="3600" b="1">
                <a:solidFill>
                  <a:srgbClr val="0B0F1A"/>
                </a:solidFill>
              </a:defRPr>
            </a:pPr>
            <a:r>
              <a:t>1</a:t>
            </a:r>
          </a:p>
        </p:txBody>
      </p:sp>
      <p:sp>
        <p:nvSpPr>
          <p:cNvPr id="6" name="TextBox 5"/>
          <p:cNvSpPr txBox="1"/>
          <p:nvPr/>
        </p:nvSpPr>
        <p:spPr>
          <a:xfrm>
            <a:off x="2392527" y="3657600"/>
            <a:ext cx="2103120" cy="1371600"/>
          </a:xfrm>
          <a:prstGeom prst="rect">
            <a:avLst/>
          </a:prstGeom>
          <a:noFill/>
        </p:spPr>
        <p:txBody>
          <a:bodyPr wrap="square">
            <a:normAutofit fontScale="92500" lnSpcReduction="20000"/>
          </a:bodyPr>
          <a:lstStyle/>
          <a:p>
            <a:pPr algn="ctr">
              <a:defRPr sz="1800" b="1">
                <a:solidFill>
                  <a:srgbClr val="FFFFFF"/>
                </a:solidFill>
              </a:defRPr>
            </a:pPr>
            <a:r>
              <a:t>README</a:t>
            </a:r>
          </a:p>
          <a:p>
            <a:pPr algn="ctr">
              <a:spcBef>
                <a:spcPts val="800"/>
              </a:spcBef>
              <a:defRPr sz="1300">
                <a:solidFill>
                  <a:srgbClr val="8B95A5"/>
                </a:solidFill>
              </a:defRPr>
            </a:pPr>
            <a:r>
              <a:t>'Generate a README for this project'</a:t>
            </a:r>
            <a:br/>
            <a:r>
              <a:t>Includes: setup, usage, API docs, examples</a:t>
            </a:r>
            <a:br/>
            <a:r>
              <a:t>Claude reads your code to write accurate docs</a:t>
            </a:r>
          </a:p>
        </p:txBody>
      </p:sp>
      <p:sp>
        <p:nvSpPr>
          <p:cNvPr id="7" name="Rounded Rectangle 6"/>
          <p:cNvSpPr/>
          <p:nvPr/>
        </p:nvSpPr>
        <p:spPr>
          <a:xfrm>
            <a:off x="4952847" y="2011680"/>
            <a:ext cx="2286000" cy="320040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5638647" y="2468880"/>
            <a:ext cx="914400" cy="91440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638647" y="2468880"/>
            <a:ext cx="914400" cy="914400"/>
          </a:xfrm>
          <a:prstGeom prst="rect">
            <a:avLst/>
          </a:prstGeom>
          <a:noFill/>
        </p:spPr>
        <p:txBody>
          <a:bodyPr wrap="none" anchor="ctr">
            <a:spAutoFit/>
          </a:bodyPr>
          <a:lstStyle/>
          <a:p>
            <a:pPr algn="ctr">
              <a:defRPr sz="3600" b="1">
                <a:solidFill>
                  <a:srgbClr val="0B0F1A"/>
                </a:solidFill>
              </a:defRPr>
            </a:pPr>
            <a:r>
              <a:t>2</a:t>
            </a:r>
          </a:p>
        </p:txBody>
      </p:sp>
      <p:sp>
        <p:nvSpPr>
          <p:cNvPr id="10" name="TextBox 9"/>
          <p:cNvSpPr txBox="1"/>
          <p:nvPr/>
        </p:nvSpPr>
        <p:spPr>
          <a:xfrm>
            <a:off x="5044287" y="3657600"/>
            <a:ext cx="2103120" cy="1371600"/>
          </a:xfrm>
          <a:prstGeom prst="rect">
            <a:avLst/>
          </a:prstGeom>
          <a:noFill/>
        </p:spPr>
        <p:txBody>
          <a:bodyPr wrap="square">
            <a:normAutofit fontScale="92500"/>
          </a:bodyPr>
          <a:lstStyle/>
          <a:p>
            <a:pPr algn="ctr">
              <a:defRPr sz="1800" b="1">
                <a:solidFill>
                  <a:srgbClr val="FFFFFF"/>
                </a:solidFill>
              </a:defRPr>
            </a:pPr>
            <a:r>
              <a:t>API Docs</a:t>
            </a:r>
          </a:p>
          <a:p>
            <a:pPr algn="ctr">
              <a:spcBef>
                <a:spcPts val="800"/>
              </a:spcBef>
              <a:defRPr sz="1300">
                <a:solidFill>
                  <a:srgbClr val="8B95A5"/>
                </a:solidFill>
              </a:defRPr>
            </a:pPr>
            <a:r>
              <a:t>'Document all REST endpoints'</a:t>
            </a:r>
            <a:br/>
            <a:r>
              <a:t>Generates: routes, params, responses, examples</a:t>
            </a:r>
            <a:br/>
            <a:r>
              <a:t>OpenAPI/Swagger format if requested</a:t>
            </a:r>
          </a:p>
        </p:txBody>
      </p:sp>
      <p:sp>
        <p:nvSpPr>
          <p:cNvPr id="11" name="Rounded Rectangle 10"/>
          <p:cNvSpPr/>
          <p:nvPr/>
        </p:nvSpPr>
        <p:spPr>
          <a:xfrm>
            <a:off x="7604607" y="2011680"/>
            <a:ext cx="2286000" cy="320040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8290407" y="2468880"/>
            <a:ext cx="914400" cy="91440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290407" y="2468880"/>
            <a:ext cx="914400" cy="914400"/>
          </a:xfrm>
          <a:prstGeom prst="rect">
            <a:avLst/>
          </a:prstGeom>
          <a:noFill/>
        </p:spPr>
        <p:txBody>
          <a:bodyPr wrap="none" anchor="ctr">
            <a:spAutoFit/>
          </a:bodyPr>
          <a:lstStyle/>
          <a:p>
            <a:pPr algn="ctr">
              <a:defRPr sz="3600" b="1">
                <a:solidFill>
                  <a:srgbClr val="0B0F1A"/>
                </a:solidFill>
              </a:defRPr>
            </a:pPr>
            <a:r>
              <a:t>3</a:t>
            </a:r>
          </a:p>
        </p:txBody>
      </p:sp>
      <p:sp>
        <p:nvSpPr>
          <p:cNvPr id="14" name="TextBox 13"/>
          <p:cNvSpPr txBox="1"/>
          <p:nvPr/>
        </p:nvSpPr>
        <p:spPr>
          <a:xfrm>
            <a:off x="7696047" y="3657600"/>
            <a:ext cx="2103120" cy="1371600"/>
          </a:xfrm>
          <a:prstGeom prst="rect">
            <a:avLst/>
          </a:prstGeom>
          <a:noFill/>
        </p:spPr>
        <p:txBody>
          <a:bodyPr wrap="square">
            <a:normAutofit fontScale="92500" lnSpcReduction="20000"/>
          </a:bodyPr>
          <a:lstStyle/>
          <a:p>
            <a:pPr algn="ctr">
              <a:defRPr sz="1800" b="1">
                <a:solidFill>
                  <a:srgbClr val="FFFFFF"/>
                </a:solidFill>
              </a:defRPr>
            </a:pPr>
            <a:r>
              <a:t>Code Comments</a:t>
            </a:r>
          </a:p>
          <a:p>
            <a:pPr algn="ctr">
              <a:spcBef>
                <a:spcPts val="800"/>
              </a:spcBef>
              <a:defRPr sz="1300">
                <a:solidFill>
                  <a:srgbClr val="8B95A5"/>
                </a:solidFill>
              </a:defRPr>
            </a:pPr>
            <a:r>
              <a:t>'Add JSDoc comments to src/services/'</a:t>
            </a:r>
            <a:br/>
            <a:r>
              <a:t>Explains what and why, not just what</a:t>
            </a:r>
            <a:br/>
            <a:r>
              <a:t>Follows your team's documentation standards</a:t>
            </a: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1828800"/>
            <a:ext cx="11277295" cy="1371600"/>
          </a:xfrm>
          <a:prstGeom prst="rect">
            <a:avLst/>
          </a:prstGeom>
          <a:noFill/>
        </p:spPr>
        <p:txBody>
          <a:bodyPr wrap="none">
            <a:spAutoFit/>
          </a:bodyPr>
          <a:lstStyle/>
          <a:p>
            <a:pPr algn="ctr">
              <a:defRPr sz="9600" b="1">
                <a:solidFill>
                  <a:srgbClr val="00D4AA"/>
                </a:solidFill>
              </a:defRPr>
            </a:pPr>
            <a:r>
              <a:t>DEMO</a:t>
            </a:r>
          </a:p>
        </p:txBody>
      </p:sp>
      <p:sp>
        <p:nvSpPr>
          <p:cNvPr id="3" name="Rectangle 2"/>
          <p:cNvSpPr/>
          <p:nvPr/>
        </p:nvSpPr>
        <p:spPr>
          <a:xfrm>
            <a:off x="4724247" y="3474720"/>
            <a:ext cx="2743200" cy="54864"/>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3840480"/>
            <a:ext cx="11277295" cy="914400"/>
          </a:xfrm>
          <a:prstGeom prst="rect">
            <a:avLst/>
          </a:prstGeom>
          <a:noFill/>
        </p:spPr>
        <p:txBody>
          <a:bodyPr wrap="square">
            <a:spAutoFit/>
          </a:bodyPr>
          <a:lstStyle/>
          <a:p>
            <a:pPr algn="ctr">
              <a:defRPr sz="3200" b="1">
                <a:solidFill>
                  <a:srgbClr val="FFFFFF"/>
                </a:solidFill>
              </a:defRPr>
            </a:pPr>
            <a:r>
              <a:t>Real Debugging Session</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Rectangle 1"/>
          <p:cNvSpPr/>
          <p:nvPr/>
        </p:nvSpPr>
        <p:spPr>
          <a:xfrm>
            <a:off x="0" y="1828800"/>
            <a:ext cx="137160" cy="32004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0"/>
            <a:ext cx="11277295" cy="1371600"/>
          </a:xfrm>
          <a:prstGeom prst="rect">
            <a:avLst/>
          </a:prstGeom>
          <a:noFill/>
        </p:spPr>
        <p:txBody>
          <a:bodyPr wrap="square">
            <a:spAutoFit/>
          </a:bodyPr>
          <a:lstStyle/>
          <a:p>
            <a:pPr>
              <a:defRPr sz="5600" b="1">
                <a:solidFill>
                  <a:srgbClr val="FFFFFF"/>
                </a:solidFill>
              </a:defRPr>
            </a:pPr>
            <a:r>
              <a:t>SQL &amp; Data Analysis with Claude Code</a:t>
            </a:r>
          </a:p>
        </p:txBody>
      </p:sp>
      <p:sp>
        <p:nvSpPr>
          <p:cNvPr id="4" name="TextBox 3"/>
          <p:cNvSpPr txBox="1"/>
          <p:nvPr/>
        </p:nvSpPr>
        <p:spPr>
          <a:xfrm>
            <a:off x="457200" y="3840480"/>
            <a:ext cx="11277295" cy="914400"/>
          </a:xfrm>
          <a:prstGeom prst="rect">
            <a:avLst/>
          </a:prstGeom>
          <a:noFill/>
        </p:spPr>
        <p:txBody>
          <a:bodyPr wrap="square">
            <a:spAutoFit/>
          </a:bodyPr>
          <a:lstStyle/>
          <a:p>
            <a:pPr>
              <a:defRPr sz="2400">
                <a:solidFill>
                  <a:srgbClr val="8B95A5"/>
                </a:solidFill>
              </a:defRPr>
            </a:pPr>
            <a:r>
              <a:t>AI-Powered Database Development</a:t>
            </a: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457200"/>
            <a:ext cx="11277295" cy="731520"/>
          </a:xfrm>
          <a:prstGeom prst="rect">
            <a:avLst/>
          </a:prstGeom>
          <a:noFill/>
        </p:spPr>
        <p:txBody>
          <a:bodyPr wrap="none">
            <a:spAutoFit/>
          </a:bodyPr>
          <a:lstStyle/>
          <a:p>
            <a:pPr algn="ctr">
              <a:defRPr sz="3600" b="1">
                <a:solidFill>
                  <a:srgbClr val="FFFFFF"/>
                </a:solidFill>
              </a:defRPr>
            </a:pPr>
            <a:r>
              <a:t>SQL Query Generation</a:t>
            </a:r>
          </a:p>
        </p:txBody>
      </p:sp>
      <p:sp>
        <p:nvSpPr>
          <p:cNvPr id="3" name="Rectangle 2"/>
          <p:cNvSpPr/>
          <p:nvPr/>
        </p:nvSpPr>
        <p:spPr>
          <a:xfrm>
            <a:off x="6077559" y="1371600"/>
            <a:ext cx="36576" cy="45720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463040"/>
            <a:ext cx="5364327" cy="731520"/>
          </a:xfrm>
          <a:prstGeom prst="rect">
            <a:avLst/>
          </a:prstGeom>
          <a:noFill/>
        </p:spPr>
        <p:txBody>
          <a:bodyPr wrap="none">
            <a:spAutoFit/>
          </a:bodyPr>
          <a:lstStyle/>
          <a:p>
            <a:pPr algn="ctr">
              <a:defRPr sz="2800" b="1">
                <a:solidFill>
                  <a:srgbClr val="00D4AA"/>
                </a:solidFill>
              </a:defRPr>
            </a:pPr>
            <a:r>
              <a:t>Plain English → SQL</a:t>
            </a:r>
          </a:p>
        </p:txBody>
      </p:sp>
      <p:sp>
        <p:nvSpPr>
          <p:cNvPr id="5" name="TextBox 4"/>
          <p:cNvSpPr txBox="1"/>
          <p:nvPr/>
        </p:nvSpPr>
        <p:spPr>
          <a:xfrm>
            <a:off x="457200" y="2286000"/>
            <a:ext cx="5364327" cy="3657600"/>
          </a:xfrm>
          <a:prstGeom prst="rect">
            <a:avLst/>
          </a:prstGeom>
          <a:noFill/>
        </p:spPr>
        <p:txBody>
          <a:bodyPr wrap="square">
            <a:spAutoFit/>
          </a:bodyPr>
          <a:lstStyle/>
          <a:p>
            <a:pPr>
              <a:spcAft>
                <a:spcPts val="1200"/>
              </a:spcAft>
              <a:defRPr sz="1800">
                <a:solidFill>
                  <a:srgbClr val="FFFFFF"/>
                </a:solidFill>
              </a:defRPr>
            </a:pPr>
            <a:r>
              <a:t>  'Show me all active users who signed up this month'</a:t>
            </a:r>
          </a:p>
          <a:p>
            <a:pPr>
              <a:spcAft>
                <a:spcPts val="1200"/>
              </a:spcAft>
              <a:defRPr sz="1800">
                <a:solidFill>
                  <a:srgbClr val="FFFFFF"/>
                </a:solidFill>
              </a:defRPr>
            </a:pPr>
            <a:r>
              <a:t>  'Revenue by product category, last 90 days'</a:t>
            </a:r>
          </a:p>
          <a:p>
            <a:pPr>
              <a:spcAft>
                <a:spcPts val="1200"/>
              </a:spcAft>
              <a:defRPr sz="1800">
                <a:solidFill>
                  <a:srgbClr val="FFFFFF"/>
                </a:solidFill>
              </a:defRPr>
            </a:pPr>
            <a:r>
              <a:t>  'Find customers with no orders in 6 months'</a:t>
            </a:r>
          </a:p>
          <a:p>
            <a:pPr>
              <a:spcAft>
                <a:spcPts val="1200"/>
              </a:spcAft>
              <a:defRPr sz="1800">
                <a:solidFill>
                  <a:srgbClr val="FFFFFF"/>
                </a:solidFill>
              </a:defRPr>
            </a:pPr>
            <a:r>
              <a:t>  Claude writes, explains, and validates the query</a:t>
            </a:r>
          </a:p>
        </p:txBody>
      </p:sp>
      <p:sp>
        <p:nvSpPr>
          <p:cNvPr id="6" name="TextBox 5"/>
          <p:cNvSpPr txBox="1"/>
          <p:nvPr/>
        </p:nvSpPr>
        <p:spPr>
          <a:xfrm>
            <a:off x="6370167" y="1463040"/>
            <a:ext cx="5364327" cy="731520"/>
          </a:xfrm>
          <a:prstGeom prst="rect">
            <a:avLst/>
          </a:prstGeom>
          <a:noFill/>
        </p:spPr>
        <p:txBody>
          <a:bodyPr wrap="none">
            <a:spAutoFit/>
          </a:bodyPr>
          <a:lstStyle/>
          <a:p>
            <a:pPr algn="ctr">
              <a:defRPr sz="2800" b="1">
                <a:solidFill>
                  <a:srgbClr val="E86B4A"/>
                </a:solidFill>
              </a:defRPr>
            </a:pPr>
            <a:r>
              <a:t>Advanced</a:t>
            </a:r>
          </a:p>
        </p:txBody>
      </p:sp>
      <p:sp>
        <p:nvSpPr>
          <p:cNvPr id="7" name="TextBox 6"/>
          <p:cNvSpPr txBox="1"/>
          <p:nvPr/>
        </p:nvSpPr>
        <p:spPr>
          <a:xfrm>
            <a:off x="6370167" y="2286000"/>
            <a:ext cx="5364327" cy="3657600"/>
          </a:xfrm>
          <a:prstGeom prst="rect">
            <a:avLst/>
          </a:prstGeom>
          <a:noFill/>
        </p:spPr>
        <p:txBody>
          <a:bodyPr wrap="square">
            <a:spAutoFit/>
          </a:bodyPr>
          <a:lstStyle/>
          <a:p>
            <a:pPr>
              <a:spcAft>
                <a:spcPts val="1200"/>
              </a:spcAft>
              <a:defRPr sz="1800">
                <a:solidFill>
                  <a:srgbClr val="FFFFFF"/>
                </a:solidFill>
              </a:defRPr>
            </a:pPr>
            <a:r>
              <a:t>  Window functions and CTEs</a:t>
            </a:r>
          </a:p>
          <a:p>
            <a:pPr>
              <a:spcAft>
                <a:spcPts val="1200"/>
              </a:spcAft>
              <a:defRPr sz="1800">
                <a:solidFill>
                  <a:srgbClr val="FFFFFF"/>
                </a:solidFill>
              </a:defRPr>
            </a:pPr>
            <a:r>
              <a:t>  Query optimization suggestions</a:t>
            </a:r>
          </a:p>
          <a:p>
            <a:pPr>
              <a:spcAft>
                <a:spcPts val="1200"/>
              </a:spcAft>
              <a:defRPr sz="1800">
                <a:solidFill>
                  <a:srgbClr val="FFFFFF"/>
                </a:solidFill>
              </a:defRPr>
            </a:pPr>
            <a:r>
              <a:t>  Index recommendations based on query patterns</a:t>
            </a:r>
          </a:p>
          <a:p>
            <a:pPr>
              <a:spcAft>
                <a:spcPts val="1200"/>
              </a:spcAft>
              <a:defRPr sz="1800">
                <a:solidFill>
                  <a:srgbClr val="FFFFFF"/>
                </a:solidFill>
              </a:defRPr>
            </a:pPr>
            <a:r>
              <a:t>  Migration scripts from one schema to another</a:t>
            </a:r>
          </a:p>
          <a:p>
            <a:pPr>
              <a:spcAft>
                <a:spcPts val="1200"/>
              </a:spcAft>
              <a:defRPr sz="1800">
                <a:solidFill>
                  <a:srgbClr val="FFFFFF"/>
                </a:solidFill>
              </a:defRPr>
            </a:pPr>
            <a:r>
              <a:t>  Parameterized queries (never string concatenation)</a:t>
            </a: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457200"/>
            <a:ext cx="11277295" cy="731520"/>
          </a:xfrm>
          <a:prstGeom prst="rect">
            <a:avLst/>
          </a:prstGeom>
          <a:noFill/>
        </p:spPr>
        <p:txBody>
          <a:bodyPr wrap="none">
            <a:spAutoFit/>
          </a:bodyPr>
          <a:lstStyle/>
          <a:p>
            <a:pPr algn="ctr">
              <a:defRPr sz="3600" b="1">
                <a:solidFill>
                  <a:srgbClr val="FFFFFF"/>
                </a:solidFill>
              </a:defRPr>
            </a:pPr>
            <a:r>
              <a:t>Query Generation Example</a:t>
            </a:r>
          </a:p>
        </p:txBody>
      </p:sp>
      <p:sp>
        <p:nvSpPr>
          <p:cNvPr id="3" name="Rounded Rectangle 2"/>
          <p:cNvSpPr/>
          <p:nvPr/>
        </p:nvSpPr>
        <p:spPr>
          <a:xfrm>
            <a:off x="914400" y="1645920"/>
            <a:ext cx="10362895" cy="4114800"/>
          </a:xfrm>
          <a:prstGeom prst="round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97280" y="1783080"/>
            <a:ext cx="1828800" cy="365760"/>
          </a:xfrm>
          <a:prstGeom prst="rect">
            <a:avLst/>
          </a:prstGeom>
          <a:noFill/>
        </p:spPr>
        <p:txBody>
          <a:bodyPr wrap="none">
            <a:spAutoFit/>
          </a:bodyPr>
          <a:lstStyle/>
          <a:p>
            <a:pPr>
              <a:defRPr sz="1200" b="1">
                <a:solidFill>
                  <a:srgbClr val="00D4AA"/>
                </a:solidFill>
              </a:defRPr>
            </a:pPr>
            <a:r>
              <a:t>SQL</a:t>
            </a:r>
          </a:p>
        </p:txBody>
      </p:sp>
      <p:sp>
        <p:nvSpPr>
          <p:cNvPr id="5" name="TextBox 4"/>
          <p:cNvSpPr txBox="1"/>
          <p:nvPr/>
        </p:nvSpPr>
        <p:spPr>
          <a:xfrm>
            <a:off x="1097280" y="2194560"/>
            <a:ext cx="9997135" cy="3291840"/>
          </a:xfrm>
          <a:prstGeom prst="rect">
            <a:avLst/>
          </a:prstGeom>
          <a:noFill/>
        </p:spPr>
        <p:txBody>
          <a:bodyPr wrap="square">
            <a:spAutoFit/>
          </a:bodyPr>
          <a:lstStyle/>
          <a:p>
            <a:pPr>
              <a:defRPr sz="1400">
                <a:solidFill>
                  <a:srgbClr val="FFFFFF"/>
                </a:solidFill>
                <a:latin typeface="Consolas"/>
              </a:defRPr>
            </a:pPr>
            <a:r>
              <a:t>-- Prompt: "Find the top 5 customers by total order value in the</a:t>
            </a:r>
          </a:p>
          <a:p>
            <a:pPr>
              <a:defRPr sz="1400">
                <a:solidFill>
                  <a:srgbClr val="FFFFFF"/>
                </a:solidFill>
                <a:latin typeface="Consolas"/>
              </a:defRPr>
            </a:pPr>
            <a:r>
              <a:t>-- last 90 days, including their most recent order date"</a:t>
            </a:r>
          </a:p>
          <a:p>
            <a:pPr>
              <a:defRPr sz="1400">
                <a:solidFill>
                  <a:srgbClr val="FFFFFF"/>
                </a:solidFill>
                <a:latin typeface="Consolas"/>
              </a:defRPr>
            </a:pPr>
            <a:endParaRPr/>
          </a:p>
          <a:p>
            <a:pPr>
              <a:defRPr sz="1400">
                <a:solidFill>
                  <a:srgbClr val="FFFFFF"/>
                </a:solidFill>
                <a:latin typeface="Consolas"/>
              </a:defRPr>
            </a:pPr>
            <a:r>
              <a:t>WITH customer_orders AS (</a:t>
            </a:r>
          </a:p>
          <a:p>
            <a:pPr>
              <a:defRPr sz="1400">
                <a:solidFill>
                  <a:srgbClr val="FFFFFF"/>
                </a:solidFill>
                <a:latin typeface="Consolas"/>
              </a:defRPr>
            </a:pPr>
            <a:r>
              <a:t>  SELECT </a:t>
            </a:r>
          </a:p>
          <a:p>
            <a:pPr>
              <a:defRPr sz="1400">
                <a:solidFill>
                  <a:srgbClr val="FFFFFF"/>
                </a:solidFill>
                <a:latin typeface="Consolas"/>
              </a:defRPr>
            </a:pPr>
            <a:r>
              <a:t>    c.customer_id,</a:t>
            </a:r>
          </a:p>
          <a:p>
            <a:pPr>
              <a:defRPr sz="1400">
                <a:solidFill>
                  <a:srgbClr val="FFFFFF"/>
                </a:solidFill>
                <a:latin typeface="Consolas"/>
              </a:defRPr>
            </a:pPr>
            <a:r>
              <a:t>    c.first_name,</a:t>
            </a:r>
          </a:p>
          <a:p>
            <a:pPr>
              <a:defRPr sz="1400">
                <a:solidFill>
                  <a:srgbClr val="FFFFFF"/>
                </a:solidFill>
                <a:latin typeface="Consolas"/>
              </a:defRPr>
            </a:pPr>
            <a:r>
              <a:t>    c.last_name,</a:t>
            </a:r>
          </a:p>
          <a:p>
            <a:pPr>
              <a:defRPr sz="1400">
                <a:solidFill>
                  <a:srgbClr val="FFFFFF"/>
                </a:solidFill>
                <a:latin typeface="Consolas"/>
              </a:defRPr>
            </a:pPr>
            <a:r>
              <a:t>    c.email,</a:t>
            </a:r>
          </a:p>
          <a:p>
            <a:pPr>
              <a:defRPr sz="1400">
                <a:solidFill>
                  <a:srgbClr val="FFFFFF"/>
                </a:solidFill>
                <a:latin typeface="Consolas"/>
              </a:defRPr>
            </a:pPr>
            <a:r>
              <a:t>    SUM(oi.quantity * oi.unit_price) AS total_value,</a:t>
            </a:r>
          </a:p>
          <a:p>
            <a:pPr>
              <a:defRPr sz="1400">
                <a:solidFill>
                  <a:srgbClr val="FFFFFF"/>
                </a:solidFill>
                <a:latin typeface="Consolas"/>
              </a:defRPr>
            </a:pPr>
            <a:r>
              <a:t>    MAX(o.order_date) AS latest_order_date,</a:t>
            </a:r>
          </a:p>
          <a:p>
            <a:pPr>
              <a:defRPr sz="1400">
                <a:solidFill>
                  <a:srgbClr val="FFFFFF"/>
                </a:solidFill>
                <a:latin typeface="Consolas"/>
              </a:defRPr>
            </a:pPr>
            <a:r>
              <a:t>    COUNT(DISTINCT o.order_id) AS order_count</a:t>
            </a:r>
          </a:p>
          <a:p>
            <a:pPr>
              <a:defRPr sz="1400">
                <a:solidFill>
                  <a:srgbClr val="FFFFFF"/>
                </a:solidFill>
                <a:latin typeface="Consolas"/>
              </a:defRPr>
            </a:pPr>
            <a:r>
              <a:t>  FROM customers c</a:t>
            </a:r>
          </a:p>
          <a:p>
            <a:pPr>
              <a:defRPr sz="1400">
                <a:solidFill>
                  <a:srgbClr val="FFFFFF"/>
                </a:solidFill>
                <a:latin typeface="Consolas"/>
              </a:defRPr>
            </a:pPr>
            <a:r>
              <a:t>  JOIN orders o ON c.customer_id = o.customer_id</a:t>
            </a:r>
          </a:p>
          <a:p>
            <a:pPr>
              <a:defRPr sz="1400">
                <a:solidFill>
                  <a:srgbClr val="FFFFFF"/>
                </a:solidFill>
                <a:latin typeface="Consolas"/>
              </a:defRPr>
            </a:pPr>
            <a:r>
              <a:t>  JOIN order_items oi ON o.order_id = oi.order_id</a:t>
            </a: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457200"/>
            <a:ext cx="11277295" cy="731520"/>
          </a:xfrm>
          <a:prstGeom prst="rect">
            <a:avLst/>
          </a:prstGeom>
          <a:noFill/>
        </p:spPr>
        <p:txBody>
          <a:bodyPr wrap="none">
            <a:spAutoFit/>
          </a:bodyPr>
          <a:lstStyle/>
          <a:p>
            <a:pPr algn="ctr">
              <a:defRPr sz="3600" b="1">
                <a:solidFill>
                  <a:srgbClr val="FFFFFF"/>
                </a:solidFill>
              </a:defRPr>
            </a:pPr>
            <a:r>
              <a:t>Schema Design &amp; Normalization</a:t>
            </a:r>
          </a:p>
        </p:txBody>
      </p:sp>
      <p:sp>
        <p:nvSpPr>
          <p:cNvPr id="3" name="Rectangle 2"/>
          <p:cNvSpPr/>
          <p:nvPr/>
        </p:nvSpPr>
        <p:spPr>
          <a:xfrm>
            <a:off x="6077559" y="1371600"/>
            <a:ext cx="36576" cy="45720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463040"/>
            <a:ext cx="5364327" cy="731520"/>
          </a:xfrm>
          <a:prstGeom prst="rect">
            <a:avLst/>
          </a:prstGeom>
          <a:noFill/>
        </p:spPr>
        <p:txBody>
          <a:bodyPr wrap="none">
            <a:spAutoFit/>
          </a:bodyPr>
          <a:lstStyle/>
          <a:p>
            <a:pPr algn="ctr">
              <a:defRPr sz="2800" b="1">
                <a:solidFill>
                  <a:srgbClr val="00D4AA"/>
                </a:solidFill>
              </a:defRPr>
            </a:pPr>
            <a:r>
              <a:t>Design</a:t>
            </a:r>
          </a:p>
        </p:txBody>
      </p:sp>
      <p:sp>
        <p:nvSpPr>
          <p:cNvPr id="5" name="TextBox 4"/>
          <p:cNvSpPr txBox="1"/>
          <p:nvPr/>
        </p:nvSpPr>
        <p:spPr>
          <a:xfrm>
            <a:off x="457200" y="2286000"/>
            <a:ext cx="5364327" cy="3657600"/>
          </a:xfrm>
          <a:prstGeom prst="rect">
            <a:avLst/>
          </a:prstGeom>
          <a:noFill/>
        </p:spPr>
        <p:txBody>
          <a:bodyPr wrap="square">
            <a:spAutoFit/>
          </a:bodyPr>
          <a:lstStyle/>
          <a:p>
            <a:pPr>
              <a:spcAft>
                <a:spcPts val="1200"/>
              </a:spcAft>
              <a:defRPr sz="1800">
                <a:solidFill>
                  <a:srgbClr val="FFFFFF"/>
                </a:solidFill>
              </a:defRPr>
            </a:pPr>
            <a:r>
              <a:t>  'Design a schema for an e-commerce app'</a:t>
            </a:r>
          </a:p>
          <a:p>
            <a:pPr>
              <a:spcAft>
                <a:spcPts val="1200"/>
              </a:spcAft>
              <a:defRPr sz="1800">
                <a:solidFill>
                  <a:srgbClr val="FFFFFF"/>
                </a:solidFill>
              </a:defRPr>
            </a:pPr>
            <a:r>
              <a:t>  Claude generates tables, relationships, indexes</a:t>
            </a:r>
          </a:p>
          <a:p>
            <a:pPr>
              <a:spcAft>
                <a:spcPts val="1200"/>
              </a:spcAft>
              <a:defRPr sz="1800">
                <a:solidFill>
                  <a:srgbClr val="FFFFFF"/>
                </a:solidFill>
              </a:defRPr>
            </a:pPr>
            <a:r>
              <a:t>  Normalized by default (3NF)</a:t>
            </a:r>
          </a:p>
          <a:p>
            <a:pPr>
              <a:spcAft>
                <a:spcPts val="1200"/>
              </a:spcAft>
              <a:defRPr sz="1800">
                <a:solidFill>
                  <a:srgbClr val="FFFFFF"/>
                </a:solidFill>
              </a:defRPr>
            </a:pPr>
            <a:r>
              <a:t>  Includes foreign keys and constraints</a:t>
            </a:r>
          </a:p>
        </p:txBody>
      </p:sp>
      <p:sp>
        <p:nvSpPr>
          <p:cNvPr id="6" name="TextBox 5"/>
          <p:cNvSpPr txBox="1"/>
          <p:nvPr/>
        </p:nvSpPr>
        <p:spPr>
          <a:xfrm>
            <a:off x="6370167" y="1463040"/>
            <a:ext cx="5364327" cy="731520"/>
          </a:xfrm>
          <a:prstGeom prst="rect">
            <a:avLst/>
          </a:prstGeom>
          <a:noFill/>
        </p:spPr>
        <p:txBody>
          <a:bodyPr wrap="none">
            <a:spAutoFit/>
          </a:bodyPr>
          <a:lstStyle/>
          <a:p>
            <a:pPr algn="ctr">
              <a:defRPr sz="2800" b="1">
                <a:solidFill>
                  <a:srgbClr val="E86B4A"/>
                </a:solidFill>
              </a:defRPr>
            </a:pPr>
            <a:r>
              <a:t>Optimize</a:t>
            </a:r>
          </a:p>
        </p:txBody>
      </p:sp>
      <p:sp>
        <p:nvSpPr>
          <p:cNvPr id="7" name="TextBox 6"/>
          <p:cNvSpPr txBox="1"/>
          <p:nvPr/>
        </p:nvSpPr>
        <p:spPr>
          <a:xfrm>
            <a:off x="6370167" y="2286000"/>
            <a:ext cx="5364327" cy="3657600"/>
          </a:xfrm>
          <a:prstGeom prst="rect">
            <a:avLst/>
          </a:prstGeom>
          <a:noFill/>
        </p:spPr>
        <p:txBody>
          <a:bodyPr wrap="square">
            <a:spAutoFit/>
          </a:bodyPr>
          <a:lstStyle/>
          <a:p>
            <a:pPr>
              <a:spcAft>
                <a:spcPts val="1200"/>
              </a:spcAft>
              <a:defRPr sz="1800">
                <a:solidFill>
                  <a:srgbClr val="FFFFFF"/>
                </a:solidFill>
              </a:defRPr>
            </a:pPr>
            <a:r>
              <a:t>  'This query is slow — suggest indexes'</a:t>
            </a:r>
          </a:p>
          <a:p>
            <a:pPr>
              <a:spcAft>
                <a:spcPts val="1200"/>
              </a:spcAft>
              <a:defRPr sz="1800">
                <a:solidFill>
                  <a:srgbClr val="FFFFFF"/>
                </a:solidFill>
              </a:defRPr>
            </a:pPr>
            <a:r>
              <a:t>  Denormalization for read-heavy workloads</a:t>
            </a:r>
          </a:p>
          <a:p>
            <a:pPr>
              <a:spcAft>
                <a:spcPts val="1200"/>
              </a:spcAft>
              <a:defRPr sz="1800">
                <a:solidFill>
                  <a:srgbClr val="FFFFFF"/>
                </a:solidFill>
              </a:defRPr>
            </a:pPr>
            <a:r>
              <a:t>  Partitioning strategies for large tables</a:t>
            </a:r>
          </a:p>
          <a:p>
            <a:pPr>
              <a:spcAft>
                <a:spcPts val="1200"/>
              </a:spcAft>
              <a:defRPr sz="1800">
                <a:solidFill>
                  <a:srgbClr val="FFFFFF"/>
                </a:solidFill>
              </a:defRPr>
            </a:pPr>
            <a:r>
              <a:t>  Migration scripts for schema changes</a:t>
            </a: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457200"/>
            <a:ext cx="11277295" cy="731520"/>
          </a:xfrm>
          <a:prstGeom prst="rect">
            <a:avLst/>
          </a:prstGeom>
          <a:noFill/>
        </p:spPr>
        <p:txBody>
          <a:bodyPr wrap="none">
            <a:spAutoFit/>
          </a:bodyPr>
          <a:lstStyle/>
          <a:p>
            <a:pPr algn="ctr">
              <a:defRPr sz="3600" b="1">
                <a:solidFill>
                  <a:srgbClr val="FFFFFF"/>
                </a:solidFill>
              </a:defRPr>
            </a:pPr>
            <a:r>
              <a:t>Query Optimization Example</a:t>
            </a:r>
          </a:p>
        </p:txBody>
      </p:sp>
      <p:sp>
        <p:nvSpPr>
          <p:cNvPr id="3" name="Rounded Rectangle 2"/>
          <p:cNvSpPr/>
          <p:nvPr/>
        </p:nvSpPr>
        <p:spPr>
          <a:xfrm>
            <a:off x="914400" y="1645920"/>
            <a:ext cx="10362895" cy="4114800"/>
          </a:xfrm>
          <a:prstGeom prst="round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97280" y="1783080"/>
            <a:ext cx="1828800" cy="365760"/>
          </a:xfrm>
          <a:prstGeom prst="rect">
            <a:avLst/>
          </a:prstGeom>
          <a:noFill/>
        </p:spPr>
        <p:txBody>
          <a:bodyPr wrap="none">
            <a:spAutoFit/>
          </a:bodyPr>
          <a:lstStyle/>
          <a:p>
            <a:pPr>
              <a:defRPr sz="1200" b="1">
                <a:solidFill>
                  <a:srgbClr val="00D4AA"/>
                </a:solidFill>
              </a:defRPr>
            </a:pPr>
            <a:r>
              <a:t>SQL</a:t>
            </a:r>
          </a:p>
        </p:txBody>
      </p:sp>
      <p:sp>
        <p:nvSpPr>
          <p:cNvPr id="5" name="TextBox 4"/>
          <p:cNvSpPr txBox="1"/>
          <p:nvPr/>
        </p:nvSpPr>
        <p:spPr>
          <a:xfrm>
            <a:off x="1097280" y="2194560"/>
            <a:ext cx="9997135" cy="3291840"/>
          </a:xfrm>
          <a:prstGeom prst="rect">
            <a:avLst/>
          </a:prstGeom>
          <a:noFill/>
        </p:spPr>
        <p:txBody>
          <a:bodyPr wrap="square">
            <a:spAutoFit/>
          </a:bodyPr>
          <a:lstStyle/>
          <a:p>
            <a:pPr>
              <a:defRPr sz="1400">
                <a:solidFill>
                  <a:srgbClr val="FFFFFF"/>
                </a:solidFill>
                <a:latin typeface="Consolas"/>
              </a:defRPr>
            </a:pPr>
            <a:r>
              <a:t>-- BEFORE (slow query)</a:t>
            </a:r>
          </a:p>
          <a:p>
            <a:pPr>
              <a:defRPr sz="1400">
                <a:solidFill>
                  <a:srgbClr val="FFFFFF"/>
                </a:solidFill>
                <a:latin typeface="Consolas"/>
              </a:defRPr>
            </a:pPr>
            <a:r>
              <a:t>SELECT * FROM orders o</a:t>
            </a:r>
          </a:p>
          <a:p>
            <a:pPr>
              <a:defRPr sz="1400">
                <a:solidFill>
                  <a:srgbClr val="FFFFFF"/>
                </a:solidFill>
                <a:latin typeface="Consolas"/>
              </a:defRPr>
            </a:pPr>
            <a:r>
              <a:t>WHERE o.customer_id IN (</a:t>
            </a:r>
          </a:p>
          <a:p>
            <a:pPr>
              <a:defRPr sz="1400">
                <a:solidFill>
                  <a:srgbClr val="FFFFFF"/>
                </a:solidFill>
                <a:latin typeface="Consolas"/>
              </a:defRPr>
            </a:pPr>
            <a:r>
              <a:t>  SELECT customer_id FROM customers WHERE country = 'USA'</a:t>
            </a:r>
          </a:p>
          <a:p>
            <a:pPr>
              <a:defRPr sz="1400">
                <a:solidFill>
                  <a:srgbClr val="FFFFFF"/>
                </a:solidFill>
                <a:latin typeface="Consolas"/>
              </a:defRPr>
            </a:pPr>
            <a:r>
              <a:t>)</a:t>
            </a:r>
          </a:p>
          <a:p>
            <a:pPr>
              <a:defRPr sz="1400">
                <a:solidFill>
                  <a:srgbClr val="FFFFFF"/>
                </a:solidFill>
                <a:latin typeface="Consolas"/>
              </a:defRPr>
            </a:pPr>
            <a:r>
              <a:t>AND o.order_date &gt;= '2025-01-01';</a:t>
            </a:r>
          </a:p>
          <a:p>
            <a:pPr>
              <a:defRPr sz="1400">
                <a:solidFill>
                  <a:srgbClr val="FFFFFF"/>
                </a:solidFill>
                <a:latin typeface="Consolas"/>
              </a:defRPr>
            </a:pPr>
            <a:endParaRPr/>
          </a:p>
          <a:p>
            <a:pPr>
              <a:defRPr sz="1400">
                <a:solidFill>
                  <a:srgbClr val="FFFFFF"/>
                </a:solidFill>
                <a:latin typeface="Consolas"/>
              </a:defRPr>
            </a:pPr>
            <a:r>
              <a:t>-- AFTER (optimized by Claude Code)</a:t>
            </a:r>
          </a:p>
          <a:p>
            <a:pPr>
              <a:defRPr sz="1400">
                <a:solidFill>
                  <a:srgbClr val="FFFFFF"/>
                </a:solidFill>
                <a:latin typeface="Consolas"/>
              </a:defRPr>
            </a:pPr>
            <a:r>
              <a:t>SELECT </a:t>
            </a:r>
          </a:p>
          <a:p>
            <a:pPr>
              <a:defRPr sz="1400">
                <a:solidFill>
                  <a:srgbClr val="FFFFFF"/>
                </a:solidFill>
                <a:latin typeface="Consolas"/>
              </a:defRPr>
            </a:pPr>
            <a:r>
              <a:t>  o.order_id,</a:t>
            </a:r>
          </a:p>
          <a:p>
            <a:pPr>
              <a:defRPr sz="1400">
                <a:solidFill>
                  <a:srgbClr val="FFFFFF"/>
                </a:solidFill>
                <a:latin typeface="Consolas"/>
              </a:defRPr>
            </a:pPr>
            <a:r>
              <a:t>  o.customer_id,</a:t>
            </a:r>
          </a:p>
          <a:p>
            <a:pPr>
              <a:defRPr sz="1400">
                <a:solidFill>
                  <a:srgbClr val="FFFFFF"/>
                </a:solidFill>
                <a:latin typeface="Consolas"/>
              </a:defRPr>
            </a:pPr>
            <a:r>
              <a:t>  o.order_date,</a:t>
            </a:r>
          </a:p>
          <a:p>
            <a:pPr>
              <a:defRPr sz="1400">
                <a:solidFill>
                  <a:srgbClr val="FFFFFF"/>
                </a:solidFill>
                <a:latin typeface="Consolas"/>
              </a:defRPr>
            </a:pPr>
            <a:r>
              <a:t>  o.total_amount</a:t>
            </a:r>
          </a:p>
          <a:p>
            <a:pPr>
              <a:defRPr sz="1400">
                <a:solidFill>
                  <a:srgbClr val="FFFFFF"/>
                </a:solidFill>
                <a:latin typeface="Consolas"/>
              </a:defRPr>
            </a:pPr>
            <a:r>
              <a:t>FROM orders o</a:t>
            </a:r>
          </a:p>
          <a:p>
            <a:pPr>
              <a:defRPr sz="1400">
                <a:solidFill>
                  <a:srgbClr val="FFFFFF"/>
                </a:solidFill>
                <a:latin typeface="Consolas"/>
              </a:defRPr>
            </a:pPr>
            <a:r>
              <a:t>JOIN customers c ON o.customer_id = c.customer_id</a:t>
            </a: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457200"/>
            <a:ext cx="11277295" cy="731520"/>
          </a:xfrm>
          <a:prstGeom prst="rect">
            <a:avLst/>
          </a:prstGeom>
          <a:noFill/>
        </p:spPr>
        <p:txBody>
          <a:bodyPr wrap="none">
            <a:spAutoFit/>
          </a:bodyPr>
          <a:lstStyle/>
          <a:p>
            <a:pPr algn="ctr">
              <a:defRPr sz="3600" b="1">
                <a:solidFill>
                  <a:srgbClr val="FFFFFF"/>
                </a:solidFill>
              </a:defRPr>
            </a:pPr>
            <a:r>
              <a:t>ETL &amp; Data Transformation</a:t>
            </a:r>
          </a:p>
        </p:txBody>
      </p:sp>
      <p:sp>
        <p:nvSpPr>
          <p:cNvPr id="3" name="Rectangle 2"/>
          <p:cNvSpPr/>
          <p:nvPr/>
        </p:nvSpPr>
        <p:spPr>
          <a:xfrm>
            <a:off x="6077559" y="1371600"/>
            <a:ext cx="36576" cy="45720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463040"/>
            <a:ext cx="5364327" cy="731520"/>
          </a:xfrm>
          <a:prstGeom prst="rect">
            <a:avLst/>
          </a:prstGeom>
          <a:noFill/>
        </p:spPr>
        <p:txBody>
          <a:bodyPr wrap="none">
            <a:spAutoFit/>
          </a:bodyPr>
          <a:lstStyle/>
          <a:p>
            <a:pPr algn="ctr">
              <a:defRPr sz="2800" b="1">
                <a:solidFill>
                  <a:srgbClr val="00D4AA"/>
                </a:solidFill>
              </a:defRPr>
            </a:pPr>
            <a:r>
              <a:t>Extract &amp; Transform</a:t>
            </a:r>
          </a:p>
        </p:txBody>
      </p:sp>
      <p:sp>
        <p:nvSpPr>
          <p:cNvPr id="5" name="TextBox 4"/>
          <p:cNvSpPr txBox="1"/>
          <p:nvPr/>
        </p:nvSpPr>
        <p:spPr>
          <a:xfrm>
            <a:off x="457200" y="2286000"/>
            <a:ext cx="5364327" cy="3657600"/>
          </a:xfrm>
          <a:prstGeom prst="rect">
            <a:avLst/>
          </a:prstGeom>
          <a:noFill/>
        </p:spPr>
        <p:txBody>
          <a:bodyPr wrap="square">
            <a:spAutoFit/>
          </a:bodyPr>
          <a:lstStyle/>
          <a:p>
            <a:pPr>
              <a:spcAft>
                <a:spcPts val="1200"/>
              </a:spcAft>
              <a:defRPr sz="1800">
                <a:solidFill>
                  <a:srgbClr val="FFFFFF"/>
                </a:solidFill>
              </a:defRPr>
            </a:pPr>
            <a:r>
              <a:t>  CSV/JSON/XML parsing scripts</a:t>
            </a:r>
          </a:p>
          <a:p>
            <a:pPr>
              <a:spcAft>
                <a:spcPts val="1200"/>
              </a:spcAft>
              <a:defRPr sz="1800">
                <a:solidFill>
                  <a:srgbClr val="FFFFFF"/>
                </a:solidFill>
              </a:defRPr>
            </a:pPr>
            <a:r>
              <a:t>  Data cleaning and normalization</a:t>
            </a:r>
          </a:p>
          <a:p>
            <a:pPr>
              <a:spcAft>
                <a:spcPts val="1200"/>
              </a:spcAft>
              <a:defRPr sz="1800">
                <a:solidFill>
                  <a:srgbClr val="FFFFFF"/>
                </a:solidFill>
              </a:defRPr>
            </a:pPr>
            <a:r>
              <a:t>  Type conversion and validation</a:t>
            </a:r>
          </a:p>
          <a:p>
            <a:pPr>
              <a:spcAft>
                <a:spcPts val="1200"/>
              </a:spcAft>
              <a:defRPr sz="1800">
                <a:solidFill>
                  <a:srgbClr val="FFFFFF"/>
                </a:solidFill>
              </a:defRPr>
            </a:pPr>
            <a:r>
              <a:t>  Deduplication logic</a:t>
            </a:r>
          </a:p>
          <a:p>
            <a:pPr>
              <a:spcAft>
                <a:spcPts val="1200"/>
              </a:spcAft>
              <a:defRPr sz="1800">
                <a:solidFill>
                  <a:srgbClr val="FFFFFF"/>
                </a:solidFill>
              </a:defRPr>
            </a:pPr>
            <a:r>
              <a:t>  Error handling for malformed records</a:t>
            </a:r>
          </a:p>
        </p:txBody>
      </p:sp>
      <p:sp>
        <p:nvSpPr>
          <p:cNvPr id="6" name="TextBox 5"/>
          <p:cNvSpPr txBox="1"/>
          <p:nvPr/>
        </p:nvSpPr>
        <p:spPr>
          <a:xfrm>
            <a:off x="6370167" y="1463040"/>
            <a:ext cx="5364327" cy="731520"/>
          </a:xfrm>
          <a:prstGeom prst="rect">
            <a:avLst/>
          </a:prstGeom>
          <a:noFill/>
        </p:spPr>
        <p:txBody>
          <a:bodyPr wrap="none">
            <a:spAutoFit/>
          </a:bodyPr>
          <a:lstStyle/>
          <a:p>
            <a:pPr algn="ctr">
              <a:defRPr sz="2800" b="1">
                <a:solidFill>
                  <a:srgbClr val="E86B4A"/>
                </a:solidFill>
              </a:defRPr>
            </a:pPr>
            <a:r>
              <a:t>Load &amp; Validate</a:t>
            </a:r>
          </a:p>
        </p:txBody>
      </p:sp>
      <p:sp>
        <p:nvSpPr>
          <p:cNvPr id="7" name="TextBox 6"/>
          <p:cNvSpPr txBox="1"/>
          <p:nvPr/>
        </p:nvSpPr>
        <p:spPr>
          <a:xfrm>
            <a:off x="6370167" y="2286000"/>
            <a:ext cx="5364327" cy="3657600"/>
          </a:xfrm>
          <a:prstGeom prst="rect">
            <a:avLst/>
          </a:prstGeom>
          <a:noFill/>
        </p:spPr>
        <p:txBody>
          <a:bodyPr wrap="square">
            <a:spAutoFit/>
          </a:bodyPr>
          <a:lstStyle/>
          <a:p>
            <a:pPr>
              <a:spcAft>
                <a:spcPts val="1200"/>
              </a:spcAft>
              <a:defRPr sz="1800">
                <a:solidFill>
                  <a:srgbClr val="FFFFFF"/>
                </a:solidFill>
              </a:defRPr>
            </a:pPr>
            <a:r>
              <a:t>  Bulk insert with transaction safety</a:t>
            </a:r>
          </a:p>
          <a:p>
            <a:pPr>
              <a:spcAft>
                <a:spcPts val="1200"/>
              </a:spcAft>
              <a:defRPr sz="1800">
                <a:solidFill>
                  <a:srgbClr val="FFFFFF"/>
                </a:solidFill>
              </a:defRPr>
            </a:pPr>
            <a:r>
              <a:t>  Upsert patterns (insert or update)</a:t>
            </a:r>
          </a:p>
          <a:p>
            <a:pPr>
              <a:spcAft>
                <a:spcPts val="1200"/>
              </a:spcAft>
              <a:defRPr sz="1800">
                <a:solidFill>
                  <a:srgbClr val="FFFFFF"/>
                </a:solidFill>
              </a:defRPr>
            </a:pPr>
            <a:r>
              <a:t>  Data quality checks post-load</a:t>
            </a:r>
          </a:p>
          <a:p>
            <a:pPr>
              <a:spcAft>
                <a:spcPts val="1200"/>
              </a:spcAft>
              <a:defRPr sz="1800">
                <a:solidFill>
                  <a:srgbClr val="FFFFFF"/>
                </a:solidFill>
              </a:defRPr>
            </a:pPr>
            <a:r>
              <a:t>  Rollback on validation failure</a:t>
            </a:r>
          </a:p>
          <a:p>
            <a:pPr>
              <a:spcAft>
                <a:spcPts val="1200"/>
              </a:spcAft>
              <a:defRPr sz="1800">
                <a:solidFill>
                  <a:srgbClr val="FFFFFF"/>
                </a:solidFill>
              </a:defRPr>
            </a:pPr>
            <a:r>
              <a:t>  Audit logging for data lineage</a:t>
            </a: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731520"/>
            <a:ext cx="11277295" cy="914400"/>
          </a:xfrm>
          <a:prstGeom prst="rect">
            <a:avLst/>
          </a:prstGeom>
          <a:noFill/>
        </p:spPr>
        <p:txBody>
          <a:bodyPr wrap="none">
            <a:spAutoFit/>
          </a:bodyPr>
          <a:lstStyle/>
          <a:p>
            <a:pPr algn="ctr">
              <a:defRPr sz="4000" b="1">
                <a:solidFill>
                  <a:srgbClr val="FFFFFF"/>
                </a:solidFill>
              </a:defRPr>
            </a:pPr>
            <a:r>
              <a:t>Multi-Database Awareness</a:t>
            </a:r>
          </a:p>
        </p:txBody>
      </p:sp>
      <p:sp>
        <p:nvSpPr>
          <p:cNvPr id="3" name="Rounded Rectangle 2"/>
          <p:cNvSpPr/>
          <p:nvPr/>
        </p:nvSpPr>
        <p:spPr>
          <a:xfrm>
            <a:off x="2301087" y="2011680"/>
            <a:ext cx="2286000" cy="3200400"/>
          </a:xfrm>
          <a:prstGeom prst="roundRect">
            <a:avLst/>
          </a:prstGeom>
          <a:solidFill>
            <a:srgbClr val="141A26"/>
          </a:solidFill>
          <a:ln w="2540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2986887" y="2468880"/>
            <a:ext cx="914400" cy="914400"/>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986887" y="2468880"/>
            <a:ext cx="914400" cy="914400"/>
          </a:xfrm>
          <a:prstGeom prst="rect">
            <a:avLst/>
          </a:prstGeom>
          <a:noFill/>
        </p:spPr>
        <p:txBody>
          <a:bodyPr wrap="none" anchor="ctr">
            <a:spAutoFit/>
          </a:bodyPr>
          <a:lstStyle/>
          <a:p>
            <a:pPr algn="ctr">
              <a:defRPr sz="2800" b="1">
                <a:solidFill>
                  <a:srgbClr val="0B0F1A"/>
                </a:solidFill>
              </a:defRPr>
            </a:pPr>
            <a:r>
              <a:t>🗄</a:t>
            </a:r>
          </a:p>
        </p:txBody>
      </p:sp>
      <p:sp>
        <p:nvSpPr>
          <p:cNvPr id="6" name="TextBox 5"/>
          <p:cNvSpPr txBox="1"/>
          <p:nvPr/>
        </p:nvSpPr>
        <p:spPr>
          <a:xfrm>
            <a:off x="2392527" y="3657600"/>
            <a:ext cx="2103120" cy="1371600"/>
          </a:xfrm>
          <a:prstGeom prst="rect">
            <a:avLst/>
          </a:prstGeom>
          <a:noFill/>
        </p:spPr>
        <p:txBody>
          <a:bodyPr wrap="square">
            <a:normAutofit/>
          </a:bodyPr>
          <a:lstStyle/>
          <a:p>
            <a:pPr algn="ctr">
              <a:defRPr sz="1800" b="1">
                <a:solidFill>
                  <a:srgbClr val="FFFFFF"/>
                </a:solidFill>
              </a:defRPr>
            </a:pPr>
            <a:r>
              <a:t>PostgreSQL</a:t>
            </a:r>
          </a:p>
        </p:txBody>
      </p:sp>
      <p:sp>
        <p:nvSpPr>
          <p:cNvPr id="7" name="Rounded Rectangle 6"/>
          <p:cNvSpPr/>
          <p:nvPr/>
        </p:nvSpPr>
        <p:spPr>
          <a:xfrm>
            <a:off x="4952847" y="2011680"/>
            <a:ext cx="2286000" cy="320040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5638647" y="2468880"/>
            <a:ext cx="914400" cy="91440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638647" y="2468880"/>
            <a:ext cx="914400" cy="914400"/>
          </a:xfrm>
          <a:prstGeom prst="rect">
            <a:avLst/>
          </a:prstGeom>
          <a:noFill/>
        </p:spPr>
        <p:txBody>
          <a:bodyPr wrap="none" anchor="ctr">
            <a:spAutoFit/>
          </a:bodyPr>
          <a:lstStyle/>
          <a:p>
            <a:pPr algn="ctr">
              <a:defRPr sz="2800" b="1">
                <a:solidFill>
                  <a:srgbClr val="0B0F1A"/>
                </a:solidFill>
              </a:defRPr>
            </a:pPr>
            <a:r>
              <a:t>🗄</a:t>
            </a:r>
          </a:p>
        </p:txBody>
      </p:sp>
      <p:sp>
        <p:nvSpPr>
          <p:cNvPr id="10" name="TextBox 9"/>
          <p:cNvSpPr txBox="1"/>
          <p:nvPr/>
        </p:nvSpPr>
        <p:spPr>
          <a:xfrm>
            <a:off x="5044287" y="3657600"/>
            <a:ext cx="2103120" cy="1371600"/>
          </a:xfrm>
          <a:prstGeom prst="rect">
            <a:avLst/>
          </a:prstGeom>
          <a:noFill/>
        </p:spPr>
        <p:txBody>
          <a:bodyPr wrap="square">
            <a:normAutofit/>
          </a:bodyPr>
          <a:lstStyle/>
          <a:p>
            <a:pPr algn="ctr">
              <a:defRPr sz="1800" b="1">
                <a:solidFill>
                  <a:srgbClr val="FFFFFF"/>
                </a:solidFill>
              </a:defRPr>
            </a:pPr>
            <a:r>
              <a:t>MySQL</a:t>
            </a:r>
          </a:p>
        </p:txBody>
      </p:sp>
      <p:sp>
        <p:nvSpPr>
          <p:cNvPr id="11" name="Rounded Rectangle 10"/>
          <p:cNvSpPr/>
          <p:nvPr/>
        </p:nvSpPr>
        <p:spPr>
          <a:xfrm>
            <a:off x="7604607" y="2011680"/>
            <a:ext cx="2286000" cy="3200400"/>
          </a:xfrm>
          <a:prstGeom prst="roundRect">
            <a:avLst/>
          </a:prstGeom>
          <a:solidFill>
            <a:srgbClr val="141A26"/>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8290407" y="2468880"/>
            <a:ext cx="914400" cy="91440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290407" y="2468880"/>
            <a:ext cx="914400" cy="914400"/>
          </a:xfrm>
          <a:prstGeom prst="rect">
            <a:avLst/>
          </a:prstGeom>
          <a:noFill/>
        </p:spPr>
        <p:txBody>
          <a:bodyPr wrap="none" anchor="ctr">
            <a:spAutoFit/>
          </a:bodyPr>
          <a:lstStyle/>
          <a:p>
            <a:pPr algn="ctr">
              <a:defRPr sz="2800" b="1">
                <a:solidFill>
                  <a:srgbClr val="0B0F1A"/>
                </a:solidFill>
              </a:defRPr>
            </a:pPr>
            <a:r>
              <a:t>🗄</a:t>
            </a:r>
          </a:p>
        </p:txBody>
      </p:sp>
      <p:sp>
        <p:nvSpPr>
          <p:cNvPr id="14" name="TextBox 13"/>
          <p:cNvSpPr txBox="1"/>
          <p:nvPr/>
        </p:nvSpPr>
        <p:spPr>
          <a:xfrm>
            <a:off x="7696047" y="3657600"/>
            <a:ext cx="2103120" cy="1371600"/>
          </a:xfrm>
          <a:prstGeom prst="rect">
            <a:avLst/>
          </a:prstGeom>
          <a:noFill/>
        </p:spPr>
        <p:txBody>
          <a:bodyPr wrap="square">
            <a:normAutofit/>
          </a:bodyPr>
          <a:lstStyle/>
          <a:p>
            <a:pPr algn="ctr">
              <a:defRPr sz="1800" b="1">
                <a:solidFill>
                  <a:srgbClr val="FFFFFF"/>
                </a:solidFill>
              </a:defRPr>
            </a:pPr>
            <a:r>
              <a:t>SQLite</a:t>
            </a: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731520"/>
            <a:ext cx="11277295" cy="914400"/>
          </a:xfrm>
          <a:prstGeom prst="rect">
            <a:avLst/>
          </a:prstGeom>
          <a:noFill/>
        </p:spPr>
        <p:txBody>
          <a:bodyPr wrap="none">
            <a:spAutoFit/>
          </a:bodyPr>
          <a:lstStyle/>
          <a:p>
            <a:pPr algn="ctr">
              <a:defRPr sz="4000" b="1">
                <a:solidFill>
                  <a:srgbClr val="FFFFFF"/>
                </a:solidFill>
              </a:defRPr>
            </a:pPr>
            <a:r>
              <a:t>Data Validation &amp; Quality Checks</a:t>
            </a:r>
          </a:p>
        </p:txBody>
      </p:sp>
      <p:sp>
        <p:nvSpPr>
          <p:cNvPr id="3" name="Rounded Rectangle 2"/>
          <p:cNvSpPr/>
          <p:nvPr/>
        </p:nvSpPr>
        <p:spPr>
          <a:xfrm>
            <a:off x="2301087" y="2011680"/>
            <a:ext cx="2286000" cy="3824344"/>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2986887" y="2468880"/>
            <a:ext cx="914400" cy="91440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986887" y="2468880"/>
            <a:ext cx="914400" cy="914400"/>
          </a:xfrm>
          <a:prstGeom prst="rect">
            <a:avLst/>
          </a:prstGeom>
          <a:noFill/>
        </p:spPr>
        <p:txBody>
          <a:bodyPr wrap="none" anchor="ctr">
            <a:spAutoFit/>
          </a:bodyPr>
          <a:lstStyle/>
          <a:p>
            <a:pPr algn="ctr">
              <a:defRPr sz="3600" b="1">
                <a:solidFill>
                  <a:srgbClr val="0B0F1A"/>
                </a:solidFill>
              </a:defRPr>
            </a:pPr>
            <a:r>
              <a:t>1</a:t>
            </a:r>
          </a:p>
        </p:txBody>
      </p:sp>
      <p:sp>
        <p:nvSpPr>
          <p:cNvPr id="6" name="TextBox 5"/>
          <p:cNvSpPr txBox="1"/>
          <p:nvPr/>
        </p:nvSpPr>
        <p:spPr>
          <a:xfrm>
            <a:off x="2392527" y="3657600"/>
            <a:ext cx="2103120" cy="1371600"/>
          </a:xfrm>
          <a:prstGeom prst="rect">
            <a:avLst/>
          </a:prstGeom>
          <a:noFill/>
        </p:spPr>
        <p:txBody>
          <a:bodyPr wrap="square">
            <a:normAutofit fontScale="92500"/>
          </a:bodyPr>
          <a:lstStyle/>
          <a:p>
            <a:pPr algn="ctr">
              <a:defRPr sz="1800" b="1">
                <a:solidFill>
                  <a:srgbClr val="FFFFFF"/>
                </a:solidFill>
              </a:defRPr>
            </a:pPr>
            <a:r>
              <a:t>Validation</a:t>
            </a:r>
          </a:p>
          <a:p>
            <a:pPr algn="ctr">
              <a:spcBef>
                <a:spcPts val="800"/>
              </a:spcBef>
              <a:defRPr sz="1300">
                <a:solidFill>
                  <a:srgbClr val="8B95A5"/>
                </a:solidFill>
              </a:defRPr>
            </a:pPr>
            <a:r>
              <a:t>Null checks, type enforcement</a:t>
            </a:r>
            <a:br/>
            <a:r>
              <a:t>Range validation (age 0-150)</a:t>
            </a:r>
            <a:br/>
            <a:r>
              <a:t>Format validation (email, phone)</a:t>
            </a:r>
            <a:br/>
            <a:r>
              <a:t>Referential integrity checks</a:t>
            </a:r>
          </a:p>
        </p:txBody>
      </p:sp>
      <p:sp>
        <p:nvSpPr>
          <p:cNvPr id="7" name="Rounded Rectangle 6"/>
          <p:cNvSpPr/>
          <p:nvPr/>
        </p:nvSpPr>
        <p:spPr>
          <a:xfrm>
            <a:off x="4952847" y="2011680"/>
            <a:ext cx="2286000" cy="3824344"/>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5638647" y="2468880"/>
            <a:ext cx="914400" cy="91440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638647" y="2468880"/>
            <a:ext cx="914400" cy="914400"/>
          </a:xfrm>
          <a:prstGeom prst="rect">
            <a:avLst/>
          </a:prstGeom>
          <a:noFill/>
        </p:spPr>
        <p:txBody>
          <a:bodyPr wrap="none" anchor="ctr">
            <a:spAutoFit/>
          </a:bodyPr>
          <a:lstStyle/>
          <a:p>
            <a:pPr algn="ctr">
              <a:defRPr sz="3600" b="1">
                <a:solidFill>
                  <a:srgbClr val="0B0F1A"/>
                </a:solidFill>
              </a:defRPr>
            </a:pPr>
            <a:r>
              <a:t>2</a:t>
            </a:r>
          </a:p>
        </p:txBody>
      </p:sp>
      <p:sp>
        <p:nvSpPr>
          <p:cNvPr id="10" name="TextBox 9"/>
          <p:cNvSpPr txBox="1"/>
          <p:nvPr/>
        </p:nvSpPr>
        <p:spPr>
          <a:xfrm>
            <a:off x="5044287" y="3657600"/>
            <a:ext cx="2103120" cy="1371600"/>
          </a:xfrm>
          <a:prstGeom prst="rect">
            <a:avLst/>
          </a:prstGeom>
          <a:noFill/>
        </p:spPr>
        <p:txBody>
          <a:bodyPr wrap="square">
            <a:normAutofit fontScale="85000" lnSpcReduction="20000"/>
          </a:bodyPr>
          <a:lstStyle/>
          <a:p>
            <a:pPr algn="ctr">
              <a:defRPr sz="1800" b="1">
                <a:solidFill>
                  <a:srgbClr val="FFFFFF"/>
                </a:solidFill>
              </a:defRPr>
            </a:pPr>
            <a:r>
              <a:t>Quality</a:t>
            </a:r>
          </a:p>
          <a:p>
            <a:pPr algn="ctr">
              <a:spcBef>
                <a:spcPts val="800"/>
              </a:spcBef>
              <a:defRPr sz="1300">
                <a:solidFill>
                  <a:srgbClr val="8B95A5"/>
                </a:solidFill>
              </a:defRPr>
            </a:pPr>
            <a:r>
              <a:t>Completeness: % of non-null values</a:t>
            </a:r>
            <a:br/>
            <a:r>
              <a:t>Consistency: cross-field logic checks</a:t>
            </a:r>
            <a:br/>
            <a:r>
              <a:t>Accuracy: pattern detection for outliers</a:t>
            </a:r>
            <a:br/>
            <a:r>
              <a:t>Timeliness: stale data flagging</a:t>
            </a:r>
          </a:p>
        </p:txBody>
      </p:sp>
      <p:sp>
        <p:nvSpPr>
          <p:cNvPr id="11" name="Rounded Rectangle 10"/>
          <p:cNvSpPr/>
          <p:nvPr/>
        </p:nvSpPr>
        <p:spPr>
          <a:xfrm>
            <a:off x="7604607" y="2011680"/>
            <a:ext cx="2286000" cy="3824344"/>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8290407" y="2468880"/>
            <a:ext cx="914400" cy="91440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290407" y="2468880"/>
            <a:ext cx="914400" cy="914400"/>
          </a:xfrm>
          <a:prstGeom prst="rect">
            <a:avLst/>
          </a:prstGeom>
          <a:noFill/>
        </p:spPr>
        <p:txBody>
          <a:bodyPr wrap="none" anchor="ctr">
            <a:spAutoFit/>
          </a:bodyPr>
          <a:lstStyle/>
          <a:p>
            <a:pPr algn="ctr">
              <a:defRPr sz="3600" b="1">
                <a:solidFill>
                  <a:srgbClr val="0B0F1A"/>
                </a:solidFill>
              </a:defRPr>
            </a:pPr>
            <a:r>
              <a:t>3</a:t>
            </a:r>
          </a:p>
        </p:txBody>
      </p:sp>
      <p:sp>
        <p:nvSpPr>
          <p:cNvPr id="14" name="TextBox 13"/>
          <p:cNvSpPr txBox="1"/>
          <p:nvPr/>
        </p:nvSpPr>
        <p:spPr>
          <a:xfrm>
            <a:off x="7696047" y="3657600"/>
            <a:ext cx="2103120" cy="1371600"/>
          </a:xfrm>
          <a:prstGeom prst="rect">
            <a:avLst/>
          </a:prstGeom>
          <a:noFill/>
        </p:spPr>
        <p:txBody>
          <a:bodyPr wrap="square">
            <a:normAutofit fontScale="85000" lnSpcReduction="20000"/>
          </a:bodyPr>
          <a:lstStyle/>
          <a:p>
            <a:pPr algn="ctr">
              <a:defRPr sz="1800" b="1">
                <a:solidFill>
                  <a:srgbClr val="FFFFFF"/>
                </a:solidFill>
              </a:defRPr>
            </a:pPr>
            <a:r>
              <a:t>Automation</a:t>
            </a:r>
          </a:p>
          <a:p>
            <a:pPr algn="ctr">
              <a:spcBef>
                <a:spcPts val="800"/>
              </a:spcBef>
              <a:defRPr sz="1300">
                <a:solidFill>
                  <a:srgbClr val="8B95A5"/>
                </a:solidFill>
              </a:defRPr>
            </a:pPr>
            <a:r>
              <a:t>'Build a data quality report for this dataset'</a:t>
            </a:r>
            <a:br/>
            <a:r>
              <a:t>Claude generates validation scripts</a:t>
            </a:r>
            <a:br/>
            <a:r>
              <a:t>Runs checks and reports issues</a:t>
            </a:r>
            <a:br/>
            <a:r>
              <a:t>Suggests fixes for common problems</a:t>
            </a: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1828800"/>
            <a:ext cx="11277295" cy="1371600"/>
          </a:xfrm>
          <a:prstGeom prst="rect">
            <a:avLst/>
          </a:prstGeom>
          <a:noFill/>
        </p:spPr>
        <p:txBody>
          <a:bodyPr wrap="none">
            <a:spAutoFit/>
          </a:bodyPr>
          <a:lstStyle/>
          <a:p>
            <a:pPr algn="ctr">
              <a:defRPr sz="9600" b="1">
                <a:solidFill>
                  <a:srgbClr val="00D4AA"/>
                </a:solidFill>
              </a:defRPr>
            </a:pPr>
            <a:r>
              <a:t>DEMO</a:t>
            </a:r>
          </a:p>
        </p:txBody>
      </p:sp>
      <p:sp>
        <p:nvSpPr>
          <p:cNvPr id="3" name="Rectangle 2"/>
          <p:cNvSpPr/>
          <p:nvPr/>
        </p:nvSpPr>
        <p:spPr>
          <a:xfrm>
            <a:off x="4724247" y="3474720"/>
            <a:ext cx="2743200" cy="54864"/>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3840480"/>
            <a:ext cx="11277295" cy="914400"/>
          </a:xfrm>
          <a:prstGeom prst="rect">
            <a:avLst/>
          </a:prstGeom>
          <a:noFill/>
        </p:spPr>
        <p:txBody>
          <a:bodyPr wrap="square">
            <a:spAutoFit/>
          </a:bodyPr>
          <a:lstStyle/>
          <a:p>
            <a:pPr algn="ctr">
              <a:defRPr sz="3200" b="1">
                <a:solidFill>
                  <a:srgbClr val="FFFFFF"/>
                </a:solidFill>
              </a:defRPr>
            </a:pPr>
            <a:r>
              <a:t>Live: From Requirements to Database</a:t>
            </a: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Rounded Rectangle 1"/>
          <p:cNvSpPr/>
          <p:nvPr/>
        </p:nvSpPr>
        <p:spPr>
          <a:xfrm>
            <a:off x="457200" y="365760"/>
            <a:ext cx="1097280" cy="457200"/>
          </a:xfrm>
          <a:prstGeom prst="round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429768"/>
            <a:ext cx="1097280" cy="365760"/>
          </a:xfrm>
          <a:prstGeom prst="rect">
            <a:avLst/>
          </a:prstGeom>
          <a:noFill/>
        </p:spPr>
        <p:txBody>
          <a:bodyPr wrap="none">
            <a:spAutoFit/>
          </a:bodyPr>
          <a:lstStyle/>
          <a:p>
            <a:pPr algn="ctr">
              <a:defRPr sz="1800" b="1">
                <a:solidFill>
                  <a:srgbClr val="0B0F1A"/>
                </a:solidFill>
              </a:defRPr>
            </a:pPr>
            <a:r>
              <a:t>LAB</a:t>
            </a:r>
          </a:p>
        </p:txBody>
      </p:sp>
      <p:sp>
        <p:nvSpPr>
          <p:cNvPr id="4" name="Rounded Rectangle 3"/>
          <p:cNvSpPr/>
          <p:nvPr/>
        </p:nvSpPr>
        <p:spPr>
          <a:xfrm>
            <a:off x="10362895" y="365760"/>
            <a:ext cx="1371600" cy="457200"/>
          </a:xfrm>
          <a:prstGeom prst="roundRect">
            <a:avLst/>
          </a:prstGeom>
          <a:solidFill>
            <a:srgbClr val="141A26"/>
          </a:solidFill>
          <a:ln>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362895" y="429768"/>
            <a:ext cx="1371600" cy="365760"/>
          </a:xfrm>
          <a:prstGeom prst="rect">
            <a:avLst/>
          </a:prstGeom>
          <a:noFill/>
        </p:spPr>
        <p:txBody>
          <a:bodyPr wrap="none">
            <a:spAutoFit/>
          </a:bodyPr>
          <a:lstStyle/>
          <a:p>
            <a:pPr algn="ctr">
              <a:defRPr sz="1400" b="1">
                <a:solidFill>
                  <a:srgbClr val="00D4AA"/>
                </a:solidFill>
              </a:defRPr>
            </a:pPr>
            <a:r>
              <a:t>5 minutes</a:t>
            </a:r>
          </a:p>
        </p:txBody>
      </p:sp>
      <p:sp>
        <p:nvSpPr>
          <p:cNvPr id="6" name="TextBox 5"/>
          <p:cNvSpPr txBox="1"/>
          <p:nvPr/>
        </p:nvSpPr>
        <p:spPr>
          <a:xfrm>
            <a:off x="457200" y="1005840"/>
            <a:ext cx="11277295" cy="731520"/>
          </a:xfrm>
          <a:prstGeom prst="rect">
            <a:avLst/>
          </a:prstGeom>
          <a:noFill/>
        </p:spPr>
        <p:txBody>
          <a:bodyPr wrap="none">
            <a:spAutoFit/>
          </a:bodyPr>
          <a:lstStyle/>
          <a:p>
            <a:pPr>
              <a:defRPr sz="3200" b="1">
                <a:solidFill>
                  <a:srgbClr val="FFFFFF"/>
                </a:solidFill>
              </a:defRPr>
            </a:pPr>
            <a:r>
              <a:t>Lab 2: Real Development Workflow</a:t>
            </a:r>
          </a:p>
        </p:txBody>
      </p:sp>
      <p:sp>
        <p:nvSpPr>
          <p:cNvPr id="7" name="Rectangle 6"/>
          <p:cNvSpPr/>
          <p:nvPr/>
        </p:nvSpPr>
        <p:spPr>
          <a:xfrm>
            <a:off x="457200" y="1737360"/>
            <a:ext cx="2743200" cy="3657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11277295" cy="731520"/>
          </a:xfrm>
          <a:prstGeom prst="rect">
            <a:avLst/>
          </a:prstGeom>
          <a:noFill/>
        </p:spPr>
        <p:txBody>
          <a:bodyPr wrap="none">
            <a:spAutoFit/>
          </a:bodyPr>
          <a:lstStyle/>
          <a:p>
            <a:pPr algn="ctr">
              <a:defRPr sz="3600" b="1">
                <a:solidFill>
                  <a:srgbClr val="FFFFFF"/>
                </a:solidFill>
              </a:defRPr>
            </a:pPr>
            <a:r>
              <a:t>Case Study: 2 Hours That Saved 20</a:t>
            </a:r>
          </a:p>
        </p:txBody>
      </p:sp>
      <p:sp>
        <p:nvSpPr>
          <p:cNvPr id="3" name="Rounded Rectangle 2"/>
          <p:cNvSpPr/>
          <p:nvPr/>
        </p:nvSpPr>
        <p:spPr>
          <a:xfrm>
            <a:off x="2255367" y="1371600"/>
            <a:ext cx="822960" cy="82296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4" name="Oval 3"/>
          <p:cNvSpPr/>
          <p:nvPr/>
        </p:nvSpPr>
        <p:spPr>
          <a:xfrm>
            <a:off x="2918307" y="1211580"/>
            <a:ext cx="320040" cy="32004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918307" y="1211580"/>
            <a:ext cx="320040" cy="320040"/>
          </a:xfrm>
          <a:prstGeom prst="rect">
            <a:avLst/>
          </a:prstGeom>
          <a:noFill/>
        </p:spPr>
        <p:txBody>
          <a:bodyPr wrap="none" anchor="ctr">
            <a:spAutoFit/>
          </a:bodyPr>
          <a:lstStyle/>
          <a:p>
            <a:pPr algn="ctr">
              <a:defRPr sz="1400" b="1">
                <a:solidFill>
                  <a:srgbClr val="0B0F1A"/>
                </a:solidFill>
              </a:defRPr>
            </a:pPr>
            <a:r>
              <a:t>1</a:t>
            </a:r>
          </a:p>
        </p:txBody>
      </p:sp>
      <p:sp>
        <p:nvSpPr>
          <p:cNvPr id="6" name="Right Arrow 5"/>
          <p:cNvSpPr/>
          <p:nvPr/>
        </p:nvSpPr>
        <p:spPr>
          <a:xfrm>
            <a:off x="3169767" y="1645920"/>
            <a:ext cx="365760" cy="274320"/>
          </a:xfrm>
          <a:prstGeom prst="rightArrow">
            <a:avLst/>
          </a:prstGeom>
          <a:solidFill>
            <a:srgbClr val="8B95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3626967" y="1371600"/>
            <a:ext cx="822960" cy="82296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4289907" y="1211580"/>
            <a:ext cx="320040" cy="32004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289907" y="1211580"/>
            <a:ext cx="320040" cy="320040"/>
          </a:xfrm>
          <a:prstGeom prst="rect">
            <a:avLst/>
          </a:prstGeom>
          <a:noFill/>
        </p:spPr>
        <p:txBody>
          <a:bodyPr wrap="none" anchor="ctr">
            <a:spAutoFit/>
          </a:bodyPr>
          <a:lstStyle/>
          <a:p>
            <a:pPr algn="ctr">
              <a:defRPr sz="1400" b="1">
                <a:solidFill>
                  <a:srgbClr val="0B0F1A"/>
                </a:solidFill>
              </a:defRPr>
            </a:pPr>
            <a:r>
              <a:t>2</a:t>
            </a:r>
          </a:p>
        </p:txBody>
      </p:sp>
      <p:sp>
        <p:nvSpPr>
          <p:cNvPr id="10" name="Right Arrow 9"/>
          <p:cNvSpPr/>
          <p:nvPr/>
        </p:nvSpPr>
        <p:spPr>
          <a:xfrm>
            <a:off x="4541367" y="1645920"/>
            <a:ext cx="365760" cy="274320"/>
          </a:xfrm>
          <a:prstGeom prst="rightArrow">
            <a:avLst/>
          </a:prstGeom>
          <a:solidFill>
            <a:srgbClr val="8B95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4998567" y="1371600"/>
            <a:ext cx="822960" cy="82296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5661507" y="1211580"/>
            <a:ext cx="320040" cy="32004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661507" y="1211580"/>
            <a:ext cx="320040" cy="320040"/>
          </a:xfrm>
          <a:prstGeom prst="rect">
            <a:avLst/>
          </a:prstGeom>
          <a:noFill/>
        </p:spPr>
        <p:txBody>
          <a:bodyPr wrap="none" anchor="ctr">
            <a:spAutoFit/>
          </a:bodyPr>
          <a:lstStyle/>
          <a:p>
            <a:pPr algn="ctr">
              <a:defRPr sz="1400" b="1">
                <a:solidFill>
                  <a:srgbClr val="0B0F1A"/>
                </a:solidFill>
              </a:defRPr>
            </a:pPr>
            <a:r>
              <a:t>3</a:t>
            </a:r>
          </a:p>
        </p:txBody>
      </p:sp>
      <p:sp>
        <p:nvSpPr>
          <p:cNvPr id="14" name="Right Arrow 13"/>
          <p:cNvSpPr/>
          <p:nvPr/>
        </p:nvSpPr>
        <p:spPr>
          <a:xfrm>
            <a:off x="5912967" y="1645920"/>
            <a:ext cx="365760" cy="274320"/>
          </a:xfrm>
          <a:prstGeom prst="rightArrow">
            <a:avLst/>
          </a:prstGeom>
          <a:solidFill>
            <a:srgbClr val="8B95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6370167" y="1371600"/>
            <a:ext cx="822960" cy="82296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7033107" y="1211580"/>
            <a:ext cx="320040" cy="32004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033107" y="1211580"/>
            <a:ext cx="320040" cy="320040"/>
          </a:xfrm>
          <a:prstGeom prst="rect">
            <a:avLst/>
          </a:prstGeom>
          <a:noFill/>
        </p:spPr>
        <p:txBody>
          <a:bodyPr wrap="none" anchor="ctr">
            <a:spAutoFit/>
          </a:bodyPr>
          <a:lstStyle/>
          <a:p>
            <a:pPr algn="ctr">
              <a:defRPr sz="1400" b="1">
                <a:solidFill>
                  <a:srgbClr val="0B0F1A"/>
                </a:solidFill>
              </a:defRPr>
            </a:pPr>
            <a:r>
              <a:t>4</a:t>
            </a:r>
          </a:p>
        </p:txBody>
      </p:sp>
      <p:sp>
        <p:nvSpPr>
          <p:cNvPr id="18" name="Right Arrow 17"/>
          <p:cNvSpPr/>
          <p:nvPr/>
        </p:nvSpPr>
        <p:spPr>
          <a:xfrm>
            <a:off x="7284567" y="1645920"/>
            <a:ext cx="365760" cy="274320"/>
          </a:xfrm>
          <a:prstGeom prst="rightArrow">
            <a:avLst/>
          </a:prstGeom>
          <a:solidFill>
            <a:srgbClr val="8B95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7741767" y="1371600"/>
            <a:ext cx="822960" cy="82296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8404707" y="1211580"/>
            <a:ext cx="320040" cy="32004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404707" y="1211580"/>
            <a:ext cx="320040" cy="320040"/>
          </a:xfrm>
          <a:prstGeom prst="rect">
            <a:avLst/>
          </a:prstGeom>
          <a:noFill/>
        </p:spPr>
        <p:txBody>
          <a:bodyPr wrap="none" anchor="ctr">
            <a:spAutoFit/>
          </a:bodyPr>
          <a:lstStyle/>
          <a:p>
            <a:pPr algn="ctr">
              <a:defRPr sz="1400" b="1">
                <a:solidFill>
                  <a:srgbClr val="0B0F1A"/>
                </a:solidFill>
              </a:defRPr>
            </a:pPr>
            <a:r>
              <a:t>5</a:t>
            </a:r>
          </a:p>
        </p:txBody>
      </p:sp>
      <p:sp>
        <p:nvSpPr>
          <p:cNvPr id="22" name="Right Arrow 21"/>
          <p:cNvSpPr/>
          <p:nvPr/>
        </p:nvSpPr>
        <p:spPr>
          <a:xfrm>
            <a:off x="8656167" y="1645920"/>
            <a:ext cx="365760" cy="274320"/>
          </a:xfrm>
          <a:prstGeom prst="rightArrow">
            <a:avLst/>
          </a:prstGeom>
          <a:solidFill>
            <a:srgbClr val="8B95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9113367" y="1371600"/>
            <a:ext cx="822960" cy="82296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9776307" y="1211580"/>
            <a:ext cx="320040" cy="32004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776307" y="1211580"/>
            <a:ext cx="320040" cy="320040"/>
          </a:xfrm>
          <a:prstGeom prst="rect">
            <a:avLst/>
          </a:prstGeom>
          <a:noFill/>
        </p:spPr>
        <p:txBody>
          <a:bodyPr wrap="none" anchor="ctr">
            <a:spAutoFit/>
          </a:bodyPr>
          <a:lstStyle/>
          <a:p>
            <a:pPr algn="ctr">
              <a:defRPr sz="1400" b="1">
                <a:solidFill>
                  <a:srgbClr val="0B0F1A"/>
                </a:solidFill>
              </a:defRPr>
            </a:pPr>
            <a:r>
              <a:t>6</a:t>
            </a:r>
          </a:p>
        </p:txBody>
      </p:sp>
      <p:sp>
        <p:nvSpPr>
          <p:cNvPr id="26" name="TextBox 25"/>
          <p:cNvSpPr txBox="1"/>
          <p:nvPr/>
        </p:nvSpPr>
        <p:spPr>
          <a:xfrm>
            <a:off x="1371600" y="2743200"/>
            <a:ext cx="457200" cy="457200"/>
          </a:xfrm>
          <a:prstGeom prst="rect">
            <a:avLst/>
          </a:prstGeom>
          <a:noFill/>
        </p:spPr>
        <p:txBody>
          <a:bodyPr wrap="none">
            <a:spAutoFit/>
          </a:bodyPr>
          <a:lstStyle/>
          <a:p>
            <a:pPr>
              <a:defRPr sz="2000" b="1">
                <a:solidFill>
                  <a:srgbClr val="00D4AA"/>
                </a:solidFill>
              </a:defRPr>
            </a:pPr>
            <a:r>
              <a:t>1</a:t>
            </a:r>
          </a:p>
        </p:txBody>
      </p:sp>
      <p:sp>
        <p:nvSpPr>
          <p:cNvPr id="27" name="TextBox 26"/>
          <p:cNvSpPr txBox="1"/>
          <p:nvPr/>
        </p:nvSpPr>
        <p:spPr>
          <a:xfrm>
            <a:off x="1828800" y="2743200"/>
            <a:ext cx="8991295" cy="548640"/>
          </a:xfrm>
          <a:prstGeom prst="rect">
            <a:avLst/>
          </a:prstGeom>
          <a:noFill/>
        </p:spPr>
        <p:txBody>
          <a:bodyPr wrap="square">
            <a:spAutoFit/>
          </a:bodyPr>
          <a:lstStyle/>
          <a:p>
            <a:pPr>
              <a:defRPr sz="1800">
                <a:solidFill>
                  <a:srgbClr val="FFFFFF"/>
                </a:solidFill>
              </a:defRPr>
            </a:pPr>
            <a:r>
              <a:t>PM needs to pitch a Chrome extension to the CEO</a:t>
            </a:r>
          </a:p>
        </p:txBody>
      </p:sp>
      <p:sp>
        <p:nvSpPr>
          <p:cNvPr id="28" name="TextBox 27"/>
          <p:cNvSpPr txBox="1"/>
          <p:nvPr/>
        </p:nvSpPr>
        <p:spPr>
          <a:xfrm>
            <a:off x="1371600" y="3383280"/>
            <a:ext cx="457200" cy="457200"/>
          </a:xfrm>
          <a:prstGeom prst="rect">
            <a:avLst/>
          </a:prstGeom>
          <a:noFill/>
        </p:spPr>
        <p:txBody>
          <a:bodyPr wrap="none">
            <a:spAutoFit/>
          </a:bodyPr>
          <a:lstStyle/>
          <a:p>
            <a:pPr>
              <a:defRPr sz="2000" b="1">
                <a:solidFill>
                  <a:srgbClr val="00D4AA"/>
                </a:solidFill>
              </a:defRPr>
            </a:pPr>
            <a:r>
              <a:t>2</a:t>
            </a:r>
          </a:p>
        </p:txBody>
      </p:sp>
      <p:sp>
        <p:nvSpPr>
          <p:cNvPr id="29" name="TextBox 28"/>
          <p:cNvSpPr txBox="1"/>
          <p:nvPr/>
        </p:nvSpPr>
        <p:spPr>
          <a:xfrm>
            <a:off x="1828800" y="3383280"/>
            <a:ext cx="8991295" cy="548640"/>
          </a:xfrm>
          <a:prstGeom prst="rect">
            <a:avLst/>
          </a:prstGeom>
          <a:noFill/>
        </p:spPr>
        <p:txBody>
          <a:bodyPr wrap="square">
            <a:spAutoFit/>
          </a:bodyPr>
          <a:lstStyle/>
          <a:p>
            <a:pPr>
              <a:defRPr sz="1800">
                <a:solidFill>
                  <a:srgbClr val="FFFFFF"/>
                </a:solidFill>
              </a:defRPr>
            </a:pPr>
            <a:r>
              <a:t>Traditional: Write spec, wait 3 weeks for engineering estimate</a:t>
            </a:r>
          </a:p>
        </p:txBody>
      </p:sp>
      <p:sp>
        <p:nvSpPr>
          <p:cNvPr id="30" name="TextBox 29"/>
          <p:cNvSpPr txBox="1"/>
          <p:nvPr/>
        </p:nvSpPr>
        <p:spPr>
          <a:xfrm>
            <a:off x="1371600" y="4023360"/>
            <a:ext cx="457200" cy="457200"/>
          </a:xfrm>
          <a:prstGeom prst="rect">
            <a:avLst/>
          </a:prstGeom>
          <a:noFill/>
        </p:spPr>
        <p:txBody>
          <a:bodyPr wrap="none">
            <a:spAutoFit/>
          </a:bodyPr>
          <a:lstStyle/>
          <a:p>
            <a:pPr>
              <a:defRPr sz="2000" b="1">
                <a:solidFill>
                  <a:srgbClr val="00D4AA"/>
                </a:solidFill>
              </a:defRPr>
            </a:pPr>
            <a:r>
              <a:t>3</a:t>
            </a:r>
          </a:p>
        </p:txBody>
      </p:sp>
      <p:sp>
        <p:nvSpPr>
          <p:cNvPr id="31" name="TextBox 30"/>
          <p:cNvSpPr txBox="1"/>
          <p:nvPr/>
        </p:nvSpPr>
        <p:spPr>
          <a:xfrm>
            <a:off x="1828800" y="4023360"/>
            <a:ext cx="8991295" cy="548640"/>
          </a:xfrm>
          <a:prstGeom prst="rect">
            <a:avLst/>
          </a:prstGeom>
          <a:noFill/>
        </p:spPr>
        <p:txBody>
          <a:bodyPr wrap="square">
            <a:spAutoFit/>
          </a:bodyPr>
          <a:lstStyle/>
          <a:p>
            <a:pPr>
              <a:defRPr sz="1800">
                <a:solidFill>
                  <a:srgbClr val="FFFFFF"/>
                </a:solidFill>
              </a:defRPr>
            </a:pPr>
            <a:r>
              <a:t>Claude Code: PM describes extension, Claude builds a working MVP</a:t>
            </a:r>
          </a:p>
        </p:txBody>
      </p:sp>
      <p:sp>
        <p:nvSpPr>
          <p:cNvPr id="32" name="TextBox 31"/>
          <p:cNvSpPr txBox="1"/>
          <p:nvPr/>
        </p:nvSpPr>
        <p:spPr>
          <a:xfrm>
            <a:off x="1371600" y="4663440"/>
            <a:ext cx="457200" cy="457200"/>
          </a:xfrm>
          <a:prstGeom prst="rect">
            <a:avLst/>
          </a:prstGeom>
          <a:noFill/>
        </p:spPr>
        <p:txBody>
          <a:bodyPr wrap="none">
            <a:spAutoFit/>
          </a:bodyPr>
          <a:lstStyle/>
          <a:p>
            <a:pPr>
              <a:defRPr sz="2000" b="1">
                <a:solidFill>
                  <a:srgbClr val="00D4AA"/>
                </a:solidFill>
              </a:defRPr>
            </a:pPr>
            <a:r>
              <a:t>4</a:t>
            </a:r>
          </a:p>
        </p:txBody>
      </p:sp>
      <p:sp>
        <p:nvSpPr>
          <p:cNvPr id="33" name="TextBox 32"/>
          <p:cNvSpPr txBox="1"/>
          <p:nvPr/>
        </p:nvSpPr>
        <p:spPr>
          <a:xfrm>
            <a:off x="1828800" y="4663440"/>
            <a:ext cx="8991295" cy="548640"/>
          </a:xfrm>
          <a:prstGeom prst="rect">
            <a:avLst/>
          </a:prstGeom>
          <a:noFill/>
        </p:spPr>
        <p:txBody>
          <a:bodyPr wrap="square">
            <a:spAutoFit/>
          </a:bodyPr>
          <a:lstStyle/>
          <a:p>
            <a:pPr>
              <a:defRPr sz="1800">
                <a:solidFill>
                  <a:srgbClr val="FFFFFF"/>
                </a:solidFill>
              </a:defRPr>
            </a:pPr>
            <a:r>
              <a:t>Total time: 2 hours. Result: A clickable demo for the CEO</a:t>
            </a:r>
          </a:p>
        </p:txBody>
      </p:sp>
      <p:sp>
        <p:nvSpPr>
          <p:cNvPr id="34" name="TextBox 33"/>
          <p:cNvSpPr txBox="1"/>
          <p:nvPr/>
        </p:nvSpPr>
        <p:spPr>
          <a:xfrm>
            <a:off x="1371600" y="5303520"/>
            <a:ext cx="457200" cy="457200"/>
          </a:xfrm>
          <a:prstGeom prst="rect">
            <a:avLst/>
          </a:prstGeom>
          <a:noFill/>
        </p:spPr>
        <p:txBody>
          <a:bodyPr wrap="none">
            <a:spAutoFit/>
          </a:bodyPr>
          <a:lstStyle/>
          <a:p>
            <a:pPr>
              <a:defRPr sz="2000" b="1">
                <a:solidFill>
                  <a:srgbClr val="00D4AA"/>
                </a:solidFill>
              </a:defRPr>
            </a:pPr>
            <a:r>
              <a:t>5</a:t>
            </a:r>
          </a:p>
        </p:txBody>
      </p:sp>
      <p:sp>
        <p:nvSpPr>
          <p:cNvPr id="35" name="TextBox 34"/>
          <p:cNvSpPr txBox="1"/>
          <p:nvPr/>
        </p:nvSpPr>
        <p:spPr>
          <a:xfrm>
            <a:off x="1828800" y="5303520"/>
            <a:ext cx="8991295" cy="548640"/>
          </a:xfrm>
          <a:prstGeom prst="rect">
            <a:avLst/>
          </a:prstGeom>
          <a:noFill/>
        </p:spPr>
        <p:txBody>
          <a:bodyPr wrap="square">
            <a:spAutoFit/>
          </a:bodyPr>
          <a:lstStyle/>
          <a:p>
            <a:pPr>
              <a:defRPr sz="1800">
                <a:solidFill>
                  <a:srgbClr val="FFFFFF"/>
                </a:solidFill>
              </a:defRPr>
            </a:pPr>
            <a:r>
              <a:t>Engineering: 'This is what we'd build.' Estimate drops to 1 week.</a:t>
            </a:r>
          </a:p>
        </p:txBody>
      </p:sp>
      <p:sp>
        <p:nvSpPr>
          <p:cNvPr id="36" name="TextBox 35"/>
          <p:cNvSpPr txBox="1"/>
          <p:nvPr/>
        </p:nvSpPr>
        <p:spPr>
          <a:xfrm>
            <a:off x="1371600" y="5943600"/>
            <a:ext cx="457200" cy="457200"/>
          </a:xfrm>
          <a:prstGeom prst="rect">
            <a:avLst/>
          </a:prstGeom>
          <a:noFill/>
        </p:spPr>
        <p:txBody>
          <a:bodyPr wrap="none">
            <a:spAutoFit/>
          </a:bodyPr>
          <a:lstStyle/>
          <a:p>
            <a:pPr>
              <a:defRPr sz="2000" b="1">
                <a:solidFill>
                  <a:srgbClr val="00D4AA"/>
                </a:solidFill>
              </a:defRPr>
            </a:pPr>
            <a:r>
              <a:t>6</a:t>
            </a:r>
          </a:p>
        </p:txBody>
      </p:sp>
      <p:sp>
        <p:nvSpPr>
          <p:cNvPr id="37" name="TextBox 36"/>
          <p:cNvSpPr txBox="1"/>
          <p:nvPr/>
        </p:nvSpPr>
        <p:spPr>
          <a:xfrm>
            <a:off x="1828800" y="5943600"/>
            <a:ext cx="8991295" cy="548640"/>
          </a:xfrm>
          <a:prstGeom prst="rect">
            <a:avLst/>
          </a:prstGeom>
          <a:noFill/>
        </p:spPr>
        <p:txBody>
          <a:bodyPr wrap="square">
            <a:spAutoFit/>
          </a:bodyPr>
          <a:lstStyle/>
          <a:p>
            <a:pPr>
              <a:defRPr sz="1800">
                <a:solidFill>
                  <a:srgbClr val="FFFFFF"/>
                </a:solidFill>
              </a:defRPr>
            </a:pPr>
            <a:r>
              <a:t>The leverage: A working prototype beats a 20-page spec.</a:t>
            </a: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Rectangle 1"/>
          <p:cNvSpPr/>
          <p:nvPr/>
        </p:nvSpPr>
        <p:spPr>
          <a:xfrm>
            <a:off x="0" y="1188720"/>
            <a:ext cx="91440" cy="50292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65760"/>
            <a:ext cx="11277295" cy="822960"/>
          </a:xfrm>
          <a:prstGeom prst="rect">
            <a:avLst/>
          </a:prstGeom>
          <a:noFill/>
        </p:spPr>
        <p:txBody>
          <a:bodyPr wrap="none">
            <a:spAutoFit/>
          </a:bodyPr>
          <a:lstStyle/>
          <a:p>
            <a:pPr>
              <a:defRPr sz="4000" b="1">
                <a:solidFill>
                  <a:srgbClr val="FFFFFF"/>
                </a:solidFill>
              </a:defRPr>
            </a:pPr>
            <a:r>
              <a:t>Key Workflows Recap</a:t>
            </a:r>
          </a:p>
        </p:txBody>
      </p:sp>
      <p:sp>
        <p:nvSpPr>
          <p:cNvPr id="4" name="Oval 3"/>
          <p:cNvSpPr/>
          <p:nvPr/>
        </p:nvSpPr>
        <p:spPr>
          <a:xfrm>
            <a:off x="457200" y="1371600"/>
            <a:ext cx="411480" cy="41148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371600"/>
            <a:ext cx="411480" cy="411480"/>
          </a:xfrm>
          <a:prstGeom prst="rect">
            <a:avLst/>
          </a:prstGeom>
          <a:noFill/>
        </p:spPr>
        <p:txBody>
          <a:bodyPr wrap="none" anchor="ctr">
            <a:spAutoFit/>
          </a:bodyPr>
          <a:lstStyle/>
          <a:p>
            <a:pPr algn="ctr">
              <a:defRPr sz="2000" b="1">
                <a:solidFill>
                  <a:srgbClr val="0B0F1A"/>
                </a:solidFill>
              </a:defRPr>
            </a:pPr>
            <a:r>
              <a:t>v</a:t>
            </a:r>
          </a:p>
        </p:txBody>
      </p:sp>
      <p:sp>
        <p:nvSpPr>
          <p:cNvPr id="6" name="TextBox 5"/>
          <p:cNvSpPr txBox="1"/>
          <p:nvPr/>
        </p:nvSpPr>
        <p:spPr>
          <a:xfrm>
            <a:off x="1005840" y="1417320"/>
            <a:ext cx="10728655" cy="731520"/>
          </a:xfrm>
          <a:prstGeom prst="rect">
            <a:avLst/>
          </a:prstGeom>
          <a:noFill/>
        </p:spPr>
        <p:txBody>
          <a:bodyPr wrap="square">
            <a:spAutoFit/>
          </a:bodyPr>
          <a:lstStyle/>
          <a:p>
            <a:pPr>
              <a:defRPr sz="2200">
                <a:solidFill>
                  <a:srgbClr val="FFFFFF"/>
                </a:solidFill>
              </a:defRPr>
            </a:pPr>
            <a:r>
              <a:t>✓ Install and configure</a:t>
            </a:r>
          </a:p>
        </p:txBody>
      </p:sp>
      <p:sp>
        <p:nvSpPr>
          <p:cNvPr id="7" name="Oval 6"/>
          <p:cNvSpPr/>
          <p:nvPr/>
        </p:nvSpPr>
        <p:spPr>
          <a:xfrm>
            <a:off x="457200" y="2194560"/>
            <a:ext cx="411480" cy="41148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2194560"/>
            <a:ext cx="411480" cy="411480"/>
          </a:xfrm>
          <a:prstGeom prst="rect">
            <a:avLst/>
          </a:prstGeom>
          <a:noFill/>
        </p:spPr>
        <p:txBody>
          <a:bodyPr wrap="none" anchor="ctr">
            <a:spAutoFit/>
          </a:bodyPr>
          <a:lstStyle/>
          <a:p>
            <a:pPr algn="ctr">
              <a:defRPr sz="2000" b="1">
                <a:solidFill>
                  <a:srgbClr val="0B0F1A"/>
                </a:solidFill>
              </a:defRPr>
            </a:pPr>
            <a:r>
              <a:t>v</a:t>
            </a:r>
          </a:p>
        </p:txBody>
      </p:sp>
      <p:sp>
        <p:nvSpPr>
          <p:cNvPr id="9" name="TextBox 8"/>
          <p:cNvSpPr txBox="1"/>
          <p:nvPr/>
        </p:nvSpPr>
        <p:spPr>
          <a:xfrm>
            <a:off x="1005840" y="2240280"/>
            <a:ext cx="10728655" cy="731520"/>
          </a:xfrm>
          <a:prstGeom prst="rect">
            <a:avLst/>
          </a:prstGeom>
          <a:noFill/>
        </p:spPr>
        <p:txBody>
          <a:bodyPr wrap="square">
            <a:spAutoFit/>
          </a:bodyPr>
          <a:lstStyle/>
          <a:p>
            <a:pPr>
              <a:defRPr sz="2200">
                <a:solidFill>
                  <a:srgbClr val="FFFFFF"/>
                </a:solidFill>
              </a:defRPr>
            </a:pPr>
            <a:r>
              <a:t>✓ Agentic loop</a:t>
            </a:r>
          </a:p>
        </p:txBody>
      </p:sp>
      <p:sp>
        <p:nvSpPr>
          <p:cNvPr id="10" name="Oval 9"/>
          <p:cNvSpPr/>
          <p:nvPr/>
        </p:nvSpPr>
        <p:spPr>
          <a:xfrm>
            <a:off x="457200" y="3017520"/>
            <a:ext cx="411480" cy="41148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7200" y="3017520"/>
            <a:ext cx="411480" cy="411480"/>
          </a:xfrm>
          <a:prstGeom prst="rect">
            <a:avLst/>
          </a:prstGeom>
          <a:noFill/>
        </p:spPr>
        <p:txBody>
          <a:bodyPr wrap="none" anchor="ctr">
            <a:spAutoFit/>
          </a:bodyPr>
          <a:lstStyle/>
          <a:p>
            <a:pPr algn="ctr">
              <a:defRPr sz="2000" b="1">
                <a:solidFill>
                  <a:srgbClr val="0B0F1A"/>
                </a:solidFill>
              </a:defRPr>
            </a:pPr>
            <a:r>
              <a:t>v</a:t>
            </a:r>
          </a:p>
        </p:txBody>
      </p:sp>
      <p:sp>
        <p:nvSpPr>
          <p:cNvPr id="12" name="TextBox 11"/>
          <p:cNvSpPr txBox="1"/>
          <p:nvPr/>
        </p:nvSpPr>
        <p:spPr>
          <a:xfrm>
            <a:off x="1005840" y="3063240"/>
            <a:ext cx="10728655" cy="731520"/>
          </a:xfrm>
          <a:prstGeom prst="rect">
            <a:avLst/>
          </a:prstGeom>
          <a:noFill/>
        </p:spPr>
        <p:txBody>
          <a:bodyPr wrap="square">
            <a:spAutoFit/>
          </a:bodyPr>
          <a:lstStyle/>
          <a:p>
            <a:pPr>
              <a:defRPr sz="2200">
                <a:solidFill>
                  <a:srgbClr val="FFFFFF"/>
                </a:solidFill>
              </a:defRPr>
            </a:pPr>
            <a:r>
              <a:t>✓ CLAUDE.md</a:t>
            </a:r>
          </a:p>
        </p:txBody>
      </p:sp>
      <p:sp>
        <p:nvSpPr>
          <p:cNvPr id="13" name="Oval 12"/>
          <p:cNvSpPr/>
          <p:nvPr/>
        </p:nvSpPr>
        <p:spPr>
          <a:xfrm>
            <a:off x="457200" y="3840480"/>
            <a:ext cx="411480" cy="41148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7200" y="3840480"/>
            <a:ext cx="411480" cy="411480"/>
          </a:xfrm>
          <a:prstGeom prst="rect">
            <a:avLst/>
          </a:prstGeom>
          <a:noFill/>
        </p:spPr>
        <p:txBody>
          <a:bodyPr wrap="none" anchor="ctr">
            <a:spAutoFit/>
          </a:bodyPr>
          <a:lstStyle/>
          <a:p>
            <a:pPr algn="ctr">
              <a:defRPr sz="2000" b="1">
                <a:solidFill>
                  <a:srgbClr val="0B0F1A"/>
                </a:solidFill>
              </a:defRPr>
            </a:pPr>
            <a:r>
              <a:t>v</a:t>
            </a:r>
          </a:p>
        </p:txBody>
      </p:sp>
      <p:sp>
        <p:nvSpPr>
          <p:cNvPr id="15" name="TextBox 14"/>
          <p:cNvSpPr txBox="1"/>
          <p:nvPr/>
        </p:nvSpPr>
        <p:spPr>
          <a:xfrm>
            <a:off x="1005840" y="3886200"/>
            <a:ext cx="10728655" cy="731520"/>
          </a:xfrm>
          <a:prstGeom prst="rect">
            <a:avLst/>
          </a:prstGeom>
          <a:noFill/>
        </p:spPr>
        <p:txBody>
          <a:bodyPr wrap="square">
            <a:spAutoFit/>
          </a:bodyPr>
          <a:lstStyle/>
          <a:p>
            <a:pPr>
              <a:defRPr sz="2200">
                <a:solidFill>
                  <a:srgbClr val="FFFFFF"/>
                </a:solidFill>
              </a:defRPr>
            </a:pPr>
            <a:r>
              <a:t>✓ @ mentions</a:t>
            </a:r>
          </a:p>
        </p:txBody>
      </p:sp>
      <p:sp>
        <p:nvSpPr>
          <p:cNvPr id="16" name="Oval 15"/>
          <p:cNvSpPr/>
          <p:nvPr/>
        </p:nvSpPr>
        <p:spPr>
          <a:xfrm>
            <a:off x="457200" y="4663440"/>
            <a:ext cx="411480" cy="41148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57200" y="4663440"/>
            <a:ext cx="411480" cy="411480"/>
          </a:xfrm>
          <a:prstGeom prst="rect">
            <a:avLst/>
          </a:prstGeom>
          <a:noFill/>
        </p:spPr>
        <p:txBody>
          <a:bodyPr wrap="none" anchor="ctr">
            <a:spAutoFit/>
          </a:bodyPr>
          <a:lstStyle/>
          <a:p>
            <a:pPr algn="ctr">
              <a:defRPr sz="2000" b="1">
                <a:solidFill>
                  <a:srgbClr val="0B0F1A"/>
                </a:solidFill>
              </a:defRPr>
            </a:pPr>
            <a:r>
              <a:t>v</a:t>
            </a:r>
          </a:p>
        </p:txBody>
      </p:sp>
      <p:sp>
        <p:nvSpPr>
          <p:cNvPr id="18" name="TextBox 17"/>
          <p:cNvSpPr txBox="1"/>
          <p:nvPr/>
        </p:nvSpPr>
        <p:spPr>
          <a:xfrm>
            <a:off x="1005840" y="4709160"/>
            <a:ext cx="10728655" cy="731520"/>
          </a:xfrm>
          <a:prstGeom prst="rect">
            <a:avLst/>
          </a:prstGeom>
          <a:noFill/>
        </p:spPr>
        <p:txBody>
          <a:bodyPr wrap="square">
            <a:spAutoFit/>
          </a:bodyPr>
          <a:lstStyle/>
          <a:p>
            <a:pPr>
              <a:defRPr sz="2200">
                <a:solidFill>
                  <a:srgbClr val="FFFFFF"/>
                </a:solidFill>
              </a:defRPr>
            </a:pPr>
            <a:r>
              <a:t>✓ Context management</a:t>
            </a:r>
          </a:p>
        </p:txBody>
      </p:sp>
      <p:sp>
        <p:nvSpPr>
          <p:cNvPr id="19" name="Oval 18"/>
          <p:cNvSpPr/>
          <p:nvPr/>
        </p:nvSpPr>
        <p:spPr>
          <a:xfrm>
            <a:off x="457200" y="5486400"/>
            <a:ext cx="411480" cy="41148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57200" y="5486400"/>
            <a:ext cx="411480" cy="411480"/>
          </a:xfrm>
          <a:prstGeom prst="rect">
            <a:avLst/>
          </a:prstGeom>
          <a:noFill/>
        </p:spPr>
        <p:txBody>
          <a:bodyPr wrap="none" anchor="ctr">
            <a:spAutoFit/>
          </a:bodyPr>
          <a:lstStyle/>
          <a:p>
            <a:pPr algn="ctr">
              <a:defRPr sz="2000" b="1">
                <a:solidFill>
                  <a:srgbClr val="0B0F1A"/>
                </a:solidFill>
              </a:defRPr>
            </a:pPr>
            <a:r>
              <a:t>v</a:t>
            </a:r>
          </a:p>
        </p:txBody>
      </p:sp>
      <p:sp>
        <p:nvSpPr>
          <p:cNvPr id="21" name="TextBox 20"/>
          <p:cNvSpPr txBox="1"/>
          <p:nvPr/>
        </p:nvSpPr>
        <p:spPr>
          <a:xfrm>
            <a:off x="1005840" y="5532120"/>
            <a:ext cx="10728655" cy="731520"/>
          </a:xfrm>
          <a:prstGeom prst="rect">
            <a:avLst/>
          </a:prstGeom>
          <a:noFill/>
        </p:spPr>
        <p:txBody>
          <a:bodyPr wrap="square">
            <a:spAutoFit/>
          </a:bodyPr>
          <a:lstStyle/>
          <a:p>
            <a:pPr>
              <a:defRPr sz="2200">
                <a:solidFill>
                  <a:srgbClr val="FFFFFF"/>
                </a:solidFill>
              </a:defRPr>
            </a:pPr>
            <a:r>
              <a:t>✓ Slash commands</a:t>
            </a: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11277295" cy="822960"/>
          </a:xfrm>
          <a:prstGeom prst="rect">
            <a:avLst/>
          </a:prstGeom>
          <a:noFill/>
        </p:spPr>
        <p:txBody>
          <a:bodyPr wrap="square">
            <a:spAutoFit/>
          </a:bodyPr>
          <a:lstStyle/>
          <a:p>
            <a:pPr>
              <a:defRPr sz="4000" b="1">
                <a:solidFill>
                  <a:srgbClr val="FFFFFF"/>
                </a:solidFill>
              </a:defRPr>
            </a:pPr>
            <a:r>
              <a:t>5 Common Mistakes (And How to Avoid Them)</a:t>
            </a:r>
          </a:p>
        </p:txBody>
      </p:sp>
      <p:sp>
        <p:nvSpPr>
          <p:cNvPr id="3" name="Rectangle 2"/>
          <p:cNvSpPr/>
          <p:nvPr/>
        </p:nvSpPr>
        <p:spPr>
          <a:xfrm>
            <a:off x="457200" y="1234440"/>
            <a:ext cx="1828800" cy="3657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463040"/>
            <a:ext cx="11277295" cy="4572000"/>
          </a:xfrm>
          <a:prstGeom prst="rect">
            <a:avLst/>
          </a:prstGeom>
          <a:noFill/>
        </p:spPr>
        <p:txBody>
          <a:bodyPr wrap="square">
            <a:spAutoFit/>
          </a:bodyPr>
          <a:lstStyle/>
          <a:p>
            <a:pPr>
              <a:spcBef>
                <a:spcPts val="800"/>
              </a:spcBef>
              <a:spcAft>
                <a:spcPts val="800"/>
              </a:spcAft>
              <a:defRPr sz="2200">
                <a:solidFill>
                  <a:srgbClr val="FFFFFF"/>
                </a:solidFill>
              </a:defRPr>
            </a:pPr>
            <a:r>
              <a:t>  Mistake 1: Context window overflow.</a:t>
            </a:r>
          </a:p>
          <a:p>
            <a:pPr>
              <a:spcBef>
                <a:spcPts val="800"/>
              </a:spcBef>
              <a:spcAft>
                <a:spcPts val="800"/>
              </a:spcAft>
              <a:defRPr sz="2200">
                <a:solidFill>
                  <a:srgbClr val="FFFFFF"/>
                </a:solidFill>
              </a:defRPr>
            </a:pPr>
            <a:r>
              <a:t>  Mistake 2: Correction spirals.</a:t>
            </a:r>
          </a:p>
          <a:p>
            <a:pPr>
              <a:spcBef>
                <a:spcPts val="800"/>
              </a:spcBef>
              <a:spcAft>
                <a:spcPts val="800"/>
              </a:spcAft>
              <a:defRPr sz="2200">
                <a:solidFill>
                  <a:srgbClr val="FFFFFF"/>
                </a:solidFill>
              </a:defRPr>
            </a:pPr>
            <a:r>
              <a:t>  Mistake 3: Forgotten guidelines.</a:t>
            </a:r>
          </a:p>
          <a:p>
            <a:pPr>
              <a:spcBef>
                <a:spcPts val="800"/>
              </a:spcBef>
              <a:spcAft>
                <a:spcPts val="800"/>
              </a:spcAft>
              <a:defRPr sz="2200">
                <a:solidFill>
                  <a:srgbClr val="FFFFFF"/>
                </a:solidFill>
              </a:defRPr>
            </a:pPr>
            <a:r>
              <a:t>  Mistake 4: Scope creep.</a:t>
            </a:r>
          </a:p>
          <a:p>
            <a:pPr>
              <a:spcBef>
                <a:spcPts val="800"/>
              </a:spcBef>
              <a:spcAft>
                <a:spcPts val="800"/>
              </a:spcAft>
              <a:defRPr sz="2200">
                <a:solidFill>
                  <a:srgbClr val="FFFFFF"/>
                </a:solidFill>
              </a:defRPr>
            </a:pPr>
            <a:r>
              <a:t>  Mistake 5: Vibe coding.</a:t>
            </a: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457200" y="2286000"/>
            <a:ext cx="11277295" cy="2286000"/>
          </a:xfrm>
          <a:prstGeom prst="rect">
            <a:avLst/>
          </a:prstGeom>
          <a:noFill/>
        </p:spPr>
        <p:txBody>
          <a:bodyPr wrap="square">
            <a:spAutoFit/>
          </a:bodyPr>
          <a:lstStyle/>
          <a:p>
            <a:pPr algn="ctr">
              <a:defRPr sz="8000" b="1">
                <a:solidFill>
                  <a:srgbClr val="00D4AA"/>
                </a:solidFill>
              </a:defRPr>
            </a:pPr>
            <a:r>
              <a:t>Thank You!</a:t>
            </a:r>
          </a:p>
        </p:txBody>
      </p:sp>
      <p:sp>
        <p:nvSpPr>
          <p:cNvPr id="3" name="Rectangle 2"/>
          <p:cNvSpPr/>
          <p:nvPr/>
        </p:nvSpPr>
        <p:spPr>
          <a:xfrm>
            <a:off x="0" y="4754880"/>
            <a:ext cx="12191695" cy="3657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5029200"/>
            <a:ext cx="11277295" cy="457200"/>
          </a:xfrm>
          <a:prstGeom prst="rect">
            <a:avLst/>
          </a:prstGeom>
          <a:noFill/>
        </p:spPr>
        <p:txBody>
          <a:bodyPr wrap="none">
            <a:spAutoFit/>
          </a:bodyPr>
          <a:lstStyle/>
          <a:p>
            <a:pPr algn="r">
              <a:defRPr sz="2000">
                <a:solidFill>
                  <a:srgbClr val="8B95A5"/>
                </a:solidFill>
              </a:defRPr>
            </a:pPr>
            <a:r>
              <a:t>- © 2026 AIA Copilot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TotalTime>
  <Words>26588</Words>
  <Application>Microsoft Office PowerPoint</Application>
  <PresentationFormat>Widescreen</PresentationFormat>
  <Paragraphs>2934</Paragraphs>
  <Slides>117</Slides>
  <Notes>115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117</vt:i4>
      </vt:variant>
    </vt:vector>
  </HeadingPairs>
  <TitlesOfParts>
    <vt:vector size="120"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Scott Hay</cp:lastModifiedBy>
  <cp:revision>1</cp:revision>
  <dcterms:created xsi:type="dcterms:W3CDTF">2013-01-27T09:14:16Z</dcterms:created>
  <dcterms:modified xsi:type="dcterms:W3CDTF">2026-03-02T01:59:16Z</dcterms:modified>
  <cp:category/>
</cp:coreProperties>
</file>