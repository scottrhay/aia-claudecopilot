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63" r:id="rId9"/>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2" dt="2026-03-02T01:49:24.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26.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2T01:59:12.747" v="87" actId="14100"/>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2T01:59:12.747" v="87" actId="14100"/>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59:12.747" v="87" actId="14100"/>
          <ac:spMkLst>
            <pc:docMk/>
            <pc:sldMk cId="0" sldId="265"/>
            <ac:spMk id="11" creationId="{00000000-0000-0000-0000-000000000000}"/>
          </ac:spMkLst>
        </pc:spChg>
        <pc:spChg chg="mod">
          <ac:chgData name="Scott Hay" userId="e95d3f44-f6c0-414c-b281-41a9346c1b81" providerId="ADAL" clId="{4D76341F-F64C-4A8E-A4EF-1A11730F38E9}" dt="2026-03-02T01:58:50.425" v="85" actId="14100"/>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2T01:49:24.526" v="76"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2T01:49:24.526" v="76"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Nine objectives today. This might look intimidating, but they build on each other logically. By lunch you'll have five of these checked off.</a:t>
            </a:r>
          </a:p>
          <a:p>
            <a:endParaRPr/>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endParaRPr/>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endParaRPr/>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endParaRPr/>
          </a:p>
          <a:p>
            <a:r>
              <a:t>TRANSITION:</a:t>
            </a:r>
          </a:p>
          <a:p>
            <a:r>
              <a:t>   Here's what you'll actually build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a:p>
            <a:br/>
            <a:br/>
            <a:r>
              <a:t>COMPOUNDING FEEDBACK LOOP: Advanced teams add a tasks/lessons.md file that Claude updates after EVERY correction. When Claude makes a mistake and you fix it, tell Claude to record the pattern in lessons.md. Over time, the mistake rate drops because Claude reads its own error log before starting work. Boris Cherny's team at Anthropic uses this internally. The setup takes 10 minutes — add one line to CLAUDE.md: "After any correction, update tasks/lessons.md with the lesson learned. Read lessons.md before starting any task." Your AI gets better every day you use it.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a:p>
            <a:br/>
            <a:br/>
            <a:r>
              <a:t>VERIFICATION BAR: A powerful CLAUDE.md convention from Anthropic's internal team: "Cannot mark a task complete without proving it works. Check diffs, run tests, check logs. The bar: Would a staff engineer approve this?" Add that standard to your CLAUDE.md and Claude holds itself to senior-level quality checks before reporting done.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Feeding Techniques.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 me show you a real scenario - I'm going to optimize context and watch tokens drop.</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Alright, I'm going to run through a rapid-fire demo of the most useful commands in one session.</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the difference between asking Claude to just DO something versus asking it to PLAN first.</a:t>
            </a:r>
          </a:p>
          <a:p>
            <a:endParaRPr/>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endParaRPr/>
          </a:p>
          <a:p>
            <a:r>
              <a:t>DEMO:</a:t>
            </a:r>
          </a:p>
          <a:p>
            <a:r>
              <a:t>   Use sample-project. First attempt: 'Add JWT authentication to this API' without planning. Show the mess. Then /clear, Shift+Tab, same prompt. Show the clean plan. Approve and execute.</a:t>
            </a:r>
          </a:p>
          <a:p>
            <a:endParaRPr/>
          </a:p>
          <a:p>
            <a:r>
              <a:t>TRANSITION:</a:t>
            </a:r>
          </a:p>
          <a:p>
            <a:r>
              <a:t>   Plan Mode is your first line of defense. Now let's talk about another pattern that prevents wasted work.</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p>
          <a:p>
            <a:endParaRPr/>
          </a:p>
          <a:p>
            <a:r>
              <a:t>OPEN WITH:</a:t>
            </a:r>
          </a:p>
          <a:p>
            <a:r>
              <a:t>   Let me show you this live. I'm going to write a spec using the 6-question framework, then give it to Claude Code. Watch the difference in output quality.</a:t>
            </a:r>
          </a:p>
          <a:p>
            <a:endParaRPr/>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endParaRPr/>
          </a:p>
          <a:p>
            <a:r>
              <a:t>DEMO:</a:t>
            </a:r>
          </a:p>
          <a:p>
            <a:r>
              <a:t>   If time is tight, show the spec on screen and walk through it verbally rather than live-coding both versions.</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Let's configure security boundaries and test them - I want you to see how these controls actually work.</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Complete Git workflow automated.</a:t>
            </a:r>
          </a:p>
          <a:p>
            <a:endParaRPr/>
          </a:p>
          <a:p>
            <a:r>
              <a:t>KEY POINTS:</a:t>
            </a:r>
          </a:p>
          <a:p>
            <a:r>
              <a:t>   * End-to-end flow</a:t>
            </a:r>
          </a:p>
          <a:p>
            <a:r>
              <a:t>   * Everything connected</a:t>
            </a:r>
          </a:p>
          <a:p>
            <a:r>
              <a:t>   * Production-ready</a:t>
            </a:r>
          </a:p>
          <a:p>
            <a:endParaRPr/>
          </a:p>
          <a:p>
            <a:r>
              <a:t>REAL-WORLD EXAMPLE:</a:t>
            </a:r>
          </a:p>
          <a:p>
            <a:r>
              <a:t>   This is the daily workflow.</a:t>
            </a:r>
          </a:p>
          <a:p>
            <a:endParaRPr/>
          </a:p>
          <a:p>
            <a:r>
              <a:t>DEMO:</a:t>
            </a:r>
          </a:p>
          <a:p>
            <a:r>
              <a:t>   Live demo: create branch, implement feature, commit, push, create PR. All via Claude Code.</a:t>
            </a:r>
          </a:p>
          <a:p>
            <a:endParaRPr/>
          </a:p>
          <a:p>
            <a:r>
              <a:t>TRANSITION:</a:t>
            </a:r>
          </a:p>
          <a:p>
            <a:r>
              <a:t>   File operations section</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Live debugging - real bug, real fix.</a:t>
            </a:r>
          </a:p>
          <a:p>
            <a:endParaRPr/>
          </a:p>
          <a:p>
            <a:r>
              <a:t>KEY POINTS:</a:t>
            </a:r>
          </a:p>
          <a:p>
            <a:r>
              <a:t>   * Complete process</a:t>
            </a:r>
          </a:p>
          <a:p>
            <a:r>
              <a:t>   * Real-world scenario</a:t>
            </a:r>
          </a:p>
          <a:p>
            <a:r>
              <a:t>   * Production techniques</a:t>
            </a:r>
          </a:p>
          <a:p>
            <a:endParaRPr/>
          </a:p>
          <a:p>
            <a:r>
              <a:t>REAL-WORLD EXAMPLE:</a:t>
            </a:r>
          </a:p>
          <a:p>
            <a:r>
              <a:t>   This is what you'll do Monday.</a:t>
            </a:r>
          </a:p>
          <a:p>
            <a:endParaRPr/>
          </a:p>
          <a:p>
            <a:r>
              <a:t>DEMO:</a:t>
            </a:r>
          </a:p>
          <a:p>
            <a:r>
              <a:t>   Run failing test, ask Claude Code to debug, watch it analyze, fix, verify.</a:t>
            </a:r>
          </a:p>
          <a:p>
            <a:endParaRPr/>
          </a:p>
          <a:p>
            <a:r>
              <a:t>TRANSITION:</a:t>
            </a:r>
          </a:p>
          <a:p>
            <a:r>
              <a:t>   Final lab</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Final lab - complete feature workflow.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real example of how Claude Code changes the dynamics between PMs and engineering teams.</a:t>
            </a:r>
          </a:p>
          <a:p>
            <a:endParaRPr/>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endParaRPr/>
          </a:p>
          <a:p>
            <a:r>
              <a:t>ASK THE CLASS:</a:t>
            </a:r>
          </a:p>
          <a:p>
            <a:r>
              <a:t>   "What's the last feature you spec'd that took weeks of back-and-forth? Could a 2-hour prototype have shortcut that?"</a:t>
            </a:r>
          </a:p>
          <a:p>
            <a:r>
              <a:t>   [PAUSE for 30-60 seconds]</a:t>
            </a:r>
          </a:p>
          <a:p>
            <a:endParaRPr/>
          </a:p>
          <a:p>
            <a:r>
              <a:t>TRANSITION:</a:t>
            </a:r>
          </a:p>
          <a:p>
            <a:r>
              <a:t>   Now let's put this into practice. Time for hands-on lab work.</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TextBox 3"/>
          <p:cNvSpPr txBox="1"/>
          <p:nvPr/>
        </p:nvSpPr>
        <p:spPr>
          <a:xfrm>
            <a:off x="731520" y="1828800"/>
            <a:ext cx="1371600" cy="365760"/>
          </a:xfrm>
          <a:prstGeom prst="rect">
            <a:avLst/>
          </a:prstGeom>
          <a:noFill/>
        </p:spPr>
        <p:txBody>
          <a:bodyPr wrap="square">
            <a:spAutoFit/>
          </a:bodyPr>
          <a:lstStyle/>
          <a:p>
            <a:pPr>
              <a:defRPr sz="1800" b="1">
                <a:solidFill>
                  <a:srgbClr val="00D4AA"/>
                </a:solidFill>
              </a:defRPr>
            </a:pPr>
            <a:r>
              <a:t>Lab 2A:</a:t>
            </a:r>
          </a:p>
        </p:txBody>
      </p:sp>
      <p:sp>
        <p:nvSpPr>
          <p:cNvPr id="5" name="TextBox 4"/>
          <p:cNvSpPr txBox="1"/>
          <p:nvPr/>
        </p:nvSpPr>
        <p:spPr>
          <a:xfrm>
            <a:off x="2194560" y="1828800"/>
            <a:ext cx="8229600" cy="640080"/>
          </a:xfrm>
          <a:prstGeom prst="rect">
            <a:avLst/>
          </a:prstGeom>
          <a:noFill/>
        </p:spPr>
        <p:txBody>
          <a:bodyPr wrap="square">
            <a:spAutoFit/>
          </a:bodyPr>
          <a:lstStyle/>
          <a:p>
            <a:pPr>
              <a:defRPr sz="1600">
                <a:solidFill>
                  <a:srgbClr val="FFFFFF"/>
                </a:solidFill>
              </a:defRPr>
            </a:pPr>
            <a:r>
              <a:t>The Magic Moment — build a complete app from a single prompt</a:t>
            </a:r>
          </a:p>
        </p:txBody>
      </p:sp>
      <p:sp>
        <p:nvSpPr>
          <p:cNvPr id="6" name="TextBox 5"/>
          <p:cNvSpPr txBox="1"/>
          <p:nvPr/>
        </p:nvSpPr>
        <p:spPr>
          <a:xfrm>
            <a:off x="731520" y="2697480"/>
            <a:ext cx="1371600" cy="365760"/>
          </a:xfrm>
          <a:prstGeom prst="rect">
            <a:avLst/>
          </a:prstGeom>
          <a:noFill/>
        </p:spPr>
        <p:txBody>
          <a:bodyPr wrap="square">
            <a:spAutoFit/>
          </a:bodyPr>
          <a:lstStyle/>
          <a:p>
            <a:pPr>
              <a:defRPr sz="1800" b="1">
                <a:solidFill>
                  <a:srgbClr val="00D4AA"/>
                </a:solidFill>
              </a:defRPr>
            </a:pPr>
            <a:r>
              <a:t>Lab 2B:</a:t>
            </a:r>
          </a:p>
        </p:txBody>
      </p:sp>
      <p:sp>
        <p:nvSpPr>
          <p:cNvPr id="7" name="TextBox 6"/>
          <p:cNvSpPr txBox="1"/>
          <p:nvPr/>
        </p:nvSpPr>
        <p:spPr>
          <a:xfrm>
            <a:off x="2194560" y="2697480"/>
            <a:ext cx="8229600" cy="640080"/>
          </a:xfrm>
          <a:prstGeom prst="rect">
            <a:avLst/>
          </a:prstGeom>
          <a:noFill/>
        </p:spPr>
        <p:txBody>
          <a:bodyPr wrap="square">
            <a:spAutoFit/>
          </a:bodyPr>
          <a:lstStyle/>
          <a:p>
            <a:pPr>
              <a:defRPr sz="1600">
                <a:solidFill>
                  <a:srgbClr val="FFFFFF"/>
                </a:solidFill>
              </a:defRPr>
            </a:pPr>
            <a:r>
              <a:t>Your Project Brain — CLAUDE.md conventions that enforce themselves</a:t>
            </a:r>
          </a:p>
        </p:txBody>
      </p:sp>
      <p:sp>
        <p:nvSpPr>
          <p:cNvPr id="8" name="TextBox 7"/>
          <p:cNvSpPr txBox="1"/>
          <p:nvPr/>
        </p:nvSpPr>
        <p:spPr>
          <a:xfrm>
            <a:off x="731520" y="3566160"/>
            <a:ext cx="1371600" cy="365760"/>
          </a:xfrm>
          <a:prstGeom prst="rect">
            <a:avLst/>
          </a:prstGeom>
          <a:noFill/>
        </p:spPr>
        <p:txBody>
          <a:bodyPr wrap="square">
            <a:spAutoFit/>
          </a:bodyPr>
          <a:lstStyle/>
          <a:p>
            <a:pPr>
              <a:defRPr sz="1800" b="1">
                <a:solidFill>
                  <a:srgbClr val="00D4AA"/>
                </a:solidFill>
              </a:defRPr>
            </a:pPr>
            <a:r>
              <a:t>Lab 2C:</a:t>
            </a:r>
          </a:p>
        </p:txBody>
      </p:sp>
      <p:sp>
        <p:nvSpPr>
          <p:cNvPr id="9" name="TextBox 8"/>
          <p:cNvSpPr txBox="1"/>
          <p:nvPr/>
        </p:nvSpPr>
        <p:spPr>
          <a:xfrm>
            <a:off x="2194560" y="3566160"/>
            <a:ext cx="8229600" cy="640080"/>
          </a:xfrm>
          <a:prstGeom prst="rect">
            <a:avLst/>
          </a:prstGeom>
          <a:noFill/>
        </p:spPr>
        <p:txBody>
          <a:bodyPr wrap="square">
            <a:spAutoFit/>
          </a:bodyPr>
          <a:lstStyle/>
          <a:p>
            <a:pPr>
              <a:defRPr sz="1600">
                <a:solidFill>
                  <a:srgbClr val="FFFFFF"/>
                </a:solidFill>
              </a:defRPr>
            </a:pPr>
            <a:r>
              <a:t>Precision &amp; Recovery — @ mentions and break-fix workflows</a:t>
            </a:r>
          </a:p>
        </p:txBody>
      </p:sp>
      <p:sp>
        <p:nvSpPr>
          <p:cNvPr id="10" name="TextBox 9"/>
          <p:cNvSpPr txBox="1"/>
          <p:nvPr/>
        </p:nvSpPr>
        <p:spPr>
          <a:xfrm>
            <a:off x="731520" y="4434840"/>
            <a:ext cx="1371600" cy="365760"/>
          </a:xfrm>
          <a:prstGeom prst="rect">
            <a:avLst/>
          </a:prstGeom>
          <a:noFill/>
        </p:spPr>
        <p:txBody>
          <a:bodyPr wrap="square">
            <a:spAutoFit/>
          </a:bodyPr>
          <a:lstStyle/>
          <a:p>
            <a:pPr>
              <a:defRPr sz="1800" b="1">
                <a:solidFill>
                  <a:srgbClr val="00D4AA"/>
                </a:solidFill>
              </a:defRPr>
            </a:pPr>
            <a:r>
              <a:t>Lab 2D:</a:t>
            </a:r>
          </a:p>
        </p:txBody>
      </p:sp>
      <p:sp>
        <p:nvSpPr>
          <p:cNvPr id="11" name="TextBox 10"/>
          <p:cNvSpPr txBox="1"/>
          <p:nvPr/>
        </p:nvSpPr>
        <p:spPr>
          <a:xfrm>
            <a:off x="2194560" y="4434840"/>
            <a:ext cx="8229600" cy="640080"/>
          </a:xfrm>
          <a:prstGeom prst="rect">
            <a:avLst/>
          </a:prstGeom>
          <a:noFill/>
        </p:spPr>
        <p:txBody>
          <a:bodyPr wrap="square">
            <a:spAutoFit/>
          </a:bodyPr>
          <a:lstStyle/>
          <a:p>
            <a:pPr>
              <a:defRPr sz="1600">
                <a:solidFill>
                  <a:srgbClr val="FFFFFF"/>
                </a:solidFill>
              </a:defRPr>
            </a:pPr>
            <a:r>
              <a:t>Ship It — charts, filters, Git branches, and production hardening</a:t>
            </a:r>
          </a:p>
        </p:txBody>
      </p:sp>
      <p:sp>
        <p:nvSpPr>
          <p:cNvPr id="12" name="TextBox 11"/>
          <p:cNvSpPr txBox="1"/>
          <p:nvPr/>
        </p:nvSpPr>
        <p:spPr>
          <a:xfrm>
            <a:off x="1371600" y="5486400"/>
            <a:ext cx="8229600" cy="457200"/>
          </a:xfrm>
          <a:prstGeom prst="rect">
            <a:avLst/>
          </a:prstGeom>
          <a:noFill/>
        </p:spPr>
        <p:txBody>
          <a:bodyPr wrap="square">
            <a:spAutoFit/>
          </a:bodyPr>
          <a:lstStyle/>
          <a:p>
            <a:pPr algn="ctr">
              <a:defRPr sz="1400">
                <a:solidFill>
                  <a:srgbClr val="8A8F98"/>
                </a:solidFill>
              </a:defRPr>
            </a:pPr>
            <a:r>
              <a:t>One continuous project — each lab builds on the last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rPr dirty="0"/>
              <a:t>Tools</a:t>
            </a:r>
          </a:p>
          <a:p>
            <a:pPr algn="ctr">
              <a:spcBef>
                <a:spcPts val="800"/>
              </a:spcBef>
              <a:defRPr sz="1300">
                <a:solidFill>
                  <a:srgbClr val="8B95A5"/>
                </a:solidFill>
              </a:defRPr>
            </a:pPr>
            <a:r>
              <a:rPr dirty="0"/>
              <a:t>Terminal (iTerm2, Windows Terminal, etc.)</a:t>
            </a:r>
            <a:br>
              <a:rPr dirty="0"/>
            </a:br>
            <a:r>
              <a:rPr dirty="0"/>
              <a:t>Git installed and configured</a:t>
            </a:r>
            <a:br>
              <a:rPr dirty="0"/>
            </a:br>
            <a:r>
              <a:rPr dirty="0"/>
              <a:t>VS Code or JetBrains IDE (optional)</a:t>
            </a:r>
          </a:p>
        </p:txBody>
      </p:sp>
      <p:sp>
        <p:nvSpPr>
          <p:cNvPr id="11" name="Rounded Rectangle 10"/>
          <p:cNvSpPr/>
          <p:nvPr/>
        </p:nvSpPr>
        <p:spPr>
          <a:xfrm>
            <a:off x="7604607" y="2011680"/>
            <a:ext cx="2286001"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94866" cy="1371600"/>
          </a:xfrm>
          <a:prstGeom prst="rect">
            <a:avLst/>
          </a:prstGeom>
          <a:noFill/>
        </p:spPr>
        <p:txBody>
          <a:bodyPr wrap="square">
            <a:noAutofit/>
          </a:bodyPr>
          <a:lstStyle/>
          <a:p>
            <a:pPr algn="ctr">
              <a:defRPr sz="1800" b="1">
                <a:solidFill>
                  <a:srgbClr val="FFFFFF"/>
                </a:solidFill>
                <a:latin typeface="Consolas"/>
              </a:defRPr>
            </a:pPr>
            <a:r>
              <a:rPr dirty="0"/>
              <a:t>Account</a:t>
            </a:r>
          </a:p>
          <a:p>
            <a:pPr algn="ctr">
              <a:spcBef>
                <a:spcPts val="400"/>
              </a:spcBef>
              <a:defRPr sz="1100">
                <a:solidFill>
                  <a:srgbClr val="8A8F98"/>
                </a:solidFill>
              </a:defRPr>
            </a:pPr>
            <a:r>
              <a:rPr dirty="0"/>
              <a:t>Anthropic Pro or Max plan</a:t>
            </a:r>
          </a:p>
          <a:p>
            <a:pPr algn="ctr">
              <a:spcBef>
                <a:spcPts val="400"/>
              </a:spcBef>
              <a:defRPr sz="1100">
                <a:solidFill>
                  <a:srgbClr val="8A8F98"/>
                </a:solidFill>
              </a:defRPr>
            </a:pPr>
            <a:r>
              <a:rPr dirty="0"/>
              <a:t>Install: claude.ai/install.sh</a:t>
            </a:r>
          </a:p>
          <a:p>
            <a:pPr algn="ctr">
              <a:spcBef>
                <a:spcPts val="400"/>
              </a:spcBef>
              <a:defRPr sz="1100">
                <a:solidFill>
                  <a:srgbClr val="8A8F98"/>
                </a:solidFill>
              </a:defRPr>
            </a:pPr>
            <a:r>
              <a:rPr dirty="0"/>
              <a:t>Authenticate: </a:t>
            </a:r>
            <a:r>
              <a:rPr dirty="0" err="1"/>
              <a:t>claude</a:t>
            </a:r>
            <a:r>
              <a:rPr dirty="0"/>
              <a:t> login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endParaR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endParaR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endParaR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3200400" cy="822960"/>
          </a:xfrm>
          <a:prstGeom prst="rect">
            <a:avLst/>
          </a:prstGeom>
          <a:noFill/>
        </p:spPr>
        <p:txBody>
          <a:bodyPr wrap="square">
            <a:spAutoFit/>
          </a:bodyPr>
          <a:lstStyle/>
          <a:p>
            <a:pPr algn="r">
              <a:defRPr sz="2200" b="1">
                <a:solidFill>
                  <a:srgbClr val="FF6B6B"/>
                </a:solidFill>
              </a:defRPr>
            </a:pPr>
            <a:r>
              <a:t>Working memory</a:t>
            </a:r>
          </a:p>
        </p:txBody>
      </p:sp>
      <p:sp>
        <p:nvSpPr>
          <p:cNvPr id="5" name="TextBox 4"/>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6" name="TextBox 5"/>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7" name="TextBox 6"/>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8" name="TextBox 7"/>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9" name="TextBox 8"/>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10" name="TextBox 9"/>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11" name="TextBox 10"/>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12" name="TextBox 11"/>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13" name="TextBox 12"/>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14" name="TextBox 13"/>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15" name="TextBox 14"/>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16" name="TextBox 15"/>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
        <p:nvSpPr>
          <p:cNvPr id="17" name="TextBox 16"/>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18" name="TextBox 17"/>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19" name="TextBox 18"/>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20" name="TextBox 19"/>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21" name="TextBox 20"/>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22" name="TextBox 21"/>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23" name="TextBox 22"/>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24" name="TextBox 23"/>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25" name="TextBox 24"/>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26" name="TextBox 25"/>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27" name="TextBox 26"/>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28" name="TextBox 27"/>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26588</Words>
  <Application>Microsoft Office PowerPoint</Application>
  <PresentationFormat>Widescreen</PresentationFormat>
  <Paragraphs>2934</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2026-03-02T01:59:16Z</dcterms:modified>
  <cp:category/>
</cp:coreProperties>
</file>