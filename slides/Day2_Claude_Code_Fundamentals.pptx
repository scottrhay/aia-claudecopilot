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6"/>
  </p:notesMasterIdLst>
  <p:sldIdLst>
    <p:sldId id="256" r:id="rId2"/>
    <p:sldId id="257" r:id="rId3"/>
    <p:sldId id="258" r:id="rId4"/>
    <p:sldId id="259" r:id="rId5"/>
    <p:sldId id="260" r:id="rId6"/>
    <p:sldId id="261" r:id="rId7"/>
    <p:sldId id="262" r:id="rId8"/>
    <p:sldId id="264" r:id="rId9"/>
    <p:sldId id="265" r:id="rId10"/>
    <p:sldId id="266" r:id="rId11"/>
    <p:sldId id="267" r:id="rId12"/>
    <p:sldId id="268" r:id="rId13"/>
    <p:sldId id="269" r:id="rId14"/>
    <p:sldId id="270" r:id="rId15"/>
    <p:sldId id="271" r:id="rId16"/>
    <p:sldId id="272" r:id="rId17"/>
    <p:sldId id="273" r:id="rId18"/>
    <p:sldId id="274" r:id="rId19"/>
    <p:sldId id="275" r:id="rId20"/>
    <p:sldId id="276" r:id="rId21"/>
    <p:sldId id="277" r:id="rId22"/>
    <p:sldId id="278" r:id="rId23"/>
    <p:sldId id="279" r:id="rId24"/>
    <p:sldId id="280" r:id="rId25"/>
    <p:sldId id="375" r:id="rId26"/>
    <p:sldId id="281" r:id="rId27"/>
    <p:sldId id="310" r:id="rId28"/>
    <p:sldId id="263"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376" r:id="rId44"/>
    <p:sldId id="296" r:id="rId45"/>
    <p:sldId id="297" r:id="rId46"/>
    <p:sldId id="298" r:id="rId47"/>
    <p:sldId id="299" r:id="rId48"/>
    <p:sldId id="300" r:id="rId49"/>
    <p:sldId id="301" r:id="rId50"/>
    <p:sldId id="302" r:id="rId51"/>
    <p:sldId id="303" r:id="rId52"/>
    <p:sldId id="304" r:id="rId53"/>
    <p:sldId id="305" r:id="rId54"/>
    <p:sldId id="306" r:id="rId55"/>
    <p:sldId id="307" r:id="rId56"/>
    <p:sldId id="308" r:id="rId57"/>
    <p:sldId id="328" r:id="rId58"/>
    <p:sldId id="329" r:id="rId59"/>
    <p:sldId id="330" r:id="rId60"/>
    <p:sldId id="309" r:id="rId61"/>
    <p:sldId id="373" r:id="rId62"/>
    <p:sldId id="374" r:id="rId63"/>
    <p:sldId id="377" r:id="rId64"/>
    <p:sldId id="311" r:id="rId65"/>
    <p:sldId id="312" r:id="rId66"/>
    <p:sldId id="313" r:id="rId67"/>
    <p:sldId id="314" r:id="rId68"/>
    <p:sldId id="316" r:id="rId69"/>
    <p:sldId id="317" r:id="rId70"/>
    <p:sldId id="318" r:id="rId71"/>
    <p:sldId id="319" r:id="rId72"/>
    <p:sldId id="320" r:id="rId73"/>
    <p:sldId id="321" r:id="rId74"/>
    <p:sldId id="322" r:id="rId75"/>
    <p:sldId id="324" r:id="rId76"/>
    <p:sldId id="325" r:id="rId77"/>
    <p:sldId id="326" r:id="rId78"/>
    <p:sldId id="323" r:id="rId79"/>
    <p:sldId id="369" r:id="rId80"/>
    <p:sldId id="327" r:id="rId81"/>
    <p:sldId id="340" r:id="rId82"/>
    <p:sldId id="349" r:id="rId83"/>
    <p:sldId id="350" r:id="rId84"/>
    <p:sldId id="351" r:id="rId85"/>
    <p:sldId id="352" r:id="rId86"/>
    <p:sldId id="353" r:id="rId87"/>
    <p:sldId id="354" r:id="rId88"/>
    <p:sldId id="355" r:id="rId89"/>
    <p:sldId id="356" r:id="rId90"/>
    <p:sldId id="357" r:id="rId91"/>
    <p:sldId id="358" r:id="rId92"/>
    <p:sldId id="331" r:id="rId93"/>
    <p:sldId id="332" r:id="rId94"/>
    <p:sldId id="333" r:id="rId95"/>
    <p:sldId id="334" r:id="rId96"/>
    <p:sldId id="315" r:id="rId97"/>
    <p:sldId id="337" r:id="rId98"/>
    <p:sldId id="336" r:id="rId99"/>
    <p:sldId id="338" r:id="rId100"/>
    <p:sldId id="339" r:id="rId101"/>
    <p:sldId id="368" r:id="rId102"/>
    <p:sldId id="370" r:id="rId103"/>
    <p:sldId id="371" r:id="rId104"/>
    <p:sldId id="372" r:id="rId10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E139C36B-8AB1-447E-AA47-07FFCAD28EDF}" v="491" dt="2026-03-05T20:16:14.02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76478" autoAdjust="0"/>
  </p:normalViewPr>
  <p:slideViewPr>
    <p:cSldViewPr snapToGrid="0">
      <p:cViewPr varScale="1">
        <p:scale>
          <a:sx n="113" d="100"/>
          <a:sy n="113" d="100"/>
        </p:scale>
        <p:origin x="4326" y="32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microsoft.com/office/2015/10/relationships/revisionInfo" Target="revisionInfo.xml"/><Relationship Id="rId16" Type="http://schemas.openxmlformats.org/officeDocument/2006/relationships/slide" Target="slides/slide15.xml"/><Relationship Id="rId107"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notesMaster" Target="notesMasters/notes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heme" Target="theme/theme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cott Hay" userId="e95d3f44-f6c0-414c-b281-41a9346c1b81" providerId="ADAL" clId="{4D76341F-F64C-4A8E-A4EF-1A11730F38E9}"/>
    <pc:docChg chg="undo redo custSel addSld delSld modSld sldOrd">
      <pc:chgData name="Scott Hay" userId="e95d3f44-f6c0-414c-b281-41a9346c1b81" providerId="ADAL" clId="{4D76341F-F64C-4A8E-A4EF-1A11730F38E9}" dt="2026-03-05T21:14:03.363" v="1208" actId="20577"/>
      <pc:docMkLst>
        <pc:docMk/>
      </pc:docMkLst>
      <pc:sldChg chg="modSp mod">
        <pc:chgData name="Scott Hay" userId="e95d3f44-f6c0-414c-b281-41a9346c1b81" providerId="ADAL" clId="{4D76341F-F64C-4A8E-A4EF-1A11730F38E9}" dt="2026-03-02T00:51:04.186" v="61" actId="20577"/>
        <pc:sldMkLst>
          <pc:docMk/>
          <pc:sldMk cId="0" sldId="256"/>
        </pc:sldMkLst>
        <pc:spChg chg="mod">
          <ac:chgData name="Scott Hay" userId="e95d3f44-f6c0-414c-b281-41a9346c1b81" providerId="ADAL" clId="{4D76341F-F64C-4A8E-A4EF-1A11730F38E9}" dt="2026-03-02T00:51:04.186" v="61" actId="20577"/>
          <ac:spMkLst>
            <pc:docMk/>
            <pc:sldMk cId="0" sldId="256"/>
            <ac:spMk id="4" creationId="{00000000-0000-0000-0000-000000000000}"/>
          </ac:spMkLst>
        </pc:spChg>
      </pc:sldChg>
      <pc:sldChg chg="delSp modSp mod">
        <pc:chgData name="Scott Hay" userId="e95d3f44-f6c0-414c-b281-41a9346c1b81" providerId="ADAL" clId="{4D76341F-F64C-4A8E-A4EF-1A11730F38E9}" dt="2026-03-05T12:03:05.441" v="339" actId="478"/>
        <pc:sldMkLst>
          <pc:docMk/>
          <pc:sldMk cId="0" sldId="257"/>
        </pc:sldMkLst>
        <pc:spChg chg="mod">
          <ac:chgData name="Scott Hay" userId="e95d3f44-f6c0-414c-b281-41a9346c1b81" providerId="ADAL" clId="{4D76341F-F64C-4A8E-A4EF-1A11730F38E9}" dt="2026-03-05T11:42:30.858" v="313" actId="108"/>
          <ac:spMkLst>
            <pc:docMk/>
            <pc:sldMk cId="0" sldId="257"/>
            <ac:spMk id="17" creationId="{00000000-0000-0000-0000-000000000000}"/>
          </ac:spMkLst>
        </pc:spChg>
        <pc:spChg chg="mod">
          <ac:chgData name="Scott Hay" userId="e95d3f44-f6c0-414c-b281-41a9346c1b81" providerId="ADAL" clId="{4D76341F-F64C-4A8E-A4EF-1A11730F38E9}" dt="2026-03-05T11:42:37.682" v="314" actId="108"/>
          <ac:spMkLst>
            <pc:docMk/>
            <pc:sldMk cId="0" sldId="257"/>
            <ac:spMk id="21" creationId="{00000000-0000-0000-0000-000000000000}"/>
          </ac:spMkLst>
        </pc:spChg>
        <pc:spChg chg="del">
          <ac:chgData name="Scott Hay" userId="e95d3f44-f6c0-414c-b281-41a9346c1b81" providerId="ADAL" clId="{4D76341F-F64C-4A8E-A4EF-1A11730F38E9}" dt="2026-03-05T12:03:05.441" v="339" actId="478"/>
          <ac:spMkLst>
            <pc:docMk/>
            <pc:sldMk cId="0" sldId="257"/>
            <ac:spMk id="27" creationId="{00000000-0000-0000-0000-000000000000}"/>
          </ac:spMkLst>
        </pc:spChg>
        <pc:spChg chg="del">
          <ac:chgData name="Scott Hay" userId="e95d3f44-f6c0-414c-b281-41a9346c1b81" providerId="ADAL" clId="{4D76341F-F64C-4A8E-A4EF-1A11730F38E9}" dt="2026-03-05T12:03:01.051" v="334" actId="478"/>
          <ac:spMkLst>
            <pc:docMk/>
            <pc:sldMk cId="0" sldId="257"/>
            <ac:spMk id="28" creationId="{00000000-0000-0000-0000-000000000000}"/>
          </ac:spMkLst>
        </pc:spChg>
        <pc:spChg chg="del">
          <ac:chgData name="Scott Hay" userId="e95d3f44-f6c0-414c-b281-41a9346c1b81" providerId="ADAL" clId="{4D76341F-F64C-4A8E-A4EF-1A11730F38E9}" dt="2026-03-05T12:03:02.002" v="335" actId="478"/>
          <ac:spMkLst>
            <pc:docMk/>
            <pc:sldMk cId="0" sldId="257"/>
            <ac:spMk id="29" creationId="{00000000-0000-0000-0000-000000000000}"/>
          </ac:spMkLst>
        </pc:spChg>
        <pc:spChg chg="del mod">
          <ac:chgData name="Scott Hay" userId="e95d3f44-f6c0-414c-b281-41a9346c1b81" providerId="ADAL" clId="{4D76341F-F64C-4A8E-A4EF-1A11730F38E9}" dt="2026-03-05T12:03:03.130" v="337" actId="478"/>
          <ac:spMkLst>
            <pc:docMk/>
            <pc:sldMk cId="0" sldId="257"/>
            <ac:spMk id="54" creationId="{00000000-0000-0000-0000-000000000000}"/>
          </ac:spMkLst>
        </pc:spChg>
        <pc:spChg chg="del">
          <ac:chgData name="Scott Hay" userId="e95d3f44-f6c0-414c-b281-41a9346c1b81" providerId="ADAL" clId="{4D76341F-F64C-4A8E-A4EF-1A11730F38E9}" dt="2026-03-05T12:03:04.382" v="338" actId="478"/>
          <ac:spMkLst>
            <pc:docMk/>
            <pc:sldMk cId="0" sldId="257"/>
            <ac:spMk id="56" creationId="{00000000-0000-0000-0000-000000000000}"/>
          </ac:spMkLst>
        </pc:spChg>
      </pc:sldChg>
      <pc:sldChg chg="modSp mod">
        <pc:chgData name="Scott Hay" userId="e95d3f44-f6c0-414c-b281-41a9346c1b81" providerId="ADAL" clId="{4D76341F-F64C-4A8E-A4EF-1A11730F38E9}" dt="2026-03-05T12:28:43.732" v="390" actId="14100"/>
        <pc:sldMkLst>
          <pc:docMk/>
          <pc:sldMk cId="0" sldId="259"/>
        </pc:sldMkLst>
        <pc:spChg chg="mod">
          <ac:chgData name="Scott Hay" userId="e95d3f44-f6c0-414c-b281-41a9346c1b81" providerId="ADAL" clId="{4D76341F-F64C-4A8E-A4EF-1A11730F38E9}" dt="2026-03-05T12:19:23.118" v="341" actId="403"/>
          <ac:spMkLst>
            <pc:docMk/>
            <pc:sldMk cId="0" sldId="259"/>
            <ac:spMk id="4" creationId="{00000000-0000-0000-0000-000000000000}"/>
          </ac:spMkLst>
        </pc:spChg>
        <pc:spChg chg="mod">
          <ac:chgData name="Scott Hay" userId="e95d3f44-f6c0-414c-b281-41a9346c1b81" providerId="ADAL" clId="{4D76341F-F64C-4A8E-A4EF-1A11730F38E9}" dt="2026-03-05T12:28:21.539" v="388" actId="255"/>
          <ac:spMkLst>
            <pc:docMk/>
            <pc:sldMk cId="0" sldId="259"/>
            <ac:spMk id="5" creationId="{00000000-0000-0000-0000-000000000000}"/>
          </ac:spMkLst>
        </pc:spChg>
        <pc:spChg chg="mod">
          <ac:chgData name="Scott Hay" userId="e95d3f44-f6c0-414c-b281-41a9346c1b81" providerId="ADAL" clId="{4D76341F-F64C-4A8E-A4EF-1A11730F38E9}" dt="2026-03-05T12:19:23.118" v="341" actId="403"/>
          <ac:spMkLst>
            <pc:docMk/>
            <pc:sldMk cId="0" sldId="259"/>
            <ac:spMk id="6" creationId="{00000000-0000-0000-0000-000000000000}"/>
          </ac:spMkLst>
        </pc:spChg>
        <pc:spChg chg="mod">
          <ac:chgData name="Scott Hay" userId="e95d3f44-f6c0-414c-b281-41a9346c1b81" providerId="ADAL" clId="{4D76341F-F64C-4A8E-A4EF-1A11730F38E9}" dt="2026-03-05T12:28:43.732" v="390" actId="14100"/>
          <ac:spMkLst>
            <pc:docMk/>
            <pc:sldMk cId="0" sldId="259"/>
            <ac:spMk id="7" creationId="{00000000-0000-0000-0000-000000000000}"/>
          </ac:spMkLst>
        </pc:spChg>
        <pc:spChg chg="mod">
          <ac:chgData name="Scott Hay" userId="e95d3f44-f6c0-414c-b281-41a9346c1b81" providerId="ADAL" clId="{4D76341F-F64C-4A8E-A4EF-1A11730F38E9}" dt="2026-03-05T12:19:23.118" v="341" actId="403"/>
          <ac:spMkLst>
            <pc:docMk/>
            <pc:sldMk cId="0" sldId="259"/>
            <ac:spMk id="8" creationId="{00000000-0000-0000-0000-000000000000}"/>
          </ac:spMkLst>
        </pc:spChg>
        <pc:spChg chg="mod">
          <ac:chgData name="Scott Hay" userId="e95d3f44-f6c0-414c-b281-41a9346c1b81" providerId="ADAL" clId="{4D76341F-F64C-4A8E-A4EF-1A11730F38E9}" dt="2026-03-05T12:28:28.204" v="389" actId="255"/>
          <ac:spMkLst>
            <pc:docMk/>
            <pc:sldMk cId="0" sldId="259"/>
            <ac:spMk id="9" creationId="{00000000-0000-0000-0000-000000000000}"/>
          </ac:spMkLst>
        </pc:spChg>
        <pc:spChg chg="mod">
          <ac:chgData name="Scott Hay" userId="e95d3f44-f6c0-414c-b281-41a9346c1b81" providerId="ADAL" clId="{4D76341F-F64C-4A8E-A4EF-1A11730F38E9}" dt="2026-03-05T12:19:23.118" v="341" actId="403"/>
          <ac:spMkLst>
            <pc:docMk/>
            <pc:sldMk cId="0" sldId="259"/>
            <ac:spMk id="10" creationId="{00000000-0000-0000-0000-000000000000}"/>
          </ac:spMkLst>
        </pc:spChg>
        <pc:spChg chg="mod">
          <ac:chgData name="Scott Hay" userId="e95d3f44-f6c0-414c-b281-41a9346c1b81" providerId="ADAL" clId="{4D76341F-F64C-4A8E-A4EF-1A11730F38E9}" dt="2026-03-05T12:28:28.204" v="389" actId="255"/>
          <ac:spMkLst>
            <pc:docMk/>
            <pc:sldMk cId="0" sldId="259"/>
            <ac:spMk id="11" creationId="{00000000-0000-0000-0000-000000000000}"/>
          </ac:spMkLst>
        </pc:spChg>
        <pc:spChg chg="mod">
          <ac:chgData name="Scott Hay" userId="e95d3f44-f6c0-414c-b281-41a9346c1b81" providerId="ADAL" clId="{4D76341F-F64C-4A8E-A4EF-1A11730F38E9}" dt="2026-03-05T12:28:13.306" v="387" actId="255"/>
          <ac:spMkLst>
            <pc:docMk/>
            <pc:sldMk cId="0" sldId="259"/>
            <ac:spMk id="12" creationId="{00000000-0000-0000-0000-000000000000}"/>
          </ac:spMkLst>
        </pc:spChg>
      </pc:sldChg>
      <pc:sldChg chg="modSp mod modNotesTx">
        <pc:chgData name="Scott Hay" userId="e95d3f44-f6c0-414c-b281-41a9346c1b81" providerId="ADAL" clId="{4D76341F-F64C-4A8E-A4EF-1A11730F38E9}" dt="2026-03-05T03:55:46.328" v="182" actId="20577"/>
        <pc:sldMkLst>
          <pc:docMk/>
          <pc:sldMk cId="0" sldId="260"/>
        </pc:sldMkLst>
        <pc:spChg chg="mod">
          <ac:chgData name="Scott Hay" userId="e95d3f44-f6c0-414c-b281-41a9346c1b81" providerId="ADAL" clId="{4D76341F-F64C-4A8E-A4EF-1A11730F38E9}" dt="2026-03-05T03:53:53.119" v="180" actId="20577"/>
          <ac:spMkLst>
            <pc:docMk/>
            <pc:sldMk cId="0" sldId="260"/>
            <ac:spMk id="2" creationId="{00000000-0000-0000-0000-000000000000}"/>
          </ac:spMkLst>
        </pc:spChg>
        <pc:spChg chg="mod">
          <ac:chgData name="Scott Hay" userId="e95d3f44-f6c0-414c-b281-41a9346c1b81" providerId="ADAL" clId="{4D76341F-F64C-4A8E-A4EF-1A11730F38E9}" dt="2026-03-05T03:52:38.967" v="130" actId="20577"/>
          <ac:spMkLst>
            <pc:docMk/>
            <pc:sldMk cId="0" sldId="260"/>
            <ac:spMk id="4" creationId="{00000000-0000-0000-0000-000000000000}"/>
          </ac:spMkLst>
        </pc:spChg>
        <pc:spChg chg="mod">
          <ac:chgData name="Scott Hay" userId="e95d3f44-f6c0-414c-b281-41a9346c1b81" providerId="ADAL" clId="{4D76341F-F64C-4A8E-A4EF-1A11730F38E9}" dt="2026-03-05T03:53:00.103" v="142" actId="20577"/>
          <ac:spMkLst>
            <pc:docMk/>
            <pc:sldMk cId="0" sldId="260"/>
            <ac:spMk id="5" creationId="{00000000-0000-0000-0000-000000000000}"/>
          </ac:spMkLst>
        </pc:spChg>
      </pc:sldChg>
      <pc:sldChg chg="addSp modSp mod">
        <pc:chgData name="Scott Hay" userId="e95d3f44-f6c0-414c-b281-41a9346c1b81" providerId="ADAL" clId="{4D76341F-F64C-4A8E-A4EF-1A11730F38E9}" dt="2026-03-05T04:00:28.888" v="254" actId="20577"/>
        <pc:sldMkLst>
          <pc:docMk/>
          <pc:sldMk cId="0" sldId="262"/>
        </pc:sldMkLst>
        <pc:spChg chg="mod">
          <ac:chgData name="Scott Hay" userId="e95d3f44-f6c0-414c-b281-41a9346c1b81" providerId="ADAL" clId="{4D76341F-F64C-4A8E-A4EF-1A11730F38E9}" dt="2026-03-05T04:00:28.888" v="254" actId="20577"/>
          <ac:spMkLst>
            <pc:docMk/>
            <pc:sldMk cId="0" sldId="262"/>
            <ac:spMk id="2" creationId="{00000000-0000-0000-0000-000000000000}"/>
          </ac:spMkLst>
        </pc:spChg>
        <pc:spChg chg="mod">
          <ac:chgData name="Scott Hay" userId="e95d3f44-f6c0-414c-b281-41a9346c1b81" providerId="ADAL" clId="{4D76341F-F64C-4A8E-A4EF-1A11730F38E9}" dt="2026-03-05T03:59:10.255" v="219" actId="20577"/>
          <ac:spMkLst>
            <pc:docMk/>
            <pc:sldMk cId="0" sldId="262"/>
            <ac:spMk id="6" creationId="{00000000-0000-0000-0000-000000000000}"/>
          </ac:spMkLst>
        </pc:spChg>
        <pc:spChg chg="mod">
          <ac:chgData name="Scott Hay" userId="e95d3f44-f6c0-414c-b281-41a9346c1b81" providerId="ADAL" clId="{4D76341F-F64C-4A8E-A4EF-1A11730F38E9}" dt="2026-03-05T03:58:52.362" v="196" actId="6549"/>
          <ac:spMkLst>
            <pc:docMk/>
            <pc:sldMk cId="0" sldId="262"/>
            <ac:spMk id="7" creationId="{00000000-0000-0000-0000-000000000000}"/>
          </ac:spMkLst>
        </pc:spChg>
        <pc:spChg chg="add">
          <ac:chgData name="Scott Hay" userId="e95d3f44-f6c0-414c-b281-41a9346c1b81" providerId="ADAL" clId="{4D76341F-F64C-4A8E-A4EF-1A11730F38E9}" dt="2026-03-05T03:58:05.957" v="183"/>
          <ac:spMkLst>
            <pc:docMk/>
            <pc:sldMk cId="0" sldId="262"/>
            <ac:spMk id="8" creationId="{C04DD4DF-84DC-A2D7-4564-5493B3E5B219}"/>
          </ac:spMkLst>
        </pc:spChg>
        <pc:spChg chg="add mod">
          <ac:chgData name="Scott Hay" userId="e95d3f44-f6c0-414c-b281-41a9346c1b81" providerId="ADAL" clId="{4D76341F-F64C-4A8E-A4EF-1A11730F38E9}" dt="2026-03-05T03:58:20.341" v="186"/>
          <ac:spMkLst>
            <pc:docMk/>
            <pc:sldMk cId="0" sldId="262"/>
            <ac:spMk id="9" creationId="{71BCD258-E38E-A6FD-8A48-83DD4F5E81B5}"/>
          </ac:spMkLst>
        </pc:spChg>
      </pc:sldChg>
      <pc:sldChg chg="modSp mod">
        <pc:chgData name="Scott Hay" userId="e95d3f44-f6c0-414c-b281-41a9346c1b81" providerId="ADAL" clId="{4D76341F-F64C-4A8E-A4EF-1A11730F38E9}" dt="2026-03-02T00:51:44.576" v="63" actId="20577"/>
        <pc:sldMkLst>
          <pc:docMk/>
          <pc:sldMk cId="0" sldId="263"/>
        </pc:sldMkLst>
        <pc:spChg chg="mod">
          <ac:chgData name="Scott Hay" userId="e95d3f44-f6c0-414c-b281-41a9346c1b81" providerId="ADAL" clId="{4D76341F-F64C-4A8E-A4EF-1A11730F38E9}" dt="2026-03-02T00:51:44.576" v="63" actId="20577"/>
          <ac:spMkLst>
            <pc:docMk/>
            <pc:sldMk cId="0" sldId="263"/>
            <ac:spMk id="4" creationId="{00000000-0000-0000-0000-000000000000}"/>
          </ac:spMkLst>
        </pc:spChg>
      </pc:sldChg>
      <pc:sldChg chg="modSp mod">
        <pc:chgData name="Scott Hay" userId="e95d3f44-f6c0-414c-b281-41a9346c1b81" providerId="ADAL" clId="{4D76341F-F64C-4A8E-A4EF-1A11730F38E9}" dt="2026-03-05T04:13:15.346" v="311" actId="27636"/>
        <pc:sldMkLst>
          <pc:docMk/>
          <pc:sldMk cId="0" sldId="265"/>
        </pc:sldMkLst>
        <pc:spChg chg="mod">
          <ac:chgData name="Scott Hay" userId="e95d3f44-f6c0-414c-b281-41a9346c1b81" providerId="ADAL" clId="{4D76341F-F64C-4A8E-A4EF-1A11730F38E9}" dt="2026-03-05T04:13:15.346" v="311" actId="27636"/>
          <ac:spMkLst>
            <pc:docMk/>
            <pc:sldMk cId="0" sldId="265"/>
            <ac:spMk id="6" creationId="{00000000-0000-0000-0000-000000000000}"/>
          </ac:spMkLst>
        </pc:spChg>
        <pc:spChg chg="mod">
          <ac:chgData name="Scott Hay" userId="e95d3f44-f6c0-414c-b281-41a9346c1b81" providerId="ADAL" clId="{4D76341F-F64C-4A8E-A4EF-1A11730F38E9}" dt="2026-03-01T23:11:55.079" v="57" actId="27636"/>
          <ac:spMkLst>
            <pc:docMk/>
            <pc:sldMk cId="0" sldId="265"/>
            <ac:spMk id="10" creationId="{00000000-0000-0000-0000-000000000000}"/>
          </ac:spMkLst>
        </pc:spChg>
        <pc:spChg chg="mod">
          <ac:chgData name="Scott Hay" userId="e95d3f44-f6c0-414c-b281-41a9346c1b81" providerId="ADAL" clId="{4D76341F-F64C-4A8E-A4EF-1A11730F38E9}" dt="2026-03-02T01:59:12.747" v="87" actId="14100"/>
          <ac:spMkLst>
            <pc:docMk/>
            <pc:sldMk cId="0" sldId="265"/>
            <ac:spMk id="11" creationId="{00000000-0000-0000-0000-000000000000}"/>
          </ac:spMkLst>
        </pc:spChg>
        <pc:spChg chg="mod">
          <ac:chgData name="Scott Hay" userId="e95d3f44-f6c0-414c-b281-41a9346c1b81" providerId="ADAL" clId="{4D76341F-F64C-4A8E-A4EF-1A11730F38E9}" dt="2026-03-02T01:58:50.425" v="85" actId="14100"/>
          <ac:spMkLst>
            <pc:docMk/>
            <pc:sldMk cId="0" sldId="265"/>
            <ac:spMk id="14" creationId="{00000000-0000-0000-0000-000000000000}"/>
          </ac:spMkLst>
        </pc:spChg>
      </pc:sldChg>
      <pc:sldChg chg="modSp mod">
        <pc:chgData name="Scott Hay" userId="e95d3f44-f6c0-414c-b281-41a9346c1b81" providerId="ADAL" clId="{4D76341F-F64C-4A8E-A4EF-1A11730F38E9}" dt="2026-03-05T12:35:04.716" v="418" actId="14100"/>
        <pc:sldMkLst>
          <pc:docMk/>
          <pc:sldMk cId="0" sldId="266"/>
        </pc:sldMkLst>
        <pc:spChg chg="mod">
          <ac:chgData name="Scott Hay" userId="e95d3f44-f6c0-414c-b281-41a9346c1b81" providerId="ADAL" clId="{4D76341F-F64C-4A8E-A4EF-1A11730F38E9}" dt="2026-03-05T11:43:48.706" v="333" actId="20577"/>
          <ac:spMkLst>
            <pc:docMk/>
            <pc:sldMk cId="0" sldId="266"/>
            <ac:spMk id="2" creationId="{00000000-0000-0000-0000-000000000000}"/>
          </ac:spMkLst>
        </pc:spChg>
        <pc:spChg chg="mod">
          <ac:chgData name="Scott Hay" userId="e95d3f44-f6c0-414c-b281-41a9346c1b81" providerId="ADAL" clId="{4D76341F-F64C-4A8E-A4EF-1A11730F38E9}" dt="2026-03-05T12:35:04.716" v="418" actId="14100"/>
          <ac:spMkLst>
            <pc:docMk/>
            <pc:sldMk cId="0" sldId="266"/>
            <ac:spMk id="3" creationId="{00000000-0000-0000-0000-000000000000}"/>
          </ac:spMkLst>
        </pc:spChg>
        <pc:spChg chg="mod">
          <ac:chgData name="Scott Hay" userId="e95d3f44-f6c0-414c-b281-41a9346c1b81" providerId="ADAL" clId="{4D76341F-F64C-4A8E-A4EF-1A11730F38E9}" dt="2026-03-05T12:35:00.694" v="417" actId="20577"/>
          <ac:spMkLst>
            <pc:docMk/>
            <pc:sldMk cId="0" sldId="266"/>
            <ac:spMk id="5" creationId="{00000000-0000-0000-0000-000000000000}"/>
          </ac:spMkLst>
        </pc:spChg>
      </pc:sldChg>
      <pc:sldChg chg="modSp mod">
        <pc:chgData name="Scott Hay" userId="e95d3f44-f6c0-414c-b281-41a9346c1b81" providerId="ADAL" clId="{4D76341F-F64C-4A8E-A4EF-1A11730F38E9}" dt="2026-03-05T04:02:00.305" v="258" actId="20577"/>
        <pc:sldMkLst>
          <pc:docMk/>
          <pc:sldMk cId="0" sldId="267"/>
        </pc:sldMkLst>
        <pc:spChg chg="mod">
          <ac:chgData name="Scott Hay" userId="e95d3f44-f6c0-414c-b281-41a9346c1b81" providerId="ADAL" clId="{4D76341F-F64C-4A8E-A4EF-1A11730F38E9}" dt="2026-03-05T04:02:00.305" v="258" actId="20577"/>
          <ac:spMkLst>
            <pc:docMk/>
            <pc:sldMk cId="0" sldId="267"/>
            <ac:spMk id="2" creationId="{00000000-0000-0000-0000-000000000000}"/>
          </ac:spMkLst>
        </pc:spChg>
      </pc:sldChg>
      <pc:sldChg chg="addSp delSp modSp mod">
        <pc:chgData name="Scott Hay" userId="e95d3f44-f6c0-414c-b281-41a9346c1b81" providerId="ADAL" clId="{4D76341F-F64C-4A8E-A4EF-1A11730F38E9}" dt="2026-03-05T04:03:10.999" v="299" actId="20577"/>
        <pc:sldMkLst>
          <pc:docMk/>
          <pc:sldMk cId="0" sldId="268"/>
        </pc:sldMkLst>
        <pc:spChg chg="mod">
          <ac:chgData name="Scott Hay" userId="e95d3f44-f6c0-414c-b281-41a9346c1b81" providerId="ADAL" clId="{4D76341F-F64C-4A8E-A4EF-1A11730F38E9}" dt="2026-03-05T04:03:10.999" v="299" actId="20577"/>
          <ac:spMkLst>
            <pc:docMk/>
            <pc:sldMk cId="0" sldId="268"/>
            <ac:spMk id="2" creationId="{00000000-0000-0000-0000-000000000000}"/>
          </ac:spMkLst>
        </pc:spChg>
        <pc:spChg chg="add mod">
          <ac:chgData name="Scott Hay" userId="e95d3f44-f6c0-414c-b281-41a9346c1b81" providerId="ADAL" clId="{4D76341F-F64C-4A8E-A4EF-1A11730F38E9}" dt="2026-03-01T23:11:54.861" v="15"/>
          <ac:spMkLst>
            <pc:docMk/>
            <pc:sldMk cId="0" sldId="268"/>
            <ac:spMk id="6" creationId="{20DA46C1-A09C-CC85-41D0-591C5CEE27C2}"/>
          </ac:spMkLst>
        </pc:spChg>
        <pc:picChg chg="add mod">
          <ac:chgData name="Scott Hay" userId="e95d3f44-f6c0-414c-b281-41a9346c1b81" providerId="ADAL" clId="{4D76341F-F64C-4A8E-A4EF-1A11730F38E9}" dt="2026-03-01T23:11:54.861" v="15"/>
          <ac:picMkLst>
            <pc:docMk/>
            <pc:sldMk cId="0" sldId="268"/>
            <ac:picMk id="7" creationId="{1CE2B5A9-A391-ACE3-A562-6E21FAF6C260}"/>
          </ac:picMkLst>
        </pc:picChg>
      </pc:sldChg>
      <pc:sldChg chg="modSp mod">
        <pc:chgData name="Scott Hay" userId="e95d3f44-f6c0-414c-b281-41a9346c1b81" providerId="ADAL" clId="{4D76341F-F64C-4A8E-A4EF-1A11730F38E9}" dt="2026-03-05T21:13:04.948" v="1191" actId="1076"/>
        <pc:sldMkLst>
          <pc:docMk/>
          <pc:sldMk cId="0" sldId="273"/>
        </pc:sldMkLst>
        <pc:spChg chg="mod">
          <ac:chgData name="Scott Hay" userId="e95d3f44-f6c0-414c-b281-41a9346c1b81" providerId="ADAL" clId="{4D76341F-F64C-4A8E-A4EF-1A11730F38E9}" dt="2026-03-05T21:12:09.027" v="1183" actId="1076"/>
          <ac:spMkLst>
            <pc:docMk/>
            <pc:sldMk cId="0" sldId="273"/>
            <ac:spMk id="2" creationId="{00000000-0000-0000-0000-000000000000}"/>
          </ac:spMkLst>
        </pc:spChg>
        <pc:spChg chg="mod">
          <ac:chgData name="Scott Hay" userId="e95d3f44-f6c0-414c-b281-41a9346c1b81" providerId="ADAL" clId="{4D76341F-F64C-4A8E-A4EF-1A11730F38E9}" dt="2026-03-05T21:12:12.115" v="1184" actId="1076"/>
          <ac:spMkLst>
            <pc:docMk/>
            <pc:sldMk cId="0" sldId="273"/>
            <ac:spMk id="3" creationId="{00000000-0000-0000-0000-000000000000}"/>
          </ac:spMkLst>
        </pc:spChg>
        <pc:picChg chg="mod modCrop">
          <ac:chgData name="Scott Hay" userId="e95d3f44-f6c0-414c-b281-41a9346c1b81" providerId="ADAL" clId="{4D76341F-F64C-4A8E-A4EF-1A11730F38E9}" dt="2026-03-05T21:13:04.948" v="1191" actId="1076"/>
          <ac:picMkLst>
            <pc:docMk/>
            <pc:sldMk cId="0" sldId="273"/>
            <ac:picMk id="4" creationId="{00000000-0000-0000-0000-000000000000}"/>
          </ac:picMkLst>
        </pc:picChg>
      </pc:sldChg>
      <pc:sldChg chg="modSp mod">
        <pc:chgData name="Scott Hay" userId="e95d3f44-f6c0-414c-b281-41a9346c1b81" providerId="ADAL" clId="{4D76341F-F64C-4A8E-A4EF-1A11730F38E9}" dt="2026-03-01T23:11:54.908" v="17" actId="27636"/>
        <pc:sldMkLst>
          <pc:docMk/>
          <pc:sldMk cId="0" sldId="279"/>
        </pc:sldMkLst>
        <pc:spChg chg="mod">
          <ac:chgData name="Scott Hay" userId="e95d3f44-f6c0-414c-b281-41a9346c1b81" providerId="ADAL" clId="{4D76341F-F64C-4A8E-A4EF-1A11730F38E9}" dt="2026-03-01T23:11:54.906" v="16" actId="27636"/>
          <ac:spMkLst>
            <pc:docMk/>
            <pc:sldMk cId="0" sldId="279"/>
            <ac:spMk id="6" creationId="{00000000-0000-0000-0000-000000000000}"/>
          </ac:spMkLst>
        </pc:spChg>
        <pc:spChg chg="mod">
          <ac:chgData name="Scott Hay" userId="e95d3f44-f6c0-414c-b281-41a9346c1b81" providerId="ADAL" clId="{4D76341F-F64C-4A8E-A4EF-1A11730F38E9}" dt="2026-03-01T23:11:54.908" v="17" actId="27636"/>
          <ac:spMkLst>
            <pc:docMk/>
            <pc:sldMk cId="0" sldId="279"/>
            <ac:spMk id="14" creationId="{00000000-0000-0000-0000-000000000000}"/>
          </ac:spMkLst>
        </pc:spChg>
      </pc:sldChg>
      <pc:sldChg chg="mod modShow">
        <pc:chgData name="Scott Hay" userId="e95d3f44-f6c0-414c-b281-41a9346c1b81" providerId="ADAL" clId="{4D76341F-F64C-4A8E-A4EF-1A11730F38E9}" dt="2026-03-05T13:55:28.384" v="422" actId="729"/>
        <pc:sldMkLst>
          <pc:docMk/>
          <pc:sldMk cId="0" sldId="280"/>
        </pc:sldMkLst>
      </pc:sldChg>
      <pc:sldChg chg="addSp delSp modSp mod">
        <pc:chgData name="Scott Hay" userId="e95d3f44-f6c0-414c-b281-41a9346c1b81" providerId="ADAL" clId="{4D76341F-F64C-4A8E-A4EF-1A11730F38E9}" dt="2026-03-05T02:31:29.083" v="104" actId="1076"/>
        <pc:sldMkLst>
          <pc:docMk/>
          <pc:sldMk cId="0" sldId="283"/>
        </pc:sldMkLst>
        <pc:spChg chg="mod">
          <ac:chgData name="Scott Hay" userId="e95d3f44-f6c0-414c-b281-41a9346c1b81" providerId="ADAL" clId="{4D76341F-F64C-4A8E-A4EF-1A11730F38E9}" dt="2026-03-05T02:31:29.083" v="104" actId="1076"/>
          <ac:spMkLst>
            <pc:docMk/>
            <pc:sldMk cId="0" sldId="283"/>
            <ac:spMk id="3" creationId="{00000000-0000-0000-0000-000000000000}"/>
          </ac:spMkLst>
        </pc:spChg>
        <pc:picChg chg="add del mod modCrop">
          <ac:chgData name="Scott Hay" userId="e95d3f44-f6c0-414c-b281-41a9346c1b81" providerId="ADAL" clId="{4D76341F-F64C-4A8E-A4EF-1A11730F38E9}" dt="2026-03-05T02:31:23.100" v="103" actId="478"/>
          <ac:picMkLst>
            <pc:docMk/>
            <pc:sldMk cId="0" sldId="283"/>
            <ac:picMk id="5" creationId="{80AC1220-C2A8-4B8D-33D7-ED31F434E63B}"/>
          </ac:picMkLst>
        </pc:picChg>
      </pc:sldChg>
      <pc:sldChg chg="modSp mod">
        <pc:chgData name="Scott Hay" userId="e95d3f44-f6c0-414c-b281-41a9346c1b81" providerId="ADAL" clId="{4D76341F-F64C-4A8E-A4EF-1A11730F38E9}" dt="2026-03-05T21:13:53.155" v="1205" actId="1076"/>
        <pc:sldMkLst>
          <pc:docMk/>
          <pc:sldMk cId="0" sldId="285"/>
        </pc:sldMkLst>
        <pc:spChg chg="mod">
          <ac:chgData name="Scott Hay" userId="e95d3f44-f6c0-414c-b281-41a9346c1b81" providerId="ADAL" clId="{4D76341F-F64C-4A8E-A4EF-1A11730F38E9}" dt="2026-03-05T21:13:53.155" v="1205" actId="1076"/>
          <ac:spMkLst>
            <pc:docMk/>
            <pc:sldMk cId="0" sldId="285"/>
            <ac:spMk id="3" creationId="{00000000-0000-0000-0000-000000000000}"/>
          </ac:spMkLst>
        </pc:spChg>
        <pc:spChg chg="mod">
          <ac:chgData name="Scott Hay" userId="e95d3f44-f6c0-414c-b281-41a9346c1b81" providerId="ADAL" clId="{4D76341F-F64C-4A8E-A4EF-1A11730F38E9}" dt="2026-03-05T21:13:53.155" v="1205" actId="1076"/>
          <ac:spMkLst>
            <pc:docMk/>
            <pc:sldMk cId="0" sldId="285"/>
            <ac:spMk id="4" creationId="{00000000-0000-0000-0000-000000000000}"/>
          </ac:spMkLst>
        </pc:spChg>
        <pc:spChg chg="mod">
          <ac:chgData name="Scott Hay" userId="e95d3f44-f6c0-414c-b281-41a9346c1b81" providerId="ADAL" clId="{4D76341F-F64C-4A8E-A4EF-1A11730F38E9}" dt="2026-03-05T21:13:53.155" v="1205" actId="1076"/>
          <ac:spMkLst>
            <pc:docMk/>
            <pc:sldMk cId="0" sldId="285"/>
            <ac:spMk id="5" creationId="{00000000-0000-0000-0000-000000000000}"/>
          </ac:spMkLst>
        </pc:spChg>
        <pc:spChg chg="mod">
          <ac:chgData name="Scott Hay" userId="e95d3f44-f6c0-414c-b281-41a9346c1b81" providerId="ADAL" clId="{4D76341F-F64C-4A8E-A4EF-1A11730F38E9}" dt="2026-03-05T21:13:53.155" v="1205" actId="1076"/>
          <ac:spMkLst>
            <pc:docMk/>
            <pc:sldMk cId="0" sldId="285"/>
            <ac:spMk id="6" creationId="{00000000-0000-0000-0000-000000000000}"/>
          </ac:spMkLst>
        </pc:spChg>
        <pc:spChg chg="mod">
          <ac:chgData name="Scott Hay" userId="e95d3f44-f6c0-414c-b281-41a9346c1b81" providerId="ADAL" clId="{4D76341F-F64C-4A8E-A4EF-1A11730F38E9}" dt="2026-03-05T21:13:53.155" v="1205" actId="1076"/>
          <ac:spMkLst>
            <pc:docMk/>
            <pc:sldMk cId="0" sldId="285"/>
            <ac:spMk id="8" creationId="{00000000-0000-0000-0000-000000000000}"/>
          </ac:spMkLst>
        </pc:spChg>
        <pc:spChg chg="mod">
          <ac:chgData name="Scott Hay" userId="e95d3f44-f6c0-414c-b281-41a9346c1b81" providerId="ADAL" clId="{4D76341F-F64C-4A8E-A4EF-1A11730F38E9}" dt="2026-03-05T21:13:53.155" v="1205" actId="1076"/>
          <ac:spMkLst>
            <pc:docMk/>
            <pc:sldMk cId="0" sldId="285"/>
            <ac:spMk id="9" creationId="{00000000-0000-0000-0000-000000000000}"/>
          </ac:spMkLst>
        </pc:spChg>
        <pc:spChg chg="mod">
          <ac:chgData name="Scott Hay" userId="e95d3f44-f6c0-414c-b281-41a9346c1b81" providerId="ADAL" clId="{4D76341F-F64C-4A8E-A4EF-1A11730F38E9}" dt="2026-03-05T21:13:53.155" v="1205" actId="1076"/>
          <ac:spMkLst>
            <pc:docMk/>
            <pc:sldMk cId="0" sldId="285"/>
            <ac:spMk id="10" creationId="{00000000-0000-0000-0000-000000000000}"/>
          </ac:spMkLst>
        </pc:spChg>
        <pc:spChg chg="mod">
          <ac:chgData name="Scott Hay" userId="e95d3f44-f6c0-414c-b281-41a9346c1b81" providerId="ADAL" clId="{4D76341F-F64C-4A8E-A4EF-1A11730F38E9}" dt="2026-03-05T21:13:53.155" v="1205" actId="1076"/>
          <ac:spMkLst>
            <pc:docMk/>
            <pc:sldMk cId="0" sldId="285"/>
            <ac:spMk id="11" creationId="{00000000-0000-0000-0000-000000000000}"/>
          </ac:spMkLst>
        </pc:spChg>
        <pc:spChg chg="mod">
          <ac:chgData name="Scott Hay" userId="e95d3f44-f6c0-414c-b281-41a9346c1b81" providerId="ADAL" clId="{4D76341F-F64C-4A8E-A4EF-1A11730F38E9}" dt="2026-03-05T21:13:53.155" v="1205" actId="1076"/>
          <ac:spMkLst>
            <pc:docMk/>
            <pc:sldMk cId="0" sldId="285"/>
            <ac:spMk id="13" creationId="{00000000-0000-0000-0000-000000000000}"/>
          </ac:spMkLst>
        </pc:spChg>
        <pc:spChg chg="mod">
          <ac:chgData name="Scott Hay" userId="e95d3f44-f6c0-414c-b281-41a9346c1b81" providerId="ADAL" clId="{4D76341F-F64C-4A8E-A4EF-1A11730F38E9}" dt="2026-03-05T21:13:53.155" v="1205" actId="1076"/>
          <ac:spMkLst>
            <pc:docMk/>
            <pc:sldMk cId="0" sldId="285"/>
            <ac:spMk id="14" creationId="{00000000-0000-0000-0000-000000000000}"/>
          </ac:spMkLst>
        </pc:spChg>
      </pc:sldChg>
      <pc:sldChg chg="modSp mod">
        <pc:chgData name="Scott Hay" userId="e95d3f44-f6c0-414c-b281-41a9346c1b81" providerId="ADAL" clId="{4D76341F-F64C-4A8E-A4EF-1A11730F38E9}" dt="2026-03-05T15:03:33.672" v="464" actId="20577"/>
        <pc:sldMkLst>
          <pc:docMk/>
          <pc:sldMk cId="0" sldId="286"/>
        </pc:sldMkLst>
        <pc:spChg chg="mod">
          <ac:chgData name="Scott Hay" userId="e95d3f44-f6c0-414c-b281-41a9346c1b81" providerId="ADAL" clId="{4D76341F-F64C-4A8E-A4EF-1A11730F38E9}" dt="2026-03-05T15:03:33.672" v="464" actId="20577"/>
          <ac:spMkLst>
            <pc:docMk/>
            <pc:sldMk cId="0" sldId="286"/>
            <ac:spMk id="2" creationId="{00000000-0000-0000-0000-000000000000}"/>
          </ac:spMkLst>
        </pc:spChg>
      </pc:sldChg>
      <pc:sldChg chg="modSp mod">
        <pc:chgData name="Scott Hay" userId="e95d3f44-f6c0-414c-b281-41a9346c1b81" providerId="ADAL" clId="{4D76341F-F64C-4A8E-A4EF-1A11730F38E9}" dt="2026-03-05T21:14:03.363" v="1208" actId="20577"/>
        <pc:sldMkLst>
          <pc:docMk/>
          <pc:sldMk cId="0" sldId="290"/>
        </pc:sldMkLst>
        <pc:spChg chg="mod">
          <ac:chgData name="Scott Hay" userId="e95d3f44-f6c0-414c-b281-41a9346c1b81" providerId="ADAL" clId="{4D76341F-F64C-4A8E-A4EF-1A11730F38E9}" dt="2026-03-05T21:14:03.363" v="1208" actId="20577"/>
          <ac:spMkLst>
            <pc:docMk/>
            <pc:sldMk cId="0" sldId="290"/>
            <ac:spMk id="4" creationId="{00000000-0000-0000-0000-000000000000}"/>
          </ac:spMkLst>
        </pc:spChg>
      </pc:sldChg>
      <pc:sldChg chg="modSp mod">
        <pc:chgData name="Scott Hay" userId="e95d3f44-f6c0-414c-b281-41a9346c1b81" providerId="ADAL" clId="{4D76341F-F64C-4A8E-A4EF-1A11730F38E9}" dt="2026-03-01T23:11:54.944" v="23" actId="27636"/>
        <pc:sldMkLst>
          <pc:docMk/>
          <pc:sldMk cId="0" sldId="291"/>
        </pc:sldMkLst>
        <pc:spChg chg="mod">
          <ac:chgData name="Scott Hay" userId="e95d3f44-f6c0-414c-b281-41a9346c1b81" providerId="ADAL" clId="{4D76341F-F64C-4A8E-A4EF-1A11730F38E9}" dt="2026-03-01T23:11:34.072" v="14" actId="14100"/>
          <ac:spMkLst>
            <pc:docMk/>
            <pc:sldMk cId="0" sldId="291"/>
            <ac:spMk id="3" creationId="{00000000-0000-0000-0000-000000000000}"/>
          </ac:spMkLst>
        </pc:spChg>
        <pc:spChg chg="mod">
          <ac:chgData name="Scott Hay" userId="e95d3f44-f6c0-414c-b281-41a9346c1b81" providerId="ADAL" clId="{4D76341F-F64C-4A8E-A4EF-1A11730F38E9}" dt="2026-03-01T23:11:54.941" v="22" actId="27636"/>
          <ac:spMkLst>
            <pc:docMk/>
            <pc:sldMk cId="0" sldId="291"/>
            <ac:spMk id="6" creationId="{00000000-0000-0000-0000-000000000000}"/>
          </ac:spMkLst>
        </pc:spChg>
        <pc:spChg chg="mod">
          <ac:chgData name="Scott Hay" userId="e95d3f44-f6c0-414c-b281-41a9346c1b81" providerId="ADAL" clId="{4D76341F-F64C-4A8E-A4EF-1A11730F38E9}" dt="2026-03-01T23:11:34.072" v="14" actId="14100"/>
          <ac:spMkLst>
            <pc:docMk/>
            <pc:sldMk cId="0" sldId="291"/>
            <ac:spMk id="7" creationId="{00000000-0000-0000-0000-000000000000}"/>
          </ac:spMkLst>
        </pc:spChg>
        <pc:spChg chg="mod">
          <ac:chgData name="Scott Hay" userId="e95d3f44-f6c0-414c-b281-41a9346c1b81" providerId="ADAL" clId="{4D76341F-F64C-4A8E-A4EF-1A11730F38E9}" dt="2026-03-01T23:11:54.944" v="23" actId="27636"/>
          <ac:spMkLst>
            <pc:docMk/>
            <pc:sldMk cId="0" sldId="291"/>
            <ac:spMk id="10" creationId="{00000000-0000-0000-0000-000000000000}"/>
          </ac:spMkLst>
        </pc:spChg>
        <pc:spChg chg="mod">
          <ac:chgData name="Scott Hay" userId="e95d3f44-f6c0-414c-b281-41a9346c1b81" providerId="ADAL" clId="{4D76341F-F64C-4A8E-A4EF-1A11730F38E9}" dt="2026-03-01T23:11:34.072" v="14" actId="14100"/>
          <ac:spMkLst>
            <pc:docMk/>
            <pc:sldMk cId="0" sldId="291"/>
            <ac:spMk id="11" creationId="{00000000-0000-0000-0000-000000000000}"/>
          </ac:spMkLst>
        </pc:spChg>
        <pc:spChg chg="mod">
          <ac:chgData name="Scott Hay" userId="e95d3f44-f6c0-414c-b281-41a9346c1b81" providerId="ADAL" clId="{4D76341F-F64C-4A8E-A4EF-1A11730F38E9}" dt="2026-03-01T23:11:54.937" v="21" actId="27636"/>
          <ac:spMkLst>
            <pc:docMk/>
            <pc:sldMk cId="0" sldId="291"/>
            <ac:spMk id="14" creationId="{00000000-0000-0000-0000-000000000000}"/>
          </ac:spMkLst>
        </pc:spChg>
      </pc:sldChg>
      <pc:sldChg chg="modSp mod">
        <pc:chgData name="Scott Hay" userId="e95d3f44-f6c0-414c-b281-41a9346c1b81" providerId="ADAL" clId="{4D76341F-F64C-4A8E-A4EF-1A11730F38E9}" dt="2026-03-05T15:08:02.306" v="570" actId="20577"/>
        <pc:sldMkLst>
          <pc:docMk/>
          <pc:sldMk cId="0" sldId="292"/>
        </pc:sldMkLst>
        <pc:spChg chg="mod">
          <ac:chgData name="Scott Hay" userId="e95d3f44-f6c0-414c-b281-41a9346c1b81" providerId="ADAL" clId="{4D76341F-F64C-4A8E-A4EF-1A11730F38E9}" dt="2026-03-05T15:07:56.737" v="568" actId="20577"/>
          <ac:spMkLst>
            <pc:docMk/>
            <pc:sldMk cId="0" sldId="292"/>
            <ac:spMk id="5" creationId="{00000000-0000-0000-0000-000000000000}"/>
          </ac:spMkLst>
        </pc:spChg>
        <pc:spChg chg="mod">
          <ac:chgData name="Scott Hay" userId="e95d3f44-f6c0-414c-b281-41a9346c1b81" providerId="ADAL" clId="{4D76341F-F64C-4A8E-A4EF-1A11730F38E9}" dt="2026-03-05T15:07:25.648" v="490" actId="20577"/>
          <ac:spMkLst>
            <pc:docMk/>
            <pc:sldMk cId="0" sldId="292"/>
            <ac:spMk id="6" creationId="{00000000-0000-0000-0000-000000000000}"/>
          </ac:spMkLst>
        </pc:spChg>
        <pc:spChg chg="mod">
          <ac:chgData name="Scott Hay" userId="e95d3f44-f6c0-414c-b281-41a9346c1b81" providerId="ADAL" clId="{4D76341F-F64C-4A8E-A4EF-1A11730F38E9}" dt="2026-03-05T15:07:31.906" v="528" actId="20577"/>
          <ac:spMkLst>
            <pc:docMk/>
            <pc:sldMk cId="0" sldId="292"/>
            <ac:spMk id="7" creationId="{00000000-0000-0000-0000-000000000000}"/>
          </ac:spMkLst>
        </pc:spChg>
        <pc:spChg chg="mod">
          <ac:chgData name="Scott Hay" userId="e95d3f44-f6c0-414c-b281-41a9346c1b81" providerId="ADAL" clId="{4D76341F-F64C-4A8E-A4EF-1A11730F38E9}" dt="2026-03-05T15:08:00.281" v="569" actId="20577"/>
          <ac:spMkLst>
            <pc:docMk/>
            <pc:sldMk cId="0" sldId="292"/>
            <ac:spMk id="8" creationId="{00000000-0000-0000-0000-000000000000}"/>
          </ac:spMkLst>
        </pc:spChg>
        <pc:spChg chg="mod">
          <ac:chgData name="Scott Hay" userId="e95d3f44-f6c0-414c-b281-41a9346c1b81" providerId="ADAL" clId="{4D76341F-F64C-4A8E-A4EF-1A11730F38E9}" dt="2026-03-05T15:07:39.889" v="561" actId="20577"/>
          <ac:spMkLst>
            <pc:docMk/>
            <pc:sldMk cId="0" sldId="292"/>
            <ac:spMk id="9" creationId="{00000000-0000-0000-0000-000000000000}"/>
          </ac:spMkLst>
        </pc:spChg>
        <pc:spChg chg="mod">
          <ac:chgData name="Scott Hay" userId="e95d3f44-f6c0-414c-b281-41a9346c1b81" providerId="ADAL" clId="{4D76341F-F64C-4A8E-A4EF-1A11730F38E9}" dt="2026-03-05T15:08:02.306" v="570" actId="20577"/>
          <ac:spMkLst>
            <pc:docMk/>
            <pc:sldMk cId="0" sldId="292"/>
            <ac:spMk id="10" creationId="{00000000-0000-0000-0000-000000000000}"/>
          </ac:spMkLst>
        </pc:spChg>
      </pc:sldChg>
      <pc:sldChg chg="addSp modSp mod">
        <pc:chgData name="Scott Hay" userId="e95d3f44-f6c0-414c-b281-41a9346c1b81" providerId="ADAL" clId="{4D76341F-F64C-4A8E-A4EF-1A11730F38E9}" dt="2026-03-05T15:23:13.394" v="577" actId="14100"/>
        <pc:sldMkLst>
          <pc:docMk/>
          <pc:sldMk cId="0" sldId="294"/>
        </pc:sldMkLst>
        <pc:spChg chg="mod">
          <ac:chgData name="Scott Hay" userId="e95d3f44-f6c0-414c-b281-41a9346c1b81" providerId="ADAL" clId="{4D76341F-F64C-4A8E-A4EF-1A11730F38E9}" dt="2026-03-05T15:23:13.394" v="577" actId="14100"/>
          <ac:spMkLst>
            <pc:docMk/>
            <pc:sldMk cId="0" sldId="294"/>
            <ac:spMk id="3" creationId="{00000000-0000-0000-0000-000000000000}"/>
          </ac:spMkLst>
        </pc:spChg>
        <pc:spChg chg="mod">
          <ac:chgData name="Scott Hay" userId="e95d3f44-f6c0-414c-b281-41a9346c1b81" providerId="ADAL" clId="{4D76341F-F64C-4A8E-A4EF-1A11730F38E9}" dt="2026-03-01T23:11:54.952" v="24" actId="27636"/>
          <ac:spMkLst>
            <pc:docMk/>
            <pc:sldMk cId="0" sldId="294"/>
            <ac:spMk id="6" creationId="{00000000-0000-0000-0000-000000000000}"/>
          </ac:spMkLst>
        </pc:spChg>
        <pc:spChg chg="mod">
          <ac:chgData name="Scott Hay" userId="e95d3f44-f6c0-414c-b281-41a9346c1b81" providerId="ADAL" clId="{4D76341F-F64C-4A8E-A4EF-1A11730F38E9}" dt="2026-03-05T15:23:13.394" v="577" actId="14100"/>
          <ac:spMkLst>
            <pc:docMk/>
            <pc:sldMk cId="0" sldId="294"/>
            <ac:spMk id="7" creationId="{00000000-0000-0000-0000-000000000000}"/>
          </ac:spMkLst>
        </pc:spChg>
        <pc:spChg chg="mod">
          <ac:chgData name="Scott Hay" userId="e95d3f44-f6c0-414c-b281-41a9346c1b81" providerId="ADAL" clId="{4D76341F-F64C-4A8E-A4EF-1A11730F38E9}" dt="2026-03-01T23:11:54.960" v="25" actId="27636"/>
          <ac:spMkLst>
            <pc:docMk/>
            <pc:sldMk cId="0" sldId="294"/>
            <ac:spMk id="10" creationId="{00000000-0000-0000-0000-000000000000}"/>
          </ac:spMkLst>
        </pc:spChg>
        <pc:spChg chg="mod">
          <ac:chgData name="Scott Hay" userId="e95d3f44-f6c0-414c-b281-41a9346c1b81" providerId="ADAL" clId="{4D76341F-F64C-4A8E-A4EF-1A11730F38E9}" dt="2026-03-05T15:23:13.394" v="577" actId="14100"/>
          <ac:spMkLst>
            <pc:docMk/>
            <pc:sldMk cId="0" sldId="294"/>
            <ac:spMk id="11" creationId="{00000000-0000-0000-0000-000000000000}"/>
          </ac:spMkLst>
        </pc:spChg>
        <pc:spChg chg="mod">
          <ac:chgData name="Scott Hay" userId="e95d3f44-f6c0-414c-b281-41a9346c1b81" providerId="ADAL" clId="{4D76341F-F64C-4A8E-A4EF-1A11730F38E9}" dt="2026-03-01T23:11:54.967" v="26" actId="27636"/>
          <ac:spMkLst>
            <pc:docMk/>
            <pc:sldMk cId="0" sldId="294"/>
            <ac:spMk id="14" creationId="{00000000-0000-0000-0000-000000000000}"/>
          </ac:spMkLst>
        </pc:spChg>
        <pc:spChg chg="add mod">
          <ac:chgData name="Scott Hay" userId="e95d3f44-f6c0-414c-b281-41a9346c1b81" providerId="ADAL" clId="{4D76341F-F64C-4A8E-A4EF-1A11730F38E9}" dt="2026-03-05T15:23:07.726" v="576" actId="571"/>
          <ac:spMkLst>
            <pc:docMk/>
            <pc:sldMk cId="0" sldId="294"/>
            <ac:spMk id="15" creationId="{B2678DFE-1E19-9CC0-676C-E0BFCD7848C4}"/>
          </ac:spMkLst>
        </pc:spChg>
        <pc:spChg chg="add mod">
          <ac:chgData name="Scott Hay" userId="e95d3f44-f6c0-414c-b281-41a9346c1b81" providerId="ADAL" clId="{4D76341F-F64C-4A8E-A4EF-1A11730F38E9}" dt="2026-03-05T15:23:07.726" v="576" actId="571"/>
          <ac:spMkLst>
            <pc:docMk/>
            <pc:sldMk cId="0" sldId="294"/>
            <ac:spMk id="16" creationId="{427E51B7-BBF2-D49B-828E-3CBA4A0D2C23}"/>
          </ac:spMkLst>
        </pc:spChg>
      </pc:sldChg>
      <pc:sldChg chg="mod modShow">
        <pc:chgData name="Scott Hay" userId="e95d3f44-f6c0-414c-b281-41a9346c1b81" providerId="ADAL" clId="{4D76341F-F64C-4A8E-A4EF-1A11730F38E9}" dt="2026-03-05T15:23:30.395" v="578" actId="729"/>
        <pc:sldMkLst>
          <pc:docMk/>
          <pc:sldMk cId="0" sldId="295"/>
        </pc:sldMkLst>
      </pc:sldChg>
      <pc:sldChg chg="modSp mod">
        <pc:chgData name="Scott Hay" userId="e95d3f44-f6c0-414c-b281-41a9346c1b81" providerId="ADAL" clId="{4D76341F-F64C-4A8E-A4EF-1A11730F38E9}" dt="2026-03-01T23:11:54.980" v="29" actId="27636"/>
        <pc:sldMkLst>
          <pc:docMk/>
          <pc:sldMk cId="0" sldId="298"/>
        </pc:sldMkLst>
        <pc:spChg chg="mod">
          <ac:chgData name="Scott Hay" userId="e95d3f44-f6c0-414c-b281-41a9346c1b81" providerId="ADAL" clId="{4D76341F-F64C-4A8E-A4EF-1A11730F38E9}" dt="2026-03-01T23:11:11.127" v="12" actId="14100"/>
          <ac:spMkLst>
            <pc:docMk/>
            <pc:sldMk cId="0" sldId="298"/>
            <ac:spMk id="3" creationId="{00000000-0000-0000-0000-000000000000}"/>
          </ac:spMkLst>
        </pc:spChg>
        <pc:spChg chg="mod">
          <ac:chgData name="Scott Hay" userId="e95d3f44-f6c0-414c-b281-41a9346c1b81" providerId="ADAL" clId="{4D76341F-F64C-4A8E-A4EF-1A11730F38E9}" dt="2026-03-01T23:11:54.973" v="27" actId="27636"/>
          <ac:spMkLst>
            <pc:docMk/>
            <pc:sldMk cId="0" sldId="298"/>
            <ac:spMk id="6" creationId="{00000000-0000-0000-0000-000000000000}"/>
          </ac:spMkLst>
        </pc:spChg>
        <pc:spChg chg="mod">
          <ac:chgData name="Scott Hay" userId="e95d3f44-f6c0-414c-b281-41a9346c1b81" providerId="ADAL" clId="{4D76341F-F64C-4A8E-A4EF-1A11730F38E9}" dt="2026-03-01T23:11:11.127" v="12" actId="14100"/>
          <ac:spMkLst>
            <pc:docMk/>
            <pc:sldMk cId="0" sldId="298"/>
            <ac:spMk id="7" creationId="{00000000-0000-0000-0000-000000000000}"/>
          </ac:spMkLst>
        </pc:spChg>
        <pc:spChg chg="mod">
          <ac:chgData name="Scott Hay" userId="e95d3f44-f6c0-414c-b281-41a9346c1b81" providerId="ADAL" clId="{4D76341F-F64C-4A8E-A4EF-1A11730F38E9}" dt="2026-03-01T23:11:54.980" v="29" actId="27636"/>
          <ac:spMkLst>
            <pc:docMk/>
            <pc:sldMk cId="0" sldId="298"/>
            <ac:spMk id="10" creationId="{00000000-0000-0000-0000-000000000000}"/>
          </ac:spMkLst>
        </pc:spChg>
        <pc:spChg chg="mod">
          <ac:chgData name="Scott Hay" userId="e95d3f44-f6c0-414c-b281-41a9346c1b81" providerId="ADAL" clId="{4D76341F-F64C-4A8E-A4EF-1A11730F38E9}" dt="2026-03-01T23:11:11.127" v="12" actId="14100"/>
          <ac:spMkLst>
            <pc:docMk/>
            <pc:sldMk cId="0" sldId="298"/>
            <ac:spMk id="11" creationId="{00000000-0000-0000-0000-000000000000}"/>
          </ac:spMkLst>
        </pc:spChg>
        <pc:spChg chg="mod">
          <ac:chgData name="Scott Hay" userId="e95d3f44-f6c0-414c-b281-41a9346c1b81" providerId="ADAL" clId="{4D76341F-F64C-4A8E-A4EF-1A11730F38E9}" dt="2026-03-01T23:11:54.977" v="28" actId="27636"/>
          <ac:spMkLst>
            <pc:docMk/>
            <pc:sldMk cId="0" sldId="298"/>
            <ac:spMk id="14" creationId="{00000000-0000-0000-0000-000000000000}"/>
          </ac:spMkLst>
        </pc:spChg>
      </pc:sldChg>
      <pc:sldChg chg="mod modShow">
        <pc:chgData name="Scott Hay" userId="e95d3f44-f6c0-414c-b281-41a9346c1b81" providerId="ADAL" clId="{4D76341F-F64C-4A8E-A4EF-1A11730F38E9}" dt="2026-03-05T16:32:10.780" v="586" actId="729"/>
        <pc:sldMkLst>
          <pc:docMk/>
          <pc:sldMk cId="0" sldId="300"/>
        </pc:sldMkLst>
      </pc:sldChg>
      <pc:sldChg chg="addSp modSp mod">
        <pc:chgData name="Scott Hay" userId="e95d3f44-f6c0-414c-b281-41a9346c1b81" providerId="ADAL" clId="{4D76341F-F64C-4A8E-A4EF-1A11730F38E9}" dt="2026-03-05T17:25:45.998" v="939" actId="1076"/>
        <pc:sldMkLst>
          <pc:docMk/>
          <pc:sldMk cId="0" sldId="303"/>
        </pc:sldMkLst>
        <pc:spChg chg="mod">
          <ac:chgData name="Scott Hay" userId="e95d3f44-f6c0-414c-b281-41a9346c1b81" providerId="ADAL" clId="{4D76341F-F64C-4A8E-A4EF-1A11730F38E9}" dt="2026-03-05T17:25:42.150" v="938" actId="1035"/>
          <ac:spMkLst>
            <pc:docMk/>
            <pc:sldMk cId="0" sldId="303"/>
            <ac:spMk id="5" creationId="{00000000-0000-0000-0000-000000000000}"/>
          </ac:spMkLst>
        </pc:spChg>
        <pc:spChg chg="mod">
          <ac:chgData name="Scott Hay" userId="e95d3f44-f6c0-414c-b281-41a9346c1b81" providerId="ADAL" clId="{4D76341F-F64C-4A8E-A4EF-1A11730F38E9}" dt="2026-03-05T17:25:42.150" v="938" actId="1035"/>
          <ac:spMkLst>
            <pc:docMk/>
            <pc:sldMk cId="0" sldId="303"/>
            <ac:spMk id="7" creationId="{00000000-0000-0000-0000-000000000000}"/>
          </ac:spMkLst>
        </pc:spChg>
        <pc:spChg chg="add mod">
          <ac:chgData name="Scott Hay" userId="e95d3f44-f6c0-414c-b281-41a9346c1b81" providerId="ADAL" clId="{4D76341F-F64C-4A8E-A4EF-1A11730F38E9}" dt="2026-03-05T17:25:45.998" v="939" actId="1076"/>
          <ac:spMkLst>
            <pc:docMk/>
            <pc:sldMk cId="0" sldId="303"/>
            <ac:spMk id="9" creationId="{A9AB1748-22D2-1902-74AA-A4EF267BCA03}"/>
          </ac:spMkLst>
        </pc:spChg>
      </pc:sldChg>
      <pc:sldChg chg="modSp mod">
        <pc:chgData name="Scott Hay" userId="e95d3f44-f6c0-414c-b281-41a9346c1b81" providerId="ADAL" clId="{4D76341F-F64C-4A8E-A4EF-1A11730F38E9}" dt="2026-03-05T16:41:08.717" v="610" actId="20577"/>
        <pc:sldMkLst>
          <pc:docMk/>
          <pc:sldMk cId="0" sldId="304"/>
        </pc:sldMkLst>
        <pc:spChg chg="mod">
          <ac:chgData name="Scott Hay" userId="e95d3f44-f6c0-414c-b281-41a9346c1b81" providerId="ADAL" clId="{4D76341F-F64C-4A8E-A4EF-1A11730F38E9}" dt="2026-03-05T16:41:08.717" v="610" actId="20577"/>
          <ac:spMkLst>
            <pc:docMk/>
            <pc:sldMk cId="0" sldId="304"/>
            <ac:spMk id="5" creationId="{00000000-0000-0000-0000-000000000000}"/>
          </ac:spMkLst>
        </pc:spChg>
      </pc:sldChg>
      <pc:sldChg chg="mod modShow">
        <pc:chgData name="Scott Hay" userId="e95d3f44-f6c0-414c-b281-41a9346c1b81" providerId="ADAL" clId="{4D76341F-F64C-4A8E-A4EF-1A11730F38E9}" dt="2026-03-05T17:53:22.896" v="1087" actId="729"/>
        <pc:sldMkLst>
          <pc:docMk/>
          <pc:sldMk cId="0" sldId="306"/>
        </pc:sldMkLst>
      </pc:sldChg>
      <pc:sldChg chg="modSp mod modShow">
        <pc:chgData name="Scott Hay" userId="e95d3f44-f6c0-414c-b281-41a9346c1b81" providerId="ADAL" clId="{4D76341F-F64C-4A8E-A4EF-1A11730F38E9}" dt="2026-03-05T17:53:26.491" v="1088" actId="729"/>
        <pc:sldMkLst>
          <pc:docMk/>
          <pc:sldMk cId="0" sldId="307"/>
        </pc:sldMkLst>
        <pc:spChg chg="mod">
          <ac:chgData name="Scott Hay" userId="e95d3f44-f6c0-414c-b281-41a9346c1b81" providerId="ADAL" clId="{4D76341F-F64C-4A8E-A4EF-1A11730F38E9}" dt="2026-03-05T17:22:52.455" v="917" actId="14100"/>
          <ac:spMkLst>
            <pc:docMk/>
            <pc:sldMk cId="0" sldId="307"/>
            <ac:spMk id="3" creationId="{00000000-0000-0000-0000-000000000000}"/>
          </ac:spMkLst>
        </pc:spChg>
        <pc:spChg chg="mod">
          <ac:chgData name="Scott Hay" userId="e95d3f44-f6c0-414c-b281-41a9346c1b81" providerId="ADAL" clId="{4D76341F-F64C-4A8E-A4EF-1A11730F38E9}" dt="2026-03-01T23:11:54.987" v="31" actId="27636"/>
          <ac:spMkLst>
            <pc:docMk/>
            <pc:sldMk cId="0" sldId="307"/>
            <ac:spMk id="6" creationId="{00000000-0000-0000-0000-000000000000}"/>
          </ac:spMkLst>
        </pc:spChg>
        <pc:spChg chg="mod">
          <ac:chgData name="Scott Hay" userId="e95d3f44-f6c0-414c-b281-41a9346c1b81" providerId="ADAL" clId="{4D76341F-F64C-4A8E-A4EF-1A11730F38E9}" dt="2026-03-05T17:22:52.455" v="917" actId="14100"/>
          <ac:spMkLst>
            <pc:docMk/>
            <pc:sldMk cId="0" sldId="307"/>
            <ac:spMk id="7" creationId="{00000000-0000-0000-0000-000000000000}"/>
          </ac:spMkLst>
        </pc:spChg>
        <pc:spChg chg="mod">
          <ac:chgData name="Scott Hay" userId="e95d3f44-f6c0-414c-b281-41a9346c1b81" providerId="ADAL" clId="{4D76341F-F64C-4A8E-A4EF-1A11730F38E9}" dt="2026-03-01T23:11:54.990" v="32" actId="27636"/>
          <ac:spMkLst>
            <pc:docMk/>
            <pc:sldMk cId="0" sldId="307"/>
            <ac:spMk id="10" creationId="{00000000-0000-0000-0000-000000000000}"/>
          </ac:spMkLst>
        </pc:spChg>
        <pc:spChg chg="mod">
          <ac:chgData name="Scott Hay" userId="e95d3f44-f6c0-414c-b281-41a9346c1b81" providerId="ADAL" clId="{4D76341F-F64C-4A8E-A4EF-1A11730F38E9}" dt="2026-03-05T17:22:52.455" v="917" actId="14100"/>
          <ac:spMkLst>
            <pc:docMk/>
            <pc:sldMk cId="0" sldId="307"/>
            <ac:spMk id="11" creationId="{00000000-0000-0000-0000-000000000000}"/>
          </ac:spMkLst>
        </pc:spChg>
        <pc:spChg chg="mod">
          <ac:chgData name="Scott Hay" userId="e95d3f44-f6c0-414c-b281-41a9346c1b81" providerId="ADAL" clId="{4D76341F-F64C-4A8E-A4EF-1A11730F38E9}" dt="2026-03-01T23:11:54.984" v="30" actId="27636"/>
          <ac:spMkLst>
            <pc:docMk/>
            <pc:sldMk cId="0" sldId="307"/>
            <ac:spMk id="14" creationId="{00000000-0000-0000-0000-000000000000}"/>
          </ac:spMkLst>
        </pc:spChg>
      </pc:sldChg>
      <pc:sldChg chg="modSp mod">
        <pc:chgData name="Scott Hay" userId="e95d3f44-f6c0-414c-b281-41a9346c1b81" providerId="ADAL" clId="{4D76341F-F64C-4A8E-A4EF-1A11730F38E9}" dt="2026-03-05T16:43:26.992" v="618" actId="6549"/>
        <pc:sldMkLst>
          <pc:docMk/>
          <pc:sldMk cId="0" sldId="308"/>
        </pc:sldMkLst>
        <pc:spChg chg="mod">
          <ac:chgData name="Scott Hay" userId="e95d3f44-f6c0-414c-b281-41a9346c1b81" providerId="ADAL" clId="{4D76341F-F64C-4A8E-A4EF-1A11730F38E9}" dt="2026-03-05T16:43:26.992" v="618" actId="6549"/>
          <ac:spMkLst>
            <pc:docMk/>
            <pc:sldMk cId="0" sldId="308"/>
            <ac:spMk id="4" creationId="{00000000-0000-0000-0000-000000000000}"/>
          </ac:spMkLst>
        </pc:spChg>
      </pc:sldChg>
      <pc:sldChg chg="modNotesTx">
        <pc:chgData name="Scott Hay" userId="e95d3f44-f6c0-414c-b281-41a9346c1b81" providerId="ADAL" clId="{4D76341F-F64C-4A8E-A4EF-1A11730F38E9}" dt="2026-03-05T17:46:59.008" v="1052" actId="20577"/>
        <pc:sldMkLst>
          <pc:docMk/>
          <pc:sldMk cId="0" sldId="309"/>
        </pc:sldMkLst>
      </pc:sldChg>
      <pc:sldChg chg="modSp mod">
        <pc:chgData name="Scott Hay" userId="e95d3f44-f6c0-414c-b281-41a9346c1b81" providerId="ADAL" clId="{4D76341F-F64C-4A8E-A4EF-1A11730F38E9}" dt="2026-03-05T13:34:26.429" v="421" actId="20577"/>
        <pc:sldMkLst>
          <pc:docMk/>
          <pc:sldMk cId="0" sldId="310"/>
        </pc:sldMkLst>
        <pc:spChg chg="mod">
          <ac:chgData name="Scott Hay" userId="e95d3f44-f6c0-414c-b281-41a9346c1b81" providerId="ADAL" clId="{4D76341F-F64C-4A8E-A4EF-1A11730F38E9}" dt="2026-03-05T13:34:26.429" v="421" actId="20577"/>
          <ac:spMkLst>
            <pc:docMk/>
            <pc:sldMk cId="0" sldId="310"/>
            <ac:spMk id="5" creationId="{00000000-0000-0000-0000-000000000000}"/>
          </ac:spMkLst>
        </pc:spChg>
      </pc:sldChg>
      <pc:sldChg chg="modSp mod modNotesTx">
        <pc:chgData name="Scott Hay" userId="e95d3f44-f6c0-414c-b281-41a9346c1b81" providerId="ADAL" clId="{4D76341F-F64C-4A8E-A4EF-1A11730F38E9}" dt="2026-03-05T17:27:34.950" v="971" actId="20577"/>
        <pc:sldMkLst>
          <pc:docMk/>
          <pc:sldMk cId="0" sldId="312"/>
        </pc:sldMkLst>
        <pc:spChg chg="mod">
          <ac:chgData name="Scott Hay" userId="e95d3f44-f6c0-414c-b281-41a9346c1b81" providerId="ADAL" clId="{4D76341F-F64C-4A8E-A4EF-1A11730F38E9}" dt="2026-03-05T15:26:17.499" v="584" actId="14100"/>
          <ac:spMkLst>
            <pc:docMk/>
            <pc:sldMk cId="0" sldId="312"/>
            <ac:spMk id="3" creationId="{00000000-0000-0000-0000-000000000000}"/>
          </ac:spMkLst>
        </pc:spChg>
        <pc:spChg chg="mod">
          <ac:chgData name="Scott Hay" userId="e95d3f44-f6c0-414c-b281-41a9346c1b81" providerId="ADAL" clId="{4D76341F-F64C-4A8E-A4EF-1A11730F38E9}" dt="2026-03-05T17:23:59.494" v="928" actId="20577"/>
          <ac:spMkLst>
            <pc:docMk/>
            <pc:sldMk cId="0" sldId="312"/>
            <ac:spMk id="6" creationId="{00000000-0000-0000-0000-000000000000}"/>
          </ac:spMkLst>
        </pc:spChg>
        <pc:spChg chg="mod">
          <ac:chgData name="Scott Hay" userId="e95d3f44-f6c0-414c-b281-41a9346c1b81" providerId="ADAL" clId="{4D76341F-F64C-4A8E-A4EF-1A11730F38E9}" dt="2026-03-05T15:26:17.499" v="584" actId="14100"/>
          <ac:spMkLst>
            <pc:docMk/>
            <pc:sldMk cId="0" sldId="312"/>
            <ac:spMk id="7" creationId="{00000000-0000-0000-0000-000000000000}"/>
          </ac:spMkLst>
        </pc:spChg>
        <pc:spChg chg="mod">
          <ac:chgData name="Scott Hay" userId="e95d3f44-f6c0-414c-b281-41a9346c1b81" providerId="ADAL" clId="{4D76341F-F64C-4A8E-A4EF-1A11730F38E9}" dt="2026-03-01T23:11:55.004" v="35" actId="27636"/>
          <ac:spMkLst>
            <pc:docMk/>
            <pc:sldMk cId="0" sldId="312"/>
            <ac:spMk id="10" creationId="{00000000-0000-0000-0000-000000000000}"/>
          </ac:spMkLst>
        </pc:spChg>
        <pc:spChg chg="mod">
          <ac:chgData name="Scott Hay" userId="e95d3f44-f6c0-414c-b281-41a9346c1b81" providerId="ADAL" clId="{4D76341F-F64C-4A8E-A4EF-1A11730F38E9}" dt="2026-03-05T15:26:17.499" v="584" actId="14100"/>
          <ac:spMkLst>
            <pc:docMk/>
            <pc:sldMk cId="0" sldId="312"/>
            <ac:spMk id="11" creationId="{00000000-0000-0000-0000-000000000000}"/>
          </ac:spMkLst>
        </pc:spChg>
        <pc:spChg chg="mod">
          <ac:chgData name="Scott Hay" userId="e95d3f44-f6c0-414c-b281-41a9346c1b81" providerId="ADAL" clId="{4D76341F-F64C-4A8E-A4EF-1A11730F38E9}" dt="2026-03-01T23:11:54.999" v="34" actId="27636"/>
          <ac:spMkLst>
            <pc:docMk/>
            <pc:sldMk cId="0" sldId="312"/>
            <ac:spMk id="14" creationId="{00000000-0000-0000-0000-000000000000}"/>
          </ac:spMkLst>
        </pc:spChg>
      </pc:sldChg>
      <pc:sldChg chg="modSp mod">
        <pc:chgData name="Scott Hay" userId="e95d3f44-f6c0-414c-b281-41a9346c1b81" providerId="ADAL" clId="{4D76341F-F64C-4A8E-A4EF-1A11730F38E9}" dt="2026-03-01T23:11:55.012" v="38" actId="27636"/>
        <pc:sldMkLst>
          <pc:docMk/>
          <pc:sldMk cId="0" sldId="313"/>
        </pc:sldMkLst>
        <pc:spChg chg="mod">
          <ac:chgData name="Scott Hay" userId="e95d3f44-f6c0-414c-b281-41a9346c1b81" providerId="ADAL" clId="{4D76341F-F64C-4A8E-A4EF-1A11730F38E9}" dt="2026-03-01T23:10:04.359" v="9" actId="14100"/>
          <ac:spMkLst>
            <pc:docMk/>
            <pc:sldMk cId="0" sldId="313"/>
            <ac:spMk id="3" creationId="{00000000-0000-0000-0000-000000000000}"/>
          </ac:spMkLst>
        </pc:spChg>
        <pc:spChg chg="mod">
          <ac:chgData name="Scott Hay" userId="e95d3f44-f6c0-414c-b281-41a9346c1b81" providerId="ADAL" clId="{4D76341F-F64C-4A8E-A4EF-1A11730F38E9}" dt="2026-03-01T23:11:55.012" v="38" actId="27636"/>
          <ac:spMkLst>
            <pc:docMk/>
            <pc:sldMk cId="0" sldId="313"/>
            <ac:spMk id="6" creationId="{00000000-0000-0000-0000-000000000000}"/>
          </ac:spMkLst>
        </pc:spChg>
        <pc:spChg chg="mod">
          <ac:chgData name="Scott Hay" userId="e95d3f44-f6c0-414c-b281-41a9346c1b81" providerId="ADAL" clId="{4D76341F-F64C-4A8E-A4EF-1A11730F38E9}" dt="2026-03-01T23:10:04.359" v="9" actId="14100"/>
          <ac:spMkLst>
            <pc:docMk/>
            <pc:sldMk cId="0" sldId="313"/>
            <ac:spMk id="7" creationId="{00000000-0000-0000-0000-000000000000}"/>
          </ac:spMkLst>
        </pc:spChg>
        <pc:spChg chg="mod">
          <ac:chgData name="Scott Hay" userId="e95d3f44-f6c0-414c-b281-41a9346c1b81" providerId="ADAL" clId="{4D76341F-F64C-4A8E-A4EF-1A11730F38E9}" dt="2026-03-01T23:11:55.010" v="37" actId="27636"/>
          <ac:spMkLst>
            <pc:docMk/>
            <pc:sldMk cId="0" sldId="313"/>
            <ac:spMk id="10" creationId="{00000000-0000-0000-0000-000000000000}"/>
          </ac:spMkLst>
        </pc:spChg>
        <pc:spChg chg="mod">
          <ac:chgData name="Scott Hay" userId="e95d3f44-f6c0-414c-b281-41a9346c1b81" providerId="ADAL" clId="{4D76341F-F64C-4A8E-A4EF-1A11730F38E9}" dt="2026-03-01T23:10:04.359" v="9" actId="14100"/>
          <ac:spMkLst>
            <pc:docMk/>
            <pc:sldMk cId="0" sldId="313"/>
            <ac:spMk id="11" creationId="{00000000-0000-0000-0000-000000000000}"/>
          </ac:spMkLst>
        </pc:spChg>
        <pc:spChg chg="mod">
          <ac:chgData name="Scott Hay" userId="e95d3f44-f6c0-414c-b281-41a9346c1b81" providerId="ADAL" clId="{4D76341F-F64C-4A8E-A4EF-1A11730F38E9}" dt="2026-03-01T23:11:55.008" v="36" actId="27636"/>
          <ac:spMkLst>
            <pc:docMk/>
            <pc:sldMk cId="0" sldId="313"/>
            <ac:spMk id="14" creationId="{00000000-0000-0000-0000-000000000000}"/>
          </ac:spMkLst>
        </pc:spChg>
      </pc:sldChg>
      <pc:sldChg chg="addSp modSp del mod modNotesTx">
        <pc:chgData name="Scott Hay" userId="e95d3f44-f6c0-414c-b281-41a9346c1b81" providerId="ADAL" clId="{4D76341F-F64C-4A8E-A4EF-1A11730F38E9}" dt="2026-03-05T18:47:10.009" v="1127" actId="2696"/>
        <pc:sldMkLst>
          <pc:docMk/>
          <pc:sldMk cId="0" sldId="315"/>
        </pc:sldMkLst>
        <pc:spChg chg="mod">
          <ac:chgData name="Scott Hay" userId="e95d3f44-f6c0-414c-b281-41a9346c1b81" providerId="ADAL" clId="{4D76341F-F64C-4A8E-A4EF-1A11730F38E9}" dt="2026-03-05T17:34:14.403" v="1035" actId="20577"/>
          <ac:spMkLst>
            <pc:docMk/>
            <pc:sldMk cId="0" sldId="315"/>
            <ac:spMk id="2" creationId="{00000000-0000-0000-0000-000000000000}"/>
          </ac:spMkLst>
        </pc:spChg>
        <pc:spChg chg="mod">
          <ac:chgData name="Scott Hay" userId="e95d3f44-f6c0-414c-b281-41a9346c1b81" providerId="ADAL" clId="{4D76341F-F64C-4A8E-A4EF-1A11730F38E9}" dt="2026-03-05T17:34:11.275" v="1034" actId="20577"/>
          <ac:spMkLst>
            <pc:docMk/>
            <pc:sldMk cId="0" sldId="315"/>
            <ac:spMk id="4" creationId="{00000000-0000-0000-0000-000000000000}"/>
          </ac:spMkLst>
        </pc:spChg>
        <pc:spChg chg="mod">
          <ac:chgData name="Scott Hay" userId="e95d3f44-f6c0-414c-b281-41a9346c1b81" providerId="ADAL" clId="{4D76341F-F64C-4A8E-A4EF-1A11730F38E9}" dt="2026-03-05T17:33:58.218" v="1023" actId="20577"/>
          <ac:spMkLst>
            <pc:docMk/>
            <pc:sldMk cId="0" sldId="315"/>
            <ac:spMk id="6" creationId="{00000000-0000-0000-0000-000000000000}"/>
          </ac:spMkLst>
        </pc:spChg>
        <pc:spChg chg="add mod">
          <ac:chgData name="Scott Hay" userId="e95d3f44-f6c0-414c-b281-41a9346c1b81" providerId="ADAL" clId="{4D76341F-F64C-4A8E-A4EF-1A11730F38E9}" dt="2026-03-05T17:50:01.843" v="1085" actId="1076"/>
          <ac:spMkLst>
            <pc:docMk/>
            <pc:sldMk cId="0" sldId="315"/>
            <ac:spMk id="9" creationId="{180D5042-E48B-27FA-CF75-C01DE6189628}"/>
          </ac:spMkLst>
        </pc:spChg>
      </pc:sldChg>
      <pc:sldChg chg="add">
        <pc:chgData name="Scott Hay" userId="e95d3f44-f6c0-414c-b281-41a9346c1b81" providerId="ADAL" clId="{4D76341F-F64C-4A8E-A4EF-1A11730F38E9}" dt="2026-03-05T19:07:10.565" v="1155"/>
        <pc:sldMkLst>
          <pc:docMk/>
          <pc:sldMk cId="1389655303" sldId="315"/>
        </pc:sldMkLst>
      </pc:sldChg>
      <pc:sldChg chg="add del">
        <pc:chgData name="Scott Hay" userId="e95d3f44-f6c0-414c-b281-41a9346c1b81" providerId="ADAL" clId="{4D76341F-F64C-4A8E-A4EF-1A11730F38E9}" dt="2026-03-05T19:07:01.903" v="1154" actId="2696"/>
        <pc:sldMkLst>
          <pc:docMk/>
          <pc:sldMk cId="3094868361" sldId="315"/>
        </pc:sldMkLst>
      </pc:sldChg>
      <pc:sldChg chg="modSp mod">
        <pc:chgData name="Scott Hay" userId="e95d3f44-f6c0-414c-b281-41a9346c1b81" providerId="ADAL" clId="{4D76341F-F64C-4A8E-A4EF-1A11730F38E9}" dt="2026-03-05T17:33:01.842" v="988" actId="20577"/>
        <pc:sldMkLst>
          <pc:docMk/>
          <pc:sldMk cId="0" sldId="316"/>
        </pc:sldMkLst>
        <pc:spChg chg="mod">
          <ac:chgData name="Scott Hay" userId="e95d3f44-f6c0-414c-b281-41a9346c1b81" providerId="ADAL" clId="{4D76341F-F64C-4A8E-A4EF-1A11730F38E9}" dt="2026-03-05T17:33:01.842" v="988" actId="20577"/>
          <ac:spMkLst>
            <pc:docMk/>
            <pc:sldMk cId="0" sldId="316"/>
            <ac:spMk id="2" creationId="{00000000-0000-0000-0000-000000000000}"/>
          </ac:spMkLst>
        </pc:spChg>
        <pc:spChg chg="mod">
          <ac:chgData name="Scott Hay" userId="e95d3f44-f6c0-414c-b281-41a9346c1b81" providerId="ADAL" clId="{4D76341F-F64C-4A8E-A4EF-1A11730F38E9}" dt="2026-03-05T17:32:58.787" v="981" actId="20577"/>
          <ac:spMkLst>
            <pc:docMk/>
            <pc:sldMk cId="0" sldId="316"/>
            <ac:spMk id="7" creationId="{00000000-0000-0000-0000-000000000000}"/>
          </ac:spMkLst>
        </pc:spChg>
      </pc:sldChg>
      <pc:sldChg chg="modNotesTx">
        <pc:chgData name="Scott Hay" userId="e95d3f44-f6c0-414c-b281-41a9346c1b81" providerId="ADAL" clId="{4D76341F-F64C-4A8E-A4EF-1A11730F38E9}" dt="2026-03-05T17:34:47.259" v="1051" actId="20577"/>
        <pc:sldMkLst>
          <pc:docMk/>
          <pc:sldMk cId="0" sldId="318"/>
        </pc:sldMkLst>
      </pc:sldChg>
      <pc:sldChg chg="modSp mod ord">
        <pc:chgData name="Scott Hay" userId="e95d3f44-f6c0-414c-b281-41a9346c1b81" providerId="ADAL" clId="{4D76341F-F64C-4A8E-A4EF-1A11730F38E9}" dt="2026-03-05T18:52:09.014" v="1151" actId="20577"/>
        <pc:sldMkLst>
          <pc:docMk/>
          <pc:sldMk cId="0" sldId="323"/>
        </pc:sldMkLst>
        <pc:spChg chg="mod">
          <ac:chgData name="Scott Hay" userId="e95d3f44-f6c0-414c-b281-41a9346c1b81" providerId="ADAL" clId="{4D76341F-F64C-4A8E-A4EF-1A11730F38E9}" dt="2026-03-05T18:52:09.014" v="1151" actId="20577"/>
          <ac:spMkLst>
            <pc:docMk/>
            <pc:sldMk cId="0" sldId="323"/>
            <ac:spMk id="4" creationId="{00000000-0000-0000-0000-000000000000}"/>
          </ac:spMkLst>
        </pc:spChg>
      </pc:sldChg>
      <pc:sldChg chg="modSp mod">
        <pc:chgData name="Scott Hay" userId="e95d3f44-f6c0-414c-b281-41a9346c1b81" providerId="ADAL" clId="{4D76341F-F64C-4A8E-A4EF-1A11730F38E9}" dt="2026-03-01T23:05:36.230" v="0" actId="1076"/>
        <pc:sldMkLst>
          <pc:docMk/>
          <pc:sldMk cId="0" sldId="324"/>
        </pc:sldMkLst>
        <pc:spChg chg="mod">
          <ac:chgData name="Scott Hay" userId="e95d3f44-f6c0-414c-b281-41a9346c1b81" providerId="ADAL" clId="{4D76341F-F64C-4A8E-A4EF-1A11730F38E9}" dt="2026-03-01T23:05:36.230" v="0" actId="1076"/>
          <ac:spMkLst>
            <pc:docMk/>
            <pc:sldMk cId="0" sldId="324"/>
            <ac:spMk id="3" creationId="{00000000-0000-0000-0000-000000000000}"/>
          </ac:spMkLst>
        </pc:spChg>
      </pc:sldChg>
      <pc:sldChg chg="mod modShow">
        <pc:chgData name="Scott Hay" userId="e95d3f44-f6c0-414c-b281-41a9346c1b81" providerId="ADAL" clId="{4D76341F-F64C-4A8E-A4EF-1A11730F38E9}" dt="2026-03-05T17:55:54.909" v="1094" actId="729"/>
        <pc:sldMkLst>
          <pc:docMk/>
          <pc:sldMk cId="0" sldId="327"/>
        </pc:sldMkLst>
      </pc:sldChg>
      <pc:sldChg chg="modSp del mod">
        <pc:chgData name="Scott Hay" userId="e95d3f44-f6c0-414c-b281-41a9346c1b81" providerId="ADAL" clId="{4D76341F-F64C-4A8E-A4EF-1A11730F38E9}" dt="2026-03-05T17:56:34.870" v="1095" actId="2696"/>
        <pc:sldMkLst>
          <pc:docMk/>
          <pc:sldMk cId="0" sldId="328"/>
        </pc:sldMkLst>
      </pc:sldChg>
      <pc:sldChg chg="add">
        <pc:chgData name="Scott Hay" userId="e95d3f44-f6c0-414c-b281-41a9346c1b81" providerId="ADAL" clId="{4D76341F-F64C-4A8E-A4EF-1A11730F38E9}" dt="2026-03-05T17:57:00.008" v="1098"/>
        <pc:sldMkLst>
          <pc:docMk/>
          <pc:sldMk cId="853641388" sldId="328"/>
        </pc:sldMkLst>
      </pc:sldChg>
      <pc:sldChg chg="add del setBg">
        <pc:chgData name="Scott Hay" userId="e95d3f44-f6c0-414c-b281-41a9346c1b81" providerId="ADAL" clId="{4D76341F-F64C-4A8E-A4EF-1A11730F38E9}" dt="2026-03-05T17:56:56.233" v="1097"/>
        <pc:sldMkLst>
          <pc:docMk/>
          <pc:sldMk cId="4128216947" sldId="328"/>
        </pc:sldMkLst>
      </pc:sldChg>
      <pc:sldChg chg="del">
        <pc:chgData name="Scott Hay" userId="e95d3f44-f6c0-414c-b281-41a9346c1b81" providerId="ADAL" clId="{4D76341F-F64C-4A8E-A4EF-1A11730F38E9}" dt="2026-03-05T17:56:34.870" v="1095" actId="2696"/>
        <pc:sldMkLst>
          <pc:docMk/>
          <pc:sldMk cId="0" sldId="329"/>
        </pc:sldMkLst>
      </pc:sldChg>
      <pc:sldChg chg="modSp add mod">
        <pc:chgData name="Scott Hay" userId="e95d3f44-f6c0-414c-b281-41a9346c1b81" providerId="ADAL" clId="{4D76341F-F64C-4A8E-A4EF-1A11730F38E9}" dt="2026-03-05T17:57:43.470" v="1121" actId="20577"/>
        <pc:sldMkLst>
          <pc:docMk/>
          <pc:sldMk cId="1844624129" sldId="329"/>
        </pc:sldMkLst>
        <pc:spChg chg="mod">
          <ac:chgData name="Scott Hay" userId="e95d3f44-f6c0-414c-b281-41a9346c1b81" providerId="ADAL" clId="{4D76341F-F64C-4A8E-A4EF-1A11730F38E9}" dt="2026-03-05T17:57:43.470" v="1121" actId="20577"/>
          <ac:spMkLst>
            <pc:docMk/>
            <pc:sldMk cId="1844624129" sldId="329"/>
            <ac:spMk id="4" creationId="{4C0A26A4-F4FA-E5CE-15B0-C1380BC264FA}"/>
          </ac:spMkLst>
        </pc:spChg>
      </pc:sldChg>
      <pc:sldChg chg="add del setBg">
        <pc:chgData name="Scott Hay" userId="e95d3f44-f6c0-414c-b281-41a9346c1b81" providerId="ADAL" clId="{4D76341F-F64C-4A8E-A4EF-1A11730F38E9}" dt="2026-03-05T17:56:56.233" v="1097"/>
        <pc:sldMkLst>
          <pc:docMk/>
          <pc:sldMk cId="2813188091" sldId="329"/>
        </pc:sldMkLst>
      </pc:sldChg>
      <pc:sldChg chg="del">
        <pc:chgData name="Scott Hay" userId="e95d3f44-f6c0-414c-b281-41a9346c1b81" providerId="ADAL" clId="{4D76341F-F64C-4A8E-A4EF-1A11730F38E9}" dt="2026-03-05T17:56:34.870" v="1095" actId="2696"/>
        <pc:sldMkLst>
          <pc:docMk/>
          <pc:sldMk cId="0" sldId="330"/>
        </pc:sldMkLst>
      </pc:sldChg>
      <pc:sldChg chg="add">
        <pc:chgData name="Scott Hay" userId="e95d3f44-f6c0-414c-b281-41a9346c1b81" providerId="ADAL" clId="{4D76341F-F64C-4A8E-A4EF-1A11730F38E9}" dt="2026-03-05T17:57:00.008" v="1098"/>
        <pc:sldMkLst>
          <pc:docMk/>
          <pc:sldMk cId="994118173" sldId="330"/>
        </pc:sldMkLst>
      </pc:sldChg>
      <pc:sldChg chg="add del setBg">
        <pc:chgData name="Scott Hay" userId="e95d3f44-f6c0-414c-b281-41a9346c1b81" providerId="ADAL" clId="{4D76341F-F64C-4A8E-A4EF-1A11730F38E9}" dt="2026-03-05T17:56:56.233" v="1097"/>
        <pc:sldMkLst>
          <pc:docMk/>
          <pc:sldMk cId="4065504186" sldId="330"/>
        </pc:sldMkLst>
      </pc:sldChg>
      <pc:sldChg chg="del">
        <pc:chgData name="Scott Hay" userId="e95d3f44-f6c0-414c-b281-41a9346c1b81" providerId="ADAL" clId="{4D76341F-F64C-4A8E-A4EF-1A11730F38E9}" dt="2026-03-05T19:07:01.903" v="1154" actId="2696"/>
        <pc:sldMkLst>
          <pc:docMk/>
          <pc:sldMk cId="0" sldId="331"/>
        </pc:sldMkLst>
      </pc:sldChg>
      <pc:sldChg chg="add">
        <pc:chgData name="Scott Hay" userId="e95d3f44-f6c0-414c-b281-41a9346c1b81" providerId="ADAL" clId="{4D76341F-F64C-4A8E-A4EF-1A11730F38E9}" dt="2026-03-05T19:07:10.565" v="1155"/>
        <pc:sldMkLst>
          <pc:docMk/>
          <pc:sldMk cId="972407921" sldId="331"/>
        </pc:sldMkLst>
      </pc:sldChg>
      <pc:sldChg chg="modSp del mod">
        <pc:chgData name="Scott Hay" userId="e95d3f44-f6c0-414c-b281-41a9346c1b81" providerId="ADAL" clId="{4D76341F-F64C-4A8E-A4EF-1A11730F38E9}" dt="2026-03-05T19:07:01.903" v="1154" actId="2696"/>
        <pc:sldMkLst>
          <pc:docMk/>
          <pc:sldMk cId="0" sldId="332"/>
        </pc:sldMkLst>
        <pc:spChg chg="mod">
          <ac:chgData name="Scott Hay" userId="e95d3f44-f6c0-414c-b281-41a9346c1b81" providerId="ADAL" clId="{4D76341F-F64C-4A8E-A4EF-1A11730F38E9}" dt="2026-03-05T18:53:44.031" v="1152" actId="14100"/>
          <ac:spMkLst>
            <pc:docMk/>
            <pc:sldMk cId="0" sldId="332"/>
            <ac:spMk id="3" creationId="{00000000-0000-0000-0000-000000000000}"/>
          </ac:spMkLst>
        </pc:spChg>
        <pc:spChg chg="mod">
          <ac:chgData name="Scott Hay" userId="e95d3f44-f6c0-414c-b281-41a9346c1b81" providerId="ADAL" clId="{4D76341F-F64C-4A8E-A4EF-1A11730F38E9}" dt="2026-03-05T18:53:44.031" v="1152" actId="14100"/>
          <ac:spMkLst>
            <pc:docMk/>
            <pc:sldMk cId="0" sldId="332"/>
            <ac:spMk id="7" creationId="{00000000-0000-0000-0000-000000000000}"/>
          </ac:spMkLst>
        </pc:spChg>
        <pc:spChg chg="mod">
          <ac:chgData name="Scott Hay" userId="e95d3f44-f6c0-414c-b281-41a9346c1b81" providerId="ADAL" clId="{4D76341F-F64C-4A8E-A4EF-1A11730F38E9}" dt="2026-03-05T18:53:44.031" v="1152" actId="14100"/>
          <ac:spMkLst>
            <pc:docMk/>
            <pc:sldMk cId="0" sldId="332"/>
            <ac:spMk id="11" creationId="{00000000-0000-0000-0000-000000000000}"/>
          </ac:spMkLst>
        </pc:spChg>
      </pc:sldChg>
      <pc:sldChg chg="add">
        <pc:chgData name="Scott Hay" userId="e95d3f44-f6c0-414c-b281-41a9346c1b81" providerId="ADAL" clId="{4D76341F-F64C-4A8E-A4EF-1A11730F38E9}" dt="2026-03-05T19:07:10.565" v="1155"/>
        <pc:sldMkLst>
          <pc:docMk/>
          <pc:sldMk cId="4081985963" sldId="332"/>
        </pc:sldMkLst>
      </pc:sldChg>
      <pc:sldChg chg="del">
        <pc:chgData name="Scott Hay" userId="e95d3f44-f6c0-414c-b281-41a9346c1b81" providerId="ADAL" clId="{4D76341F-F64C-4A8E-A4EF-1A11730F38E9}" dt="2026-03-05T19:07:01.903" v="1154" actId="2696"/>
        <pc:sldMkLst>
          <pc:docMk/>
          <pc:sldMk cId="0" sldId="333"/>
        </pc:sldMkLst>
      </pc:sldChg>
      <pc:sldChg chg="add">
        <pc:chgData name="Scott Hay" userId="e95d3f44-f6c0-414c-b281-41a9346c1b81" providerId="ADAL" clId="{4D76341F-F64C-4A8E-A4EF-1A11730F38E9}" dt="2026-03-05T19:07:10.565" v="1155"/>
        <pc:sldMkLst>
          <pc:docMk/>
          <pc:sldMk cId="2360643937" sldId="333"/>
        </pc:sldMkLst>
      </pc:sldChg>
      <pc:sldChg chg="del">
        <pc:chgData name="Scott Hay" userId="e95d3f44-f6c0-414c-b281-41a9346c1b81" providerId="ADAL" clId="{4D76341F-F64C-4A8E-A4EF-1A11730F38E9}" dt="2026-03-05T19:07:01.903" v="1154" actId="2696"/>
        <pc:sldMkLst>
          <pc:docMk/>
          <pc:sldMk cId="0" sldId="334"/>
        </pc:sldMkLst>
      </pc:sldChg>
      <pc:sldChg chg="add ord">
        <pc:chgData name="Scott Hay" userId="e95d3f44-f6c0-414c-b281-41a9346c1b81" providerId="ADAL" clId="{4D76341F-F64C-4A8E-A4EF-1A11730F38E9}" dt="2026-03-05T19:34:48.139" v="1162"/>
        <pc:sldMkLst>
          <pc:docMk/>
          <pc:sldMk cId="2661847391" sldId="334"/>
        </pc:sldMkLst>
      </pc:sldChg>
      <pc:sldChg chg="del mod modShow">
        <pc:chgData name="Scott Hay" userId="e95d3f44-f6c0-414c-b281-41a9346c1b81" providerId="ADAL" clId="{4D76341F-F64C-4A8E-A4EF-1A11730F38E9}" dt="2026-03-05T18:47:36.291" v="1129" actId="47"/>
        <pc:sldMkLst>
          <pc:docMk/>
          <pc:sldMk cId="0" sldId="335"/>
        </pc:sldMkLst>
      </pc:sldChg>
      <pc:sldChg chg="modSp del mod modShow">
        <pc:chgData name="Scott Hay" userId="e95d3f44-f6c0-414c-b281-41a9346c1b81" providerId="ADAL" clId="{4D76341F-F64C-4A8E-A4EF-1A11730F38E9}" dt="2026-03-05T19:07:01.903" v="1154" actId="2696"/>
        <pc:sldMkLst>
          <pc:docMk/>
          <pc:sldMk cId="0" sldId="336"/>
        </pc:sldMkLst>
      </pc:sldChg>
      <pc:sldChg chg="add">
        <pc:chgData name="Scott Hay" userId="e95d3f44-f6c0-414c-b281-41a9346c1b81" providerId="ADAL" clId="{4D76341F-F64C-4A8E-A4EF-1A11730F38E9}" dt="2026-03-05T19:07:10.565" v="1155"/>
        <pc:sldMkLst>
          <pc:docMk/>
          <pc:sldMk cId="2731109411" sldId="336"/>
        </pc:sldMkLst>
      </pc:sldChg>
      <pc:sldChg chg="del">
        <pc:chgData name="Scott Hay" userId="e95d3f44-f6c0-414c-b281-41a9346c1b81" providerId="ADAL" clId="{4D76341F-F64C-4A8E-A4EF-1A11730F38E9}" dt="2026-03-05T19:07:01.903" v="1154" actId="2696"/>
        <pc:sldMkLst>
          <pc:docMk/>
          <pc:sldMk cId="0" sldId="337"/>
        </pc:sldMkLst>
      </pc:sldChg>
      <pc:sldChg chg="add ord">
        <pc:chgData name="Scott Hay" userId="e95d3f44-f6c0-414c-b281-41a9346c1b81" providerId="ADAL" clId="{4D76341F-F64C-4A8E-A4EF-1A11730F38E9}" dt="2026-03-05T19:35:02.218" v="1164"/>
        <pc:sldMkLst>
          <pc:docMk/>
          <pc:sldMk cId="670111524" sldId="337"/>
        </pc:sldMkLst>
      </pc:sldChg>
      <pc:sldChg chg="modSp del mod">
        <pc:chgData name="Scott Hay" userId="e95d3f44-f6c0-414c-b281-41a9346c1b81" providerId="ADAL" clId="{4D76341F-F64C-4A8E-A4EF-1A11730F38E9}" dt="2026-03-05T19:07:01.903" v="1154" actId="2696"/>
        <pc:sldMkLst>
          <pc:docMk/>
          <pc:sldMk cId="0" sldId="338"/>
        </pc:sldMkLst>
      </pc:sldChg>
      <pc:sldChg chg="add">
        <pc:chgData name="Scott Hay" userId="e95d3f44-f6c0-414c-b281-41a9346c1b81" providerId="ADAL" clId="{4D76341F-F64C-4A8E-A4EF-1A11730F38E9}" dt="2026-03-05T19:07:10.565" v="1155"/>
        <pc:sldMkLst>
          <pc:docMk/>
          <pc:sldMk cId="1638746869" sldId="338"/>
        </pc:sldMkLst>
      </pc:sldChg>
      <pc:sldChg chg="del mod modShow">
        <pc:chgData name="Scott Hay" userId="e95d3f44-f6c0-414c-b281-41a9346c1b81" providerId="ADAL" clId="{4D76341F-F64C-4A8E-A4EF-1A11730F38E9}" dt="2026-03-05T19:07:01.903" v="1154" actId="2696"/>
        <pc:sldMkLst>
          <pc:docMk/>
          <pc:sldMk cId="0" sldId="339"/>
        </pc:sldMkLst>
      </pc:sldChg>
      <pc:sldChg chg="add">
        <pc:chgData name="Scott Hay" userId="e95d3f44-f6c0-414c-b281-41a9346c1b81" providerId="ADAL" clId="{4D76341F-F64C-4A8E-A4EF-1A11730F38E9}" dt="2026-03-05T19:07:10.565" v="1155"/>
        <pc:sldMkLst>
          <pc:docMk/>
          <pc:sldMk cId="4121491761" sldId="339"/>
        </pc:sldMkLst>
      </pc:sldChg>
      <pc:sldChg chg="del">
        <pc:chgData name="Scott Hay" userId="e95d3f44-f6c0-414c-b281-41a9346c1b81" providerId="ADAL" clId="{4D76341F-F64C-4A8E-A4EF-1A11730F38E9}" dt="2026-03-05T18:41:16.141" v="1126" actId="47"/>
        <pc:sldMkLst>
          <pc:docMk/>
          <pc:sldMk cId="0" sldId="341"/>
        </pc:sldMkLst>
      </pc:sldChg>
      <pc:sldChg chg="del">
        <pc:chgData name="Scott Hay" userId="e95d3f44-f6c0-414c-b281-41a9346c1b81" providerId="ADAL" clId="{4D76341F-F64C-4A8E-A4EF-1A11730F38E9}" dt="2026-03-05T18:41:16.141" v="1126" actId="47"/>
        <pc:sldMkLst>
          <pc:docMk/>
          <pc:sldMk cId="0" sldId="342"/>
        </pc:sldMkLst>
      </pc:sldChg>
      <pc:sldChg chg="del">
        <pc:chgData name="Scott Hay" userId="e95d3f44-f6c0-414c-b281-41a9346c1b81" providerId="ADAL" clId="{4D76341F-F64C-4A8E-A4EF-1A11730F38E9}" dt="2026-03-05T18:41:16.141" v="1126" actId="47"/>
        <pc:sldMkLst>
          <pc:docMk/>
          <pc:sldMk cId="0" sldId="343"/>
        </pc:sldMkLst>
      </pc:sldChg>
      <pc:sldChg chg="del">
        <pc:chgData name="Scott Hay" userId="e95d3f44-f6c0-414c-b281-41a9346c1b81" providerId="ADAL" clId="{4D76341F-F64C-4A8E-A4EF-1A11730F38E9}" dt="2026-03-05T18:41:16.141" v="1126" actId="47"/>
        <pc:sldMkLst>
          <pc:docMk/>
          <pc:sldMk cId="0" sldId="344"/>
        </pc:sldMkLst>
      </pc:sldChg>
      <pc:sldChg chg="del">
        <pc:chgData name="Scott Hay" userId="e95d3f44-f6c0-414c-b281-41a9346c1b81" providerId="ADAL" clId="{4D76341F-F64C-4A8E-A4EF-1A11730F38E9}" dt="2026-03-05T18:41:16.141" v="1126" actId="47"/>
        <pc:sldMkLst>
          <pc:docMk/>
          <pc:sldMk cId="0" sldId="345"/>
        </pc:sldMkLst>
      </pc:sldChg>
      <pc:sldChg chg="del">
        <pc:chgData name="Scott Hay" userId="e95d3f44-f6c0-414c-b281-41a9346c1b81" providerId="ADAL" clId="{4D76341F-F64C-4A8E-A4EF-1A11730F38E9}" dt="2026-03-05T18:41:16.141" v="1126" actId="47"/>
        <pc:sldMkLst>
          <pc:docMk/>
          <pc:sldMk cId="0" sldId="346"/>
        </pc:sldMkLst>
      </pc:sldChg>
      <pc:sldChg chg="del">
        <pc:chgData name="Scott Hay" userId="e95d3f44-f6c0-414c-b281-41a9346c1b81" providerId="ADAL" clId="{4D76341F-F64C-4A8E-A4EF-1A11730F38E9}" dt="2026-03-05T18:41:16.141" v="1126" actId="47"/>
        <pc:sldMkLst>
          <pc:docMk/>
          <pc:sldMk cId="0" sldId="347"/>
        </pc:sldMkLst>
      </pc:sldChg>
      <pc:sldChg chg="del">
        <pc:chgData name="Scott Hay" userId="e95d3f44-f6c0-414c-b281-41a9346c1b81" providerId="ADAL" clId="{4D76341F-F64C-4A8E-A4EF-1A11730F38E9}" dt="2026-03-05T18:41:16.141" v="1126" actId="47"/>
        <pc:sldMkLst>
          <pc:docMk/>
          <pc:sldMk cId="0" sldId="348"/>
        </pc:sldMkLst>
      </pc:sldChg>
      <pc:sldChg chg="modSp mod ord">
        <pc:chgData name="Scott Hay" userId="e95d3f44-f6c0-414c-b281-41a9346c1b81" providerId="ADAL" clId="{4D76341F-F64C-4A8E-A4EF-1A11730F38E9}" dt="2026-03-05T19:31:36.339" v="1159"/>
        <pc:sldMkLst>
          <pc:docMk/>
          <pc:sldMk cId="0" sldId="349"/>
        </pc:sldMkLst>
        <pc:spChg chg="mod">
          <ac:chgData name="Scott Hay" userId="e95d3f44-f6c0-414c-b281-41a9346c1b81" providerId="ADAL" clId="{4D76341F-F64C-4A8E-A4EF-1A11730F38E9}" dt="2026-03-05T19:31:33.152" v="1157" actId="1076"/>
          <ac:spMkLst>
            <pc:docMk/>
            <pc:sldMk cId="0" sldId="349"/>
            <ac:spMk id="4" creationId="{00000000-0000-0000-0000-000000000000}"/>
          </ac:spMkLst>
        </pc:spChg>
      </pc:sldChg>
      <pc:sldChg chg="modSp mod">
        <pc:chgData name="Scott Hay" userId="e95d3f44-f6c0-414c-b281-41a9346c1b81" providerId="ADAL" clId="{4D76341F-F64C-4A8E-A4EF-1A11730F38E9}" dt="2026-03-05T15:23:07.726" v="576" actId="571"/>
        <pc:sldMkLst>
          <pc:docMk/>
          <pc:sldMk cId="0" sldId="350"/>
        </pc:sldMkLst>
        <pc:spChg chg="mod">
          <ac:chgData name="Scott Hay" userId="e95d3f44-f6c0-414c-b281-41a9346c1b81" providerId="ADAL" clId="{4D76341F-F64C-4A8E-A4EF-1A11730F38E9}" dt="2026-03-01T23:07:28.063" v="5" actId="14100"/>
          <ac:spMkLst>
            <pc:docMk/>
            <pc:sldMk cId="0" sldId="350"/>
            <ac:spMk id="3" creationId="{00000000-0000-0000-0000-000000000000}"/>
          </ac:spMkLst>
        </pc:spChg>
        <pc:spChg chg="mod">
          <ac:chgData name="Scott Hay" userId="e95d3f44-f6c0-414c-b281-41a9346c1b81" providerId="ADAL" clId="{4D76341F-F64C-4A8E-A4EF-1A11730F38E9}" dt="2026-03-01T23:11:55.044" v="46" actId="27636"/>
          <ac:spMkLst>
            <pc:docMk/>
            <pc:sldMk cId="0" sldId="350"/>
            <ac:spMk id="6" creationId="{00000000-0000-0000-0000-000000000000}"/>
          </ac:spMkLst>
        </pc:spChg>
        <pc:spChg chg="mod">
          <ac:chgData name="Scott Hay" userId="e95d3f44-f6c0-414c-b281-41a9346c1b81" providerId="ADAL" clId="{4D76341F-F64C-4A8E-A4EF-1A11730F38E9}" dt="2026-03-01T23:07:28.063" v="5" actId="14100"/>
          <ac:spMkLst>
            <pc:docMk/>
            <pc:sldMk cId="0" sldId="350"/>
            <ac:spMk id="7" creationId="{00000000-0000-0000-0000-000000000000}"/>
          </ac:spMkLst>
        </pc:spChg>
        <pc:spChg chg="mod">
          <ac:chgData name="Scott Hay" userId="e95d3f44-f6c0-414c-b281-41a9346c1b81" providerId="ADAL" clId="{4D76341F-F64C-4A8E-A4EF-1A11730F38E9}" dt="2026-03-05T15:23:07.726" v="576" actId="571"/>
          <ac:spMkLst>
            <pc:docMk/>
            <pc:sldMk cId="0" sldId="350"/>
            <ac:spMk id="10" creationId="{00000000-0000-0000-0000-000000000000}"/>
          </ac:spMkLst>
        </pc:spChg>
        <pc:spChg chg="mod">
          <ac:chgData name="Scott Hay" userId="e95d3f44-f6c0-414c-b281-41a9346c1b81" providerId="ADAL" clId="{4D76341F-F64C-4A8E-A4EF-1A11730F38E9}" dt="2026-03-01T23:07:28.063" v="5" actId="14100"/>
          <ac:spMkLst>
            <pc:docMk/>
            <pc:sldMk cId="0" sldId="350"/>
            <ac:spMk id="11" creationId="{00000000-0000-0000-0000-000000000000}"/>
          </ac:spMkLst>
        </pc:spChg>
        <pc:spChg chg="mod">
          <ac:chgData name="Scott Hay" userId="e95d3f44-f6c0-414c-b281-41a9346c1b81" providerId="ADAL" clId="{4D76341F-F64C-4A8E-A4EF-1A11730F38E9}" dt="2026-03-01T23:11:55.042" v="45" actId="27636"/>
          <ac:spMkLst>
            <pc:docMk/>
            <pc:sldMk cId="0" sldId="350"/>
            <ac:spMk id="14" creationId="{00000000-0000-0000-0000-000000000000}"/>
          </ac:spMkLst>
        </pc:spChg>
      </pc:sldChg>
      <pc:sldChg chg="modSp mod">
        <pc:chgData name="Scott Hay" userId="e95d3f44-f6c0-414c-b281-41a9346c1b81" providerId="ADAL" clId="{4D76341F-F64C-4A8E-A4EF-1A11730F38E9}" dt="2026-03-01T23:11:55.054" v="50" actId="27636"/>
        <pc:sldMkLst>
          <pc:docMk/>
          <pc:sldMk cId="0" sldId="352"/>
        </pc:sldMkLst>
        <pc:spChg chg="mod">
          <ac:chgData name="Scott Hay" userId="e95d3f44-f6c0-414c-b281-41a9346c1b81" providerId="ADAL" clId="{4D76341F-F64C-4A8E-A4EF-1A11730F38E9}" dt="2026-03-01T23:07:37.183" v="6" actId="14100"/>
          <ac:spMkLst>
            <pc:docMk/>
            <pc:sldMk cId="0" sldId="352"/>
            <ac:spMk id="3" creationId="{00000000-0000-0000-0000-000000000000}"/>
          </ac:spMkLst>
        </pc:spChg>
        <pc:spChg chg="mod">
          <ac:chgData name="Scott Hay" userId="e95d3f44-f6c0-414c-b281-41a9346c1b81" providerId="ADAL" clId="{4D76341F-F64C-4A8E-A4EF-1A11730F38E9}" dt="2026-03-01T23:11:55.051" v="49" actId="27636"/>
          <ac:spMkLst>
            <pc:docMk/>
            <pc:sldMk cId="0" sldId="352"/>
            <ac:spMk id="6" creationId="{00000000-0000-0000-0000-000000000000}"/>
          </ac:spMkLst>
        </pc:spChg>
        <pc:spChg chg="mod">
          <ac:chgData name="Scott Hay" userId="e95d3f44-f6c0-414c-b281-41a9346c1b81" providerId="ADAL" clId="{4D76341F-F64C-4A8E-A4EF-1A11730F38E9}" dt="2026-03-01T23:07:37.183" v="6" actId="14100"/>
          <ac:spMkLst>
            <pc:docMk/>
            <pc:sldMk cId="0" sldId="352"/>
            <ac:spMk id="7" creationId="{00000000-0000-0000-0000-000000000000}"/>
          </ac:spMkLst>
        </pc:spChg>
        <pc:spChg chg="mod">
          <ac:chgData name="Scott Hay" userId="e95d3f44-f6c0-414c-b281-41a9346c1b81" providerId="ADAL" clId="{4D76341F-F64C-4A8E-A4EF-1A11730F38E9}" dt="2026-03-01T23:11:55.054" v="50" actId="27636"/>
          <ac:spMkLst>
            <pc:docMk/>
            <pc:sldMk cId="0" sldId="352"/>
            <ac:spMk id="10" creationId="{00000000-0000-0000-0000-000000000000}"/>
          </ac:spMkLst>
        </pc:spChg>
        <pc:spChg chg="mod">
          <ac:chgData name="Scott Hay" userId="e95d3f44-f6c0-414c-b281-41a9346c1b81" providerId="ADAL" clId="{4D76341F-F64C-4A8E-A4EF-1A11730F38E9}" dt="2026-03-01T23:07:37.183" v="6" actId="14100"/>
          <ac:spMkLst>
            <pc:docMk/>
            <pc:sldMk cId="0" sldId="352"/>
            <ac:spMk id="11" creationId="{00000000-0000-0000-0000-000000000000}"/>
          </ac:spMkLst>
        </pc:spChg>
        <pc:spChg chg="mod">
          <ac:chgData name="Scott Hay" userId="e95d3f44-f6c0-414c-b281-41a9346c1b81" providerId="ADAL" clId="{4D76341F-F64C-4A8E-A4EF-1A11730F38E9}" dt="2026-03-01T23:11:55.048" v="48" actId="27636"/>
          <ac:spMkLst>
            <pc:docMk/>
            <pc:sldMk cId="0" sldId="352"/>
            <ac:spMk id="14" creationId="{00000000-0000-0000-0000-000000000000}"/>
          </ac:spMkLst>
        </pc:spChg>
      </pc:sldChg>
      <pc:sldChg chg="modSp mod">
        <pc:chgData name="Scott Hay" userId="e95d3f44-f6c0-414c-b281-41a9346c1b81" providerId="ADAL" clId="{4D76341F-F64C-4A8E-A4EF-1A11730F38E9}" dt="2026-03-05T19:33:30.227" v="1160" actId="207"/>
        <pc:sldMkLst>
          <pc:docMk/>
          <pc:sldMk cId="0" sldId="356"/>
        </pc:sldMkLst>
        <pc:spChg chg="mod">
          <ac:chgData name="Scott Hay" userId="e95d3f44-f6c0-414c-b281-41a9346c1b81" providerId="ADAL" clId="{4D76341F-F64C-4A8E-A4EF-1A11730F38E9}" dt="2026-03-05T19:33:30.227" v="1160" actId="207"/>
          <ac:spMkLst>
            <pc:docMk/>
            <pc:sldMk cId="0" sldId="356"/>
            <ac:spMk id="4" creationId="{00000000-0000-0000-0000-000000000000}"/>
          </ac:spMkLst>
        </pc:spChg>
      </pc:sldChg>
      <pc:sldChg chg="modSp mod">
        <pc:chgData name="Scott Hay" userId="e95d3f44-f6c0-414c-b281-41a9346c1b81" providerId="ADAL" clId="{4D76341F-F64C-4A8E-A4EF-1A11730F38E9}" dt="2026-03-01T23:11:55.063" v="53" actId="27636"/>
        <pc:sldMkLst>
          <pc:docMk/>
          <pc:sldMk cId="0" sldId="357"/>
        </pc:sldMkLst>
        <pc:spChg chg="mod">
          <ac:chgData name="Scott Hay" userId="e95d3f44-f6c0-414c-b281-41a9346c1b81" providerId="ADAL" clId="{4D76341F-F64C-4A8E-A4EF-1A11730F38E9}" dt="2026-03-01T23:11:55.059" v="51" actId="27636"/>
          <ac:spMkLst>
            <pc:docMk/>
            <pc:sldMk cId="0" sldId="357"/>
            <ac:spMk id="6" creationId="{00000000-0000-0000-0000-000000000000}"/>
          </ac:spMkLst>
        </pc:spChg>
        <pc:spChg chg="mod">
          <ac:chgData name="Scott Hay" userId="e95d3f44-f6c0-414c-b281-41a9346c1b81" providerId="ADAL" clId="{4D76341F-F64C-4A8E-A4EF-1A11730F38E9}" dt="2026-03-01T23:11:55.063" v="53" actId="27636"/>
          <ac:spMkLst>
            <pc:docMk/>
            <pc:sldMk cId="0" sldId="357"/>
            <ac:spMk id="10" creationId="{00000000-0000-0000-0000-000000000000}"/>
          </ac:spMkLst>
        </pc:spChg>
        <pc:spChg chg="mod">
          <ac:chgData name="Scott Hay" userId="e95d3f44-f6c0-414c-b281-41a9346c1b81" providerId="ADAL" clId="{4D76341F-F64C-4A8E-A4EF-1A11730F38E9}" dt="2026-03-01T23:11:55.061" v="52" actId="27636"/>
          <ac:spMkLst>
            <pc:docMk/>
            <pc:sldMk cId="0" sldId="357"/>
            <ac:spMk id="14" creationId="{00000000-0000-0000-0000-000000000000}"/>
          </ac:spMkLst>
        </pc:spChg>
      </pc:sldChg>
      <pc:sldChg chg="mod modShow">
        <pc:chgData name="Scott Hay" userId="e95d3f44-f6c0-414c-b281-41a9346c1b81" providerId="ADAL" clId="{4D76341F-F64C-4A8E-A4EF-1A11730F38E9}" dt="2026-03-05T19:00:49.825" v="1153" actId="729"/>
        <pc:sldMkLst>
          <pc:docMk/>
          <pc:sldMk cId="0" sldId="358"/>
        </pc:sldMkLst>
      </pc:sldChg>
      <pc:sldChg chg="del">
        <pc:chgData name="Scott Hay" userId="e95d3f44-f6c0-414c-b281-41a9346c1b81" providerId="ADAL" clId="{4D76341F-F64C-4A8E-A4EF-1A11730F38E9}" dt="2026-03-05T18:38:08.748" v="1124" actId="47"/>
        <pc:sldMkLst>
          <pc:docMk/>
          <pc:sldMk cId="0" sldId="359"/>
        </pc:sldMkLst>
      </pc:sldChg>
      <pc:sldChg chg="del">
        <pc:chgData name="Scott Hay" userId="e95d3f44-f6c0-414c-b281-41a9346c1b81" providerId="ADAL" clId="{4D76341F-F64C-4A8E-A4EF-1A11730F38E9}" dt="2026-03-05T18:38:08.748" v="1124" actId="47"/>
        <pc:sldMkLst>
          <pc:docMk/>
          <pc:sldMk cId="0" sldId="360"/>
        </pc:sldMkLst>
      </pc:sldChg>
      <pc:sldChg chg="del">
        <pc:chgData name="Scott Hay" userId="e95d3f44-f6c0-414c-b281-41a9346c1b81" providerId="ADAL" clId="{4D76341F-F64C-4A8E-A4EF-1A11730F38E9}" dt="2026-03-05T18:38:08.748" v="1124" actId="47"/>
        <pc:sldMkLst>
          <pc:docMk/>
          <pc:sldMk cId="0" sldId="361"/>
        </pc:sldMkLst>
      </pc:sldChg>
      <pc:sldChg chg="del">
        <pc:chgData name="Scott Hay" userId="e95d3f44-f6c0-414c-b281-41a9346c1b81" providerId="ADAL" clId="{4D76341F-F64C-4A8E-A4EF-1A11730F38E9}" dt="2026-03-05T18:38:08.748" v="1124" actId="47"/>
        <pc:sldMkLst>
          <pc:docMk/>
          <pc:sldMk cId="0" sldId="362"/>
        </pc:sldMkLst>
      </pc:sldChg>
      <pc:sldChg chg="del">
        <pc:chgData name="Scott Hay" userId="e95d3f44-f6c0-414c-b281-41a9346c1b81" providerId="ADAL" clId="{4D76341F-F64C-4A8E-A4EF-1A11730F38E9}" dt="2026-03-05T18:38:08.748" v="1124" actId="47"/>
        <pc:sldMkLst>
          <pc:docMk/>
          <pc:sldMk cId="0" sldId="363"/>
        </pc:sldMkLst>
      </pc:sldChg>
      <pc:sldChg chg="del">
        <pc:chgData name="Scott Hay" userId="e95d3f44-f6c0-414c-b281-41a9346c1b81" providerId="ADAL" clId="{4D76341F-F64C-4A8E-A4EF-1A11730F38E9}" dt="2026-03-05T18:38:08.748" v="1124" actId="47"/>
        <pc:sldMkLst>
          <pc:docMk/>
          <pc:sldMk cId="0" sldId="364"/>
        </pc:sldMkLst>
      </pc:sldChg>
      <pc:sldChg chg="del">
        <pc:chgData name="Scott Hay" userId="e95d3f44-f6c0-414c-b281-41a9346c1b81" providerId="ADAL" clId="{4D76341F-F64C-4A8E-A4EF-1A11730F38E9}" dt="2026-03-05T18:38:08.748" v="1124" actId="47"/>
        <pc:sldMkLst>
          <pc:docMk/>
          <pc:sldMk cId="0" sldId="365"/>
        </pc:sldMkLst>
      </pc:sldChg>
      <pc:sldChg chg="modSp del mod">
        <pc:chgData name="Scott Hay" userId="e95d3f44-f6c0-414c-b281-41a9346c1b81" providerId="ADAL" clId="{4D76341F-F64C-4A8E-A4EF-1A11730F38E9}" dt="2026-03-05T18:38:08.748" v="1124" actId="47"/>
        <pc:sldMkLst>
          <pc:docMk/>
          <pc:sldMk cId="0" sldId="366"/>
        </pc:sldMkLst>
      </pc:sldChg>
      <pc:sldChg chg="del">
        <pc:chgData name="Scott Hay" userId="e95d3f44-f6c0-414c-b281-41a9346c1b81" providerId="ADAL" clId="{4D76341F-F64C-4A8E-A4EF-1A11730F38E9}" dt="2026-03-05T18:38:08.748" v="1124" actId="47"/>
        <pc:sldMkLst>
          <pc:docMk/>
          <pc:sldMk cId="0" sldId="367"/>
        </pc:sldMkLst>
      </pc:sldChg>
      <pc:sldChg chg="modSp del mod">
        <pc:chgData name="Scott Hay" userId="e95d3f44-f6c0-414c-b281-41a9346c1b81" providerId="ADAL" clId="{4D76341F-F64C-4A8E-A4EF-1A11730F38E9}" dt="2026-03-05T18:51:30.694" v="1130" actId="2696"/>
        <pc:sldMkLst>
          <pc:docMk/>
          <pc:sldMk cId="0" sldId="369"/>
        </pc:sldMkLst>
      </pc:sldChg>
      <pc:sldChg chg="add">
        <pc:chgData name="Scott Hay" userId="e95d3f44-f6c0-414c-b281-41a9346c1b81" providerId="ADAL" clId="{4D76341F-F64C-4A8E-A4EF-1A11730F38E9}" dt="2026-03-05T18:51:38.973" v="1131"/>
        <pc:sldMkLst>
          <pc:docMk/>
          <pc:sldMk cId="3757374742" sldId="369"/>
        </pc:sldMkLst>
      </pc:sldChg>
      <pc:sldChg chg="modSp mod">
        <pc:chgData name="Scott Hay" userId="e95d3f44-f6c0-414c-b281-41a9346c1b81" providerId="ADAL" clId="{4D76341F-F64C-4A8E-A4EF-1A11730F38E9}" dt="2026-03-05T20:16:21.323" v="1181" actId="20577"/>
        <pc:sldMkLst>
          <pc:docMk/>
          <pc:sldMk cId="0" sldId="370"/>
        </pc:sldMkLst>
        <pc:spChg chg="mod">
          <ac:chgData name="Scott Hay" userId="e95d3f44-f6c0-414c-b281-41a9346c1b81" providerId="ADAL" clId="{4D76341F-F64C-4A8E-A4EF-1A11730F38E9}" dt="2026-03-05T20:16:07.402" v="1170" actId="6549"/>
          <ac:spMkLst>
            <pc:docMk/>
            <pc:sldMk cId="0" sldId="370"/>
            <ac:spMk id="15" creationId="{00000000-0000-0000-0000-000000000000}"/>
          </ac:spMkLst>
        </pc:spChg>
        <pc:spChg chg="mod">
          <ac:chgData name="Scott Hay" userId="e95d3f44-f6c0-414c-b281-41a9346c1b81" providerId="ADAL" clId="{4D76341F-F64C-4A8E-A4EF-1A11730F38E9}" dt="2026-03-05T20:16:14.027" v="1171"/>
          <ac:spMkLst>
            <pc:docMk/>
            <pc:sldMk cId="0" sldId="370"/>
            <ac:spMk id="18" creationId="{00000000-0000-0000-0000-000000000000}"/>
          </ac:spMkLst>
        </pc:spChg>
        <pc:spChg chg="mod">
          <ac:chgData name="Scott Hay" userId="e95d3f44-f6c0-414c-b281-41a9346c1b81" providerId="ADAL" clId="{4D76341F-F64C-4A8E-A4EF-1A11730F38E9}" dt="2026-03-05T20:16:21.323" v="1181" actId="20577"/>
          <ac:spMkLst>
            <pc:docMk/>
            <pc:sldMk cId="0" sldId="370"/>
            <ac:spMk id="21" creationId="{00000000-0000-0000-0000-000000000000}"/>
          </ac:spMkLst>
        </pc:spChg>
      </pc:sldChg>
      <pc:sldChg chg="addAnim delAnim modAnim">
        <pc:chgData name="Scott Hay" userId="e95d3f44-f6c0-414c-b281-41a9346c1b81" providerId="ADAL" clId="{4D76341F-F64C-4A8E-A4EF-1A11730F38E9}" dt="2026-03-05T17:23:24.276" v="919"/>
        <pc:sldMkLst>
          <pc:docMk/>
          <pc:sldMk cId="0" sldId="373"/>
        </pc:sldMkLst>
      </pc:sldChg>
      <pc:sldChg chg="addAnim delAnim modAnim">
        <pc:chgData name="Scott Hay" userId="e95d3f44-f6c0-414c-b281-41a9346c1b81" providerId="ADAL" clId="{4D76341F-F64C-4A8E-A4EF-1A11730F38E9}" dt="2026-03-05T17:23:46.474" v="921"/>
        <pc:sldMkLst>
          <pc:docMk/>
          <pc:sldMk cId="0" sldId="374"/>
        </pc:sldMkLst>
      </pc:sldChg>
      <pc:sldChg chg="modSp mod">
        <pc:chgData name="Scott Hay" userId="e95d3f44-f6c0-414c-b281-41a9346c1b81" providerId="ADAL" clId="{4D76341F-F64C-4A8E-A4EF-1A11730F38E9}" dt="2026-03-05T21:13:32.569" v="1204" actId="1036"/>
        <pc:sldMkLst>
          <pc:docMk/>
          <pc:sldMk cId="0" sldId="375"/>
        </pc:sldMkLst>
        <pc:spChg chg="mod">
          <ac:chgData name="Scott Hay" userId="e95d3f44-f6c0-414c-b281-41a9346c1b81" providerId="ADAL" clId="{4D76341F-F64C-4A8E-A4EF-1A11730F38E9}" dt="2026-03-05T21:13:32.569" v="1204" actId="1036"/>
          <ac:spMkLst>
            <pc:docMk/>
            <pc:sldMk cId="0" sldId="375"/>
            <ac:spMk id="4" creationId="{00000000-0000-0000-0000-000000000000}"/>
          </ac:spMkLst>
        </pc:spChg>
        <pc:spChg chg="mod">
          <ac:chgData name="Scott Hay" userId="e95d3f44-f6c0-414c-b281-41a9346c1b81" providerId="ADAL" clId="{4D76341F-F64C-4A8E-A4EF-1A11730F38E9}" dt="2026-03-05T21:13:32.569" v="1204" actId="1036"/>
          <ac:spMkLst>
            <pc:docMk/>
            <pc:sldMk cId="0" sldId="375"/>
            <ac:spMk id="5" creationId="{00000000-0000-0000-0000-000000000000}"/>
          </ac:spMkLst>
        </pc:spChg>
        <pc:spChg chg="mod">
          <ac:chgData name="Scott Hay" userId="e95d3f44-f6c0-414c-b281-41a9346c1b81" providerId="ADAL" clId="{4D76341F-F64C-4A8E-A4EF-1A11730F38E9}" dt="2026-03-05T21:13:32.569" v="1204" actId="1036"/>
          <ac:spMkLst>
            <pc:docMk/>
            <pc:sldMk cId="0" sldId="375"/>
            <ac:spMk id="9" creationId="{00000000-0000-0000-0000-000000000000}"/>
          </ac:spMkLst>
        </pc:spChg>
        <pc:spChg chg="mod">
          <ac:chgData name="Scott Hay" userId="e95d3f44-f6c0-414c-b281-41a9346c1b81" providerId="ADAL" clId="{4D76341F-F64C-4A8E-A4EF-1A11730F38E9}" dt="2026-03-05T21:13:32.569" v="1204" actId="1036"/>
          <ac:spMkLst>
            <pc:docMk/>
            <pc:sldMk cId="0" sldId="375"/>
            <ac:spMk id="14" creationId="{00000000-0000-0000-0000-000000000000}"/>
          </ac:spMkLst>
        </pc:spChg>
        <pc:spChg chg="mod">
          <ac:chgData name="Scott Hay" userId="e95d3f44-f6c0-414c-b281-41a9346c1b81" providerId="ADAL" clId="{4D76341F-F64C-4A8E-A4EF-1A11730F38E9}" dt="2026-03-05T21:13:32.569" v="1204" actId="1036"/>
          <ac:spMkLst>
            <pc:docMk/>
            <pc:sldMk cId="0" sldId="375"/>
            <ac:spMk id="15" creationId="{00000000-0000-0000-0000-000000000000}"/>
          </ac:spMkLst>
        </pc:spChg>
        <pc:spChg chg="mod">
          <ac:chgData name="Scott Hay" userId="e95d3f44-f6c0-414c-b281-41a9346c1b81" providerId="ADAL" clId="{4D76341F-F64C-4A8E-A4EF-1A11730F38E9}" dt="2026-03-05T21:13:32.569" v="1204" actId="1036"/>
          <ac:spMkLst>
            <pc:docMk/>
            <pc:sldMk cId="0" sldId="375"/>
            <ac:spMk id="16" creationId="{00000000-0000-0000-0000-000000000000}"/>
          </ac:spMkLst>
        </pc:spChg>
        <pc:spChg chg="mod">
          <ac:chgData name="Scott Hay" userId="e95d3f44-f6c0-414c-b281-41a9346c1b81" providerId="ADAL" clId="{4D76341F-F64C-4A8E-A4EF-1A11730F38E9}" dt="2026-03-05T21:13:32.569" v="1204" actId="1036"/>
          <ac:spMkLst>
            <pc:docMk/>
            <pc:sldMk cId="0" sldId="375"/>
            <ac:spMk id="17" creationId="{00000000-0000-0000-0000-000000000000}"/>
          </ac:spMkLst>
        </pc:spChg>
        <pc:spChg chg="mod">
          <ac:chgData name="Scott Hay" userId="e95d3f44-f6c0-414c-b281-41a9346c1b81" providerId="ADAL" clId="{4D76341F-F64C-4A8E-A4EF-1A11730F38E9}" dt="2026-03-05T21:13:32.569" v="1204" actId="1036"/>
          <ac:spMkLst>
            <pc:docMk/>
            <pc:sldMk cId="0" sldId="375"/>
            <ac:spMk id="18" creationId="{00000000-0000-0000-0000-000000000000}"/>
          </ac:spMkLst>
        </pc:spChg>
        <pc:spChg chg="mod">
          <ac:chgData name="Scott Hay" userId="e95d3f44-f6c0-414c-b281-41a9346c1b81" providerId="ADAL" clId="{4D76341F-F64C-4A8E-A4EF-1A11730F38E9}" dt="2026-03-05T21:13:32.569" v="1204" actId="1036"/>
          <ac:spMkLst>
            <pc:docMk/>
            <pc:sldMk cId="0" sldId="375"/>
            <ac:spMk id="19" creationId="{00000000-0000-0000-0000-000000000000}"/>
          </ac:spMkLst>
        </pc:spChg>
        <pc:spChg chg="mod">
          <ac:chgData name="Scott Hay" userId="e95d3f44-f6c0-414c-b281-41a9346c1b81" providerId="ADAL" clId="{4D76341F-F64C-4A8E-A4EF-1A11730F38E9}" dt="2026-03-05T21:13:32.569" v="1204" actId="1036"/>
          <ac:spMkLst>
            <pc:docMk/>
            <pc:sldMk cId="0" sldId="375"/>
            <ac:spMk id="20" creationId="{00000000-0000-0000-0000-000000000000}"/>
          </ac:spMkLst>
        </pc:spChg>
      </pc:sldChg>
      <pc:sldChg chg="modSp mod">
        <pc:chgData name="Scott Hay" userId="e95d3f44-f6c0-414c-b281-41a9346c1b81" providerId="ADAL" clId="{4D76341F-F64C-4A8E-A4EF-1A11730F38E9}" dt="2026-03-05T15:23:57.163" v="582" actId="20577"/>
        <pc:sldMkLst>
          <pc:docMk/>
          <pc:sldMk cId="0" sldId="376"/>
        </pc:sldMkLst>
        <pc:spChg chg="mod">
          <ac:chgData name="Scott Hay" userId="e95d3f44-f6c0-414c-b281-41a9346c1b81" providerId="ADAL" clId="{4D76341F-F64C-4A8E-A4EF-1A11730F38E9}" dt="2026-03-05T15:23:57.163" v="582" actId="20577"/>
          <ac:spMkLst>
            <pc:docMk/>
            <pc:sldMk cId="0" sldId="376"/>
            <ac:spMk id="5" creationId="{00000000-0000-0000-0000-000000000000}"/>
          </ac:spMkLst>
        </pc:spChg>
      </pc:sldChg>
      <pc:sldChg chg="modSp mod ord">
        <pc:chgData name="Scott Hay" userId="e95d3f44-f6c0-414c-b281-41a9346c1b81" providerId="ADAL" clId="{4D76341F-F64C-4A8E-A4EF-1A11730F38E9}" dt="2026-03-05T17:54:07.563" v="1090"/>
        <pc:sldMkLst>
          <pc:docMk/>
          <pc:sldMk cId="0" sldId="377"/>
        </pc:sldMkLst>
        <pc:spChg chg="mod">
          <ac:chgData name="Scott Hay" userId="e95d3f44-f6c0-414c-b281-41a9346c1b81" providerId="ADAL" clId="{4D76341F-F64C-4A8E-A4EF-1A11730F38E9}" dt="2026-03-05T15:25:49.060" v="583" actId="20577"/>
          <ac:spMkLst>
            <pc:docMk/>
            <pc:sldMk cId="0" sldId="377"/>
            <ac:spMk id="5"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63030139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87.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88.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89.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90.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91.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92.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93.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94.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95.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96.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97.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98.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99.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100.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101.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102.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br/>
            <a:br/>
            <a:r>
              <a:t>Welcome to Day 2 of Claude Code training. Today we move from understanding AI coding to actually using it. By the end of today, you'll have built a working application from a single prompt, configured Claude to understand your codebase, and shipped production-ready code through a complete git workflow.</a:t>
            </a:r>
            <a:br/>
            <a:br/>
            <a:r>
              <a:t>This is the hands-on day. Four labs, real code, real commits. Everything you learn today transfers directly to your work tomorrow.</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Here's what we're covering today. Morning starts with installation and setup, then we'll understand how the agentic loop actually works. Lab 2A gives you hands-on experience building something real. After the break, we dig into CLAUDE.md and the memory architecture, then Lab 2B where you'll teach Claude your codebase conventions.</a:t>
            </a:r>
            <a:br/>
            <a:br/>
            <a:r>
              <a:t>Afternoon covers precise context control with @ mentions, Lab 2C on precision and recovery techniques, then we finish with git integration and Lab 2D where you'll ship actual code. Notice the pattern: concept, then lab. You'll immediately apply everything we discuss.</a:t>
            </a:r>
            <a:br/>
            <a:br/>
            <a:r>
              <a:t>The lunch break falls naturally between the context management work and the afternoon session on git and production workflows.</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Six concrete skills you'll have by end of day. First, you'll be able to install and configure Claude Code on any development machine. Second, you'll understand the agentic loop, meaning how Claude actually reads your code and executes changes. Third, you'll create CLAUDE.md files that make Claude effective on your specific projects.</a:t>
            </a:r>
            <a:br/>
            <a:br/>
            <a:r>
              <a:t>Fourth, you'll master @ mentions and context feeding, which is how you point Claude at exactly what matters. Fifth, you'll manage token limits with .gitignore and context optimization techniques. Sixth, you'll use slash commands to control sessions, switch models, and manage permissions.</a:t>
            </a:r>
            <a:br/>
            <a:br/>
            <a:r>
              <a:t>These aren't theoretical. Each one maps to a lab exercise where you'll prove you can do it.</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Four labs, one continuous project. Lab 2A is the agentic build loop where you'll build a working web app from a single prompt. Lab 2B is teaching Claude your codebase with policy enforcement, security audits, and drafting your own rules. Lab 2C covers precision and recovery, including token efficiency, disaster recovery, and AI-assisted debugging. Lab 2D is Ship It, where you'll do production readiness review, feature branches, and scaling analysis.</a:t>
            </a:r>
            <a:br/>
            <a:br/>
            <a:r>
              <a:t>Each lab builds on the last. You're not starting fresh four times. You're taking one project from initial prompt to production-ready code.</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This slide shows the fundamental shift from coding assistants to coding agents. On the left, the old way: copy-paste code from chat, context lost every conversation, manual file editing after suggestions, no memory of your codebase, generic responses with no project awareness.</a:t>
            </a:r>
            <a:br/>
            <a:br/>
            <a:r>
              <a:t>On the right, what Claude Code does: edits files directly in your repo, reads your entire codebase for context, CLAUDE.md remembers your conventions, git commits and branches and PRs built-in, runs tests, catches errors, fixes them automatically.</a:t>
            </a:r>
            <a:br/>
            <a:br/>
            <a:r>
              <a:t>The difference isn't incremental. It's categorical. You stop being the human in the loop copying code between windows. Claude becomes an engineer on your team who happens to work inside your terminal.</a:t>
            </a:r>
            <a:br/>
            <a:br/>
            <a:r>
              <a:t>[Ask the room: "How many of you have lost context mid-conversation with a coding assistant and had to re-explain your project?" — pause 20-30 seconds]</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Clear division of labor matters. Claude Code handles file reading, searching, and editing across repos. It runs tests and fixes failures. It generates boilerplate and repetitive code. It writes commit messages and PR descriptions. It creates documentation from code analysis. It refactors with full codebase awareness.</a:t>
            </a:r>
            <a:br/>
            <a:br/>
            <a:r>
              <a:t>Engineers handle architecture decisions and system design. You review AI-generated code for correctness. You define requirements and acceptance criteria. You do security review and threat modeling. You make production deployment decisions. You choose the right approach for the problem.</a:t>
            </a:r>
            <a:br/>
            <a:br/>
            <a:r>
              <a:t>The pattern: Claude handles the mechanical, you handle the strategic. Claude can write a thousand lines of code in seconds, but it can't decide whether microservices are right for your scale. That's your job.</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Claude Code versus typical AI coding tools. Claude Code has full terminal access, running commands directly. It reads and edits actual files in your repo. Git integration is built-in for commits, branches, and PRs. CLAUDE.md provides persistent project memory. MCP enables unlimited tool extensibility. Subagents allow parallel task execution.</a:t>
            </a:r>
            <a:br/>
            <a:br/>
            <a:r>
              <a:t>Typical tools are IDE-embedded assistants focused on faster autocomplete workflows. They have limited tool orchestration. Repo understanding varies significantly. They're usually single-task agents.</a:t>
            </a:r>
            <a:br/>
            <a:br/>
            <a:r>
              <a:t>The key difference: Claude Code operates at the project level, not the file level. It thinks about your codebase as a system, not a collection of individual files.</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br/>
            <a:br/>
            <a:r>
              <a:t>Installation and setup. Thirty minutes to get Claude Code running on your machine and authenticated. If you've already installed it, you'll help your neighbors and we'll cover some advanced configuration options.</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System requirements. For your machine: macOS, Linux, or Windows via WSL. Eight gigabytes of RAM recommended. Node.js 18 or higher required for the labs. For tools: a good terminal like iTerm2 or Windows Terminal, git installed and configured, VS Code or JetBrains IDE is optional but helpful.</a:t>
            </a:r>
            <a:br/>
            <a:br/>
            <a:r>
              <a:t>For your account: Anthropic Pro or Max plan. The install command is curl from claude.ai/install.sh piped to bash. Authentication is claude login. If you don't have an account yet, raise your hand and we'll get you sorted.</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Three installation methods. The recommended approach: curl -fsSL https://claude.ai/install.sh piped to bash. This works on any Unix system and always gets the latest version.</a:t>
            </a:r>
            <a:br/>
            <a:br/>
            <a:r>
              <a:t>For macOS or Linux, you can also use Homebrew: brew install --cask claude-code. For Windows, use winget: winget install Anthropic.ClaudeCode. Remember, Windows requires WSL for full functionality.</a:t>
            </a:r>
            <a:br/>
            <a:br/>
            <a:r>
              <a:t>After installing, authenticate with claude login, which opens your browser for authorization. Verify with claude --version. Then cd into any project directory and run claude to start.</a:t>
            </a:r>
            <a:br/>
            <a:br/>
            <a:r>
              <a:t>Take the next few minutes to install and authenticate. Raise your hand if you hit any issues.</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Two main ways to use Claude Code. In the terminal, you run 'claude' in any project directory. This gives you full power with all commands available. Best for dedicated coding sessions. You can run multiple instances via tabs or tmux. You get direct file system access.</a:t>
            </a:r>
            <a:br/>
            <a:br/>
            <a:r>
              <a:t>For IDE integration, run Claude in VS Code or JetBrains terminal. Changes appear live in your editor. Claude sees diagnostic errors automatically. It reads your open files and selections. Best for editing while you code.</a:t>
            </a:r>
            <a:br/>
            <a:br/>
            <a:r>
              <a:t>Most developers use both: terminal for dedicated work sessions, IDE integration for quick edits while coding. The choice depends on what you're doing at the moment.</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Claude Code Desktop is a GUI wrapper for Claude Code. No terminal required. You get parallel sessions with git worktree isolation. Visual diff review and server previews. Local or remote sessions from the same interface. PR monitoring and status tracking.</a:t>
            </a:r>
            <a:br/>
            <a:br/>
            <a:r>
              <a:t>The slash command /desktop moves a CLI session to the app if you want to switch mid-work. Best for non-terminal users, multi-session management, and visual workflows.</a:t>
            </a:r>
            <a:br/>
            <a:br/>
            <a:r>
              <a:t>For this training, we'll use the terminal, but know that Desktop exists if you prefer a GUI.</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Authentication and configuration steps. Step one: claude login opens your browser, you authorize, and the token is saved locally. Step two: claude whoami verifies authentication and shows your account email and plan tier.</a:t>
            </a:r>
            <a:br/>
            <a:br/>
            <a:r>
              <a:t>Step three is optional: claude config set model claude-sonnet-4 to set your default model. Step four: claude config list shows all your current settings.</a:t>
            </a:r>
            <a:br/>
            <a:br/>
            <a:r>
              <a:t>If you're behind a corporate proxy or firewall, you may need additional configuration. Let me know if authentication fails.</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Model selection matters. Sonnet is the default: fast, efficient, great for most tasks. Use it for code generation, editing, and debugging. Lower token cost per request. Best for everyday development work.</a:t>
            </a:r>
            <a:br/>
            <a:br/>
            <a:r>
              <a:t>Opus is the premium tier: deeper reasoning, better at complex architecture. Handles multi-file refactoring better. Higher token cost but often fewer iterations needed. Best for hard problems and security reviews.</a:t>
            </a:r>
            <a:br/>
            <a:br/>
            <a:r>
              <a:t>The decision rule: start with Sonnet. If you're spinning or the problem is complex, switch with /model opus. You can always switch back. Don't use Opus for simple tasks; you're wasting tokens.</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p>
          <a:p>
            <a:endParaRPr/>
          </a:p>
          <a:p>
            <a:r>
              <a:t>OPEN WITH:</a:t>
            </a:r>
          </a:p>
          <a:p>
            <a:r>
              <a:t>   Alright, talking time is over - let's actually see Claude Code do something. Everyone follow along on your own machine.</a:t>
            </a:r>
          </a:p>
          <a:p>
            <a:endParaRPr/>
          </a:p>
          <a:p>
            <a:r>
              <a:t>KEY POINTS:</a:t>
            </a:r>
          </a:p>
          <a:p>
            <a:r>
              <a:t>   * I'm going to run 'claude create a simple hello.py that prints hello world' and I want you to watch what happens in the terminal</a:t>
            </a:r>
          </a:p>
          <a:p>
            <a:r>
              <a:t>   * You'll see Claude Code first read the current directory structure - it's building context about where it is and what's around it</a:t>
            </a:r>
          </a:p>
          <a:p>
            <a:r>
              <a:t>   * Then it plans the action - in this case, creating a new file with specific content</a:t>
            </a:r>
          </a:p>
          <a:p>
            <a:r>
              <a:t>   * Then it executes - you'll see it call the write_file tool with the exact content</a:t>
            </a:r>
          </a:p>
          <a:p>
            <a:r>
              <a:t>   * Finally it confirms completion and you can verify the file exists with 'cat hello.py'</a:t>
            </a:r>
          </a:p>
          <a:p>
            <a:endParaRPr/>
          </a:p>
          <a:p>
            <a:r>
              <a:t>REAL-WORLD EXAMPLE:</a:t>
            </a:r>
          </a:p>
          <a:p>
            <a:r>
              <a:t>   This is a trivial example, but the pattern is identical whether you're creating a single hello world script or refactoring 50 files - read, plan, execute, verify. You just saw the entire agentic loop in 10 seconds.</a:t>
            </a:r>
          </a:p>
          <a:p>
            <a:endParaRPr/>
          </a:p>
          <a:p>
            <a:r>
              <a:t>DEMO:</a:t>
            </a:r>
          </a:p>
          <a:p>
            <a:r>
              <a:t>   Open terminal, cd to ~/test-claude or similar. Run: claude 'create a simple hello.py that prints hello world'. Point out each phase of the agentic loop as it happens. After file is created, run: cat hello.py, then python hello.py. Emphasize that Claude Code created a working file without you touching an editor.</a:t>
            </a:r>
          </a:p>
          <a:p>
            <a:endParaRPr/>
          </a:p>
          <a:p>
            <a:r>
              <a:t>TRANSITION:</a:t>
            </a:r>
          </a:p>
          <a:p>
            <a:r>
              <a:t>   That was your first taste - now let's dive deep into how the agentic loop actually works under the hood</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br/>
            <a:br/>
            <a:r>
              <a:t>The agentic loop. This is how Claude Code actually works under the hood. Understanding this loop is the difference between fighting the tool and leveraging it.</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Five stages: Read, Analyze, Plan, Execute, Verify. Claude reads your codebase and context. It analyzes patterns and dependencies. It plans the changes needed. It executes those changes. It verifies the result works.</a:t>
            </a:r>
            <a:br/>
            <a:br/>
            <a:r>
              <a:t>This loop runs continuously. When something fails at verification, Claude goes back to analyze and try again. That's the self-healing property. When you understand this loop, you understand how to give Claude better inputs at each stage.</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Stage one: Read. Claude reads CLAUDE.md and project configuration first. Then files you @ mention explicitly. Then files discovered via search and grep. It understands directory structure and file relationships. It checks git history and recent changes.</a:t>
            </a:r>
            <a:br/>
            <a:br/>
            <a:r>
              <a:t>Why this matters: context quality determines output quality. More relevant context means fewer iterations. Claude reads strategically, not every file. You control what loads via @ mentions. For large repos, .gitignore prevents overload.</a:t>
            </a:r>
            <a:br/>
            <a:br/>
            <a:r>
              <a:t>The principle here: garbage in, garbage out. If Claude doesn't have the right context, it can't give you the right answer. Your job is to point it at what matters.</a:t>
            </a:r>
            <a:endParaRPr lang="en-US"/>
          </a:p>
          <a:p>
            <a:endParaRPr lang="en-US"/>
          </a:p>
          <a:p>
            <a:endParaRPr lang="en-US"/>
          </a:p>
          <a:p>
            <a:endParaRPr lang="en-US"/>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Stage two: Analyze. Claude maps dependencies between files. It identifies patterns and conventions in your code. It understands your coding style from examples. It detects potential issues before acting. It builds a mental model of the codebase.</a:t>
            </a:r>
            <a:br/>
            <a:br/>
            <a:r>
              <a:t>What this enables: changes that respect existing patterns. Edits that don't break dependencies. Suggestions that match your team's style. Proactive error prevention. Context-aware code generation.</a:t>
            </a:r>
            <a:br/>
            <a:br/>
            <a:r>
              <a:t>This is why the first run on a new codebase is slower. Claude is building understanding. Subsequent runs leverage that understanding.</a:t>
            </a:r>
            <a:endParaRPr lang="en-US"/>
          </a:p>
          <a:p>
            <a:endParaRPr lang="en-US"/>
          </a:p>
          <a:p>
            <a:endParaRPr lang="en-US"/>
          </a:p>
          <a:p>
            <a:endParaRPr lang="en-US"/>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Stage three: Plan. Claude breaks complex tasks into steps. It identifies which files need changes. It determines order of operations. It considers edge cases and impacts. It creates an execution strategy.</a:t>
            </a:r>
            <a:br/>
            <a:br/>
            <a:r>
              <a:t>You can see this planning. Extended Thinking shows reasoning when you press Tab. Plan Mode pauses for approval when you press Shift+Tab. You can review the plan before any code changes. You can edit the plan to redirect the approach.</a:t>
            </a:r>
            <a:br/>
            <a:br/>
            <a:r>
              <a:t>Plan Mode is essential for complex multi-file changes. Don't let Claude execute a ten-file refactor without seeing the plan first.</a:t>
            </a:r>
            <a:endParaRPr lang="en-US"/>
          </a:p>
          <a:p>
            <a:endParaRPr lang="en-US"/>
          </a:p>
          <a:p>
            <a:endParaRPr lang="en-US"/>
          </a:p>
          <a:p>
            <a:endParaRPr lang="en-US"/>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Stage four: Execute. Claude creates and edits files directly. It runs shell commands like npm, git, and tests. It installs dependencies as needed. It makes changes across multiple files. It follows the plan from stage three.</a:t>
            </a:r>
            <a:br/>
            <a:br/>
            <a:r>
              <a:t>The permission model: Claude asks before running destructive commands. You can create an allowlist for trusted operations. You approve each tool use, or auto-accept with Shift+Tab to toggle auto-accept mode. Claude never modifies files outside your project.</a:t>
            </a:r>
            <a:br/>
            <a:br/>
            <a:r>
              <a:t>Think of it like a new team member: capable, but asking permission before doing anything irreversible.</a:t>
            </a:r>
            <a:endParaRPr lang="en-US"/>
          </a:p>
          <a:p>
            <a:endParaRPr lang="en-US"/>
          </a:p>
          <a:p>
            <a:endParaRPr lang="en-US"/>
          </a:p>
          <a:p>
            <a:endParaRPr lang="en-US"/>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Stage five: Verify. Claude runs tests to confirm changes work. It checks for syntax and type errors. It validates against your CLAUDE.md rules. It reports what changed and why. It suggests follow-up improvements.</a:t>
            </a:r>
            <a:br/>
            <a:br/>
            <a:r>
              <a:t>Your role in verification: review the output, don't blindly accept. Run /review for code quality checks. Run /test for test coverage. Check git diff before committing. Iterate with 'make it better' as a valid prompt.</a:t>
            </a:r>
            <a:br/>
            <a:br/>
            <a:r>
              <a:t>The verify stage is where trust is built. Claude catches its own mistakes. But you're still the final reviewer.</a:t>
            </a:r>
          </a:p>
          <a:p>
            <a:endParaRPr lang="en-US"/>
          </a:p>
          <a:p>
            <a:endParaRPr lang="en-US"/>
          </a:p>
          <a:p>
            <a:endParaRPr lang="en-US"/>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Engineering principle: small, frequent, actionable output. Small means one task per session. Don't ask Claude to refactor the whole app. Ask it to refactor the auth middleware to use JWT v3. Scoped, specific, completable.</a:t>
            </a:r>
            <a:br/>
            <a:br/>
            <a:r>
              <a:t>Frequent means commit after each change. Use /clear between tasks. Keep context fresh and focused. Every completed task is a checkpoint you can return to.</a:t>
            </a:r>
            <a:br/>
            <a:br/>
            <a:r>
              <a:t>Actionable means every prompt should produce a testable result. Not 'explain microservices' but 'extract the user service into its own module with tests.' If you can't verify the output, the prompt was too vague.</a:t>
            </a:r>
            <a:br/>
            <a:br/>
            <a:r>
              <a:t>[Ask the room: "What's the biggest task you've tried to give an AI coding assistant in one prompt?" — pause 20-30 seconds]</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6 min</a:t>
            </a:r>
          </a:p>
          <a:p>
            <a:endParaRPr dirty="0"/>
          </a:p>
          <a:p>
            <a:r>
              <a:rPr dirty="0"/>
              <a:t>OPEN WITH:</a:t>
            </a:r>
          </a:p>
          <a:p>
            <a:r>
              <a:rPr dirty="0"/>
              <a:t>   Okay, I'm going to run a real task and we're going to pause at each stage so you can see the loop in action. This is not a rehearsed demo - whatever happens, happens.</a:t>
            </a:r>
          </a:p>
          <a:p>
            <a:endParaRPr dirty="0"/>
          </a:p>
          <a:p>
            <a:r>
              <a:rPr dirty="0"/>
              <a:t>KEY POINTS:</a:t>
            </a:r>
          </a:p>
          <a:p>
            <a:r>
              <a:rPr dirty="0"/>
              <a:t>   * I'm going to use verbose mode so you can see Claude Code's internal thoughts at each stage</a:t>
            </a:r>
          </a:p>
          <a:p>
            <a:r>
              <a:rPr dirty="0"/>
              <a:t>   * Watch how it reads multiple files to understand the current login implementation</a:t>
            </a:r>
          </a:p>
          <a:p>
            <a:r>
              <a:rPr dirty="0"/>
              <a:t>   * Watch how it analyzes the existing validation patterns in other parts of the codebase</a:t>
            </a:r>
          </a:p>
          <a:p>
            <a:r>
              <a:rPr dirty="0"/>
              <a:t>   * Watch how it plans to add validation without breaking existing functionality</a:t>
            </a:r>
          </a:p>
          <a:p>
            <a:r>
              <a:rPr dirty="0"/>
              <a:t>   * Watch it execute changes to both the function and the tests</a:t>
            </a:r>
          </a:p>
          <a:p>
            <a:endParaRPr dirty="0"/>
          </a:p>
          <a:p>
            <a:r>
              <a:rPr dirty="0"/>
              <a:t>REAL-WORLD EXAMPLE:</a:t>
            </a:r>
          </a:p>
          <a:p>
            <a:r>
              <a:rPr dirty="0"/>
              <a:t>   Every single task follows this loop, no matter how simple or complex. The difference is speed - simple tasks complete in one iteration, complex tasks might loop 3-4 times.</a:t>
            </a:r>
          </a:p>
          <a:p>
            <a:endParaRPr dirty="0"/>
          </a:p>
          <a:p>
            <a:r>
              <a:rPr dirty="0"/>
              <a:t>DEMO:</a:t>
            </a:r>
          </a:p>
          <a:p>
            <a:r>
              <a:rPr dirty="0"/>
              <a:t>   Run: </a:t>
            </a:r>
            <a:r>
              <a:rPr dirty="0" err="1"/>
              <a:t>claude</a:t>
            </a:r>
            <a:r>
              <a:rPr dirty="0"/>
              <a:t> --verbose 'Add input validation to the login function in auth.py - check for empty username/password and invalid email format'. Navigate to a project with an auth.py file (or quickly create one). As it runs, pause the output and point out: 'See here - this is the Read stage, it's loading auth.py and test_auth.py'. 'Now it's analyzing - it found our existing email validation elsewhere and is matching that pattern'. 'Here's the plan - it's going to edit auth.py first, then add test cases'. Watch it execute and run tests. If tests fail, point out the loop restarting.</a:t>
            </a:r>
          </a:p>
          <a:p>
            <a:endParaRPr dirty="0"/>
          </a:p>
          <a:p>
            <a:r>
              <a:rPr dirty="0"/>
              <a:t>TRANSITION:</a:t>
            </a:r>
          </a:p>
          <a:p>
            <a:r>
              <a:rPr dirty="0"/>
              <a:t>   The loop doesn't always work perfectly - let's talk about what happens when things go wrong</a:t>
            </a:r>
          </a:p>
          <a:p>
            <a:br>
              <a:rPr dirty="0"/>
            </a:br>
            <a:br>
              <a:rPr dirty="0"/>
            </a:br>
            <a:r>
              <a:rPr dirty="0"/>
              <a:t>SELF-HEALING LOOP: This is what makes Claude Code truly agentic. When it hits an error — a dependency failure, a syntax mistake, a port conflict — it doesn't stop and hand you the error. It reads the error message, reasons about the cause, fixes it, and re-runs. Students will see this in Lab 2A when Claude builds the dashboard. Tell them to count how many errors Claude fixes on its own during the build. That count is the difference between a code generator and an autonomous agent.</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TIME: 3 min</a:t>
            </a:r>
            <a:br/>
            <a:br/>
            <a:r>
              <a:t>The complete flow from your intent to working code. You describe what you want. Claude reads the codebase including CLAUDE.md, relevant files, and git history. It plans changes, designing the approach and choosing files to modify. It edits files, writing code, creating files, updating imports. It runs and tests, executing commands and checking output. If failures occur, it reads errors, diagnoses, and retries in a self-healing loop.</a:t>
            </a:r>
            <a:br/>
            <a:br/>
            <a:r>
              <a:t>This entire cycle happens automatically. You give intent, Claude produces working code. When it fails, it tries again. Your job is to provide clear intent and review the results.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When the loop breaks, you see symptoms. Claude makes the same mistake repeatedly. Output quality drops mid-conversation. Claude forgets earlier instructions. Responses become generic or vague. Edits start conflicting with each other.</a:t>
            </a:r>
            <a:br/>
            <a:br/>
            <a:r>
              <a:t>The fixes: Run /clear and restart the task for a fresh start. Break the task into smaller pieces if it's too complex. Add the mistake to CLAUDE.md as a rule so it doesn't happen again. Use /compact to summarize and continue if you have useful context to preserve. Switch to Plan Mode for complex changes.</a:t>
            </a:r>
            <a:br/>
            <a:br/>
            <a:r>
              <a:t>The key insight: when Claude is struggling, the problem is usually context, not capability. Reset the context.</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45 min</a:t>
            </a:r>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The memory architecture of AI mapped to human cognition. Working memory is the context window, what Claude can see right now. Short-term memory is session history, what happened in this conversation. Long-term memory is CLAUDE.md, persistent knowledge across sessions. Muscle memory is skills and commands, learned behaviors.</a:t>
            </a:r>
            <a:br/>
            <a:br/>
            <a:r>
              <a:t>Everything today teaches you how to manage these four memory layers. Context window management through @ mentions and /clear. Session management through /compact and good prompt hygiene. Long-term memory through CLAUDE.md configuration. Skills through slash commands and custom configurations.</a:t>
            </a:r>
            <a:br/>
            <a:br/>
            <a:r>
              <a:t>Master these four layers and you control how Claude thinks about your code.</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br/>
            <a:br/>
            <a:r>
              <a:t>CLAUDE.md configuration. Your project's AI playbook. This is where you teach Claude how to work with your specific codebase.</a:t>
            </a: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CLAUDE.md is a configuration file that lives in your project root. Claude Code reads it first, every session. It's your project's instruction manual for AI.</a:t>
            </a:r>
            <a:br/>
            <a:br/>
            <a:r>
              <a:t>Think of it like onboarding documentation for a new team member, except this team member reads it perfectly every time and never forgets. Whatever you put here shapes how Claude approaches every task in this project.</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Basic CLAUDE.md structure. Start with project name and description: what is this, what technologies does it use. In this example, it's a REST API for an online store using FastAPI, PostgreSQL, and Redis.</a:t>
            </a:r>
            <a:br/>
            <a:br/>
            <a:r>
              <a:t>Next, code conventions: Python 3.11, PEP 8 style, type hints for all functions, async/await for all database calls, snake_case for functions, PascalCase for classes.</a:t>
            </a:r>
            <a:br/>
            <a:br/>
            <a:r>
              <a:t>Finally, testing requirements: write pytest tests for all new endpoints, aim for 80%+ coverage, tests go in tests/ matching source structure.</a:t>
            </a:r>
            <a:br/>
            <a:br/>
            <a:r>
              <a:t>This is the minimum viable CLAUDE.md. Claude now knows your stack, your style, and your testing expectations. Everything it generates will follow these rules.</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br>
              <a:rPr dirty="0"/>
            </a:br>
            <a:br>
              <a:rPr dirty="0"/>
            </a:br>
            <a:r>
              <a:rPr dirty="0"/>
              <a:t>Engineering principle: prefer routing over organizing. Organizing means one massive CLAUDE.md with everything, 500+ lines of instructions. Claude ignores half of it because context is diluted.</a:t>
            </a:r>
            <a:br>
              <a:rPr dirty="0"/>
            </a:br>
            <a:br>
              <a:rPr dirty="0"/>
            </a:br>
            <a:r>
              <a:rPr dirty="0"/>
              <a:t>Routing means a core CLAUDE.md of 50-100 lines of essentials, with .</a:t>
            </a:r>
            <a:r>
              <a:rPr dirty="0" err="1"/>
              <a:t>claude</a:t>
            </a:r>
            <a:r>
              <a:rPr dirty="0"/>
              <a:t>/rules/*.md files for topic-specific guidelines. Claude loads what's relevant and ignores the rest.</a:t>
            </a:r>
            <a:br>
              <a:rPr dirty="0"/>
            </a:br>
            <a:br>
              <a:rPr dirty="0"/>
            </a:br>
            <a:r>
              <a:rPr dirty="0"/>
              <a:t>The result: better compliance with your rules because only relevant ones are in context. Less context wasted on irrelevant instructions. Easier to maintain since you edit one file per topic.</a:t>
            </a:r>
            <a:br>
              <a:rPr dirty="0"/>
            </a:br>
            <a:br>
              <a:rPr dirty="0"/>
            </a:br>
            <a:r>
              <a:rPr dirty="0"/>
              <a:t>The pattern: small focused files beat large comprehensive ones.</a:t>
            </a:r>
          </a:p>
          <a:p>
            <a:endParaRPr dirty="0"/>
          </a:p>
          <a:p>
            <a:endParaRPr dirty="0"/>
          </a:p>
          <a:p>
            <a:endParaRPr dirty="0"/>
          </a:p>
          <a:p>
            <a:endParaRPr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Team settings and style guides. What to include: coding standards for naming and formatting, testing requirements with frameworks and coverage targets, git conventions for commit format and branch naming, architecture patterns showing where to put new code, review requirements for what must be checked.</a:t>
            </a:r>
            <a:br/>
            <a:br/>
            <a:r>
              <a:t>How to share: commit .claude/settings.json to git, commit CLAUDE.md to repo root, use .claude/rules/*.md for modular guidelines. For personal overrides, use CLAUDE.local.md which is auto-gitignored. For enterprise-wide policies, use managed settings.</a:t>
            </a:r>
            <a:br/>
            <a:br/>
            <a:r>
              <a:t>Your team should agree on CLAUDE.md contents the same way you agree on linting rules.</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Advanced model preferences and custom rules. You can specify model selection in CLAUDE.md: default to claude-sonnet-4 for everyday work, use claude-opus-4 for complex tasks, use claude-haiku-4 for quick edits.</a:t>
            </a:r>
            <a:br/>
            <a:br/>
            <a:r>
              <a:t>Custom rules can enforce behaviors: always run tests before committing, never modify /config without asking, use TypeScript strict mode for new files.</a:t>
            </a:r>
            <a:br/>
            <a:br/>
            <a:r>
              <a:t>Claude follows these rules because they're in CLAUDE.md. They're not suggestions. They're constraints on Claude's behavior.</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CLAUDE.md isn't just for engineers. A PM's CLAUDE.md might say: I'm a PM at a B2B SaaS company. My primary tool is Google Sheets. I track feature requests in Notion. Our customers are enterprise IT teams. I care about competitive analysis and market positioning.</a:t>
            </a:r>
            <a:br/>
            <a:br/>
            <a:r>
              <a:t>Claude reads this automatically. No more starting every conversation with background info. The PM in this example invests 15 minutes once and saves hours over time.</a:t>
            </a:r>
            <a:br/>
            <a:br/>
            <a:r>
              <a:t>This ties to the principle of building for restart, not perfection. Your CLAUDE.md should make every new session start from a good baseline.</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br>
              <a:rPr dirty="0"/>
            </a:br>
            <a:br>
              <a:rPr dirty="0"/>
            </a:br>
            <a:r>
              <a:rPr dirty="0"/>
              <a:t>CLAUDE.md best practices, three rules. First, be specific. Not 'use good naming' but 'use camelCase for variables, </a:t>
            </a:r>
            <a:r>
              <a:rPr dirty="0" err="1"/>
              <a:t>PascalCase</a:t>
            </a:r>
            <a:r>
              <a:rPr dirty="0"/>
              <a:t> for classes, SCREAMING_SNAKE for constants.'</a:t>
            </a:r>
            <a:br>
              <a:rPr dirty="0"/>
            </a:br>
            <a:br>
              <a:rPr dirty="0"/>
            </a:br>
            <a:r>
              <a:rPr dirty="0"/>
              <a:t>Second, be behavioral. Not 'code should be tested' but 'write a test file for every new module before merging.'</a:t>
            </a:r>
            <a:br>
              <a:rPr dirty="0"/>
            </a:br>
            <a:br>
              <a:rPr dirty="0"/>
            </a:br>
            <a:r>
              <a:rPr dirty="0"/>
              <a:t>Third, keep it current. Review monthly. Remove rules for deprecated patterns. Add rules when you see Claude making the same mistake twice.</a:t>
            </a:r>
            <a:br>
              <a:rPr dirty="0"/>
            </a:br>
            <a:br>
              <a:rPr dirty="0"/>
            </a:br>
            <a:r>
              <a:rPr dirty="0"/>
              <a:t>Short, specific, current. That's an effective CLAUDE.md.</a:t>
            </a:r>
          </a:p>
          <a:p>
            <a:endParaRPr dirty="0"/>
          </a:p>
          <a:p>
            <a:endParaRPr dirty="0"/>
          </a:p>
          <a:p>
            <a:endParaRPr dirty="0"/>
          </a:p>
          <a:p>
            <a:endParaRPr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The pruning rule for CLAUDE.md maintenance: 'Would removing this line cause Claude to make mistakes? If not, cut it.'</a:t>
            </a:r>
            <a:br/>
            <a:br/>
            <a:r>
              <a:t>Monthly review cadence. Put it on your calendar. Signs of bloat: Claude following old conventions you've abandoned, conflicting rules, generic advice that adds no value.</a:t>
            </a:r>
            <a:br/>
            <a:br/>
            <a:r>
              <a:t>Short, specific CLAUDE.md files work better than comprehensive ones because context is finite. One developer's quote: 'I spent months blaming Claude for not understanding my project while doing nothing to help it understand.' Don't be that developer.</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br>
              <a:rPr dirty="0"/>
            </a:br>
            <a:br>
              <a:rPr dirty="0"/>
            </a:br>
            <a:r>
              <a:rPr dirty="0"/>
              <a:t>Behavior templates, pick your style. Fast and autonomous: proactive mode plus parallel execution plus anti-hallucination. Claude takes initiative, works fast, but always reads before answering.</a:t>
            </a:r>
            <a:br>
              <a:rPr dirty="0"/>
            </a:br>
            <a:br>
              <a:rPr dirty="0"/>
            </a:br>
            <a:r>
              <a:rPr dirty="0"/>
              <a:t>Careful and controlled: conservative mode plus explain everything plus anti-hallucination. Claude asks before acting and explains reasoning after each step.</a:t>
            </a:r>
            <a:br>
              <a:rPr dirty="0"/>
            </a:br>
            <a:br>
              <a:rPr dirty="0"/>
            </a:br>
            <a:r>
              <a:rPr dirty="0"/>
              <a:t>Long projects: context management plus state tracking plus complete work. Claude persists across sessions, never stops early, tracks progress.</a:t>
            </a:r>
            <a:br>
              <a:rPr dirty="0"/>
            </a:br>
            <a:br>
              <a:rPr dirty="0"/>
            </a:br>
            <a:r>
              <a:rPr dirty="0"/>
              <a:t>These aren't mutually exclusive. Pick the base that matches your preference and customize from there.</a:t>
            </a:r>
            <a:br>
              <a:rPr dirty="0"/>
            </a:br>
            <a:br>
              <a:rPr dirty="0"/>
            </a:br>
            <a:r>
              <a:rPr dirty="0"/>
              <a:t>[Ask the room: "Which style matches how you want to work with AI: fast and autonomous, or careful and controlled?" — pause 20-30 seconds]</a:t>
            </a:r>
          </a:p>
          <a:p>
            <a:endParaRPr dirty="0"/>
          </a:p>
          <a:p>
            <a:endParaRPr dirty="0"/>
          </a:p>
          <a:p>
            <a:endParaRPr dirty="0"/>
          </a:p>
          <a:p>
            <a:endParaRPr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br>
              <a:rPr dirty="0"/>
            </a:br>
            <a:br>
              <a:rPr dirty="0"/>
            </a:br>
            <a:r>
              <a:rPr dirty="0"/>
              <a:t>The full memory hierarchy, six layers. Managed policy is at /etc/claude-code/CLAUDE.md or registry, affecting all users in the organization, deployed by IT. Project memory is ./CLAUDE.md or .</a:t>
            </a:r>
            <a:r>
              <a:rPr dirty="0" err="1"/>
              <a:t>claude</a:t>
            </a:r>
            <a:r>
              <a:rPr dirty="0"/>
              <a:t>/CLAUDE.md, affecting all collaborators, shared via git.</a:t>
            </a:r>
            <a:br>
              <a:rPr dirty="0"/>
            </a:br>
            <a:br>
              <a:rPr dirty="0"/>
            </a:br>
            <a:r>
              <a:rPr dirty="0"/>
              <a:t>Project rules are .</a:t>
            </a:r>
            <a:r>
              <a:rPr dirty="0" err="1"/>
              <a:t>claude</a:t>
            </a:r>
            <a:r>
              <a:rPr dirty="0"/>
              <a:t>/rules/*.md, also for all collaborators, also shared via git. User memory is ~/.</a:t>
            </a:r>
            <a:r>
              <a:rPr dirty="0" err="1"/>
              <a:t>claude</a:t>
            </a:r>
            <a:r>
              <a:rPr dirty="0"/>
              <a:t>/CLAUDE.md, affecting you across all projects, not shared. Local override is ./CLAUDE.local.md, affecting you on this project only, auto-</a:t>
            </a:r>
            <a:r>
              <a:rPr dirty="0" err="1"/>
              <a:t>gitignored</a:t>
            </a:r>
            <a:r>
              <a:rPr dirty="0"/>
              <a:t>.</a:t>
            </a:r>
            <a:br>
              <a:rPr dirty="0"/>
            </a:br>
            <a:br>
              <a:rPr dirty="0"/>
            </a:br>
            <a:r>
              <a:rPr dirty="0"/>
              <a:t>Auto memory is ~/.</a:t>
            </a:r>
            <a:r>
              <a:rPr dirty="0" err="1"/>
              <a:t>claude</a:t>
            </a:r>
            <a:r>
              <a:rPr dirty="0"/>
              <a:t>/projects/&lt;project&gt;/memory/, per project per user, Claude reads and writes this automatically.</a:t>
            </a:r>
            <a:br>
              <a:rPr dirty="0"/>
            </a:br>
            <a:br>
              <a:rPr dirty="0"/>
            </a:br>
            <a:r>
              <a:rPr dirty="0"/>
              <a:t>Precedence flows down this list. Local overrides project, project overrides user, managed policy trumps all.</a:t>
            </a:r>
          </a:p>
          <a:p>
            <a:endParaRPr dirty="0"/>
          </a:p>
          <a:p>
            <a:endParaRPr dirty="0"/>
          </a:p>
          <a:p>
            <a:endParaRPr dirty="0"/>
          </a:p>
          <a:p>
            <a:endParaRPr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br>
              <a:rPr dirty="0"/>
            </a:br>
            <a:br>
              <a:rPr dirty="0"/>
            </a:br>
            <a:r>
              <a:rPr dirty="0"/>
              <a:t>Auto memory means Claude learns as it works. What Claude remembers: project patterns like build commands, test conventions, code style. Debugging insights including solutions to tricky problems and error causes. Architecture notes about key files, module relationships, abstractions. Your preferences for communication style, workflow habits, tool choices.</a:t>
            </a:r>
            <a:br>
              <a:rPr dirty="0"/>
            </a:br>
            <a:br>
              <a:rPr dirty="0"/>
            </a:br>
            <a:r>
              <a:rPr dirty="0"/>
              <a:t>How it works: stored in ~/.</a:t>
            </a:r>
            <a:r>
              <a:rPr dirty="0" err="1"/>
              <a:t>claude</a:t>
            </a:r>
            <a:r>
              <a:rPr dirty="0"/>
              <a:t>/projects/&lt;project&gt;/memory/ with a MEMORY.md index plus topic files like debugging.md and patterns.md. First 200 lines of MEMORY.md load at session start. Topic files load on demand when Claude needs them. Claude reads AND writes these files during your session.</a:t>
            </a:r>
            <a:br>
              <a:rPr dirty="0"/>
            </a:br>
            <a:br>
              <a:rPr dirty="0"/>
            </a:br>
            <a:r>
              <a:rPr dirty="0"/>
              <a:t>This is why Claude gets better at your project over time. It's building institutional knowledge.</a:t>
            </a:r>
          </a:p>
          <a:p>
            <a:endParaRPr dirty="0"/>
          </a:p>
          <a:p>
            <a:endParaRPr dirty="0"/>
          </a:p>
          <a:p>
            <a:endParaRPr dirty="0"/>
          </a:p>
          <a:p>
            <a:endParaRPr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The /memory command and memory management. /memory opens a file selector showing ALL memory types: managed policy CLAUDE.md, project CLAUDE.md, user CLAUDE.md, CLAUDE.local.md, and auto memory MEMORY.md. It also includes an auto-memory on/off toggle.</a:t>
            </a:r>
            <a:br/>
            <a:br/>
            <a:r>
              <a:t>You can tell Claude directly to remember things: 'Remember we use pnpm, not npm.' 'Save to memory that API tests need Redis.' 'Note that the auth module uses JWT v3.' Claude writes to auto memory, and it persists across sessions.</a:t>
            </a:r>
            <a:br/>
            <a:br/>
            <a:r>
              <a:t>Managing memory: auto memory files are plain markdown, edit anytime. Disable per-project or globally with settings.json autoMemoryEnabled false or environment variable CLAUDE_CODE_AUTO_MEMORY=false. The hash shortcut adds quick notes from chat.</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5 min</a:t>
            </a:r>
          </a:p>
          <a:p>
            <a:endParaRPr dirty="0"/>
          </a:p>
          <a:p>
            <a:r>
              <a:rPr dirty="0"/>
              <a:t>OPEN WITH:</a:t>
            </a:r>
          </a:p>
          <a:p>
            <a:r>
              <a:rPr dirty="0"/>
              <a:t>   Watch how folder-based context eliminates copy-pasting entirely.</a:t>
            </a:r>
          </a:p>
          <a:p>
            <a:endParaRPr dirty="0"/>
          </a:p>
          <a:p>
            <a:r>
              <a:rPr dirty="0"/>
              <a:t>KEY POINTS:</a:t>
            </a:r>
          </a:p>
          <a:p>
            <a:r>
              <a:rPr dirty="0"/>
              <a:t>   * Create folder: competitors/ with competitors.md listing 3-4 competitors and analysis-template.md with your preferred format</a:t>
            </a:r>
          </a:p>
          <a:p>
            <a:r>
              <a:rPr dirty="0"/>
              <a:t>   * Add CLAUDE.md: 'When asked to </a:t>
            </a:r>
            <a:r>
              <a:rPr dirty="0" err="1"/>
              <a:t>analyse</a:t>
            </a:r>
            <a:r>
              <a:rPr dirty="0"/>
              <a:t> competitors, use the template in analysis-template.md. Output to analysis-results.md.'</a:t>
            </a:r>
          </a:p>
          <a:p>
            <a:r>
              <a:rPr dirty="0"/>
              <a:t>   * Run: </a:t>
            </a:r>
            <a:r>
              <a:rPr dirty="0" err="1"/>
              <a:t>claude</a:t>
            </a:r>
            <a:r>
              <a:rPr dirty="0"/>
              <a:t> '</a:t>
            </a:r>
            <a:r>
              <a:rPr dirty="0" err="1"/>
              <a:t>analyse</a:t>
            </a:r>
            <a:r>
              <a:rPr dirty="0"/>
              <a:t> our top 3 competitors using the template'</a:t>
            </a:r>
          </a:p>
          <a:p>
            <a:r>
              <a:rPr dirty="0"/>
              <a:t>   * Claude reads the folder, understands the template, generates structured analysis — zero copy-pasting</a:t>
            </a:r>
          </a:p>
          <a:p>
            <a:r>
              <a:rPr dirty="0"/>
              <a:t>   * This is the power shift from browser: context lives in files, not in your clipboard</a:t>
            </a:r>
          </a:p>
          <a:p>
            <a:endParaRPr dirty="0"/>
          </a:p>
          <a:p>
            <a:r>
              <a:rPr dirty="0"/>
              <a:t>DEMO:</a:t>
            </a:r>
          </a:p>
          <a:p>
            <a:r>
              <a:rPr dirty="0"/>
              <a:t>   Pre-create a competitors/ folder with competitors.md (3 real competitors), analysis-template.md (SWOT or similar), and CLAUDE.md with routing instructions. Run the command live. Show the generated output.
COLD SESSION TEST (if time allows):
   Exit Claude Code completely. Reopen it in the same project. Type: 'What do you know about this project?' Claude will recall everything from auto-memory — conventions, architecture, debugging history — without you providing any context. This is the moment that makes auto-memory click for the room.</a:t>
            </a:r>
          </a:p>
          <a:p>
            <a:endParaRPr dirty="0"/>
          </a:p>
          <a:p>
            <a:r>
              <a:rPr dirty="0"/>
              <a:t>TRANSITION:</a:t>
            </a:r>
          </a:p>
          <a:p>
            <a:r>
              <a:rPr dirty="0"/>
              <a:t>   That's the power of file-based context. Let's dig deeper into how context management works.</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br/>
            <a:br/>
            <a:r>
              <a:t>@ mentions and context feeding. This is how you point Claude at exactly what matters. Better targeting means saved tokens and better results.</a:t>
            </a: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 mentioning files. The syntax: @filename.ts loads a specific file. @src/auth/ loads an entire directory. @package.json loads config files. Multiple mentions work: @file1.ts @file2.ts explain how these connect. Tab completion works for file paths.</a:t>
            </a:r>
            <a:br/>
            <a:br/>
            <a:r>
              <a:t>When to use @ mentions: targeted edits like 'fix the bug in @auth.ts'. Cross-file work: '@model.ts @controller.ts add validation'. Context loading: '@README.md what does this project do?' It's faster than letting Claude search. You get precise control over what's in context.</a:t>
            </a:r>
            <a:br/>
            <a:br/>
            <a:r>
              <a:t>The principle: don't make Claude search for things you know the location of. @ mention directly.</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Beyond files: folders, URLs, and git commits. For folders: @src/routes/ loads all files in directory, @tests/ is great for 'run all tests and fix failures'. Use sparingly since large folders eat context.</a:t>
            </a:r>
            <a:br/>
            <a:br/>
            <a:r>
              <a:t>For URLs: @https://docs.example.com fetches live documentation. 'Check the official docs' triggers web search. Great for staying current with API changes.</a:t>
            </a:r>
            <a:br/>
            <a:br/>
            <a:r>
              <a:t>For git commits: @git:abc123 loads a specific commit's diff. @git:HEAD~3 loads the last three commits. 'What changed in the last PR?' works with git context.</a:t>
            </a:r>
            <a:br/>
            <a:br/>
            <a:r>
              <a:t>These are your precision tools. Use them.</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Building context: focused versus broad. Focused is preferred: @specific-file.ts for the exact file needed, one task per session, precise prompts with file references. Less context equals better output quality. Faster responses, lower token cost.</a:t>
            </a:r>
            <a:br/>
            <a:br/>
            <a:r>
              <a:t>Broad is for when you need it: @src/ for the entire directory during architecture work. Multi-file refactoring across modules. Discovery queries like 'find all API endpoints'. More context means risk of confusion. Use /compact when context grows large.</a:t>
            </a:r>
            <a:br/>
            <a:br/>
            <a:r>
              <a:t>The decision rule: start focused. Go broad only when the task requires it. If you're doing architecture work or discovery, broad makes sense. For everything else, be precise.</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br>
              <a:rPr dirty="0"/>
            </a:br>
            <a:br>
              <a:rPr dirty="0"/>
            </a:br>
            <a:r>
              <a:rPr dirty="0"/>
              <a:t>DEMO INSTRUCTIONS:</a:t>
            </a:r>
            <a:br>
              <a:rPr dirty="0"/>
            </a:br>
            <a:r>
              <a:rPr dirty="0"/>
              <a:t>1. Open Claude Code in the business-dashboard project</a:t>
            </a:r>
            <a:br>
              <a:rPr dirty="0"/>
            </a:br>
            <a:r>
              <a:rPr dirty="0"/>
              <a:t>2. Type: "Show me all the ways I can feed context to Claude Code"</a:t>
            </a:r>
            <a:br>
              <a:rPr dirty="0"/>
            </a:br>
            <a:r>
              <a:rPr dirty="0"/>
              <a:t>3. Claude will list: @ mentions, /read, paste, piping, URLs</a:t>
            </a:r>
            <a:br>
              <a:rPr dirty="0"/>
            </a:br>
            <a:r>
              <a:rPr dirty="0"/>
              <a:t>4. Then type: "Read @package.json and tell me what dependencies we have"</a:t>
            </a:r>
            <a:br>
              <a:rPr dirty="0"/>
            </a:br>
            <a:r>
              <a:rPr dirty="0"/>
              <a:t>5. Show how @ mention loaded just that one file</a:t>
            </a:r>
            <a:br>
              <a:rPr dirty="0"/>
            </a:br>
            <a:r>
              <a:rPr dirty="0"/>
              <a:t>6. Then type: "Read @src/ and summarize the architecture"</a:t>
            </a:r>
            <a:br>
              <a:rPr dirty="0"/>
            </a:br>
            <a:r>
              <a:rPr dirty="0"/>
              <a:t>7. Show how @ with a folder loads multiple files</a:t>
            </a:r>
            <a:br>
              <a:rPr dirty="0"/>
            </a:br>
            <a:br>
              <a:rPr dirty="0"/>
            </a:br>
            <a:r>
              <a:rPr dirty="0"/>
              <a:t>TALKING POINT: "Every method has a trade-off — @ mentions are precise, paste is fast, URLs bring in external docs. You'll practice all of these in Lab 2C."</a:t>
            </a:r>
            <a:br>
              <a:rPr dirty="0"/>
            </a:br>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p>
          <a:p>
            <a:endParaRPr/>
          </a:p>
          <a:p>
            <a:r>
              <a:t>OPEN WITH:</a:t>
            </a:r>
          </a:p>
          <a:p>
            <a:r>
              <a:t>   Alright, we've covered installation, the agentic loop, CLAUDE.md, and @ mentions - that's a lot of concepts. Take 15 minutes, grab coffee, stretch your legs.</a:t>
            </a:r>
          </a:p>
          <a:p>
            <a:endParaRPr/>
          </a:p>
          <a:p>
            <a:r>
              <a:t>KEY POINTS:</a:t>
            </a:r>
          </a:p>
          <a:p>
            <a:r>
              <a:t>   * When we come back, we're diving into context management and token limits - this is where people often get stuck</a:t>
            </a:r>
          </a:p>
          <a:p>
            <a:endParaRPr/>
          </a:p>
          <a:p>
            <a:r>
              <a:t>TRANSITION:</a:t>
            </a:r>
          </a:p>
          <a:p>
            <a:r>
              <a:t>   See you in 15 minutes</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br/>
            <a:br/>
            <a:r>
              <a:t>Context management. Your context window is finite. Think of it like a budget. Every token you spend on irrelevant context is a token you can't spend on useful reasoning.</a:t>
            </a: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How Claude Code reads your workspace. Auto-loaded on every session: CLAUDE.md at project root, .claude/settings.json, .claude/rules/*.md, auto memory first 200 lines, and file tree structure with names only.</a:t>
            </a:r>
            <a:br/>
            <a:br/>
            <a:r>
              <a:t>On-demand, loaded when needed: files you @ mention, files found via search and grep, files Claude needs to edit, reference files from skills, and auto memory topic files.</a:t>
            </a:r>
            <a:br/>
            <a:br/>
            <a:r>
              <a:t>This two-tier system means Claude starts lean and loads what it needs. You can influence what loads via @ mentions and what stays out via .gitignore.</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What's in context right now? To check context: /cost shows token usage for current session. /verbose enables detailed logging of tool use. Watch for 'reading file X' in Claude's output. The context window is about 200K tokens for Sonnet and Opus.</a:t>
            </a:r>
            <a:br/>
            <a:br/>
            <a:r>
              <a:t>To manage context: /clear resets completely for a fresh start. /compact summarizes and continues. .gitignore excludes files permanently. Smaller prompts leave more room for code. One task per session equals clean context.</a:t>
            </a:r>
            <a:br/>
            <a:br/>
            <a:r>
              <a:t>Check /cost periodically. If you're above 50% of context, consider /compact or /clear.</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Token limits and optimization. When context is full: responses get shorter and less detailed, Claude starts forgetting earlier context, errors increase as reasoning degrades, you see 'context window approaching limit' warnings.</a:t>
            </a:r>
            <a:br/>
            <a:br/>
            <a:r>
              <a:t>To stay efficient: use /clear between unrelated tasks, use /compact for long sessions, .gitignore for node_modules, build/, dist/. @ mention specific files, not directories. One task per session is the golden rule.</a:t>
            </a:r>
            <a:br/>
            <a:br/>
            <a:r>
              <a:t>Context degradation is gradual, then sudden. By the time you notice quality dropping, you're already in trouble. Proactive management beats reactive fixes.</a:t>
            </a:r>
          </a:p>
          <a:p>
            <a:endParaRPr lang="en-US"/>
          </a:p>
          <a:p>
            <a:endParaRPr/>
          </a:p>
          <a:p>
            <a:endParaRPr/>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.gitignore patterns. Same syntax as .gitignore. Put it in project root. Dependencies: node_modules/, venv/. Build outputs: dist/, build/. Media: *.jpg, *.png.</a:t>
            </a:r>
            <a:br/>
            <a:br/>
            <a:r>
              <a:t>Everything in .gitignore is invisible to Claude. It won't read these files, won't search them, won't include them in context. For large projects, this is essential for keeping context focused.</a:t>
            </a:r>
            <a:br/>
            <a:br/>
            <a:r>
              <a:t>Copy your .gitignore as a starting point and add anything else that's large and irrelevant.</a:t>
            </a:r>
          </a:p>
          <a:p>
            <a:endParaRPr lang="en-US"/>
          </a:p>
          <a:p>
            <a:endParaRPr/>
          </a:p>
          <a:p>
            <a:endParaRPr/>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Managing large codebases. Three strategies. First, .gitignore: node_modules/, dist/, build/, *.min.js, coverage/, .env*. Same syntax as .gitignore.</a:t>
            </a:r>
            <a:br/>
            <a:br/>
            <a:r>
              <a:t>Second, focused sessions: work on one module at a time, @ mention only the files you need, use /clear between different modules.</a:t>
            </a:r>
            <a:br/>
            <a:br/>
            <a:r>
              <a:t>Third, guide Claude: use CLAUDE.md to describe the architecture. 'Auth is in src/auth/, API routes in src/routes/.' Claude searches smarter when it has a map.</a:t>
            </a:r>
            <a:br/>
            <a:br/>
            <a:r>
              <a:t>Large codebases require discipline. Without it, Claude drowns in irrelevant context.</a:t>
            </a:r>
          </a:p>
          <a:p>
            <a:endParaRPr lang="en-US"/>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Context window is your hidden bottleneck. It's finite at 200K tokens for Claude, but effective quality degrades well before the limit. You don't want to fill it.</a:t>
            </a:r>
            <a:br/>
            <a:br/>
            <a:r>
              <a:t>MCP tools add to the problem: each server registers tool descriptions that stay in context permanently during the session. Solution: only enable MCP servers you actually need for the current task.</a:t>
            </a:r>
            <a:br/>
            <a:br/>
            <a:r>
              <a:t>/cost shows your current token usage. Check it periodically. /compact summarizes conversation history to free up context without losing key decisions.</a:t>
            </a:r>
            <a:br/>
            <a:br/>
            <a:r>
              <a:t>Monitoring context was the second major breakthrough after Plan Mode for many developers. Make it a habit.</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FBEEC6-194F-341B-80BD-218116931703}"/>
            </a:ext>
          </a:extLst>
        </p:cNvPr>
        <p:cNvGrpSpPr/>
        <p:nvPr/>
      </p:nvGrpSpPr>
      <p:grpSpPr>
        <a:xfrm>
          <a:off x="0" y="0"/>
          <a:ext cx="0" cy="0"/>
          <a:chOff x="0" y="0"/>
          <a:chExt cx="0" cy="0"/>
        </a:xfrm>
      </p:grpSpPr>
      <p:sp>
        <p:nvSpPr>
          <p:cNvPr id="3" name="Notes Placeholder 2">
            <a:extLst>
              <a:ext uri="{FF2B5EF4-FFF2-40B4-BE49-F238E27FC236}">
                <a16:creationId xmlns:a16="http://schemas.microsoft.com/office/drawing/2014/main" id="{345475E0-35D1-E5C0-1012-8CA8147BAAB3}"/>
              </a:ext>
            </a:extLst>
          </p:cNvPr>
          <p:cNvSpPr>
            <a:spLocks noGrp="1"/>
          </p:cNvSpPr>
          <p:nvPr>
            <p:ph type="body" sz="quarter" idx="3"/>
          </p:nvPr>
        </p:nvSpPr>
        <p:spPr/>
        <p:txBody>
          <a:bodyPr/>
          <a:lstStyle/>
          <a:p>
            <a:r>
              <a:t>TIME: 1 min
Session hygiene: the discipline that matters most. One task per session. This rule prevents 80% of failures.</a:t>
            </a:r>
          </a:p>
        </p:txBody>
      </p:sp>
    </p:spTree>
    <p:extLst>
      <p:ext uri="{BB962C8B-B14F-4D97-AF65-F5344CB8AC3E}">
        <p14:creationId xmlns:p14="http://schemas.microsoft.com/office/powerpoint/2010/main" val="2140435635"/>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7DAA3-2CA0-B11C-E056-264398E6B6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D190FB-390B-0AEA-40B9-0B39F34F8291}"/>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14BF4F61-DE52-60D4-E0EC-6D1FCA32BF45}"/>
              </a:ext>
            </a:extLst>
          </p:cNvPr>
          <p:cNvSpPr>
            <a:spLocks noGrp="1"/>
          </p:cNvSpPr>
          <p:nvPr>
            <p:ph type="body" sz="quarter" idx="3"/>
          </p:nvPr>
        </p:nvSpPr>
        <p:spPr/>
        <p:txBody>
          <a:bodyPr/>
          <a:lstStyle/>
          <a:p>
            <a:r>
              <a:t>TIME: 3 min</a:t>
            </a:r>
            <a:br/>
            <a:br/>
            <a:r>
              <a:t>One task per session. Period. Context degrades over long sessions. It's like starting a meeting where someone's been talking for 20 minutes about something else.</a:t>
            </a:r>
            <a:br/>
            <a:br/>
            <a:r>
              <a:t>The correction spiral: after two failed attempts to correct output, your context is poisoned with conflicting instructions. Claude is trying to satisfy your original prompt, your first correction, AND your second correction. It can't.</a:t>
            </a:r>
            <a:br/>
            <a:br/>
            <a:r>
              <a:t>One developer's quote: 'I spent months blaming Claude for not understanding my project while doing nothing to help it understand.'</a:t>
            </a:r>
            <a:br/>
            <a:br/>
            <a:r>
              <a:t>Rule of thumb: one task per session. The anti-pattern is called 'vibes-driven development,' just hoping Claude gets it right without structure. MIT research says 95% of AI projects fail. Don't contribute to that statistic.</a:t>
            </a:r>
          </a:p>
          <a:p>
            <a:endParaRPr/>
          </a:p>
          <a:p>
            <a:endParaRPr/>
          </a:p>
          <a:p>
            <a:endParaRPr/>
          </a:p>
          <a:p>
            <a:endParaRPr/>
          </a:p>
          <a:p>
            <a:endParaRPr/>
          </a:p>
        </p:txBody>
      </p:sp>
      <p:sp>
        <p:nvSpPr>
          <p:cNvPr id="4" name="Slide Number Placeholder 3">
            <a:extLst>
              <a:ext uri="{FF2B5EF4-FFF2-40B4-BE49-F238E27FC236}">
                <a16:creationId xmlns:a16="http://schemas.microsoft.com/office/drawing/2014/main" id="{29738C4A-9C04-5296-E4C4-A703815EA4F0}"/>
              </a:ext>
            </a:extLst>
          </p:cNvPr>
          <p:cNvSpPr>
            <a:spLocks noGrp="1"/>
          </p:cNvSpPr>
          <p:nvPr>
            <p:ph type="sldNum" sz="quarter" idx="5"/>
          </p:nvPr>
        </p:nvSpPr>
        <p:spPr/>
      </p:sp>
    </p:spTree>
    <p:extLst>
      <p:ext uri="{BB962C8B-B14F-4D97-AF65-F5344CB8AC3E}">
        <p14:creationId xmlns:p14="http://schemas.microsoft.com/office/powerpoint/2010/main" val="1553164513"/>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509F6-B937-D0CE-CE13-7816E67083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7BC8A8A-EEAB-A47A-565E-EF012FC5E528}"/>
              </a:ext>
            </a:extLst>
          </p:cNvPr>
          <p:cNvSpPr>
            <a:spLocks noGrp="1" noRot="1" noChangeAspect="1"/>
          </p:cNvSpPr>
          <p:nvPr>
            <p:ph type="sldImg" idx="2"/>
          </p:nvPr>
        </p:nvSpPr>
        <p:spPr/>
      </p:sp>
      <p:sp>
        <p:nvSpPr>
          <p:cNvPr id="3" name="Notes Placeholder 2">
            <a:extLst>
              <a:ext uri="{FF2B5EF4-FFF2-40B4-BE49-F238E27FC236}">
                <a16:creationId xmlns:a16="http://schemas.microsoft.com/office/drawing/2014/main" id="{BDA90B9C-CA9D-7BDE-4DBF-A30B2E2033BE}"/>
              </a:ext>
            </a:extLst>
          </p:cNvPr>
          <p:cNvSpPr>
            <a:spLocks noGrp="1"/>
          </p:cNvSpPr>
          <p:nvPr>
            <p:ph type="body" sz="quarter" idx="3"/>
          </p:nvPr>
        </p:nvSpPr>
        <p:spPr/>
        <p:txBody>
          <a:bodyPr/>
          <a:lstStyle/>
          <a:p>
            <a:r>
              <a:t>TIME: 3 min</a:t>
            </a:r>
            <a:br/>
            <a:br/>
            <a:r>
              <a:t>Case study: the payment module disaster. Developer starts with 'Add payment processing to our app.' Mid-session pivot: 'Also fix the auth bug.' Claude mixes payment logic with auth fixes. Neither works.</a:t>
            </a:r>
            <a:br/>
            <a:br/>
            <a:r>
              <a:t>Three hours debugging. Payment code references auth variables. Variables that don't exist in the payment module. Complete mess.</a:t>
            </a:r>
            <a:br/>
            <a:br/>
            <a:r>
              <a:t>The fix: revert everything. Two clean sessions. Payment in one session. Auth in another. Each done in 30 minutes.</a:t>
            </a:r>
            <a:br/>
            <a:br/>
            <a:r>
              <a:t>Lesson: one task per session is load-bearing architecture. It's not a suggestion. It's how the tool works correctly.</a:t>
            </a:r>
          </a:p>
          <a:p>
            <a:endParaRPr/>
          </a:p>
          <a:p>
            <a:endParaRPr/>
          </a:p>
          <a:p>
            <a:endParaRPr/>
          </a:p>
          <a:p>
            <a:endParaRPr/>
          </a:p>
          <a:p>
            <a:endParaRPr/>
          </a:p>
        </p:txBody>
      </p:sp>
      <p:sp>
        <p:nvSpPr>
          <p:cNvPr id="4" name="Slide Number Placeholder 3">
            <a:extLst>
              <a:ext uri="{FF2B5EF4-FFF2-40B4-BE49-F238E27FC236}">
                <a16:creationId xmlns:a16="http://schemas.microsoft.com/office/drawing/2014/main" id="{6AD186D4-0FFB-9ADC-09FE-9D41618C7488}"/>
              </a:ext>
            </a:extLst>
          </p:cNvPr>
          <p:cNvSpPr>
            <a:spLocks noGrp="1"/>
          </p:cNvSpPr>
          <p:nvPr>
            <p:ph type="sldNum" sz="quarter" idx="5"/>
          </p:nvPr>
        </p:nvSpPr>
        <p:spPr/>
      </p:sp>
    </p:spTree>
    <p:extLst>
      <p:ext uri="{BB962C8B-B14F-4D97-AF65-F5344CB8AC3E}">
        <p14:creationId xmlns:p14="http://schemas.microsoft.com/office/powerpoint/2010/main" val="266103989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br>
              <a:rPr dirty="0"/>
            </a:br>
            <a:br>
              <a:rPr dirty="0"/>
            </a:br>
            <a:r>
              <a:rPr dirty="0"/>
              <a:t>DEMO INSTRUCTIONS:</a:t>
            </a:r>
            <a:br>
              <a:rPr dirty="0"/>
            </a:br>
            <a:r>
              <a:rPr dirty="0"/>
              <a:t>1. In Claude Code, type: /compact</a:t>
            </a:r>
            <a:br>
              <a:rPr dirty="0"/>
            </a:br>
            <a:r>
              <a:rPr dirty="0"/>
              <a:t>2. Show the before/after token count in the status bar</a:t>
            </a:r>
            <a:br>
              <a:rPr dirty="0"/>
            </a:br>
            <a:r>
              <a:rPr dirty="0"/>
              <a:t>3. Type: "How much context are you currently using?"</a:t>
            </a:r>
            <a:br>
              <a:rPr dirty="0"/>
            </a:br>
            <a:r>
              <a:rPr dirty="0"/>
              <a:t>4. Then type: /clear</a:t>
            </a:r>
            <a:br>
              <a:rPr dirty="0"/>
            </a:br>
            <a:r>
              <a:rPr dirty="0"/>
              <a:t>5. Show that conversation is gone but files remain</a:t>
            </a:r>
            <a:br>
              <a:rPr dirty="0"/>
            </a:br>
            <a:r>
              <a:rPr dirty="0"/>
              <a:t>6. Type: "What files exist in this project?" — Claude re-reads them</a:t>
            </a:r>
            <a:br>
              <a:rPr dirty="0"/>
            </a:br>
            <a:br>
              <a:rPr dirty="0"/>
            </a:br>
            <a:br>
              <a:rPr dirty="0"/>
            </a:br>
            <a:r>
              <a:rPr dirty="0"/>
              <a:t>TALKING POINT: "Four tools to manage your context budget: /clear resets everything, /compact compresses history, .</a:t>
            </a:r>
            <a:r>
              <a:rPr dirty="0" err="1"/>
              <a:t>gitignore</a:t>
            </a:r>
            <a:r>
              <a:rPr dirty="0"/>
              <a:t> excludes files, and @ mentions load only what you need."</a:t>
            </a:r>
            <a:br>
              <a:rPr dirty="0"/>
            </a:br>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TIME: 3 min</a:t>
            </a:r>
            <a:br/>
            <a:br/>
            <a:r>
              <a:t>Honesty builds trust. Here's where Claude Code struggles and how to fix it. Ambiguous instructions mean Claude guesses wrong; fix with being specific. Huge codebase with no docs means Claude drowns in context; fix with CLAUDE.md plus .gitignore.</a:t>
            </a:r>
            <a:br/>
            <a:br/>
            <a:r>
              <a:t>Complex state across files means Claude loses track; fix with @ mentions to focus. Missing dependencies means builds fail silently; fix by describing your environment. One massive prompt means Claude tries too much; fix by breaking into smaller tasks.</a:t>
            </a:r>
            <a:br/>
            <a:br/>
            <a:r>
              <a:t>These aren't bugs. They're constraints of the architecture. Know them, work around them.</a:t>
            </a:r>
            <a:br/>
            <a:br/>
            <a:r>
              <a:t>[Ask the room: "Which of these failure modes have you experienced with AI coding tools?" — pause 20-30 seconds]</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Notes Placeholder 3"/>
          <p:cNvSpPr>
            <a:spLocks noGrp="1"/>
          </p:cNvSpPr>
          <p:nvPr>
            <p:ph type="body" idx="1"/>
          </p:nvPr>
        </p:nvSpPr>
        <p:spPr/>
        <p:txBody>
          <a:bodyPr/>
          <a:lstStyle/>
          <a:p>
            <a:r>
              <a:t>TIME: 2 min</a:t>
            </a:r>
            <a:br/>
            <a:br/>
            <a:r>
              <a:t>The real skill you're learning isn't prompting. It's delegation. You're learning to manage an AI engineer.</a:t>
            </a:r>
            <a:br/>
            <a:br/>
            <a:r>
              <a:t>Bad delegation: 'Write authentication.' Good delegation: 'Add JWT auth to @auth.js using the middleware pattern in @payments.js.'</a:t>
            </a:r>
            <a:br/>
            <a:br/>
            <a:r>
              <a:t>Bad delegation: 'Fix the bug.' Good delegation: 'POST /api/tasks returns 500. Check @src/routes/tasks.js for the error.'</a:t>
            </a:r>
            <a:br/>
            <a:br/>
            <a:r>
              <a:t>Specific, contextual, actionable. That's how you delegate to Claude effectively.</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br/>
            <a:br/>
            <a:r>
              <a:t>Slash commands. Power user tools. These are the keyboard shortcuts of Claude Code. Mastering them makes you dramatically faster.</a:t>
            </a:r>
          </a:p>
          <a:p>
            <a:endParaRPr lang="en-US"/>
          </a:p>
          <a:p>
            <a:endParaRPr/>
          </a:p>
          <a:p>
            <a:endParaRPr/>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3 min</a:t>
            </a:r>
            <a:br>
              <a:rPr dirty="0"/>
            </a:br>
            <a:br>
              <a:rPr dirty="0"/>
            </a:br>
            <a:r>
              <a:rPr dirty="0"/>
              <a:t>Command overview in three categories. Session commands: /</a:t>
            </a:r>
            <a:r>
              <a:rPr dirty="0" err="1"/>
              <a:t>init</a:t>
            </a:r>
            <a:r>
              <a:rPr dirty="0"/>
              <a:t> initializes project context</a:t>
            </a:r>
            <a:r>
              <a:rPr lang="en-US" dirty="0"/>
              <a:t> (creating a new claude.md file)</a:t>
            </a:r>
            <a:r>
              <a:rPr dirty="0"/>
              <a:t>, /clear resets conversation, /compact summarizes and continues, /cost shows token usage, /logout signs out.</a:t>
            </a:r>
            <a:br>
              <a:rPr dirty="0"/>
            </a:br>
            <a:br>
              <a:rPr dirty="0"/>
            </a:br>
            <a:r>
              <a:rPr dirty="0"/>
              <a:t>Control commands: /model switches between sonnet and opus, /thinking toggles extended thinking, /permissions manages tool access, /allowed-tools views the tool allowlist, /memory manages all memory files.</a:t>
            </a:r>
            <a:br>
              <a:rPr dirty="0"/>
            </a:br>
            <a:br>
              <a:rPr dirty="0"/>
            </a:br>
            <a:r>
              <a:rPr dirty="0"/>
              <a:t>Output commands: /output-format sets response format, /verbose enables detailed logging, /review runs code quality review, /test runs test suite, /doctor diagnoses issues.</a:t>
            </a:r>
            <a:br>
              <a:rPr dirty="0"/>
            </a:br>
            <a:br>
              <a:rPr dirty="0"/>
            </a:br>
            <a:r>
              <a:rPr dirty="0"/>
              <a:t>You don't need to memorize all of these. Learn /clear, /compact, /model, and /cost. Add others as you need them.</a:t>
            </a:r>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Session management: /init, /clear, /compact. /init scans project structure, reads CLAUDE.md, sets up initial context. Run once when starting a new project.</a:t>
            </a:r>
            <a:br/>
            <a:br/>
            <a:r>
              <a:t>/clear resets the entire conversation. Project files stay on disk. Use between unrelated tasks. This is the most important command to learn. When in doubt, /clear.</a:t>
            </a:r>
            <a:br/>
            <a:br/>
            <a:r>
              <a:t>/compact summarizes conversation so far, frees up context window space. Use during long sessions. Keeps key decisions, drops details. When you want to continue but context is getting heavy, use /compact instead of /clear.</a:t>
            </a:r>
          </a:p>
          <a:p>
            <a:endParaRPr lang="en-US"/>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Model control: /model and /thinking. /model alone shows current model. /model sonnet switches to Sonnet for fast work. /model opus switches to Opus for deep reasoning. Use Opus for architecture, security review, complex bugs. Use Sonnet for everyday coding, generation, editing.</a:t>
            </a:r>
            <a:br/>
            <a:br/>
            <a:r>
              <a:t>/thinking: Tab key toggles extended thinking. Shows Claude's reasoning process. Costs more tokens but improves quality. Essential for complex multi-step tasks. Plan Mode with Shift+Tab uses thinking automatically.</a:t>
            </a:r>
            <a:br/>
            <a:br/>
            <a:r>
              <a:t>Decision rule: stay on Sonnet unless you need Opus. Tab for thinking when you want to see the reasoning.</a:t>
            </a:r>
          </a:p>
          <a:p>
            <a:endParaRPr lang="en-US"/>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Output commands: /output-format, /verbose, /cost. For formatting: /output-format sets response style with options for text, json, markdown, or stream-json. Useful for piping output to other tools. /verbose shows every tool call Claude makes.</a:t>
            </a:r>
            <a:br/>
            <a:br/>
            <a:r>
              <a:t>For analysis: /cost shows token usage and estimated cost. /review runs code quality analysis. /test runs and analyzes test results. /doctor diagnoses Claude Code issues.</a:t>
            </a:r>
            <a:br/>
            <a:br/>
            <a:r>
              <a:t>Check /cost periodically. It's your context budget monitor.</a:t>
            </a:r>
          </a:p>
          <a:p>
            <a:endParaRPr lang="en-US"/>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Creating custom slash commands. In CLAUDE.md, you can define custom commands: /test runs 'Run all tests with pytest -v', /lint runs 'Run black, isort, and mypy', /docs runs 'Generate API documentation'.</a:t>
            </a:r>
            <a:br/>
            <a:br/>
            <a:r>
              <a:t>These are shortcuts for common operations. Define them once, use them forever. Every team should have project-specific commands for their common workflows.</a:t>
            </a:r>
            <a:br/>
            <a:br/>
            <a:r>
              <a:t>The format is JSON in CLAUDE.md under custom_commands.</a:t>
            </a:r>
          </a:p>
          <a:p>
            <a:endParaRPr lang="en-US"/>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4 min</a:t>
            </a:r>
            <a:br>
              <a:rPr dirty="0"/>
            </a:br>
            <a:br>
              <a:rPr dirty="0"/>
            </a:br>
            <a:r>
              <a:rPr dirty="0"/>
              <a:t>DEMO INSTRUCTIONS:</a:t>
            </a:r>
            <a:br>
              <a:rPr dirty="0"/>
            </a:br>
            <a:r>
              <a:rPr dirty="0"/>
              <a:t>1. In Claude Code, rapid-fire through commands:</a:t>
            </a:r>
            <a:br>
              <a:rPr dirty="0"/>
            </a:br>
            <a:r>
              <a:rPr dirty="0"/>
              <a:t>   - Type: /help — show the command list</a:t>
            </a:r>
            <a:br>
              <a:rPr dirty="0"/>
            </a:br>
            <a:r>
              <a:rPr dirty="0"/>
              <a:t>   - Type: /model — show current model</a:t>
            </a:r>
            <a:br>
              <a:rPr dirty="0"/>
            </a:br>
            <a:r>
              <a:rPr dirty="0"/>
              <a:t>   - Type: /c</a:t>
            </a:r>
            <a:r>
              <a:rPr lang="en-US" dirty="0"/>
              <a:t>ontext</a:t>
            </a:r>
            <a:r>
              <a:rPr dirty="0"/>
              <a:t> — show token usage</a:t>
            </a:r>
            <a:br>
              <a:rPr dirty="0"/>
            </a:br>
            <a:r>
              <a:rPr dirty="0"/>
              <a:t>   - Type: /doctor — run diagnostics</a:t>
            </a:r>
            <a:br>
              <a:rPr dirty="0"/>
            </a:br>
            <a:r>
              <a:rPr dirty="0"/>
              <a:t>   - Type: /status — show session info</a:t>
            </a:r>
            <a:br>
              <a:rPr dirty="0"/>
            </a:br>
            <a:r>
              <a:rPr dirty="0"/>
              <a:t>   - Type: /memory — show what Claude remembers</a:t>
            </a:r>
            <a:br>
              <a:rPr dirty="0"/>
            </a:br>
            <a:r>
              <a:rPr dirty="0"/>
              <a:t>2. For each, briefly explain what it does</a:t>
            </a:r>
            <a:br>
              <a:rPr dirty="0"/>
            </a:br>
            <a:r>
              <a:rPr dirty="0"/>
              <a:t>3. Spend extra time on /compact — show before/after</a:t>
            </a:r>
            <a:br>
              <a:rPr dirty="0"/>
            </a:br>
            <a:br>
              <a:rPr dirty="0"/>
            </a:br>
            <a:r>
              <a:rPr dirty="0"/>
              <a:t>TALKING POINT: "You don't need to memorize these. Just remember /help exists. But /compact and /clear are the two you'll use daily."</a:t>
            </a:r>
            <a:br>
              <a:rPr dirty="0"/>
            </a:br>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sz="quarter" idx="3"/>
          </p:nvPr>
        </p:nvSpPr>
        <p:spPr/>
        <p:txBody>
          <a:bodyPr/>
          <a:lstStyle/>
          <a:p>
            <a:r>
              <a:t>TIME: 1 min
Plan Mode. This is the discipline that separates AI power users from everyone else. Shift+Tab to activate.</a:t>
            </a:r>
          </a:p>
        </p:txBody>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Plan Mode with Shift+Tab. Claude analyzes and proposes. But CAN'T change files. Until you approve.</a:t>
            </a:r>
            <a:br/>
            <a:br/>
            <a:r>
              <a:t>That's it. That's the entire concept. Claude shows you the plan before executing. You review, modify if needed, then approve. No surprises, no runaway changes.</a:t>
            </a:r>
            <a:br/>
            <a:br/>
            <a:r>
              <a:t>For any task touching more than two files, Plan Mode is mandatory in my workflow.</a:t>
            </a:r>
          </a:p>
          <a:p>
            <a:endParaRPr/>
          </a:p>
          <a:p>
            <a:endParaRPr/>
          </a:p>
          <a:p>
            <a:endParaRPr/>
          </a:p>
          <a:p>
            <a:endParaRPr/>
          </a:p>
          <a:p>
            <a:endParaRPr/>
          </a:p>
          <a:p>
            <a:r>
              <a:t>The recommended workflow has four phases. Phase 1: Explore — enter Plan Mode with Shift+Tab and ask Claude to read files and answer questions without making changes. Phase 2: Plan — ask Claude to create a detailed implementation plan. Press Ctrl+G to open the plan in your editor for direct editing. Phase 3: Implement — switch back to Normal Mode and let Claude code against the plan. Phase 4: Commit — ask Claude to commit with a descriptive message and create a PR.</a:t>
            </a:r>
          </a:p>
          <a:p>
            <a:r>
              <a:t>Plan Mode adds overhead. For tasks where the scope is clear and the fix is small — fixing a typo, adding a log line, renaming a variable — skip the plan and ask Claude to do it directly. The decision rule: if you can describe the diff in one sentence, skip the plan. If the change touches multiple files or you're unfamiliar with the code, plan first.</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5 min</a:t>
            </a:r>
            <a:br>
              <a:rPr dirty="0"/>
            </a:br>
            <a:br>
              <a:rPr dirty="0"/>
            </a:br>
            <a:r>
              <a:rPr dirty="0"/>
              <a:t>DEMO INSTRUCTIONS:</a:t>
            </a:r>
            <a:br>
              <a:rPr dirty="0"/>
            </a:br>
            <a:r>
              <a:rPr dirty="0"/>
              <a:t>1. In Claude Code with business-dashboard project open</a:t>
            </a:r>
            <a:br>
              <a:rPr dirty="0"/>
            </a:br>
            <a:r>
              <a:rPr dirty="0"/>
              <a:t>2. First, cowboy mode — type: "Add rate limiting to all API routes"</a:t>
            </a:r>
            <a:br>
              <a:rPr dirty="0"/>
            </a:br>
            <a:r>
              <a:rPr dirty="0"/>
              <a:t>3. Watch Claude just start coding immediately</a:t>
            </a:r>
            <a:br>
              <a:rPr dirty="0"/>
            </a:br>
            <a:r>
              <a:rPr dirty="0"/>
              <a:t>4. Hit Escape to cancel</a:t>
            </a:r>
            <a:br>
              <a:rPr dirty="0"/>
            </a:br>
            <a:r>
              <a:rPr dirty="0"/>
              <a:t>5. Now type: "I want to add rate limiting to all API routes. Use plan mode — analyze the codebase first and tell me your approach before making any changes."</a:t>
            </a:r>
            <a:br>
              <a:rPr dirty="0"/>
            </a:br>
            <a:r>
              <a:rPr dirty="0"/>
              <a:t>6. Claude will outline: which files to modify, what middleware to use, configuration options</a:t>
            </a:r>
            <a:br>
              <a:rPr dirty="0"/>
            </a:br>
            <a:r>
              <a:rPr dirty="0"/>
              <a:t>7. Review the plan, then say: "Go ahead with option 1"</a:t>
            </a:r>
            <a:br>
              <a:rPr dirty="0"/>
            </a:br>
            <a:br>
              <a:rPr dirty="0"/>
            </a:br>
            <a:r>
              <a:rPr dirty="0"/>
              <a:t>TALKING POINT: "Plan mode is the difference between a junior who starts coding immediately and a senior who thinks first. For any task over 3 steps, always use plan mode."</a:t>
            </a:r>
            <a:br>
              <a:rPr dirty="0"/>
            </a:br>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When to use Plan Mode versus when to skip it. Use Plan Mode for: multi-file changes touching three or more files, architectural decisions, unfamiliar codebase exploration, complex refactoring, and whenever you want to review before executing.</a:t>
            </a:r>
            <a:br/>
            <a:br/>
            <a:r>
              <a:t>Skip Plan Mode for: simple single-file edits, well-defined small tasks, running tests or scripts, git operations like commit and push, and quick questions about code.</a:t>
            </a:r>
            <a:br/>
            <a:br/>
            <a:r>
              <a:t>The decision rule: if the task would take more than three steps, use Plan Mode. If you're unsure what Claude will do, use Plan Mode. If it's a quick edit you understand completely, skip it.</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The skill that separates AI power users from everyone else. It's not prompting. It's specification. How well you describe what you want determines how well Claude delivers.</a:t>
            </a:r>
            <a:br/>
            <a:br/>
            <a:r>
              <a:t>Vague specs produce vague code. Precise specs produce precise code. The time you spend on specification is paid back tenfold in reduced iteration.</a:t>
            </a: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Spec quality equals output quality. Vague spec: 'Build me an API.' Claude guesses architecture, endpoints, auth. Three rounds of revision to get close. Still doesn't match what you wanted. Four hours wasted.</a:t>
            </a:r>
            <a:br/>
            <a:br/>
            <a:r>
              <a:t>Clear spec: 'Build a REST API with Express plus SQLite. Endpoints: GET /users, POST /users, GET /users/:id. JWT auth required. Return 401 for invalid tokens.' Claude builds exactly what you described. One round of minor refinement. Matches your mental model from the start. Forty-five minutes total.</a:t>
            </a:r>
            <a:br/>
            <a:br/>
            <a:r>
              <a:t>The difference is front-loaded effort. Spend 15 minutes on spec, save 3 hours on iteration.</a:t>
            </a:r>
            <a:br/>
            <a:br/>
            <a:r>
              <a:t>[Ask the room: "What's the longest you've spent iterating with an AI because the spec was unclear?" — pause 20-30 seconds]</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The spec template: six questions. Before you type ANY prompt, answer these. First, Problem: what problem am I solving? Not 'build X' but why does X need to exist?</a:t>
            </a:r>
            <a:br/>
            <a:br/>
            <a:r>
              <a:t>Second, Users: who uses this and what do they need? Scenarios, not features.</a:t>
            </a:r>
            <a:br/>
            <a:br/>
            <a:r>
              <a:t>Third, Requirements: what MUST it do? Use MUST, SHOULD, COULD prioritization.</a:t>
            </a:r>
            <a:br/>
            <a:br/>
            <a:r>
              <a:t>Fourth, Boundaries: what must it NOT do? Out of scope equals fewer wrong assumptions.</a:t>
            </a:r>
            <a:br/>
            <a:br/>
            <a:r>
              <a:t>Fifth, Acceptance: how do I know it's correct? Testable criteria.</a:t>
            </a:r>
            <a:br/>
            <a:br/>
            <a:r>
              <a:t>You don't need to write all this every time. But thinking through these questions before prompting makes your prompts dramatically better.</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The 'Interview Me' pattern. Instead of writing a detailed spec upfront, tell Claude: 'I want to build X. Interview me to understand what I need.'</a:t>
            </a:r>
            <a:br/>
            <a:br/>
            <a:r>
              <a:t>Claude asks about things you hadn't thought through: 'What happens when a token expires mid-request?' 'Do you need rate limiting?' 'Should deleted users be soft-deleted or hard-deleted?'</a:t>
            </a:r>
            <a:br/>
            <a:br/>
            <a:r>
              <a:t>This isn't Claude being annoying. It's Claude preventing future bugs. The output is a SPEC.md file that captures all decisions. Then you combine with Plan Mode: Interview, Spec, Plan, Execute.</a:t>
            </a:r>
            <a:br/>
            <a:br/>
            <a:r>
              <a:t>This pattern eliminated most 'Claude didn't understand what I wanted' complaints for developers who use it.</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Case study: 2 hours that saved 20. A PM needs to pitch a Chrome extension to the CEO. Traditional approach: write spec, wait 3 weeks for engineering estimate.</a:t>
            </a:r>
            <a:br/>
            <a:br/>
            <a:r>
              <a:t>Claude Code approach: PM describes the extension, Claude builds a working MVP. Total time: 2 hours. Result: a clickable demo for the CEO.</a:t>
            </a:r>
            <a:br/>
            <a:br/>
            <a:r>
              <a:t>Engineering reaction: 'This is what we'd build.' Estimate drops from 3 weeks to 1 week because the prototype clarified requirements.</a:t>
            </a:r>
            <a:br/>
            <a:br/>
            <a:r>
              <a:t>The leverage: a working prototype beats a 20-page spec. This is how you use Claude Code strategically.</a:t>
            </a: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0761158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8 min</a:t>
            </a:r>
            <a:br/>
            <a:br/>
            <a:r>
              <a:t>DEMO INSTRUCTIONS:</a:t>
            </a:r>
            <a:br/>
            <a:r>
              <a:t>1. Create a spec file — type in Claude: "Create a file called SPEC.md with this content:</a:t>
            </a:r>
            <a:br/>
            <a:r>
              <a:t>   # Feature: Dashboard Notifications</a:t>
            </a:r>
            <a:br/>
            <a:r>
              <a:t>   ## What: Toast notifications when metrics change</a:t>
            </a:r>
            <a:br/>
            <a:r>
              <a:t>   ## Why: Users miss important metric changes</a:t>
            </a:r>
            <a:br/>
            <a:r>
              <a:t>   ## Inputs: Metric value changes &gt; 10%</a:t>
            </a:r>
            <a:br/>
            <a:r>
              <a:t>   ## Outputs: Visual toast in bottom-right corner</a:t>
            </a:r>
            <a:br/>
            <a:r>
              <a:t>   ## Constraints: No external libraries, auto-dismiss after 5 seconds</a:t>
            </a:r>
            <a:br/>
            <a:r>
              <a:t>   ## Done when: Notifications appear on metric changes and auto-dismiss"</a:t>
            </a:r>
            <a:br/>
            <a:r>
              <a:t>2. Then type: "Read @SPEC.md and implement this feature exactly as specified"</a:t>
            </a:r>
            <a:br/>
            <a:r>
              <a:t>3. Watch Claude follow the spec precisely</a:t>
            </a:r>
            <a:br/>
            <a:r>
              <a:t>4. Open browser to verify notifications appear</a:t>
            </a:r>
            <a:br/>
            <a:r>
              <a:t>5. Then type: "Review your implementation against @SPEC.md — did you miss anything?"</a:t>
            </a:r>
            <a:br/>
            <a:br/>
            <a:r>
              <a:t>TALKING POINT: "The 6-question spec template: What, Why, Inputs, Outputs, Constraints, Done When. This takes 2 minutes to write and saves 20 minutes of back-and-forth."</a:t>
            </a:r>
            <a:br/>
            <a:endParaRPr/>
          </a:p>
          <a:p>
            <a:endParaRP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br/>
            <a:br/>
            <a:r>
              <a:t>Quick 15-minute break.</a:t>
            </a:r>
            <a:br/>
            <a:br/>
            <a:r>
              <a:t>Git integration next.</a:t>
            </a:r>
            <a:br/>
            <a:br/>
            <a:r>
              <a:t>Back in 15</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br/>
            <a:br/>
            <a:r>
              <a:t>File operations and development workflows. Reading, writing, searching, refactoring. The daily toolkit you'll use constantly.</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Reading, writing, searching files. Read: @ mention files directly. Claude searches with grep and glob. It reads imports and dependencies. It builds understanding from code.</a:t>
            </a:r>
            <a:br/>
            <a:br/>
            <a:r>
              <a:t>Write: Claude creates new files from specs. It edits existing files surgically. Multi-file changes in one pass. It respects your code style.</a:t>
            </a:r>
            <a:br/>
            <a:br/>
            <a:r>
              <a:t>Search: 'Find all API endpoints.' 'Where is auth middleware used?' 'Show files importing utils.ts.' Pattern matching across codebase.</a:t>
            </a:r>
            <a:br/>
            <a:br/>
            <a:r>
              <a:t>These are the fundamental operations. Everything else builds on read, write, search.</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Multi-file edits and refactoring. What Claude does: renames across all files simultaneously, moves functions between modules, updates imports after restructuring, maintains type safety during refactors, runs tests after each change.</a:t>
            </a:r>
            <a:br/>
            <a:br/>
            <a:r>
              <a:t>Best prompts: 'Extract the auth logic into src/middleware/auth.ts.' 'Rename UserService to AccountService everywhere.' 'Split this 500-line file into separate modules.' 'Convert all callbacks to async/await.'</a:t>
            </a:r>
            <a:br/>
            <a:br/>
            <a:r>
              <a:t>Use Plan Mode for refactors touching three or more files. Review the plan before executing.</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Code generation patterns. Three categories. Scaffold: 'Create an Express REST API with auth.' 'Set up a React component library.' Full project structure from a spec.</a:t>
            </a:r>
            <a:br/>
            <a:br/>
            <a:r>
              <a:t>Transform: 'Convert this class to functional.' 'Migrate from JavaScript to TypeScript.' 'Add error handling to all endpoints.'</a:t>
            </a:r>
            <a:br/>
            <a:br/>
            <a:r>
              <a:t>Pattern: 'Add the repository pattern for User.' 'Create a factory for test data.' 'Implement the observer pattern here.'</a:t>
            </a:r>
            <a:br/>
            <a:br/>
            <a:r>
              <a:t>Claude knows design patterns. Name them explicitly for better results.</a:t>
            </a:r>
          </a:p>
          <a:p>
            <a:endParaRPr/>
          </a:p>
          <a:p>
            <a:endParaRPr/>
          </a:p>
          <a:p>
            <a:endParaRP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Debugging workflows. The problem: paste the error message. 'This test is failing — fix it.' 'Users report 500 errors on /api/login.' Claude reads logs and traces the issue.</a:t>
            </a:r>
            <a:br/>
            <a:br/>
            <a:r>
              <a:t>The process: Claude reads error plus related code. It identifies root cause, not just symptoms. It proposes a fix with explanation. It applies the fix and runs tests to verify. It suggests preventing similar bugs.</a:t>
            </a:r>
            <a:br/>
            <a:br/>
            <a:r>
              <a:t>The key: Claude debugs systematically. It doesn't just patch symptoms. It traces to root cause. Better than most humans who pattern-match to the first thing that looks wrong.</a:t>
            </a:r>
            <a:br/>
            <a:br/>
            <a:r>
              <a:t>[Ask the room: "What's the hardest bug you've debugged this month? Would having an AI trace through the code have helped?" — pause 20-30 seconds]</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Engineering principle: think in next actions. Don't: 'Fix everything wrong with this codebase.' 'Make the app production-ready.' 'Improve performance everywhere.' Vague, unbounded, guaranteed to disappoint.</a:t>
            </a:r>
            <a:br/>
            <a:br/>
            <a:r>
              <a:t>Do: 'Fix the N+1 query in getUserPosts.' 'Add rate limiting to /api/auth endpoints.' 'Cache the product catalog for 5 minutes.' Specific, testable, completable in one session.</a:t>
            </a:r>
            <a:br/>
            <a:br/>
            <a:r>
              <a:t>Every prompt should have a clear done state. If you can't tell when Claude is done, the prompt is too vague.</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Test generation. What Claude generates: unit tests for individual functions, integration tests for API endpoints, edge cases you didn't think of, mock and stub setup for dependencies, test descriptions that document behavior.</a:t>
            </a:r>
            <a:br/>
            <a:br/>
            <a:r>
              <a:t>Best prompts: 'Write tests for @auth.ts — cover happy path and errors.' 'Add integration tests for the /api/tasks endpoints.' 'What edge cases am I missing in these tests?' 'Generate test data fixtures for the User model.' 'Increase coverage for src/services/ to 80%.'</a:t>
            </a:r>
            <a:br/>
            <a:br/>
            <a:r>
              <a:t>Claude writes thorough tests because it's systematic about edge cases.</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Never trust, always verify. The verification loop: write code, write tests, run tests, if fail Claude fixes, run again.</a:t>
            </a:r>
            <a:br/>
            <a:br/>
            <a:r>
              <a:t>Key insight: Claude is confident even when wrong. It doesn't say 'I'm not sure about this.' It presents everything with the same confidence.</a:t>
            </a:r>
            <a:br/>
            <a:br/>
            <a:r>
              <a:t>Almost right is worse than clearly wrong. Almost right passes tests, ships to production, breaks at 3 AM when you're asleep.</a:t>
            </a:r>
            <a:br/>
            <a:br/>
            <a:r>
              <a:t>Ties to the principle: build trust mechanisms, not just capabilities. Always run existing tests after changes. Regressions are the silent killer.</a:t>
            </a:r>
          </a:p>
          <a:p>
            <a:endParaRPr lang="en-US"/>
          </a:p>
          <a:p>
            <a:endParaRPr lang="en-US"/>
          </a:p>
          <a:p>
            <a:endParaRPr lang="en-US"/>
          </a:p>
          <a:p>
            <a:endParaRPr lang="en-US"/>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Documentation creation. Three types. README: 'Generate a README for this project.' Includes setup, usage, API docs, examples. Claude reads your code to write accurate docs.</a:t>
            </a:r>
            <a:br/>
            <a:br/>
            <a:r>
              <a:t>API Docs: 'Document all REST endpoints.' Generates routes, params, responses, examples. OpenAPI/Swagger format if requested.</a:t>
            </a:r>
            <a:br/>
            <a:br/>
            <a:r>
              <a:t>Code Comments: 'Add JSDoc comments to src/services/.' Explains what and why, not just what. Follows your team's documentation standards.</a:t>
            </a:r>
            <a:br/>
            <a:br/>
            <a:r>
              <a:t>Claude writes better documentation than most developers because it actually reads the code first.</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5 min</a:t>
            </a:r>
            <a:br/>
            <a:br/>
            <a:r>
              <a:t>DEMO INSTRUCTIONS:</a:t>
            </a:r>
            <a:br/>
            <a:r>
              <a:t>1. In Claude Code, intentionally break something:</a:t>
            </a:r>
            <a:br/>
            <a:r>
              <a:t>   Type: "In src/routes/tasks.js, change the database table name from 'tasks' to 'task' (singular) — just change the string, nothing else"</a:t>
            </a:r>
            <a:br/>
            <a:r>
              <a:t>2. Type: "Try to list all tasks via the API"</a:t>
            </a:r>
            <a:br/>
            <a:r>
              <a:t>3. Claude will see the error (table not found)</a:t>
            </a:r>
            <a:br/>
            <a:r>
              <a:t>4. Type: "The tasks endpoint is broken. Diagnose the issue from the error output and fix it."</a:t>
            </a:r>
            <a:br/>
            <a:r>
              <a:t>5. Watch Claude: read the error → trace to the table name → fix it → verify</a:t>
            </a:r>
            <a:br/>
            <a:br/>
            <a:r>
              <a:t>TALKING POINT: "This is the debugging workflow. You don't need to read the stack trace yourself — point Claude at the error and let it trace the root cause. This works on real production bugs too."</a:t>
            </a:r>
            <a:br/>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br/>
            <a:br/>
            <a:r>
              <a:t>Permissions and security. Safe AI-assisted development. Claude Code has guardrails. Understand them.</a:t>
            </a:r>
          </a:p>
          <a:p>
            <a:endParaRPr/>
          </a:p>
          <a:p>
            <a:endParaRPr/>
          </a:p>
          <a:p>
            <a:endParaRP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001964432"/>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Security model overview. Three components. First, permission prompts: Claude asks before writing or editing files, running shell commands, installing packages. You approve or deny each action.</a:t>
            </a:r>
            <a:br/>
            <a:br/>
            <a:r>
              <a:t>Second, allowlists: pre-approve trusted operations like Bash(npm test), Bash(git *), Read(**/*.ts). Reduces friction for safe commands.</a:t>
            </a:r>
            <a:br/>
            <a:br/>
            <a:r>
              <a:t>Third, deny rules: block dangerous operations like Bash(rm -rf *), Bash(sudo *), Read(**/.env). Defense in depth. Even if you accidentally approve something, deny rules block it.</a:t>
            </a:r>
            <a:br/>
            <a:br/>
            <a:r>
              <a:t>Think of it like a bouncer at a club. Some people get waved through, some get checked, some are permanently banned.</a:t>
            </a:r>
          </a:p>
          <a:p>
            <a:endParaRPr lang="en-US"/>
          </a:p>
          <a:p>
            <a:endParaRPr/>
          </a:p>
          <a:p>
            <a:endParaRPr/>
          </a:p>
          <a:p>
            <a:endParaRPr/>
          </a:p>
          <a:p>
            <a:endParaRP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79599850"/>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br>
              <a:rPr dirty="0"/>
            </a:br>
            <a:br>
              <a:rPr dirty="0"/>
            </a:br>
            <a:r>
              <a:rPr dirty="0"/>
              <a:t>Three trust levels, like traffic lights. Suggest Only means Claude suggests changes but can't execute anything. You copy and paste manually. Safest but slowest.</a:t>
            </a:r>
            <a:br>
              <a:rPr dirty="0"/>
            </a:br>
            <a:br>
              <a:rPr dirty="0"/>
            </a:br>
            <a:r>
              <a:rPr dirty="0"/>
              <a:t>Auto-Approve Read means Claude can read any file automatically but asks before writing or running commands. Good default for exploration.</a:t>
            </a:r>
            <a:br>
              <a:rPr dirty="0"/>
            </a:br>
            <a:br>
              <a:rPr dirty="0"/>
            </a:br>
            <a:r>
              <a:rPr dirty="0"/>
              <a:t>Auto-Approve All means Claude executes everything without asking. Fastest but requires high trust. Only use in isolated environments or for well-defined tasks.</a:t>
            </a:r>
            <a:br>
              <a:rPr dirty="0"/>
            </a:br>
            <a:br>
              <a:rPr dirty="0"/>
            </a:br>
            <a:r>
              <a:rPr dirty="0"/>
              <a:t>Most developers live in Auto-Approve Read and selectively allow common commands.</a:t>
            </a:r>
          </a:p>
          <a:p>
            <a:endParaRPr lang="en-US" dirty="0"/>
          </a:p>
          <a:p>
            <a:endParaRPr dirty="0"/>
          </a:p>
          <a:p>
            <a:endParaRPr dirty="0"/>
          </a:p>
          <a:p>
            <a:endParaRPr dirty="0"/>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834992279"/>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Allowlists and blocklists. Allow rules auto-approve these operations: Bash(npm test) to run tests freely, Bash(npm run *) for all npm scripts, Bash(git add:*) to stage files, Bash(git commit:*) for commits, Read(**/*) to read any project file.</a:t>
            </a:r>
            <a:br/>
            <a:br/>
            <a:r>
              <a:t>Deny rules always block these: Bash(rm -rf:*) prevents recursive delete, Bash(sudo:*) blocks elevated access, Bash(curl:*) prevents data exfiltration, Read(**/.env) protects secrets, Bash(ssh:*) blocks remote access.</a:t>
            </a:r>
            <a:br/>
            <a:br/>
            <a:r>
              <a:t>The pattern: allow the common safe operations, explicitly deny the dangerous ones. This reduces friction while maintaining safety.</a:t>
            </a:r>
          </a:p>
          <a:p>
            <a:endParaRPr lang="en-US"/>
          </a:p>
          <a:p>
            <a:endParaRPr/>
          </a:p>
          <a:p>
            <a:endParaRPr/>
          </a:p>
          <a:p>
            <a:endParaRPr lang="en-US"/>
          </a:p>
          <a:p>
            <a:endParaRP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213320938"/>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TIME: 2 min</a:t>
            </a:r>
            <a:br>
              <a:rPr dirty="0"/>
            </a:br>
            <a:br>
              <a:rPr dirty="0"/>
            </a:br>
            <a:r>
              <a:rPr dirty="0"/>
              <a:t>Permissions: /permissions and allowed-tools. /permissions lets you view current permission rules, add allow or deny rules interactively. Rules persist in .</a:t>
            </a:r>
            <a:r>
              <a:rPr dirty="0" err="1"/>
              <a:t>claude</a:t>
            </a:r>
            <a:r>
              <a:rPr dirty="0"/>
              <a:t>/</a:t>
            </a:r>
            <a:r>
              <a:rPr dirty="0" err="1"/>
              <a:t>settings.json</a:t>
            </a:r>
            <a:r>
              <a:rPr dirty="0"/>
              <a:t>. Rules are scoped by tool type: Read, Write, Bash, and so on.</a:t>
            </a:r>
            <a:br>
              <a:rPr dirty="0"/>
            </a:br>
            <a:br>
              <a:rPr dirty="0"/>
            </a:br>
            <a:r>
              <a:rPr dirty="0"/>
              <a:t>/allowed-tools shows which tools Claude can use. You can add tools to the allowlist for auto-approval. This reduces permission prompts for trusted operations. Example: allow Bash(</a:t>
            </a:r>
            <a:r>
              <a:rPr dirty="0" err="1"/>
              <a:t>npm</a:t>
            </a:r>
            <a:r>
              <a:rPr dirty="0"/>
              <a:t> test) to run tests without asking.</a:t>
            </a:r>
            <a:br>
              <a:rPr dirty="0"/>
            </a:br>
            <a:br>
              <a:rPr dirty="0"/>
            </a:br>
            <a:r>
              <a:rPr dirty="0"/>
              <a:t>Smart permissions: allow common operations, deny dangerous ones. Don't approve everything, don't deny everything.</a:t>
            </a:r>
          </a:p>
          <a:p>
            <a:endParaRPr lang="en-US" dirty="0"/>
          </a:p>
          <a:p>
            <a:endParaRPr dirty="0"/>
          </a:p>
          <a:p>
            <a:endParaRPr dirty="0"/>
          </a:p>
          <a:p>
            <a:endParaRPr lang="en-US" dirty="0"/>
          </a:p>
          <a:p>
            <a:endParaRPr dirty="0"/>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33277844"/>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Smart permission rules versus overly restrictive rules. Too restrictive: approve every single file read, confirm every npm command, 10 permission prompts per task. Result: developers disable permissions entirely. Security theater with no actual protection.</a:t>
            </a:r>
            <a:br/>
            <a:br/>
            <a:r>
              <a:t>Smart rules: allow reads for all project files, allow npm test, npm run, git commands, deny rm -rf, sudo, curl, ssh. Two to three prompts per task for real decisions. Developers keep permissions enabled.</a:t>
            </a:r>
            <a:br/>
            <a:br/>
            <a:r>
              <a:t>The goal is sustainable security. Rules developers actually follow beat perfect rules they disable.</a:t>
            </a:r>
          </a:p>
          <a:p>
            <a:endParaRPr/>
          </a:p>
          <a:p>
            <a:endParaRPr/>
          </a:p>
          <a:p>
            <a:endParaRPr/>
          </a:p>
          <a:p>
            <a:endParaRPr/>
          </a:p>
          <a:p>
            <a:endParaRP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060004037"/>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Enterprise security features. Managed settings: IT deploys policies that can't be overridden. Disable bypass mode. Restrict allowed MCP servers. Enforce hooks across all users.</a:t>
            </a:r>
            <a:br/>
            <a:br/>
            <a:r>
              <a:t>Audit logging: track all Claude Code activity including file changes, commands run, tools used. Export to SIEM like Splunk or Datadog. Compliance API for automated monitoring.</a:t>
            </a:r>
            <a:br/>
            <a:br/>
            <a:r>
              <a:t>Access control: SSO/SAML plus SCIM provisioning. Standard versus Premium seats. Per-user spending caps. Zero-Data-Retention option.</a:t>
            </a:r>
            <a:br/>
            <a:br/>
            <a:r>
              <a:t>If you're in a regulated industry, these features exist. Talk to your IT team.</a:t>
            </a:r>
          </a:p>
          <a:p>
            <a:endParaRPr lang="en-US"/>
          </a:p>
          <a:p>
            <a:endParaRPr/>
          </a:p>
          <a:p>
            <a:endParaRPr/>
          </a:p>
          <a:p>
            <a:endParaRPr/>
          </a:p>
          <a:p>
            <a:endParaRP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545246114"/>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Engineering principle: default to safe behavior. When uncertain, Claude Code asks first. Safety takes priority over speed.</a:t>
            </a:r>
            <a:br/>
            <a:br/>
            <a:r>
              <a:t>This is why the default is to prompt for permission. It's not friction. It's a feature. The cost of asking is seconds. The cost of not asking can be much higher.</a:t>
            </a:r>
            <a:br/>
            <a:br/>
            <a:r>
              <a:t>You can always add to allowlists for trusted operations. But the default is caution.</a:t>
            </a:r>
          </a:p>
          <a:p>
            <a:endParaRPr/>
          </a:p>
          <a:p>
            <a:endParaRPr/>
          </a:p>
          <a:p>
            <a:endParaRPr/>
          </a:p>
          <a:p>
            <a:endParaRPr/>
          </a:p>
          <a:p>
            <a:endParaRP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3824554084"/>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4 min</a:t>
            </a:r>
            <a:br/>
            <a:br/>
            <a:r>
              <a:t>DEMO INSTRUCTIONS:</a:t>
            </a:r>
            <a:br/>
            <a:r>
              <a:t>1. In Claude Code, type: "Show me the current permission settings"</a:t>
            </a:r>
            <a:br/>
            <a:r>
              <a:t>2. Type: /permissions — show the allow/deny lists</a:t>
            </a:r>
            <a:br/>
            <a:r>
              <a:t>3. Demo adding a restriction: "Add a permission rule that blocks Claude from deleting any files in src/"</a:t>
            </a:r>
            <a:br/>
            <a:r>
              <a:t>4. Test it: "Delete src/index.js" — Claude should be blocked</a:t>
            </a:r>
            <a:br/>
            <a:r>
              <a:t>5. Show how to allow specific commands: "Allow Claude to run npm commands"</a:t>
            </a:r>
            <a:br/>
            <a:br/>
            <a:r>
              <a:t>TALKING POINT: "Permissions are your safety net. In a team environment, you lock down destructive operations and allow routine ones. Claude respects these boundaries."</a:t>
            </a:r>
            <a:br/>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269843606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br/>
            <a:br/>
            <a:r>
              <a:t>OPEN WITH: Last lab of the day — you're going to ship this dashboard with production hardening, feature branches, and a scaling review.</a:t>
            </a:r>
            <a:br/>
            <a:br/>
            <a:r>
              <a:t>End-to-end workflow. Production-ready.</a:t>
            </a:r>
            <a:br/>
            <a:br/>
            <a:r>
              <a:t>Wrap-up</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2 min</a:t>
            </a:r>
            <a:br/>
            <a:br/>
            <a:r>
              <a:t>Key workflows recap. Six things you learned today. Install and configure: you can set up Claude Code on any machine. Agentic loop: you understand how Claude reads, analyzes, plans, executes, and verifies.</a:t>
            </a:r>
            <a:br/>
            <a:br/>
            <a:r>
              <a:t>CLAUDE.md: you can configure projects with persistent memory. @ mentions: you can point Claude at exactly what matters. Context management: you can optimize tokens and manage large codebases. Slash commands: you can control sessions, models, and permissions.</a:t>
            </a:r>
            <a:br/>
            <a:br/>
            <a:r>
              <a:t>Tomorrow we build on this foundation with MCP integration and advanced patterns.</a:t>
            </a: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3 min</a:t>
            </a:r>
            <a:br/>
            <a:br/>
            <a:r>
              <a:t>Five common mistakes and how to avoid them. Mistake 1: context window overflow. Fix: use /clear between tasks, .gitignore for large files, /cost to monitor.</a:t>
            </a:r>
            <a:br/>
            <a:br/>
            <a:r>
              <a:t>Mistake 2: correction spirals. Fix: after two failed corrections, /clear and restart with a clearer prompt.</a:t>
            </a:r>
            <a:br/>
            <a:br/>
            <a:r>
              <a:t>Mistake 3: forgotten guidelines. Fix: put critical rules in CLAUDE.md so they're loaded every session.</a:t>
            </a:r>
            <a:br/>
            <a:br/>
            <a:r>
              <a:t>Mistake 4: scope creep. Fix: one task per session. Resist the urge to say 'also fix this other thing.'</a:t>
            </a:r>
            <a:br/>
            <a:br/>
            <a:r>
              <a:t>Mistake 5: vibe coding. Fix: write specs before prompting. Use Plan Mode. Review before approving.</a:t>
            </a:r>
            <a:br/>
            <a:br/>
            <a:r>
              <a:t>These five patterns cause 80% of frustration with AI coding tools. Avoid them and you're ahead of most users.</a:t>
            </a: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TIME: 1 min</a:t>
            </a:r>
            <a:br/>
            <a:br/>
            <a:r>
              <a:t>Thank you for your attention today. Tomorrow we cover MCP integration, advanced workflows, and the final capstone project. Get some rest. You've learned a lot today and tomorrow builds directly on these foundations.</a:t>
            </a:r>
          </a:p>
          <a:p>
            <a:endParaRPr/>
          </a:p>
          <a:p>
            <a:endParaRPr/>
          </a:p>
          <a:p>
            <a:endParaRPr/>
          </a:p>
          <a:p>
            <a:endParaRPr/>
          </a:p>
          <a:p>
            <a:endParaRPr/>
          </a:p>
          <a:p>
            <a:endParaRPr/>
          </a:p>
          <a:p>
            <a:endParaRPr/>
          </a:p>
          <a:p>
            <a:endParaRPr/>
          </a:p>
          <a:p>
            <a:endParaRPr/>
          </a:p>
          <a:p>
            <a:endParaRP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3/5/2026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3/5/2026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3/5/2026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3/5/2026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3/5/2026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3/5/2026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3/5/2026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5.xml"/><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73.xml"/><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76.xml"/><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77.xml"/><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79.xml"/><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80.xml"/><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82.xml"/><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83.xml"/><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84.xml"/><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85.xml"/><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87.xml"/><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88.xml"/><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89.xml"/><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90.xml"/><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notesSlide" Target="../notesSlides/notesSlide91.xml"/><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92.xml"/><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93.xml"/><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94.xml"/><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notesSlide" Target="../notesSlides/notesSlide95.xml"/><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96.xml"/><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97.xml"/><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98.xml"/><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99.xml"/><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100.xml"/><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101.xml"/><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102.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Claude Code Fundamentals</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456307" y="5029200"/>
            <a:ext cx="2278188" cy="400110"/>
          </a:xfrm>
          <a:prstGeom prst="rect">
            <a:avLst/>
          </a:prstGeom>
          <a:noFill/>
        </p:spPr>
        <p:txBody>
          <a:bodyPr wrap="none">
            <a:spAutoFit/>
          </a:bodyPr>
          <a:lstStyle/>
          <a:p>
            <a:pPr algn="r">
              <a:defRPr sz="2000">
                <a:solidFill>
                  <a:srgbClr val="8B95A5"/>
                </a:solidFill>
              </a:defRPr>
            </a:pPr>
            <a:r>
              <a:t>© 2026 AIA Copilot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Today's Agenda</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ounded Rectangle 3"/>
          <p:cNvSpPr/>
          <p:nvPr/>
        </p:nvSpPr>
        <p:spPr>
          <a:xfrm>
            <a:off x="457200"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594360" y="1645920"/>
            <a:ext cx="5135727" cy="640080"/>
          </a:xfrm>
          <a:prstGeom prst="rect">
            <a:avLst/>
          </a:prstGeom>
          <a:noFill/>
        </p:spPr>
        <p:txBody>
          <a:bodyPr wrap="none" anchor="ctr">
            <a:spAutoFit/>
          </a:bodyPr>
          <a:lstStyle/>
          <a:p>
            <a:pPr>
              <a:defRPr sz="1800" b="1">
                <a:solidFill>
                  <a:srgbClr val="0B0F1A"/>
                </a:solidFill>
              </a:defRPr>
            </a:pPr>
            <a:r>
              <a:t>Morning  (9:00 AM - 12:00 PM)</a:t>
            </a:r>
          </a:p>
        </p:txBody>
      </p:sp>
      <p:sp>
        <p:nvSpPr>
          <p:cNvPr id="6" name="Rectangle 5"/>
          <p:cNvSpPr/>
          <p:nvPr/>
        </p:nvSpPr>
        <p:spPr>
          <a:xfrm>
            <a:off x="457200"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594360" y="2468880"/>
            <a:ext cx="4221327" cy="502920"/>
          </a:xfrm>
          <a:prstGeom prst="rect">
            <a:avLst/>
          </a:prstGeom>
          <a:noFill/>
        </p:spPr>
        <p:txBody>
          <a:bodyPr wrap="square" anchor="ctr">
            <a:spAutoFit/>
          </a:bodyPr>
          <a:lstStyle/>
          <a:p>
            <a:pPr>
              <a:defRPr sz="1600">
                <a:solidFill>
                  <a:srgbClr val="FFFFFF"/>
                </a:solidFill>
              </a:defRPr>
            </a:pPr>
            <a:r>
              <a:t>Installation &amp; Setup</a:t>
            </a:r>
          </a:p>
        </p:txBody>
      </p:sp>
      <p:sp>
        <p:nvSpPr>
          <p:cNvPr id="8" name="Rounded Rectangle 7"/>
          <p:cNvSpPr/>
          <p:nvPr/>
        </p:nvSpPr>
        <p:spPr>
          <a:xfrm>
            <a:off x="4815687"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815687"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0" name="TextBox 9"/>
          <p:cNvSpPr txBox="1"/>
          <p:nvPr/>
        </p:nvSpPr>
        <p:spPr>
          <a:xfrm>
            <a:off x="594360" y="2971800"/>
            <a:ext cx="4221327" cy="502920"/>
          </a:xfrm>
          <a:prstGeom prst="rect">
            <a:avLst/>
          </a:prstGeom>
          <a:noFill/>
        </p:spPr>
        <p:txBody>
          <a:bodyPr wrap="square" anchor="ctr">
            <a:spAutoFit/>
          </a:bodyPr>
          <a:lstStyle/>
          <a:p>
            <a:pPr>
              <a:defRPr sz="1600">
                <a:solidFill>
                  <a:srgbClr val="FFFFFF"/>
                </a:solidFill>
              </a:defRPr>
            </a:pPr>
            <a:r>
              <a:t>The Agentic Loop</a:t>
            </a:r>
          </a:p>
        </p:txBody>
      </p:sp>
      <p:sp>
        <p:nvSpPr>
          <p:cNvPr id="11" name="Rounded Rectangle 10"/>
          <p:cNvSpPr/>
          <p:nvPr/>
        </p:nvSpPr>
        <p:spPr>
          <a:xfrm>
            <a:off x="4815687"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4815687" y="306324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13" name="Rectangle 12"/>
          <p:cNvSpPr/>
          <p:nvPr/>
        </p:nvSpPr>
        <p:spPr>
          <a:xfrm>
            <a:off x="457200"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94360" y="3474720"/>
            <a:ext cx="4221327" cy="502920"/>
          </a:xfrm>
          <a:prstGeom prst="rect">
            <a:avLst/>
          </a:prstGeom>
          <a:noFill/>
        </p:spPr>
        <p:txBody>
          <a:bodyPr wrap="square" anchor="ctr">
            <a:spAutoFit/>
          </a:bodyPr>
          <a:lstStyle/>
          <a:p>
            <a:pPr>
              <a:defRPr sz="1600">
                <a:solidFill>
                  <a:srgbClr val="FFFFFF"/>
                </a:solidFill>
              </a:defRPr>
            </a:pPr>
            <a:r>
              <a:t>Lab 2A: The Agentic Build Loop</a:t>
            </a:r>
          </a:p>
        </p:txBody>
      </p:sp>
      <p:sp>
        <p:nvSpPr>
          <p:cNvPr id="15" name="Rounded Rectangle 14"/>
          <p:cNvSpPr/>
          <p:nvPr/>
        </p:nvSpPr>
        <p:spPr>
          <a:xfrm>
            <a:off x="4815687" y="356616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4815687" y="356616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17" name="TextBox 16"/>
          <p:cNvSpPr txBox="1"/>
          <p:nvPr/>
        </p:nvSpPr>
        <p:spPr>
          <a:xfrm>
            <a:off x="594360" y="4059823"/>
            <a:ext cx="4221327" cy="338554"/>
          </a:xfrm>
          <a:prstGeom prst="rect">
            <a:avLst/>
          </a:prstGeom>
          <a:noFill/>
        </p:spPr>
        <p:txBody>
          <a:bodyPr wrap="square" anchor="ctr">
            <a:spAutoFit/>
          </a:bodyPr>
          <a:lstStyle/>
          <a:p>
            <a:pPr>
              <a:defRPr sz="1600">
                <a:solidFill>
                  <a:srgbClr val="FFFFFF"/>
                </a:solidFill>
              </a:defRPr>
            </a:pPr>
            <a:r>
              <a:rPr lang="en-US" sz="1600" i="1">
                <a:solidFill>
                  <a:srgbClr val="8B95A5"/>
                </a:solidFill>
              </a:rPr>
              <a:t>Break</a:t>
            </a:r>
            <a:endParaRPr sz="1600" i="1">
              <a:solidFill>
                <a:srgbClr val="8B95A5"/>
              </a:solidFill>
            </a:endParaRPr>
          </a:p>
        </p:txBody>
      </p:sp>
      <p:sp>
        <p:nvSpPr>
          <p:cNvPr id="18" name="Rounded Rectangle 17"/>
          <p:cNvSpPr/>
          <p:nvPr/>
        </p:nvSpPr>
        <p:spPr>
          <a:xfrm>
            <a:off x="4815687"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815687" y="406908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20" name="Rectangle 19"/>
          <p:cNvSpPr/>
          <p:nvPr/>
        </p:nvSpPr>
        <p:spPr>
          <a:xfrm>
            <a:off x="457200"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594360" y="4480560"/>
            <a:ext cx="4221327" cy="502920"/>
          </a:xfrm>
          <a:prstGeom prst="rect">
            <a:avLst/>
          </a:prstGeom>
          <a:noFill/>
        </p:spPr>
        <p:txBody>
          <a:bodyPr wrap="square" anchor="ctr">
            <a:spAutoFit/>
          </a:bodyPr>
          <a:lstStyle>
            <a:defPPr>
              <a:defRPr lang="en-US"/>
            </a:defPPr>
            <a:lvl1pPr>
              <a:defRPr sz="1600">
                <a:solidFill>
                  <a:srgbClr val="FFFFFF"/>
                </a:solidFill>
              </a:defRPr>
            </a:lvl1pPr>
          </a:lstStyle>
          <a:p>
            <a:r>
              <a:t>CLAUDE.md &amp; Memory Architecture</a:t>
            </a:r>
          </a:p>
        </p:txBody>
      </p:sp>
      <p:sp>
        <p:nvSpPr>
          <p:cNvPr id="22" name="Rounded Rectangle 21"/>
          <p:cNvSpPr/>
          <p:nvPr/>
        </p:nvSpPr>
        <p:spPr>
          <a:xfrm>
            <a:off x="4815687" y="457200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4815687" y="457200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24" name="TextBox 23"/>
          <p:cNvSpPr txBox="1"/>
          <p:nvPr/>
        </p:nvSpPr>
        <p:spPr>
          <a:xfrm>
            <a:off x="594360" y="4983480"/>
            <a:ext cx="4221327" cy="502920"/>
          </a:xfrm>
          <a:prstGeom prst="rect">
            <a:avLst/>
          </a:prstGeom>
          <a:noFill/>
        </p:spPr>
        <p:txBody>
          <a:bodyPr wrap="square" anchor="ctr">
            <a:spAutoFit/>
          </a:bodyPr>
          <a:lstStyle/>
          <a:p>
            <a:pPr>
              <a:defRPr sz="1600">
                <a:solidFill>
                  <a:srgbClr val="FFFFFF"/>
                </a:solidFill>
              </a:defRPr>
            </a:pPr>
            <a:r>
              <a:t>Lab 2B: Teaching Claude Your Codebase</a:t>
            </a:r>
          </a:p>
        </p:txBody>
      </p:sp>
      <p:sp>
        <p:nvSpPr>
          <p:cNvPr id="25" name="Rounded Rectangle 24"/>
          <p:cNvSpPr/>
          <p:nvPr/>
        </p:nvSpPr>
        <p:spPr>
          <a:xfrm>
            <a:off x="4815687"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4815687" y="507492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30" name="TextBox 29"/>
          <p:cNvSpPr txBox="1"/>
          <p:nvPr/>
        </p:nvSpPr>
        <p:spPr>
          <a:xfrm>
            <a:off x="4815687" y="5577840"/>
            <a:ext cx="914400" cy="320040"/>
          </a:xfrm>
          <a:prstGeom prst="rect">
            <a:avLst/>
          </a:prstGeom>
          <a:noFill/>
        </p:spPr>
        <p:txBody>
          <a:bodyPr wrap="none" anchor="ctr">
            <a:spAutoFit/>
          </a:bodyPr>
          <a:lstStyle/>
          <a:p>
            <a:pPr algn="ctr">
              <a:defRPr sz="1300" b="1">
                <a:solidFill>
                  <a:srgbClr val="00D4AA"/>
                </a:solidFill>
              </a:defRPr>
            </a:pPr>
            <a:endParaRPr/>
          </a:p>
        </p:txBody>
      </p:sp>
      <p:sp>
        <p:nvSpPr>
          <p:cNvPr id="31" name="Rounded Rectangle 30"/>
          <p:cNvSpPr/>
          <p:nvPr/>
        </p:nvSpPr>
        <p:spPr>
          <a:xfrm>
            <a:off x="6324447" y="1645920"/>
            <a:ext cx="5410047" cy="64008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61607" y="1645920"/>
            <a:ext cx="5135727" cy="640080"/>
          </a:xfrm>
          <a:prstGeom prst="rect">
            <a:avLst/>
          </a:prstGeom>
          <a:noFill/>
        </p:spPr>
        <p:txBody>
          <a:bodyPr wrap="none" anchor="ctr">
            <a:spAutoFit/>
          </a:bodyPr>
          <a:lstStyle/>
          <a:p>
            <a:pPr>
              <a:defRPr sz="1800" b="1">
                <a:solidFill>
                  <a:srgbClr val="0B0F1A"/>
                </a:solidFill>
              </a:defRPr>
            </a:pPr>
            <a:r>
              <a:t>Afternoon  (1:00 PM - 4:00 PM)</a:t>
            </a:r>
          </a:p>
        </p:txBody>
      </p:sp>
      <p:sp>
        <p:nvSpPr>
          <p:cNvPr id="33" name="Rectangle 32"/>
          <p:cNvSpPr/>
          <p:nvPr/>
        </p:nvSpPr>
        <p:spPr>
          <a:xfrm>
            <a:off x="6324447" y="246888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461607" y="2468880"/>
            <a:ext cx="4221327" cy="502920"/>
          </a:xfrm>
          <a:prstGeom prst="rect">
            <a:avLst/>
          </a:prstGeom>
          <a:noFill/>
        </p:spPr>
        <p:txBody>
          <a:bodyPr wrap="square" anchor="ctr">
            <a:spAutoFit/>
          </a:bodyPr>
          <a:lstStyle/>
          <a:p>
            <a:pPr>
              <a:defRPr sz="1600">
                <a:solidFill>
                  <a:srgbClr val="FFFFFF"/>
                </a:solidFill>
              </a:defRPr>
            </a:pPr>
            <a:r>
              <a:t>@ Mentions &amp; Context</a:t>
            </a:r>
          </a:p>
        </p:txBody>
      </p:sp>
      <p:sp>
        <p:nvSpPr>
          <p:cNvPr id="35" name="Rounded Rectangle 34"/>
          <p:cNvSpPr/>
          <p:nvPr/>
        </p:nvSpPr>
        <p:spPr>
          <a:xfrm>
            <a:off x="10682935" y="25603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682935" y="256032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37" name="TextBox 36"/>
          <p:cNvSpPr txBox="1"/>
          <p:nvPr/>
        </p:nvSpPr>
        <p:spPr>
          <a:xfrm>
            <a:off x="6461607" y="2971800"/>
            <a:ext cx="4221327" cy="502920"/>
          </a:xfrm>
          <a:prstGeom prst="rect">
            <a:avLst/>
          </a:prstGeom>
          <a:noFill/>
        </p:spPr>
        <p:txBody>
          <a:bodyPr wrap="square" anchor="ctr">
            <a:spAutoFit/>
          </a:bodyPr>
          <a:lstStyle/>
          <a:p>
            <a:pPr>
              <a:defRPr sz="1600">
                <a:solidFill>
                  <a:srgbClr val="FFFFFF"/>
                </a:solidFill>
              </a:defRPr>
            </a:pPr>
            <a:r>
              <a:t>Lab 2C: Precision &amp; Recovery</a:t>
            </a:r>
          </a:p>
        </p:txBody>
      </p:sp>
      <p:sp>
        <p:nvSpPr>
          <p:cNvPr id="38" name="Rounded Rectangle 37"/>
          <p:cNvSpPr/>
          <p:nvPr/>
        </p:nvSpPr>
        <p:spPr>
          <a:xfrm>
            <a:off x="10682935" y="306324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10682935" y="306324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40" name="Rectangle 39"/>
          <p:cNvSpPr/>
          <p:nvPr/>
        </p:nvSpPr>
        <p:spPr>
          <a:xfrm>
            <a:off x="6324447" y="347472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6461607" y="3474720"/>
            <a:ext cx="4221327" cy="502920"/>
          </a:xfrm>
          <a:prstGeom prst="rect">
            <a:avLst/>
          </a:prstGeom>
          <a:noFill/>
        </p:spPr>
        <p:txBody>
          <a:bodyPr wrap="square" anchor="ctr">
            <a:spAutoFit/>
          </a:bodyPr>
          <a:lstStyle/>
          <a:p>
            <a:pPr>
              <a:defRPr sz="1600" i="1">
                <a:solidFill>
                  <a:srgbClr val="8B95A5"/>
                </a:solidFill>
              </a:defRPr>
            </a:pPr>
            <a:r>
              <a:t>Break</a:t>
            </a:r>
          </a:p>
        </p:txBody>
      </p:sp>
      <p:sp>
        <p:nvSpPr>
          <p:cNvPr id="42" name="Rounded Rectangle 41"/>
          <p:cNvSpPr/>
          <p:nvPr/>
        </p:nvSpPr>
        <p:spPr>
          <a:xfrm>
            <a:off x="10682935" y="3566160"/>
            <a:ext cx="914400" cy="320040"/>
          </a:xfrm>
          <a:prstGeom prst="roundRect">
            <a:avLst/>
          </a:prstGeom>
          <a:solidFill>
            <a:srgbClr val="141A26"/>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10682935" y="356616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44" name="TextBox 43"/>
          <p:cNvSpPr txBox="1"/>
          <p:nvPr/>
        </p:nvSpPr>
        <p:spPr>
          <a:xfrm>
            <a:off x="6461607" y="3977640"/>
            <a:ext cx="4221327" cy="502920"/>
          </a:xfrm>
          <a:prstGeom prst="rect">
            <a:avLst/>
          </a:prstGeom>
          <a:noFill/>
        </p:spPr>
        <p:txBody>
          <a:bodyPr wrap="square" anchor="ctr">
            <a:spAutoFit/>
          </a:bodyPr>
          <a:lstStyle/>
          <a:p>
            <a:pPr>
              <a:defRPr sz="1600">
                <a:solidFill>
                  <a:srgbClr val="FFFFFF"/>
                </a:solidFill>
              </a:defRPr>
            </a:pPr>
            <a:r>
              <a:t>Git, Commands &amp; Best Practices</a:t>
            </a:r>
          </a:p>
        </p:txBody>
      </p:sp>
      <p:sp>
        <p:nvSpPr>
          <p:cNvPr id="45" name="Rounded Rectangle 44"/>
          <p:cNvSpPr/>
          <p:nvPr/>
        </p:nvSpPr>
        <p:spPr>
          <a:xfrm>
            <a:off x="10682935" y="406908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TextBox 45"/>
          <p:cNvSpPr txBox="1"/>
          <p:nvPr/>
        </p:nvSpPr>
        <p:spPr>
          <a:xfrm>
            <a:off x="10682935" y="4069080"/>
            <a:ext cx="914400" cy="320040"/>
          </a:xfrm>
          <a:prstGeom prst="rect">
            <a:avLst/>
          </a:prstGeom>
          <a:noFill/>
        </p:spPr>
        <p:txBody>
          <a:bodyPr wrap="none" anchor="ctr">
            <a:spAutoFit/>
          </a:bodyPr>
          <a:lstStyle/>
          <a:p>
            <a:pPr algn="ctr">
              <a:defRPr sz="1300" b="1">
                <a:solidFill>
                  <a:srgbClr val="00D4AA"/>
                </a:solidFill>
              </a:defRPr>
            </a:pPr>
            <a:r>
              <a:t>30 min</a:t>
            </a:r>
          </a:p>
        </p:txBody>
      </p:sp>
      <p:sp>
        <p:nvSpPr>
          <p:cNvPr id="47" name="Rectangle 46"/>
          <p:cNvSpPr/>
          <p:nvPr/>
        </p:nvSpPr>
        <p:spPr>
          <a:xfrm>
            <a:off x="6324447" y="4480560"/>
            <a:ext cx="5410047" cy="502920"/>
          </a:xfrm>
          <a:prstGeom prst="rect">
            <a:avLst/>
          </a:prstGeom>
          <a:solidFill>
            <a:srgbClr val="141A2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6461607" y="4480560"/>
            <a:ext cx="4221327" cy="502920"/>
          </a:xfrm>
          <a:prstGeom prst="rect">
            <a:avLst/>
          </a:prstGeom>
          <a:noFill/>
        </p:spPr>
        <p:txBody>
          <a:bodyPr wrap="square" anchor="ctr">
            <a:spAutoFit/>
          </a:bodyPr>
          <a:lstStyle/>
          <a:p>
            <a:pPr>
              <a:defRPr sz="1600">
                <a:solidFill>
                  <a:srgbClr val="FFFFFF"/>
                </a:solidFill>
              </a:defRPr>
            </a:pPr>
            <a:r>
              <a:t>Lab 2D: Ship It</a:t>
            </a:r>
          </a:p>
        </p:txBody>
      </p:sp>
      <p:sp>
        <p:nvSpPr>
          <p:cNvPr id="49" name="Rounded Rectangle 48"/>
          <p:cNvSpPr/>
          <p:nvPr/>
        </p:nvSpPr>
        <p:spPr>
          <a:xfrm>
            <a:off x="10682935" y="457200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10682935" y="4572000"/>
            <a:ext cx="914400" cy="320040"/>
          </a:xfrm>
          <a:prstGeom prst="rect">
            <a:avLst/>
          </a:prstGeom>
          <a:noFill/>
        </p:spPr>
        <p:txBody>
          <a:bodyPr wrap="none" anchor="ctr">
            <a:spAutoFit/>
          </a:bodyPr>
          <a:lstStyle/>
          <a:p>
            <a:pPr algn="ctr">
              <a:defRPr sz="1300" b="1">
                <a:solidFill>
                  <a:srgbClr val="00D4AA"/>
                </a:solidFill>
              </a:defRPr>
            </a:pPr>
            <a:r>
              <a:t>45 min</a:t>
            </a:r>
          </a:p>
        </p:txBody>
      </p:sp>
      <p:sp>
        <p:nvSpPr>
          <p:cNvPr id="51" name="TextBox 50"/>
          <p:cNvSpPr txBox="1"/>
          <p:nvPr/>
        </p:nvSpPr>
        <p:spPr>
          <a:xfrm>
            <a:off x="6461607" y="4983480"/>
            <a:ext cx="4221327" cy="502920"/>
          </a:xfrm>
          <a:prstGeom prst="rect">
            <a:avLst/>
          </a:prstGeom>
          <a:noFill/>
        </p:spPr>
        <p:txBody>
          <a:bodyPr wrap="square" anchor="ctr">
            <a:spAutoFit/>
          </a:bodyPr>
          <a:lstStyle/>
          <a:p>
            <a:pPr>
              <a:defRPr sz="1600">
                <a:solidFill>
                  <a:srgbClr val="FFFFFF"/>
                </a:solidFill>
              </a:defRPr>
            </a:pPr>
            <a:r>
              <a:t>Wrap-up &amp; Day 3 Preview</a:t>
            </a:r>
          </a:p>
        </p:txBody>
      </p:sp>
      <p:sp>
        <p:nvSpPr>
          <p:cNvPr id="52" name="Rounded Rectangle 51"/>
          <p:cNvSpPr/>
          <p:nvPr/>
        </p:nvSpPr>
        <p:spPr>
          <a:xfrm>
            <a:off x="10682935" y="5074920"/>
            <a:ext cx="914400" cy="320040"/>
          </a:xfrm>
          <a:prstGeom prst="roundRect">
            <a:avLst/>
          </a:prstGeom>
          <a:solidFill>
            <a:srgbClr val="1E1E2E"/>
          </a:solidFill>
          <a:ln w="12700">
            <a:solidFill>
              <a:srgbClr val="1F2A3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TextBox 52"/>
          <p:cNvSpPr txBox="1"/>
          <p:nvPr/>
        </p:nvSpPr>
        <p:spPr>
          <a:xfrm>
            <a:off x="10682935" y="5074920"/>
            <a:ext cx="914400" cy="320040"/>
          </a:xfrm>
          <a:prstGeom prst="rect">
            <a:avLst/>
          </a:prstGeom>
          <a:noFill/>
        </p:spPr>
        <p:txBody>
          <a:bodyPr wrap="none" anchor="ctr">
            <a:spAutoFit/>
          </a:bodyPr>
          <a:lstStyle/>
          <a:p>
            <a:pPr algn="ctr">
              <a:defRPr sz="1300" b="1">
                <a:solidFill>
                  <a:srgbClr val="00D4AA"/>
                </a:solidFill>
              </a:defRPr>
            </a:pPr>
            <a:r>
              <a:t>15 min</a:t>
            </a:r>
          </a:p>
        </p:txBody>
      </p:sp>
      <p:sp>
        <p:nvSpPr>
          <p:cNvPr id="55" name="TextBox 54"/>
          <p:cNvSpPr txBox="1"/>
          <p:nvPr/>
        </p:nvSpPr>
        <p:spPr>
          <a:xfrm>
            <a:off x="6461607" y="5486400"/>
            <a:ext cx="4221327" cy="502920"/>
          </a:xfrm>
          <a:prstGeom prst="rect">
            <a:avLst/>
          </a:prstGeom>
          <a:noFill/>
        </p:spPr>
        <p:txBody>
          <a:bodyPr wrap="square" anchor="ctr">
            <a:spAutoFit/>
          </a:bodyPr>
          <a:lstStyle/>
          <a:p>
            <a:pPr>
              <a:defRPr sz="1600">
                <a:solidFill>
                  <a:srgbClr val="FFFFFF"/>
                </a:solidFill>
              </a:defRPr>
            </a:pPr>
            <a:endParaRPr/>
          </a:p>
        </p:txBody>
      </p:sp>
      <p:sp>
        <p:nvSpPr>
          <p:cNvPr id="57" name="TextBox 56"/>
          <p:cNvSpPr txBox="1"/>
          <p:nvPr/>
        </p:nvSpPr>
        <p:spPr>
          <a:xfrm>
            <a:off x="10682935" y="5577840"/>
            <a:ext cx="914400" cy="320040"/>
          </a:xfrm>
          <a:prstGeom prst="rect">
            <a:avLst/>
          </a:prstGeom>
          <a:noFill/>
        </p:spPr>
        <p:txBody>
          <a:bodyPr wrap="none" anchor="ctr">
            <a:spAutoFit/>
          </a:bodyPr>
          <a:lstStyle/>
          <a:p>
            <a:pPr algn="ctr">
              <a:defRPr sz="1300" b="1">
                <a:solidFill>
                  <a:srgbClr val="00D4AA"/>
                </a:solidFill>
              </a:defRPr>
            </a:pP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Learning Objectives</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Install and configure Claude Code CLI on your development machine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Understand the agentic loop and how Claude Code reads and executes changes</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Create effective CLAUDE.md configuration files for your projects</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31520"/>
          </a:xfrm>
          <a:prstGeom prst="rect">
            <a:avLst/>
          </a:prstGeom>
          <a:noFill/>
        </p:spPr>
        <p:txBody>
          <a:bodyPr wrap="square">
            <a:spAutoFit/>
          </a:bodyPr>
          <a:lstStyle/>
          <a:p>
            <a:pPr>
              <a:defRPr sz="2200">
                <a:solidFill>
                  <a:srgbClr val="FFFFFF"/>
                </a:solidFill>
              </a:defRPr>
            </a:pPr>
            <a:r>
              <a:t>Master @ mentions and context feeding techniques for precision work</a:t>
            </a:r>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731520"/>
          </a:xfrm>
          <a:prstGeom prst="rect">
            <a:avLst/>
          </a:prstGeom>
          <a:noFill/>
        </p:spPr>
        <p:txBody>
          <a:bodyPr wrap="square">
            <a:spAutoFit/>
          </a:bodyPr>
          <a:lstStyle/>
          <a:p>
            <a:pPr>
              <a:defRPr sz="2200">
                <a:solidFill>
                  <a:srgbClr val="FFFFFF"/>
                </a:solidFill>
              </a:defRPr>
            </a:pPr>
            <a:r>
              <a:t>Manage token limits and optimize context with .gitignore</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731520"/>
          </a:xfrm>
          <a:prstGeom prst="rect">
            <a:avLst/>
          </a:prstGeom>
          <a:noFill/>
        </p:spPr>
        <p:txBody>
          <a:bodyPr wrap="square">
            <a:spAutoFit/>
          </a:bodyPr>
          <a:lstStyle/>
          <a:p>
            <a:pPr>
              <a:defRPr sz="2200">
                <a:solidFill>
                  <a:srgbClr val="FFFFFF"/>
                </a:solidFill>
              </a:defRPr>
            </a:pPr>
            <a:r>
              <a:t>Use slash commands to control sessions, models, and permissions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What We'll Build Today</a:t>
            </a:r>
          </a:p>
        </p:txBody>
      </p:sp>
      <p:sp>
        <p:nvSpPr>
          <p:cNvPr id="4" name="TextBox 3"/>
          <p:cNvSpPr txBox="1"/>
          <p:nvPr/>
        </p:nvSpPr>
        <p:spPr>
          <a:xfrm>
            <a:off x="731520" y="1828800"/>
            <a:ext cx="1371600" cy="461665"/>
          </a:xfrm>
          <a:prstGeom prst="rect">
            <a:avLst/>
          </a:prstGeom>
          <a:noFill/>
        </p:spPr>
        <p:txBody>
          <a:bodyPr wrap="square">
            <a:spAutoFit/>
          </a:bodyPr>
          <a:lstStyle/>
          <a:p>
            <a:pPr>
              <a:defRPr sz="1800" b="1">
                <a:solidFill>
                  <a:srgbClr val="00D4AA"/>
                </a:solidFill>
              </a:defRPr>
            </a:pPr>
            <a:r>
              <a:rPr sz="2400"/>
              <a:t>Lab 2A:</a:t>
            </a:r>
          </a:p>
        </p:txBody>
      </p:sp>
      <p:sp>
        <p:nvSpPr>
          <p:cNvPr id="5" name="TextBox 4"/>
          <p:cNvSpPr txBox="1"/>
          <p:nvPr/>
        </p:nvSpPr>
        <p:spPr>
          <a:xfrm>
            <a:off x="2194560" y="1894110"/>
            <a:ext cx="8229600" cy="400110"/>
          </a:xfrm>
          <a:prstGeom prst="rect">
            <a:avLst/>
          </a:prstGeom>
          <a:noFill/>
        </p:spPr>
        <p:txBody>
          <a:bodyPr wrap="square">
            <a:spAutoFit/>
          </a:bodyPr>
          <a:lstStyle/>
          <a:p>
            <a:pPr>
              <a:defRPr sz="1600">
                <a:solidFill>
                  <a:srgbClr val="FFFFFF"/>
                </a:solidFill>
              </a:defRPr>
            </a:pPr>
            <a:r>
              <a:rPr sz="2000"/>
              <a:t>The Agentic Build Loop — build a working web app from a single prompt</a:t>
            </a:r>
          </a:p>
        </p:txBody>
      </p:sp>
      <p:sp>
        <p:nvSpPr>
          <p:cNvPr id="6" name="TextBox 5"/>
          <p:cNvSpPr txBox="1"/>
          <p:nvPr/>
        </p:nvSpPr>
        <p:spPr>
          <a:xfrm>
            <a:off x="731520" y="2697480"/>
            <a:ext cx="1371600" cy="461665"/>
          </a:xfrm>
          <a:prstGeom prst="rect">
            <a:avLst/>
          </a:prstGeom>
          <a:noFill/>
        </p:spPr>
        <p:txBody>
          <a:bodyPr wrap="square">
            <a:spAutoFit/>
          </a:bodyPr>
          <a:lstStyle/>
          <a:p>
            <a:pPr>
              <a:defRPr sz="1800" b="1">
                <a:solidFill>
                  <a:srgbClr val="00D4AA"/>
                </a:solidFill>
              </a:defRPr>
            </a:pPr>
            <a:r>
              <a:rPr sz="2400"/>
              <a:t>Lab 2B:</a:t>
            </a:r>
          </a:p>
        </p:txBody>
      </p:sp>
      <p:sp>
        <p:nvSpPr>
          <p:cNvPr id="7" name="TextBox 6"/>
          <p:cNvSpPr txBox="1"/>
          <p:nvPr/>
        </p:nvSpPr>
        <p:spPr>
          <a:xfrm>
            <a:off x="2194559" y="2756259"/>
            <a:ext cx="9539935" cy="400110"/>
          </a:xfrm>
          <a:prstGeom prst="rect">
            <a:avLst/>
          </a:prstGeom>
          <a:noFill/>
        </p:spPr>
        <p:txBody>
          <a:bodyPr wrap="square">
            <a:spAutoFit/>
          </a:bodyPr>
          <a:lstStyle/>
          <a:p>
            <a:pPr>
              <a:defRPr sz="1600">
                <a:solidFill>
                  <a:srgbClr val="FFFFFF"/>
                </a:solidFill>
              </a:defRPr>
            </a:pPr>
            <a:r>
              <a:rPr sz="2000"/>
              <a:t>Teaching Claude Your Codebase — policy enforcement, security audit, draft your own</a:t>
            </a:r>
          </a:p>
        </p:txBody>
      </p:sp>
      <p:sp>
        <p:nvSpPr>
          <p:cNvPr id="8" name="TextBox 7"/>
          <p:cNvSpPr txBox="1"/>
          <p:nvPr/>
        </p:nvSpPr>
        <p:spPr>
          <a:xfrm>
            <a:off x="731520" y="3566160"/>
            <a:ext cx="1371600" cy="461665"/>
          </a:xfrm>
          <a:prstGeom prst="rect">
            <a:avLst/>
          </a:prstGeom>
          <a:noFill/>
        </p:spPr>
        <p:txBody>
          <a:bodyPr wrap="square">
            <a:spAutoFit/>
          </a:bodyPr>
          <a:lstStyle/>
          <a:p>
            <a:pPr>
              <a:defRPr sz="1800" b="1">
                <a:solidFill>
                  <a:srgbClr val="00D4AA"/>
                </a:solidFill>
              </a:defRPr>
            </a:pPr>
            <a:r>
              <a:rPr sz="2400"/>
              <a:t>Lab 2C:</a:t>
            </a:r>
          </a:p>
        </p:txBody>
      </p:sp>
      <p:sp>
        <p:nvSpPr>
          <p:cNvPr id="9" name="TextBox 8"/>
          <p:cNvSpPr txBox="1"/>
          <p:nvPr/>
        </p:nvSpPr>
        <p:spPr>
          <a:xfrm>
            <a:off x="2194560" y="3631470"/>
            <a:ext cx="8229600" cy="400110"/>
          </a:xfrm>
          <a:prstGeom prst="rect">
            <a:avLst/>
          </a:prstGeom>
          <a:noFill/>
        </p:spPr>
        <p:txBody>
          <a:bodyPr wrap="square">
            <a:spAutoFit/>
          </a:bodyPr>
          <a:lstStyle/>
          <a:p>
            <a:pPr>
              <a:defRPr sz="1600">
                <a:solidFill>
                  <a:srgbClr val="FFFFFF"/>
                </a:solidFill>
              </a:defRPr>
            </a:pPr>
            <a:r>
              <a:rPr sz="2000"/>
              <a:t>Precision &amp; Recovery — token efficiency, disaster recovery, AI debugging</a:t>
            </a:r>
          </a:p>
        </p:txBody>
      </p:sp>
      <p:sp>
        <p:nvSpPr>
          <p:cNvPr id="10" name="TextBox 9"/>
          <p:cNvSpPr txBox="1"/>
          <p:nvPr/>
        </p:nvSpPr>
        <p:spPr>
          <a:xfrm>
            <a:off x="731520" y="4434840"/>
            <a:ext cx="1371600" cy="461665"/>
          </a:xfrm>
          <a:prstGeom prst="rect">
            <a:avLst/>
          </a:prstGeom>
          <a:noFill/>
        </p:spPr>
        <p:txBody>
          <a:bodyPr wrap="square">
            <a:spAutoFit/>
          </a:bodyPr>
          <a:lstStyle/>
          <a:p>
            <a:pPr>
              <a:defRPr sz="1800" b="1">
                <a:solidFill>
                  <a:srgbClr val="00D4AA"/>
                </a:solidFill>
              </a:defRPr>
            </a:pPr>
            <a:r>
              <a:rPr sz="2400"/>
              <a:t>Lab 2D:</a:t>
            </a:r>
          </a:p>
        </p:txBody>
      </p:sp>
      <p:sp>
        <p:nvSpPr>
          <p:cNvPr id="11" name="TextBox 10"/>
          <p:cNvSpPr txBox="1"/>
          <p:nvPr/>
        </p:nvSpPr>
        <p:spPr>
          <a:xfrm>
            <a:off x="2194560" y="4500150"/>
            <a:ext cx="8229600" cy="400110"/>
          </a:xfrm>
          <a:prstGeom prst="rect">
            <a:avLst/>
          </a:prstGeom>
          <a:noFill/>
        </p:spPr>
        <p:txBody>
          <a:bodyPr wrap="square">
            <a:spAutoFit/>
          </a:bodyPr>
          <a:lstStyle/>
          <a:p>
            <a:pPr>
              <a:defRPr sz="1600">
                <a:solidFill>
                  <a:srgbClr val="FFFFFF"/>
                </a:solidFill>
              </a:defRPr>
            </a:pPr>
            <a:r>
              <a:rPr sz="2000"/>
              <a:t>Ship It — production readiness review, feature branches, scaling analysis</a:t>
            </a:r>
          </a:p>
        </p:txBody>
      </p:sp>
      <p:sp>
        <p:nvSpPr>
          <p:cNvPr id="12" name="TextBox 11"/>
          <p:cNvSpPr txBox="1"/>
          <p:nvPr/>
        </p:nvSpPr>
        <p:spPr>
          <a:xfrm>
            <a:off x="1371600" y="5486400"/>
            <a:ext cx="8229600" cy="400110"/>
          </a:xfrm>
          <a:prstGeom prst="rect">
            <a:avLst/>
          </a:prstGeom>
          <a:noFill/>
        </p:spPr>
        <p:txBody>
          <a:bodyPr wrap="square">
            <a:spAutoFit/>
          </a:bodyPr>
          <a:lstStyle/>
          <a:p>
            <a:pPr algn="ctr">
              <a:defRPr sz="1400">
                <a:solidFill>
                  <a:srgbClr val="8A8F98"/>
                </a:solidFill>
              </a:defRPr>
            </a:pPr>
            <a:r>
              <a:rPr sz="2000"/>
              <a:t>One continuous project — each lab builds on the last</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2290807" y="457200"/>
            <a:ext cx="7610097" cy="646331"/>
          </a:xfrm>
          <a:prstGeom prst="rect">
            <a:avLst/>
          </a:prstGeom>
          <a:noFill/>
        </p:spPr>
        <p:txBody>
          <a:bodyPr wrap="none">
            <a:spAutoFit/>
          </a:bodyPr>
          <a:lstStyle/>
          <a:p>
            <a:pPr algn="ctr">
              <a:defRPr sz="3600" b="1">
                <a:solidFill>
                  <a:srgbClr val="FFFFFF"/>
                </a:solidFill>
              </a:defRPr>
            </a:pPr>
            <a:r>
              <a:t>From </a:t>
            </a:r>
            <a:r>
              <a:rPr lang="en-US"/>
              <a:t>Coding Assistant</a:t>
            </a:r>
            <a:r>
              <a:t> to </a:t>
            </a:r>
            <a:r>
              <a:rPr lang="en-US"/>
              <a:t>Coding Agent</a:t>
            </a:r>
            <a:endParaRP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87075" y="1463040"/>
            <a:ext cx="4104585" cy="523220"/>
          </a:xfrm>
          <a:prstGeom prst="rect">
            <a:avLst/>
          </a:prstGeom>
          <a:noFill/>
        </p:spPr>
        <p:txBody>
          <a:bodyPr wrap="none">
            <a:spAutoFit/>
          </a:bodyPr>
          <a:lstStyle/>
          <a:p>
            <a:pPr algn="ctr">
              <a:defRPr sz="2800" b="1">
                <a:solidFill>
                  <a:srgbClr val="E86B4A"/>
                </a:solidFill>
              </a:defRPr>
            </a:pPr>
            <a:r>
              <a:t>Before</a:t>
            </a:r>
            <a:r>
              <a:rPr lang="en-US"/>
              <a:t> (pre-coding agents)</a:t>
            </a:r>
            <a:endParaRPr/>
          </a:p>
        </p:txBody>
      </p:sp>
      <p:sp>
        <p:nvSpPr>
          <p:cNvPr id="5" name="TextBox 4"/>
          <p:cNvSpPr txBox="1"/>
          <p:nvPr/>
        </p:nvSpPr>
        <p:spPr>
          <a:xfrm>
            <a:off x="457200" y="2286000"/>
            <a:ext cx="5364327" cy="2092881"/>
          </a:xfrm>
          <a:prstGeom prst="rect">
            <a:avLst/>
          </a:prstGeom>
          <a:noFill/>
        </p:spPr>
        <p:txBody>
          <a:bodyPr wrap="square">
            <a:spAutoFit/>
          </a:bodyPr>
          <a:lstStyle/>
          <a:p>
            <a:pPr>
              <a:spcAft>
                <a:spcPts val="1200"/>
              </a:spcAft>
              <a:defRPr sz="1800">
                <a:solidFill>
                  <a:srgbClr val="FFFFFF"/>
                </a:solidFill>
              </a:defRPr>
            </a:pPr>
            <a:r>
              <a:t>  Copy-paste code from </a:t>
            </a:r>
            <a:r>
              <a:rPr lang="en-US"/>
              <a:t>chat session</a:t>
            </a:r>
            <a:endParaRPr/>
          </a:p>
          <a:p>
            <a:pPr>
              <a:spcAft>
                <a:spcPts val="1200"/>
              </a:spcAft>
              <a:defRPr sz="1800">
                <a:solidFill>
                  <a:srgbClr val="FFFFFF"/>
                </a:solidFill>
              </a:defRPr>
            </a:pPr>
            <a:r>
              <a:t>  Context lost every conversation</a:t>
            </a:r>
          </a:p>
          <a:p>
            <a:pPr>
              <a:spcAft>
                <a:spcPts val="1200"/>
              </a:spcAft>
              <a:defRPr sz="1800">
                <a:solidFill>
                  <a:srgbClr val="FFFFFF"/>
                </a:solidFill>
              </a:defRPr>
            </a:pPr>
            <a:r>
              <a:t>  Manual file editing after suggestions</a:t>
            </a:r>
          </a:p>
          <a:p>
            <a:pPr>
              <a:spcAft>
                <a:spcPts val="1200"/>
              </a:spcAft>
              <a:defRPr sz="1800">
                <a:solidFill>
                  <a:srgbClr val="FFFFFF"/>
                </a:solidFill>
              </a:defRPr>
            </a:pPr>
            <a:r>
              <a:t>  No memory of your codebase</a:t>
            </a:r>
          </a:p>
          <a:p>
            <a:pPr>
              <a:spcAft>
                <a:spcPts val="1200"/>
              </a:spcAft>
              <a:defRPr sz="1800">
                <a:solidFill>
                  <a:srgbClr val="FFFFFF"/>
                </a:solidFill>
              </a:defRPr>
            </a:pPr>
            <a:r>
              <a:t>  Generic responses, no project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After</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Code edits files directly in your repo</a:t>
            </a:r>
          </a:p>
          <a:p>
            <a:pPr>
              <a:spcAft>
                <a:spcPts val="1200"/>
              </a:spcAft>
              <a:defRPr sz="1800">
                <a:solidFill>
                  <a:srgbClr val="FFFFFF"/>
                </a:solidFill>
              </a:defRPr>
            </a:pPr>
            <a:r>
              <a:t>  Reads your entire codebase for context</a:t>
            </a:r>
          </a:p>
          <a:p>
            <a:pPr>
              <a:spcAft>
                <a:spcPts val="1200"/>
              </a:spcAft>
              <a:defRPr sz="1800">
                <a:solidFill>
                  <a:srgbClr val="FFFFFF"/>
                </a:solidFill>
              </a:defRPr>
            </a:pPr>
            <a:r>
              <a:t>  CLAUDE.md remembers your conventions</a:t>
            </a:r>
          </a:p>
          <a:p>
            <a:pPr>
              <a:spcAft>
                <a:spcPts val="1200"/>
              </a:spcAft>
              <a:defRPr sz="1800">
                <a:solidFill>
                  <a:srgbClr val="FFFFFF"/>
                </a:solidFill>
              </a:defRPr>
            </a:pPr>
            <a:r>
              <a:t>  Git commits, branches, and PRs built-in</a:t>
            </a:r>
          </a:p>
          <a:p>
            <a:pPr>
              <a:spcAft>
                <a:spcPts val="1200"/>
              </a:spcAft>
              <a:defRPr sz="1800">
                <a:solidFill>
                  <a:srgbClr val="FFFFFF"/>
                </a:solidFill>
              </a:defRPr>
            </a:pPr>
            <a:r>
              <a:t>  Runs tests, catches errors, fixes them</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What Claude Code Handles vs. What Engineers Handle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 Handles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 reading, searching, editing across repos</a:t>
            </a:r>
          </a:p>
          <a:p>
            <a:pPr>
              <a:spcAft>
                <a:spcPts val="1200"/>
              </a:spcAft>
              <a:defRPr sz="1800">
                <a:solidFill>
                  <a:srgbClr val="FFFFFF"/>
                </a:solidFill>
              </a:defRPr>
            </a:pPr>
            <a:r>
              <a:t>  Running tests and fixing failures</a:t>
            </a:r>
          </a:p>
          <a:p>
            <a:pPr>
              <a:spcAft>
                <a:spcPts val="1200"/>
              </a:spcAft>
              <a:defRPr sz="1800">
                <a:solidFill>
                  <a:srgbClr val="FFFFFF"/>
                </a:solidFill>
              </a:defRPr>
            </a:pPr>
            <a:r>
              <a:t>  Generating boilerplate and repetitive code</a:t>
            </a:r>
          </a:p>
          <a:p>
            <a:pPr>
              <a:spcAft>
                <a:spcPts val="1200"/>
              </a:spcAft>
              <a:defRPr sz="1800">
                <a:solidFill>
                  <a:srgbClr val="FFFFFF"/>
                </a:solidFill>
              </a:defRPr>
            </a:pPr>
            <a:r>
              <a:t>  Writing commit messages and PR descriptions</a:t>
            </a:r>
          </a:p>
          <a:p>
            <a:pPr>
              <a:spcAft>
                <a:spcPts val="1200"/>
              </a:spcAft>
              <a:defRPr sz="1800">
                <a:solidFill>
                  <a:srgbClr val="FFFFFF"/>
                </a:solidFill>
              </a:defRPr>
            </a:pPr>
            <a:r>
              <a:t>  Documentation from code analysis</a:t>
            </a:r>
          </a:p>
          <a:p>
            <a:pPr>
              <a:spcAft>
                <a:spcPts val="1200"/>
              </a:spcAft>
              <a:defRPr sz="1800">
                <a:solidFill>
                  <a:srgbClr val="FFFFFF"/>
                </a:solidFill>
              </a:defRPr>
            </a:pPr>
            <a:r>
              <a:t>  Refactoring with full codebase awareness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Engineers Handle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Architecture decisions and system design</a:t>
            </a:r>
          </a:p>
          <a:p>
            <a:pPr>
              <a:spcAft>
                <a:spcPts val="1200"/>
              </a:spcAft>
              <a:defRPr sz="1800">
                <a:solidFill>
                  <a:srgbClr val="FFFFFF"/>
                </a:solidFill>
              </a:defRPr>
            </a:pPr>
            <a:r>
              <a:t>  Reviewing AI-generated code for correctness</a:t>
            </a:r>
          </a:p>
          <a:p>
            <a:pPr>
              <a:spcAft>
                <a:spcPts val="1200"/>
              </a:spcAft>
              <a:defRPr sz="1800">
                <a:solidFill>
                  <a:srgbClr val="FFFFFF"/>
                </a:solidFill>
              </a:defRPr>
            </a:pPr>
            <a:r>
              <a:t>  Defining requirements and acceptance criteria</a:t>
            </a:r>
          </a:p>
          <a:p>
            <a:pPr>
              <a:spcAft>
                <a:spcPts val="1200"/>
              </a:spcAft>
              <a:defRPr sz="1800">
                <a:solidFill>
                  <a:srgbClr val="FFFFFF"/>
                </a:solidFill>
              </a:defRPr>
            </a:pPr>
            <a:r>
              <a:t>  Security review and threat modeling</a:t>
            </a:r>
          </a:p>
          <a:p>
            <a:pPr>
              <a:spcAft>
                <a:spcPts val="1200"/>
              </a:spcAft>
              <a:defRPr sz="1800">
                <a:solidFill>
                  <a:srgbClr val="FFFFFF"/>
                </a:solidFill>
              </a:defRPr>
            </a:pPr>
            <a:r>
              <a:t>  Production deployment decisions</a:t>
            </a:r>
          </a:p>
          <a:p>
            <a:pPr>
              <a:spcAft>
                <a:spcPts val="1200"/>
              </a:spcAft>
              <a:defRPr sz="1800">
                <a:solidFill>
                  <a:srgbClr val="FFFFFF"/>
                </a:solidFill>
              </a:defRPr>
            </a:pPr>
            <a:r>
              <a:t>  Choosing the right approach for the problem</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1576638" y="457200"/>
            <a:ext cx="9038436" cy="646331"/>
          </a:xfrm>
          <a:prstGeom prst="rect">
            <a:avLst/>
          </a:prstGeom>
          <a:noFill/>
        </p:spPr>
        <p:txBody>
          <a:bodyPr wrap="none">
            <a:spAutoFit/>
          </a:bodyPr>
          <a:lstStyle/>
          <a:p>
            <a:pPr algn="ctr">
              <a:defRPr sz="3600" b="1">
                <a:solidFill>
                  <a:srgbClr val="FFFFFF"/>
                </a:solidFill>
              </a:defRPr>
            </a:pPr>
            <a:r>
              <a:t>Claude Code</a:t>
            </a:r>
            <a:r>
              <a:rPr lang="en-US"/>
              <a:t>: A Different Kind of Coding Agent</a:t>
            </a:r>
            <a:endParaRP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Claude Code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Full terminal access — runs commands directly</a:t>
            </a:r>
          </a:p>
          <a:p>
            <a:pPr>
              <a:spcAft>
                <a:spcPts val="1200"/>
              </a:spcAft>
              <a:defRPr sz="1800">
                <a:solidFill>
                  <a:srgbClr val="FFFFFF"/>
                </a:solidFill>
              </a:defRPr>
            </a:pPr>
            <a:r>
              <a:t>  Reads and edits actual files in your repo</a:t>
            </a:r>
          </a:p>
          <a:p>
            <a:pPr>
              <a:spcAft>
                <a:spcPts val="1200"/>
              </a:spcAft>
              <a:defRPr sz="1800">
                <a:solidFill>
                  <a:srgbClr val="FFFFFF"/>
                </a:solidFill>
              </a:defRPr>
            </a:pPr>
            <a:r>
              <a:t>  Git integration: commits, branches, PRs</a:t>
            </a:r>
          </a:p>
          <a:p>
            <a:pPr>
              <a:spcAft>
                <a:spcPts val="1200"/>
              </a:spcAft>
              <a:defRPr sz="1800">
                <a:solidFill>
                  <a:srgbClr val="FFFFFF"/>
                </a:solidFill>
              </a:defRPr>
            </a:pPr>
            <a:r>
              <a:t>  CLAUDE.md for persistent project memory</a:t>
            </a:r>
          </a:p>
          <a:p>
            <a:pPr>
              <a:spcAft>
                <a:spcPts val="1200"/>
              </a:spcAft>
              <a:defRPr sz="1800">
                <a:solidFill>
                  <a:srgbClr val="FFFFFF"/>
                </a:solidFill>
              </a:defRPr>
            </a:pPr>
            <a:r>
              <a:t>  MCP for unlimited tool extensibility</a:t>
            </a:r>
          </a:p>
          <a:p>
            <a:pPr>
              <a:spcAft>
                <a:spcPts val="1200"/>
              </a:spcAft>
              <a:defRPr sz="1800">
                <a:solidFill>
                  <a:srgbClr val="FFFFFF"/>
                </a:solidFill>
              </a:defRPr>
            </a:pPr>
            <a:r>
              <a:t>  Subagents for parallel task execution</a:t>
            </a:r>
          </a:p>
        </p:txBody>
      </p:sp>
      <p:sp>
        <p:nvSpPr>
          <p:cNvPr id="6" name="TextBox 5"/>
          <p:cNvSpPr txBox="1"/>
          <p:nvPr/>
        </p:nvSpPr>
        <p:spPr>
          <a:xfrm>
            <a:off x="7270179" y="1463040"/>
            <a:ext cx="3564309" cy="523220"/>
          </a:xfrm>
          <a:prstGeom prst="rect">
            <a:avLst/>
          </a:prstGeom>
          <a:noFill/>
        </p:spPr>
        <p:txBody>
          <a:bodyPr wrap="none">
            <a:spAutoFit/>
          </a:bodyPr>
          <a:lstStyle/>
          <a:p>
            <a:pPr algn="ctr">
              <a:defRPr sz="2800" b="1">
                <a:solidFill>
                  <a:srgbClr val="E86B4A"/>
                </a:solidFill>
              </a:defRPr>
            </a:pPr>
            <a:r>
              <a:rPr lang="en-US"/>
              <a:t>Typical AI Coding Tools</a:t>
            </a:r>
            <a:endParaRPr/>
          </a:p>
        </p:txBody>
      </p:sp>
      <p:sp>
        <p:nvSpPr>
          <p:cNvPr id="7" name="TextBox 6"/>
          <p:cNvSpPr txBox="1"/>
          <p:nvPr/>
        </p:nvSpPr>
        <p:spPr>
          <a:xfrm>
            <a:off x="6370167" y="2286000"/>
            <a:ext cx="5364327" cy="2092881"/>
          </a:xfrm>
          <a:prstGeom prst="rect">
            <a:avLst/>
          </a:prstGeom>
          <a:noFill/>
        </p:spPr>
        <p:txBody>
          <a:bodyPr wrap="square">
            <a:spAutoFit/>
          </a:bodyPr>
          <a:lstStyle/>
          <a:p>
            <a:pPr>
              <a:spcAft>
                <a:spcPts val="1200"/>
              </a:spcAft>
              <a:defRPr sz="1800">
                <a:solidFill>
                  <a:srgbClr val="FFFFFF"/>
                </a:solidFill>
              </a:defRPr>
            </a:pPr>
            <a:r>
              <a:rPr lang="en-US"/>
              <a:t>IDE-embedded assistants</a:t>
            </a:r>
          </a:p>
          <a:p>
            <a:pPr>
              <a:spcAft>
                <a:spcPts val="1200"/>
              </a:spcAft>
              <a:defRPr sz="1800">
                <a:solidFill>
                  <a:srgbClr val="FFFFFF"/>
                </a:solidFill>
              </a:defRPr>
            </a:pPr>
            <a:r>
              <a:rPr lang="en-US"/>
              <a:t>Faster autocomplete workflows</a:t>
            </a:r>
          </a:p>
          <a:p>
            <a:pPr>
              <a:spcAft>
                <a:spcPts val="1200"/>
              </a:spcAft>
              <a:defRPr sz="1800">
                <a:solidFill>
                  <a:srgbClr val="FFFFFF"/>
                </a:solidFill>
              </a:defRPr>
            </a:pPr>
            <a:r>
              <a:rPr lang="en-US"/>
              <a:t>Limited tool orchestration</a:t>
            </a:r>
          </a:p>
          <a:p>
            <a:pPr>
              <a:spcAft>
                <a:spcPts val="1200"/>
              </a:spcAft>
              <a:defRPr sz="1800">
                <a:solidFill>
                  <a:srgbClr val="FFFFFF"/>
                </a:solidFill>
              </a:defRPr>
            </a:pPr>
            <a:r>
              <a:rPr lang="en-US"/>
              <a:t>Repo understanding varies</a:t>
            </a:r>
          </a:p>
          <a:p>
            <a:pPr>
              <a:spcAft>
                <a:spcPts val="1200"/>
              </a:spcAft>
              <a:defRPr sz="1800">
                <a:solidFill>
                  <a:srgbClr val="FFFFFF"/>
                </a:solidFill>
              </a:defRPr>
            </a:pPr>
            <a:r>
              <a:rPr lang="en-US"/>
              <a:t>Usually single-task agents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Installation &amp; Setup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30 minutes</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System Requirements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algn="ctr">
              <a:defRPr sz="1800" b="1">
                <a:solidFill>
                  <a:srgbClr val="FFFFFF"/>
                </a:solidFill>
              </a:defRPr>
            </a:pPr>
            <a:r>
              <a:t>Machine</a:t>
            </a:r>
          </a:p>
          <a:p>
            <a:pPr algn="ctr">
              <a:spcBef>
                <a:spcPts val="800"/>
              </a:spcBef>
              <a:defRPr sz="1300">
                <a:solidFill>
                  <a:srgbClr val="8B95A5"/>
                </a:solidFill>
              </a:defRPr>
            </a:pPr>
            <a:r>
              <a:t>macOS, Linux, or Windows (via WSL)</a:t>
            </a:r>
            <a:br>
              <a:rPr/>
            </a:br>
            <a:r>
              <a:t>8GB+ RAM recommended</a:t>
            </a:r>
            <a:br>
              <a:rPr/>
            </a:br>
            <a:br>
              <a:rPr lang="en-US"/>
            </a:br>
            <a:r>
              <a:t>Node.js 18+ required</a:t>
            </a:r>
            <a:r>
              <a:rPr lang="en-US"/>
              <a:t> for labs</a:t>
            </a:r>
            <a:endParaRP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Tools</a:t>
            </a:r>
          </a:p>
          <a:p>
            <a:pPr algn="ctr">
              <a:spcBef>
                <a:spcPts val="800"/>
              </a:spcBef>
              <a:defRPr sz="1300">
                <a:solidFill>
                  <a:srgbClr val="8B95A5"/>
                </a:solidFill>
              </a:defRPr>
            </a:pPr>
            <a:r>
              <a:t>Terminal (iTerm2, Windows Terminal, etc.)</a:t>
            </a:r>
            <a:br>
              <a:rPr/>
            </a:br>
            <a:r>
              <a:t>Git installed and configured</a:t>
            </a:r>
            <a:br>
              <a:rPr/>
            </a:br>
            <a:r>
              <a:t>VS Code or JetBrains IDE (optional)</a:t>
            </a:r>
          </a:p>
        </p:txBody>
      </p:sp>
      <p:sp>
        <p:nvSpPr>
          <p:cNvPr id="11" name="Rounded Rectangle 10"/>
          <p:cNvSpPr/>
          <p:nvPr/>
        </p:nvSpPr>
        <p:spPr>
          <a:xfrm>
            <a:off x="7604607" y="2011680"/>
            <a:ext cx="2286001"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94866" cy="1371600"/>
          </a:xfrm>
          <a:prstGeom prst="rect">
            <a:avLst/>
          </a:prstGeom>
          <a:noFill/>
        </p:spPr>
        <p:txBody>
          <a:bodyPr wrap="square">
            <a:noAutofit/>
          </a:bodyPr>
          <a:lstStyle/>
          <a:p>
            <a:pPr algn="ctr">
              <a:defRPr sz="1800" b="1">
                <a:solidFill>
                  <a:srgbClr val="FFFFFF"/>
                </a:solidFill>
                <a:latin typeface="Consolas"/>
              </a:defRPr>
            </a:pPr>
            <a:r>
              <a:t>Account</a:t>
            </a:r>
          </a:p>
          <a:p>
            <a:pPr algn="ctr">
              <a:spcBef>
                <a:spcPts val="400"/>
              </a:spcBef>
              <a:defRPr sz="1100">
                <a:solidFill>
                  <a:srgbClr val="8A8F98"/>
                </a:solidFill>
              </a:defRPr>
            </a:pPr>
            <a:r>
              <a:t>Anthropic Pro or Max plan</a:t>
            </a:r>
          </a:p>
          <a:p>
            <a:pPr algn="ctr">
              <a:spcBef>
                <a:spcPts val="400"/>
              </a:spcBef>
              <a:defRPr sz="1100">
                <a:solidFill>
                  <a:srgbClr val="8A8F98"/>
                </a:solidFill>
              </a:defRPr>
            </a:pPr>
            <a:r>
              <a:t>Install: claude.ai/install.sh</a:t>
            </a:r>
          </a:p>
          <a:p>
            <a:pPr algn="ctr">
              <a:spcBef>
                <a:spcPts val="400"/>
              </a:spcBef>
              <a:defRPr sz="1100">
                <a:solidFill>
                  <a:srgbClr val="8A8F98"/>
                </a:solidFill>
              </a:defRPr>
            </a:pPr>
            <a:r>
              <a:t>Authenticate: </a:t>
            </a:r>
            <a:r>
              <a:rPr err="1"/>
              <a:t>claude</a:t>
            </a:r>
            <a:r>
              <a:t> login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169683" y="457200"/>
            <a:ext cx="3852338" cy="646331"/>
          </a:xfrm>
          <a:prstGeom prst="rect">
            <a:avLst/>
          </a:prstGeom>
          <a:noFill/>
        </p:spPr>
        <p:txBody>
          <a:bodyPr wrap="none">
            <a:spAutoFit/>
          </a:bodyPr>
          <a:lstStyle/>
          <a:p>
            <a:pPr algn="ctr">
              <a:defRPr sz="3600" b="1">
                <a:solidFill>
                  <a:srgbClr val="FFFFFF"/>
                </a:solidFill>
              </a:defRPr>
            </a:pPr>
            <a:r>
              <a:rPr lang="en-US"/>
              <a:t>Install Claude Code</a:t>
            </a:r>
            <a:endParaRPr/>
          </a:p>
        </p:txBody>
      </p:sp>
      <p:sp>
        <p:nvSpPr>
          <p:cNvPr id="3" name="Rectangle 2"/>
          <p:cNvSpPr/>
          <p:nvPr/>
        </p:nvSpPr>
        <p:spPr>
          <a:xfrm>
            <a:off x="914400" y="1645920"/>
            <a:ext cx="10362895" cy="4572000"/>
          </a:xfrm>
          <a:prstGeom prst="roundRect">
            <a:avLst/>
          </a:prstGeom>
          <a:solidFill>
            <a:srgbClr val="1E1E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6309360" y="1828800"/>
            <a:ext cx="27432" cy="4114800"/>
          </a:xfrm>
          <a:prstGeom prst="rect">
            <a:avLst/>
          </a:prstGeom>
          <a:solidFill>
            <a:srgbClr val="4444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97280" y="1783080"/>
            <a:ext cx="5029200" cy="4200000"/>
          </a:xfrm>
          <a:prstGeom prst="rect">
            <a:avLst/>
          </a:prstGeom>
          <a:noFill/>
        </p:spPr>
        <p:txBody>
          <a:bodyPr wrap="square">
            <a:spAutoFit/>
          </a:bodyPr>
          <a:lstStyle/>
          <a:p>
            <a:r>
              <a:rPr sz="1800" b="1">
                <a:solidFill>
                  <a:srgbClr val="00D4AA"/>
                </a:solidFill>
                <a:latin typeface="Consolas"/>
              </a:rPr>
              <a:t>INSTALL</a:t>
            </a:r>
          </a:p>
          <a:p>
            <a:pPr>
              <a:spcAft>
                <a:spcPts val="200"/>
              </a:spcAft>
            </a:pPr>
            <a:endParaRPr sz="1800" b="1">
              <a:solidFill>
                <a:srgbClr val="00D4AA"/>
              </a:solidFill>
              <a:latin typeface="Consolas"/>
            </a:endParaRPr>
          </a:p>
          <a:p>
            <a:r>
              <a:rPr sz="1400">
                <a:solidFill>
                  <a:srgbClr val="6A9955"/>
                </a:solidFill>
                <a:latin typeface="Consolas"/>
              </a:rPr>
              <a:t># Recommended</a:t>
            </a:r>
          </a:p>
          <a:p>
            <a:r>
              <a:rPr sz="1400" b="1">
                <a:solidFill>
                  <a:srgbClr val="FFFFFF"/>
                </a:solidFill>
                <a:latin typeface="Consolas"/>
              </a:rPr>
              <a:t>curl -fsSL</a:t>
            </a:r>
          </a:p>
          <a:p>
            <a:r>
              <a:rPr sz="1400" b="1">
                <a:solidFill>
                  <a:srgbClr val="FFFFFF"/>
                </a:solidFill>
                <a:latin typeface="Consolas"/>
              </a:rPr>
              <a:t>  https://claude.ai/install.sh | bash</a:t>
            </a:r>
          </a:p>
          <a:p>
            <a:pPr>
              <a:spcAft>
                <a:spcPts val="200"/>
              </a:spcAft>
            </a:pPr>
            <a:endParaRPr sz="1400" b="1">
              <a:solidFill>
                <a:srgbClr val="FFFFFF"/>
              </a:solidFill>
              <a:latin typeface="Consolas"/>
            </a:endParaRPr>
          </a:p>
          <a:p>
            <a:r>
              <a:rPr sz="1400">
                <a:solidFill>
                  <a:srgbClr val="6A9955"/>
                </a:solidFill>
                <a:latin typeface="Consolas"/>
              </a:rPr>
              <a:t># macOS / Linux</a:t>
            </a:r>
          </a:p>
          <a:p>
            <a:r>
              <a:rPr sz="1400" b="1">
                <a:solidFill>
                  <a:srgbClr val="FFFFFF"/>
                </a:solidFill>
                <a:latin typeface="Consolas"/>
              </a:rPr>
              <a:t>brew install --cask claude-code</a:t>
            </a:r>
          </a:p>
          <a:p>
            <a:pPr>
              <a:spcAft>
                <a:spcPts val="200"/>
              </a:spcAft>
            </a:pPr>
            <a:endParaRPr sz="1400" b="1">
              <a:solidFill>
                <a:srgbClr val="FFFFFF"/>
              </a:solidFill>
              <a:latin typeface="Consolas"/>
            </a:endParaRPr>
          </a:p>
          <a:p>
            <a:r>
              <a:rPr sz="1400">
                <a:solidFill>
                  <a:srgbClr val="6A9955"/>
                </a:solidFill>
                <a:latin typeface="Consolas"/>
              </a:rPr>
              <a:t># Windows</a:t>
            </a:r>
          </a:p>
          <a:p>
            <a:r>
              <a:rPr sz="1400" b="1">
                <a:solidFill>
                  <a:srgbClr val="FFFFFF"/>
                </a:solidFill>
                <a:latin typeface="Consolas"/>
              </a:rPr>
              <a:t>winget install Anthropic.ClaudeCode</a:t>
            </a:r>
          </a:p>
        </p:txBody>
      </p:sp>
      <p:sp>
        <p:nvSpPr>
          <p:cNvPr id="6" name="TextBox 5"/>
          <p:cNvSpPr txBox="1"/>
          <p:nvPr/>
        </p:nvSpPr>
        <p:spPr>
          <a:xfrm>
            <a:off x="6583680" y="1783080"/>
            <a:ext cx="4500000" cy="4200000"/>
          </a:xfrm>
          <a:prstGeom prst="rect">
            <a:avLst/>
          </a:prstGeom>
          <a:noFill/>
        </p:spPr>
        <p:txBody>
          <a:bodyPr wrap="square">
            <a:spAutoFit/>
          </a:bodyPr>
          <a:lstStyle/>
          <a:p>
            <a:r>
              <a:rPr sz="1800" b="1">
                <a:solidFill>
                  <a:srgbClr val="00D4AA"/>
                </a:solidFill>
                <a:latin typeface="Consolas"/>
              </a:rPr>
              <a:t>GET STARTED</a:t>
            </a:r>
          </a:p>
          <a:p>
            <a:pPr>
              <a:spcAft>
                <a:spcPts val="200"/>
              </a:spcAft>
            </a:pPr>
            <a:endParaRPr sz="1800" b="1">
              <a:solidFill>
                <a:srgbClr val="00D4AA"/>
              </a:solidFill>
              <a:latin typeface="Consolas"/>
            </a:endParaRPr>
          </a:p>
          <a:p>
            <a:r>
              <a:rPr sz="1400">
                <a:solidFill>
                  <a:srgbClr val="6A9955"/>
                </a:solidFill>
                <a:latin typeface="Consolas"/>
              </a:rPr>
              <a:t># Authenticate</a:t>
            </a:r>
          </a:p>
          <a:p>
            <a:r>
              <a:rPr sz="1400" b="1">
                <a:solidFill>
                  <a:srgbClr val="FFFFFF"/>
                </a:solidFill>
                <a:latin typeface="Consolas"/>
              </a:rPr>
              <a:t>claude login</a:t>
            </a:r>
          </a:p>
          <a:p>
            <a:pPr>
              <a:spcAft>
                <a:spcPts val="200"/>
              </a:spcAft>
            </a:pPr>
            <a:endParaRPr sz="1400" b="1">
              <a:solidFill>
                <a:srgbClr val="FFFFFF"/>
              </a:solidFill>
              <a:latin typeface="Consolas"/>
            </a:endParaRPr>
          </a:p>
          <a:p>
            <a:r>
              <a:rPr sz="1400">
                <a:solidFill>
                  <a:srgbClr val="6A9955"/>
                </a:solidFill>
                <a:latin typeface="Consolas"/>
              </a:rPr>
              <a:t># Verify</a:t>
            </a:r>
          </a:p>
          <a:p>
            <a:r>
              <a:rPr sz="1400" b="1">
                <a:solidFill>
                  <a:srgbClr val="FFFFFF"/>
                </a:solidFill>
                <a:latin typeface="Consolas"/>
              </a:rPr>
              <a:t>claude --version</a:t>
            </a:r>
          </a:p>
          <a:p>
            <a:pPr>
              <a:spcAft>
                <a:spcPts val="200"/>
              </a:spcAft>
            </a:pPr>
            <a:endParaRPr sz="1400" b="1">
              <a:solidFill>
                <a:srgbClr val="FFFFFF"/>
              </a:solidFill>
              <a:latin typeface="Consolas"/>
            </a:endParaRPr>
          </a:p>
          <a:p>
            <a:r>
              <a:rPr sz="1400">
                <a:solidFill>
                  <a:srgbClr val="6A9955"/>
                </a:solidFill>
                <a:latin typeface="Consolas"/>
              </a:rPr>
              <a:t># Start Claude in a project</a:t>
            </a:r>
          </a:p>
          <a:p>
            <a:r>
              <a:rPr sz="1400" b="1">
                <a:solidFill>
                  <a:srgbClr val="FFFFFF"/>
                </a:solidFill>
                <a:latin typeface="Consolas"/>
              </a:rPr>
              <a:t>cd my-project</a:t>
            </a:r>
          </a:p>
          <a:p>
            <a:r>
              <a:rPr sz="1400" b="1">
                <a:solidFill>
                  <a:srgbClr val="FFFFFF"/>
                </a:solidFill>
                <a:latin typeface="Consolas"/>
              </a:rPr>
              <a:t>claude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3579965" y="457200"/>
            <a:ext cx="5031762" cy="646331"/>
          </a:xfrm>
          <a:prstGeom prst="rect">
            <a:avLst/>
          </a:prstGeom>
          <a:noFill/>
        </p:spPr>
        <p:txBody>
          <a:bodyPr wrap="none">
            <a:spAutoFit/>
          </a:bodyPr>
          <a:lstStyle/>
          <a:p>
            <a:pPr algn="ctr">
              <a:defRPr sz="3600" b="1">
                <a:solidFill>
                  <a:srgbClr val="FFFFFF"/>
                </a:solidFill>
              </a:defRPr>
            </a:pPr>
            <a:r>
              <a:t>Ways to Use Claude Code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Terminal (CLI)</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 'claude' in any project directory</a:t>
            </a:r>
          </a:p>
          <a:p>
            <a:pPr>
              <a:spcAft>
                <a:spcPts val="1200"/>
              </a:spcAft>
              <a:defRPr sz="1800">
                <a:solidFill>
                  <a:srgbClr val="FFFFFF"/>
                </a:solidFill>
              </a:defRPr>
            </a:pPr>
            <a:r>
              <a:t>  Full power — all commands available</a:t>
            </a:r>
          </a:p>
          <a:p>
            <a:pPr>
              <a:spcAft>
                <a:spcPts val="1200"/>
              </a:spcAft>
              <a:defRPr sz="1800">
                <a:solidFill>
                  <a:srgbClr val="FFFFFF"/>
                </a:solidFill>
              </a:defRPr>
            </a:pPr>
            <a:r>
              <a:t>  Best for: dedicated coding sessions</a:t>
            </a:r>
          </a:p>
          <a:p>
            <a:pPr>
              <a:spcAft>
                <a:spcPts val="1200"/>
              </a:spcAft>
              <a:defRPr sz="1800">
                <a:solidFill>
                  <a:srgbClr val="FFFFFF"/>
                </a:solidFill>
              </a:defRPr>
            </a:pPr>
            <a:r>
              <a:t>  Multiple instances via tabs/tmux</a:t>
            </a:r>
          </a:p>
          <a:p>
            <a:pPr>
              <a:spcAft>
                <a:spcPts val="1200"/>
              </a:spcAft>
              <a:defRPr sz="1800">
                <a:solidFill>
                  <a:srgbClr val="FFFFFF"/>
                </a:solidFill>
              </a:defRPr>
            </a:pPr>
            <a:r>
              <a:t>  Direct file system access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IDE Integration</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in VS Code or JetBrains terminal</a:t>
            </a:r>
          </a:p>
          <a:p>
            <a:pPr>
              <a:spcAft>
                <a:spcPts val="1200"/>
              </a:spcAft>
              <a:defRPr sz="1800">
                <a:solidFill>
                  <a:srgbClr val="FFFFFF"/>
                </a:solidFill>
              </a:defRPr>
            </a:pPr>
            <a:r>
              <a:t>  Changes appear live in your editor</a:t>
            </a:r>
          </a:p>
          <a:p>
            <a:pPr>
              <a:spcAft>
                <a:spcPts val="1200"/>
              </a:spcAft>
              <a:defRPr sz="1800">
                <a:solidFill>
                  <a:srgbClr val="FFFFFF"/>
                </a:solidFill>
              </a:defRPr>
            </a:pPr>
            <a:r>
              <a:t>  Claude sees diagnostic errors automatically</a:t>
            </a:r>
          </a:p>
          <a:p>
            <a:pPr>
              <a:spcAft>
                <a:spcPts val="1200"/>
              </a:spcAft>
              <a:defRPr sz="1800">
                <a:solidFill>
                  <a:srgbClr val="FFFFFF"/>
                </a:solidFill>
              </a:defRPr>
            </a:pPr>
            <a:r>
              <a:t>  Reads your open files and selections</a:t>
            </a:r>
          </a:p>
          <a:p>
            <a:pPr>
              <a:spcAft>
                <a:spcPts val="1200"/>
              </a:spcAft>
              <a:defRPr sz="1800">
                <a:solidFill>
                  <a:srgbClr val="FFFFFF"/>
                </a:solidFill>
              </a:defRPr>
            </a:pPr>
            <a:r>
              <a:t>  Best for: editing while you code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0490757" cy="584775"/>
          </a:xfrm>
          <a:prstGeom prst="rect">
            <a:avLst/>
          </a:prstGeom>
          <a:noFill/>
        </p:spPr>
        <p:txBody>
          <a:bodyPr wrap="none">
            <a:spAutoFit/>
          </a:bodyPr>
          <a:lstStyle/>
          <a:p>
            <a:pPr>
              <a:defRPr sz="3200" b="1">
                <a:solidFill>
                  <a:srgbClr val="FFFFFF"/>
                </a:solidFill>
              </a:defRPr>
            </a:pPr>
            <a:r>
              <a:t>Claude Code Deskto</a:t>
            </a:r>
            <a:r>
              <a:rPr lang="en-US"/>
              <a:t>p: Managing Multiple AI Coding Sessions</a:t>
            </a:r>
            <a:endParaRPr/>
          </a:p>
        </p:txBody>
      </p:sp>
      <p:sp>
        <p:nvSpPr>
          <p:cNvPr id="3" name="Rounded Rectangle 2"/>
          <p:cNvSpPr/>
          <p:nvPr/>
        </p:nvSpPr>
        <p:spPr>
          <a:xfrm>
            <a:off x="914400" y="1280160"/>
            <a:ext cx="10362895" cy="4754880"/>
          </a:xfrm>
          <a:prstGeom prst="roundRect">
            <a:avLst/>
          </a:prstGeom>
          <a:solidFill>
            <a:srgbClr val="141A26"/>
          </a:solidFill>
          <a:ln w="25400">
            <a:solidFill>
              <a:srgbClr val="00D4AA"/>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3200400"/>
            <a:ext cx="10362895" cy="914400"/>
          </a:xfrm>
          <a:prstGeom prst="rect">
            <a:avLst/>
          </a:prstGeom>
          <a:noFill/>
        </p:spPr>
        <p:txBody>
          <a:bodyPr wrap="none">
            <a:spAutoFit/>
          </a:bodyPr>
          <a:lstStyle/>
          <a:p>
            <a:pPr algn="ctr">
              <a:defRPr sz="2400" b="1">
                <a:solidFill>
                  <a:srgbClr val="8B95A5"/>
                </a:solidFill>
              </a:defRPr>
            </a:pPr>
            <a:r>
              <a:t>[Screenshot]</a:t>
            </a:r>
          </a:p>
        </p:txBody>
      </p:sp>
      <p:sp>
        <p:nvSpPr>
          <p:cNvPr id="6" name="TextBox 5">
            <a:extLst>
              <a:ext uri="{FF2B5EF4-FFF2-40B4-BE49-F238E27FC236}">
                <a16:creationId xmlns:a16="http://schemas.microsoft.com/office/drawing/2014/main" id="{20DA46C1-A09C-CC85-41D0-591C5CEE27C2}"/>
              </a:ext>
            </a:extLst>
          </p:cNvPr>
          <p:cNvSpPr txBox="1"/>
          <p:nvPr/>
        </p:nvSpPr>
        <p:spPr>
          <a:xfrm>
            <a:off x="7300452" y="1778568"/>
            <a:ext cx="3976843" cy="3785652"/>
          </a:xfrm>
          <a:prstGeom prst="rect">
            <a:avLst/>
          </a:prstGeom>
          <a:noFill/>
        </p:spPr>
        <p:txBody>
          <a:bodyPr wrap="square">
            <a:spAutoFit/>
          </a:bodyPr>
          <a:lstStyle/>
          <a:p>
            <a:r>
              <a:rPr lang="en-US" sz="1600">
                <a:solidFill>
                  <a:schemeClr val="bg1"/>
                </a:solidFill>
              </a:rPr>
              <a:t>GUI for Claude Code — no terminal required</a:t>
            </a:r>
          </a:p>
          <a:p>
            <a:endParaRPr lang="en-US" sz="1600">
              <a:solidFill>
                <a:schemeClr val="bg1"/>
              </a:solidFill>
            </a:endParaRPr>
          </a:p>
          <a:p>
            <a:r>
              <a:rPr lang="en-US" sz="1600">
                <a:solidFill>
                  <a:schemeClr val="bg1"/>
                </a:solidFill>
              </a:rPr>
              <a:t>Parallel sessions with git </a:t>
            </a:r>
            <a:r>
              <a:rPr lang="en-US" sz="1600" err="1">
                <a:solidFill>
                  <a:schemeClr val="bg1"/>
                </a:solidFill>
              </a:rPr>
              <a:t>worktree</a:t>
            </a:r>
            <a:r>
              <a:rPr lang="en-US" sz="1600">
                <a:solidFill>
                  <a:schemeClr val="bg1"/>
                </a:solidFill>
              </a:rPr>
              <a:t> isolation</a:t>
            </a:r>
          </a:p>
          <a:p>
            <a:endParaRPr lang="en-US" sz="1600">
              <a:solidFill>
                <a:schemeClr val="bg1"/>
              </a:solidFill>
            </a:endParaRPr>
          </a:p>
          <a:p>
            <a:r>
              <a:rPr lang="en-US" sz="1600">
                <a:solidFill>
                  <a:schemeClr val="bg1"/>
                </a:solidFill>
              </a:rPr>
              <a:t>Visual diff review and server previews</a:t>
            </a:r>
          </a:p>
          <a:p>
            <a:endParaRPr lang="en-US" sz="1600">
              <a:solidFill>
                <a:schemeClr val="bg1"/>
              </a:solidFill>
            </a:endParaRPr>
          </a:p>
          <a:p>
            <a:r>
              <a:rPr lang="en-US" sz="1600">
                <a:solidFill>
                  <a:schemeClr val="bg1"/>
                </a:solidFill>
              </a:rPr>
              <a:t>Local or remote (cloud) sessions from</a:t>
            </a:r>
            <a:br>
              <a:rPr lang="en-US" sz="1600">
                <a:solidFill>
                  <a:schemeClr val="bg1"/>
                </a:solidFill>
              </a:rPr>
            </a:br>
            <a:r>
              <a:rPr lang="en-US" sz="1600">
                <a:solidFill>
                  <a:schemeClr val="bg1"/>
                </a:solidFill>
              </a:rPr>
              <a:t> same interface</a:t>
            </a:r>
          </a:p>
          <a:p>
            <a:endParaRPr lang="en-US" sz="1600">
              <a:solidFill>
                <a:schemeClr val="bg1"/>
              </a:solidFill>
            </a:endParaRPr>
          </a:p>
          <a:p>
            <a:r>
              <a:rPr lang="en-US" sz="1600">
                <a:solidFill>
                  <a:schemeClr val="bg1"/>
                </a:solidFill>
              </a:rPr>
              <a:t>PR monitoring and status tracking</a:t>
            </a:r>
          </a:p>
          <a:p>
            <a:endParaRPr lang="en-US" sz="1600">
              <a:solidFill>
                <a:schemeClr val="bg1"/>
              </a:solidFill>
            </a:endParaRPr>
          </a:p>
          <a:p>
            <a:r>
              <a:rPr lang="en-US" sz="1600">
                <a:solidFill>
                  <a:schemeClr val="bg1"/>
                </a:solidFill>
              </a:rPr>
              <a:t>/desktop </a:t>
            </a:r>
            <a:r>
              <a:rPr lang="en-US" sz="1600" err="1">
                <a:solidFill>
                  <a:schemeClr val="bg1"/>
                </a:solidFill>
              </a:rPr>
              <a:t>cmd</a:t>
            </a:r>
            <a:r>
              <a:rPr lang="en-US" sz="1600">
                <a:solidFill>
                  <a:schemeClr val="bg1"/>
                </a:solidFill>
              </a:rPr>
              <a:t> moves a CLI session to the app</a:t>
            </a:r>
          </a:p>
          <a:p>
            <a:endParaRPr lang="en-US" sz="1600">
              <a:solidFill>
                <a:schemeClr val="bg1"/>
              </a:solidFill>
            </a:endParaRPr>
          </a:p>
          <a:p>
            <a:r>
              <a:rPr lang="en-US" sz="1600">
                <a:solidFill>
                  <a:schemeClr val="bg1"/>
                </a:solidFill>
              </a:rPr>
              <a:t>Best for: non-terminal users, multi-session </a:t>
            </a:r>
            <a:br>
              <a:rPr lang="en-US" sz="1600">
                <a:solidFill>
                  <a:schemeClr val="bg1"/>
                </a:solidFill>
              </a:rPr>
            </a:br>
            <a:r>
              <a:rPr lang="en-US" sz="1600">
                <a:solidFill>
                  <a:schemeClr val="bg1"/>
                </a:solidFill>
              </a:rPr>
              <a:t> management, visual workflows</a:t>
            </a:r>
          </a:p>
        </p:txBody>
      </p:sp>
      <p:pic>
        <p:nvPicPr>
          <p:cNvPr id="7" name="Picture 6">
            <a:extLst>
              <a:ext uri="{FF2B5EF4-FFF2-40B4-BE49-F238E27FC236}">
                <a16:creationId xmlns:a16="http://schemas.microsoft.com/office/drawing/2014/main" id="{1CE2B5A9-A391-ACE3-A562-6E21FAF6C260}"/>
              </a:ext>
            </a:extLst>
          </p:cNvPr>
          <p:cNvPicPr>
            <a:picLocks noChangeAspect="1"/>
          </p:cNvPicPr>
          <p:nvPr/>
        </p:nvPicPr>
        <p:blipFill>
          <a:blip r:embed="rId3"/>
          <a:stretch>
            <a:fillRect/>
          </a:stretch>
        </p:blipFill>
        <p:spPr>
          <a:xfrm>
            <a:off x="1203631" y="1828800"/>
            <a:ext cx="5912508" cy="3657600"/>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Authentication &amp; Configuration</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BASH</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Step 1: Authenticate with Anthropic</a:t>
            </a:r>
          </a:p>
          <a:p>
            <a:pPr>
              <a:defRPr sz="1400">
                <a:solidFill>
                  <a:srgbClr val="FFFFFF"/>
                </a:solidFill>
                <a:latin typeface="Consolas"/>
              </a:defRPr>
            </a:pPr>
            <a:r>
              <a:t>claude login</a:t>
            </a:r>
          </a:p>
          <a:p>
            <a:pPr>
              <a:defRPr sz="1400">
                <a:solidFill>
                  <a:srgbClr val="FFFFFF"/>
                </a:solidFill>
                <a:latin typeface="Consolas"/>
              </a:defRPr>
            </a:pPr>
            <a:r>
              <a:t># Opens browser, you authorize, token is saved locally</a:t>
            </a:r>
          </a:p>
          <a:p>
            <a:pPr>
              <a:defRPr sz="1400">
                <a:solidFill>
                  <a:srgbClr val="FFFFFF"/>
                </a:solidFill>
                <a:latin typeface="Consolas"/>
              </a:defRPr>
            </a:pPr>
            <a:endParaRPr/>
          </a:p>
          <a:p>
            <a:pPr>
              <a:defRPr sz="1400">
                <a:solidFill>
                  <a:srgbClr val="FFFFFF"/>
                </a:solidFill>
                <a:latin typeface="Consolas"/>
              </a:defRPr>
            </a:pPr>
            <a:r>
              <a:t># Step 2: Verify authentication</a:t>
            </a:r>
          </a:p>
          <a:p>
            <a:pPr>
              <a:defRPr sz="1400">
                <a:solidFill>
                  <a:srgbClr val="FFFFFF"/>
                </a:solidFill>
                <a:latin typeface="Consolas"/>
              </a:defRPr>
            </a:pPr>
            <a:r>
              <a:t>claude whoami</a:t>
            </a:r>
          </a:p>
          <a:p>
            <a:pPr>
              <a:defRPr sz="1400">
                <a:solidFill>
                  <a:srgbClr val="FFFFFF"/>
                </a:solidFill>
                <a:latin typeface="Consolas"/>
              </a:defRPr>
            </a:pPr>
            <a:r>
              <a:t># Shows your account email and plan tier</a:t>
            </a:r>
          </a:p>
          <a:p>
            <a:pPr>
              <a:defRPr sz="1400">
                <a:solidFill>
                  <a:srgbClr val="FFFFFF"/>
                </a:solidFill>
                <a:latin typeface="Consolas"/>
              </a:defRPr>
            </a:pPr>
            <a:endParaRPr/>
          </a:p>
          <a:p>
            <a:pPr>
              <a:defRPr sz="1400">
                <a:solidFill>
                  <a:srgbClr val="FFFFFF"/>
                </a:solidFill>
                <a:latin typeface="Consolas"/>
              </a:defRPr>
            </a:pPr>
            <a:r>
              <a:t># Step 3: Set default model (optional)</a:t>
            </a:r>
          </a:p>
          <a:p>
            <a:pPr>
              <a:defRPr sz="1400">
                <a:solidFill>
                  <a:srgbClr val="FFFFFF"/>
                </a:solidFill>
                <a:latin typeface="Consolas"/>
              </a:defRPr>
            </a:pPr>
            <a:r>
              <a:t>claude config set model claude-sonnet-4</a:t>
            </a:r>
          </a:p>
          <a:p>
            <a:pPr>
              <a:defRPr sz="1400">
                <a:solidFill>
                  <a:srgbClr val="FFFFFF"/>
                </a:solidFill>
                <a:latin typeface="Consolas"/>
              </a:defRPr>
            </a:pPr>
            <a:endParaRPr/>
          </a:p>
          <a:p>
            <a:pPr>
              <a:defRPr sz="1400">
                <a:solidFill>
                  <a:srgbClr val="FFFFFF"/>
                </a:solidFill>
                <a:latin typeface="Consolas"/>
              </a:defRPr>
            </a:pPr>
            <a:r>
              <a:t># Step 4: Check all settings</a:t>
            </a:r>
          </a:p>
          <a:p>
            <a:pPr>
              <a:defRPr sz="1400">
                <a:solidFill>
                  <a:srgbClr val="FFFFFF"/>
                </a:solidFill>
                <a:latin typeface="Consolas"/>
              </a:defRPr>
            </a:pPr>
            <a:r>
              <a:t>claude config list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Selection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Sonnet (Default)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Fast, efficient, great for most tasks</a:t>
            </a:r>
          </a:p>
          <a:p>
            <a:pPr>
              <a:spcAft>
                <a:spcPts val="1200"/>
              </a:spcAft>
              <a:defRPr sz="1800">
                <a:solidFill>
                  <a:srgbClr val="FFFFFF"/>
                </a:solidFill>
              </a:defRPr>
            </a:pPr>
            <a:r>
              <a:t>  Code generation, editing, debugging</a:t>
            </a:r>
          </a:p>
          <a:p>
            <a:pPr>
              <a:spcAft>
                <a:spcPts val="1200"/>
              </a:spcAft>
              <a:defRPr sz="1800">
                <a:solidFill>
                  <a:srgbClr val="FFFFFF"/>
                </a:solidFill>
              </a:defRPr>
            </a:pPr>
            <a:r>
              <a:t>  Lower token cost per request</a:t>
            </a:r>
          </a:p>
          <a:p>
            <a:pPr>
              <a:spcAft>
                <a:spcPts val="1200"/>
              </a:spcAft>
              <a:defRPr sz="1800">
                <a:solidFill>
                  <a:srgbClr val="FFFFFF"/>
                </a:solidFill>
              </a:defRPr>
            </a:pPr>
            <a:r>
              <a:t>  Best for: everyday development work</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Opus (Premium)</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Deeper reasoning, complex architecture</a:t>
            </a:r>
          </a:p>
          <a:p>
            <a:pPr>
              <a:spcAft>
                <a:spcPts val="1200"/>
              </a:spcAft>
              <a:defRPr sz="1800">
                <a:solidFill>
                  <a:srgbClr val="FFFFFF"/>
                </a:solidFill>
              </a:defRPr>
            </a:pPr>
            <a:r>
              <a:t>  Better at multi-file refactoring</a:t>
            </a:r>
          </a:p>
          <a:p>
            <a:pPr>
              <a:spcAft>
                <a:spcPts val="1200"/>
              </a:spcAft>
              <a:defRPr sz="1800">
                <a:solidFill>
                  <a:srgbClr val="FFFFFF"/>
                </a:solidFill>
              </a:defRPr>
            </a:pPr>
            <a:r>
              <a:t>  Higher token cost but fewer iterations</a:t>
            </a:r>
          </a:p>
          <a:p>
            <a:pPr>
              <a:spcAft>
                <a:spcPts val="1200"/>
              </a:spcAft>
              <a:defRPr sz="1800">
                <a:solidFill>
                  <a:srgbClr val="FFFFFF"/>
                </a:solidFill>
              </a:defRPr>
            </a:pPr>
            <a:r>
              <a:t>  Best for: hard problems, security reviews</a:t>
            </a:r>
          </a:p>
          <a:p>
            <a:pPr>
              <a:spcAft>
                <a:spcPts val="1200"/>
              </a:spcAft>
              <a:defRPr sz="1800">
                <a:solidFill>
                  <a:srgbClr val="FFFFFF"/>
                </a:solidFill>
              </a:defRPr>
            </a:pPr>
            <a:r>
              <a:t>  Switch with: /model opus</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First Command Walkthrough</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The Agentic Loop</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How Claude Code Actually Works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19" y="381000"/>
            <a:ext cx="10728655" cy="1371600"/>
          </a:xfrm>
          <a:prstGeom prst="rect">
            <a:avLst/>
          </a:prstGeom>
          <a:noFill/>
        </p:spPr>
        <p:txBody>
          <a:bodyPr wrap="square">
            <a:spAutoFit/>
          </a:bodyPr>
          <a:lstStyle/>
          <a:p>
            <a:pPr algn="ctr">
              <a:defRPr sz="5200" b="1">
                <a:solidFill>
                  <a:srgbClr val="FFFFFF"/>
                </a:solidFill>
              </a:defRPr>
            </a:pPr>
            <a:r>
              <a:rPr dirty="0"/>
              <a:t>The Agentic Loop</a:t>
            </a:r>
          </a:p>
        </p:txBody>
      </p:sp>
      <p:sp>
        <p:nvSpPr>
          <p:cNvPr id="3" name="TextBox 2"/>
          <p:cNvSpPr txBox="1"/>
          <p:nvPr/>
        </p:nvSpPr>
        <p:spPr>
          <a:xfrm>
            <a:off x="914398" y="1286933"/>
            <a:ext cx="10362895" cy="914400"/>
          </a:xfrm>
          <a:prstGeom prst="rect">
            <a:avLst/>
          </a:prstGeom>
          <a:noFill/>
        </p:spPr>
        <p:txBody>
          <a:bodyPr wrap="square">
            <a:spAutoFit/>
          </a:bodyPr>
          <a:lstStyle/>
          <a:p>
            <a:pPr algn="ctr">
              <a:defRPr sz="2400">
                <a:solidFill>
                  <a:srgbClr val="8B95A5"/>
                </a:solidFill>
              </a:defRPr>
            </a:pPr>
            <a:r>
              <a:rPr dirty="0"/>
              <a:t>Read → Analyze → Plan → Execute → Verify</a:t>
            </a:r>
          </a:p>
        </p:txBody>
      </p:sp>
      <p:pic>
        <p:nvPicPr>
          <p:cNvPr id="4" name="Picture 3" descr="d2-agentic-loop-v2.png"/>
          <p:cNvPicPr>
            <a:picLocks noChangeAspect="1"/>
          </p:cNvPicPr>
          <p:nvPr/>
        </p:nvPicPr>
        <p:blipFill>
          <a:blip r:embed="rId3"/>
          <a:srcRect l="19653" t="16667" r="26129"/>
          <a:stretch>
            <a:fillRect/>
          </a:stretch>
        </p:blipFill>
        <p:spPr>
          <a:xfrm>
            <a:off x="3864878" y="2040466"/>
            <a:ext cx="4461933" cy="4572000"/>
          </a:xfrm>
          <a:prstGeom prst="rect">
            <a:avLst/>
          </a:prstGeom>
          <a:ln>
            <a:noFill/>
          </a:ln>
          <a:effectLst>
            <a:softEdge rad="112500"/>
          </a:effectLst>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1: Read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Reads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CLAUDE.md and project configuration</a:t>
            </a:r>
          </a:p>
          <a:p>
            <a:pPr>
              <a:spcAft>
                <a:spcPts val="1200"/>
              </a:spcAft>
              <a:defRPr sz="1800">
                <a:solidFill>
                  <a:srgbClr val="FFFFFF"/>
                </a:solidFill>
              </a:defRPr>
            </a:pPr>
            <a:r>
              <a:t>  Files you @ mention explicitly</a:t>
            </a:r>
          </a:p>
          <a:p>
            <a:pPr>
              <a:spcAft>
                <a:spcPts val="1200"/>
              </a:spcAft>
              <a:defRPr sz="1800">
                <a:solidFill>
                  <a:srgbClr val="FFFFFF"/>
                </a:solidFill>
              </a:defRPr>
            </a:pPr>
            <a:r>
              <a:t>  Files discovered via search and grep</a:t>
            </a:r>
          </a:p>
          <a:p>
            <a:pPr>
              <a:spcAft>
                <a:spcPts val="1200"/>
              </a:spcAft>
              <a:defRPr sz="1800">
                <a:solidFill>
                  <a:srgbClr val="FFFFFF"/>
                </a:solidFill>
              </a:defRPr>
            </a:pPr>
            <a:r>
              <a:t>  Directory structure and file relationships</a:t>
            </a:r>
          </a:p>
          <a:p>
            <a:pPr>
              <a:spcAft>
                <a:spcPts val="1200"/>
              </a:spcAft>
              <a:defRPr sz="1800">
                <a:solidFill>
                  <a:srgbClr val="FFFFFF"/>
                </a:solidFill>
              </a:defRPr>
            </a:pPr>
            <a:r>
              <a:t>  Git history and recent changes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Why It Matters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Context quality determines output quality</a:t>
            </a:r>
          </a:p>
          <a:p>
            <a:pPr>
              <a:spcAft>
                <a:spcPts val="1200"/>
              </a:spcAft>
              <a:defRPr sz="1800">
                <a:solidFill>
                  <a:srgbClr val="FFFFFF"/>
                </a:solidFill>
              </a:defRPr>
            </a:pPr>
            <a:r>
              <a:t>  More relevant context = fewer iterations</a:t>
            </a:r>
          </a:p>
          <a:p>
            <a:pPr>
              <a:spcAft>
                <a:spcPts val="1200"/>
              </a:spcAft>
              <a:defRPr sz="1800">
                <a:solidFill>
                  <a:srgbClr val="FFFFFF"/>
                </a:solidFill>
              </a:defRPr>
            </a:pPr>
            <a:r>
              <a:t>  Claude reads strategically — not every file</a:t>
            </a:r>
          </a:p>
          <a:p>
            <a:pPr>
              <a:spcAft>
                <a:spcPts val="1200"/>
              </a:spcAft>
              <a:defRPr sz="1800">
                <a:solidFill>
                  <a:srgbClr val="FFFFFF"/>
                </a:solidFill>
              </a:defRPr>
            </a:pPr>
            <a:r>
              <a:t>  You control what loads via @ mentions</a:t>
            </a:r>
          </a:p>
          <a:p>
            <a:pPr>
              <a:spcAft>
                <a:spcPts val="1200"/>
              </a:spcAft>
              <a:defRPr sz="1800">
                <a:solidFill>
                  <a:srgbClr val="FFFFFF"/>
                </a:solidFill>
              </a:defRPr>
            </a:pPr>
            <a:r>
              <a:t>  Large repos: .gitignore prevents overload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2: Analyze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Analysis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Maps dependencies between files</a:t>
            </a:r>
          </a:p>
          <a:p>
            <a:pPr>
              <a:spcAft>
                <a:spcPts val="1200"/>
              </a:spcAft>
              <a:defRPr sz="1800">
                <a:solidFill>
                  <a:srgbClr val="FFFFFF"/>
                </a:solidFill>
              </a:defRPr>
            </a:pPr>
            <a:r>
              <a:t>  Identifies patterns and conventions</a:t>
            </a:r>
          </a:p>
          <a:p>
            <a:pPr>
              <a:spcAft>
                <a:spcPts val="1200"/>
              </a:spcAft>
              <a:defRPr sz="1800">
                <a:solidFill>
                  <a:srgbClr val="FFFFFF"/>
                </a:solidFill>
              </a:defRPr>
            </a:pPr>
            <a:r>
              <a:t>  Understands your coding style from examples</a:t>
            </a:r>
          </a:p>
          <a:p>
            <a:pPr>
              <a:spcAft>
                <a:spcPts val="1200"/>
              </a:spcAft>
              <a:defRPr sz="1800">
                <a:solidFill>
                  <a:srgbClr val="FFFFFF"/>
                </a:solidFill>
              </a:defRPr>
            </a:pPr>
            <a:r>
              <a:t>  Detects potential issues before acting</a:t>
            </a:r>
          </a:p>
          <a:p>
            <a:pPr>
              <a:spcAft>
                <a:spcPts val="1200"/>
              </a:spcAft>
              <a:defRPr sz="1800">
                <a:solidFill>
                  <a:srgbClr val="FFFFFF"/>
                </a:solidFill>
              </a:defRPr>
            </a:pPr>
            <a:r>
              <a:t>  Builds mental model of the codebase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What This Enables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Changes that respect existing patterns</a:t>
            </a:r>
          </a:p>
          <a:p>
            <a:pPr>
              <a:spcAft>
                <a:spcPts val="1200"/>
              </a:spcAft>
              <a:defRPr sz="1800">
                <a:solidFill>
                  <a:srgbClr val="FFFFFF"/>
                </a:solidFill>
              </a:defRPr>
            </a:pPr>
            <a:r>
              <a:t>  Edits that don't break dependencies</a:t>
            </a:r>
          </a:p>
          <a:p>
            <a:pPr>
              <a:spcAft>
                <a:spcPts val="1200"/>
              </a:spcAft>
              <a:defRPr sz="1800">
                <a:solidFill>
                  <a:srgbClr val="FFFFFF"/>
                </a:solidFill>
              </a:defRPr>
            </a:pPr>
            <a:r>
              <a:t>  Suggestions that match your team's style</a:t>
            </a:r>
          </a:p>
          <a:p>
            <a:pPr>
              <a:spcAft>
                <a:spcPts val="1200"/>
              </a:spcAft>
              <a:defRPr sz="1800">
                <a:solidFill>
                  <a:srgbClr val="FFFFFF"/>
                </a:solidFill>
              </a:defRPr>
            </a:pPr>
            <a:r>
              <a:t>  Proactive error prevention</a:t>
            </a:r>
          </a:p>
          <a:p>
            <a:pPr>
              <a:spcAft>
                <a:spcPts val="1200"/>
              </a:spcAft>
              <a:defRPr sz="1800">
                <a:solidFill>
                  <a:srgbClr val="FFFFFF"/>
                </a:solidFill>
              </a:defRPr>
            </a:pPr>
            <a:r>
              <a:t>  Context-aware code generation</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3: Plan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Planning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Breaks complex tasks into steps</a:t>
            </a:r>
          </a:p>
          <a:p>
            <a:pPr>
              <a:spcAft>
                <a:spcPts val="1200"/>
              </a:spcAft>
              <a:defRPr sz="1800">
                <a:solidFill>
                  <a:srgbClr val="FFFFFF"/>
                </a:solidFill>
              </a:defRPr>
            </a:pPr>
            <a:r>
              <a:t>  Identifies which files need changes</a:t>
            </a:r>
          </a:p>
          <a:p>
            <a:pPr>
              <a:spcAft>
                <a:spcPts val="1200"/>
              </a:spcAft>
              <a:defRPr sz="1800">
                <a:solidFill>
                  <a:srgbClr val="FFFFFF"/>
                </a:solidFill>
              </a:defRPr>
            </a:pPr>
            <a:r>
              <a:t>  Determines order of operations</a:t>
            </a:r>
          </a:p>
          <a:p>
            <a:pPr>
              <a:spcAft>
                <a:spcPts val="1200"/>
              </a:spcAft>
              <a:defRPr sz="1800">
                <a:solidFill>
                  <a:srgbClr val="FFFFFF"/>
                </a:solidFill>
              </a:defRPr>
            </a:pPr>
            <a:r>
              <a:t>  Considers edge cases and impacts</a:t>
            </a:r>
          </a:p>
          <a:p>
            <a:pPr>
              <a:spcAft>
                <a:spcPts val="1200"/>
              </a:spcAft>
              <a:defRPr sz="1800">
                <a:solidFill>
                  <a:srgbClr val="FFFFFF"/>
                </a:solidFill>
              </a:defRPr>
            </a:pPr>
            <a:r>
              <a:t>  Creates execution strategy</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 Can See This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Extended Thinking shows reasoning (Tab key)</a:t>
            </a:r>
          </a:p>
          <a:p>
            <a:pPr>
              <a:spcAft>
                <a:spcPts val="1200"/>
              </a:spcAft>
              <a:defRPr sz="1800">
                <a:solidFill>
                  <a:srgbClr val="FFFFFF"/>
                </a:solidFill>
              </a:defRPr>
            </a:pPr>
            <a:r>
              <a:t>  Plan Mode pauses for approval (Shift+Tab)</a:t>
            </a:r>
          </a:p>
          <a:p>
            <a:pPr>
              <a:spcAft>
                <a:spcPts val="1200"/>
              </a:spcAft>
              <a:defRPr sz="1800">
                <a:solidFill>
                  <a:srgbClr val="FFFFFF"/>
                </a:solidFill>
              </a:defRPr>
            </a:pPr>
            <a:r>
              <a:t>  Review the plan before any code changes</a:t>
            </a:r>
          </a:p>
          <a:p>
            <a:pPr>
              <a:spcAft>
                <a:spcPts val="1200"/>
              </a:spcAft>
              <a:defRPr sz="1800">
                <a:solidFill>
                  <a:srgbClr val="FFFFFF"/>
                </a:solidFill>
              </a:defRPr>
            </a:pPr>
            <a:r>
              <a:t>  Edit the plan to redirect approach</a:t>
            </a:r>
          </a:p>
          <a:p>
            <a:pPr>
              <a:spcAft>
                <a:spcPts val="1200"/>
              </a:spcAft>
              <a:defRPr sz="1800">
                <a:solidFill>
                  <a:srgbClr val="FFFFFF"/>
                </a:solidFill>
              </a:defRPr>
            </a:pPr>
            <a:r>
              <a:t>  Best for complex multi-file changes</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4: Execute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Execution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Creates and edits files directly</a:t>
            </a:r>
          </a:p>
          <a:p>
            <a:pPr>
              <a:spcAft>
                <a:spcPts val="1200"/>
              </a:spcAft>
              <a:defRPr sz="1800">
                <a:solidFill>
                  <a:srgbClr val="FFFFFF"/>
                </a:solidFill>
              </a:defRPr>
            </a:pPr>
            <a:r>
              <a:t>  Runs shell commands (npm, git, tests)</a:t>
            </a:r>
          </a:p>
          <a:p>
            <a:pPr>
              <a:spcAft>
                <a:spcPts val="1200"/>
              </a:spcAft>
              <a:defRPr sz="1800">
                <a:solidFill>
                  <a:srgbClr val="FFFFFF"/>
                </a:solidFill>
              </a:defRPr>
            </a:pPr>
            <a:r>
              <a:t>  Installs dependencies as needed</a:t>
            </a:r>
          </a:p>
          <a:p>
            <a:pPr>
              <a:spcAft>
                <a:spcPts val="1200"/>
              </a:spcAft>
              <a:defRPr sz="1800">
                <a:solidFill>
                  <a:srgbClr val="FFFFFF"/>
                </a:solidFill>
              </a:defRPr>
            </a:pPr>
            <a:r>
              <a:t>  Makes changes across multiple files</a:t>
            </a:r>
          </a:p>
          <a:p>
            <a:pPr>
              <a:spcAft>
                <a:spcPts val="1200"/>
              </a:spcAft>
              <a:defRPr sz="1800">
                <a:solidFill>
                  <a:srgbClr val="FFFFFF"/>
                </a:solidFill>
              </a:defRPr>
            </a:pPr>
            <a:r>
              <a:t>  Follows the plan from Stage 3</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Permission Model</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Asks before running destructive commands</a:t>
            </a:r>
          </a:p>
          <a:p>
            <a:pPr>
              <a:spcAft>
                <a:spcPts val="1200"/>
              </a:spcAft>
              <a:defRPr sz="1800">
                <a:solidFill>
                  <a:srgbClr val="FFFFFF"/>
                </a:solidFill>
              </a:defRPr>
            </a:pPr>
            <a:r>
              <a:t>  Allowlist for trusted operations</a:t>
            </a:r>
          </a:p>
          <a:p>
            <a:pPr>
              <a:spcAft>
                <a:spcPts val="1200"/>
              </a:spcAft>
              <a:defRPr sz="1800">
                <a:solidFill>
                  <a:srgbClr val="FFFFFF"/>
                </a:solidFill>
              </a:defRPr>
            </a:pPr>
            <a:r>
              <a:t>  You approve each tool use (or auto-accept)</a:t>
            </a:r>
          </a:p>
          <a:p>
            <a:pPr>
              <a:spcAft>
                <a:spcPts val="1200"/>
              </a:spcAft>
              <a:defRPr sz="1800">
                <a:solidFill>
                  <a:srgbClr val="FFFFFF"/>
                </a:solidFill>
              </a:defRPr>
            </a:pPr>
            <a:r>
              <a:t>  Shift+Tab toggles auto-accept mode</a:t>
            </a:r>
          </a:p>
          <a:p>
            <a:pPr>
              <a:spcAft>
                <a:spcPts val="1200"/>
              </a:spcAft>
              <a:defRPr sz="1800">
                <a:solidFill>
                  <a:srgbClr val="FFFFFF"/>
                </a:solidFill>
              </a:defRPr>
            </a:pPr>
            <a:r>
              <a:t>  Never modifies files outside your project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Stage 5: Verify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Verification Phase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Runs tests to confirm changes work</a:t>
            </a:r>
          </a:p>
          <a:p>
            <a:pPr>
              <a:spcAft>
                <a:spcPts val="1200"/>
              </a:spcAft>
              <a:defRPr sz="1800">
                <a:solidFill>
                  <a:srgbClr val="FFFFFF"/>
                </a:solidFill>
              </a:defRPr>
            </a:pPr>
            <a:r>
              <a:t>  Checks for syntax and type errors</a:t>
            </a:r>
          </a:p>
          <a:p>
            <a:pPr>
              <a:spcAft>
                <a:spcPts val="1200"/>
              </a:spcAft>
              <a:defRPr sz="1800">
                <a:solidFill>
                  <a:srgbClr val="FFFFFF"/>
                </a:solidFill>
              </a:defRPr>
            </a:pPr>
            <a:r>
              <a:t>  Validates against your CLAUDE.md rules</a:t>
            </a:r>
          </a:p>
          <a:p>
            <a:pPr>
              <a:spcAft>
                <a:spcPts val="1200"/>
              </a:spcAft>
              <a:defRPr sz="1800">
                <a:solidFill>
                  <a:srgbClr val="FFFFFF"/>
                </a:solidFill>
              </a:defRPr>
            </a:pPr>
            <a:r>
              <a:t>  Reports what changed and why</a:t>
            </a:r>
          </a:p>
          <a:p>
            <a:pPr>
              <a:spcAft>
                <a:spcPts val="1200"/>
              </a:spcAft>
              <a:defRPr sz="1800">
                <a:solidFill>
                  <a:srgbClr val="FFFFFF"/>
                </a:solidFill>
              </a:defRPr>
            </a:pPr>
            <a:r>
              <a:t>  Suggests follow-up improvements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Your Role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Review the output — don't blindly accept</a:t>
            </a:r>
          </a:p>
          <a:p>
            <a:pPr>
              <a:spcAft>
                <a:spcPts val="1200"/>
              </a:spcAft>
              <a:defRPr sz="1800">
                <a:solidFill>
                  <a:srgbClr val="FFFFFF"/>
                </a:solidFill>
              </a:defRPr>
            </a:pPr>
            <a:r>
              <a:t>  Run /review for code quality check</a:t>
            </a:r>
          </a:p>
          <a:p>
            <a:pPr>
              <a:spcAft>
                <a:spcPts val="1200"/>
              </a:spcAft>
              <a:defRPr sz="1800">
                <a:solidFill>
                  <a:srgbClr val="FFFFFF"/>
                </a:solidFill>
              </a:defRPr>
            </a:pPr>
            <a:r>
              <a:t>  Run /test for test coverage</a:t>
            </a:r>
          </a:p>
          <a:p>
            <a:pPr>
              <a:spcAft>
                <a:spcPts val="1200"/>
              </a:spcAft>
              <a:defRPr sz="1800">
                <a:solidFill>
                  <a:srgbClr val="FFFFFF"/>
                </a:solidFill>
              </a:defRPr>
            </a:pPr>
            <a:r>
              <a:t>  Check git diff before committing</a:t>
            </a:r>
          </a:p>
          <a:p>
            <a:pPr>
              <a:spcAft>
                <a:spcPts val="1200"/>
              </a:spcAft>
              <a:defRPr sz="1800">
                <a:solidFill>
                  <a:srgbClr val="FFFFFF"/>
                </a:solidFill>
              </a:defRPr>
            </a:pPr>
            <a:r>
              <a:t>  Iterate: 'make it better' is a valid prompt</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Small, Frequent, Actionable Output</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Small</a:t>
            </a:r>
          </a:p>
          <a:p>
            <a:pPr algn="ctr">
              <a:spcBef>
                <a:spcPts val="800"/>
              </a:spcBef>
              <a:defRPr sz="1300">
                <a:solidFill>
                  <a:srgbClr val="8B95A5"/>
                </a:solidFill>
              </a:defRPr>
            </a:pPr>
            <a:r>
              <a:t>One task per session.</a:t>
            </a:r>
            <a:br/>
            <a:r>
              <a:t>Don't ask Claude to 'refactor the whole app.'</a:t>
            </a:r>
            <a:br/>
            <a:r>
              <a:t>Ask it to 'refactor the auth middleware to use JWT v3.'</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Frequent</a:t>
            </a:r>
          </a:p>
          <a:p>
            <a:pPr algn="ctr">
              <a:spcBef>
                <a:spcPts val="800"/>
              </a:spcBef>
              <a:defRPr sz="1300">
                <a:solidFill>
                  <a:srgbClr val="8B95A5"/>
                </a:solidFill>
              </a:defRPr>
            </a:pPr>
            <a:r>
              <a:t>Commit after each change.</a:t>
            </a:r>
            <a:br/>
            <a:r>
              <a:t>Use /clear between tasks.</a:t>
            </a:r>
            <a:br/>
            <a:r>
              <a:t>Keep context fresh and focused.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Actionable</a:t>
            </a:r>
          </a:p>
          <a:p>
            <a:pPr algn="ctr">
              <a:spcBef>
                <a:spcPts val="800"/>
              </a:spcBef>
              <a:defRPr sz="1300">
                <a:solidFill>
                  <a:srgbClr val="8B95A5"/>
                </a:solidFill>
              </a:defRPr>
            </a:pPr>
            <a:r>
              <a:t>Every prompt should produce a testable result.</a:t>
            </a:r>
            <a:br/>
            <a:r>
              <a:t>Not 'explain microservices' but 'extract the user service into its own module with tests.'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The Complete Agentic Loop</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365760"/>
            <a:ext cx="10515600" cy="731520"/>
          </a:xfrm>
          <a:prstGeom prst="rect">
            <a:avLst/>
          </a:prstGeom>
          <a:noFill/>
        </p:spPr>
        <p:txBody>
          <a:bodyPr wrap="square">
            <a:spAutoFit/>
          </a:bodyPr>
          <a:lstStyle/>
          <a:p>
            <a:pPr>
              <a:defRPr sz="3200" b="1">
                <a:solidFill>
                  <a:srgbClr val="FFFFFF"/>
                </a:solidFill>
              </a:defRPr>
            </a:pPr>
            <a:r>
              <a:t>What Happens When You Press Enter</a:t>
            </a:r>
          </a:p>
        </p:txBody>
      </p:sp>
      <p:sp>
        <p:nvSpPr>
          <p:cNvPr id="3" name="TextBox 2"/>
          <p:cNvSpPr txBox="1"/>
          <p:nvPr/>
        </p:nvSpPr>
        <p:spPr>
          <a:xfrm>
            <a:off x="731520" y="1005840"/>
            <a:ext cx="10515600" cy="457200"/>
          </a:xfrm>
          <a:prstGeom prst="rect">
            <a:avLst/>
          </a:prstGeom>
          <a:noFill/>
        </p:spPr>
        <p:txBody>
          <a:bodyPr wrap="none">
            <a:spAutoFit/>
          </a:bodyPr>
          <a:lstStyle/>
          <a:p>
            <a:pPr>
              <a:defRPr sz="1600">
                <a:solidFill>
                  <a:srgbClr val="8A8F98"/>
                </a:solidFill>
              </a:defRPr>
            </a:pPr>
            <a:r>
              <a:t>The complete flow — from your intent to working code</a:t>
            </a:r>
          </a:p>
        </p:txBody>
      </p:sp>
      <p:sp>
        <p:nvSpPr>
          <p:cNvPr id="4" name="TextBox 3"/>
          <p:cNvSpPr txBox="1"/>
          <p:nvPr/>
        </p:nvSpPr>
        <p:spPr>
          <a:xfrm>
            <a:off x="2286000" y="1857588"/>
            <a:ext cx="2743200" cy="365760"/>
          </a:xfrm>
          <a:prstGeom prst="rect">
            <a:avLst/>
          </a:prstGeom>
          <a:noFill/>
        </p:spPr>
        <p:txBody>
          <a:bodyPr wrap="none">
            <a:spAutoFit/>
          </a:bodyPr>
          <a:lstStyle/>
          <a:p>
            <a:pPr algn="l">
              <a:defRPr sz="2000" b="1">
                <a:solidFill>
                  <a:srgbClr val="00D4AA"/>
                </a:solidFill>
              </a:defRPr>
            </a:pPr>
            <a:r>
              <a:t>YOUR INTENT</a:t>
            </a:r>
          </a:p>
        </p:txBody>
      </p:sp>
      <p:sp>
        <p:nvSpPr>
          <p:cNvPr id="5" name="TextBox 4"/>
          <p:cNvSpPr txBox="1"/>
          <p:nvPr/>
        </p:nvSpPr>
        <p:spPr>
          <a:xfrm>
            <a:off x="5303520" y="1857588"/>
            <a:ext cx="5029200" cy="365760"/>
          </a:xfrm>
          <a:prstGeom prst="rect">
            <a:avLst/>
          </a:prstGeom>
          <a:noFill/>
        </p:spPr>
        <p:txBody>
          <a:bodyPr wrap="none">
            <a:spAutoFit/>
          </a:bodyPr>
          <a:lstStyle/>
          <a:p>
            <a:pPr>
              <a:defRPr sz="1600">
                <a:solidFill>
                  <a:srgbClr val="FFFFFF"/>
                </a:solidFill>
              </a:defRPr>
            </a:pPr>
            <a:r>
              <a:t>You describe what you want</a:t>
            </a:r>
          </a:p>
        </p:txBody>
      </p:sp>
      <p:sp>
        <p:nvSpPr>
          <p:cNvPr id="6" name="TextBox 5"/>
          <p:cNvSpPr txBox="1"/>
          <p:nvPr/>
        </p:nvSpPr>
        <p:spPr>
          <a:xfrm>
            <a:off x="4114800" y="2269068"/>
            <a:ext cx="914400" cy="274320"/>
          </a:xfrm>
          <a:prstGeom prst="rect">
            <a:avLst/>
          </a:prstGeom>
          <a:noFill/>
        </p:spPr>
        <p:txBody>
          <a:bodyPr wrap="none">
            <a:spAutoFit/>
          </a:bodyPr>
          <a:lstStyle/>
          <a:p>
            <a:pPr algn="l">
              <a:defRPr sz="2000">
                <a:solidFill>
                  <a:srgbClr val="00D4AA"/>
                </a:solidFill>
              </a:defRPr>
            </a:pPr>
            <a:r>
              <a:t>↓</a:t>
            </a:r>
          </a:p>
        </p:txBody>
      </p:sp>
      <p:sp>
        <p:nvSpPr>
          <p:cNvPr id="7" name="TextBox 6"/>
          <p:cNvSpPr txBox="1"/>
          <p:nvPr/>
        </p:nvSpPr>
        <p:spPr>
          <a:xfrm>
            <a:off x="2286000" y="2543388"/>
            <a:ext cx="2743200" cy="365760"/>
          </a:xfrm>
          <a:prstGeom prst="rect">
            <a:avLst/>
          </a:prstGeom>
          <a:noFill/>
        </p:spPr>
        <p:txBody>
          <a:bodyPr wrap="none">
            <a:spAutoFit/>
          </a:bodyPr>
          <a:lstStyle/>
          <a:p>
            <a:pPr algn="l">
              <a:defRPr sz="2000" b="1">
                <a:solidFill>
                  <a:srgbClr val="00D4AA"/>
                </a:solidFill>
              </a:defRPr>
            </a:pPr>
            <a:r>
              <a:t>READ CODEBASE</a:t>
            </a:r>
          </a:p>
        </p:txBody>
      </p:sp>
      <p:sp>
        <p:nvSpPr>
          <p:cNvPr id="8" name="TextBox 7"/>
          <p:cNvSpPr txBox="1"/>
          <p:nvPr/>
        </p:nvSpPr>
        <p:spPr>
          <a:xfrm>
            <a:off x="5303520" y="2543388"/>
            <a:ext cx="5029200" cy="365760"/>
          </a:xfrm>
          <a:prstGeom prst="rect">
            <a:avLst/>
          </a:prstGeom>
          <a:noFill/>
        </p:spPr>
        <p:txBody>
          <a:bodyPr wrap="none">
            <a:spAutoFit/>
          </a:bodyPr>
          <a:lstStyle/>
          <a:p>
            <a:pPr>
              <a:defRPr sz="1600">
                <a:solidFill>
                  <a:srgbClr val="FFFFFF"/>
                </a:solidFill>
              </a:defRPr>
            </a:pPr>
            <a:r>
              <a:t>CLAUDE.md + relevant files + git history</a:t>
            </a:r>
          </a:p>
        </p:txBody>
      </p:sp>
      <p:sp>
        <p:nvSpPr>
          <p:cNvPr id="9" name="TextBox 8"/>
          <p:cNvSpPr txBox="1"/>
          <p:nvPr/>
        </p:nvSpPr>
        <p:spPr>
          <a:xfrm>
            <a:off x="4114800" y="2954868"/>
            <a:ext cx="914400" cy="274320"/>
          </a:xfrm>
          <a:prstGeom prst="rect">
            <a:avLst/>
          </a:prstGeom>
          <a:noFill/>
        </p:spPr>
        <p:txBody>
          <a:bodyPr wrap="none">
            <a:spAutoFit/>
          </a:bodyPr>
          <a:lstStyle/>
          <a:p>
            <a:pPr algn="l">
              <a:defRPr sz="2000">
                <a:solidFill>
                  <a:srgbClr val="00D4AA"/>
                </a:solidFill>
              </a:defRPr>
            </a:pPr>
            <a:r>
              <a:t>↓</a:t>
            </a:r>
          </a:p>
        </p:txBody>
      </p:sp>
      <p:sp>
        <p:nvSpPr>
          <p:cNvPr id="10" name="TextBox 9"/>
          <p:cNvSpPr txBox="1"/>
          <p:nvPr/>
        </p:nvSpPr>
        <p:spPr>
          <a:xfrm>
            <a:off x="2286000" y="3229188"/>
            <a:ext cx="2743200" cy="365760"/>
          </a:xfrm>
          <a:prstGeom prst="rect">
            <a:avLst/>
          </a:prstGeom>
          <a:noFill/>
        </p:spPr>
        <p:txBody>
          <a:bodyPr wrap="none">
            <a:spAutoFit/>
          </a:bodyPr>
          <a:lstStyle/>
          <a:p>
            <a:pPr algn="l">
              <a:defRPr sz="2000" b="1">
                <a:solidFill>
                  <a:srgbClr val="00D4AA"/>
                </a:solidFill>
              </a:defRPr>
            </a:pPr>
            <a:r>
              <a:t>PLAN CHANGES</a:t>
            </a:r>
          </a:p>
        </p:txBody>
      </p:sp>
      <p:sp>
        <p:nvSpPr>
          <p:cNvPr id="11" name="TextBox 10"/>
          <p:cNvSpPr txBox="1"/>
          <p:nvPr/>
        </p:nvSpPr>
        <p:spPr>
          <a:xfrm>
            <a:off x="5303520" y="3229188"/>
            <a:ext cx="5029200" cy="365760"/>
          </a:xfrm>
          <a:prstGeom prst="rect">
            <a:avLst/>
          </a:prstGeom>
          <a:noFill/>
        </p:spPr>
        <p:txBody>
          <a:bodyPr wrap="none">
            <a:spAutoFit/>
          </a:bodyPr>
          <a:lstStyle/>
          <a:p>
            <a:pPr>
              <a:defRPr sz="1600">
                <a:solidFill>
                  <a:srgbClr val="FFFFFF"/>
                </a:solidFill>
              </a:defRPr>
            </a:pPr>
            <a:r>
              <a:t>Design approach, choose files to modify</a:t>
            </a:r>
          </a:p>
        </p:txBody>
      </p:sp>
      <p:sp>
        <p:nvSpPr>
          <p:cNvPr id="12" name="TextBox 11"/>
          <p:cNvSpPr txBox="1"/>
          <p:nvPr/>
        </p:nvSpPr>
        <p:spPr>
          <a:xfrm>
            <a:off x="4114800" y="3640668"/>
            <a:ext cx="914400" cy="274320"/>
          </a:xfrm>
          <a:prstGeom prst="rect">
            <a:avLst/>
          </a:prstGeom>
          <a:noFill/>
        </p:spPr>
        <p:txBody>
          <a:bodyPr wrap="none">
            <a:spAutoFit/>
          </a:bodyPr>
          <a:lstStyle/>
          <a:p>
            <a:pPr algn="l">
              <a:defRPr sz="2000">
                <a:solidFill>
                  <a:srgbClr val="00D4AA"/>
                </a:solidFill>
              </a:defRPr>
            </a:pPr>
            <a:r>
              <a:t>↓</a:t>
            </a:r>
          </a:p>
        </p:txBody>
      </p:sp>
      <p:sp>
        <p:nvSpPr>
          <p:cNvPr id="13" name="TextBox 12"/>
          <p:cNvSpPr txBox="1"/>
          <p:nvPr/>
        </p:nvSpPr>
        <p:spPr>
          <a:xfrm>
            <a:off x="2286000" y="3914988"/>
            <a:ext cx="2743200" cy="365760"/>
          </a:xfrm>
          <a:prstGeom prst="rect">
            <a:avLst/>
          </a:prstGeom>
          <a:noFill/>
        </p:spPr>
        <p:txBody>
          <a:bodyPr wrap="none">
            <a:spAutoFit/>
          </a:bodyPr>
          <a:lstStyle/>
          <a:p>
            <a:pPr algn="l">
              <a:defRPr sz="2000" b="1">
                <a:solidFill>
                  <a:srgbClr val="00D4AA"/>
                </a:solidFill>
              </a:defRPr>
            </a:pPr>
            <a:r>
              <a:t>EDIT FILES</a:t>
            </a:r>
          </a:p>
        </p:txBody>
      </p:sp>
      <p:sp>
        <p:nvSpPr>
          <p:cNvPr id="14" name="TextBox 13"/>
          <p:cNvSpPr txBox="1"/>
          <p:nvPr/>
        </p:nvSpPr>
        <p:spPr>
          <a:xfrm>
            <a:off x="5303520" y="3914988"/>
            <a:ext cx="5029200" cy="365760"/>
          </a:xfrm>
          <a:prstGeom prst="rect">
            <a:avLst/>
          </a:prstGeom>
          <a:noFill/>
        </p:spPr>
        <p:txBody>
          <a:bodyPr wrap="none">
            <a:spAutoFit/>
          </a:bodyPr>
          <a:lstStyle/>
          <a:p>
            <a:pPr>
              <a:defRPr sz="1600">
                <a:solidFill>
                  <a:srgbClr val="FFFFFF"/>
                </a:solidFill>
              </a:defRPr>
            </a:pPr>
            <a:r>
              <a:t>Write code, create files, update imports</a:t>
            </a:r>
          </a:p>
        </p:txBody>
      </p:sp>
      <p:sp>
        <p:nvSpPr>
          <p:cNvPr id="15" name="TextBox 14"/>
          <p:cNvSpPr txBox="1"/>
          <p:nvPr/>
        </p:nvSpPr>
        <p:spPr>
          <a:xfrm>
            <a:off x="4114800" y="4326468"/>
            <a:ext cx="914400" cy="274320"/>
          </a:xfrm>
          <a:prstGeom prst="rect">
            <a:avLst/>
          </a:prstGeom>
          <a:noFill/>
        </p:spPr>
        <p:txBody>
          <a:bodyPr wrap="none">
            <a:spAutoFit/>
          </a:bodyPr>
          <a:lstStyle/>
          <a:p>
            <a:pPr algn="l">
              <a:defRPr sz="2000">
                <a:solidFill>
                  <a:srgbClr val="00D4AA"/>
                </a:solidFill>
              </a:defRPr>
            </a:pPr>
            <a:r>
              <a:t>↓</a:t>
            </a:r>
          </a:p>
        </p:txBody>
      </p:sp>
      <p:sp>
        <p:nvSpPr>
          <p:cNvPr id="16" name="TextBox 15"/>
          <p:cNvSpPr txBox="1"/>
          <p:nvPr/>
        </p:nvSpPr>
        <p:spPr>
          <a:xfrm>
            <a:off x="2286000" y="4600788"/>
            <a:ext cx="2743200" cy="365760"/>
          </a:xfrm>
          <a:prstGeom prst="rect">
            <a:avLst/>
          </a:prstGeom>
          <a:noFill/>
        </p:spPr>
        <p:txBody>
          <a:bodyPr wrap="none">
            <a:spAutoFit/>
          </a:bodyPr>
          <a:lstStyle/>
          <a:p>
            <a:pPr algn="l">
              <a:defRPr sz="2000" b="1">
                <a:solidFill>
                  <a:srgbClr val="00D4AA"/>
                </a:solidFill>
              </a:defRPr>
            </a:pPr>
            <a:r>
              <a:t>RUN &amp; TEST</a:t>
            </a:r>
          </a:p>
        </p:txBody>
      </p:sp>
      <p:sp>
        <p:nvSpPr>
          <p:cNvPr id="17" name="TextBox 16"/>
          <p:cNvSpPr txBox="1"/>
          <p:nvPr/>
        </p:nvSpPr>
        <p:spPr>
          <a:xfrm>
            <a:off x="5303520" y="4600788"/>
            <a:ext cx="5029200" cy="365760"/>
          </a:xfrm>
          <a:prstGeom prst="rect">
            <a:avLst/>
          </a:prstGeom>
          <a:noFill/>
        </p:spPr>
        <p:txBody>
          <a:bodyPr wrap="none">
            <a:spAutoFit/>
          </a:bodyPr>
          <a:lstStyle/>
          <a:p>
            <a:pPr>
              <a:defRPr sz="1600">
                <a:solidFill>
                  <a:srgbClr val="FFFFFF"/>
                </a:solidFill>
              </a:defRPr>
            </a:pPr>
            <a:r>
              <a:t>Execute commands, check output</a:t>
            </a:r>
          </a:p>
        </p:txBody>
      </p:sp>
      <p:sp>
        <p:nvSpPr>
          <p:cNvPr id="18" name="TextBox 17"/>
          <p:cNvSpPr txBox="1"/>
          <p:nvPr/>
        </p:nvSpPr>
        <p:spPr>
          <a:xfrm>
            <a:off x="4114800" y="5012268"/>
            <a:ext cx="914400" cy="274320"/>
          </a:xfrm>
          <a:prstGeom prst="rect">
            <a:avLst/>
          </a:prstGeom>
          <a:noFill/>
        </p:spPr>
        <p:txBody>
          <a:bodyPr wrap="none">
            <a:spAutoFit/>
          </a:bodyPr>
          <a:lstStyle/>
          <a:p>
            <a:pPr algn="l">
              <a:defRPr sz="2000">
                <a:solidFill>
                  <a:srgbClr val="00D4AA"/>
                </a:solidFill>
              </a:defRPr>
            </a:pPr>
            <a:r>
              <a:t>↓</a:t>
            </a:r>
          </a:p>
        </p:txBody>
      </p:sp>
      <p:sp>
        <p:nvSpPr>
          <p:cNvPr id="19" name="TextBox 18"/>
          <p:cNvSpPr txBox="1"/>
          <p:nvPr/>
        </p:nvSpPr>
        <p:spPr>
          <a:xfrm>
            <a:off x="2286000" y="5286588"/>
            <a:ext cx="2743200" cy="365760"/>
          </a:xfrm>
          <a:prstGeom prst="rect">
            <a:avLst/>
          </a:prstGeom>
          <a:noFill/>
        </p:spPr>
        <p:txBody>
          <a:bodyPr wrap="none">
            <a:spAutoFit/>
          </a:bodyPr>
          <a:lstStyle/>
          <a:p>
            <a:pPr algn="l">
              <a:defRPr sz="2000" b="1">
                <a:solidFill>
                  <a:srgbClr val="00D4AA"/>
                </a:solidFill>
              </a:defRPr>
            </a:pPr>
            <a:r>
              <a:t>FIX FAILURES</a:t>
            </a:r>
          </a:p>
        </p:txBody>
      </p:sp>
      <p:sp>
        <p:nvSpPr>
          <p:cNvPr id="20" name="TextBox 19"/>
          <p:cNvSpPr txBox="1"/>
          <p:nvPr/>
        </p:nvSpPr>
        <p:spPr>
          <a:xfrm>
            <a:off x="5303520" y="5286588"/>
            <a:ext cx="5029200" cy="365760"/>
          </a:xfrm>
          <a:prstGeom prst="rect">
            <a:avLst/>
          </a:prstGeom>
          <a:noFill/>
        </p:spPr>
        <p:txBody>
          <a:bodyPr wrap="none">
            <a:spAutoFit/>
          </a:bodyPr>
          <a:lstStyle/>
          <a:p>
            <a:pPr>
              <a:defRPr sz="1600">
                <a:solidFill>
                  <a:srgbClr val="FFFFFF"/>
                </a:solidFill>
              </a:defRPr>
            </a:pPr>
            <a:r>
              <a:t>Read errors, diagnose, retry → self-healing loop</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the Loop Breaks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Symptoms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Claude makes the same mistake repeatedly</a:t>
            </a:r>
          </a:p>
          <a:p>
            <a:pPr>
              <a:spcAft>
                <a:spcPts val="1200"/>
              </a:spcAft>
              <a:defRPr sz="1800">
                <a:solidFill>
                  <a:srgbClr val="FFFFFF"/>
                </a:solidFill>
              </a:defRPr>
            </a:pPr>
            <a:r>
              <a:t>  Output quality drops mid-conversation</a:t>
            </a:r>
          </a:p>
          <a:p>
            <a:pPr>
              <a:spcAft>
                <a:spcPts val="1200"/>
              </a:spcAft>
              <a:defRPr sz="1800">
                <a:solidFill>
                  <a:srgbClr val="FFFFFF"/>
                </a:solidFill>
              </a:defRPr>
            </a:pPr>
            <a:r>
              <a:t>  Claude 'forgets' earlier instructions</a:t>
            </a:r>
          </a:p>
          <a:p>
            <a:pPr>
              <a:spcAft>
                <a:spcPts val="1200"/>
              </a:spcAft>
              <a:defRPr sz="1800">
                <a:solidFill>
                  <a:srgbClr val="FFFFFF"/>
                </a:solidFill>
              </a:defRPr>
            </a:pPr>
            <a:r>
              <a:t>  Responses become generic or vague</a:t>
            </a:r>
          </a:p>
          <a:p>
            <a:pPr>
              <a:spcAft>
                <a:spcPts val="1200"/>
              </a:spcAft>
              <a:defRPr sz="1800">
                <a:solidFill>
                  <a:srgbClr val="FFFFFF"/>
                </a:solidFill>
              </a:defRPr>
            </a:pPr>
            <a:r>
              <a:t>  Edits start conflicting with each other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Fixes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Run /clear and restart the task</a:t>
            </a:r>
          </a:p>
          <a:p>
            <a:pPr>
              <a:spcAft>
                <a:spcPts val="1200"/>
              </a:spcAft>
              <a:defRPr sz="1800">
                <a:solidFill>
                  <a:srgbClr val="FFFFFF"/>
                </a:solidFill>
              </a:defRPr>
            </a:pPr>
            <a:r>
              <a:t>  Break the task into smaller pieces</a:t>
            </a:r>
          </a:p>
          <a:p>
            <a:pPr>
              <a:spcAft>
                <a:spcPts val="1200"/>
              </a:spcAft>
              <a:defRPr sz="1800">
                <a:solidFill>
                  <a:srgbClr val="FFFFFF"/>
                </a:solidFill>
              </a:defRPr>
            </a:pPr>
            <a:r>
              <a:t>  Add the mistake to CLAUDE.md as a rule</a:t>
            </a:r>
          </a:p>
          <a:p>
            <a:pPr>
              <a:spcAft>
                <a:spcPts val="1200"/>
              </a:spcAft>
              <a:defRPr sz="1800">
                <a:solidFill>
                  <a:srgbClr val="FFFFFF"/>
                </a:solidFill>
              </a:defRPr>
            </a:pPr>
            <a:r>
              <a:t>  Use /compact to summarize and continue</a:t>
            </a:r>
          </a:p>
          <a:p>
            <a:pPr>
              <a:spcAft>
                <a:spcPts val="1200"/>
              </a:spcAft>
              <a:defRPr sz="1800">
                <a:solidFill>
                  <a:srgbClr val="FFFFFF"/>
                </a:solidFill>
              </a:defRPr>
            </a:pPr>
            <a:r>
              <a:t>  Switch to Plan Mode for complex changes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42274" y="429768"/>
            <a:ext cx="1012842" cy="307777"/>
          </a:xfrm>
          <a:prstGeom prst="rect">
            <a:avLst/>
          </a:prstGeom>
          <a:noFill/>
        </p:spPr>
        <p:txBody>
          <a:bodyPr wrap="none">
            <a:spAutoFit/>
          </a:bodyPr>
          <a:lstStyle/>
          <a:p>
            <a:pPr algn="ctr">
              <a:defRPr sz="1400" b="1">
                <a:solidFill>
                  <a:srgbClr val="00D4AA"/>
                </a:solidFill>
              </a:defRPr>
            </a:pPr>
            <a:r>
              <a:rPr lang="en-US"/>
              <a:t>30</a:t>
            </a:r>
            <a:r>
              <a:t>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2A: The Agentic Build Loop</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Memory Architecture of AI</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914400" y="1828800"/>
            <a:ext cx="3200400" cy="822960"/>
          </a:xfrm>
          <a:prstGeom prst="rect">
            <a:avLst/>
          </a:prstGeom>
          <a:noFill/>
        </p:spPr>
        <p:txBody>
          <a:bodyPr wrap="square">
            <a:spAutoFit/>
          </a:bodyPr>
          <a:lstStyle/>
          <a:p>
            <a:pPr algn="r">
              <a:defRPr sz="2200" b="1">
                <a:solidFill>
                  <a:srgbClr val="FF6B6B"/>
                </a:solidFill>
              </a:defRPr>
            </a:pPr>
            <a:r>
              <a:t>Working memory</a:t>
            </a:r>
          </a:p>
        </p:txBody>
      </p:sp>
      <p:sp>
        <p:nvSpPr>
          <p:cNvPr id="5" name="TextBox 4"/>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6" name="TextBox 5"/>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7" name="TextBox 6"/>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8" name="TextBox 7"/>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9" name="TextBox 8"/>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10" name="TextBox 9"/>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11" name="TextBox 10"/>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12" name="TextBox 11"/>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13" name="TextBox 12"/>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14" name="TextBox 13"/>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15" name="TextBox 14"/>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16" name="TextBox 15"/>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
        <p:nvSpPr>
          <p:cNvPr id="17" name="TextBox 16"/>
          <p:cNvSpPr txBox="1"/>
          <p:nvPr/>
        </p:nvSpPr>
        <p:spPr>
          <a:xfrm>
            <a:off x="4297680" y="1828800"/>
            <a:ext cx="731520" cy="822960"/>
          </a:xfrm>
          <a:prstGeom prst="rect">
            <a:avLst/>
          </a:prstGeom>
          <a:noFill/>
        </p:spPr>
        <p:txBody>
          <a:bodyPr wrap="none">
            <a:spAutoFit/>
          </a:bodyPr>
          <a:lstStyle/>
          <a:p>
            <a:pPr algn="ctr">
              <a:defRPr sz="2800">
                <a:solidFill>
                  <a:srgbClr val="8A8F98"/>
                </a:solidFill>
              </a:defRPr>
            </a:pPr>
            <a:r>
              <a:t>→</a:t>
            </a:r>
          </a:p>
        </p:txBody>
      </p:sp>
      <p:sp>
        <p:nvSpPr>
          <p:cNvPr id="18" name="TextBox 17"/>
          <p:cNvSpPr txBox="1"/>
          <p:nvPr/>
        </p:nvSpPr>
        <p:spPr>
          <a:xfrm>
            <a:off x="5212080" y="1828800"/>
            <a:ext cx="3657600" cy="822960"/>
          </a:xfrm>
          <a:prstGeom prst="rect">
            <a:avLst/>
          </a:prstGeom>
          <a:noFill/>
        </p:spPr>
        <p:txBody>
          <a:bodyPr wrap="square">
            <a:spAutoFit/>
          </a:bodyPr>
          <a:lstStyle/>
          <a:p>
            <a:pPr algn="l">
              <a:defRPr sz="2200" b="1">
                <a:solidFill>
                  <a:srgbClr val="00D4AA"/>
                </a:solidFill>
              </a:defRPr>
            </a:pPr>
            <a:r>
              <a:t>Context window</a:t>
            </a:r>
          </a:p>
        </p:txBody>
      </p:sp>
      <p:sp>
        <p:nvSpPr>
          <p:cNvPr id="19" name="TextBox 18"/>
          <p:cNvSpPr txBox="1"/>
          <p:nvPr/>
        </p:nvSpPr>
        <p:spPr>
          <a:xfrm>
            <a:off x="914400" y="2651760"/>
            <a:ext cx="3200400" cy="822960"/>
          </a:xfrm>
          <a:prstGeom prst="rect">
            <a:avLst/>
          </a:prstGeom>
          <a:noFill/>
        </p:spPr>
        <p:txBody>
          <a:bodyPr wrap="square">
            <a:spAutoFit/>
          </a:bodyPr>
          <a:lstStyle/>
          <a:p>
            <a:pPr algn="r">
              <a:defRPr sz="2200" b="1">
                <a:solidFill>
                  <a:srgbClr val="FF6B6B"/>
                </a:solidFill>
              </a:defRPr>
            </a:pPr>
            <a:r>
              <a:t>Short-term memory</a:t>
            </a:r>
          </a:p>
        </p:txBody>
      </p:sp>
      <p:sp>
        <p:nvSpPr>
          <p:cNvPr id="20" name="TextBox 19"/>
          <p:cNvSpPr txBox="1"/>
          <p:nvPr/>
        </p:nvSpPr>
        <p:spPr>
          <a:xfrm>
            <a:off x="4297680" y="2651760"/>
            <a:ext cx="731520" cy="822960"/>
          </a:xfrm>
          <a:prstGeom prst="rect">
            <a:avLst/>
          </a:prstGeom>
          <a:noFill/>
        </p:spPr>
        <p:txBody>
          <a:bodyPr wrap="none">
            <a:spAutoFit/>
          </a:bodyPr>
          <a:lstStyle/>
          <a:p>
            <a:pPr algn="ctr">
              <a:defRPr sz="2800">
                <a:solidFill>
                  <a:srgbClr val="8A8F98"/>
                </a:solidFill>
              </a:defRPr>
            </a:pPr>
            <a:r>
              <a:t>→</a:t>
            </a:r>
          </a:p>
        </p:txBody>
      </p:sp>
      <p:sp>
        <p:nvSpPr>
          <p:cNvPr id="21" name="TextBox 20"/>
          <p:cNvSpPr txBox="1"/>
          <p:nvPr/>
        </p:nvSpPr>
        <p:spPr>
          <a:xfrm>
            <a:off x="5212080" y="2651760"/>
            <a:ext cx="3657600" cy="822960"/>
          </a:xfrm>
          <a:prstGeom prst="rect">
            <a:avLst/>
          </a:prstGeom>
          <a:noFill/>
        </p:spPr>
        <p:txBody>
          <a:bodyPr wrap="square">
            <a:spAutoFit/>
          </a:bodyPr>
          <a:lstStyle/>
          <a:p>
            <a:pPr algn="l">
              <a:defRPr sz="2200" b="1">
                <a:solidFill>
                  <a:srgbClr val="00D4AA"/>
                </a:solidFill>
              </a:defRPr>
            </a:pPr>
            <a:r>
              <a:t>Session history</a:t>
            </a:r>
          </a:p>
        </p:txBody>
      </p:sp>
      <p:sp>
        <p:nvSpPr>
          <p:cNvPr id="22" name="TextBox 21"/>
          <p:cNvSpPr txBox="1"/>
          <p:nvPr/>
        </p:nvSpPr>
        <p:spPr>
          <a:xfrm>
            <a:off x="914400" y="3474720"/>
            <a:ext cx="3200400" cy="822960"/>
          </a:xfrm>
          <a:prstGeom prst="rect">
            <a:avLst/>
          </a:prstGeom>
          <a:noFill/>
        </p:spPr>
        <p:txBody>
          <a:bodyPr wrap="square">
            <a:spAutoFit/>
          </a:bodyPr>
          <a:lstStyle/>
          <a:p>
            <a:pPr algn="r">
              <a:defRPr sz="2200" b="1">
                <a:solidFill>
                  <a:srgbClr val="FF6B6B"/>
                </a:solidFill>
              </a:defRPr>
            </a:pPr>
            <a:r>
              <a:t>Long-term memory</a:t>
            </a:r>
          </a:p>
        </p:txBody>
      </p:sp>
      <p:sp>
        <p:nvSpPr>
          <p:cNvPr id="23" name="TextBox 22"/>
          <p:cNvSpPr txBox="1"/>
          <p:nvPr/>
        </p:nvSpPr>
        <p:spPr>
          <a:xfrm>
            <a:off x="4297680" y="3474720"/>
            <a:ext cx="731520" cy="822960"/>
          </a:xfrm>
          <a:prstGeom prst="rect">
            <a:avLst/>
          </a:prstGeom>
          <a:noFill/>
        </p:spPr>
        <p:txBody>
          <a:bodyPr wrap="none">
            <a:spAutoFit/>
          </a:bodyPr>
          <a:lstStyle/>
          <a:p>
            <a:pPr algn="ctr">
              <a:defRPr sz="2800">
                <a:solidFill>
                  <a:srgbClr val="8A8F98"/>
                </a:solidFill>
              </a:defRPr>
            </a:pPr>
            <a:r>
              <a:t>→</a:t>
            </a:r>
          </a:p>
        </p:txBody>
      </p:sp>
      <p:sp>
        <p:nvSpPr>
          <p:cNvPr id="24" name="TextBox 23"/>
          <p:cNvSpPr txBox="1"/>
          <p:nvPr/>
        </p:nvSpPr>
        <p:spPr>
          <a:xfrm>
            <a:off x="5212080" y="3474720"/>
            <a:ext cx="3657600" cy="822960"/>
          </a:xfrm>
          <a:prstGeom prst="rect">
            <a:avLst/>
          </a:prstGeom>
          <a:noFill/>
        </p:spPr>
        <p:txBody>
          <a:bodyPr wrap="square">
            <a:spAutoFit/>
          </a:bodyPr>
          <a:lstStyle/>
          <a:p>
            <a:pPr algn="l">
              <a:defRPr sz="2200" b="1">
                <a:solidFill>
                  <a:srgbClr val="00D4AA"/>
                </a:solidFill>
              </a:defRPr>
            </a:pPr>
            <a:r>
              <a:t>CLAUDE.md</a:t>
            </a:r>
          </a:p>
        </p:txBody>
      </p:sp>
      <p:sp>
        <p:nvSpPr>
          <p:cNvPr id="25" name="TextBox 24"/>
          <p:cNvSpPr txBox="1"/>
          <p:nvPr/>
        </p:nvSpPr>
        <p:spPr>
          <a:xfrm>
            <a:off x="914400" y="4297680"/>
            <a:ext cx="3200400" cy="822960"/>
          </a:xfrm>
          <a:prstGeom prst="rect">
            <a:avLst/>
          </a:prstGeom>
          <a:noFill/>
        </p:spPr>
        <p:txBody>
          <a:bodyPr wrap="square">
            <a:spAutoFit/>
          </a:bodyPr>
          <a:lstStyle/>
          <a:p>
            <a:pPr algn="r">
              <a:defRPr sz="2200" b="1">
                <a:solidFill>
                  <a:srgbClr val="FF6B6B"/>
                </a:solidFill>
              </a:defRPr>
            </a:pPr>
            <a:r>
              <a:t>Muscle memory</a:t>
            </a:r>
          </a:p>
        </p:txBody>
      </p:sp>
      <p:sp>
        <p:nvSpPr>
          <p:cNvPr id="26" name="TextBox 25"/>
          <p:cNvSpPr txBox="1"/>
          <p:nvPr/>
        </p:nvSpPr>
        <p:spPr>
          <a:xfrm>
            <a:off x="4297680" y="4297680"/>
            <a:ext cx="731520" cy="822960"/>
          </a:xfrm>
          <a:prstGeom prst="rect">
            <a:avLst/>
          </a:prstGeom>
          <a:noFill/>
        </p:spPr>
        <p:txBody>
          <a:bodyPr wrap="none">
            <a:spAutoFit/>
          </a:bodyPr>
          <a:lstStyle/>
          <a:p>
            <a:pPr algn="ctr">
              <a:defRPr sz="2800">
                <a:solidFill>
                  <a:srgbClr val="8A8F98"/>
                </a:solidFill>
              </a:defRPr>
            </a:pPr>
            <a:r>
              <a:t>→</a:t>
            </a:r>
          </a:p>
        </p:txBody>
      </p:sp>
      <p:sp>
        <p:nvSpPr>
          <p:cNvPr id="27" name="TextBox 26"/>
          <p:cNvSpPr txBox="1"/>
          <p:nvPr/>
        </p:nvSpPr>
        <p:spPr>
          <a:xfrm>
            <a:off x="5212080" y="4297680"/>
            <a:ext cx="3657600" cy="822960"/>
          </a:xfrm>
          <a:prstGeom prst="rect">
            <a:avLst/>
          </a:prstGeom>
          <a:noFill/>
        </p:spPr>
        <p:txBody>
          <a:bodyPr wrap="square">
            <a:spAutoFit/>
          </a:bodyPr>
          <a:lstStyle/>
          <a:p>
            <a:pPr algn="l">
              <a:defRPr sz="2200" b="1">
                <a:solidFill>
                  <a:srgbClr val="00D4AA"/>
                </a:solidFill>
              </a:defRPr>
            </a:pPr>
            <a:r>
              <a:t>Skills &amp; commands</a:t>
            </a:r>
          </a:p>
        </p:txBody>
      </p:sp>
      <p:sp>
        <p:nvSpPr>
          <p:cNvPr id="28" name="TextBox 27"/>
          <p:cNvSpPr txBox="1"/>
          <p:nvPr/>
        </p:nvSpPr>
        <p:spPr>
          <a:xfrm>
            <a:off x="1371600" y="5303520"/>
            <a:ext cx="8229600" cy="548640"/>
          </a:xfrm>
          <a:prstGeom prst="rect">
            <a:avLst/>
          </a:prstGeom>
          <a:noFill/>
        </p:spPr>
        <p:txBody>
          <a:bodyPr wrap="square">
            <a:spAutoFit/>
          </a:bodyPr>
          <a:lstStyle/>
          <a:p>
            <a:pPr algn="ctr">
              <a:defRPr sz="1600">
                <a:solidFill>
                  <a:srgbClr val="8A8F98"/>
                </a:solidFill>
              </a:defRPr>
            </a:pPr>
            <a:r>
              <a:t>Everything today teaches you how to manage these four memory layers.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CLAUDE.md Configuration</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Project's AI Playbook</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What is CLAUDE.md?</a:t>
            </a:r>
          </a:p>
        </p:txBody>
      </p:sp>
      <p:sp>
        <p:nvSpPr>
          <p:cNvPr id="3" name="TextBox 2"/>
          <p:cNvSpPr txBox="1"/>
          <p:nvPr/>
        </p:nvSpPr>
        <p:spPr>
          <a:xfrm>
            <a:off x="2501153" y="3840480"/>
            <a:ext cx="8310281" cy="2308324"/>
          </a:xfrm>
          <a:prstGeom prst="rect">
            <a:avLst/>
          </a:prstGeom>
          <a:noFill/>
        </p:spPr>
        <p:txBody>
          <a:bodyPr wrap="square">
            <a:spAutoFit/>
          </a:bodyPr>
          <a:lstStyle/>
          <a:p>
            <a:pPr>
              <a:defRPr sz="2400">
                <a:solidFill>
                  <a:srgbClr val="8B95A5"/>
                </a:solidFill>
              </a:defRPr>
            </a:pPr>
            <a:endParaRPr/>
          </a:p>
          <a:p>
            <a:pPr>
              <a:defRPr sz="2400">
                <a:solidFill>
                  <a:srgbClr val="8B95A5"/>
                </a:solidFill>
              </a:defRPr>
            </a:pPr>
            <a:r>
              <a:rPr lang="en-US"/>
              <a:t>CLAUDE.md is a configuration file that lives in your project root.</a:t>
            </a:r>
          </a:p>
          <a:p>
            <a:pPr>
              <a:defRPr sz="2400">
                <a:solidFill>
                  <a:srgbClr val="8B95A5"/>
                </a:solidFill>
              </a:defRPr>
            </a:pPr>
            <a:endParaRPr lang="en-US"/>
          </a:p>
          <a:p>
            <a:pPr>
              <a:defRPr sz="2400">
                <a:solidFill>
                  <a:srgbClr val="8B95A5"/>
                </a:solidFill>
              </a:defRPr>
            </a:pPr>
            <a:r>
              <a:t>Claude Code reads it first, every session.</a:t>
            </a:r>
          </a:p>
          <a:p>
            <a:pPr>
              <a:defRPr sz="2400">
                <a:solidFill>
                  <a:srgbClr val="8B95A5"/>
                </a:solidFill>
              </a:defRPr>
            </a:pPr>
            <a:endParaRPr/>
          </a:p>
          <a:p>
            <a:pPr>
              <a:defRPr sz="2400">
                <a:solidFill>
                  <a:srgbClr val="8B95A5"/>
                </a:solidFill>
              </a:defRPr>
            </a:pPr>
            <a:r>
              <a:t>It's your project's instruction manual for AI.</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Basic CLAUDE.md Structure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Project: E-Commerce API</a:t>
            </a:r>
          </a:p>
          <a:p>
            <a:pPr>
              <a:defRPr sz="1400">
                <a:solidFill>
                  <a:srgbClr val="FFFFFF"/>
                </a:solidFill>
                <a:latin typeface="Consolas"/>
              </a:defRPr>
            </a:pPr>
            <a:endParaRPr/>
          </a:p>
          <a:p>
            <a:pPr>
              <a:defRPr sz="1400">
                <a:solidFill>
                  <a:srgbClr val="FFFFFF"/>
                </a:solidFill>
                <a:latin typeface="Consolas"/>
              </a:defRPr>
            </a:pPr>
            <a:r>
              <a:t>## Description</a:t>
            </a:r>
          </a:p>
          <a:p>
            <a:pPr>
              <a:defRPr sz="1400">
                <a:solidFill>
                  <a:srgbClr val="FFFFFF"/>
                </a:solidFill>
                <a:latin typeface="Consolas"/>
              </a:defRPr>
            </a:pPr>
            <a:r>
              <a:t>REST API for online store. FastAPI + PostgreSQL + Redis.</a:t>
            </a:r>
          </a:p>
          <a:p>
            <a:pPr>
              <a:defRPr sz="1400">
                <a:solidFill>
                  <a:srgbClr val="FFFFFF"/>
                </a:solidFill>
                <a:latin typeface="Consolas"/>
              </a:defRPr>
            </a:pPr>
            <a:endParaRPr/>
          </a:p>
          <a:p>
            <a:pPr>
              <a:defRPr sz="1400">
                <a:solidFill>
                  <a:srgbClr val="FFFFFF"/>
                </a:solidFill>
                <a:latin typeface="Consolas"/>
              </a:defRPr>
            </a:pPr>
            <a:r>
              <a:t>## Code Conventions</a:t>
            </a:r>
          </a:p>
          <a:p>
            <a:pPr>
              <a:defRPr sz="1400">
                <a:solidFill>
                  <a:srgbClr val="FFFFFF"/>
                </a:solidFill>
                <a:latin typeface="Consolas"/>
              </a:defRPr>
            </a:pPr>
            <a:r>
              <a:t>- Python 3.11, PEP 8 style</a:t>
            </a:r>
          </a:p>
          <a:p>
            <a:pPr>
              <a:defRPr sz="1400">
                <a:solidFill>
                  <a:srgbClr val="FFFFFF"/>
                </a:solidFill>
                <a:latin typeface="Consolas"/>
              </a:defRPr>
            </a:pPr>
            <a:r>
              <a:t>- Use type hints for all functions</a:t>
            </a:r>
          </a:p>
          <a:p>
            <a:pPr>
              <a:defRPr sz="1400">
                <a:solidFill>
                  <a:srgbClr val="FFFFFF"/>
                </a:solidFill>
                <a:latin typeface="Consolas"/>
              </a:defRPr>
            </a:pPr>
            <a:r>
              <a:t>- Async/await for all database calls</a:t>
            </a:r>
          </a:p>
          <a:p>
            <a:pPr>
              <a:defRPr sz="1400">
                <a:solidFill>
                  <a:srgbClr val="FFFFFF"/>
                </a:solidFill>
                <a:latin typeface="Consolas"/>
              </a:defRPr>
            </a:pPr>
            <a:r>
              <a:t>- Snake_case for functions, PascalCase for classes</a:t>
            </a:r>
          </a:p>
          <a:p>
            <a:pPr>
              <a:defRPr sz="1400">
                <a:solidFill>
                  <a:srgbClr val="FFFFFF"/>
                </a:solidFill>
                <a:latin typeface="Consolas"/>
              </a:defRPr>
            </a:pPr>
            <a:endParaRPr/>
          </a:p>
          <a:p>
            <a:pPr>
              <a:defRPr sz="1400">
                <a:solidFill>
                  <a:srgbClr val="FFFFFF"/>
                </a:solidFill>
                <a:latin typeface="Consolas"/>
              </a:defRPr>
            </a:pPr>
            <a:r>
              <a:t>## Testing</a:t>
            </a:r>
          </a:p>
          <a:p>
            <a:pPr>
              <a:defRPr sz="1400">
                <a:solidFill>
                  <a:srgbClr val="FFFFFF"/>
                </a:solidFill>
                <a:latin typeface="Consolas"/>
              </a:defRPr>
            </a:pPr>
            <a:r>
              <a:t>- Write pytest tests for all new endpoints</a:t>
            </a:r>
          </a:p>
          <a:p>
            <a:pPr>
              <a:defRPr sz="1400">
                <a:solidFill>
                  <a:srgbClr val="FFFFFF"/>
                </a:solidFill>
                <a:latin typeface="Consolas"/>
              </a:defRPr>
            </a:pPr>
            <a:r>
              <a:t>- Aim for 80%+ coverage</a:t>
            </a:r>
          </a:p>
          <a:p>
            <a:pPr>
              <a:defRPr sz="1400">
                <a:solidFill>
                  <a:srgbClr val="FFFFFF"/>
                </a:solidFill>
                <a:latin typeface="Consolas"/>
              </a:defRPr>
            </a:pPr>
            <a:r>
              <a:t>- Tests go in tests/ matching source structure</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Engineering Principle: Prefer Routing Over Organizing</a:t>
            </a:r>
          </a:p>
        </p:txBody>
      </p:sp>
      <p:sp>
        <p:nvSpPr>
          <p:cNvPr id="3" name="Rounded Rectangle 2"/>
          <p:cNvSpPr/>
          <p:nvPr/>
        </p:nvSpPr>
        <p:spPr>
          <a:xfrm>
            <a:off x="2301087" y="23418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7990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7990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987800"/>
            <a:ext cx="2103120" cy="1371600"/>
          </a:xfrm>
          <a:prstGeom prst="rect">
            <a:avLst/>
          </a:prstGeom>
          <a:noFill/>
        </p:spPr>
        <p:txBody>
          <a:bodyPr wrap="square">
            <a:normAutofit lnSpcReduction="10000"/>
          </a:bodyPr>
          <a:lstStyle/>
          <a:p>
            <a:pPr algn="ctr">
              <a:defRPr sz="1800" b="1">
                <a:solidFill>
                  <a:srgbClr val="FFFFFF"/>
                </a:solidFill>
              </a:defRPr>
            </a:pPr>
            <a:r>
              <a:t>Organizing</a:t>
            </a:r>
          </a:p>
          <a:p>
            <a:pPr algn="ctr">
              <a:spcBef>
                <a:spcPts val="800"/>
              </a:spcBef>
              <a:defRPr sz="1300">
                <a:solidFill>
                  <a:srgbClr val="8B95A5"/>
                </a:solidFill>
              </a:defRPr>
            </a:pPr>
            <a:r>
              <a:t>One massive CLAUDE.md with everything.</a:t>
            </a:r>
            <a:br/>
            <a:r>
              <a:t>500+ lines of instructions.</a:t>
            </a:r>
            <a:br/>
            <a:r>
              <a:t>Claude ignores half of it because context is diluted.</a:t>
            </a:r>
          </a:p>
        </p:txBody>
      </p:sp>
      <p:sp>
        <p:nvSpPr>
          <p:cNvPr id="7" name="Rounded Rectangle 6"/>
          <p:cNvSpPr/>
          <p:nvPr/>
        </p:nvSpPr>
        <p:spPr>
          <a:xfrm>
            <a:off x="4952847" y="23418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7990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7990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987800"/>
            <a:ext cx="2103120" cy="1371600"/>
          </a:xfrm>
          <a:prstGeom prst="rect">
            <a:avLst/>
          </a:prstGeom>
          <a:noFill/>
        </p:spPr>
        <p:txBody>
          <a:bodyPr wrap="square">
            <a:normAutofit fontScale="92500" lnSpcReduction="20000"/>
          </a:bodyPr>
          <a:lstStyle/>
          <a:p>
            <a:pPr algn="ctr">
              <a:defRPr sz="1800" b="1">
                <a:solidFill>
                  <a:srgbClr val="FFFFFF"/>
                </a:solidFill>
              </a:defRPr>
            </a:pPr>
            <a:r>
              <a:t>Routing</a:t>
            </a:r>
          </a:p>
          <a:p>
            <a:pPr algn="ctr">
              <a:spcBef>
                <a:spcPts val="800"/>
              </a:spcBef>
              <a:defRPr sz="1300">
                <a:solidFill>
                  <a:srgbClr val="8B95A5"/>
                </a:solidFill>
              </a:defRPr>
            </a:pPr>
            <a:r>
              <a:t>Core CLAUDE.md: 50-100 lines of essentials.</a:t>
            </a:r>
            <a:br/>
            <a:r>
              <a:t>.claude/rules/*.md for topic-specific guidelines.</a:t>
            </a:r>
            <a:br/>
            <a:r>
              <a:t>Claude loads what's relevant, ignores the rest.</a:t>
            </a:r>
          </a:p>
        </p:txBody>
      </p:sp>
      <p:sp>
        <p:nvSpPr>
          <p:cNvPr id="11" name="Rounded Rectangle 10"/>
          <p:cNvSpPr/>
          <p:nvPr/>
        </p:nvSpPr>
        <p:spPr>
          <a:xfrm>
            <a:off x="7604607" y="23418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7990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7990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987800"/>
            <a:ext cx="2103120" cy="1371600"/>
          </a:xfrm>
          <a:prstGeom prst="rect">
            <a:avLst/>
          </a:prstGeom>
          <a:noFill/>
        </p:spPr>
        <p:txBody>
          <a:bodyPr wrap="square">
            <a:normAutofit fontScale="92500" lnSpcReduction="20000"/>
          </a:bodyPr>
          <a:lstStyle/>
          <a:p>
            <a:pPr algn="ctr">
              <a:defRPr sz="1800" b="1">
                <a:solidFill>
                  <a:srgbClr val="FFFFFF"/>
                </a:solidFill>
              </a:defRPr>
            </a:pPr>
            <a:r>
              <a:t>Result</a:t>
            </a:r>
          </a:p>
          <a:p>
            <a:pPr algn="ctr">
              <a:spcBef>
                <a:spcPts val="800"/>
              </a:spcBef>
              <a:defRPr sz="1300">
                <a:solidFill>
                  <a:srgbClr val="8B95A5"/>
                </a:solidFill>
              </a:defRPr>
            </a:pPr>
            <a:r>
              <a:t>Better compliance with your rules.</a:t>
            </a:r>
            <a:br/>
            <a:r>
              <a:t>Less context wasted on irrelevant instructions.</a:t>
            </a:r>
            <a:br/>
            <a:r>
              <a:t>Easier to maintain — edit one file per topic.</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2475795" y="457200"/>
            <a:ext cx="7240124" cy="646331"/>
          </a:xfrm>
          <a:prstGeom prst="rect">
            <a:avLst/>
          </a:prstGeom>
          <a:noFill/>
        </p:spPr>
        <p:txBody>
          <a:bodyPr wrap="none">
            <a:spAutoFit/>
          </a:bodyPr>
          <a:lstStyle/>
          <a:p>
            <a:pPr algn="ctr">
              <a:defRPr sz="3600" b="1">
                <a:solidFill>
                  <a:srgbClr val="FFFFFF"/>
                </a:solidFill>
              </a:defRPr>
            </a:pPr>
            <a:r>
              <a:rPr lang="en-US" dirty="0"/>
              <a:t>Sharing Claude.md Across Your Team</a:t>
            </a:r>
            <a:endParaRPr dirty="0"/>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to Include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Coding standards (naming, formatting)</a:t>
            </a:r>
          </a:p>
          <a:p>
            <a:pPr>
              <a:spcAft>
                <a:spcPts val="1200"/>
              </a:spcAft>
              <a:defRPr sz="1800">
                <a:solidFill>
                  <a:srgbClr val="FFFFFF"/>
                </a:solidFill>
              </a:defRPr>
            </a:pPr>
            <a:r>
              <a:t>  Testing requirements (coverage, frameworks)</a:t>
            </a:r>
          </a:p>
          <a:p>
            <a:pPr>
              <a:spcAft>
                <a:spcPts val="1200"/>
              </a:spcAft>
              <a:defRPr sz="1800">
                <a:solidFill>
                  <a:srgbClr val="FFFFFF"/>
                </a:solidFill>
              </a:defRPr>
            </a:pPr>
            <a:r>
              <a:t>  Git conventions (commit format, branch naming)</a:t>
            </a:r>
          </a:p>
          <a:p>
            <a:pPr>
              <a:spcAft>
                <a:spcPts val="1200"/>
              </a:spcAft>
              <a:defRPr sz="1800">
                <a:solidFill>
                  <a:srgbClr val="FFFFFF"/>
                </a:solidFill>
              </a:defRPr>
            </a:pPr>
            <a:r>
              <a:t>  Architecture patterns (where to put new code)</a:t>
            </a:r>
          </a:p>
          <a:p>
            <a:pPr>
              <a:spcAft>
                <a:spcPts val="1200"/>
              </a:spcAft>
              <a:defRPr sz="1800">
                <a:solidFill>
                  <a:srgbClr val="FFFFFF"/>
                </a:solidFill>
              </a:defRPr>
            </a:pPr>
            <a:r>
              <a:t>  Review requirements (what must be checked)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to Share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Commit .claude/settings.json to git</a:t>
            </a:r>
          </a:p>
          <a:p>
            <a:pPr>
              <a:spcAft>
                <a:spcPts val="1200"/>
              </a:spcAft>
              <a:defRPr sz="1800">
                <a:solidFill>
                  <a:srgbClr val="FFFFFF"/>
                </a:solidFill>
              </a:defRPr>
            </a:pPr>
            <a:r>
              <a:t>  Commit CLAUDE.md to repo root</a:t>
            </a:r>
          </a:p>
          <a:p>
            <a:pPr>
              <a:spcAft>
                <a:spcPts val="1200"/>
              </a:spcAft>
              <a:defRPr sz="1800">
                <a:solidFill>
                  <a:srgbClr val="FFFFFF"/>
                </a:solidFill>
              </a:defRPr>
            </a:pPr>
            <a:r>
              <a:t>  .claude/rules/*.md for modular guidelines</a:t>
            </a:r>
          </a:p>
          <a:p>
            <a:pPr>
              <a:spcAft>
                <a:spcPts val="1200"/>
              </a:spcAft>
              <a:defRPr sz="1800">
                <a:solidFill>
                  <a:srgbClr val="FFFFFF"/>
                </a:solidFill>
              </a:defRPr>
            </a:pPr>
            <a:r>
              <a:t>  CLAUDE.local.md for personal overrides (gitignored)</a:t>
            </a:r>
          </a:p>
          <a:p>
            <a:pPr>
              <a:spcAft>
                <a:spcPts val="1200"/>
              </a:spcAft>
              <a:defRPr sz="1800">
                <a:solidFill>
                  <a:srgbClr val="FFFFFF"/>
                </a:solidFill>
              </a:defRPr>
            </a:pPr>
            <a:r>
              <a:t>  Managed settings for enterprise-wide policies</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Advanced: Model Preferences &amp; Custom Rules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CODE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Model preferences in CLAUDE.md</a:t>
            </a:r>
          </a:p>
          <a:p>
            <a:pPr>
              <a:defRPr sz="1400">
                <a:solidFill>
                  <a:srgbClr val="FFFFFF"/>
                </a:solidFill>
                <a:latin typeface="Consolas"/>
              </a:defRPr>
            </a:pPr>
            <a:endParaRPr/>
          </a:p>
          <a:p>
            <a:pPr>
              <a:defRPr sz="1400">
                <a:solidFill>
                  <a:srgbClr val="FFFFFF"/>
                </a:solidFill>
                <a:latin typeface="Consolas"/>
              </a:defRPr>
            </a:pPr>
            <a:r>
              <a:t>## Model Selection</a:t>
            </a:r>
          </a:p>
          <a:p>
            <a:pPr>
              <a:defRPr sz="1400">
                <a:solidFill>
                  <a:srgbClr val="FFFFFF"/>
                </a:solidFill>
                <a:latin typeface="Consolas"/>
              </a:defRPr>
            </a:pPr>
            <a:r>
              <a:t>- Default: claude-sonnet-4-20250514</a:t>
            </a:r>
          </a:p>
          <a:p>
            <a:pPr>
              <a:defRPr sz="1400">
                <a:solidFill>
                  <a:srgbClr val="FFFFFF"/>
                </a:solidFill>
                <a:latin typeface="Consolas"/>
              </a:defRPr>
            </a:pPr>
            <a:r>
              <a:t>- Complex tasks: claude-opus-4-20250514</a:t>
            </a:r>
          </a:p>
          <a:p>
            <a:pPr>
              <a:defRPr sz="1400">
                <a:solidFill>
                  <a:srgbClr val="FFFFFF"/>
                </a:solidFill>
                <a:latin typeface="Consolas"/>
              </a:defRPr>
            </a:pPr>
            <a:r>
              <a:t>- Quick edits: claude-haiku-4-20250514</a:t>
            </a:r>
          </a:p>
          <a:p>
            <a:pPr>
              <a:defRPr sz="1400">
                <a:solidFill>
                  <a:srgbClr val="FFFFFF"/>
                </a:solidFill>
                <a:latin typeface="Consolas"/>
              </a:defRPr>
            </a:pPr>
            <a:endParaRPr/>
          </a:p>
          <a:p>
            <a:pPr>
              <a:defRPr sz="1400">
                <a:solidFill>
                  <a:srgbClr val="FFFFFF"/>
                </a:solidFill>
                <a:latin typeface="Consolas"/>
              </a:defRPr>
            </a:pPr>
            <a:r>
              <a:t>## Custom Rules</a:t>
            </a:r>
          </a:p>
          <a:p>
            <a:pPr>
              <a:defRPr sz="1400">
                <a:solidFill>
                  <a:srgbClr val="FFFFFF"/>
                </a:solidFill>
                <a:latin typeface="Consolas"/>
              </a:defRPr>
            </a:pPr>
            <a:r>
              <a:t>- Always run tests before committing</a:t>
            </a:r>
          </a:p>
          <a:p>
            <a:pPr>
              <a:defRPr sz="1400">
                <a:solidFill>
                  <a:srgbClr val="FFFFFF"/>
                </a:solidFill>
                <a:latin typeface="Consolas"/>
              </a:defRPr>
            </a:pPr>
            <a:r>
              <a:t>- Never modify /config without asking</a:t>
            </a:r>
          </a:p>
          <a:p>
            <a:pPr>
              <a:defRPr sz="1400">
                <a:solidFill>
                  <a:srgbClr val="FFFFFF"/>
                </a:solidFill>
                <a:latin typeface="Consolas"/>
              </a:defRPr>
            </a:pPr>
            <a:r>
              <a:t>- Use TypeScript strict mode for new files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CLAUDE.md for Non-Engineers</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A PM's CLAUDE.</a:t>
            </a:r>
          </a:p>
          <a:p>
            <a:pPr>
              <a:spcBef>
                <a:spcPts val="800"/>
              </a:spcBef>
              <a:spcAft>
                <a:spcPts val="800"/>
              </a:spcAft>
              <a:defRPr sz="2200">
                <a:solidFill>
                  <a:srgbClr val="FFFFFF"/>
                </a:solidFill>
              </a:defRPr>
            </a:pPr>
            <a:r>
              <a:t>  Example: 'I'm a PM at a B2B SaaS company.</a:t>
            </a:r>
          </a:p>
          <a:p>
            <a:pPr>
              <a:spcBef>
                <a:spcPts val="800"/>
              </a:spcBef>
              <a:spcAft>
                <a:spcPts val="800"/>
              </a:spcAft>
              <a:defRPr sz="2200">
                <a:solidFill>
                  <a:srgbClr val="FFFFFF"/>
                </a:solidFill>
              </a:defRPr>
            </a:pPr>
            <a:r>
              <a:t>  Claude reads this automatically — no more starting every conversation with background info.</a:t>
            </a:r>
          </a:p>
          <a:p>
            <a:pPr>
              <a:spcBef>
                <a:spcPts val="800"/>
              </a:spcBef>
              <a:spcAft>
                <a:spcPts val="800"/>
              </a:spcAft>
              <a:defRPr sz="2200">
                <a:solidFill>
                  <a:srgbClr val="FFFFFF"/>
                </a:solidFill>
              </a:defRPr>
            </a:pPr>
            <a:r>
              <a:t>  Source: Mohit Aggarwal's 'Claude Code for Product Managers' — invest 15 min, save hours.</a:t>
            </a:r>
          </a:p>
          <a:p>
            <a:pPr>
              <a:spcBef>
                <a:spcPts val="800"/>
              </a:spcBef>
              <a:spcAft>
                <a:spcPts val="800"/>
              </a:spcAft>
              <a:defRPr sz="2200">
                <a:solidFill>
                  <a:srgbClr val="FFFFFF"/>
                </a:solidFill>
              </a:defRPr>
            </a:pPr>
            <a:r>
              <a:t>  This ties directly to Engineering Principle #10: Build for Restart, Not Perfection — CLAUDE.</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CLAUDE.md Best Practices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a:bodyPr>
          <a:lstStyle/>
          <a:p>
            <a:pPr algn="ctr">
              <a:defRPr sz="1800" b="1">
                <a:solidFill>
                  <a:srgbClr val="FFFFFF"/>
                </a:solidFill>
              </a:defRPr>
            </a:pPr>
            <a:r>
              <a:t>Be Specific</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a:bodyPr>
          <a:lstStyle/>
          <a:p>
            <a:pPr algn="ctr">
              <a:defRPr sz="1800" b="1">
                <a:solidFill>
                  <a:srgbClr val="FFFFFF"/>
                </a:solidFill>
              </a:defRPr>
            </a:pPr>
            <a:r>
              <a:t>Be Behavioral</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a:bodyPr>
          <a:lstStyle/>
          <a:p>
            <a:pPr algn="ctr">
              <a:defRPr sz="1800" b="1">
                <a:solidFill>
                  <a:srgbClr val="FFFFFF"/>
                </a:solidFill>
              </a:defRPr>
            </a:pPr>
            <a:r>
              <a:t>Keep It Current</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CLAUDE.md Maintenance: The Pruning Rule</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914166"/>
          </a:xfrm>
          <a:prstGeom prst="rect">
            <a:avLst/>
          </a:prstGeom>
          <a:noFill/>
        </p:spPr>
        <p:txBody>
          <a:bodyPr wrap="square">
            <a:spAutoFit/>
          </a:bodyPr>
          <a:lstStyle/>
          <a:p>
            <a:pPr>
              <a:spcBef>
                <a:spcPts val="800"/>
              </a:spcBef>
              <a:spcAft>
                <a:spcPts val="800"/>
              </a:spcAft>
              <a:defRPr sz="2200">
                <a:solidFill>
                  <a:srgbClr val="FFFFFF"/>
                </a:solidFill>
              </a:defRPr>
            </a:pPr>
            <a:r>
              <a:rPr dirty="0"/>
              <a:t>  Pruning rule: 'Would removing this line cause Claude to make mistakes? If not, cut it.</a:t>
            </a:r>
          </a:p>
          <a:p>
            <a:pPr>
              <a:spcBef>
                <a:spcPts val="800"/>
              </a:spcBef>
              <a:spcAft>
                <a:spcPts val="800"/>
              </a:spcAft>
              <a:defRPr sz="2200">
                <a:solidFill>
                  <a:srgbClr val="FFFFFF"/>
                </a:solidFill>
              </a:defRPr>
            </a:pPr>
            <a:r>
              <a:rPr dirty="0"/>
              <a:t>  Monthly review cadence — put it on your calendar.</a:t>
            </a:r>
          </a:p>
          <a:p>
            <a:pPr>
              <a:spcBef>
                <a:spcPts val="800"/>
              </a:spcBef>
              <a:spcAft>
                <a:spcPts val="800"/>
              </a:spcAft>
              <a:defRPr sz="2200">
                <a:solidFill>
                  <a:srgbClr val="FFFFFF"/>
                </a:solidFill>
              </a:defRPr>
            </a:pPr>
            <a:r>
              <a:rPr dirty="0"/>
              <a:t>  Signs of bloat: Claude following old conventions you've abandoned, conflicting rules, generic advice that adds no value.</a:t>
            </a:r>
          </a:p>
          <a:p>
            <a:pPr>
              <a:spcBef>
                <a:spcPts val="800"/>
              </a:spcBef>
              <a:spcAft>
                <a:spcPts val="800"/>
              </a:spcAft>
              <a:defRPr sz="2200">
                <a:solidFill>
                  <a:srgbClr val="FFFFFF"/>
                </a:solidFill>
              </a:defRPr>
            </a:pPr>
            <a:r>
              <a:rPr dirty="0"/>
              <a:t>  Short, specific CLAUDE.</a:t>
            </a:r>
          </a:p>
          <a:p>
            <a:pPr>
              <a:spcBef>
                <a:spcPts val="800"/>
              </a:spcBef>
              <a:spcAft>
                <a:spcPts val="800"/>
              </a:spcAft>
              <a:defRPr sz="2200">
                <a:solidFill>
                  <a:srgbClr val="FFFFFF"/>
                </a:solidFill>
              </a:defRPr>
            </a:pPr>
            <a:r>
              <a:rPr dirty="0"/>
              <a:t>  </a:t>
            </a:r>
            <a:endParaRPr lang="en-US" dirty="0"/>
          </a:p>
          <a:p>
            <a:pPr>
              <a:spcBef>
                <a:spcPts val="800"/>
              </a:spcBef>
              <a:spcAft>
                <a:spcPts val="800"/>
              </a:spcAft>
              <a:defRPr sz="2200">
                <a:solidFill>
                  <a:srgbClr val="FFFFFF"/>
                </a:solidFill>
              </a:defRPr>
            </a:pPr>
            <a:endParaRPr lang="en-US" dirty="0"/>
          </a:p>
          <a:p>
            <a:pPr>
              <a:spcBef>
                <a:spcPts val="800"/>
              </a:spcBef>
              <a:spcAft>
                <a:spcPts val="800"/>
              </a:spcAft>
              <a:defRPr sz="2200">
                <a:solidFill>
                  <a:srgbClr val="FFFFFF"/>
                </a:solidFill>
              </a:defRPr>
            </a:pPr>
            <a:endParaRPr lang="en-US" dirty="0"/>
          </a:p>
          <a:p>
            <a:pPr>
              <a:spcBef>
                <a:spcPts val="800"/>
              </a:spcBef>
              <a:spcAft>
                <a:spcPts val="800"/>
              </a:spcAft>
              <a:defRPr sz="2200">
                <a:solidFill>
                  <a:srgbClr val="FFFFFF"/>
                </a:solidFill>
              </a:defRPr>
            </a:pPr>
            <a:r>
              <a:rPr dirty="0"/>
              <a:t>Source: Reza Rezvani — 'I spent months blaming Claude for not understanding my project while doing nothing to help it...</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CLAUDE.md Behavior Templates: Pick Your Style</a:t>
            </a:r>
          </a:p>
        </p:txBody>
      </p:sp>
      <p:sp>
        <p:nvSpPr>
          <p:cNvPr id="3" name="Rounded Rectangle 2"/>
          <p:cNvSpPr/>
          <p:nvPr/>
        </p:nvSpPr>
        <p:spPr>
          <a:xfrm>
            <a:off x="230108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Fast &amp; Autonomous</a:t>
            </a:r>
          </a:p>
          <a:p>
            <a:pPr algn="ctr">
              <a:spcBef>
                <a:spcPts val="800"/>
              </a:spcBef>
              <a:defRPr sz="1300">
                <a:solidFill>
                  <a:srgbClr val="8B95A5"/>
                </a:solidFill>
              </a:defRPr>
            </a:pPr>
            <a:r>
              <a:t>Proactive mode + parallel execution + anti-hallucination.</a:t>
            </a:r>
            <a:br/>
            <a:r>
              <a:t>Claude takes initiative, works fast,</a:t>
            </a:r>
            <a:br/>
            <a:r>
              <a:t>but always reads before answering</a:t>
            </a:r>
          </a:p>
        </p:txBody>
      </p:sp>
      <p:sp>
        <p:nvSpPr>
          <p:cNvPr id="7" name="Rounded Rectangle 6"/>
          <p:cNvSpPr/>
          <p:nvPr/>
        </p:nvSpPr>
        <p:spPr>
          <a:xfrm>
            <a:off x="495284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Careful &amp; Controlled</a:t>
            </a:r>
          </a:p>
          <a:p>
            <a:pPr algn="ctr">
              <a:spcBef>
                <a:spcPts val="800"/>
              </a:spcBef>
              <a:defRPr sz="1300">
                <a:solidFill>
                  <a:srgbClr val="8B95A5"/>
                </a:solidFill>
              </a:defRPr>
            </a:pPr>
            <a:r>
              <a:t>Conservative mode + explain everything + anti-hallucination.</a:t>
            </a:r>
            <a:br/>
            <a:r>
              <a:t>Claude asks before acting,</a:t>
            </a:r>
            <a:br/>
            <a:r>
              <a:t>explains reasoning after each step</a:t>
            </a:r>
          </a:p>
        </p:txBody>
      </p:sp>
      <p:sp>
        <p:nvSpPr>
          <p:cNvPr id="11" name="Rounded Rectangle 10"/>
          <p:cNvSpPr/>
          <p:nvPr/>
        </p:nvSpPr>
        <p:spPr>
          <a:xfrm>
            <a:off x="7604607" y="2011679"/>
            <a:ext cx="2286000" cy="368987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Long Projects</a:t>
            </a:r>
          </a:p>
          <a:p>
            <a:pPr algn="ctr">
              <a:spcBef>
                <a:spcPts val="800"/>
              </a:spcBef>
              <a:defRPr sz="1300">
                <a:solidFill>
                  <a:srgbClr val="8B95A5"/>
                </a:solidFill>
              </a:defRPr>
            </a:pPr>
            <a:r>
              <a:t>Context management + state tracking + complete work.</a:t>
            </a:r>
            <a:br/>
            <a:r>
              <a:t>Claude persists across sessions,</a:t>
            </a:r>
            <a:br/>
            <a:r>
              <a:t>never stops early, tracks progress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3600" b="1">
                <a:solidFill>
                  <a:srgbClr val="FFFFFF"/>
                </a:solidFill>
              </a:defRPr>
            </a:pPr>
            <a:r>
              <a:t>The Full Memory Hierarchy</a:t>
            </a:r>
          </a:p>
        </p:txBody>
      </p:sp>
      <p:sp>
        <p:nvSpPr>
          <p:cNvPr id="3" name="TextBox 2"/>
          <p:cNvSpPr txBox="1"/>
          <p:nvPr/>
        </p:nvSpPr>
        <p:spPr>
          <a:xfrm>
            <a:off x="457200" y="1463040"/>
            <a:ext cx="11277295" cy="457200"/>
          </a:xfrm>
          <a:prstGeom prst="rect">
            <a:avLst/>
          </a:prstGeom>
          <a:noFill/>
        </p:spPr>
        <p:txBody>
          <a:bodyPr wrap="square">
            <a:spAutoFit/>
          </a:bodyPr>
          <a:lstStyle/>
          <a:p>
            <a:pPr>
              <a:defRPr sz="1600" b="1">
                <a:solidFill>
                  <a:srgbClr val="00D4AA"/>
                </a:solidFill>
              </a:defRPr>
            </a:pPr>
            <a:r>
              <a:t>Layer   |   Location   |   Who It Affects   |   Shared?</a:t>
            </a:r>
          </a:p>
        </p:txBody>
      </p:sp>
      <p:sp>
        <p:nvSpPr>
          <p:cNvPr id="4" name="Rectangle 3"/>
          <p:cNvSpPr/>
          <p:nvPr/>
        </p:nvSpPr>
        <p:spPr>
          <a:xfrm>
            <a:off x="457200" y="1920240"/>
            <a:ext cx="11277295" cy="27432"/>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2057400"/>
            <a:ext cx="11277295" cy="307777"/>
          </a:xfrm>
          <a:prstGeom prst="rect">
            <a:avLst/>
          </a:prstGeom>
          <a:noFill/>
        </p:spPr>
        <p:txBody>
          <a:bodyPr wrap="square">
            <a:spAutoFit/>
          </a:bodyPr>
          <a:lstStyle/>
          <a:p>
            <a:pPr>
              <a:defRPr sz="1400">
                <a:solidFill>
                  <a:srgbClr val="FFFFFF"/>
                </a:solidFill>
              </a:defRPr>
            </a:pPr>
            <a:r>
              <a:rPr dirty="0"/>
              <a:t>Managed Policy   |   /etc/claude-code/CLAUDE.md or registry   |   All users in org   </a:t>
            </a:r>
            <a:r>
              <a:rPr lang="en-US" dirty="0"/>
              <a:t>  </a:t>
            </a:r>
            <a:r>
              <a:rPr dirty="0"/>
              <a:t>|   Yes (IT deploys)</a:t>
            </a:r>
          </a:p>
        </p:txBody>
      </p:sp>
      <p:sp>
        <p:nvSpPr>
          <p:cNvPr id="6" name="TextBox 5"/>
          <p:cNvSpPr txBox="1"/>
          <p:nvPr/>
        </p:nvSpPr>
        <p:spPr>
          <a:xfrm>
            <a:off x="457200" y="2468880"/>
            <a:ext cx="11277295" cy="307777"/>
          </a:xfrm>
          <a:prstGeom prst="rect">
            <a:avLst/>
          </a:prstGeom>
          <a:noFill/>
        </p:spPr>
        <p:txBody>
          <a:bodyPr wrap="square">
            <a:spAutoFit/>
          </a:bodyPr>
          <a:lstStyle/>
          <a:p>
            <a:pPr>
              <a:defRPr sz="1400">
                <a:solidFill>
                  <a:srgbClr val="FFFFFF"/>
                </a:solidFill>
              </a:defRPr>
            </a:pPr>
            <a:r>
              <a:rPr dirty="0"/>
              <a:t>Project Memory   |   ./CLAUDE.md or .</a:t>
            </a:r>
            <a:r>
              <a:rPr dirty="0" err="1"/>
              <a:t>claude</a:t>
            </a:r>
            <a:r>
              <a:rPr dirty="0"/>
              <a:t>/CLAUDE.md   </a:t>
            </a:r>
            <a:r>
              <a:rPr lang="en-US" dirty="0"/>
              <a:t>      </a:t>
            </a:r>
            <a:r>
              <a:rPr dirty="0"/>
              <a:t>|   All collaborators   |   Yes (via git)</a:t>
            </a:r>
          </a:p>
        </p:txBody>
      </p:sp>
      <p:sp>
        <p:nvSpPr>
          <p:cNvPr id="7" name="TextBox 6"/>
          <p:cNvSpPr txBox="1"/>
          <p:nvPr/>
        </p:nvSpPr>
        <p:spPr>
          <a:xfrm>
            <a:off x="457200" y="2880360"/>
            <a:ext cx="11277295" cy="307777"/>
          </a:xfrm>
          <a:prstGeom prst="rect">
            <a:avLst/>
          </a:prstGeom>
          <a:noFill/>
        </p:spPr>
        <p:txBody>
          <a:bodyPr wrap="square">
            <a:spAutoFit/>
          </a:bodyPr>
          <a:lstStyle/>
          <a:p>
            <a:pPr>
              <a:defRPr sz="1400">
                <a:solidFill>
                  <a:srgbClr val="FFFFFF"/>
                </a:solidFill>
              </a:defRPr>
            </a:pPr>
            <a:r>
              <a:rPr dirty="0"/>
              <a:t>Project Rules   </a:t>
            </a:r>
            <a:r>
              <a:rPr lang="en-US" dirty="0"/>
              <a:t>      </a:t>
            </a:r>
            <a:r>
              <a:rPr dirty="0"/>
              <a:t>|   .</a:t>
            </a:r>
            <a:r>
              <a:rPr dirty="0" err="1"/>
              <a:t>claude</a:t>
            </a:r>
            <a:r>
              <a:rPr dirty="0"/>
              <a:t>/rules/*.md   </a:t>
            </a:r>
            <a:r>
              <a:rPr lang="en-US" dirty="0"/>
              <a:t>                                      </a:t>
            </a:r>
            <a:r>
              <a:rPr dirty="0"/>
              <a:t>|   All collaborators   |   Yes (via git)</a:t>
            </a:r>
          </a:p>
        </p:txBody>
      </p:sp>
      <p:sp>
        <p:nvSpPr>
          <p:cNvPr id="8" name="TextBox 7"/>
          <p:cNvSpPr txBox="1"/>
          <p:nvPr/>
        </p:nvSpPr>
        <p:spPr>
          <a:xfrm>
            <a:off x="457200" y="3291840"/>
            <a:ext cx="11277295" cy="307777"/>
          </a:xfrm>
          <a:prstGeom prst="rect">
            <a:avLst/>
          </a:prstGeom>
          <a:noFill/>
        </p:spPr>
        <p:txBody>
          <a:bodyPr wrap="square">
            <a:spAutoFit/>
          </a:bodyPr>
          <a:lstStyle/>
          <a:p>
            <a:pPr>
              <a:defRPr sz="1400">
                <a:solidFill>
                  <a:srgbClr val="FFFFFF"/>
                </a:solidFill>
              </a:defRPr>
            </a:pPr>
            <a:r>
              <a:rPr dirty="0"/>
              <a:t>User Memory  </a:t>
            </a:r>
            <a:r>
              <a:rPr lang="en-US" dirty="0"/>
              <a:t>     </a:t>
            </a:r>
            <a:r>
              <a:rPr dirty="0"/>
              <a:t> |   ~/.claude/CLAUDE.md   </a:t>
            </a:r>
            <a:r>
              <a:rPr lang="en-US" dirty="0"/>
              <a:t>                                </a:t>
            </a:r>
            <a:r>
              <a:rPr dirty="0"/>
              <a:t>|   You, all projects  </a:t>
            </a:r>
            <a:r>
              <a:rPr lang="en-US" dirty="0"/>
              <a:t> </a:t>
            </a:r>
            <a:r>
              <a:rPr dirty="0"/>
              <a:t> |   No</a:t>
            </a:r>
          </a:p>
        </p:txBody>
      </p:sp>
      <p:sp>
        <p:nvSpPr>
          <p:cNvPr id="9" name="TextBox 8"/>
          <p:cNvSpPr txBox="1"/>
          <p:nvPr/>
        </p:nvSpPr>
        <p:spPr>
          <a:xfrm>
            <a:off x="457200" y="3703320"/>
            <a:ext cx="11277295" cy="307777"/>
          </a:xfrm>
          <a:prstGeom prst="rect">
            <a:avLst/>
          </a:prstGeom>
          <a:noFill/>
        </p:spPr>
        <p:txBody>
          <a:bodyPr wrap="square">
            <a:spAutoFit/>
          </a:bodyPr>
          <a:lstStyle/>
          <a:p>
            <a:pPr>
              <a:defRPr sz="1400">
                <a:solidFill>
                  <a:srgbClr val="FFFFFF"/>
                </a:solidFill>
              </a:defRPr>
            </a:pPr>
            <a:r>
              <a:rPr dirty="0"/>
              <a:t>Local Override   </a:t>
            </a:r>
            <a:r>
              <a:rPr lang="en-US" dirty="0"/>
              <a:t>    </a:t>
            </a:r>
            <a:r>
              <a:rPr dirty="0"/>
              <a:t>|   ./CLAUDE.local.md   |   You, this project </a:t>
            </a:r>
            <a:r>
              <a:rPr lang="en-US" dirty="0"/>
              <a:t> </a:t>
            </a:r>
            <a:r>
              <a:rPr dirty="0"/>
              <a:t>  |   No (auto-</a:t>
            </a:r>
            <a:r>
              <a:rPr dirty="0" err="1"/>
              <a:t>gitignored</a:t>
            </a:r>
            <a:r>
              <a:rPr dirty="0"/>
              <a:t>)</a:t>
            </a:r>
          </a:p>
        </p:txBody>
      </p:sp>
      <p:sp>
        <p:nvSpPr>
          <p:cNvPr id="10" name="TextBox 9"/>
          <p:cNvSpPr txBox="1"/>
          <p:nvPr/>
        </p:nvSpPr>
        <p:spPr>
          <a:xfrm>
            <a:off x="457200" y="4114800"/>
            <a:ext cx="11277295" cy="307777"/>
          </a:xfrm>
          <a:prstGeom prst="rect">
            <a:avLst/>
          </a:prstGeom>
          <a:noFill/>
        </p:spPr>
        <p:txBody>
          <a:bodyPr wrap="square">
            <a:spAutoFit/>
          </a:bodyPr>
          <a:lstStyle/>
          <a:p>
            <a:pPr>
              <a:defRPr sz="1400">
                <a:solidFill>
                  <a:srgbClr val="FFFFFF"/>
                </a:solidFill>
              </a:defRPr>
            </a:pPr>
            <a:r>
              <a:rPr dirty="0"/>
              <a:t>Auto Memory  </a:t>
            </a:r>
            <a:r>
              <a:rPr lang="en-US" dirty="0"/>
              <a:t>     </a:t>
            </a:r>
            <a:r>
              <a:rPr dirty="0"/>
              <a:t> |   ~/.</a:t>
            </a:r>
            <a:r>
              <a:rPr dirty="0" err="1"/>
              <a:t>claude</a:t>
            </a:r>
            <a:r>
              <a:rPr dirty="0"/>
              <a:t>/projects/&lt;project&gt;/memory/   </a:t>
            </a:r>
            <a:r>
              <a:rPr lang="en-US" dirty="0"/>
              <a:t> </a:t>
            </a:r>
            <a:r>
              <a:rPr dirty="0"/>
              <a:t>|   You, per project   </a:t>
            </a:r>
            <a:r>
              <a:rPr lang="en-US" dirty="0"/>
              <a:t> </a:t>
            </a:r>
            <a:r>
              <a:rPr dirty="0"/>
              <a:t>|   No (Claude writes)</a:t>
            </a:r>
          </a:p>
        </p:txBody>
      </p:sp>
      <p:pic>
        <p:nvPicPr>
          <p:cNvPr id="11" name="Picture 10" descr="d2-memory-hierarchy.png"/>
          <p:cNvPicPr>
            <a:picLocks noChangeAspect="1"/>
          </p:cNvPicPr>
          <p:nvPr/>
        </p:nvPicPr>
        <p:blipFill>
          <a:blip r:embed="rId3"/>
          <a:stretch>
            <a:fillRect/>
          </a:stretch>
        </p:blipFill>
        <p:spPr>
          <a:xfrm>
            <a:off x="1981047" y="1371600"/>
            <a:ext cx="8229600" cy="5486400"/>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Auto Memory: Claude Learns as It Works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Remembers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Project patterns: build commands, test conventions, code style</a:t>
            </a:r>
          </a:p>
          <a:p>
            <a:pPr>
              <a:spcAft>
                <a:spcPts val="1200"/>
              </a:spcAft>
              <a:defRPr sz="1800">
                <a:solidFill>
                  <a:srgbClr val="FFFFFF"/>
                </a:solidFill>
              </a:defRPr>
            </a:pPr>
            <a:r>
              <a:t>  Debugging insights: solutions to tricky problems, error causes</a:t>
            </a:r>
          </a:p>
          <a:p>
            <a:pPr>
              <a:spcAft>
                <a:spcPts val="1200"/>
              </a:spcAft>
              <a:defRPr sz="1800">
                <a:solidFill>
                  <a:srgbClr val="FFFFFF"/>
                </a:solidFill>
              </a:defRPr>
            </a:pPr>
            <a:r>
              <a:t>  Architecture notes: key files, module relationships, abstractions</a:t>
            </a:r>
          </a:p>
          <a:p>
            <a:pPr>
              <a:spcAft>
                <a:spcPts val="1200"/>
              </a:spcAft>
              <a:defRPr sz="1800">
                <a:solidFill>
                  <a:srgbClr val="FFFFFF"/>
                </a:solidFill>
              </a:defRPr>
            </a:pPr>
            <a:r>
              <a:t>  Your preferences: communication style, workflow habits, tool choices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How It Works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Stored in ~/.claude/projects/&lt;project&gt;/memory/</a:t>
            </a:r>
          </a:p>
          <a:p>
            <a:pPr>
              <a:spcAft>
                <a:spcPts val="1200"/>
              </a:spcAft>
              <a:defRPr sz="1800">
                <a:solidFill>
                  <a:srgbClr val="FFFFFF"/>
                </a:solidFill>
              </a:defRPr>
            </a:pPr>
            <a:r>
              <a:t>  MEMORY.md index + topic files (debugging.md, patterns.md)</a:t>
            </a:r>
          </a:p>
          <a:p>
            <a:pPr>
              <a:spcAft>
                <a:spcPts val="1200"/>
              </a:spcAft>
              <a:defRPr sz="1800">
                <a:solidFill>
                  <a:srgbClr val="FFFFFF"/>
                </a:solidFill>
              </a:defRPr>
            </a:pPr>
            <a:r>
              <a:t>  First 200 lines of MEMORY.md loaded at session start</a:t>
            </a:r>
          </a:p>
          <a:p>
            <a:pPr>
              <a:spcAft>
                <a:spcPts val="1200"/>
              </a:spcAft>
              <a:defRPr sz="1800">
                <a:solidFill>
                  <a:srgbClr val="FFFFFF"/>
                </a:solidFill>
              </a:defRPr>
            </a:pPr>
            <a:r>
              <a:t>  Topic files loaded on demand when Claude needs them</a:t>
            </a:r>
          </a:p>
          <a:p>
            <a:pPr>
              <a:spcAft>
                <a:spcPts val="1200"/>
              </a:spcAft>
              <a:defRPr sz="1800">
                <a:solidFill>
                  <a:srgbClr val="FFFFFF"/>
                </a:solidFill>
              </a:defRPr>
            </a:pPr>
            <a:r>
              <a:t>  Claude reads AND writes these files during your session</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The /memory Command &amp; Memory Management</a:t>
            </a:r>
          </a:p>
        </p:txBody>
      </p:sp>
      <p:sp>
        <p:nvSpPr>
          <p:cNvPr id="3" name="Rounded Rectangle 2"/>
          <p:cNvSpPr/>
          <p:nvPr/>
        </p:nvSpPr>
        <p:spPr>
          <a:xfrm>
            <a:off x="2301087" y="2011680"/>
            <a:ext cx="2286000" cy="313105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0000" lnSpcReduction="20000"/>
          </a:bodyPr>
          <a:lstStyle/>
          <a:p>
            <a:pPr algn="ctr">
              <a:defRPr sz="1800" b="1">
                <a:solidFill>
                  <a:srgbClr val="FFFFFF"/>
                </a:solidFill>
              </a:defRPr>
            </a:pPr>
            <a:r>
              <a:t>/memory Command</a:t>
            </a:r>
          </a:p>
          <a:p>
            <a:pPr algn="ctr">
              <a:spcBef>
                <a:spcPts val="800"/>
              </a:spcBef>
              <a:defRPr sz="1300">
                <a:solidFill>
                  <a:srgbClr val="8B95A5"/>
                </a:solidFill>
              </a:defRPr>
            </a:pPr>
            <a:r>
              <a:t>Opens file selector showing ALL memory types:</a:t>
            </a:r>
            <a:br/>
            <a:r>
              <a:t>• Managed policy CLAUDE.md</a:t>
            </a:r>
            <a:br/>
            <a:r>
              <a:t>• Project CLAUDE.md</a:t>
            </a:r>
            <a:br/>
            <a:r>
              <a:t>• User CLAUDE.md</a:t>
            </a:r>
            <a:br/>
            <a:r>
              <a:t>• CLAUDE.local.md</a:t>
            </a:r>
            <a:br/>
            <a:r>
              <a:t>• Auto memory MEMORY.md</a:t>
            </a:r>
            <a:br/>
            <a:br/>
            <a:r>
              <a:t>Includes auto-memory on/off toggle</a:t>
            </a:r>
          </a:p>
        </p:txBody>
      </p:sp>
      <p:sp>
        <p:nvSpPr>
          <p:cNvPr id="7" name="Rounded Rectangle 6"/>
          <p:cNvSpPr/>
          <p:nvPr/>
        </p:nvSpPr>
        <p:spPr>
          <a:xfrm>
            <a:off x="4952847" y="2011680"/>
            <a:ext cx="2286000" cy="313105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0000" lnSpcReduction="20000"/>
          </a:bodyPr>
          <a:lstStyle/>
          <a:p>
            <a:pPr algn="ctr">
              <a:defRPr sz="1800" b="1">
                <a:solidFill>
                  <a:srgbClr val="FFFFFF"/>
                </a:solidFill>
              </a:defRPr>
            </a:pPr>
            <a:r>
              <a:t>"Remember That..."</a:t>
            </a:r>
          </a:p>
          <a:p>
            <a:pPr algn="ctr">
              <a:spcBef>
                <a:spcPts val="800"/>
              </a:spcBef>
              <a:defRPr sz="1300">
                <a:solidFill>
                  <a:srgbClr val="8B95A5"/>
                </a:solidFill>
              </a:defRPr>
            </a:pPr>
            <a:r>
              <a:t>Tell Claude directly:</a:t>
            </a:r>
            <a:br/>
            <a:r>
              <a:t>• "Remember we use pnpm, not npm"</a:t>
            </a:r>
            <a:br/>
            <a:r>
              <a:t>• "Save to memory that API tests need Redis"</a:t>
            </a:r>
            <a:br/>
            <a:r>
              <a:t>• "Note that the auth module uses JWT v3"</a:t>
            </a:r>
            <a:br/>
            <a:br/>
            <a:r>
              <a:t>Claude writes to auto memory — persists across sessions</a:t>
            </a:r>
          </a:p>
        </p:txBody>
      </p:sp>
      <p:sp>
        <p:nvSpPr>
          <p:cNvPr id="11" name="Rounded Rectangle 10"/>
          <p:cNvSpPr/>
          <p:nvPr/>
        </p:nvSpPr>
        <p:spPr>
          <a:xfrm>
            <a:off x="7604607" y="2011680"/>
            <a:ext cx="2286000" cy="313105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62500" lnSpcReduction="20000"/>
          </a:bodyPr>
          <a:lstStyle/>
          <a:p>
            <a:pPr algn="ctr">
              <a:defRPr sz="1800" b="1">
                <a:solidFill>
                  <a:srgbClr val="FFFFFF"/>
                </a:solidFill>
              </a:defRPr>
            </a:pPr>
            <a:r>
              <a:t>Managing Memory</a:t>
            </a:r>
          </a:p>
          <a:p>
            <a:pPr algn="ctr">
              <a:spcBef>
                <a:spcPts val="800"/>
              </a:spcBef>
              <a:defRPr sz="1300">
                <a:solidFill>
                  <a:srgbClr val="8B95A5"/>
                </a:solidFill>
              </a:defRPr>
            </a:pPr>
            <a:r>
              <a:t>Auto memory files are plain markdown — edit anytime</a:t>
            </a:r>
            <a:br/>
            <a:br/>
            <a:r>
              <a:t>Disable per-project or globally:</a:t>
            </a:r>
            <a:br/>
            <a:r>
              <a:t>• settings.json: autoMemoryEnabled: false</a:t>
            </a:r>
            <a:br/>
            <a:r>
              <a:t>• Env: CLAUDE_CODE_AUTO_MEMORY=false</a:t>
            </a:r>
            <a:br/>
            <a:br/>
            <a:r>
              <a:t># shortcut adds quick notes from chat</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Folder-Based Competitive Analysis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42274" y="429768"/>
            <a:ext cx="1012842" cy="307777"/>
          </a:xfrm>
          <a:prstGeom prst="rect">
            <a:avLst/>
          </a:prstGeom>
          <a:noFill/>
        </p:spPr>
        <p:txBody>
          <a:bodyPr wrap="none">
            <a:spAutoFit/>
          </a:bodyPr>
          <a:lstStyle/>
          <a:p>
            <a:pPr algn="ctr">
              <a:defRPr sz="1400" b="1">
                <a:solidFill>
                  <a:srgbClr val="00D4AA"/>
                </a:solidFill>
              </a:defRPr>
            </a:pPr>
            <a:r>
              <a:rPr lang="en-US" dirty="0"/>
              <a:t>30</a:t>
            </a:r>
            <a:r>
              <a:rPr dirty="0"/>
              <a:t>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2B: Teaching Claude Your Codebase</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 Mentions &amp; Context Feeding</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Point Claude at exactly what matters — save tokens, get better results</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 Mentioning Files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Syntax</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@filename.ts — load specific file</a:t>
            </a:r>
          </a:p>
          <a:p>
            <a:pPr>
              <a:spcAft>
                <a:spcPts val="1200"/>
              </a:spcAft>
              <a:defRPr sz="1800">
                <a:solidFill>
                  <a:srgbClr val="FFFFFF"/>
                </a:solidFill>
              </a:defRPr>
            </a:pPr>
            <a:r>
              <a:t>  @src/auth/ — load entire directory</a:t>
            </a:r>
          </a:p>
          <a:p>
            <a:pPr>
              <a:spcAft>
                <a:spcPts val="1200"/>
              </a:spcAft>
              <a:defRPr sz="1800">
                <a:solidFill>
                  <a:srgbClr val="FFFFFF"/>
                </a:solidFill>
              </a:defRPr>
            </a:pPr>
            <a:r>
              <a:t>  @package.json — load config files</a:t>
            </a:r>
          </a:p>
          <a:p>
            <a:pPr>
              <a:spcAft>
                <a:spcPts val="1200"/>
              </a:spcAft>
              <a:defRPr sz="1800">
                <a:solidFill>
                  <a:srgbClr val="FFFFFF"/>
                </a:solidFill>
              </a:defRPr>
            </a:pPr>
            <a:r>
              <a:t>  Multiple: @file1.ts @file2.ts explain how these connect</a:t>
            </a:r>
          </a:p>
          <a:p>
            <a:pPr>
              <a:spcAft>
                <a:spcPts val="1200"/>
              </a:spcAft>
              <a:defRPr sz="1800">
                <a:solidFill>
                  <a:srgbClr val="FFFFFF"/>
                </a:solidFill>
              </a:defRPr>
            </a:pPr>
            <a:r>
              <a:t>  Tab completion works for file paths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When to Use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Targeted edits: 'fix the bug in @auth.ts'</a:t>
            </a:r>
          </a:p>
          <a:p>
            <a:pPr>
              <a:spcAft>
                <a:spcPts val="1200"/>
              </a:spcAft>
              <a:defRPr sz="1800">
                <a:solidFill>
                  <a:srgbClr val="FFFFFF"/>
                </a:solidFill>
              </a:defRPr>
            </a:pPr>
            <a:r>
              <a:t>  Cross-file work: '@model.ts @controller.ts add validation'</a:t>
            </a:r>
          </a:p>
          <a:p>
            <a:pPr>
              <a:spcAft>
                <a:spcPts val="1200"/>
              </a:spcAft>
              <a:defRPr sz="1800">
                <a:solidFill>
                  <a:srgbClr val="FFFFFF"/>
                </a:solidFill>
              </a:defRPr>
            </a:pPr>
            <a:r>
              <a:t>  Context loading: '@README.md what does this project do?'</a:t>
            </a:r>
          </a:p>
          <a:p>
            <a:pPr>
              <a:spcAft>
                <a:spcPts val="1200"/>
              </a:spcAft>
              <a:defRPr sz="1800">
                <a:solidFill>
                  <a:srgbClr val="FFFFFF"/>
                </a:solidFill>
              </a:defRPr>
            </a:pPr>
            <a:r>
              <a:t>  Faster than letting Claude search</a:t>
            </a:r>
          </a:p>
          <a:p>
            <a:pPr>
              <a:spcAft>
                <a:spcPts val="1200"/>
              </a:spcAft>
              <a:defRPr sz="1800">
                <a:solidFill>
                  <a:srgbClr val="FFFFFF"/>
                </a:solidFill>
              </a:defRPr>
            </a:pPr>
            <a:r>
              <a:t>  Precise control over what's in context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 Folders, URLs, Git Commits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Folders</a:t>
            </a:r>
          </a:p>
          <a:p>
            <a:pPr algn="ctr">
              <a:spcBef>
                <a:spcPts val="800"/>
              </a:spcBef>
              <a:defRPr sz="1300">
                <a:solidFill>
                  <a:srgbClr val="8B95A5"/>
                </a:solidFill>
              </a:defRPr>
            </a:pPr>
            <a:r>
              <a:t>@src/routes/ — loads all files in directory</a:t>
            </a:r>
            <a:br/>
            <a:r>
              <a:t>@tests/ — great for 'run all tests and fix failures'</a:t>
            </a:r>
            <a:br/>
            <a:r>
              <a:t>Use sparingly — large folders eat context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URLs</a:t>
            </a:r>
          </a:p>
          <a:p>
            <a:pPr algn="ctr">
              <a:spcBef>
                <a:spcPts val="800"/>
              </a:spcBef>
              <a:defRPr sz="1300">
                <a:solidFill>
                  <a:srgbClr val="8B95A5"/>
                </a:solidFill>
              </a:defRPr>
            </a:pPr>
            <a:r>
              <a:t>@https://docs.example.com — fetch live documentation</a:t>
            </a:r>
            <a:br/>
            <a:r>
              <a:t>'Check the official docs' triggers web search</a:t>
            </a:r>
            <a:br/>
            <a:r>
              <a:t>Great for staying current with API changes</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Git Commits</a:t>
            </a:r>
          </a:p>
          <a:p>
            <a:pPr algn="ctr">
              <a:spcBef>
                <a:spcPts val="800"/>
              </a:spcBef>
              <a:defRPr sz="1300">
                <a:solidFill>
                  <a:srgbClr val="8B95A5"/>
                </a:solidFill>
              </a:defRPr>
            </a:pPr>
            <a:r>
              <a:t>@git:abc123 — load a specific commit's diff</a:t>
            </a:r>
            <a:br/>
            <a:r>
              <a:t>@git:HEAD~3 — last 3 commits</a:t>
            </a:r>
            <a:br/>
            <a:r>
              <a:t>'What changed in the last PR?' with git context</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Building Context: Focused vs Broad</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Focused (Preferred)</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@specific-file.ts — exact file needed</a:t>
            </a:r>
          </a:p>
          <a:p>
            <a:pPr>
              <a:spcAft>
                <a:spcPts val="1200"/>
              </a:spcAft>
              <a:defRPr sz="1800">
                <a:solidFill>
                  <a:srgbClr val="FFFFFF"/>
                </a:solidFill>
              </a:defRPr>
            </a:pPr>
            <a:r>
              <a:t>  One task per session</a:t>
            </a:r>
          </a:p>
          <a:p>
            <a:pPr>
              <a:spcAft>
                <a:spcPts val="1200"/>
              </a:spcAft>
              <a:defRPr sz="1800">
                <a:solidFill>
                  <a:srgbClr val="FFFFFF"/>
                </a:solidFill>
              </a:defRPr>
            </a:pPr>
            <a:r>
              <a:t>  Precise prompts with file references</a:t>
            </a:r>
          </a:p>
          <a:p>
            <a:pPr>
              <a:spcAft>
                <a:spcPts val="1200"/>
              </a:spcAft>
              <a:defRPr sz="1800">
                <a:solidFill>
                  <a:srgbClr val="FFFFFF"/>
                </a:solidFill>
              </a:defRPr>
            </a:pPr>
            <a:r>
              <a:t>  Less context = better output quality</a:t>
            </a:r>
          </a:p>
          <a:p>
            <a:pPr>
              <a:spcAft>
                <a:spcPts val="1200"/>
              </a:spcAft>
              <a:defRPr sz="1800">
                <a:solidFill>
                  <a:srgbClr val="FFFFFF"/>
                </a:solidFill>
              </a:defRPr>
            </a:pPr>
            <a:r>
              <a:t>  Faster responses, lower token cost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Broad (When Needed)</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@src/ — entire directory for architecture work</a:t>
            </a:r>
          </a:p>
          <a:p>
            <a:pPr>
              <a:spcAft>
                <a:spcPts val="1200"/>
              </a:spcAft>
              <a:defRPr sz="1800">
                <a:solidFill>
                  <a:srgbClr val="FFFFFF"/>
                </a:solidFill>
              </a:defRPr>
            </a:pPr>
            <a:r>
              <a:t>  Multi-file refactoring across modules</a:t>
            </a:r>
          </a:p>
          <a:p>
            <a:pPr>
              <a:spcAft>
                <a:spcPts val="1200"/>
              </a:spcAft>
              <a:defRPr sz="1800">
                <a:solidFill>
                  <a:srgbClr val="FFFFFF"/>
                </a:solidFill>
              </a:defRPr>
            </a:pPr>
            <a:r>
              <a:t>  Discovery: 'find all API endpoints'</a:t>
            </a:r>
          </a:p>
          <a:p>
            <a:pPr>
              <a:spcAft>
                <a:spcPts val="1200"/>
              </a:spcAft>
              <a:defRPr sz="1800">
                <a:solidFill>
                  <a:srgbClr val="FFFFFF"/>
                </a:solidFill>
              </a:defRPr>
            </a:pPr>
            <a:r>
              <a:t>  More context = risk of confusion</a:t>
            </a:r>
          </a:p>
          <a:p>
            <a:pPr>
              <a:spcAft>
                <a:spcPts val="1200"/>
              </a:spcAft>
              <a:defRPr sz="1800">
                <a:solidFill>
                  <a:srgbClr val="FFFFFF"/>
                </a:solidFill>
              </a:defRPr>
            </a:pPr>
            <a:r>
              <a:t>  Use /compact when context grows large</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Feeding Techniques</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Context Management</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Your context window is finite — learn to manage it like a budget</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How Claude Code Reads Your Workspace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Auto-Loaded</a:t>
            </a:r>
          </a:p>
        </p:txBody>
      </p:sp>
      <p:sp>
        <p:nvSpPr>
          <p:cNvPr id="5" name="TextBox 4"/>
          <p:cNvSpPr txBox="1"/>
          <p:nvPr/>
        </p:nvSpPr>
        <p:spPr>
          <a:xfrm>
            <a:off x="457200" y="2224630"/>
            <a:ext cx="5364327" cy="3662541"/>
          </a:xfrm>
          <a:prstGeom prst="rect">
            <a:avLst/>
          </a:prstGeom>
          <a:noFill/>
        </p:spPr>
        <p:txBody>
          <a:bodyPr wrap="square">
            <a:spAutoFit/>
          </a:bodyPr>
          <a:lstStyle/>
          <a:p>
            <a:pPr>
              <a:spcAft>
                <a:spcPts val="1200"/>
              </a:spcAft>
              <a:defRPr sz="1800">
                <a:solidFill>
                  <a:srgbClr val="FFFFFF"/>
                </a:solidFill>
              </a:defRPr>
            </a:pPr>
            <a:r>
              <a:rPr dirty="0"/>
              <a:t>  CLAUDE.md </a:t>
            </a:r>
            <a:endParaRPr lang="en-US" dirty="0"/>
          </a:p>
          <a:p>
            <a:pPr>
              <a:spcAft>
                <a:spcPts val="1200"/>
              </a:spcAft>
              <a:defRPr sz="1800">
                <a:solidFill>
                  <a:srgbClr val="FFFFFF"/>
                </a:solidFill>
              </a:defRPr>
            </a:pPr>
            <a:r>
              <a:rPr lang="en-US" dirty="0"/>
              <a:t>	User global - ~/.claude/claude.md</a:t>
            </a:r>
          </a:p>
          <a:p>
            <a:pPr>
              <a:spcAft>
                <a:spcPts val="1200"/>
              </a:spcAft>
              <a:defRPr sz="1800">
                <a:solidFill>
                  <a:srgbClr val="FFFFFF"/>
                </a:solidFill>
              </a:defRPr>
            </a:pPr>
            <a:r>
              <a:rPr lang="en-US" dirty="0"/>
              <a:t>	User local – claude.local.md</a:t>
            </a:r>
          </a:p>
          <a:p>
            <a:pPr>
              <a:spcAft>
                <a:spcPts val="1200"/>
              </a:spcAft>
              <a:defRPr sz="1800">
                <a:solidFill>
                  <a:srgbClr val="FFFFFF"/>
                </a:solidFill>
              </a:defRPr>
            </a:pPr>
            <a:r>
              <a:rPr lang="en-US" dirty="0"/>
              <a:t>	P</a:t>
            </a:r>
            <a:r>
              <a:rPr dirty="0"/>
              <a:t>roject </a:t>
            </a:r>
            <a:r>
              <a:rPr lang="en-US" dirty="0"/>
              <a:t>- ./claude.md</a:t>
            </a:r>
          </a:p>
          <a:p>
            <a:pPr>
              <a:spcAft>
                <a:spcPts val="1200"/>
              </a:spcAft>
              <a:defRPr sz="1800">
                <a:solidFill>
                  <a:srgbClr val="FFFFFF"/>
                </a:solidFill>
              </a:defRPr>
            </a:pPr>
            <a:r>
              <a:rPr lang="en-US" dirty="0"/>
              <a:t>	Enterprise - /etc/claude-code/claude.md</a:t>
            </a:r>
            <a:endParaRPr dirty="0"/>
          </a:p>
          <a:p>
            <a:pPr>
              <a:spcAft>
                <a:spcPts val="1200"/>
              </a:spcAft>
              <a:defRPr sz="1800">
                <a:solidFill>
                  <a:srgbClr val="FFFFFF"/>
                </a:solidFill>
              </a:defRPr>
            </a:pPr>
            <a:r>
              <a:rPr lang="en-US" dirty="0"/>
              <a:t>  </a:t>
            </a:r>
            <a:r>
              <a:rPr dirty="0"/>
              <a:t>.</a:t>
            </a:r>
            <a:r>
              <a:rPr dirty="0" err="1"/>
              <a:t>claude</a:t>
            </a:r>
            <a:r>
              <a:rPr dirty="0"/>
              <a:t>/rules/*.md</a:t>
            </a:r>
          </a:p>
          <a:p>
            <a:pPr>
              <a:spcAft>
                <a:spcPts val="1200"/>
              </a:spcAft>
              <a:defRPr sz="1800">
                <a:solidFill>
                  <a:srgbClr val="FFFFFF"/>
                </a:solidFill>
              </a:defRPr>
            </a:pPr>
            <a:r>
              <a:rPr dirty="0"/>
              <a:t>  Auto memory (first 200 lines)</a:t>
            </a:r>
          </a:p>
          <a:p>
            <a:pPr>
              <a:spcAft>
                <a:spcPts val="1200"/>
              </a:spcAft>
              <a:defRPr sz="1800">
                <a:solidFill>
                  <a:srgbClr val="FFFFFF"/>
                </a:solidFill>
              </a:defRPr>
            </a:pPr>
            <a:r>
              <a:rPr lang="en-US" dirty="0"/>
              <a:t>Note .</a:t>
            </a:r>
            <a:r>
              <a:rPr lang="en-US" dirty="0" err="1"/>
              <a:t>claude</a:t>
            </a:r>
            <a:r>
              <a:rPr lang="en-US" dirty="0"/>
              <a:t>/</a:t>
            </a:r>
            <a:r>
              <a:rPr lang="en-US" dirty="0" err="1"/>
              <a:t>settings.json</a:t>
            </a:r>
            <a:r>
              <a:rPr lang="en-US" dirty="0"/>
              <a:t> is loaded when Claude Code starts with tools, permissions, </a:t>
            </a:r>
            <a:r>
              <a:rPr lang="en-US" dirty="0" err="1"/>
              <a:t>etc</a:t>
            </a:r>
            <a:endParaRPr dirty="0"/>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On-Demand</a:t>
            </a:r>
          </a:p>
        </p:txBody>
      </p:sp>
      <p:sp>
        <p:nvSpPr>
          <p:cNvPr id="7" name="TextBox 6"/>
          <p:cNvSpPr txBox="1"/>
          <p:nvPr/>
        </p:nvSpPr>
        <p:spPr>
          <a:xfrm>
            <a:off x="6370167" y="2224630"/>
            <a:ext cx="5364327" cy="3657600"/>
          </a:xfrm>
          <a:prstGeom prst="rect">
            <a:avLst/>
          </a:prstGeom>
          <a:noFill/>
        </p:spPr>
        <p:txBody>
          <a:bodyPr wrap="square">
            <a:spAutoFit/>
          </a:bodyPr>
          <a:lstStyle/>
          <a:p>
            <a:pPr>
              <a:spcAft>
                <a:spcPts val="1200"/>
              </a:spcAft>
              <a:defRPr sz="1800">
                <a:solidFill>
                  <a:srgbClr val="FFFFFF"/>
                </a:solidFill>
              </a:defRPr>
            </a:pPr>
            <a:r>
              <a:t>  Files you @ mention</a:t>
            </a:r>
          </a:p>
          <a:p>
            <a:pPr>
              <a:spcAft>
                <a:spcPts val="1200"/>
              </a:spcAft>
              <a:defRPr sz="1800">
                <a:solidFill>
                  <a:srgbClr val="FFFFFF"/>
                </a:solidFill>
              </a:defRPr>
            </a:pPr>
            <a:r>
              <a:t>  Files found via search/grep</a:t>
            </a:r>
          </a:p>
          <a:p>
            <a:pPr>
              <a:spcAft>
                <a:spcPts val="1200"/>
              </a:spcAft>
              <a:defRPr sz="1800">
                <a:solidFill>
                  <a:srgbClr val="FFFFFF"/>
                </a:solidFill>
              </a:defRPr>
            </a:pPr>
            <a:r>
              <a:t>  Files Claude needs to edit</a:t>
            </a:r>
          </a:p>
          <a:p>
            <a:pPr>
              <a:spcAft>
                <a:spcPts val="1200"/>
              </a:spcAft>
              <a:defRPr sz="1800">
                <a:solidFill>
                  <a:srgbClr val="FFFFFF"/>
                </a:solidFill>
              </a:defRPr>
            </a:pPr>
            <a:r>
              <a:t>  Reference files from skills</a:t>
            </a:r>
          </a:p>
          <a:p>
            <a:pPr>
              <a:spcAft>
                <a:spcPts val="1200"/>
              </a:spcAft>
              <a:defRPr sz="1800">
                <a:solidFill>
                  <a:srgbClr val="FFFFFF"/>
                </a:solidFill>
              </a:defRPr>
            </a:pPr>
            <a:r>
              <a:t>  Auto memory topic files</a:t>
            </a:r>
          </a:p>
        </p:txBody>
      </p:sp>
      <p:sp>
        <p:nvSpPr>
          <p:cNvPr id="9" name="TextBox 8">
            <a:extLst>
              <a:ext uri="{FF2B5EF4-FFF2-40B4-BE49-F238E27FC236}">
                <a16:creationId xmlns:a16="http://schemas.microsoft.com/office/drawing/2014/main" id="{A9AB1748-22D2-1902-74AA-A4EF267BCA03}"/>
              </a:ext>
            </a:extLst>
          </p:cNvPr>
          <p:cNvSpPr txBox="1"/>
          <p:nvPr/>
        </p:nvSpPr>
        <p:spPr>
          <a:xfrm>
            <a:off x="-7436" y="6077634"/>
            <a:ext cx="12243141" cy="646331"/>
          </a:xfrm>
          <a:prstGeom prst="rect">
            <a:avLst/>
          </a:prstGeom>
          <a:noFill/>
        </p:spPr>
        <p:txBody>
          <a:bodyPr wrap="square">
            <a:spAutoFit/>
          </a:bodyPr>
          <a:lstStyle/>
          <a:p>
            <a:r>
              <a:rPr lang="en-US" b="0" i="0" dirty="0">
                <a:solidFill>
                  <a:schemeClr val="bg1"/>
                </a:solidFill>
                <a:effectLst/>
                <a:latin typeface="Anthropic Sans"/>
              </a:rPr>
              <a:t>REMINDER: CLAUDE.md is context, not enforcement. </a:t>
            </a:r>
            <a:br>
              <a:rPr lang="en-US" b="0" i="0" dirty="0">
                <a:solidFill>
                  <a:schemeClr val="bg1"/>
                </a:solidFill>
                <a:effectLst/>
                <a:latin typeface="Anthropic Sans"/>
              </a:rPr>
            </a:br>
            <a:r>
              <a:rPr lang="en-US" b="0" i="0" dirty="0">
                <a:solidFill>
                  <a:schemeClr val="bg1"/>
                </a:solidFill>
                <a:effectLst/>
                <a:latin typeface="Anthropic Sans"/>
              </a:rPr>
              <a:t>Claude reads it and tries to follow it, but there’s no guarantee of strict compliance, especially for vague or conflicting instructions.</a:t>
            </a:r>
            <a:endParaRPr lang="en-US" dirty="0">
              <a:solidFill>
                <a:schemeClr val="bg1"/>
              </a:solidFill>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What's in Context Right Now</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Check Context</a:t>
            </a:r>
          </a:p>
        </p:txBody>
      </p:sp>
      <p:sp>
        <p:nvSpPr>
          <p:cNvPr id="5" name="TextBox 4"/>
          <p:cNvSpPr txBox="1"/>
          <p:nvPr/>
        </p:nvSpPr>
        <p:spPr>
          <a:xfrm>
            <a:off x="457200" y="2286000"/>
            <a:ext cx="5364327" cy="1661993"/>
          </a:xfrm>
          <a:prstGeom prst="rect">
            <a:avLst/>
          </a:prstGeom>
          <a:noFill/>
        </p:spPr>
        <p:txBody>
          <a:bodyPr wrap="square">
            <a:spAutoFit/>
          </a:bodyPr>
          <a:lstStyle/>
          <a:p>
            <a:pPr>
              <a:spcAft>
                <a:spcPts val="1200"/>
              </a:spcAft>
              <a:defRPr sz="1800">
                <a:solidFill>
                  <a:srgbClr val="FFFFFF"/>
                </a:solidFill>
              </a:defRPr>
            </a:pPr>
            <a:r>
              <a:rPr dirty="0"/>
              <a:t>  /co</a:t>
            </a:r>
            <a:r>
              <a:rPr lang="en-US" dirty="0"/>
              <a:t>ntext </a:t>
            </a:r>
            <a:r>
              <a:rPr dirty="0"/>
              <a:t> — see token usage for current session</a:t>
            </a:r>
          </a:p>
          <a:p>
            <a:pPr>
              <a:spcAft>
                <a:spcPts val="1200"/>
              </a:spcAft>
              <a:defRPr sz="1800">
                <a:solidFill>
                  <a:srgbClr val="FFFFFF"/>
                </a:solidFill>
              </a:defRPr>
            </a:pPr>
            <a:r>
              <a:rPr dirty="0"/>
              <a:t>  /verbose — detailed logging of tool use</a:t>
            </a:r>
          </a:p>
          <a:p>
            <a:pPr>
              <a:spcAft>
                <a:spcPts val="1200"/>
              </a:spcAft>
              <a:defRPr sz="1800">
                <a:solidFill>
                  <a:srgbClr val="FFFFFF"/>
                </a:solidFill>
              </a:defRPr>
            </a:pPr>
            <a:r>
              <a:rPr dirty="0"/>
              <a:t>  Watch for: 'reading file X' in Claude's output</a:t>
            </a:r>
          </a:p>
          <a:p>
            <a:pPr>
              <a:spcAft>
                <a:spcPts val="1200"/>
              </a:spcAft>
              <a:defRPr sz="1800">
                <a:solidFill>
                  <a:srgbClr val="FFFFFF"/>
                </a:solidFill>
              </a:defRPr>
            </a:pPr>
            <a:r>
              <a:rPr dirty="0"/>
              <a:t>  Context window: ~200K tokens (Sonnet/Opus)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Manage Context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/clear — reset completely (fresh start)</a:t>
            </a:r>
          </a:p>
          <a:p>
            <a:pPr>
              <a:spcAft>
                <a:spcPts val="1200"/>
              </a:spcAft>
              <a:defRPr sz="1800">
                <a:solidFill>
                  <a:srgbClr val="FFFFFF"/>
                </a:solidFill>
              </a:defRPr>
            </a:pPr>
            <a:r>
              <a:t>  /compact — summarize and continue</a:t>
            </a:r>
          </a:p>
          <a:p>
            <a:pPr>
              <a:spcAft>
                <a:spcPts val="1200"/>
              </a:spcAft>
              <a:defRPr sz="1800">
                <a:solidFill>
                  <a:srgbClr val="FFFFFF"/>
                </a:solidFill>
              </a:defRPr>
            </a:pPr>
            <a:r>
              <a:t>  .gitignore — exclude files permanently</a:t>
            </a:r>
          </a:p>
          <a:p>
            <a:pPr>
              <a:spcAft>
                <a:spcPts val="1200"/>
              </a:spcAft>
              <a:defRPr sz="1800">
                <a:solidFill>
                  <a:srgbClr val="FFFFFF"/>
                </a:solidFill>
              </a:defRPr>
            </a:pPr>
            <a:r>
              <a:t>  Smaller prompts = more room for code</a:t>
            </a:r>
          </a:p>
          <a:p>
            <a:pPr>
              <a:spcAft>
                <a:spcPts val="1200"/>
              </a:spcAft>
              <a:defRPr sz="1800">
                <a:solidFill>
                  <a:srgbClr val="FFFFFF"/>
                </a:solidFill>
              </a:defRPr>
            </a:pPr>
            <a:r>
              <a:t>  One task per session = clean context</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Token Limits &amp; Optimization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Context Full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Responses get shorter and less detailed</a:t>
            </a:r>
          </a:p>
          <a:p>
            <a:pPr>
              <a:spcAft>
                <a:spcPts val="1200"/>
              </a:spcAft>
              <a:defRPr sz="1800">
                <a:solidFill>
                  <a:srgbClr val="FFFFFF"/>
                </a:solidFill>
              </a:defRPr>
            </a:pPr>
            <a:r>
              <a:t>  Claude starts 'forgetting' earlier context</a:t>
            </a:r>
          </a:p>
          <a:p>
            <a:pPr>
              <a:spcAft>
                <a:spcPts val="1200"/>
              </a:spcAft>
              <a:defRPr sz="1800">
                <a:solidFill>
                  <a:srgbClr val="FFFFFF"/>
                </a:solidFill>
              </a:defRPr>
            </a:pPr>
            <a:r>
              <a:t>  Errors increase as reasoning degrades</a:t>
            </a:r>
          </a:p>
          <a:p>
            <a:pPr>
              <a:spcAft>
                <a:spcPts val="1200"/>
              </a:spcAft>
              <a:defRPr sz="1800">
                <a:solidFill>
                  <a:srgbClr val="FFFFFF"/>
                </a:solidFill>
              </a:defRPr>
            </a:pPr>
            <a:r>
              <a:t>  You see 'context window approaching limit'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Stay Efficient</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Use /clear between unrelated tasks</a:t>
            </a:r>
          </a:p>
          <a:p>
            <a:pPr>
              <a:spcAft>
                <a:spcPts val="1200"/>
              </a:spcAft>
              <a:defRPr sz="1800">
                <a:solidFill>
                  <a:srgbClr val="FFFFFF"/>
                </a:solidFill>
              </a:defRPr>
            </a:pPr>
            <a:r>
              <a:t>  Use /compact for long sessions</a:t>
            </a:r>
          </a:p>
          <a:p>
            <a:pPr>
              <a:spcAft>
                <a:spcPts val="1200"/>
              </a:spcAft>
              <a:defRPr sz="1800">
                <a:solidFill>
                  <a:srgbClr val="FFFFFF"/>
                </a:solidFill>
              </a:defRPr>
            </a:pPr>
            <a:r>
              <a:t>  .gitignore for node_modules, build/, dist/</a:t>
            </a:r>
          </a:p>
          <a:p>
            <a:pPr>
              <a:spcAft>
                <a:spcPts val="1200"/>
              </a:spcAft>
              <a:defRPr sz="1800">
                <a:solidFill>
                  <a:srgbClr val="FFFFFF"/>
                </a:solidFill>
              </a:defRPr>
            </a:pPr>
            <a:r>
              <a:t>  @ mention specific files, not directories</a:t>
            </a:r>
          </a:p>
          <a:p>
            <a:pPr>
              <a:spcAft>
                <a:spcPts val="1200"/>
              </a:spcAft>
              <a:defRPr sz="1800">
                <a:solidFill>
                  <a:srgbClr val="FFFFFF"/>
                </a:solidFill>
              </a:defRPr>
            </a:pPr>
            <a:r>
              <a:t>  One task per session is the golden rule</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.gitignore for Claude Code</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GITIGNORE</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.gitignore - Claude Code respects your existing .gitignore</a:t>
            </a:r>
          </a:p>
          <a:p>
            <a:pPr>
              <a:defRPr sz="1400">
                <a:solidFill>
                  <a:srgbClr val="FFFFFF"/>
                </a:solidFill>
                <a:latin typeface="Consolas"/>
              </a:defRPr>
            </a:pPr>
            <a:endParaRPr/>
          </a:p>
          <a:p>
            <a:pPr>
              <a:defRPr sz="1400">
                <a:solidFill>
                  <a:srgbClr val="FFFFFF"/>
                </a:solidFill>
                <a:latin typeface="Consolas"/>
              </a:defRPr>
            </a:pPr>
            <a:r>
              <a:t># Dependencies</a:t>
            </a:r>
          </a:p>
          <a:p>
            <a:pPr>
              <a:defRPr sz="1400">
                <a:solidFill>
                  <a:srgbClr val="FFFFFF"/>
                </a:solidFill>
                <a:latin typeface="Consolas"/>
              </a:defRPr>
            </a:pPr>
            <a:r>
              <a:t>node_modules/</a:t>
            </a:r>
          </a:p>
          <a:p>
            <a:pPr>
              <a:defRPr sz="1400">
                <a:solidFill>
                  <a:srgbClr val="FFFFFF"/>
                </a:solidFill>
                <a:latin typeface="Consolas"/>
              </a:defRPr>
            </a:pPr>
            <a:r>
              <a:t>venv/</a:t>
            </a:r>
          </a:p>
          <a:p>
            <a:pPr>
              <a:defRPr sz="1400">
                <a:solidFill>
                  <a:srgbClr val="FFFFFF"/>
                </a:solidFill>
                <a:latin typeface="Consolas"/>
              </a:defRPr>
            </a:pPr>
            <a:endParaRPr/>
          </a:p>
          <a:p>
            <a:pPr>
              <a:defRPr sz="1400">
                <a:solidFill>
                  <a:srgbClr val="FFFFFF"/>
                </a:solidFill>
                <a:latin typeface="Consolas"/>
              </a:defRPr>
            </a:pPr>
            <a:r>
              <a:t># Build outputs</a:t>
            </a:r>
          </a:p>
          <a:p>
            <a:pPr>
              <a:defRPr sz="1400">
                <a:solidFill>
                  <a:srgbClr val="FFFFFF"/>
                </a:solidFill>
                <a:latin typeface="Consolas"/>
              </a:defRPr>
            </a:pPr>
            <a:r>
              <a:t>dist/</a:t>
            </a:r>
          </a:p>
          <a:p>
            <a:pPr>
              <a:defRPr sz="1400">
                <a:solidFill>
                  <a:srgbClr val="FFFFFF"/>
                </a:solidFill>
                <a:latin typeface="Consolas"/>
              </a:defRPr>
            </a:pPr>
            <a:r>
              <a:t>build/</a:t>
            </a:r>
          </a:p>
          <a:p>
            <a:pPr>
              <a:defRPr sz="1400">
                <a:solidFill>
                  <a:srgbClr val="FFFFFF"/>
                </a:solidFill>
                <a:latin typeface="Consolas"/>
              </a:defRPr>
            </a:pPr>
            <a:endParaRPr/>
          </a:p>
          <a:p>
            <a:pPr>
              <a:defRPr sz="1400">
                <a:solidFill>
                  <a:srgbClr val="FFFFFF"/>
                </a:solidFill>
                <a:latin typeface="Consolas"/>
              </a:defRPr>
            </a:pPr>
            <a:r>
              <a:t># Media</a:t>
            </a:r>
          </a:p>
          <a:p>
            <a:pPr>
              <a:defRPr sz="1400">
                <a:solidFill>
                  <a:srgbClr val="FFFFFF"/>
                </a:solidFill>
                <a:latin typeface="Consolas"/>
              </a:defRPr>
            </a:pPr>
            <a:r>
              <a:t>*.jpg</a:t>
            </a:r>
          </a:p>
          <a:p>
            <a:pPr>
              <a:defRPr sz="1400">
                <a:solidFill>
                  <a:srgbClr val="FFFFFF"/>
                </a:solidFill>
                <a:latin typeface="Consolas"/>
              </a:defRPr>
            </a:pPr>
            <a:r>
              <a:t>*.png</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0">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Managing Large Codebases</a:t>
            </a:r>
          </a:p>
        </p:txBody>
      </p:sp>
      <p:sp>
        <p:nvSpPr>
          <p:cNvPr id="3" name="Rounded Rectangle 2"/>
          <p:cNvSpPr/>
          <p:nvPr/>
        </p:nvSpPr>
        <p:spPr>
          <a:xfrm>
            <a:off x="2301087" y="2011680"/>
            <a:ext cx="2286000" cy="322310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77500" lnSpcReduction="20000"/>
          </a:bodyPr>
          <a:lstStyle/>
          <a:p>
            <a:pPr algn="ctr">
              <a:defRPr sz="1800" b="1">
                <a:solidFill>
                  <a:srgbClr val="FFFFFF"/>
                </a:solidFill>
              </a:defRPr>
            </a:pPr>
            <a:r>
              <a:t>.gitignore</a:t>
            </a:r>
          </a:p>
          <a:p>
            <a:pPr algn="ctr">
              <a:spcBef>
                <a:spcPts val="800"/>
              </a:spcBef>
              <a:defRPr sz="1300">
                <a:solidFill>
                  <a:srgbClr val="8B95A5"/>
                </a:solidFill>
              </a:defRPr>
            </a:pPr>
            <a:r>
              <a:t>node_modules/</a:t>
            </a:r>
            <a:br/>
            <a:r>
              <a:t>dist/</a:t>
            </a:r>
            <a:br/>
            <a:r>
              <a:t>build/</a:t>
            </a:r>
            <a:br/>
            <a:r>
              <a:t>*.min.js</a:t>
            </a:r>
            <a:br/>
            <a:r>
              <a:t>coverage/</a:t>
            </a:r>
            <a:br/>
            <a:r>
              <a:t>.env*</a:t>
            </a:r>
            <a:br/>
            <a:br/>
            <a:r>
              <a:t>Same syntax as .gitignore</a:t>
            </a:r>
          </a:p>
        </p:txBody>
      </p:sp>
      <p:sp>
        <p:nvSpPr>
          <p:cNvPr id="7" name="Rounded Rectangle 6"/>
          <p:cNvSpPr/>
          <p:nvPr/>
        </p:nvSpPr>
        <p:spPr>
          <a:xfrm>
            <a:off x="4952847" y="2011680"/>
            <a:ext cx="2286000" cy="322310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Focused Sessions</a:t>
            </a:r>
          </a:p>
          <a:p>
            <a:pPr algn="ctr">
              <a:spcBef>
                <a:spcPts val="800"/>
              </a:spcBef>
              <a:defRPr sz="1300">
                <a:solidFill>
                  <a:srgbClr val="8B95A5"/>
                </a:solidFill>
              </a:defRPr>
            </a:pPr>
            <a:r>
              <a:t>Work on one module at a time.</a:t>
            </a:r>
            <a:br/>
            <a:r>
              <a:t>@ mention only the files you need.</a:t>
            </a:r>
            <a:br/>
            <a:r>
              <a:t>Use /clear between different modules.</a:t>
            </a:r>
          </a:p>
        </p:txBody>
      </p:sp>
      <p:sp>
        <p:nvSpPr>
          <p:cNvPr id="11" name="Rounded Rectangle 10"/>
          <p:cNvSpPr/>
          <p:nvPr/>
        </p:nvSpPr>
        <p:spPr>
          <a:xfrm>
            <a:off x="7604607" y="2011680"/>
            <a:ext cx="2286000" cy="322310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Guide Claude</a:t>
            </a:r>
          </a:p>
          <a:p>
            <a:pPr algn="ctr">
              <a:spcBef>
                <a:spcPts val="800"/>
              </a:spcBef>
              <a:defRPr sz="1300">
                <a:solidFill>
                  <a:srgbClr val="8B95A5"/>
                </a:solidFill>
              </a:defRPr>
            </a:pPr>
            <a:r>
              <a:t>CLAUDE.md: describe the architecture.</a:t>
            </a:r>
            <a:br/>
            <a:r>
              <a:t>'Auth is in src/auth/, API routes in src/routes/'</a:t>
            </a:r>
            <a:br/>
            <a:r>
              <a:t>Claude searches smarter with a map.</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Context Window: Your Hidden Bottleneck</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3826689"/>
          </a:xfrm>
          <a:prstGeom prst="rect">
            <a:avLst/>
          </a:prstGeom>
          <a:noFill/>
        </p:spPr>
        <p:txBody>
          <a:bodyPr wrap="square">
            <a:spAutoFit/>
          </a:bodyPr>
          <a:lstStyle/>
          <a:p>
            <a:pPr>
              <a:spcBef>
                <a:spcPts val="800"/>
              </a:spcBef>
              <a:spcAft>
                <a:spcPts val="800"/>
              </a:spcAft>
              <a:defRPr sz="2200">
                <a:solidFill>
                  <a:srgbClr val="FFFFFF"/>
                </a:solidFill>
              </a:defRPr>
            </a:pPr>
            <a:r>
              <a:rPr dirty="0"/>
              <a:t>  Context window is finite — currently 200K tokens for Claude, but effective quality degrades well before the limit.</a:t>
            </a:r>
          </a:p>
          <a:p>
            <a:pPr>
              <a:spcBef>
                <a:spcPts val="800"/>
              </a:spcBef>
              <a:spcAft>
                <a:spcPts val="800"/>
              </a:spcAft>
              <a:defRPr sz="2200">
                <a:solidFill>
                  <a:srgbClr val="FFFFFF"/>
                </a:solidFill>
              </a:defRPr>
            </a:pPr>
            <a:r>
              <a:rPr dirty="0"/>
              <a:t>  MCP tools: each server registers tool descriptions that stay in context permanently during the session.</a:t>
            </a:r>
          </a:p>
          <a:p>
            <a:pPr>
              <a:spcBef>
                <a:spcPts val="800"/>
              </a:spcBef>
              <a:spcAft>
                <a:spcPts val="800"/>
              </a:spcAft>
              <a:defRPr sz="2200">
                <a:solidFill>
                  <a:srgbClr val="FFFFFF"/>
                </a:solidFill>
              </a:defRPr>
            </a:pPr>
            <a:r>
              <a:rPr dirty="0"/>
              <a:t>  Solution: Only enable MCP servers you actually need for the current task.</a:t>
            </a:r>
          </a:p>
          <a:p>
            <a:pPr>
              <a:spcBef>
                <a:spcPts val="800"/>
              </a:spcBef>
              <a:spcAft>
                <a:spcPts val="800"/>
              </a:spcAft>
              <a:defRPr sz="2200">
                <a:solidFill>
                  <a:srgbClr val="FFFFFF"/>
                </a:solidFill>
              </a:defRPr>
            </a:pPr>
            <a:r>
              <a:rPr dirty="0"/>
              <a:t>  /co</a:t>
            </a:r>
            <a:r>
              <a:rPr lang="en-US" dirty="0"/>
              <a:t>ntext</a:t>
            </a:r>
            <a:r>
              <a:rPr dirty="0"/>
              <a:t> shows your current token usage — check it periodically.</a:t>
            </a:r>
          </a:p>
          <a:p>
            <a:pPr>
              <a:spcBef>
                <a:spcPts val="800"/>
              </a:spcBef>
              <a:spcAft>
                <a:spcPts val="800"/>
              </a:spcAft>
              <a:defRPr sz="2200">
                <a:solidFill>
                  <a:srgbClr val="FFFFFF"/>
                </a:solidFill>
              </a:defRPr>
            </a:pPr>
            <a:r>
              <a:rPr dirty="0"/>
              <a:t>  /compact summarizes conversation history to free up context without losing key decisions.</a:t>
            </a:r>
          </a:p>
          <a:p>
            <a:pPr>
              <a:spcBef>
                <a:spcPts val="800"/>
              </a:spcBef>
              <a:spcAft>
                <a:spcPts val="800"/>
              </a:spcAft>
              <a:defRPr sz="2200">
                <a:solidFill>
                  <a:srgbClr val="FFFFFF"/>
                </a:solidFill>
              </a:defRPr>
            </a:pPr>
            <a:r>
              <a:rPr dirty="0"/>
              <a:t>  </a:t>
            </a:r>
          </a:p>
        </p:txBody>
      </p:sp>
      <p:pic>
        <p:nvPicPr>
          <p:cNvPr id="5" name="Picture 4" descr="d2-context-window-budget.png"/>
          <p:cNvPicPr>
            <a:picLocks noChangeAspect="1"/>
          </p:cNvPicPr>
          <p:nvPr/>
        </p:nvPicPr>
        <p:blipFill>
          <a:blip r:embed="rId3"/>
          <a:stretch>
            <a:fillRect/>
          </a:stretch>
        </p:blipFill>
        <p:spPr>
          <a:xfrm>
            <a:off x="1981047" y="1371600"/>
            <a:ext cx="8229600" cy="5486400"/>
          </a:xfrm>
          <a:prstGeom prst="rect">
            <a:avLst/>
          </a:prstGeom>
        </p:spPr>
      </p:pic>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A78B5259-8DD6-0D24-DEF6-0DF3AF43D0F9}"/>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0483D9E-D888-A474-6CD9-FC98AFE86C3A}"/>
              </a:ext>
            </a:extLst>
          </p:cNvPr>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 name="TextBox 2">
            <a:extLst>
              <a:ext uri="{FF2B5EF4-FFF2-40B4-BE49-F238E27FC236}">
                <a16:creationId xmlns:a16="http://schemas.microsoft.com/office/drawing/2014/main" id="{B6800880-0013-AEA9-C350-B6B682F249F0}"/>
              </a:ext>
            </a:extLst>
          </p:cNvPr>
          <p:cNvSpPr txBox="1"/>
          <p:nvPr/>
        </p:nvSpPr>
        <p:spPr>
          <a:xfrm>
            <a:off x="457200" y="2286000"/>
            <a:ext cx="11277295" cy="1371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5600" b="1">
                <a:solidFill>
                  <a:srgbClr val="FFFFFF"/>
                </a:solidFill>
              </a:defRPr>
            </a:pPr>
            <a:r>
              <a:rPr kumimoji="0" sz="5600" b="1" i="0" u="none" strike="noStrike" kern="1200" cap="none" spc="0" normalizeH="0" baseline="0" noProof="0">
                <a:ln>
                  <a:noFill/>
                </a:ln>
                <a:solidFill>
                  <a:srgbClr val="FFFFFF"/>
                </a:solidFill>
                <a:effectLst/>
                <a:uLnTx/>
                <a:uFillTx/>
                <a:latin typeface="Calibri"/>
                <a:ea typeface="+mn-ea"/>
                <a:cs typeface="+mn-cs"/>
              </a:rPr>
              <a:t>Session Hygiene: The Discipline That Matters Most</a:t>
            </a:r>
          </a:p>
        </p:txBody>
      </p:sp>
      <p:sp>
        <p:nvSpPr>
          <p:cNvPr id="4" name="TextBox 3">
            <a:extLst>
              <a:ext uri="{FF2B5EF4-FFF2-40B4-BE49-F238E27FC236}">
                <a16:creationId xmlns:a16="http://schemas.microsoft.com/office/drawing/2014/main" id="{AF741E03-5CC1-24D0-4DEE-405F9F545C2B}"/>
              </a:ext>
            </a:extLst>
          </p:cNvPr>
          <p:cNvSpPr txBox="1"/>
          <p:nvPr/>
        </p:nvSpPr>
        <p:spPr>
          <a:xfrm>
            <a:off x="457200" y="4445598"/>
            <a:ext cx="11277295" cy="9144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One task per session — the rule that prevents 80% of failures</a:t>
            </a:r>
          </a:p>
        </p:txBody>
      </p:sp>
    </p:spTree>
    <p:extLst>
      <p:ext uri="{BB962C8B-B14F-4D97-AF65-F5344CB8AC3E}">
        <p14:creationId xmlns:p14="http://schemas.microsoft.com/office/powerpoint/2010/main" val="85364138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DD9A15F2-F951-3A7B-6961-5D085B9D07BA}"/>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870A71AE-B7F4-75F7-C1FC-DC7F21E2E027}"/>
              </a:ext>
            </a:extLst>
          </p:cNvPr>
          <p:cNvSpPr txBox="1"/>
          <p:nvPr/>
        </p:nvSpPr>
        <p:spPr>
          <a:xfrm>
            <a:off x="457200" y="365760"/>
            <a:ext cx="11277295" cy="82296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One Task Per Session. Period.</a:t>
            </a:r>
          </a:p>
        </p:txBody>
      </p:sp>
      <p:sp>
        <p:nvSpPr>
          <p:cNvPr id="3" name="Rectangle 2">
            <a:extLst>
              <a:ext uri="{FF2B5EF4-FFF2-40B4-BE49-F238E27FC236}">
                <a16:creationId xmlns:a16="http://schemas.microsoft.com/office/drawing/2014/main" id="{85089BAD-2173-B098-BD7B-BAC1BDCFCF1C}"/>
              </a:ext>
            </a:extLst>
          </p:cNvPr>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a:extLst>
              <a:ext uri="{FF2B5EF4-FFF2-40B4-BE49-F238E27FC236}">
                <a16:creationId xmlns:a16="http://schemas.microsoft.com/office/drawing/2014/main" id="{4C0A26A4-F4FA-E5CE-15B0-C1380BC264FA}"/>
              </a:ext>
            </a:extLst>
          </p:cNvPr>
          <p:cNvSpPr txBox="1"/>
          <p:nvPr/>
        </p:nvSpPr>
        <p:spPr>
          <a:xfrm>
            <a:off x="457200" y="1463040"/>
            <a:ext cx="11277295" cy="5047536"/>
          </a:xfrm>
          <a:prstGeom prst="rect">
            <a:avLst/>
          </a:prstGeom>
          <a:noFill/>
        </p:spPr>
        <p:txBody>
          <a:bodyPr wrap="square">
            <a:spAutoFit/>
          </a:bodyPr>
          <a:lstStyle/>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dirty="0">
                <a:ln>
                  <a:noFill/>
                </a:ln>
                <a:solidFill>
                  <a:srgbClr val="FFFFFF"/>
                </a:solidFill>
                <a:effectLst/>
                <a:uLnTx/>
                <a:uFillTx/>
                <a:latin typeface="Calibri"/>
                <a:ea typeface="+mn-ea"/>
                <a:cs typeface="+mn-cs"/>
              </a:rPr>
              <a:t>  Context degrades over long sessions — like starting a meeting where someone's been talking for 20 minutes about somet</a:t>
            </a:r>
            <a:r>
              <a:rPr kumimoji="0" lang="en-US" sz="2200" b="0" i="0" u="none" strike="noStrike" kern="1200" cap="none" spc="0" normalizeH="0" baseline="0" noProof="0" dirty="0">
                <a:ln>
                  <a:noFill/>
                </a:ln>
                <a:solidFill>
                  <a:srgbClr val="FFFFFF"/>
                </a:solidFill>
                <a:effectLst/>
                <a:uLnTx/>
                <a:uFillTx/>
                <a:latin typeface="Calibri"/>
                <a:ea typeface="+mn-ea"/>
                <a:cs typeface="+mn-cs"/>
              </a:rPr>
              <a:t>hing</a:t>
            </a:r>
            <a:endParaRPr kumimoji="0" sz="2200" b="0" i="0" u="none" strike="noStrike" kern="1200" cap="none" spc="0" normalizeH="0" baseline="0" noProof="0" dirty="0">
              <a:ln>
                <a:noFill/>
              </a:ln>
              <a:solidFill>
                <a:srgbClr val="FFFFFF"/>
              </a:solidFill>
              <a:effectLst/>
              <a:uLnTx/>
              <a:uFillTx/>
              <a:latin typeface="Calibri"/>
              <a:ea typeface="+mn-ea"/>
              <a:cs typeface="+mn-cs"/>
            </a:endParaRP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dirty="0">
                <a:ln>
                  <a:noFill/>
                </a:ln>
                <a:solidFill>
                  <a:srgbClr val="FFFFFF"/>
                </a:solidFill>
                <a:effectLst/>
                <a:uLnTx/>
                <a:uFillTx/>
                <a:latin typeface="Calibri"/>
                <a:ea typeface="+mn-ea"/>
                <a:cs typeface="+mn-cs"/>
              </a:rPr>
              <a:t>  The correction spiral: after 2 failed attempts to correct output, your context is poisoned with conflicting </a:t>
            </a:r>
            <a:r>
              <a:rPr kumimoji="0" sz="2200" b="0" i="0" u="none" strike="noStrike" kern="1200" cap="none" spc="0" normalizeH="0" baseline="0" noProof="0" dirty="0" err="1">
                <a:ln>
                  <a:noFill/>
                </a:ln>
                <a:solidFill>
                  <a:srgbClr val="FFFFFF"/>
                </a:solidFill>
                <a:effectLst/>
                <a:uLnTx/>
                <a:uFillTx/>
                <a:latin typeface="Calibri"/>
                <a:ea typeface="+mn-ea"/>
                <a:cs typeface="+mn-cs"/>
              </a:rPr>
              <a:t>instructi</a:t>
            </a:r>
            <a:r>
              <a:rPr lang="en-US" sz="2200" dirty="0" err="1">
                <a:solidFill>
                  <a:srgbClr val="FFFFFF"/>
                </a:solidFill>
                <a:latin typeface="Calibri"/>
              </a:rPr>
              <a:t>ons</a:t>
            </a:r>
            <a:endParaRPr kumimoji="0" sz="2200" b="0" i="0" u="none" strike="noStrike" kern="1200" cap="none" spc="0" normalizeH="0" baseline="0" noProof="0" dirty="0">
              <a:ln>
                <a:noFill/>
              </a:ln>
              <a:solidFill>
                <a:srgbClr val="FFFFFF"/>
              </a:solidFill>
              <a:effectLst/>
              <a:uLnTx/>
              <a:uFillTx/>
              <a:latin typeface="Calibri"/>
              <a:ea typeface="+mn-ea"/>
              <a:cs typeface="+mn-cs"/>
            </a:endParaRP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dirty="0">
                <a:ln>
                  <a:noFill/>
                </a:ln>
                <a:solidFill>
                  <a:srgbClr val="FFFFFF"/>
                </a:solidFill>
                <a:effectLst/>
                <a:uLnTx/>
                <a:uFillTx/>
                <a:latin typeface="Calibri"/>
                <a:ea typeface="+mn-ea"/>
                <a:cs typeface="+mn-cs"/>
              </a:rPr>
              <a:t>  Quote: 'I spent months blaming Claude for not understanding my project while doing nothing to help it understand.</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dirty="0">
                <a:ln>
                  <a:noFill/>
                </a:ln>
                <a:solidFill>
                  <a:srgbClr val="FFFFFF"/>
                </a:solidFill>
                <a:effectLst/>
                <a:uLnTx/>
                <a:uFillTx/>
                <a:latin typeface="Calibri"/>
                <a:ea typeface="+mn-ea"/>
                <a:cs typeface="+mn-cs"/>
              </a:rPr>
              <a:t>  Rule of thumb: one task per session.</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endParaRPr kumimoji="0" lang="en-US" sz="2200" b="0" i="0" u="none" strike="noStrike" kern="1200" cap="none" spc="0" normalizeH="0" baseline="0" noProof="0" dirty="0">
              <a:ln>
                <a:noFill/>
              </a:ln>
              <a:solidFill>
                <a:srgbClr val="FFFFFF"/>
              </a:solidFill>
              <a:effectLst/>
              <a:uLnTx/>
              <a:uFillTx/>
              <a:latin typeface="Calibri"/>
              <a:ea typeface="+mn-ea"/>
              <a:cs typeface="+mn-cs"/>
            </a:endParaRP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dirty="0">
                <a:ln>
                  <a:noFill/>
                </a:ln>
                <a:solidFill>
                  <a:srgbClr val="FFFFFF"/>
                </a:solidFill>
                <a:effectLst/>
                <a:uLnTx/>
                <a:uFillTx/>
                <a:latin typeface="Calibri"/>
                <a:ea typeface="+mn-ea"/>
                <a:cs typeface="+mn-cs"/>
              </a:rPr>
              <a:t>The anti-pattern has a name: 'vibes-driven development' — just hoping Claude gets it right without structure.</a:t>
            </a:r>
          </a:p>
          <a:p>
            <a:pPr marL="0" marR="0" lvl="0" indent="0" algn="l" defTabSz="457200" rtl="0" eaLnBrk="1" fontAlgn="auto" latinLnBrk="0" hangingPunct="1">
              <a:lnSpc>
                <a:spcPct val="100000"/>
              </a:lnSpc>
              <a:spcBef>
                <a:spcPts val="800"/>
              </a:spcBef>
              <a:spcAft>
                <a:spcPts val="800"/>
              </a:spcAft>
              <a:buClrTx/>
              <a:buSzTx/>
              <a:buFontTx/>
              <a:buNone/>
              <a:tabLst/>
              <a:defRPr sz="2200">
                <a:solidFill>
                  <a:srgbClr val="FFFFFF"/>
                </a:solidFill>
              </a:defRPr>
            </a:pPr>
            <a:r>
              <a:rPr kumimoji="0" sz="2200" b="0" i="0" u="none" strike="noStrike" kern="1200" cap="none" spc="0" normalizeH="0" baseline="0" noProof="0" dirty="0">
                <a:ln>
                  <a:noFill/>
                </a:ln>
                <a:solidFill>
                  <a:srgbClr val="FFFFFF"/>
                </a:solidFill>
                <a:effectLst/>
                <a:uLnTx/>
                <a:uFillTx/>
                <a:latin typeface="Calibri"/>
                <a:ea typeface="+mn-ea"/>
                <a:cs typeface="+mn-cs"/>
              </a:rPr>
              <a:t> </a:t>
            </a:r>
          </a:p>
        </p:txBody>
      </p:sp>
    </p:spTree>
    <p:extLst>
      <p:ext uri="{BB962C8B-B14F-4D97-AF65-F5344CB8AC3E}">
        <p14:creationId xmlns:p14="http://schemas.microsoft.com/office/powerpoint/2010/main" val="184462412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a:extLst>
            <a:ext uri="{FF2B5EF4-FFF2-40B4-BE49-F238E27FC236}">
              <a16:creationId xmlns:a16="http://schemas.microsoft.com/office/drawing/2014/main" id="{35A1034F-C43B-DAEC-E8D0-0E2601D047A4}"/>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40C9853-E11E-763D-57E8-E9EEE7C3CA9F}"/>
              </a:ext>
            </a:extLst>
          </p:cNvPr>
          <p:cNvSpPr txBox="1"/>
          <p:nvPr/>
        </p:nvSpPr>
        <p:spPr>
          <a:xfrm>
            <a:off x="457200" y="365760"/>
            <a:ext cx="11277295" cy="73152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Case Study: The Payment Module Disaster</a:t>
            </a:r>
          </a:p>
        </p:txBody>
      </p:sp>
      <p:sp>
        <p:nvSpPr>
          <p:cNvPr id="3" name="Rounded Rectangle 2">
            <a:extLst>
              <a:ext uri="{FF2B5EF4-FFF2-40B4-BE49-F238E27FC236}">
                <a16:creationId xmlns:a16="http://schemas.microsoft.com/office/drawing/2014/main" id="{53F81F94-6A03-5147-3B44-E9F435B86BDA}"/>
              </a:ext>
            </a:extLst>
          </p:cNvPr>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a:extLst>
              <a:ext uri="{FF2B5EF4-FFF2-40B4-BE49-F238E27FC236}">
                <a16:creationId xmlns:a16="http://schemas.microsoft.com/office/drawing/2014/main" id="{757EBF01-E2D4-0FE3-89C6-243552570298}"/>
              </a:ext>
            </a:extLst>
          </p:cNvPr>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a:extLst>
              <a:ext uri="{FF2B5EF4-FFF2-40B4-BE49-F238E27FC236}">
                <a16:creationId xmlns:a16="http://schemas.microsoft.com/office/drawing/2014/main" id="{C91AD238-5558-DCE7-5446-425878D2A9F3}"/>
              </a:ext>
            </a:extLst>
          </p:cNvPr>
          <p:cNvSpPr txBox="1"/>
          <p:nvPr/>
        </p:nvSpPr>
        <p:spPr>
          <a:xfrm>
            <a:off x="2918307" y="1211580"/>
            <a:ext cx="320040" cy="32004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b="1">
                <a:solidFill>
                  <a:srgbClr val="0B0F1A"/>
                </a:solidFill>
              </a:defRPr>
            </a:pPr>
            <a:r>
              <a:rPr kumimoji="0" sz="1400" b="1" i="0" u="none" strike="noStrike" kern="1200" cap="none" spc="0" normalizeH="0" baseline="0" noProof="0">
                <a:ln>
                  <a:noFill/>
                </a:ln>
                <a:solidFill>
                  <a:srgbClr val="0B0F1A"/>
                </a:solidFill>
                <a:effectLst/>
                <a:uLnTx/>
                <a:uFillTx/>
                <a:latin typeface="Calibri"/>
                <a:ea typeface="+mn-ea"/>
                <a:cs typeface="+mn-cs"/>
              </a:rPr>
              <a:t>1</a:t>
            </a:r>
          </a:p>
        </p:txBody>
      </p:sp>
      <p:sp>
        <p:nvSpPr>
          <p:cNvPr id="6" name="Right Arrow 5">
            <a:extLst>
              <a:ext uri="{FF2B5EF4-FFF2-40B4-BE49-F238E27FC236}">
                <a16:creationId xmlns:a16="http://schemas.microsoft.com/office/drawing/2014/main" id="{995F105F-D040-02B4-AAA0-A4A5E3D06E5D}"/>
              </a:ext>
            </a:extLst>
          </p:cNvPr>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7" name="Rounded Rectangle 6">
            <a:extLst>
              <a:ext uri="{FF2B5EF4-FFF2-40B4-BE49-F238E27FC236}">
                <a16:creationId xmlns:a16="http://schemas.microsoft.com/office/drawing/2014/main" id="{FFDAA741-58C7-E85C-6AF3-661B4969CA07}"/>
              </a:ext>
            </a:extLst>
          </p:cNvPr>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a:extLst>
              <a:ext uri="{FF2B5EF4-FFF2-40B4-BE49-F238E27FC236}">
                <a16:creationId xmlns:a16="http://schemas.microsoft.com/office/drawing/2014/main" id="{B7A1DCCE-6DDE-2EEF-3000-977FC4A9336F}"/>
              </a:ext>
            </a:extLst>
          </p:cNvPr>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a:extLst>
              <a:ext uri="{FF2B5EF4-FFF2-40B4-BE49-F238E27FC236}">
                <a16:creationId xmlns:a16="http://schemas.microsoft.com/office/drawing/2014/main" id="{D18CEA53-F695-F20E-0065-34692DD9A607}"/>
              </a:ext>
            </a:extLst>
          </p:cNvPr>
          <p:cNvSpPr txBox="1"/>
          <p:nvPr/>
        </p:nvSpPr>
        <p:spPr>
          <a:xfrm>
            <a:off x="4289907" y="1211580"/>
            <a:ext cx="320040" cy="32004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b="1">
                <a:solidFill>
                  <a:srgbClr val="0B0F1A"/>
                </a:solidFill>
              </a:defRPr>
            </a:pPr>
            <a:r>
              <a:rPr kumimoji="0" sz="1400" b="1" i="0" u="none" strike="noStrike" kern="1200" cap="none" spc="0" normalizeH="0" baseline="0" noProof="0">
                <a:ln>
                  <a:noFill/>
                </a:ln>
                <a:solidFill>
                  <a:srgbClr val="0B0F1A"/>
                </a:solidFill>
                <a:effectLst/>
                <a:uLnTx/>
                <a:uFillTx/>
                <a:latin typeface="Calibri"/>
                <a:ea typeface="+mn-ea"/>
                <a:cs typeface="+mn-cs"/>
              </a:rPr>
              <a:t>2</a:t>
            </a:r>
          </a:p>
        </p:txBody>
      </p:sp>
      <p:sp>
        <p:nvSpPr>
          <p:cNvPr id="10" name="Right Arrow 9">
            <a:extLst>
              <a:ext uri="{FF2B5EF4-FFF2-40B4-BE49-F238E27FC236}">
                <a16:creationId xmlns:a16="http://schemas.microsoft.com/office/drawing/2014/main" id="{BD8EBE58-B7BF-84DC-81B6-6C6E433770EE}"/>
              </a:ext>
            </a:extLst>
          </p:cNvPr>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1" name="Rounded Rectangle 10">
            <a:extLst>
              <a:ext uri="{FF2B5EF4-FFF2-40B4-BE49-F238E27FC236}">
                <a16:creationId xmlns:a16="http://schemas.microsoft.com/office/drawing/2014/main" id="{7AFBF7C6-BD62-A8F3-3091-A4332CAFEFF2}"/>
              </a:ext>
            </a:extLst>
          </p:cNvPr>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a:extLst>
              <a:ext uri="{FF2B5EF4-FFF2-40B4-BE49-F238E27FC236}">
                <a16:creationId xmlns:a16="http://schemas.microsoft.com/office/drawing/2014/main" id="{972AF9D3-3448-E206-146D-19F64CD57316}"/>
              </a:ext>
            </a:extLst>
          </p:cNvPr>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a:extLst>
              <a:ext uri="{FF2B5EF4-FFF2-40B4-BE49-F238E27FC236}">
                <a16:creationId xmlns:a16="http://schemas.microsoft.com/office/drawing/2014/main" id="{ED36DB14-EC57-1F8D-032B-550DA0ABF2E7}"/>
              </a:ext>
            </a:extLst>
          </p:cNvPr>
          <p:cNvSpPr txBox="1"/>
          <p:nvPr/>
        </p:nvSpPr>
        <p:spPr>
          <a:xfrm>
            <a:off x="5661507" y="1211580"/>
            <a:ext cx="320040" cy="32004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b="1">
                <a:solidFill>
                  <a:srgbClr val="0B0F1A"/>
                </a:solidFill>
              </a:defRPr>
            </a:pPr>
            <a:r>
              <a:rPr kumimoji="0" sz="1400" b="1" i="0" u="none" strike="noStrike" kern="1200" cap="none" spc="0" normalizeH="0" baseline="0" noProof="0">
                <a:ln>
                  <a:noFill/>
                </a:ln>
                <a:solidFill>
                  <a:srgbClr val="0B0F1A"/>
                </a:solidFill>
                <a:effectLst/>
                <a:uLnTx/>
                <a:uFillTx/>
                <a:latin typeface="Calibri"/>
                <a:ea typeface="+mn-ea"/>
                <a:cs typeface="+mn-cs"/>
              </a:rPr>
              <a:t>3</a:t>
            </a:r>
          </a:p>
        </p:txBody>
      </p:sp>
      <p:sp>
        <p:nvSpPr>
          <p:cNvPr id="14" name="Right Arrow 13">
            <a:extLst>
              <a:ext uri="{FF2B5EF4-FFF2-40B4-BE49-F238E27FC236}">
                <a16:creationId xmlns:a16="http://schemas.microsoft.com/office/drawing/2014/main" id="{4B838C51-2EF3-36D8-25F9-B4DC99683D80}"/>
              </a:ext>
            </a:extLst>
          </p:cNvPr>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5" name="Rounded Rectangle 14">
            <a:extLst>
              <a:ext uri="{FF2B5EF4-FFF2-40B4-BE49-F238E27FC236}">
                <a16:creationId xmlns:a16="http://schemas.microsoft.com/office/drawing/2014/main" id="{F8C7B600-639E-7662-0FB0-468A0B729420}"/>
              </a:ext>
            </a:extLst>
          </p:cNvPr>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6" name="Oval 15">
            <a:extLst>
              <a:ext uri="{FF2B5EF4-FFF2-40B4-BE49-F238E27FC236}">
                <a16:creationId xmlns:a16="http://schemas.microsoft.com/office/drawing/2014/main" id="{54761936-8B45-9A29-5151-089D06C19F73}"/>
              </a:ext>
            </a:extLst>
          </p:cNvPr>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7" name="TextBox 16">
            <a:extLst>
              <a:ext uri="{FF2B5EF4-FFF2-40B4-BE49-F238E27FC236}">
                <a16:creationId xmlns:a16="http://schemas.microsoft.com/office/drawing/2014/main" id="{8AAD6A58-02C8-10D8-78DE-BAFA955B6D11}"/>
              </a:ext>
            </a:extLst>
          </p:cNvPr>
          <p:cNvSpPr txBox="1"/>
          <p:nvPr/>
        </p:nvSpPr>
        <p:spPr>
          <a:xfrm>
            <a:off x="7033107" y="1211580"/>
            <a:ext cx="320040" cy="32004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b="1">
                <a:solidFill>
                  <a:srgbClr val="0B0F1A"/>
                </a:solidFill>
              </a:defRPr>
            </a:pPr>
            <a:r>
              <a:rPr kumimoji="0" sz="1400" b="1" i="0" u="none" strike="noStrike" kern="1200" cap="none" spc="0" normalizeH="0" baseline="0" noProof="0">
                <a:ln>
                  <a:noFill/>
                </a:ln>
                <a:solidFill>
                  <a:srgbClr val="0B0F1A"/>
                </a:solidFill>
                <a:effectLst/>
                <a:uLnTx/>
                <a:uFillTx/>
                <a:latin typeface="Calibri"/>
                <a:ea typeface="+mn-ea"/>
                <a:cs typeface="+mn-cs"/>
              </a:rPr>
              <a:t>4</a:t>
            </a:r>
          </a:p>
        </p:txBody>
      </p:sp>
      <p:sp>
        <p:nvSpPr>
          <p:cNvPr id="18" name="Right Arrow 17">
            <a:extLst>
              <a:ext uri="{FF2B5EF4-FFF2-40B4-BE49-F238E27FC236}">
                <a16:creationId xmlns:a16="http://schemas.microsoft.com/office/drawing/2014/main" id="{895DD84E-C863-394C-A594-21C17F670D51}"/>
              </a:ext>
            </a:extLst>
          </p:cNvPr>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9" name="Rounded Rectangle 18">
            <a:extLst>
              <a:ext uri="{FF2B5EF4-FFF2-40B4-BE49-F238E27FC236}">
                <a16:creationId xmlns:a16="http://schemas.microsoft.com/office/drawing/2014/main" id="{A8B1CD69-509F-9A9D-9762-E4EF8F326A75}"/>
              </a:ext>
            </a:extLst>
          </p:cNvPr>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0" name="Oval 19">
            <a:extLst>
              <a:ext uri="{FF2B5EF4-FFF2-40B4-BE49-F238E27FC236}">
                <a16:creationId xmlns:a16="http://schemas.microsoft.com/office/drawing/2014/main" id="{3E2A7866-A343-D138-8C8C-771E7F6B0B7D}"/>
              </a:ext>
            </a:extLst>
          </p:cNvPr>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a:extLst>
              <a:ext uri="{FF2B5EF4-FFF2-40B4-BE49-F238E27FC236}">
                <a16:creationId xmlns:a16="http://schemas.microsoft.com/office/drawing/2014/main" id="{185C78D6-4B5F-2C33-2181-5B53ED2CF798}"/>
              </a:ext>
            </a:extLst>
          </p:cNvPr>
          <p:cNvSpPr txBox="1"/>
          <p:nvPr/>
        </p:nvSpPr>
        <p:spPr>
          <a:xfrm>
            <a:off x="8404707" y="1211580"/>
            <a:ext cx="320040" cy="32004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b="1">
                <a:solidFill>
                  <a:srgbClr val="0B0F1A"/>
                </a:solidFill>
              </a:defRPr>
            </a:pPr>
            <a:r>
              <a:rPr kumimoji="0" sz="1400" b="1" i="0" u="none" strike="noStrike" kern="1200" cap="none" spc="0" normalizeH="0" baseline="0" noProof="0">
                <a:ln>
                  <a:noFill/>
                </a:ln>
                <a:solidFill>
                  <a:srgbClr val="0B0F1A"/>
                </a:solidFill>
                <a:effectLst/>
                <a:uLnTx/>
                <a:uFillTx/>
                <a:latin typeface="Calibri"/>
                <a:ea typeface="+mn-ea"/>
                <a:cs typeface="+mn-cs"/>
              </a:rPr>
              <a:t>5</a:t>
            </a:r>
          </a:p>
        </p:txBody>
      </p:sp>
      <p:sp>
        <p:nvSpPr>
          <p:cNvPr id="22" name="Right Arrow 21">
            <a:extLst>
              <a:ext uri="{FF2B5EF4-FFF2-40B4-BE49-F238E27FC236}">
                <a16:creationId xmlns:a16="http://schemas.microsoft.com/office/drawing/2014/main" id="{58EE239A-7A0C-58D0-7B65-46507047C8B7}"/>
              </a:ext>
            </a:extLst>
          </p:cNvPr>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3" name="Rounded Rectangle 22">
            <a:extLst>
              <a:ext uri="{FF2B5EF4-FFF2-40B4-BE49-F238E27FC236}">
                <a16:creationId xmlns:a16="http://schemas.microsoft.com/office/drawing/2014/main" id="{859DAB18-5956-C466-AE7D-017CCC4FA85E}"/>
              </a:ext>
            </a:extLst>
          </p:cNvPr>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4" name="Oval 23">
            <a:extLst>
              <a:ext uri="{FF2B5EF4-FFF2-40B4-BE49-F238E27FC236}">
                <a16:creationId xmlns:a16="http://schemas.microsoft.com/office/drawing/2014/main" id="{84C70973-80AD-F787-E7EC-48D80A7B03E3}"/>
              </a:ext>
            </a:extLst>
          </p:cNvPr>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5" name="TextBox 24">
            <a:extLst>
              <a:ext uri="{FF2B5EF4-FFF2-40B4-BE49-F238E27FC236}">
                <a16:creationId xmlns:a16="http://schemas.microsoft.com/office/drawing/2014/main" id="{7BFDD68A-4DD8-67F7-0CA4-992B585A9B4C}"/>
              </a:ext>
            </a:extLst>
          </p:cNvPr>
          <p:cNvSpPr txBox="1"/>
          <p:nvPr/>
        </p:nvSpPr>
        <p:spPr>
          <a:xfrm>
            <a:off x="9776307" y="1211580"/>
            <a:ext cx="320040" cy="32004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b="1">
                <a:solidFill>
                  <a:srgbClr val="0B0F1A"/>
                </a:solidFill>
              </a:defRPr>
            </a:pPr>
            <a:r>
              <a:rPr kumimoji="0" sz="1400" b="1" i="0" u="none" strike="noStrike" kern="1200" cap="none" spc="0" normalizeH="0" baseline="0" noProof="0">
                <a:ln>
                  <a:noFill/>
                </a:ln>
                <a:solidFill>
                  <a:srgbClr val="0B0F1A"/>
                </a:solidFill>
                <a:effectLst/>
                <a:uLnTx/>
                <a:uFillTx/>
                <a:latin typeface="Calibri"/>
                <a:ea typeface="+mn-ea"/>
                <a:cs typeface="+mn-cs"/>
              </a:rPr>
              <a:t>6</a:t>
            </a:r>
          </a:p>
        </p:txBody>
      </p:sp>
      <p:sp>
        <p:nvSpPr>
          <p:cNvPr id="26" name="TextBox 25">
            <a:extLst>
              <a:ext uri="{FF2B5EF4-FFF2-40B4-BE49-F238E27FC236}">
                <a16:creationId xmlns:a16="http://schemas.microsoft.com/office/drawing/2014/main" id="{68C728BB-0E6A-9C0E-7DE6-E1087F0915B1}"/>
              </a:ext>
            </a:extLst>
          </p:cNvPr>
          <p:cNvSpPr txBox="1"/>
          <p:nvPr/>
        </p:nvSpPr>
        <p:spPr>
          <a:xfrm>
            <a:off x="1371600" y="2743200"/>
            <a:ext cx="4572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b="1">
                <a:solidFill>
                  <a:srgbClr val="00D4AA"/>
                </a:solidFill>
              </a:defRPr>
            </a:pPr>
            <a:r>
              <a:rPr kumimoji="0" sz="2000" b="1" i="0" u="none" strike="noStrike" kern="1200" cap="none" spc="0" normalizeH="0" baseline="0" noProof="0">
                <a:ln>
                  <a:noFill/>
                </a:ln>
                <a:solidFill>
                  <a:srgbClr val="00D4AA"/>
                </a:solidFill>
                <a:effectLst/>
                <a:uLnTx/>
                <a:uFillTx/>
                <a:latin typeface="Calibri"/>
                <a:ea typeface="+mn-ea"/>
                <a:cs typeface="+mn-cs"/>
              </a:rPr>
              <a:t>1</a:t>
            </a:r>
          </a:p>
        </p:txBody>
      </p:sp>
      <p:sp>
        <p:nvSpPr>
          <p:cNvPr id="27" name="TextBox 26">
            <a:extLst>
              <a:ext uri="{FF2B5EF4-FFF2-40B4-BE49-F238E27FC236}">
                <a16:creationId xmlns:a16="http://schemas.microsoft.com/office/drawing/2014/main" id="{57B50C70-382B-6E01-49B6-367DDC70F9DD}"/>
              </a:ext>
            </a:extLst>
          </p:cNvPr>
          <p:cNvSpPr txBox="1"/>
          <p:nvPr/>
        </p:nvSpPr>
        <p:spPr>
          <a:xfrm>
            <a:off x="1828800" y="2743200"/>
            <a:ext cx="8991295" cy="5486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Developer starts: 'Add payment processing to our app'</a:t>
            </a:r>
          </a:p>
        </p:txBody>
      </p:sp>
      <p:sp>
        <p:nvSpPr>
          <p:cNvPr id="28" name="TextBox 27">
            <a:extLst>
              <a:ext uri="{FF2B5EF4-FFF2-40B4-BE49-F238E27FC236}">
                <a16:creationId xmlns:a16="http://schemas.microsoft.com/office/drawing/2014/main" id="{B4BF9840-A095-67E9-3E79-15C709484487}"/>
              </a:ext>
            </a:extLst>
          </p:cNvPr>
          <p:cNvSpPr txBox="1"/>
          <p:nvPr/>
        </p:nvSpPr>
        <p:spPr>
          <a:xfrm>
            <a:off x="1371600" y="3383280"/>
            <a:ext cx="4572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b="1">
                <a:solidFill>
                  <a:srgbClr val="00D4AA"/>
                </a:solidFill>
              </a:defRPr>
            </a:pPr>
            <a:r>
              <a:rPr kumimoji="0" sz="2000" b="1" i="0" u="none" strike="noStrike" kern="1200" cap="none" spc="0" normalizeH="0" baseline="0" noProof="0">
                <a:ln>
                  <a:noFill/>
                </a:ln>
                <a:solidFill>
                  <a:srgbClr val="00D4AA"/>
                </a:solidFill>
                <a:effectLst/>
                <a:uLnTx/>
                <a:uFillTx/>
                <a:latin typeface="Calibri"/>
                <a:ea typeface="+mn-ea"/>
                <a:cs typeface="+mn-cs"/>
              </a:rPr>
              <a:t>2</a:t>
            </a:r>
          </a:p>
        </p:txBody>
      </p:sp>
      <p:sp>
        <p:nvSpPr>
          <p:cNvPr id="29" name="TextBox 28">
            <a:extLst>
              <a:ext uri="{FF2B5EF4-FFF2-40B4-BE49-F238E27FC236}">
                <a16:creationId xmlns:a16="http://schemas.microsoft.com/office/drawing/2014/main" id="{674999FF-70DD-8A6B-8436-A9D2A057ADE1}"/>
              </a:ext>
            </a:extLst>
          </p:cNvPr>
          <p:cNvSpPr txBox="1"/>
          <p:nvPr/>
        </p:nvSpPr>
        <p:spPr>
          <a:xfrm>
            <a:off x="1828800" y="3383280"/>
            <a:ext cx="8991295" cy="5486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Mid-session pivot: 'Also fix the auth bug'</a:t>
            </a:r>
          </a:p>
        </p:txBody>
      </p:sp>
      <p:sp>
        <p:nvSpPr>
          <p:cNvPr id="30" name="TextBox 29">
            <a:extLst>
              <a:ext uri="{FF2B5EF4-FFF2-40B4-BE49-F238E27FC236}">
                <a16:creationId xmlns:a16="http://schemas.microsoft.com/office/drawing/2014/main" id="{A5A53C80-C8AC-F98C-1278-45D5E5B6F858}"/>
              </a:ext>
            </a:extLst>
          </p:cNvPr>
          <p:cNvSpPr txBox="1"/>
          <p:nvPr/>
        </p:nvSpPr>
        <p:spPr>
          <a:xfrm>
            <a:off x="1371600" y="4023360"/>
            <a:ext cx="4572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b="1">
                <a:solidFill>
                  <a:srgbClr val="00D4AA"/>
                </a:solidFill>
              </a:defRPr>
            </a:pPr>
            <a:r>
              <a:rPr kumimoji="0" sz="2000" b="1" i="0" u="none" strike="noStrike" kern="1200" cap="none" spc="0" normalizeH="0" baseline="0" noProof="0">
                <a:ln>
                  <a:noFill/>
                </a:ln>
                <a:solidFill>
                  <a:srgbClr val="00D4AA"/>
                </a:solidFill>
                <a:effectLst/>
                <a:uLnTx/>
                <a:uFillTx/>
                <a:latin typeface="Calibri"/>
                <a:ea typeface="+mn-ea"/>
                <a:cs typeface="+mn-cs"/>
              </a:rPr>
              <a:t>3</a:t>
            </a:r>
          </a:p>
        </p:txBody>
      </p:sp>
      <p:sp>
        <p:nvSpPr>
          <p:cNvPr id="31" name="TextBox 30">
            <a:extLst>
              <a:ext uri="{FF2B5EF4-FFF2-40B4-BE49-F238E27FC236}">
                <a16:creationId xmlns:a16="http://schemas.microsoft.com/office/drawing/2014/main" id="{4E2F94BE-7A60-9EE0-ABC4-16F12A8065C1}"/>
              </a:ext>
            </a:extLst>
          </p:cNvPr>
          <p:cNvSpPr txBox="1"/>
          <p:nvPr/>
        </p:nvSpPr>
        <p:spPr>
          <a:xfrm>
            <a:off x="1828800" y="4023360"/>
            <a:ext cx="8991295" cy="5486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Claude mixes payment logic with auth fixes — neither works</a:t>
            </a:r>
          </a:p>
        </p:txBody>
      </p:sp>
      <p:sp>
        <p:nvSpPr>
          <p:cNvPr id="32" name="TextBox 31">
            <a:extLst>
              <a:ext uri="{FF2B5EF4-FFF2-40B4-BE49-F238E27FC236}">
                <a16:creationId xmlns:a16="http://schemas.microsoft.com/office/drawing/2014/main" id="{648F4AC1-A40D-D273-CC04-79A7F87F7625}"/>
              </a:ext>
            </a:extLst>
          </p:cNvPr>
          <p:cNvSpPr txBox="1"/>
          <p:nvPr/>
        </p:nvSpPr>
        <p:spPr>
          <a:xfrm>
            <a:off x="1371600" y="4663440"/>
            <a:ext cx="4572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b="1">
                <a:solidFill>
                  <a:srgbClr val="00D4AA"/>
                </a:solidFill>
              </a:defRPr>
            </a:pPr>
            <a:r>
              <a:rPr kumimoji="0" sz="2000" b="1" i="0" u="none" strike="noStrike" kern="1200" cap="none" spc="0" normalizeH="0" baseline="0" noProof="0">
                <a:ln>
                  <a:noFill/>
                </a:ln>
                <a:solidFill>
                  <a:srgbClr val="00D4AA"/>
                </a:solidFill>
                <a:effectLst/>
                <a:uLnTx/>
                <a:uFillTx/>
                <a:latin typeface="Calibri"/>
                <a:ea typeface="+mn-ea"/>
                <a:cs typeface="+mn-cs"/>
              </a:rPr>
              <a:t>4</a:t>
            </a:r>
          </a:p>
        </p:txBody>
      </p:sp>
      <p:sp>
        <p:nvSpPr>
          <p:cNvPr id="33" name="TextBox 32">
            <a:extLst>
              <a:ext uri="{FF2B5EF4-FFF2-40B4-BE49-F238E27FC236}">
                <a16:creationId xmlns:a16="http://schemas.microsoft.com/office/drawing/2014/main" id="{589E168E-65C9-04F1-33CE-251B8FF74797}"/>
              </a:ext>
            </a:extLst>
          </p:cNvPr>
          <p:cNvSpPr txBox="1"/>
          <p:nvPr/>
        </p:nvSpPr>
        <p:spPr>
          <a:xfrm>
            <a:off x="1828800" y="4663440"/>
            <a:ext cx="8991295" cy="5486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3 hours debugging: payment code references auth variables</a:t>
            </a:r>
          </a:p>
        </p:txBody>
      </p:sp>
      <p:sp>
        <p:nvSpPr>
          <p:cNvPr id="34" name="TextBox 33">
            <a:extLst>
              <a:ext uri="{FF2B5EF4-FFF2-40B4-BE49-F238E27FC236}">
                <a16:creationId xmlns:a16="http://schemas.microsoft.com/office/drawing/2014/main" id="{FDC8E710-22CA-D741-FC5C-4CD2ED2E29C0}"/>
              </a:ext>
            </a:extLst>
          </p:cNvPr>
          <p:cNvSpPr txBox="1"/>
          <p:nvPr/>
        </p:nvSpPr>
        <p:spPr>
          <a:xfrm>
            <a:off x="1371600" y="5303520"/>
            <a:ext cx="4572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b="1">
                <a:solidFill>
                  <a:srgbClr val="00D4AA"/>
                </a:solidFill>
              </a:defRPr>
            </a:pPr>
            <a:r>
              <a:rPr kumimoji="0" sz="2000" b="1" i="0" u="none" strike="noStrike" kern="1200" cap="none" spc="0" normalizeH="0" baseline="0" noProof="0">
                <a:ln>
                  <a:noFill/>
                </a:ln>
                <a:solidFill>
                  <a:srgbClr val="00D4AA"/>
                </a:solidFill>
                <a:effectLst/>
                <a:uLnTx/>
                <a:uFillTx/>
                <a:latin typeface="Calibri"/>
                <a:ea typeface="+mn-ea"/>
                <a:cs typeface="+mn-cs"/>
              </a:rPr>
              <a:t>5</a:t>
            </a:r>
          </a:p>
        </p:txBody>
      </p:sp>
      <p:sp>
        <p:nvSpPr>
          <p:cNvPr id="35" name="TextBox 34">
            <a:extLst>
              <a:ext uri="{FF2B5EF4-FFF2-40B4-BE49-F238E27FC236}">
                <a16:creationId xmlns:a16="http://schemas.microsoft.com/office/drawing/2014/main" id="{4F6352B0-3CC1-9C23-2C8A-5A49262257D5}"/>
              </a:ext>
            </a:extLst>
          </p:cNvPr>
          <p:cNvSpPr txBox="1"/>
          <p:nvPr/>
        </p:nvSpPr>
        <p:spPr>
          <a:xfrm>
            <a:off x="1828800" y="5303520"/>
            <a:ext cx="8991295" cy="5486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The fix: Revert. Two clean sessions. Each done in 30 minutes.</a:t>
            </a:r>
          </a:p>
        </p:txBody>
      </p:sp>
      <p:sp>
        <p:nvSpPr>
          <p:cNvPr id="36" name="TextBox 35">
            <a:extLst>
              <a:ext uri="{FF2B5EF4-FFF2-40B4-BE49-F238E27FC236}">
                <a16:creationId xmlns:a16="http://schemas.microsoft.com/office/drawing/2014/main" id="{41C21519-C4DC-E15B-68D6-C773A8C6F599}"/>
              </a:ext>
            </a:extLst>
          </p:cNvPr>
          <p:cNvSpPr txBox="1"/>
          <p:nvPr/>
        </p:nvSpPr>
        <p:spPr>
          <a:xfrm>
            <a:off x="1371600" y="5943600"/>
            <a:ext cx="4572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b="1">
                <a:solidFill>
                  <a:srgbClr val="00D4AA"/>
                </a:solidFill>
              </a:defRPr>
            </a:pPr>
            <a:r>
              <a:rPr kumimoji="0" sz="2000" b="1" i="0" u="none" strike="noStrike" kern="1200" cap="none" spc="0" normalizeH="0" baseline="0" noProof="0">
                <a:ln>
                  <a:noFill/>
                </a:ln>
                <a:solidFill>
                  <a:srgbClr val="00D4AA"/>
                </a:solidFill>
                <a:effectLst/>
                <a:uLnTx/>
                <a:uFillTx/>
                <a:latin typeface="Calibri"/>
                <a:ea typeface="+mn-ea"/>
                <a:cs typeface="+mn-cs"/>
              </a:rPr>
              <a:t>6</a:t>
            </a:r>
          </a:p>
        </p:txBody>
      </p:sp>
      <p:sp>
        <p:nvSpPr>
          <p:cNvPr id="37" name="TextBox 36">
            <a:extLst>
              <a:ext uri="{FF2B5EF4-FFF2-40B4-BE49-F238E27FC236}">
                <a16:creationId xmlns:a16="http://schemas.microsoft.com/office/drawing/2014/main" id="{B3A6ECCD-E36B-A524-9DA3-1428BFDDA9A4}"/>
              </a:ext>
            </a:extLst>
          </p:cNvPr>
          <p:cNvSpPr txBox="1"/>
          <p:nvPr/>
        </p:nvSpPr>
        <p:spPr>
          <a:xfrm>
            <a:off x="1828800" y="5943600"/>
            <a:ext cx="8991295" cy="5486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Lesson: One task per session is load-bearing architecture.</a:t>
            </a:r>
          </a:p>
        </p:txBody>
      </p:sp>
    </p:spTree>
    <p:extLst>
      <p:ext uri="{BB962C8B-B14F-4D97-AF65-F5344CB8AC3E}">
        <p14:creationId xmlns:p14="http://schemas.microsoft.com/office/powerpoint/2010/main" val="9941181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Context Optimization</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548640"/>
            <a:ext cx="10515600" cy="914400"/>
          </a:xfrm>
          <a:prstGeom prst="rect">
            <a:avLst/>
          </a:prstGeom>
          <a:noFill/>
        </p:spPr>
        <p:txBody>
          <a:bodyPr wrap="square">
            <a:spAutoFit/>
          </a:bodyPr>
          <a:lstStyle/>
          <a:p>
            <a:pPr>
              <a:defRPr sz="3600" b="1">
                <a:solidFill>
                  <a:srgbClr val="FFFFFF"/>
                </a:solidFill>
              </a:defRPr>
            </a:pPr>
            <a:r>
              <a:t>When Claude Code Fails</a:t>
            </a:r>
          </a:p>
        </p:txBody>
      </p:sp>
      <p:sp>
        <p:nvSpPr>
          <p:cNvPr id="3" name="TextBox 2"/>
          <p:cNvSpPr txBox="1"/>
          <p:nvPr/>
        </p:nvSpPr>
        <p:spPr>
          <a:xfrm>
            <a:off x="731520" y="1371600"/>
            <a:ext cx="10515600" cy="548640"/>
          </a:xfrm>
          <a:prstGeom prst="rect">
            <a:avLst/>
          </a:prstGeom>
          <a:noFill/>
        </p:spPr>
        <p:txBody>
          <a:bodyPr wrap="square">
            <a:spAutoFit/>
          </a:bodyPr>
          <a:lstStyle/>
          <a:p>
            <a:pPr>
              <a:defRPr sz="1800">
                <a:solidFill>
                  <a:srgbClr val="00D4AA"/>
                </a:solidFill>
              </a:defRPr>
            </a:pPr>
            <a:r>
              <a:t>Honesty builds trust. Here's where it struggles — and how to fix it.</a:t>
            </a:r>
          </a:p>
        </p:txBody>
      </p:sp>
      <p:sp>
        <p:nvSpPr>
          <p:cNvPr id="4" name="TextBox 3"/>
          <p:cNvSpPr txBox="1"/>
          <p:nvPr/>
        </p:nvSpPr>
        <p:spPr>
          <a:xfrm>
            <a:off x="1097280" y="2194560"/>
            <a:ext cx="9144000" cy="640080"/>
          </a:xfrm>
          <a:prstGeom prst="rect">
            <a:avLst/>
          </a:prstGeom>
          <a:noFill/>
        </p:spPr>
        <p:txBody>
          <a:bodyPr wrap="square">
            <a:spAutoFit/>
          </a:bodyPr>
          <a:lstStyle/>
          <a:p>
            <a:r>
              <a:rPr sz="2000" b="1">
                <a:solidFill>
                  <a:srgbClr val="00D4AA"/>
                </a:solidFill>
              </a:rPr>
              <a:t>Ambiguous instructions:  </a:t>
            </a:r>
            <a:r>
              <a:rPr sz="1800">
                <a:solidFill>
                  <a:srgbClr val="FFFFFF"/>
                </a:solidFill>
              </a:rPr>
              <a:t>Claude guesses wrong. Fix: be specific.</a:t>
            </a:r>
          </a:p>
        </p:txBody>
      </p:sp>
      <p:sp>
        <p:nvSpPr>
          <p:cNvPr id="5" name="TextBox 4"/>
          <p:cNvSpPr txBox="1"/>
          <p:nvPr/>
        </p:nvSpPr>
        <p:spPr>
          <a:xfrm>
            <a:off x="1097280" y="2880360"/>
            <a:ext cx="9144000" cy="640080"/>
          </a:xfrm>
          <a:prstGeom prst="rect">
            <a:avLst/>
          </a:prstGeom>
          <a:noFill/>
        </p:spPr>
        <p:txBody>
          <a:bodyPr wrap="square">
            <a:spAutoFit/>
          </a:bodyPr>
          <a:lstStyle/>
          <a:p>
            <a:r>
              <a:rPr sz="2000" b="1">
                <a:solidFill>
                  <a:srgbClr val="00D4AA"/>
                </a:solidFill>
              </a:rPr>
              <a:t>Huge codebase, no docs:  </a:t>
            </a:r>
            <a:r>
              <a:rPr sz="1800">
                <a:solidFill>
                  <a:srgbClr val="FFFFFF"/>
                </a:solidFill>
              </a:rPr>
              <a:t>Claude drowns in context. Fix: CLAUDE.md + .gitignore</a:t>
            </a:r>
          </a:p>
        </p:txBody>
      </p:sp>
      <p:sp>
        <p:nvSpPr>
          <p:cNvPr id="6" name="TextBox 5"/>
          <p:cNvSpPr txBox="1"/>
          <p:nvPr/>
        </p:nvSpPr>
        <p:spPr>
          <a:xfrm>
            <a:off x="1097280" y="3566160"/>
            <a:ext cx="9144000" cy="640080"/>
          </a:xfrm>
          <a:prstGeom prst="rect">
            <a:avLst/>
          </a:prstGeom>
          <a:noFill/>
        </p:spPr>
        <p:txBody>
          <a:bodyPr wrap="square">
            <a:spAutoFit/>
          </a:bodyPr>
          <a:lstStyle/>
          <a:p>
            <a:r>
              <a:rPr sz="2000" b="1">
                <a:solidFill>
                  <a:srgbClr val="00D4AA"/>
                </a:solidFill>
              </a:rPr>
              <a:t>Complex state across files:  </a:t>
            </a:r>
            <a:r>
              <a:rPr sz="1800">
                <a:solidFill>
                  <a:srgbClr val="FFFFFF"/>
                </a:solidFill>
              </a:rPr>
              <a:t>Claude loses track. Fix: @ mentions to focus.</a:t>
            </a:r>
          </a:p>
        </p:txBody>
      </p:sp>
      <p:sp>
        <p:nvSpPr>
          <p:cNvPr id="7" name="TextBox 6"/>
          <p:cNvSpPr txBox="1"/>
          <p:nvPr/>
        </p:nvSpPr>
        <p:spPr>
          <a:xfrm>
            <a:off x="1097280" y="4251960"/>
            <a:ext cx="9144000" cy="640080"/>
          </a:xfrm>
          <a:prstGeom prst="rect">
            <a:avLst/>
          </a:prstGeom>
          <a:noFill/>
        </p:spPr>
        <p:txBody>
          <a:bodyPr wrap="square">
            <a:spAutoFit/>
          </a:bodyPr>
          <a:lstStyle/>
          <a:p>
            <a:r>
              <a:rPr sz="2000" b="1">
                <a:solidFill>
                  <a:srgbClr val="00D4AA"/>
                </a:solidFill>
              </a:rPr>
              <a:t>Missing dependencies:  </a:t>
            </a:r>
            <a:r>
              <a:rPr sz="1800">
                <a:solidFill>
                  <a:srgbClr val="FFFFFF"/>
                </a:solidFill>
              </a:rPr>
              <a:t>Build fails silently. Fix: describe your environment.</a:t>
            </a:r>
          </a:p>
        </p:txBody>
      </p:sp>
      <p:sp>
        <p:nvSpPr>
          <p:cNvPr id="8" name="TextBox 7"/>
          <p:cNvSpPr txBox="1"/>
          <p:nvPr/>
        </p:nvSpPr>
        <p:spPr>
          <a:xfrm>
            <a:off x="1097280" y="4937760"/>
            <a:ext cx="9144000" cy="640080"/>
          </a:xfrm>
          <a:prstGeom prst="rect">
            <a:avLst/>
          </a:prstGeom>
          <a:noFill/>
        </p:spPr>
        <p:txBody>
          <a:bodyPr wrap="square">
            <a:spAutoFit/>
          </a:bodyPr>
          <a:lstStyle/>
          <a:p>
            <a:r>
              <a:rPr sz="2000" b="1">
                <a:solidFill>
                  <a:srgbClr val="00D4AA"/>
                </a:solidFill>
              </a:rPr>
              <a:t>One massive prompt:  </a:t>
            </a:r>
            <a:r>
              <a:rPr sz="1800">
                <a:solidFill>
                  <a:srgbClr val="FFFFFF"/>
                </a:solidFill>
              </a:rPr>
              <a:t>Claude tries too much. Fix: break into smaller tasks.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P spid="8" grpId="0"/>
    </p:bldLst>
  </p:timing>
</p:sld>
</file>

<file path=ppt/slides/slide6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548640"/>
            <a:ext cx="10515600" cy="914400"/>
          </a:xfrm>
          <a:prstGeom prst="rect">
            <a:avLst/>
          </a:prstGeom>
          <a:noFill/>
        </p:spPr>
        <p:txBody>
          <a:bodyPr wrap="square">
            <a:spAutoFit/>
          </a:bodyPr>
          <a:lstStyle/>
          <a:p>
            <a:pPr>
              <a:defRPr sz="3600" b="1">
                <a:solidFill>
                  <a:srgbClr val="FFFFFF"/>
                </a:solidFill>
              </a:defRPr>
            </a:pPr>
            <a:r>
              <a:t>The Real Skill: Delegation</a:t>
            </a:r>
          </a:p>
        </p:txBody>
      </p:sp>
      <p:sp>
        <p:nvSpPr>
          <p:cNvPr id="3" name="TextBox 2"/>
          <p:cNvSpPr txBox="1"/>
          <p:nvPr/>
        </p:nvSpPr>
        <p:spPr>
          <a:xfrm>
            <a:off x="731520" y="1371600"/>
            <a:ext cx="10515600" cy="548640"/>
          </a:xfrm>
          <a:prstGeom prst="rect">
            <a:avLst/>
          </a:prstGeom>
          <a:noFill/>
        </p:spPr>
        <p:txBody>
          <a:bodyPr wrap="square">
            <a:spAutoFit/>
          </a:bodyPr>
          <a:lstStyle/>
          <a:p>
            <a:pPr>
              <a:defRPr sz="1800">
                <a:solidFill>
                  <a:srgbClr val="00D4AA"/>
                </a:solidFill>
              </a:defRPr>
            </a:pPr>
            <a:r>
              <a:t>You're not learning to prompt. You're learning to manage an AI engineer.</a:t>
            </a:r>
          </a:p>
        </p:txBody>
      </p:sp>
      <p:sp>
        <p:nvSpPr>
          <p:cNvPr id="4" name="TextBox 3"/>
          <p:cNvSpPr txBox="1"/>
          <p:nvPr/>
        </p:nvSpPr>
        <p:spPr>
          <a:xfrm>
            <a:off x="1097280" y="2194560"/>
            <a:ext cx="9144000" cy="640080"/>
          </a:xfrm>
          <a:prstGeom prst="rect">
            <a:avLst/>
          </a:prstGeom>
          <a:noFill/>
        </p:spPr>
        <p:txBody>
          <a:bodyPr wrap="square">
            <a:spAutoFit/>
          </a:bodyPr>
          <a:lstStyle/>
          <a:p>
            <a:r>
              <a:rPr sz="2000" b="1">
                <a:solidFill>
                  <a:srgbClr val="00D4AA"/>
                </a:solidFill>
              </a:rPr>
              <a:t>Bad:  </a:t>
            </a:r>
            <a:r>
              <a:rPr sz="1800">
                <a:solidFill>
                  <a:srgbClr val="FFFFFF"/>
                </a:solidFill>
              </a:rPr>
              <a:t>"Write authentication."</a:t>
            </a:r>
          </a:p>
        </p:txBody>
      </p:sp>
      <p:sp>
        <p:nvSpPr>
          <p:cNvPr id="5" name="TextBox 4"/>
          <p:cNvSpPr txBox="1"/>
          <p:nvPr/>
        </p:nvSpPr>
        <p:spPr>
          <a:xfrm>
            <a:off x="1097280" y="2880360"/>
            <a:ext cx="9144000" cy="640080"/>
          </a:xfrm>
          <a:prstGeom prst="rect">
            <a:avLst/>
          </a:prstGeom>
          <a:noFill/>
        </p:spPr>
        <p:txBody>
          <a:bodyPr wrap="square">
            <a:spAutoFit/>
          </a:bodyPr>
          <a:lstStyle/>
          <a:p>
            <a:r>
              <a:rPr sz="2000" b="1" dirty="0">
                <a:solidFill>
                  <a:srgbClr val="00D4AA"/>
                </a:solidFill>
              </a:rPr>
              <a:t>Good:  </a:t>
            </a:r>
            <a:r>
              <a:rPr sz="1800" dirty="0">
                <a:solidFill>
                  <a:srgbClr val="FFFFFF"/>
                </a:solidFill>
              </a:rPr>
              <a:t>"Add JWT auth to @auth.js using the middleware pattern in @payments.js"</a:t>
            </a:r>
          </a:p>
        </p:txBody>
      </p:sp>
      <p:sp>
        <p:nvSpPr>
          <p:cNvPr id="6" name="TextBox 5"/>
          <p:cNvSpPr txBox="1"/>
          <p:nvPr/>
        </p:nvSpPr>
        <p:spPr>
          <a:xfrm>
            <a:off x="1097280" y="3566160"/>
            <a:ext cx="9144000" cy="640080"/>
          </a:xfrm>
          <a:prstGeom prst="rect">
            <a:avLst/>
          </a:prstGeom>
          <a:noFill/>
        </p:spPr>
        <p:txBody>
          <a:bodyPr wrap="square">
            <a:spAutoFit/>
          </a:bodyPr>
          <a:lstStyle/>
          <a:p>
            <a:r>
              <a:rPr sz="2000" b="1">
                <a:solidFill>
                  <a:srgbClr val="00D4AA"/>
                </a:solidFill>
              </a:rPr>
              <a:t>Bad:  </a:t>
            </a:r>
            <a:r>
              <a:rPr sz="1800">
                <a:solidFill>
                  <a:srgbClr val="FFFFFF"/>
                </a:solidFill>
              </a:rPr>
              <a:t>"Fix the bug."</a:t>
            </a:r>
          </a:p>
        </p:txBody>
      </p:sp>
      <p:sp>
        <p:nvSpPr>
          <p:cNvPr id="7" name="TextBox 6"/>
          <p:cNvSpPr txBox="1"/>
          <p:nvPr/>
        </p:nvSpPr>
        <p:spPr>
          <a:xfrm>
            <a:off x="1097280" y="4251960"/>
            <a:ext cx="9144000" cy="640080"/>
          </a:xfrm>
          <a:prstGeom prst="rect">
            <a:avLst/>
          </a:prstGeom>
          <a:noFill/>
        </p:spPr>
        <p:txBody>
          <a:bodyPr wrap="square">
            <a:spAutoFit/>
          </a:bodyPr>
          <a:lstStyle/>
          <a:p>
            <a:r>
              <a:rPr sz="2000" b="1">
                <a:solidFill>
                  <a:srgbClr val="00D4AA"/>
                </a:solidFill>
              </a:rPr>
              <a:t>Good:  </a:t>
            </a:r>
            <a:r>
              <a:rPr sz="1800">
                <a:solidFill>
                  <a:srgbClr val="FFFFFF"/>
                </a:solidFill>
              </a:rPr>
              <a:t>"POST /api/tasks returns 500. Check @src/routes/tasks.js for the error."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5" grpId="0"/>
      <p:bldP spid="6" grpId="0"/>
      <p:bldP spid="7" grpId="0"/>
    </p:bldLst>
  </p:timing>
</p:sld>
</file>

<file path=ppt/slides/slide6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542274" y="429768"/>
            <a:ext cx="1012841" cy="307777"/>
          </a:xfrm>
          <a:prstGeom prst="rect">
            <a:avLst/>
          </a:prstGeom>
          <a:noFill/>
        </p:spPr>
        <p:txBody>
          <a:bodyPr wrap="none">
            <a:spAutoFit/>
          </a:bodyPr>
          <a:lstStyle/>
          <a:p>
            <a:pPr algn="ctr">
              <a:defRPr sz="1400" b="1">
                <a:solidFill>
                  <a:srgbClr val="00D4AA"/>
                </a:solidFill>
              </a:defRPr>
            </a:pPr>
            <a:r>
              <a:rPr lang="en-US" dirty="0"/>
              <a:t>3</a:t>
            </a:r>
            <a:r>
              <a:rPr dirty="0"/>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2C: Precision &amp; Recovery</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Slash Commands</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Power User Tools</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Command Overview</a:t>
            </a:r>
          </a:p>
        </p:txBody>
      </p:sp>
      <p:sp>
        <p:nvSpPr>
          <p:cNvPr id="3" name="Rounded Rectangle 2"/>
          <p:cNvSpPr/>
          <p:nvPr/>
        </p:nvSpPr>
        <p:spPr>
          <a:xfrm>
            <a:off x="2301087" y="2011680"/>
            <a:ext cx="2286000" cy="316787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rPr dirty="0"/>
              <a:t>Session</a:t>
            </a:r>
          </a:p>
          <a:p>
            <a:pPr algn="ctr">
              <a:spcBef>
                <a:spcPts val="800"/>
              </a:spcBef>
              <a:defRPr sz="1300">
                <a:solidFill>
                  <a:srgbClr val="8B95A5"/>
                </a:solidFill>
              </a:defRPr>
            </a:pPr>
            <a:r>
              <a:rPr dirty="0"/>
              <a:t>/</a:t>
            </a:r>
            <a:r>
              <a:rPr dirty="0" err="1"/>
              <a:t>init</a:t>
            </a:r>
            <a:r>
              <a:rPr dirty="0"/>
              <a:t> — initialize project context</a:t>
            </a:r>
            <a:br>
              <a:rPr dirty="0"/>
            </a:br>
            <a:r>
              <a:rPr dirty="0"/>
              <a:t>/clear — reset conversation</a:t>
            </a:r>
            <a:br>
              <a:rPr dirty="0"/>
            </a:br>
            <a:r>
              <a:rPr dirty="0"/>
              <a:t>/compact — summarize and continue</a:t>
            </a:r>
            <a:br>
              <a:rPr dirty="0"/>
            </a:br>
            <a:r>
              <a:rPr dirty="0"/>
              <a:t>/</a:t>
            </a:r>
            <a:r>
              <a:rPr lang="en-US" dirty="0"/>
              <a:t>context</a:t>
            </a:r>
            <a:r>
              <a:rPr dirty="0"/>
              <a:t> — show token usage</a:t>
            </a:r>
            <a:br>
              <a:rPr dirty="0"/>
            </a:br>
            <a:r>
              <a:rPr dirty="0"/>
              <a:t>/logout — sign out</a:t>
            </a:r>
          </a:p>
        </p:txBody>
      </p:sp>
      <p:sp>
        <p:nvSpPr>
          <p:cNvPr id="7" name="Rounded Rectangle 6"/>
          <p:cNvSpPr/>
          <p:nvPr/>
        </p:nvSpPr>
        <p:spPr>
          <a:xfrm>
            <a:off x="4952847" y="2011680"/>
            <a:ext cx="2286000" cy="316787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77500" lnSpcReduction="20000"/>
          </a:bodyPr>
          <a:lstStyle/>
          <a:p>
            <a:pPr algn="ctr">
              <a:defRPr sz="1800" b="1">
                <a:solidFill>
                  <a:srgbClr val="FFFFFF"/>
                </a:solidFill>
              </a:defRPr>
            </a:pPr>
            <a:r>
              <a:t>Control</a:t>
            </a:r>
          </a:p>
          <a:p>
            <a:pPr algn="ctr">
              <a:spcBef>
                <a:spcPts val="800"/>
              </a:spcBef>
              <a:defRPr sz="1300">
                <a:solidFill>
                  <a:srgbClr val="8B95A5"/>
                </a:solidFill>
              </a:defRPr>
            </a:pPr>
            <a:r>
              <a:t>/model — switch models (sonnet/opus)</a:t>
            </a:r>
            <a:br/>
            <a:r>
              <a:t>/thinking — toggle extended thinking</a:t>
            </a:r>
            <a:br/>
            <a:r>
              <a:t>/permissions — manage tool access</a:t>
            </a:r>
            <a:br/>
            <a:r>
              <a:t>/allowed-tools — view tool allowlist</a:t>
            </a:r>
            <a:br/>
            <a:r>
              <a:t>/memory — manage all memory files</a:t>
            </a:r>
          </a:p>
        </p:txBody>
      </p:sp>
      <p:sp>
        <p:nvSpPr>
          <p:cNvPr id="11" name="Rounded Rectangle 10"/>
          <p:cNvSpPr/>
          <p:nvPr/>
        </p:nvSpPr>
        <p:spPr>
          <a:xfrm>
            <a:off x="7604607" y="2011680"/>
            <a:ext cx="2286000" cy="3167874"/>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Output</a:t>
            </a:r>
          </a:p>
          <a:p>
            <a:pPr algn="ctr">
              <a:spcBef>
                <a:spcPts val="800"/>
              </a:spcBef>
              <a:defRPr sz="1300">
                <a:solidFill>
                  <a:srgbClr val="8B95A5"/>
                </a:solidFill>
              </a:defRPr>
            </a:pPr>
            <a:r>
              <a:t>/output-format — set response format</a:t>
            </a:r>
            <a:br/>
            <a:r>
              <a:t>/verbose — detailed logging</a:t>
            </a:r>
            <a:br/>
            <a:r>
              <a:t>/review — code quality review</a:t>
            </a:r>
            <a:br/>
            <a:r>
              <a:t>/test — run test suite</a:t>
            </a:r>
            <a:br/>
            <a:r>
              <a:t>/doctor — diagnose issues</a:t>
            </a: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square">
            <a:spAutoFit/>
          </a:bodyPr>
          <a:lstStyle/>
          <a:p>
            <a:pPr algn="ctr">
              <a:defRPr sz="4000" b="1">
                <a:solidFill>
                  <a:srgbClr val="FFFFFF"/>
                </a:solidFill>
              </a:defRPr>
            </a:pPr>
            <a:r>
              <a:t>Session Management: /init, /clear, /compact</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lnSpcReduction="10000"/>
          </a:bodyPr>
          <a:lstStyle/>
          <a:p>
            <a:pPr algn="ctr">
              <a:defRPr sz="1800" b="1">
                <a:solidFill>
                  <a:srgbClr val="FFFFFF"/>
                </a:solidFill>
              </a:defRPr>
            </a:pPr>
            <a:r>
              <a:t>/init</a:t>
            </a:r>
          </a:p>
          <a:p>
            <a:pPr algn="ctr">
              <a:spcBef>
                <a:spcPts val="800"/>
              </a:spcBef>
              <a:defRPr sz="1300">
                <a:solidFill>
                  <a:srgbClr val="8B95A5"/>
                </a:solidFill>
              </a:defRPr>
            </a:pPr>
            <a:r>
              <a:t>Scans project structure.</a:t>
            </a:r>
            <a:br/>
            <a:r>
              <a:t>Reads CLAUDE.md.</a:t>
            </a:r>
            <a:br/>
            <a:r>
              <a:t>Sets up initial context.</a:t>
            </a:r>
            <a:br/>
            <a:r>
              <a:t>Run once when starting a new project.</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/clear</a:t>
            </a:r>
          </a:p>
          <a:p>
            <a:pPr algn="ctr">
              <a:spcBef>
                <a:spcPts val="800"/>
              </a:spcBef>
              <a:defRPr sz="1300">
                <a:solidFill>
                  <a:srgbClr val="8B95A5"/>
                </a:solidFill>
              </a:defRPr>
            </a:pPr>
            <a:r>
              <a:t>Resets entire conversation.</a:t>
            </a:r>
            <a:br/>
            <a:r>
              <a:t>Project files stay on disk.</a:t>
            </a:r>
            <a:br/>
            <a:r>
              <a:t>Use between unrelated tasks.</a:t>
            </a:r>
            <a:br/>
            <a:r>
              <a:t>The most important command to learn.</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10000"/>
          </a:bodyPr>
          <a:lstStyle/>
          <a:p>
            <a:pPr algn="ctr">
              <a:defRPr sz="1800" b="1">
                <a:solidFill>
                  <a:srgbClr val="FFFFFF"/>
                </a:solidFill>
              </a:defRPr>
            </a:pPr>
            <a:r>
              <a:t>/compact</a:t>
            </a:r>
          </a:p>
          <a:p>
            <a:pPr algn="ctr">
              <a:spcBef>
                <a:spcPts val="800"/>
              </a:spcBef>
              <a:defRPr sz="1300">
                <a:solidFill>
                  <a:srgbClr val="8B95A5"/>
                </a:solidFill>
              </a:defRPr>
            </a:pPr>
            <a:r>
              <a:t>Summarizes conversation so far.</a:t>
            </a:r>
            <a:br/>
            <a:r>
              <a:t>Frees up context window space.</a:t>
            </a:r>
            <a:br/>
            <a:r>
              <a:t>Use during long sessions.</a:t>
            </a:r>
            <a:br/>
            <a:r>
              <a:t>Keeps key decisions, drops details.</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Model Control: /model, /thinking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/model</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/model — see current model</a:t>
            </a:r>
          </a:p>
          <a:p>
            <a:pPr>
              <a:spcAft>
                <a:spcPts val="1200"/>
              </a:spcAft>
              <a:defRPr sz="1800">
                <a:solidFill>
                  <a:srgbClr val="FFFFFF"/>
                </a:solidFill>
              </a:defRPr>
            </a:pPr>
            <a:r>
              <a:t>  /model sonnet — switch to Sonnet (fast)</a:t>
            </a:r>
          </a:p>
          <a:p>
            <a:pPr>
              <a:spcAft>
                <a:spcPts val="1200"/>
              </a:spcAft>
              <a:defRPr sz="1800">
                <a:solidFill>
                  <a:srgbClr val="FFFFFF"/>
                </a:solidFill>
              </a:defRPr>
            </a:pPr>
            <a:r>
              <a:t>  /model opus — switch to Opus (deep reasoning)</a:t>
            </a:r>
          </a:p>
          <a:p>
            <a:pPr>
              <a:spcAft>
                <a:spcPts val="1200"/>
              </a:spcAft>
              <a:defRPr sz="1800">
                <a:solidFill>
                  <a:srgbClr val="FFFFFF"/>
                </a:solidFill>
              </a:defRPr>
            </a:pPr>
            <a:r>
              <a:t>  Opus for: architecture, security review, complex bugs</a:t>
            </a:r>
          </a:p>
          <a:p>
            <a:pPr>
              <a:spcAft>
                <a:spcPts val="1200"/>
              </a:spcAft>
              <a:defRPr sz="1800">
                <a:solidFill>
                  <a:srgbClr val="FFFFFF"/>
                </a:solidFill>
              </a:defRPr>
            </a:pPr>
            <a:r>
              <a:t>  Sonnet for: everyday coding, generation, editing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/thinking</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Tab key — toggle extended thinking</a:t>
            </a:r>
          </a:p>
          <a:p>
            <a:pPr>
              <a:spcAft>
                <a:spcPts val="1200"/>
              </a:spcAft>
              <a:defRPr sz="1800">
                <a:solidFill>
                  <a:srgbClr val="FFFFFF"/>
                </a:solidFill>
              </a:defRPr>
            </a:pPr>
            <a:r>
              <a:t>  Shows Claude's reasoning process</a:t>
            </a:r>
          </a:p>
          <a:p>
            <a:pPr>
              <a:spcAft>
                <a:spcPts val="1200"/>
              </a:spcAft>
              <a:defRPr sz="1800">
                <a:solidFill>
                  <a:srgbClr val="FFFFFF"/>
                </a:solidFill>
              </a:defRPr>
            </a:pPr>
            <a:r>
              <a:t>  Costs more tokens but improves quality</a:t>
            </a:r>
          </a:p>
          <a:p>
            <a:pPr>
              <a:spcAft>
                <a:spcPts val="1200"/>
              </a:spcAft>
              <a:defRPr sz="1800">
                <a:solidFill>
                  <a:srgbClr val="FFFFFF"/>
                </a:solidFill>
              </a:defRPr>
            </a:pPr>
            <a:r>
              <a:t>  Essential for complex multi-step tasks</a:t>
            </a:r>
          </a:p>
          <a:p>
            <a:pPr>
              <a:spcAft>
                <a:spcPts val="1200"/>
              </a:spcAft>
              <a:defRPr sz="1800">
                <a:solidFill>
                  <a:srgbClr val="FFFFFF"/>
                </a:solidFill>
              </a:defRPr>
            </a:pPr>
            <a:r>
              <a:t>  Plan Mode (Shift+Tab) uses thinking automatically</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646331"/>
          </a:xfrm>
          <a:prstGeom prst="rect">
            <a:avLst/>
          </a:prstGeom>
          <a:noFill/>
        </p:spPr>
        <p:txBody>
          <a:bodyPr wrap="square">
            <a:spAutoFit/>
          </a:bodyPr>
          <a:lstStyle/>
          <a:p>
            <a:pPr algn="ctr">
              <a:defRPr sz="3600" b="1">
                <a:solidFill>
                  <a:srgbClr val="FFFFFF"/>
                </a:solidFill>
              </a:defRPr>
            </a:pPr>
            <a:r>
              <a:rPr dirty="0"/>
              <a:t>Output: /output-format, /verbose, /</a:t>
            </a:r>
            <a:r>
              <a:rPr lang="en-US" dirty="0"/>
              <a:t>context</a:t>
            </a:r>
            <a:endParaRPr dirty="0"/>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Formatting</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/output-format — set response style</a:t>
            </a:r>
          </a:p>
          <a:p>
            <a:pPr>
              <a:spcAft>
                <a:spcPts val="1200"/>
              </a:spcAft>
              <a:defRPr sz="1800">
                <a:solidFill>
                  <a:srgbClr val="FFFFFF"/>
                </a:solidFill>
              </a:defRPr>
            </a:pPr>
            <a:r>
              <a:t>  Options: text, json, markdown, stream-json</a:t>
            </a:r>
          </a:p>
          <a:p>
            <a:pPr>
              <a:spcAft>
                <a:spcPts val="1200"/>
              </a:spcAft>
              <a:defRPr sz="1800">
                <a:solidFill>
                  <a:srgbClr val="FFFFFF"/>
                </a:solidFill>
              </a:defRPr>
            </a:pPr>
            <a:r>
              <a:t>  Useful for piping output to other tools</a:t>
            </a:r>
          </a:p>
          <a:p>
            <a:pPr>
              <a:spcAft>
                <a:spcPts val="1200"/>
              </a:spcAft>
              <a:defRPr sz="1800">
                <a:solidFill>
                  <a:srgbClr val="FFFFFF"/>
                </a:solidFill>
              </a:defRPr>
            </a:pPr>
            <a:r>
              <a:t>  /verbose — see every tool call Claude makes</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Analysis</a:t>
            </a:r>
          </a:p>
        </p:txBody>
      </p:sp>
      <p:sp>
        <p:nvSpPr>
          <p:cNvPr id="7" name="TextBox 6"/>
          <p:cNvSpPr txBox="1"/>
          <p:nvPr/>
        </p:nvSpPr>
        <p:spPr>
          <a:xfrm>
            <a:off x="6370167" y="2286000"/>
            <a:ext cx="5364327" cy="1661993"/>
          </a:xfrm>
          <a:prstGeom prst="rect">
            <a:avLst/>
          </a:prstGeom>
          <a:noFill/>
        </p:spPr>
        <p:txBody>
          <a:bodyPr wrap="square">
            <a:spAutoFit/>
          </a:bodyPr>
          <a:lstStyle/>
          <a:p>
            <a:pPr>
              <a:spcAft>
                <a:spcPts val="1200"/>
              </a:spcAft>
              <a:defRPr sz="1800">
                <a:solidFill>
                  <a:srgbClr val="FFFFFF"/>
                </a:solidFill>
              </a:defRPr>
            </a:pPr>
            <a:r>
              <a:rPr dirty="0"/>
              <a:t>  /</a:t>
            </a:r>
            <a:r>
              <a:rPr lang="en-US" dirty="0"/>
              <a:t>context</a:t>
            </a:r>
            <a:r>
              <a:rPr dirty="0"/>
              <a:t> — token usage and estimated cost</a:t>
            </a:r>
          </a:p>
          <a:p>
            <a:pPr>
              <a:spcAft>
                <a:spcPts val="1200"/>
              </a:spcAft>
              <a:defRPr sz="1800">
                <a:solidFill>
                  <a:srgbClr val="FFFFFF"/>
                </a:solidFill>
              </a:defRPr>
            </a:pPr>
            <a:r>
              <a:rPr dirty="0"/>
              <a:t>  /review — code quality analysis</a:t>
            </a:r>
          </a:p>
          <a:p>
            <a:pPr>
              <a:spcAft>
                <a:spcPts val="1200"/>
              </a:spcAft>
              <a:defRPr sz="1800">
                <a:solidFill>
                  <a:srgbClr val="FFFFFF"/>
                </a:solidFill>
              </a:defRPr>
            </a:pPr>
            <a:r>
              <a:rPr dirty="0"/>
              <a:t>  /test — run and analyze test results</a:t>
            </a:r>
          </a:p>
          <a:p>
            <a:pPr>
              <a:spcAft>
                <a:spcPts val="1200"/>
              </a:spcAft>
              <a:defRPr sz="1800">
                <a:solidFill>
                  <a:srgbClr val="FFFFFF"/>
                </a:solidFill>
              </a:defRPr>
            </a:pPr>
            <a:r>
              <a:rPr dirty="0"/>
              <a:t>  /doctor — diagnose Claude Code issues</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Creating Custom Slash Commands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JSON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In CLAUDE.md</a:t>
            </a:r>
          </a:p>
          <a:p>
            <a:pPr>
              <a:defRPr sz="1400">
                <a:solidFill>
                  <a:srgbClr val="FFFFFF"/>
                </a:solidFill>
                <a:latin typeface="Consolas"/>
              </a:defRPr>
            </a:pPr>
            <a:endParaRPr/>
          </a:p>
          <a:p>
            <a:pPr>
              <a:defRPr sz="1400">
                <a:solidFill>
                  <a:srgbClr val="FFFFFF"/>
                </a:solidFill>
                <a:latin typeface="Consolas"/>
              </a:defRPr>
            </a:pPr>
            <a:r>
              <a:t>"custom_commands": {</a:t>
            </a:r>
          </a:p>
          <a:p>
            <a:pPr>
              <a:defRPr sz="1400">
                <a:solidFill>
                  <a:srgbClr val="FFFFFF"/>
                </a:solidFill>
                <a:latin typeface="Consolas"/>
              </a:defRPr>
            </a:pPr>
            <a:r>
              <a:t>  "/test": "Run all tests with pytest -v",</a:t>
            </a:r>
          </a:p>
          <a:p>
            <a:pPr>
              <a:defRPr sz="1400">
                <a:solidFill>
                  <a:srgbClr val="FFFFFF"/>
                </a:solidFill>
                <a:latin typeface="Consolas"/>
              </a:defRPr>
            </a:pPr>
            <a:r>
              <a:t>  "/lint": "Run black, isort, and mypy",</a:t>
            </a:r>
          </a:p>
          <a:p>
            <a:pPr>
              <a:defRPr sz="1400">
                <a:solidFill>
                  <a:srgbClr val="FFFFFF"/>
                </a:solidFill>
                <a:latin typeface="Consolas"/>
              </a:defRPr>
            </a:pPr>
            <a:r>
              <a:t>  "/docs": "Generate API documentation"</a:t>
            </a:r>
          </a:p>
          <a:p>
            <a:pPr>
              <a:defRPr sz="1400">
                <a:solidFill>
                  <a:srgbClr val="FFFFFF"/>
                </a:solidFill>
                <a:latin typeface="Consolas"/>
              </a:defRPr>
            </a:pPr>
            <a:r>
              <a:t>}</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Command Mastery</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Plan Mode: Think Before You Build</a:t>
            </a:r>
          </a:p>
        </p:txBody>
      </p:sp>
      <p:sp>
        <p:nvSpPr>
          <p:cNvPr id="4" name="TextBox 3"/>
          <p:cNvSpPr txBox="1"/>
          <p:nvPr/>
        </p:nvSpPr>
        <p:spPr>
          <a:xfrm>
            <a:off x="457200" y="3840480"/>
            <a:ext cx="11277295" cy="914400"/>
          </a:xfrm>
          <a:prstGeom prst="rect">
            <a:avLst/>
          </a:prstGeom>
          <a:noFill/>
        </p:spPr>
        <p:txBody>
          <a:bodyPr wrap="square">
            <a:spAutoFit/>
          </a:bodyPr>
          <a:lstStyle/>
          <a:p>
            <a:pPr>
              <a:defRPr sz="2400">
                <a:solidFill>
                  <a:srgbClr val="8B95A5"/>
                </a:solidFill>
              </a:defRPr>
            </a:pPr>
            <a:r>
              <a:t>The discipline that separates AI power users from everyone else</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Plan Mode (Shift+Tab)</a:t>
            </a:r>
          </a:p>
        </p:txBody>
      </p:sp>
      <p:sp>
        <p:nvSpPr>
          <p:cNvPr id="3" name="TextBox 2"/>
          <p:cNvSpPr txBox="1"/>
          <p:nvPr/>
        </p:nvSpPr>
        <p:spPr>
          <a:xfrm>
            <a:off x="914400" y="3840480"/>
            <a:ext cx="10362895" cy="914400"/>
          </a:xfrm>
          <a:prstGeom prst="rect">
            <a:avLst/>
          </a:prstGeom>
          <a:noFill/>
        </p:spPr>
        <p:txBody>
          <a:bodyPr wrap="square">
            <a:spAutoFit/>
          </a:bodyPr>
          <a:lstStyle/>
          <a:p>
            <a:pPr algn="ctr">
              <a:defRPr sz="2400">
                <a:solidFill>
                  <a:srgbClr val="8B95A5"/>
                </a:solidFill>
              </a:defRPr>
            </a:pPr>
            <a:r>
              <a:t>Claude analyzes and proposes.</a:t>
            </a:r>
            <a:br/>
            <a:r>
              <a:t>But CAN'T change files.</a:t>
            </a:r>
            <a:br/>
            <a:r>
              <a:t>Until you approve.</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Plan Mode vs. Cowboy Coding</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When to Use Plan Mode</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Use Plan Mode</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Multi-file changes (3+ files)</a:t>
            </a:r>
          </a:p>
          <a:p>
            <a:pPr>
              <a:spcAft>
                <a:spcPts val="1200"/>
              </a:spcAft>
              <a:defRPr sz="1800">
                <a:solidFill>
                  <a:srgbClr val="FFFFFF"/>
                </a:solidFill>
              </a:defRPr>
            </a:pPr>
            <a:r>
              <a:t>  Architectural decisions</a:t>
            </a:r>
          </a:p>
          <a:p>
            <a:pPr>
              <a:spcAft>
                <a:spcPts val="1200"/>
              </a:spcAft>
              <a:defRPr sz="1800">
                <a:solidFill>
                  <a:srgbClr val="FFFFFF"/>
                </a:solidFill>
              </a:defRPr>
            </a:pPr>
            <a:r>
              <a:t>  Unfamiliar codebase exploration</a:t>
            </a:r>
          </a:p>
          <a:p>
            <a:pPr>
              <a:spcAft>
                <a:spcPts val="1200"/>
              </a:spcAft>
              <a:defRPr sz="1800">
                <a:solidFill>
                  <a:srgbClr val="FFFFFF"/>
                </a:solidFill>
              </a:defRPr>
            </a:pPr>
            <a:r>
              <a:t>  Complex refactoring</a:t>
            </a:r>
          </a:p>
          <a:p>
            <a:pPr>
              <a:spcAft>
                <a:spcPts val="1200"/>
              </a:spcAft>
              <a:defRPr sz="1800">
                <a:solidFill>
                  <a:srgbClr val="FFFFFF"/>
                </a:solidFill>
              </a:defRPr>
            </a:pPr>
            <a:r>
              <a:t>  When you want to review before executing</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Skip Plan Mode</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Simple single-file edits</a:t>
            </a:r>
          </a:p>
          <a:p>
            <a:pPr>
              <a:spcAft>
                <a:spcPts val="1200"/>
              </a:spcAft>
              <a:defRPr sz="1800">
                <a:solidFill>
                  <a:srgbClr val="FFFFFF"/>
                </a:solidFill>
              </a:defRPr>
            </a:pPr>
            <a:r>
              <a:t>  Well-defined small tasks</a:t>
            </a:r>
          </a:p>
          <a:p>
            <a:pPr>
              <a:spcAft>
                <a:spcPts val="1200"/>
              </a:spcAft>
              <a:defRPr sz="1800">
                <a:solidFill>
                  <a:srgbClr val="FFFFFF"/>
                </a:solidFill>
              </a:defRPr>
            </a:pPr>
            <a:r>
              <a:t>  Running tests or scripts</a:t>
            </a:r>
          </a:p>
          <a:p>
            <a:pPr>
              <a:spcAft>
                <a:spcPts val="1200"/>
              </a:spcAft>
              <a:defRPr sz="1800">
                <a:solidFill>
                  <a:srgbClr val="FFFFFF"/>
                </a:solidFill>
              </a:defRPr>
            </a:pPr>
            <a:r>
              <a:t>  Git operations (commit, push)</a:t>
            </a:r>
          </a:p>
          <a:p>
            <a:pPr>
              <a:spcAft>
                <a:spcPts val="1200"/>
              </a:spcAft>
              <a:defRPr sz="1800">
                <a:solidFill>
                  <a:srgbClr val="FFFFFF"/>
                </a:solidFill>
              </a:defRPr>
            </a:pPr>
            <a:r>
              <a:t>  Quick questions about code</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algn="ctr">
              <a:defRPr sz="5200" b="1">
                <a:solidFill>
                  <a:srgbClr val="FFFFFF"/>
                </a:solidFill>
              </a:defRPr>
            </a:pPr>
            <a:r>
              <a:t>The Skill That Separates AI Power Users</a:t>
            </a:r>
            <a:br/>
            <a:r>
              <a:t>From Everyone Else</a:t>
            </a:r>
          </a:p>
        </p:txBody>
      </p:sp>
      <p:sp>
        <p:nvSpPr>
          <p:cNvPr id="3" name="TextBox 2"/>
          <p:cNvSpPr txBox="1"/>
          <p:nvPr/>
        </p:nvSpPr>
        <p:spPr>
          <a:xfrm>
            <a:off x="914399" y="5043991"/>
            <a:ext cx="10362895" cy="914400"/>
          </a:xfrm>
          <a:prstGeom prst="rect">
            <a:avLst/>
          </a:prstGeom>
          <a:noFill/>
        </p:spPr>
        <p:txBody>
          <a:bodyPr wrap="square">
            <a:spAutoFit/>
          </a:bodyPr>
          <a:lstStyle/>
          <a:p>
            <a:pPr algn="ctr">
              <a:defRPr sz="2400">
                <a:solidFill>
                  <a:srgbClr val="8B95A5"/>
                </a:solidFill>
              </a:defRPr>
            </a:pPr>
            <a:r>
              <a:t>It's not prompting. It's specification.</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Spec Quality = Output Quality</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Vague Spec</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'Build me an API'</a:t>
            </a:r>
          </a:p>
          <a:p>
            <a:pPr>
              <a:spcAft>
                <a:spcPts val="1200"/>
              </a:spcAft>
              <a:defRPr sz="1800">
                <a:solidFill>
                  <a:srgbClr val="FFFFFF"/>
                </a:solidFill>
              </a:defRPr>
            </a:pPr>
            <a:r>
              <a:t>  Claude guesses architecture, endpoints, auth</a:t>
            </a:r>
          </a:p>
          <a:p>
            <a:pPr>
              <a:spcAft>
                <a:spcPts val="1200"/>
              </a:spcAft>
              <a:defRPr sz="1800">
                <a:solidFill>
                  <a:srgbClr val="FFFFFF"/>
                </a:solidFill>
              </a:defRPr>
            </a:pPr>
            <a:r>
              <a:t>  3 rounds of revision to get close</a:t>
            </a:r>
          </a:p>
          <a:p>
            <a:pPr>
              <a:spcAft>
                <a:spcPts val="1200"/>
              </a:spcAft>
              <a:defRPr sz="1800">
                <a:solidFill>
                  <a:srgbClr val="FFFFFF"/>
                </a:solidFill>
              </a:defRPr>
            </a:pPr>
            <a:r>
              <a:t>  Still doesn't match what you wanted</a:t>
            </a:r>
          </a:p>
          <a:p>
            <a:pPr>
              <a:spcAft>
                <a:spcPts val="1200"/>
              </a:spcAft>
              <a:defRPr sz="1800">
                <a:solidFill>
                  <a:srgbClr val="FFFFFF"/>
                </a:solidFill>
              </a:defRPr>
            </a:pPr>
            <a:r>
              <a:t>  4 hours wasted</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Clear Spec</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'Build a REST API with Express + SQLite...'</a:t>
            </a:r>
          </a:p>
          <a:p>
            <a:pPr>
              <a:spcAft>
                <a:spcPts val="1200"/>
              </a:spcAft>
              <a:defRPr sz="1800">
                <a:solidFill>
                  <a:srgbClr val="FFFFFF"/>
                </a:solidFill>
              </a:defRPr>
            </a:pPr>
            <a:r>
              <a:t>  Claude builds exactly what you described</a:t>
            </a:r>
          </a:p>
          <a:p>
            <a:pPr>
              <a:spcAft>
                <a:spcPts val="1200"/>
              </a:spcAft>
              <a:defRPr sz="1800">
                <a:solidFill>
                  <a:srgbClr val="FFFFFF"/>
                </a:solidFill>
              </a:defRPr>
            </a:pPr>
            <a:r>
              <a:t>  1 round of minor refinement</a:t>
            </a:r>
          </a:p>
          <a:p>
            <a:pPr>
              <a:spcAft>
                <a:spcPts val="1200"/>
              </a:spcAft>
              <a:defRPr sz="1800">
                <a:solidFill>
                  <a:srgbClr val="FFFFFF"/>
                </a:solidFill>
              </a:defRPr>
            </a:pPr>
            <a:r>
              <a:t>  Matches your mental model from the start</a:t>
            </a:r>
          </a:p>
          <a:p>
            <a:pPr>
              <a:spcAft>
                <a:spcPts val="1200"/>
              </a:spcAft>
              <a:defRPr sz="1800">
                <a:solidFill>
                  <a:srgbClr val="FFFFFF"/>
                </a:solidFill>
              </a:defRPr>
            </a:pPr>
            <a:r>
              <a:t>  45 minutes total</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The Spec Template: 6 Questions</a:t>
            </a:r>
          </a:p>
        </p:txBody>
      </p:sp>
      <p:sp>
        <p:nvSpPr>
          <p:cNvPr id="3" name="Rounded Rectangle 2"/>
          <p:cNvSpPr/>
          <p:nvPr/>
        </p:nvSpPr>
        <p:spPr>
          <a:xfrm>
            <a:off x="914400" y="1645920"/>
            <a:ext cx="10362895" cy="4114800"/>
          </a:xfrm>
          <a:prstGeom prst="roundRect">
            <a:avLst/>
          </a:prstGeom>
          <a:solidFill>
            <a:srgbClr val="1E1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1097280" y="1783080"/>
            <a:ext cx="1828800" cy="365760"/>
          </a:xfrm>
          <a:prstGeom prst="rect">
            <a:avLst/>
          </a:prstGeom>
          <a:noFill/>
        </p:spPr>
        <p:txBody>
          <a:bodyPr wrap="none">
            <a:spAutoFit/>
          </a:bodyPr>
          <a:lstStyle/>
          <a:p>
            <a:pPr>
              <a:defRPr sz="1200" b="1">
                <a:solidFill>
                  <a:srgbClr val="00D4AA"/>
                </a:solidFill>
              </a:defRPr>
            </a:pPr>
            <a:r>
              <a:t>MARKDOWN</a:t>
            </a:r>
          </a:p>
        </p:txBody>
      </p:sp>
      <p:sp>
        <p:nvSpPr>
          <p:cNvPr id="5" name="TextBox 4"/>
          <p:cNvSpPr txBox="1"/>
          <p:nvPr/>
        </p:nvSpPr>
        <p:spPr>
          <a:xfrm>
            <a:off x="1097280" y="2194560"/>
            <a:ext cx="9997135" cy="3291840"/>
          </a:xfrm>
          <a:prstGeom prst="rect">
            <a:avLst/>
          </a:prstGeom>
          <a:noFill/>
        </p:spPr>
        <p:txBody>
          <a:bodyPr wrap="square">
            <a:spAutoFit/>
          </a:bodyPr>
          <a:lstStyle/>
          <a:p>
            <a:pPr>
              <a:defRPr sz="1400">
                <a:solidFill>
                  <a:srgbClr val="FFFFFF"/>
                </a:solidFill>
                <a:latin typeface="Consolas"/>
              </a:defRPr>
            </a:pPr>
            <a:r>
              <a:t># Before you type ANY prompt, answer these:</a:t>
            </a:r>
          </a:p>
          <a:p>
            <a:pPr>
              <a:defRPr sz="1400">
                <a:solidFill>
                  <a:srgbClr val="FFFFFF"/>
                </a:solidFill>
                <a:latin typeface="Consolas"/>
              </a:defRPr>
            </a:pPr>
            <a:endParaRPr/>
          </a:p>
          <a:p>
            <a:pPr>
              <a:defRPr sz="1400">
                <a:solidFill>
                  <a:srgbClr val="FFFFFF"/>
                </a:solidFill>
                <a:latin typeface="Consolas"/>
              </a:defRPr>
            </a:pPr>
            <a:r>
              <a:t>1. PROBLEM: What problem am I solving?</a:t>
            </a:r>
          </a:p>
          <a:p>
            <a:pPr>
              <a:defRPr sz="1400">
                <a:solidFill>
                  <a:srgbClr val="FFFFFF"/>
                </a:solidFill>
                <a:latin typeface="Consolas"/>
              </a:defRPr>
            </a:pPr>
            <a:r>
              <a:t>   (Not "build X" — why does X need to exist?)</a:t>
            </a:r>
          </a:p>
          <a:p>
            <a:pPr>
              <a:defRPr sz="1400">
                <a:solidFill>
                  <a:srgbClr val="FFFFFF"/>
                </a:solidFill>
                <a:latin typeface="Consolas"/>
              </a:defRPr>
            </a:pPr>
            <a:endParaRPr/>
          </a:p>
          <a:p>
            <a:pPr>
              <a:defRPr sz="1400">
                <a:solidFill>
                  <a:srgbClr val="FFFFFF"/>
                </a:solidFill>
                <a:latin typeface="Consolas"/>
              </a:defRPr>
            </a:pPr>
            <a:r>
              <a:t>2. USERS: Who uses this and what do they need?</a:t>
            </a:r>
          </a:p>
          <a:p>
            <a:pPr>
              <a:defRPr sz="1400">
                <a:solidFill>
                  <a:srgbClr val="FFFFFF"/>
                </a:solidFill>
                <a:latin typeface="Consolas"/>
              </a:defRPr>
            </a:pPr>
            <a:r>
              <a:t>   (Scenarios, not features)</a:t>
            </a:r>
          </a:p>
          <a:p>
            <a:pPr>
              <a:defRPr sz="1400">
                <a:solidFill>
                  <a:srgbClr val="FFFFFF"/>
                </a:solidFill>
                <a:latin typeface="Consolas"/>
              </a:defRPr>
            </a:pPr>
            <a:endParaRPr/>
          </a:p>
          <a:p>
            <a:pPr>
              <a:defRPr sz="1400">
                <a:solidFill>
                  <a:srgbClr val="FFFFFF"/>
                </a:solidFill>
                <a:latin typeface="Consolas"/>
              </a:defRPr>
            </a:pPr>
            <a:r>
              <a:t>3. REQUIREMENTS: What MUST it do?</a:t>
            </a:r>
          </a:p>
          <a:p>
            <a:pPr>
              <a:defRPr sz="1400">
                <a:solidFill>
                  <a:srgbClr val="FFFFFF"/>
                </a:solidFill>
                <a:latin typeface="Consolas"/>
              </a:defRPr>
            </a:pPr>
            <a:r>
              <a:t>   (Use MUST/SHOULD/COULD prioritization)</a:t>
            </a:r>
          </a:p>
          <a:p>
            <a:pPr>
              <a:defRPr sz="1400">
                <a:solidFill>
                  <a:srgbClr val="FFFFFF"/>
                </a:solidFill>
                <a:latin typeface="Consolas"/>
              </a:defRPr>
            </a:pPr>
            <a:endParaRPr/>
          </a:p>
          <a:p>
            <a:pPr>
              <a:defRPr sz="1400">
                <a:solidFill>
                  <a:srgbClr val="FFFFFF"/>
                </a:solidFill>
                <a:latin typeface="Consolas"/>
              </a:defRPr>
            </a:pPr>
            <a:r>
              <a:t>4. BOUNDARIES: What must it NOT do?</a:t>
            </a:r>
          </a:p>
          <a:p>
            <a:pPr>
              <a:defRPr sz="1400">
                <a:solidFill>
                  <a:srgbClr val="FFFFFF"/>
                </a:solidFill>
                <a:latin typeface="Consolas"/>
              </a:defRPr>
            </a:pPr>
            <a:r>
              <a:t>   (Out of scope = fewer wrong assumptions)</a:t>
            </a:r>
          </a:p>
          <a:p>
            <a:pPr>
              <a:defRPr sz="1400">
                <a:solidFill>
                  <a:srgbClr val="FFFFFF"/>
                </a:solidFill>
                <a:latin typeface="Consolas"/>
              </a:defRPr>
            </a:pPr>
            <a:endParaRPr/>
          </a:p>
          <a:p>
            <a:pPr>
              <a:defRPr sz="1400">
                <a:solidFill>
                  <a:srgbClr val="FFFFFF"/>
                </a:solidFill>
                <a:latin typeface="Consolas"/>
              </a:defRPr>
            </a:pPr>
            <a:r>
              <a:t>5. ACCEPTANCE: How do I know it's correct?</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The 'Interview Me' Pattern</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914166"/>
          </a:xfrm>
          <a:prstGeom prst="rect">
            <a:avLst/>
          </a:prstGeom>
          <a:noFill/>
        </p:spPr>
        <p:txBody>
          <a:bodyPr wrap="square">
            <a:spAutoFit/>
          </a:bodyPr>
          <a:lstStyle/>
          <a:p>
            <a:pPr>
              <a:spcBef>
                <a:spcPts val="800"/>
              </a:spcBef>
              <a:spcAft>
                <a:spcPts val="800"/>
              </a:spcAft>
              <a:defRPr sz="2200">
                <a:solidFill>
                  <a:srgbClr val="FFFFFF"/>
                </a:solidFill>
              </a:defRPr>
            </a:pPr>
            <a:r>
              <a:rPr dirty="0"/>
              <a:t>  Claude will ask about things you hadn't thought through: 'What happens when a token expires mid-request?', 'Do you ne...</a:t>
            </a:r>
          </a:p>
          <a:p>
            <a:pPr>
              <a:spcBef>
                <a:spcPts val="800"/>
              </a:spcBef>
              <a:spcAft>
                <a:spcPts val="800"/>
              </a:spcAft>
              <a:defRPr sz="2200">
                <a:solidFill>
                  <a:srgbClr val="FFFFFF"/>
                </a:solidFill>
              </a:defRPr>
            </a:pPr>
            <a:r>
              <a:rPr dirty="0"/>
              <a:t>  This isn't Claude being annoying — it's Claude preventing future bugs.</a:t>
            </a:r>
          </a:p>
          <a:p>
            <a:pPr>
              <a:spcBef>
                <a:spcPts val="800"/>
              </a:spcBef>
              <a:spcAft>
                <a:spcPts val="800"/>
              </a:spcAft>
              <a:defRPr sz="2200">
                <a:solidFill>
                  <a:srgbClr val="FFFFFF"/>
                </a:solidFill>
              </a:defRPr>
            </a:pPr>
            <a:r>
              <a:rPr dirty="0"/>
              <a:t>  The output </a:t>
            </a:r>
            <a:r>
              <a:rPr lang="en-US" dirty="0"/>
              <a:t>a spec.md file</a:t>
            </a:r>
            <a:endParaRPr dirty="0"/>
          </a:p>
          <a:p>
            <a:pPr>
              <a:spcBef>
                <a:spcPts val="800"/>
              </a:spcBef>
              <a:spcAft>
                <a:spcPts val="800"/>
              </a:spcAft>
              <a:defRPr sz="2200">
                <a:solidFill>
                  <a:srgbClr val="FFFFFF"/>
                </a:solidFill>
              </a:defRPr>
            </a:pPr>
            <a:r>
              <a:rPr dirty="0"/>
              <a:t>  Combine with Plan Mode: Interview → Spec → Plan → Execute.</a:t>
            </a:r>
          </a:p>
          <a:p>
            <a:pPr>
              <a:spcBef>
                <a:spcPts val="800"/>
              </a:spcBef>
              <a:spcAft>
                <a:spcPts val="800"/>
              </a:spcAft>
              <a:defRPr sz="2200">
                <a:solidFill>
                  <a:srgbClr val="FFFFFF"/>
                </a:solidFill>
              </a:defRPr>
            </a:pPr>
            <a:r>
              <a:rPr dirty="0"/>
              <a:t>  </a:t>
            </a:r>
            <a:endParaRPr lang="en-US" dirty="0"/>
          </a:p>
          <a:p>
            <a:pPr>
              <a:spcBef>
                <a:spcPts val="800"/>
              </a:spcBef>
              <a:spcAft>
                <a:spcPts val="800"/>
              </a:spcAft>
              <a:defRPr sz="2200">
                <a:solidFill>
                  <a:srgbClr val="FFFFFF"/>
                </a:solidFill>
              </a:defRPr>
            </a:pPr>
            <a:endParaRPr lang="en-US" dirty="0"/>
          </a:p>
          <a:p>
            <a:pPr>
              <a:spcBef>
                <a:spcPts val="800"/>
              </a:spcBef>
              <a:spcAft>
                <a:spcPts val="800"/>
              </a:spcAft>
              <a:defRPr sz="2200">
                <a:solidFill>
                  <a:srgbClr val="FFFFFF"/>
                </a:solidFill>
              </a:defRPr>
            </a:pPr>
            <a:endParaRPr lang="en-US" dirty="0"/>
          </a:p>
          <a:p>
            <a:pPr>
              <a:spcBef>
                <a:spcPts val="800"/>
              </a:spcBef>
              <a:spcAft>
                <a:spcPts val="800"/>
              </a:spcAft>
              <a:defRPr sz="2200">
                <a:solidFill>
                  <a:srgbClr val="FFFFFF"/>
                </a:solidFill>
              </a:defRPr>
            </a:pPr>
            <a:r>
              <a:rPr dirty="0"/>
              <a:t>Source: Reza Rezvani — this pattern eliminated most of his 'Claude didn't understand what I wanted' complaints.</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Case Study: 2 Hours That Saved 20</a:t>
            </a:r>
          </a:p>
        </p:txBody>
      </p:sp>
      <p:sp>
        <p:nvSpPr>
          <p:cNvPr id="3" name="Rounded Rectangle 2"/>
          <p:cNvSpPr/>
          <p:nvPr/>
        </p:nvSpPr>
        <p:spPr>
          <a:xfrm>
            <a:off x="2255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18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18307" y="1211580"/>
            <a:ext cx="320040" cy="32004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b="1">
                <a:solidFill>
                  <a:srgbClr val="0B0F1A"/>
                </a:solidFill>
              </a:defRPr>
            </a:pPr>
            <a:r>
              <a:rPr kumimoji="0" sz="1400" b="1" i="0" u="none" strike="noStrike" kern="1200" cap="none" spc="0" normalizeH="0" baseline="0" noProof="0">
                <a:ln>
                  <a:noFill/>
                </a:ln>
                <a:solidFill>
                  <a:srgbClr val="0B0F1A"/>
                </a:solidFill>
                <a:effectLst/>
                <a:uLnTx/>
                <a:uFillTx/>
                <a:latin typeface="Calibri"/>
                <a:ea typeface="+mn-ea"/>
                <a:cs typeface="+mn-cs"/>
              </a:rPr>
              <a:t>1</a:t>
            </a:r>
          </a:p>
        </p:txBody>
      </p:sp>
      <p:sp>
        <p:nvSpPr>
          <p:cNvPr id="6" name="Right Arrow 5"/>
          <p:cNvSpPr/>
          <p:nvPr/>
        </p:nvSpPr>
        <p:spPr>
          <a:xfrm>
            <a:off x="31697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7" name="Rounded Rectangle 6"/>
          <p:cNvSpPr/>
          <p:nvPr/>
        </p:nvSpPr>
        <p:spPr>
          <a:xfrm>
            <a:off x="36269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42899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4289907" y="1211580"/>
            <a:ext cx="320040" cy="32004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b="1">
                <a:solidFill>
                  <a:srgbClr val="0B0F1A"/>
                </a:solidFill>
              </a:defRPr>
            </a:pPr>
            <a:r>
              <a:rPr kumimoji="0" sz="1400" b="1" i="0" u="none" strike="noStrike" kern="1200" cap="none" spc="0" normalizeH="0" baseline="0" noProof="0">
                <a:ln>
                  <a:noFill/>
                </a:ln>
                <a:solidFill>
                  <a:srgbClr val="0B0F1A"/>
                </a:solidFill>
                <a:effectLst/>
                <a:uLnTx/>
                <a:uFillTx/>
                <a:latin typeface="Calibri"/>
                <a:ea typeface="+mn-ea"/>
                <a:cs typeface="+mn-cs"/>
              </a:rPr>
              <a:t>2</a:t>
            </a:r>
          </a:p>
        </p:txBody>
      </p:sp>
      <p:sp>
        <p:nvSpPr>
          <p:cNvPr id="10" name="Right Arrow 9"/>
          <p:cNvSpPr/>
          <p:nvPr/>
        </p:nvSpPr>
        <p:spPr>
          <a:xfrm>
            <a:off x="45413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1" name="Rounded Rectangle 10"/>
          <p:cNvSpPr/>
          <p:nvPr/>
        </p:nvSpPr>
        <p:spPr>
          <a:xfrm>
            <a:off x="49985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56615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5661507" y="1211580"/>
            <a:ext cx="320040" cy="32004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b="1">
                <a:solidFill>
                  <a:srgbClr val="0B0F1A"/>
                </a:solidFill>
              </a:defRPr>
            </a:pPr>
            <a:r>
              <a:rPr kumimoji="0" sz="1400" b="1" i="0" u="none" strike="noStrike" kern="1200" cap="none" spc="0" normalizeH="0" baseline="0" noProof="0">
                <a:ln>
                  <a:noFill/>
                </a:ln>
                <a:solidFill>
                  <a:srgbClr val="0B0F1A"/>
                </a:solidFill>
                <a:effectLst/>
                <a:uLnTx/>
                <a:uFillTx/>
                <a:latin typeface="Calibri"/>
                <a:ea typeface="+mn-ea"/>
                <a:cs typeface="+mn-cs"/>
              </a:rPr>
              <a:t>3</a:t>
            </a:r>
          </a:p>
        </p:txBody>
      </p:sp>
      <p:sp>
        <p:nvSpPr>
          <p:cNvPr id="14" name="Right Arrow 13"/>
          <p:cNvSpPr/>
          <p:nvPr/>
        </p:nvSpPr>
        <p:spPr>
          <a:xfrm>
            <a:off x="59129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5" name="Rounded Rectangle 14"/>
          <p:cNvSpPr/>
          <p:nvPr/>
        </p:nvSpPr>
        <p:spPr>
          <a:xfrm>
            <a:off x="63701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6" name="Oval 15"/>
          <p:cNvSpPr/>
          <p:nvPr/>
        </p:nvSpPr>
        <p:spPr>
          <a:xfrm>
            <a:off x="70331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7" name="TextBox 16"/>
          <p:cNvSpPr txBox="1"/>
          <p:nvPr/>
        </p:nvSpPr>
        <p:spPr>
          <a:xfrm>
            <a:off x="7033107" y="1211580"/>
            <a:ext cx="320040" cy="32004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b="1">
                <a:solidFill>
                  <a:srgbClr val="0B0F1A"/>
                </a:solidFill>
              </a:defRPr>
            </a:pPr>
            <a:r>
              <a:rPr kumimoji="0" sz="1400" b="1" i="0" u="none" strike="noStrike" kern="1200" cap="none" spc="0" normalizeH="0" baseline="0" noProof="0">
                <a:ln>
                  <a:noFill/>
                </a:ln>
                <a:solidFill>
                  <a:srgbClr val="0B0F1A"/>
                </a:solidFill>
                <a:effectLst/>
                <a:uLnTx/>
                <a:uFillTx/>
                <a:latin typeface="Calibri"/>
                <a:ea typeface="+mn-ea"/>
                <a:cs typeface="+mn-cs"/>
              </a:rPr>
              <a:t>4</a:t>
            </a:r>
          </a:p>
        </p:txBody>
      </p:sp>
      <p:sp>
        <p:nvSpPr>
          <p:cNvPr id="18" name="Right Arrow 17"/>
          <p:cNvSpPr/>
          <p:nvPr/>
        </p:nvSpPr>
        <p:spPr>
          <a:xfrm>
            <a:off x="72845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9" name="Rounded Rectangle 18"/>
          <p:cNvSpPr/>
          <p:nvPr/>
        </p:nvSpPr>
        <p:spPr>
          <a:xfrm>
            <a:off x="77417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0" name="Oval 19"/>
          <p:cNvSpPr/>
          <p:nvPr/>
        </p:nvSpPr>
        <p:spPr>
          <a:xfrm>
            <a:off x="84047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1" name="TextBox 20"/>
          <p:cNvSpPr txBox="1"/>
          <p:nvPr/>
        </p:nvSpPr>
        <p:spPr>
          <a:xfrm>
            <a:off x="8404707" y="1211580"/>
            <a:ext cx="320040" cy="32004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b="1">
                <a:solidFill>
                  <a:srgbClr val="0B0F1A"/>
                </a:solidFill>
              </a:defRPr>
            </a:pPr>
            <a:r>
              <a:rPr kumimoji="0" sz="1400" b="1" i="0" u="none" strike="noStrike" kern="1200" cap="none" spc="0" normalizeH="0" baseline="0" noProof="0">
                <a:ln>
                  <a:noFill/>
                </a:ln>
                <a:solidFill>
                  <a:srgbClr val="0B0F1A"/>
                </a:solidFill>
                <a:effectLst/>
                <a:uLnTx/>
                <a:uFillTx/>
                <a:latin typeface="Calibri"/>
                <a:ea typeface="+mn-ea"/>
                <a:cs typeface="+mn-cs"/>
              </a:rPr>
              <a:t>5</a:t>
            </a:r>
          </a:p>
        </p:txBody>
      </p:sp>
      <p:sp>
        <p:nvSpPr>
          <p:cNvPr id="22" name="Right Arrow 21"/>
          <p:cNvSpPr/>
          <p:nvPr/>
        </p:nvSpPr>
        <p:spPr>
          <a:xfrm>
            <a:off x="8656167" y="1645920"/>
            <a:ext cx="365760" cy="274320"/>
          </a:xfrm>
          <a:prstGeom prst="rightArrow">
            <a:avLst/>
          </a:prstGeom>
          <a:solidFill>
            <a:srgbClr val="8B95A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3" name="Rounded Rectangle 22"/>
          <p:cNvSpPr/>
          <p:nvPr/>
        </p:nvSpPr>
        <p:spPr>
          <a:xfrm>
            <a:off x="9113367" y="1371600"/>
            <a:ext cx="822960" cy="82296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4" name="Oval 23"/>
          <p:cNvSpPr/>
          <p:nvPr/>
        </p:nvSpPr>
        <p:spPr>
          <a:xfrm>
            <a:off x="9776307" y="1211580"/>
            <a:ext cx="320040" cy="32004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25" name="TextBox 24"/>
          <p:cNvSpPr txBox="1"/>
          <p:nvPr/>
        </p:nvSpPr>
        <p:spPr>
          <a:xfrm>
            <a:off x="9776307" y="1211580"/>
            <a:ext cx="320040" cy="32004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1400" b="1">
                <a:solidFill>
                  <a:srgbClr val="0B0F1A"/>
                </a:solidFill>
              </a:defRPr>
            </a:pPr>
            <a:r>
              <a:rPr kumimoji="0" sz="1400" b="1" i="0" u="none" strike="noStrike" kern="1200" cap="none" spc="0" normalizeH="0" baseline="0" noProof="0">
                <a:ln>
                  <a:noFill/>
                </a:ln>
                <a:solidFill>
                  <a:srgbClr val="0B0F1A"/>
                </a:solidFill>
                <a:effectLst/>
                <a:uLnTx/>
                <a:uFillTx/>
                <a:latin typeface="Calibri"/>
                <a:ea typeface="+mn-ea"/>
                <a:cs typeface="+mn-cs"/>
              </a:rPr>
              <a:t>6</a:t>
            </a:r>
          </a:p>
        </p:txBody>
      </p:sp>
      <p:sp>
        <p:nvSpPr>
          <p:cNvPr id="26" name="TextBox 25"/>
          <p:cNvSpPr txBox="1"/>
          <p:nvPr/>
        </p:nvSpPr>
        <p:spPr>
          <a:xfrm>
            <a:off x="1371600" y="2743200"/>
            <a:ext cx="4572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b="1">
                <a:solidFill>
                  <a:srgbClr val="00D4AA"/>
                </a:solidFill>
              </a:defRPr>
            </a:pPr>
            <a:r>
              <a:rPr kumimoji="0" sz="2000" b="1" i="0" u="none" strike="noStrike" kern="1200" cap="none" spc="0" normalizeH="0" baseline="0" noProof="0">
                <a:ln>
                  <a:noFill/>
                </a:ln>
                <a:solidFill>
                  <a:srgbClr val="00D4AA"/>
                </a:solidFill>
                <a:effectLst/>
                <a:uLnTx/>
                <a:uFillTx/>
                <a:latin typeface="Calibri"/>
                <a:ea typeface="+mn-ea"/>
                <a:cs typeface="+mn-cs"/>
              </a:rPr>
              <a:t>1</a:t>
            </a:r>
          </a:p>
        </p:txBody>
      </p:sp>
      <p:sp>
        <p:nvSpPr>
          <p:cNvPr id="27" name="TextBox 26"/>
          <p:cNvSpPr txBox="1"/>
          <p:nvPr/>
        </p:nvSpPr>
        <p:spPr>
          <a:xfrm>
            <a:off x="1828800" y="2743200"/>
            <a:ext cx="8991295" cy="5486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PM needs to pitch a Chrome extension to the CEO</a:t>
            </a:r>
          </a:p>
        </p:txBody>
      </p:sp>
      <p:sp>
        <p:nvSpPr>
          <p:cNvPr id="28" name="TextBox 27"/>
          <p:cNvSpPr txBox="1"/>
          <p:nvPr/>
        </p:nvSpPr>
        <p:spPr>
          <a:xfrm>
            <a:off x="1371600" y="3383280"/>
            <a:ext cx="4572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b="1">
                <a:solidFill>
                  <a:srgbClr val="00D4AA"/>
                </a:solidFill>
              </a:defRPr>
            </a:pPr>
            <a:r>
              <a:rPr kumimoji="0" sz="2000" b="1" i="0" u="none" strike="noStrike" kern="1200" cap="none" spc="0" normalizeH="0" baseline="0" noProof="0">
                <a:ln>
                  <a:noFill/>
                </a:ln>
                <a:solidFill>
                  <a:srgbClr val="00D4AA"/>
                </a:solidFill>
                <a:effectLst/>
                <a:uLnTx/>
                <a:uFillTx/>
                <a:latin typeface="Calibri"/>
                <a:ea typeface="+mn-ea"/>
                <a:cs typeface="+mn-cs"/>
              </a:rPr>
              <a:t>2</a:t>
            </a:r>
          </a:p>
        </p:txBody>
      </p:sp>
      <p:sp>
        <p:nvSpPr>
          <p:cNvPr id="29" name="TextBox 28"/>
          <p:cNvSpPr txBox="1"/>
          <p:nvPr/>
        </p:nvSpPr>
        <p:spPr>
          <a:xfrm>
            <a:off x="1828800" y="3383280"/>
            <a:ext cx="8991295" cy="5486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Traditional: Write spec, wait 3 weeks for engineering estimate</a:t>
            </a:r>
          </a:p>
        </p:txBody>
      </p:sp>
      <p:sp>
        <p:nvSpPr>
          <p:cNvPr id="30" name="TextBox 29"/>
          <p:cNvSpPr txBox="1"/>
          <p:nvPr/>
        </p:nvSpPr>
        <p:spPr>
          <a:xfrm>
            <a:off x="1371600" y="4023360"/>
            <a:ext cx="4572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b="1">
                <a:solidFill>
                  <a:srgbClr val="00D4AA"/>
                </a:solidFill>
              </a:defRPr>
            </a:pPr>
            <a:r>
              <a:rPr kumimoji="0" sz="2000" b="1" i="0" u="none" strike="noStrike" kern="1200" cap="none" spc="0" normalizeH="0" baseline="0" noProof="0">
                <a:ln>
                  <a:noFill/>
                </a:ln>
                <a:solidFill>
                  <a:srgbClr val="00D4AA"/>
                </a:solidFill>
                <a:effectLst/>
                <a:uLnTx/>
                <a:uFillTx/>
                <a:latin typeface="Calibri"/>
                <a:ea typeface="+mn-ea"/>
                <a:cs typeface="+mn-cs"/>
              </a:rPr>
              <a:t>3</a:t>
            </a:r>
          </a:p>
        </p:txBody>
      </p:sp>
      <p:sp>
        <p:nvSpPr>
          <p:cNvPr id="31" name="TextBox 30"/>
          <p:cNvSpPr txBox="1"/>
          <p:nvPr/>
        </p:nvSpPr>
        <p:spPr>
          <a:xfrm>
            <a:off x="1828800" y="4023360"/>
            <a:ext cx="8991295" cy="5486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Claude Code: PM describes extension, Claude builds a working MVP</a:t>
            </a:r>
          </a:p>
        </p:txBody>
      </p:sp>
      <p:sp>
        <p:nvSpPr>
          <p:cNvPr id="32" name="TextBox 31"/>
          <p:cNvSpPr txBox="1"/>
          <p:nvPr/>
        </p:nvSpPr>
        <p:spPr>
          <a:xfrm>
            <a:off x="1371600" y="4663440"/>
            <a:ext cx="4572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b="1">
                <a:solidFill>
                  <a:srgbClr val="00D4AA"/>
                </a:solidFill>
              </a:defRPr>
            </a:pPr>
            <a:r>
              <a:rPr kumimoji="0" sz="2000" b="1" i="0" u="none" strike="noStrike" kern="1200" cap="none" spc="0" normalizeH="0" baseline="0" noProof="0">
                <a:ln>
                  <a:noFill/>
                </a:ln>
                <a:solidFill>
                  <a:srgbClr val="00D4AA"/>
                </a:solidFill>
                <a:effectLst/>
                <a:uLnTx/>
                <a:uFillTx/>
                <a:latin typeface="Calibri"/>
                <a:ea typeface="+mn-ea"/>
                <a:cs typeface="+mn-cs"/>
              </a:rPr>
              <a:t>4</a:t>
            </a:r>
          </a:p>
        </p:txBody>
      </p:sp>
      <p:sp>
        <p:nvSpPr>
          <p:cNvPr id="33" name="TextBox 32"/>
          <p:cNvSpPr txBox="1"/>
          <p:nvPr/>
        </p:nvSpPr>
        <p:spPr>
          <a:xfrm>
            <a:off x="1828800" y="4663440"/>
            <a:ext cx="8991295" cy="5486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Total time: 2 hours. Result: A clickable demo for the CEO</a:t>
            </a:r>
          </a:p>
        </p:txBody>
      </p:sp>
      <p:sp>
        <p:nvSpPr>
          <p:cNvPr id="34" name="TextBox 33"/>
          <p:cNvSpPr txBox="1"/>
          <p:nvPr/>
        </p:nvSpPr>
        <p:spPr>
          <a:xfrm>
            <a:off x="1371600" y="5303520"/>
            <a:ext cx="4572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b="1">
                <a:solidFill>
                  <a:srgbClr val="00D4AA"/>
                </a:solidFill>
              </a:defRPr>
            </a:pPr>
            <a:r>
              <a:rPr kumimoji="0" sz="2000" b="1" i="0" u="none" strike="noStrike" kern="1200" cap="none" spc="0" normalizeH="0" baseline="0" noProof="0">
                <a:ln>
                  <a:noFill/>
                </a:ln>
                <a:solidFill>
                  <a:srgbClr val="00D4AA"/>
                </a:solidFill>
                <a:effectLst/>
                <a:uLnTx/>
                <a:uFillTx/>
                <a:latin typeface="Calibri"/>
                <a:ea typeface="+mn-ea"/>
                <a:cs typeface="+mn-cs"/>
              </a:rPr>
              <a:t>5</a:t>
            </a:r>
          </a:p>
        </p:txBody>
      </p:sp>
      <p:sp>
        <p:nvSpPr>
          <p:cNvPr id="35" name="TextBox 34"/>
          <p:cNvSpPr txBox="1"/>
          <p:nvPr/>
        </p:nvSpPr>
        <p:spPr>
          <a:xfrm>
            <a:off x="1828800" y="5303520"/>
            <a:ext cx="8991295" cy="5486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Engineering: 'This is what we'd build.' Estimate drops to 1 week.</a:t>
            </a:r>
          </a:p>
        </p:txBody>
      </p:sp>
      <p:sp>
        <p:nvSpPr>
          <p:cNvPr id="36" name="TextBox 35"/>
          <p:cNvSpPr txBox="1"/>
          <p:nvPr/>
        </p:nvSpPr>
        <p:spPr>
          <a:xfrm>
            <a:off x="1371600" y="5943600"/>
            <a:ext cx="457200" cy="45720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000" b="1">
                <a:solidFill>
                  <a:srgbClr val="00D4AA"/>
                </a:solidFill>
              </a:defRPr>
            </a:pPr>
            <a:r>
              <a:rPr kumimoji="0" sz="2000" b="1" i="0" u="none" strike="noStrike" kern="1200" cap="none" spc="0" normalizeH="0" baseline="0" noProof="0">
                <a:ln>
                  <a:noFill/>
                </a:ln>
                <a:solidFill>
                  <a:srgbClr val="00D4AA"/>
                </a:solidFill>
                <a:effectLst/>
                <a:uLnTx/>
                <a:uFillTx/>
                <a:latin typeface="Calibri"/>
                <a:ea typeface="+mn-ea"/>
                <a:cs typeface="+mn-cs"/>
              </a:rPr>
              <a:t>6</a:t>
            </a:r>
          </a:p>
        </p:txBody>
      </p:sp>
      <p:sp>
        <p:nvSpPr>
          <p:cNvPr id="37" name="TextBox 36"/>
          <p:cNvSpPr txBox="1"/>
          <p:nvPr/>
        </p:nvSpPr>
        <p:spPr>
          <a:xfrm>
            <a:off x="1828800" y="5943600"/>
            <a:ext cx="8991295" cy="54864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The leverage: A working prototype beats a 20-page spec.</a:t>
            </a:r>
          </a:p>
        </p:txBody>
      </p:sp>
    </p:spTree>
    <p:extLst>
      <p:ext uri="{BB962C8B-B14F-4D97-AF65-F5344CB8AC3E}">
        <p14:creationId xmlns:p14="http://schemas.microsoft.com/office/powerpoint/2010/main" val="375737474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Demo: Spec-Driven Development with Claude Code</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914400" y="1371600"/>
            <a:ext cx="914400" cy="914400"/>
          </a:xfrm>
          <a:prstGeom prst="rect">
            <a:avLst/>
          </a:prstGeom>
          <a:noFill/>
        </p:spPr>
        <p:txBody>
          <a:bodyPr wrap="none">
            <a:spAutoFit/>
          </a:bodyPr>
          <a:lstStyle/>
          <a:p>
            <a:pPr>
              <a:defRPr sz="12000">
                <a:solidFill>
                  <a:srgbClr val="00D4AA"/>
                </a:solidFill>
              </a:defRPr>
            </a:pPr>
            <a:r>
              <a:t>"</a:t>
            </a:r>
          </a:p>
        </p:txBody>
      </p:sp>
      <p:sp>
        <p:nvSpPr>
          <p:cNvPr id="3" name="TextBox 2"/>
          <p:cNvSpPr txBox="1"/>
          <p:nvPr/>
        </p:nvSpPr>
        <p:spPr>
          <a:xfrm>
            <a:off x="1371600" y="2286000"/>
            <a:ext cx="9448495" cy="2286000"/>
          </a:xfrm>
          <a:prstGeom prst="rect">
            <a:avLst/>
          </a:prstGeom>
          <a:noFill/>
        </p:spPr>
        <p:txBody>
          <a:bodyPr wrap="square">
            <a:spAutoFit/>
          </a:bodyPr>
          <a:lstStyle/>
          <a:p>
            <a:pPr algn="ctr">
              <a:defRPr sz="3600" i="1">
                <a:solidFill>
                  <a:srgbClr val="FFFFFF"/>
                </a:solidFill>
              </a:defRPr>
            </a:pPr>
            <a:r>
              <a:t>Break</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2286000"/>
            <a:ext cx="11277295" cy="1371600"/>
          </a:xfrm>
          <a:prstGeom prst="rect">
            <a:avLst/>
          </a:prstGeom>
          <a:noFill/>
        </p:spPr>
        <p:txBody>
          <a:bodyPr wrap="square">
            <a:spAutoFit/>
          </a:bodyPr>
          <a:lstStyle/>
          <a:p>
            <a:pPr>
              <a:defRPr sz="5600" b="1">
                <a:solidFill>
                  <a:srgbClr val="FFFFFF"/>
                </a:solidFill>
              </a:defRPr>
            </a:pPr>
            <a:r>
              <a:t>File Operations &amp; Development Workflows</a:t>
            </a:r>
          </a:p>
        </p:txBody>
      </p:sp>
      <p:sp>
        <p:nvSpPr>
          <p:cNvPr id="4" name="TextBox 3"/>
          <p:cNvSpPr txBox="1"/>
          <p:nvPr/>
        </p:nvSpPr>
        <p:spPr>
          <a:xfrm>
            <a:off x="506295" y="4306885"/>
            <a:ext cx="11277295" cy="914400"/>
          </a:xfrm>
          <a:prstGeom prst="rect">
            <a:avLst/>
          </a:prstGeom>
          <a:noFill/>
        </p:spPr>
        <p:txBody>
          <a:bodyPr wrap="square">
            <a:spAutoFit/>
          </a:bodyPr>
          <a:lstStyle/>
          <a:p>
            <a:pPr>
              <a:defRPr sz="2400">
                <a:solidFill>
                  <a:srgbClr val="8B95A5"/>
                </a:solidFill>
              </a:defRPr>
            </a:pPr>
            <a:r>
              <a:rPr dirty="0"/>
              <a:t>Reading, writing, searching, refactoring — the daily toolkit</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Reading, Writing, Searching Files</a:t>
            </a:r>
          </a:p>
        </p:txBody>
      </p:sp>
      <p:sp>
        <p:nvSpPr>
          <p:cNvPr id="3" name="Rounded Rectangle 2"/>
          <p:cNvSpPr/>
          <p:nvPr/>
        </p:nvSpPr>
        <p:spPr>
          <a:xfrm>
            <a:off x="230108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algn="ctr">
              <a:defRPr sz="1800" b="1">
                <a:solidFill>
                  <a:srgbClr val="FFFFFF"/>
                </a:solidFill>
              </a:defRPr>
            </a:pPr>
            <a:r>
              <a:t>Read</a:t>
            </a:r>
          </a:p>
          <a:p>
            <a:pPr algn="ctr">
              <a:spcBef>
                <a:spcPts val="800"/>
              </a:spcBef>
              <a:defRPr sz="1300">
                <a:solidFill>
                  <a:srgbClr val="8B95A5"/>
                </a:solidFill>
              </a:defRPr>
            </a:pPr>
            <a:r>
              <a:t>@ mention files directly</a:t>
            </a:r>
            <a:br/>
            <a:r>
              <a:t>Claude searches with grep/glob</a:t>
            </a:r>
            <a:br/>
            <a:r>
              <a:t>Reads imports and dependencies</a:t>
            </a:r>
            <a:br/>
            <a:r>
              <a:t>Builds understanding from code</a:t>
            </a:r>
          </a:p>
        </p:txBody>
      </p:sp>
      <p:sp>
        <p:nvSpPr>
          <p:cNvPr id="7" name="Rounded Rectangle 6"/>
          <p:cNvSpPr/>
          <p:nvPr/>
        </p:nvSpPr>
        <p:spPr>
          <a:xfrm>
            <a:off x="495284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lnSpcReduction="10000"/>
          </a:bodyPr>
          <a:lstStyle/>
          <a:p>
            <a:pPr algn="ctr">
              <a:defRPr sz="1800" b="1">
                <a:solidFill>
                  <a:srgbClr val="FFFFFF"/>
                </a:solidFill>
              </a:defRPr>
            </a:pPr>
            <a:r>
              <a:t>Write</a:t>
            </a:r>
          </a:p>
          <a:p>
            <a:pPr algn="ctr">
              <a:spcBef>
                <a:spcPts val="800"/>
              </a:spcBef>
              <a:defRPr sz="1300">
                <a:solidFill>
                  <a:srgbClr val="8B95A5"/>
                </a:solidFill>
              </a:defRPr>
            </a:pPr>
            <a:r>
              <a:t>Creates new files from specs</a:t>
            </a:r>
            <a:br/>
            <a:r>
              <a:t>Edits existing files surgically</a:t>
            </a:r>
            <a:br/>
            <a:r>
              <a:t>Multi-file changes in one pass</a:t>
            </a:r>
            <a:br/>
            <a:r>
              <a:t>Respects your code style</a:t>
            </a:r>
          </a:p>
        </p:txBody>
      </p:sp>
      <p:sp>
        <p:nvSpPr>
          <p:cNvPr id="11" name="Rounded Rectangle 10"/>
          <p:cNvSpPr/>
          <p:nvPr/>
        </p:nvSpPr>
        <p:spPr>
          <a:xfrm>
            <a:off x="7604607" y="2011680"/>
            <a:ext cx="2286000" cy="3546438"/>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Search</a:t>
            </a:r>
          </a:p>
          <a:p>
            <a:pPr algn="ctr">
              <a:spcBef>
                <a:spcPts val="800"/>
              </a:spcBef>
              <a:defRPr sz="1300">
                <a:solidFill>
                  <a:srgbClr val="8B95A5"/>
                </a:solidFill>
              </a:defRPr>
            </a:pPr>
            <a:r>
              <a:t>'Find all API endpoints'</a:t>
            </a:r>
            <a:br/>
            <a:r>
              <a:t>'Where is auth middleware used?'</a:t>
            </a:r>
            <a:br/>
            <a:r>
              <a:t>'Show files importing utils.ts'</a:t>
            </a:r>
            <a:br/>
            <a:r>
              <a:t>Pattern matching across codebase</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Multi-File Edits &amp; Refactoring</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Does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Renames across all files simultaneously</a:t>
            </a:r>
          </a:p>
          <a:p>
            <a:pPr>
              <a:spcAft>
                <a:spcPts val="1200"/>
              </a:spcAft>
              <a:defRPr sz="1800">
                <a:solidFill>
                  <a:srgbClr val="FFFFFF"/>
                </a:solidFill>
              </a:defRPr>
            </a:pPr>
            <a:r>
              <a:t>  Moves functions between modules</a:t>
            </a:r>
          </a:p>
          <a:p>
            <a:pPr>
              <a:spcAft>
                <a:spcPts val="1200"/>
              </a:spcAft>
              <a:defRPr sz="1800">
                <a:solidFill>
                  <a:srgbClr val="FFFFFF"/>
                </a:solidFill>
              </a:defRPr>
            </a:pPr>
            <a:r>
              <a:t>  Updates imports after restructuring</a:t>
            </a:r>
          </a:p>
          <a:p>
            <a:pPr>
              <a:spcAft>
                <a:spcPts val="1200"/>
              </a:spcAft>
              <a:defRPr sz="1800">
                <a:solidFill>
                  <a:srgbClr val="FFFFFF"/>
                </a:solidFill>
              </a:defRPr>
            </a:pPr>
            <a:r>
              <a:t>  Maintains type safety during refactors</a:t>
            </a:r>
          </a:p>
          <a:p>
            <a:pPr>
              <a:spcAft>
                <a:spcPts val="1200"/>
              </a:spcAft>
              <a:defRPr sz="1800">
                <a:solidFill>
                  <a:srgbClr val="FFFFFF"/>
                </a:solidFill>
              </a:defRPr>
            </a:pPr>
            <a:r>
              <a:t>  Runs tests after each change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'Extract the auth logic into src/middleware/auth.ts'</a:t>
            </a:r>
          </a:p>
          <a:p>
            <a:pPr>
              <a:spcAft>
                <a:spcPts val="1200"/>
              </a:spcAft>
              <a:defRPr sz="1800">
                <a:solidFill>
                  <a:srgbClr val="FFFFFF"/>
                </a:solidFill>
              </a:defRPr>
            </a:pPr>
            <a:r>
              <a:t>  'Rename UserService to AccountService everywhere'</a:t>
            </a:r>
          </a:p>
          <a:p>
            <a:pPr>
              <a:spcAft>
                <a:spcPts val="1200"/>
              </a:spcAft>
              <a:defRPr sz="1800">
                <a:solidFill>
                  <a:srgbClr val="FFFFFF"/>
                </a:solidFill>
              </a:defRPr>
            </a:pPr>
            <a:r>
              <a:t>  'Split this 500-line file into separate modules'</a:t>
            </a:r>
          </a:p>
          <a:p>
            <a:pPr>
              <a:spcAft>
                <a:spcPts val="1200"/>
              </a:spcAft>
              <a:defRPr sz="1800">
                <a:solidFill>
                  <a:srgbClr val="FFFFFF"/>
                </a:solidFill>
              </a:defRPr>
            </a:pPr>
            <a:r>
              <a:t>  'Convert all callbacks to async/await'</a:t>
            </a:r>
          </a:p>
          <a:p>
            <a:pPr>
              <a:spcAft>
                <a:spcPts val="1200"/>
              </a:spcAft>
              <a:defRPr sz="1800">
                <a:solidFill>
                  <a:srgbClr val="FFFFFF"/>
                </a:solidFill>
              </a:defRPr>
            </a:pPr>
            <a:r>
              <a:t>  Use Plan Mode for refactors touching 3+ files</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Code Generation Patterns</a:t>
            </a:r>
          </a:p>
        </p:txBody>
      </p:sp>
      <p:sp>
        <p:nvSpPr>
          <p:cNvPr id="3" name="Rounded Rectangle 2"/>
          <p:cNvSpPr/>
          <p:nvPr/>
        </p:nvSpPr>
        <p:spPr>
          <a:xfrm>
            <a:off x="230108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Scaffold</a:t>
            </a:r>
          </a:p>
          <a:p>
            <a:pPr algn="ctr">
              <a:spcBef>
                <a:spcPts val="800"/>
              </a:spcBef>
              <a:defRPr sz="1300">
                <a:solidFill>
                  <a:srgbClr val="8B95A5"/>
                </a:solidFill>
              </a:defRPr>
            </a:pPr>
            <a:r>
              <a:t>'Create an Express REST API with auth'</a:t>
            </a:r>
            <a:br/>
            <a:r>
              <a:t>'Set up a React component library'</a:t>
            </a:r>
            <a:br/>
            <a:r>
              <a:t>Full project structure from a spec</a:t>
            </a:r>
          </a:p>
        </p:txBody>
      </p:sp>
      <p:sp>
        <p:nvSpPr>
          <p:cNvPr id="7" name="Rounded Rectangle 6"/>
          <p:cNvSpPr/>
          <p:nvPr/>
        </p:nvSpPr>
        <p:spPr>
          <a:xfrm>
            <a:off x="495284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lnSpcReduction="20000"/>
          </a:bodyPr>
          <a:lstStyle/>
          <a:p>
            <a:pPr algn="ctr">
              <a:defRPr sz="1800" b="1">
                <a:solidFill>
                  <a:srgbClr val="FFFFFF"/>
                </a:solidFill>
              </a:defRPr>
            </a:pPr>
            <a:r>
              <a:t>Transform</a:t>
            </a:r>
          </a:p>
          <a:p>
            <a:pPr algn="ctr">
              <a:spcBef>
                <a:spcPts val="800"/>
              </a:spcBef>
              <a:defRPr sz="1300">
                <a:solidFill>
                  <a:srgbClr val="8B95A5"/>
                </a:solidFill>
              </a:defRPr>
            </a:pPr>
            <a:r>
              <a:t>'Convert this class to functional'</a:t>
            </a:r>
            <a:br/>
            <a:r>
              <a:t>'Migrate from JavaScript to TypeScript'</a:t>
            </a:r>
            <a:br/>
            <a:r>
              <a:t>'Add error handling to all endpoints'</a:t>
            </a:r>
          </a:p>
        </p:txBody>
      </p:sp>
      <p:sp>
        <p:nvSpPr>
          <p:cNvPr id="11" name="Rounded Rectangle 10"/>
          <p:cNvSpPr/>
          <p:nvPr/>
        </p:nvSpPr>
        <p:spPr>
          <a:xfrm>
            <a:off x="7604607" y="2011680"/>
            <a:ext cx="2286000" cy="342093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a:bodyPr>
          <a:lstStyle/>
          <a:p>
            <a:pPr algn="ctr">
              <a:defRPr sz="1800" b="1">
                <a:solidFill>
                  <a:srgbClr val="FFFFFF"/>
                </a:solidFill>
              </a:defRPr>
            </a:pPr>
            <a:r>
              <a:t>Pattern</a:t>
            </a:r>
          </a:p>
          <a:p>
            <a:pPr algn="ctr">
              <a:spcBef>
                <a:spcPts val="800"/>
              </a:spcBef>
              <a:defRPr sz="1300">
                <a:solidFill>
                  <a:srgbClr val="8B95A5"/>
                </a:solidFill>
              </a:defRPr>
            </a:pPr>
            <a:r>
              <a:t>'Add the repository pattern for User'</a:t>
            </a:r>
            <a:br/>
            <a:r>
              <a:t>'Create a factory for test data'</a:t>
            </a:r>
            <a:br/>
            <a:r>
              <a:t>'Implement the observer pattern here'</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Debugging Workflows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The Problem</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Paste error message</a:t>
            </a:r>
          </a:p>
          <a:p>
            <a:pPr>
              <a:spcAft>
                <a:spcPts val="1200"/>
              </a:spcAft>
              <a:defRPr sz="1800">
                <a:solidFill>
                  <a:srgbClr val="FFFFFF"/>
                </a:solidFill>
              </a:defRPr>
            </a:pPr>
            <a:r>
              <a:t>  'This test is failing — fix it'</a:t>
            </a:r>
          </a:p>
          <a:p>
            <a:pPr>
              <a:spcAft>
                <a:spcPts val="1200"/>
              </a:spcAft>
              <a:defRPr sz="1800">
                <a:solidFill>
                  <a:srgbClr val="FFFFFF"/>
                </a:solidFill>
              </a:defRPr>
            </a:pPr>
            <a:r>
              <a:t>  'Users report 500 errors on /api/login'</a:t>
            </a:r>
          </a:p>
          <a:p>
            <a:pPr>
              <a:spcAft>
                <a:spcPts val="1200"/>
              </a:spcAft>
              <a:defRPr sz="1800">
                <a:solidFill>
                  <a:srgbClr val="FFFFFF"/>
                </a:solidFill>
              </a:defRPr>
            </a:pPr>
            <a:r>
              <a:t>  Claude reads logs, traces the issue</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The Process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Claude reads error + related code</a:t>
            </a:r>
          </a:p>
          <a:p>
            <a:pPr>
              <a:spcAft>
                <a:spcPts val="1200"/>
              </a:spcAft>
              <a:defRPr sz="1800">
                <a:solidFill>
                  <a:srgbClr val="FFFFFF"/>
                </a:solidFill>
              </a:defRPr>
            </a:pPr>
            <a:r>
              <a:t>  Identifies root cause (not just symptoms)</a:t>
            </a:r>
          </a:p>
          <a:p>
            <a:pPr>
              <a:spcAft>
                <a:spcPts val="1200"/>
              </a:spcAft>
              <a:defRPr sz="1800">
                <a:solidFill>
                  <a:srgbClr val="FFFFFF"/>
                </a:solidFill>
              </a:defRPr>
            </a:pPr>
            <a:r>
              <a:t>  Proposes fix with explanation</a:t>
            </a:r>
          </a:p>
          <a:p>
            <a:pPr>
              <a:spcAft>
                <a:spcPts val="1200"/>
              </a:spcAft>
              <a:defRPr sz="1800">
                <a:solidFill>
                  <a:srgbClr val="FFFFFF"/>
                </a:solidFill>
              </a:defRPr>
            </a:pPr>
            <a:r>
              <a:t>  Applies fix and runs tests to verify</a:t>
            </a:r>
          </a:p>
          <a:p>
            <a:pPr>
              <a:spcAft>
                <a:spcPts val="1200"/>
              </a:spcAft>
              <a:defRPr sz="1800">
                <a:solidFill>
                  <a:srgbClr val="FFFFFF"/>
                </a:solidFill>
              </a:defRPr>
            </a:pPr>
            <a:r>
              <a:t>  Suggests preventing similar bugs</a:t>
            </a:r>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square">
            <a:spAutoFit/>
          </a:bodyPr>
          <a:lstStyle/>
          <a:p>
            <a:pPr algn="ctr">
              <a:defRPr sz="3600" b="1">
                <a:solidFill>
                  <a:srgbClr val="FFFFFF"/>
                </a:solidFill>
              </a:defRPr>
            </a:pPr>
            <a:r>
              <a:t>Engineering Principle: Think in Next Actions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E86B4A"/>
                </a:solidFill>
              </a:defRPr>
            </a:pPr>
            <a:r>
              <a:t>Don't</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'Fix everything wrong with this codebase'</a:t>
            </a:r>
          </a:p>
          <a:p>
            <a:pPr>
              <a:spcAft>
                <a:spcPts val="1200"/>
              </a:spcAft>
              <a:defRPr sz="1800">
                <a:solidFill>
                  <a:srgbClr val="FFFFFF"/>
                </a:solidFill>
              </a:defRPr>
            </a:pPr>
            <a:r>
              <a:t>  'Make the app production-ready'</a:t>
            </a:r>
          </a:p>
          <a:p>
            <a:pPr>
              <a:spcAft>
                <a:spcPts val="1200"/>
              </a:spcAft>
              <a:defRPr sz="1800">
                <a:solidFill>
                  <a:srgbClr val="FFFFFF"/>
                </a:solidFill>
              </a:defRPr>
            </a:pPr>
            <a:r>
              <a:t>  'Improve performance everywhere'</a:t>
            </a:r>
          </a:p>
          <a:p>
            <a:pPr>
              <a:spcAft>
                <a:spcPts val="1200"/>
              </a:spcAft>
              <a:defRPr sz="1800">
                <a:solidFill>
                  <a:srgbClr val="FFFFFF"/>
                </a:solidFill>
              </a:defRPr>
            </a:pPr>
            <a:r>
              <a:t>  Vague, unbounded, guaranteed to disappoint</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00D4AA"/>
                </a:solidFill>
              </a:defRPr>
            </a:pPr>
            <a:r>
              <a:t>Do</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'Fix the N+1 query in getUserPosts'</a:t>
            </a:r>
          </a:p>
          <a:p>
            <a:pPr>
              <a:spcAft>
                <a:spcPts val="1200"/>
              </a:spcAft>
              <a:defRPr sz="1800">
                <a:solidFill>
                  <a:srgbClr val="FFFFFF"/>
                </a:solidFill>
              </a:defRPr>
            </a:pPr>
            <a:r>
              <a:t>  'Add rate limiting to /api/auth endpoints'</a:t>
            </a:r>
          </a:p>
          <a:p>
            <a:pPr>
              <a:spcAft>
                <a:spcPts val="1200"/>
              </a:spcAft>
              <a:defRPr sz="1800">
                <a:solidFill>
                  <a:srgbClr val="FFFFFF"/>
                </a:solidFill>
              </a:defRPr>
            </a:pPr>
            <a:r>
              <a:t>  'Cache the product catalog for 5 minutes'</a:t>
            </a:r>
          </a:p>
          <a:p>
            <a:pPr>
              <a:spcAft>
                <a:spcPts val="1200"/>
              </a:spcAft>
              <a:defRPr sz="1800">
                <a:solidFill>
                  <a:srgbClr val="FFFFFF"/>
                </a:solidFill>
              </a:defRPr>
            </a:pPr>
            <a:r>
              <a:t>  Specific, testable, completable in one session</a:t>
            </a:r>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algn="ctr">
              <a:defRPr sz="3600" b="1">
                <a:solidFill>
                  <a:srgbClr val="FFFFFF"/>
                </a:solidFill>
              </a:defRPr>
            </a:pPr>
            <a:r>
              <a:t>Test Generation</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5364327" cy="731520"/>
          </a:xfrm>
          <a:prstGeom prst="rect">
            <a:avLst/>
          </a:prstGeom>
          <a:noFill/>
        </p:spPr>
        <p:txBody>
          <a:bodyPr wrap="none">
            <a:spAutoFit/>
          </a:bodyPr>
          <a:lstStyle/>
          <a:p>
            <a:pPr algn="ctr">
              <a:defRPr sz="2800" b="1">
                <a:solidFill>
                  <a:srgbClr val="00D4AA"/>
                </a:solidFill>
              </a:defRPr>
            </a:pPr>
            <a:r>
              <a:t>What Claude Generates</a:t>
            </a:r>
          </a:p>
        </p:txBody>
      </p:sp>
      <p:sp>
        <p:nvSpPr>
          <p:cNvPr id="5" name="TextBox 4"/>
          <p:cNvSpPr txBox="1"/>
          <p:nvPr/>
        </p:nvSpPr>
        <p:spPr>
          <a:xfrm>
            <a:off x="457200" y="2286000"/>
            <a:ext cx="5364327" cy="3657600"/>
          </a:xfrm>
          <a:prstGeom prst="rect">
            <a:avLst/>
          </a:prstGeom>
          <a:noFill/>
        </p:spPr>
        <p:txBody>
          <a:bodyPr wrap="square">
            <a:spAutoFit/>
          </a:bodyPr>
          <a:lstStyle/>
          <a:p>
            <a:pPr>
              <a:spcAft>
                <a:spcPts val="1200"/>
              </a:spcAft>
              <a:defRPr sz="1800">
                <a:solidFill>
                  <a:srgbClr val="FFFFFF"/>
                </a:solidFill>
              </a:defRPr>
            </a:pPr>
            <a:r>
              <a:t>  Unit tests for individual functions</a:t>
            </a:r>
          </a:p>
          <a:p>
            <a:pPr>
              <a:spcAft>
                <a:spcPts val="1200"/>
              </a:spcAft>
              <a:defRPr sz="1800">
                <a:solidFill>
                  <a:srgbClr val="FFFFFF"/>
                </a:solidFill>
              </a:defRPr>
            </a:pPr>
            <a:r>
              <a:t>  Integration tests for API endpoints</a:t>
            </a:r>
          </a:p>
          <a:p>
            <a:pPr>
              <a:spcAft>
                <a:spcPts val="1200"/>
              </a:spcAft>
              <a:defRPr sz="1800">
                <a:solidFill>
                  <a:srgbClr val="FFFFFF"/>
                </a:solidFill>
              </a:defRPr>
            </a:pPr>
            <a:r>
              <a:t>  Edge cases you didn't think of</a:t>
            </a:r>
          </a:p>
          <a:p>
            <a:pPr>
              <a:spcAft>
                <a:spcPts val="1200"/>
              </a:spcAft>
              <a:defRPr sz="1800">
                <a:solidFill>
                  <a:srgbClr val="FFFFFF"/>
                </a:solidFill>
              </a:defRPr>
            </a:pPr>
            <a:r>
              <a:t>  Mock/stub setup for dependencies</a:t>
            </a:r>
          </a:p>
          <a:p>
            <a:pPr>
              <a:spcAft>
                <a:spcPts val="1200"/>
              </a:spcAft>
              <a:defRPr sz="1800">
                <a:solidFill>
                  <a:srgbClr val="FFFFFF"/>
                </a:solidFill>
              </a:defRPr>
            </a:pPr>
            <a:r>
              <a:t>  Test descriptions that document behavior</a:t>
            </a:r>
          </a:p>
        </p:txBody>
      </p:sp>
      <p:sp>
        <p:nvSpPr>
          <p:cNvPr id="6" name="TextBox 5"/>
          <p:cNvSpPr txBox="1"/>
          <p:nvPr/>
        </p:nvSpPr>
        <p:spPr>
          <a:xfrm>
            <a:off x="6370167" y="1463040"/>
            <a:ext cx="5364327" cy="731520"/>
          </a:xfrm>
          <a:prstGeom prst="rect">
            <a:avLst/>
          </a:prstGeom>
          <a:noFill/>
        </p:spPr>
        <p:txBody>
          <a:bodyPr wrap="none">
            <a:spAutoFit/>
          </a:bodyPr>
          <a:lstStyle/>
          <a:p>
            <a:pPr algn="ctr">
              <a:defRPr sz="2800" b="1">
                <a:solidFill>
                  <a:srgbClr val="E86B4A"/>
                </a:solidFill>
              </a:defRPr>
            </a:pPr>
            <a:r>
              <a:t>Best Prompts</a:t>
            </a:r>
          </a:p>
        </p:txBody>
      </p:sp>
      <p:sp>
        <p:nvSpPr>
          <p:cNvPr id="7" name="TextBox 6"/>
          <p:cNvSpPr txBox="1"/>
          <p:nvPr/>
        </p:nvSpPr>
        <p:spPr>
          <a:xfrm>
            <a:off x="6370167" y="2286000"/>
            <a:ext cx="5364327" cy="3657600"/>
          </a:xfrm>
          <a:prstGeom prst="rect">
            <a:avLst/>
          </a:prstGeom>
          <a:noFill/>
        </p:spPr>
        <p:txBody>
          <a:bodyPr wrap="square">
            <a:spAutoFit/>
          </a:bodyPr>
          <a:lstStyle/>
          <a:p>
            <a:pPr>
              <a:spcAft>
                <a:spcPts val="1200"/>
              </a:spcAft>
              <a:defRPr sz="1800">
                <a:solidFill>
                  <a:srgbClr val="FFFFFF"/>
                </a:solidFill>
              </a:defRPr>
            </a:pPr>
            <a:r>
              <a:t>  'Write tests for @auth.ts — cover happy path and errors'</a:t>
            </a:r>
          </a:p>
          <a:p>
            <a:pPr>
              <a:spcAft>
                <a:spcPts val="1200"/>
              </a:spcAft>
              <a:defRPr sz="1800">
                <a:solidFill>
                  <a:srgbClr val="FFFFFF"/>
                </a:solidFill>
              </a:defRPr>
            </a:pPr>
            <a:r>
              <a:t>  'Add integration tests for the /api/tasks endpoints'</a:t>
            </a:r>
          </a:p>
          <a:p>
            <a:pPr>
              <a:spcAft>
                <a:spcPts val="1200"/>
              </a:spcAft>
              <a:defRPr sz="1800">
                <a:solidFill>
                  <a:srgbClr val="FFFFFF"/>
                </a:solidFill>
              </a:defRPr>
            </a:pPr>
            <a:r>
              <a:t>  'What edge cases am I missing in these tests?'</a:t>
            </a:r>
          </a:p>
          <a:p>
            <a:pPr>
              <a:spcAft>
                <a:spcPts val="1200"/>
              </a:spcAft>
              <a:defRPr sz="1800">
                <a:solidFill>
                  <a:srgbClr val="FFFFFF"/>
                </a:solidFill>
              </a:defRPr>
            </a:pPr>
            <a:r>
              <a:t>  'Generate test data fixtures for the User model'</a:t>
            </a:r>
          </a:p>
          <a:p>
            <a:pPr>
              <a:spcAft>
                <a:spcPts val="1200"/>
              </a:spcAft>
              <a:defRPr sz="1800">
                <a:solidFill>
                  <a:srgbClr val="FFFFFF"/>
                </a:solidFill>
              </a:defRPr>
            </a:pPr>
            <a:r>
              <a:t>  'Increase coverage for src/services/ to 80%'</a:t>
            </a:r>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Never Trust, Always Verify</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2944396"/>
          </a:xfrm>
          <a:prstGeom prst="rect">
            <a:avLst/>
          </a:prstGeom>
          <a:noFill/>
        </p:spPr>
        <p:txBody>
          <a:bodyPr wrap="square">
            <a:spAutoFit/>
          </a:bodyPr>
          <a:lstStyle/>
          <a:p>
            <a:pPr>
              <a:spcBef>
                <a:spcPts val="800"/>
              </a:spcBef>
              <a:spcAft>
                <a:spcPts val="800"/>
              </a:spcAft>
              <a:defRPr sz="2200">
                <a:solidFill>
                  <a:srgbClr val="FFFFFF"/>
                </a:solidFill>
              </a:defRPr>
            </a:pPr>
            <a:r>
              <a:rPr dirty="0"/>
              <a:t>  The verification loop: write code → write tests → run tests → if fail, Claude fixes → run again.</a:t>
            </a:r>
          </a:p>
          <a:p>
            <a:pPr>
              <a:spcBef>
                <a:spcPts val="800"/>
              </a:spcBef>
              <a:spcAft>
                <a:spcPts val="800"/>
              </a:spcAft>
              <a:defRPr sz="2200">
                <a:solidFill>
                  <a:srgbClr val="FFFFFF"/>
                </a:solidFill>
              </a:defRPr>
            </a:pPr>
            <a:r>
              <a:rPr dirty="0"/>
              <a:t>  Key insight: </a:t>
            </a:r>
            <a:r>
              <a:rPr dirty="0">
                <a:solidFill>
                  <a:srgbClr val="FF0000"/>
                </a:solidFill>
              </a:rPr>
              <a:t>Claude is confident even when wrong.</a:t>
            </a:r>
          </a:p>
          <a:p>
            <a:pPr>
              <a:spcBef>
                <a:spcPts val="800"/>
              </a:spcBef>
              <a:spcAft>
                <a:spcPts val="800"/>
              </a:spcAft>
              <a:defRPr sz="2200">
                <a:solidFill>
                  <a:srgbClr val="FFFFFF"/>
                </a:solidFill>
              </a:defRPr>
            </a:pPr>
            <a:r>
              <a:rPr dirty="0"/>
              <a:t>  Almost right is worse than clearly wrong — almost right passes tests, ships to production, breaks at 3 AM.</a:t>
            </a:r>
          </a:p>
          <a:p>
            <a:pPr>
              <a:spcBef>
                <a:spcPts val="800"/>
              </a:spcBef>
              <a:spcAft>
                <a:spcPts val="800"/>
              </a:spcAft>
              <a:defRPr sz="2200">
                <a:solidFill>
                  <a:srgbClr val="FFFFFF"/>
                </a:solidFill>
              </a:defRPr>
            </a:pPr>
            <a:r>
              <a:rPr dirty="0"/>
              <a:t>  Ties to Principle #4: Build trust mechanisms, not just capabilities.</a:t>
            </a:r>
          </a:p>
          <a:p>
            <a:pPr>
              <a:spcBef>
                <a:spcPts val="800"/>
              </a:spcBef>
              <a:spcAft>
                <a:spcPts val="800"/>
              </a:spcAft>
              <a:defRPr sz="2200">
                <a:solidFill>
                  <a:srgbClr val="FFFFFF"/>
                </a:solidFill>
              </a:defRPr>
            </a:pPr>
            <a:r>
              <a:rPr dirty="0"/>
              <a:t>  Always run existing tests after changes — regressions are the silent killer.</a:t>
            </a:r>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algn="ctr">
              <a:defRPr sz="4000" b="1">
                <a:solidFill>
                  <a:srgbClr val="FFFFFF"/>
                </a:solidFill>
              </a:defRPr>
            </a:pPr>
            <a:r>
              <a:t>Documentation Creation</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algn="ctr">
              <a:defRPr sz="3600" b="1">
                <a:solidFill>
                  <a:srgbClr val="0B0F1A"/>
                </a:solidFill>
              </a:defRPr>
            </a:pPr>
            <a:r>
              <a:t>1</a:t>
            </a:r>
          </a:p>
        </p:txBody>
      </p:sp>
      <p:sp>
        <p:nvSpPr>
          <p:cNvPr id="6" name="TextBox 5"/>
          <p:cNvSpPr txBox="1"/>
          <p:nvPr/>
        </p:nvSpPr>
        <p:spPr>
          <a:xfrm>
            <a:off x="2392527" y="3657600"/>
            <a:ext cx="2103120" cy="1371600"/>
          </a:xfrm>
          <a:prstGeom prst="rect">
            <a:avLst/>
          </a:prstGeom>
          <a:noFill/>
        </p:spPr>
        <p:txBody>
          <a:bodyPr wrap="square">
            <a:normAutofit fontScale="92500" lnSpcReduction="20000"/>
          </a:bodyPr>
          <a:lstStyle/>
          <a:p>
            <a:pPr algn="ctr">
              <a:defRPr sz="1800" b="1">
                <a:solidFill>
                  <a:srgbClr val="FFFFFF"/>
                </a:solidFill>
              </a:defRPr>
            </a:pPr>
            <a:r>
              <a:t>README</a:t>
            </a:r>
          </a:p>
          <a:p>
            <a:pPr algn="ctr">
              <a:spcBef>
                <a:spcPts val="800"/>
              </a:spcBef>
              <a:defRPr sz="1300">
                <a:solidFill>
                  <a:srgbClr val="8B95A5"/>
                </a:solidFill>
              </a:defRPr>
            </a:pPr>
            <a:r>
              <a:t>'Generate a README for this project'</a:t>
            </a:r>
            <a:br/>
            <a:r>
              <a:t>Includes: setup, usage, API docs, examples</a:t>
            </a:r>
            <a:br/>
            <a:r>
              <a:t>Claude reads your code to write accurate docs</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algn="ctr">
              <a:defRPr sz="3600" b="1">
                <a:solidFill>
                  <a:srgbClr val="0B0F1A"/>
                </a:solidFill>
              </a:defRPr>
            </a:pPr>
            <a:r>
              <a:t>2</a:t>
            </a:r>
          </a:p>
        </p:txBody>
      </p:sp>
      <p:sp>
        <p:nvSpPr>
          <p:cNvPr id="10" name="TextBox 9"/>
          <p:cNvSpPr txBox="1"/>
          <p:nvPr/>
        </p:nvSpPr>
        <p:spPr>
          <a:xfrm>
            <a:off x="5044287" y="3657600"/>
            <a:ext cx="2103120" cy="1371600"/>
          </a:xfrm>
          <a:prstGeom prst="rect">
            <a:avLst/>
          </a:prstGeom>
          <a:noFill/>
        </p:spPr>
        <p:txBody>
          <a:bodyPr wrap="square">
            <a:normAutofit fontScale="92500"/>
          </a:bodyPr>
          <a:lstStyle/>
          <a:p>
            <a:pPr algn="ctr">
              <a:defRPr sz="1800" b="1">
                <a:solidFill>
                  <a:srgbClr val="FFFFFF"/>
                </a:solidFill>
              </a:defRPr>
            </a:pPr>
            <a:r>
              <a:t>API Docs</a:t>
            </a:r>
          </a:p>
          <a:p>
            <a:pPr algn="ctr">
              <a:spcBef>
                <a:spcPts val="800"/>
              </a:spcBef>
              <a:defRPr sz="1300">
                <a:solidFill>
                  <a:srgbClr val="8B95A5"/>
                </a:solidFill>
              </a:defRPr>
            </a:pPr>
            <a:r>
              <a:t>'Document all REST endpoints'</a:t>
            </a:r>
            <a:br/>
            <a:r>
              <a:t>Generates: routes, params, responses, examples</a:t>
            </a:r>
            <a:br/>
            <a:r>
              <a:t>OpenAPI/Swagger format if requested</a:t>
            </a:r>
          </a:p>
        </p:txBody>
      </p:sp>
      <p:sp>
        <p:nvSpPr>
          <p:cNvPr id="11" name="Rounded Rectangle 10"/>
          <p:cNvSpPr/>
          <p:nvPr/>
        </p:nvSpPr>
        <p:spPr>
          <a:xfrm>
            <a:off x="760460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algn="ctr">
              <a:defRPr sz="3600" b="1">
                <a:solidFill>
                  <a:srgbClr val="0B0F1A"/>
                </a:solidFill>
              </a:defRPr>
            </a:pPr>
            <a:r>
              <a:t>3</a:t>
            </a:r>
          </a:p>
        </p:txBody>
      </p:sp>
      <p:sp>
        <p:nvSpPr>
          <p:cNvPr id="14" name="TextBox 13"/>
          <p:cNvSpPr txBox="1"/>
          <p:nvPr/>
        </p:nvSpPr>
        <p:spPr>
          <a:xfrm>
            <a:off x="7696047" y="3657600"/>
            <a:ext cx="2103120" cy="1371600"/>
          </a:xfrm>
          <a:prstGeom prst="rect">
            <a:avLst/>
          </a:prstGeom>
          <a:noFill/>
        </p:spPr>
        <p:txBody>
          <a:bodyPr wrap="square">
            <a:normAutofit fontScale="92500" lnSpcReduction="20000"/>
          </a:bodyPr>
          <a:lstStyle/>
          <a:p>
            <a:pPr algn="ctr">
              <a:defRPr sz="1800" b="1">
                <a:solidFill>
                  <a:srgbClr val="FFFFFF"/>
                </a:solidFill>
              </a:defRPr>
            </a:pPr>
            <a:r>
              <a:t>Code Comments</a:t>
            </a:r>
          </a:p>
          <a:p>
            <a:pPr algn="ctr">
              <a:spcBef>
                <a:spcPts val="800"/>
              </a:spcBef>
              <a:defRPr sz="1300">
                <a:solidFill>
                  <a:srgbClr val="8B95A5"/>
                </a:solidFill>
              </a:defRPr>
            </a:pPr>
            <a:r>
              <a:t>'Add JSDoc comments to src/services/'</a:t>
            </a:r>
            <a:br/>
            <a:r>
              <a:t>Explains what and why, not just what</a:t>
            </a:r>
            <a:br/>
            <a:r>
              <a:t>Follows your team's documentation standards</a:t>
            </a:r>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show="0">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algn="ctr">
              <a:defRPr sz="9600" b="1">
                <a:solidFill>
                  <a:srgbClr val="00D4AA"/>
                </a:solidFill>
              </a:defRPr>
            </a:pPr>
            <a: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3840480"/>
            <a:ext cx="11277295" cy="914400"/>
          </a:xfrm>
          <a:prstGeom prst="rect">
            <a:avLst/>
          </a:prstGeom>
          <a:noFill/>
        </p:spPr>
        <p:txBody>
          <a:bodyPr wrap="square">
            <a:spAutoFit/>
          </a:bodyPr>
          <a:lstStyle/>
          <a:p>
            <a:pPr algn="ctr">
              <a:defRPr sz="3200" b="1">
                <a:solidFill>
                  <a:srgbClr val="FFFFFF"/>
                </a:solidFill>
              </a:defRPr>
            </a:pPr>
            <a:r>
              <a:t>Real Debugging Session</a:t>
            </a:r>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828800"/>
            <a:ext cx="137160" cy="32004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3" name="TextBox 2"/>
          <p:cNvSpPr txBox="1"/>
          <p:nvPr/>
        </p:nvSpPr>
        <p:spPr>
          <a:xfrm>
            <a:off x="457200" y="2286000"/>
            <a:ext cx="11277295" cy="1371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5600" b="1">
                <a:solidFill>
                  <a:srgbClr val="FFFFFF"/>
                </a:solidFill>
              </a:defRPr>
            </a:pPr>
            <a:r>
              <a:rPr kumimoji="0" sz="5600" b="1" i="0" u="none" strike="noStrike" kern="1200" cap="none" spc="0" normalizeH="0" baseline="0" noProof="0">
                <a:ln>
                  <a:noFill/>
                </a:ln>
                <a:solidFill>
                  <a:srgbClr val="FFFFFF"/>
                </a:solidFill>
                <a:effectLst/>
                <a:uLnTx/>
                <a:uFillTx/>
                <a:latin typeface="Calibri"/>
                <a:ea typeface="+mn-ea"/>
                <a:cs typeface="+mn-cs"/>
              </a:rPr>
              <a:t>Permissions &amp; Security</a:t>
            </a:r>
          </a:p>
        </p:txBody>
      </p:sp>
      <p:sp>
        <p:nvSpPr>
          <p:cNvPr id="4" name="TextBox 3"/>
          <p:cNvSpPr txBox="1"/>
          <p:nvPr/>
        </p:nvSpPr>
        <p:spPr>
          <a:xfrm>
            <a:off x="457200" y="3840480"/>
            <a:ext cx="11277295" cy="9144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Safe AI-Assisted Development</a:t>
            </a:r>
          </a:p>
        </p:txBody>
      </p:sp>
    </p:spTree>
    <p:extLst>
      <p:ext uri="{BB962C8B-B14F-4D97-AF65-F5344CB8AC3E}">
        <p14:creationId xmlns:p14="http://schemas.microsoft.com/office/powerpoint/2010/main" val="972407921"/>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Security Model Overview</a:t>
            </a:r>
          </a:p>
        </p:txBody>
      </p:sp>
      <p:sp>
        <p:nvSpPr>
          <p:cNvPr id="3" name="Rounded Rectangle 2"/>
          <p:cNvSpPr/>
          <p:nvPr/>
        </p:nvSpPr>
        <p:spPr>
          <a:xfrm>
            <a:off x="2301087" y="2011679"/>
            <a:ext cx="2286000" cy="319242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1</a:t>
            </a:r>
          </a:p>
        </p:txBody>
      </p:sp>
      <p:sp>
        <p:nvSpPr>
          <p:cNvPr id="6" name="TextBox 5"/>
          <p:cNvSpPr txBox="1"/>
          <p:nvPr/>
        </p:nvSpPr>
        <p:spPr>
          <a:xfrm>
            <a:off x="2392527" y="3657600"/>
            <a:ext cx="2103120" cy="1371600"/>
          </a:xfrm>
          <a:prstGeom prst="rect">
            <a:avLst/>
          </a:prstGeom>
          <a:noFill/>
        </p:spPr>
        <p:txBody>
          <a:bodyPr wrap="square">
            <a:normAutofit fontScale="85000" lnSpcReduction="10000"/>
          </a:bodyPr>
          <a:lstStyle/>
          <a:p>
            <a:pPr marL="0" marR="0" lvl="0" indent="0" algn="ctr" defTabSz="457200" rtl="0" eaLnBrk="1" fontAlgn="auto" latinLnBrk="0" hangingPunct="1">
              <a:lnSpc>
                <a:spcPct val="100000"/>
              </a:lnSpc>
              <a:spcBef>
                <a:spcPts val="0"/>
              </a:spcBef>
              <a:spcAft>
                <a:spcPts val="0"/>
              </a:spcAft>
              <a:buClrTx/>
              <a:buSzTx/>
              <a:buFontTx/>
              <a:buNone/>
              <a:tabLst/>
              <a:defRPr sz="1800" b="1">
                <a:solidFill>
                  <a:srgbClr val="FFFFFF"/>
                </a:solidFill>
              </a:defRPr>
            </a:pPr>
            <a:r>
              <a:rPr kumimoji="0" sz="1800" b="1" i="0" u="none" strike="noStrike" kern="1200" cap="none" spc="0" normalizeH="0" baseline="0" noProof="0">
                <a:ln>
                  <a:noFill/>
                </a:ln>
                <a:solidFill>
                  <a:srgbClr val="FFFFFF"/>
                </a:solidFill>
                <a:effectLst/>
                <a:uLnTx/>
                <a:uFillTx/>
                <a:latin typeface="Calibri"/>
                <a:ea typeface="+mn-ea"/>
                <a:cs typeface="+mn-cs"/>
              </a:rPr>
              <a:t>Permission Prompts</a:t>
            </a:r>
          </a:p>
          <a:p>
            <a:pPr marL="0" marR="0" lvl="0" indent="0" algn="ctr" defTabSz="457200" rtl="0" eaLnBrk="1" fontAlgn="auto" latinLnBrk="0" hangingPunct="1">
              <a:lnSpc>
                <a:spcPct val="100000"/>
              </a:lnSpc>
              <a:spcBef>
                <a:spcPts val="800"/>
              </a:spcBef>
              <a:spcAft>
                <a:spcPts val="0"/>
              </a:spcAft>
              <a:buClrTx/>
              <a:buSzTx/>
              <a:buFontTx/>
              <a:buNone/>
              <a:tabLst/>
              <a:defRPr sz="1300">
                <a:solidFill>
                  <a:srgbClr val="8B95A5"/>
                </a:solidFill>
              </a:defRPr>
            </a:pPr>
            <a:r>
              <a:rPr kumimoji="0" sz="1300" b="0" i="0" u="none" strike="noStrike" kern="1200" cap="none" spc="0" normalizeH="0" baseline="0" noProof="0">
                <a:ln>
                  <a:noFill/>
                </a:ln>
                <a:solidFill>
                  <a:srgbClr val="8B95A5"/>
                </a:solidFill>
                <a:effectLst/>
                <a:uLnTx/>
                <a:uFillTx/>
                <a:latin typeface="Calibri"/>
                <a:ea typeface="+mn-ea"/>
                <a:cs typeface="+mn-cs"/>
              </a:rPr>
              <a:t>Claude asks before:</a:t>
            </a: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 Writing/editing files</a:t>
            </a: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 Running shell commands</a:t>
            </a: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 Installing packages</a:t>
            </a:r>
            <a:br>
              <a:rPr kumimoji="0" sz="1300" b="0" i="0" u="none" strike="noStrike" kern="1200" cap="none" spc="0" normalizeH="0" baseline="0" noProof="0">
                <a:ln>
                  <a:noFill/>
                </a:ln>
                <a:solidFill>
                  <a:srgbClr val="8B95A5"/>
                </a:solidFill>
                <a:effectLst/>
                <a:uLnTx/>
                <a:uFillTx/>
                <a:latin typeface="Calibri"/>
                <a:ea typeface="+mn-ea"/>
                <a:cs typeface="+mn-cs"/>
              </a:rPr>
            </a:b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You approve or deny each action.</a:t>
            </a:r>
          </a:p>
        </p:txBody>
      </p:sp>
      <p:sp>
        <p:nvSpPr>
          <p:cNvPr id="7" name="Rounded Rectangle 6"/>
          <p:cNvSpPr/>
          <p:nvPr/>
        </p:nvSpPr>
        <p:spPr>
          <a:xfrm>
            <a:off x="4952847" y="2011679"/>
            <a:ext cx="2286000" cy="319242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2</a:t>
            </a:r>
          </a:p>
        </p:txBody>
      </p:sp>
      <p:sp>
        <p:nvSpPr>
          <p:cNvPr id="10" name="TextBox 9"/>
          <p:cNvSpPr txBox="1"/>
          <p:nvPr/>
        </p:nvSpPr>
        <p:spPr>
          <a:xfrm>
            <a:off x="5044287" y="3657600"/>
            <a:ext cx="2103120" cy="1371600"/>
          </a:xfrm>
          <a:prstGeom prst="rect">
            <a:avLst/>
          </a:prstGeom>
          <a:noFill/>
        </p:spPr>
        <p:txBody>
          <a:bodyPr wrap="square">
            <a:normAutofit fontScale="850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sz="1800" b="1">
                <a:solidFill>
                  <a:srgbClr val="FFFFFF"/>
                </a:solidFill>
              </a:defRPr>
            </a:pPr>
            <a:r>
              <a:rPr kumimoji="0" sz="1800" b="1" i="0" u="none" strike="noStrike" kern="1200" cap="none" spc="0" normalizeH="0" baseline="0" noProof="0">
                <a:ln>
                  <a:noFill/>
                </a:ln>
                <a:solidFill>
                  <a:srgbClr val="FFFFFF"/>
                </a:solidFill>
                <a:effectLst/>
                <a:uLnTx/>
                <a:uFillTx/>
                <a:latin typeface="Calibri"/>
                <a:ea typeface="+mn-ea"/>
                <a:cs typeface="+mn-cs"/>
              </a:rPr>
              <a:t>Allowlists</a:t>
            </a:r>
          </a:p>
          <a:p>
            <a:pPr marL="0" marR="0" lvl="0" indent="0" algn="ctr" defTabSz="457200" rtl="0" eaLnBrk="1" fontAlgn="auto" latinLnBrk="0" hangingPunct="1">
              <a:lnSpc>
                <a:spcPct val="100000"/>
              </a:lnSpc>
              <a:spcBef>
                <a:spcPts val="800"/>
              </a:spcBef>
              <a:spcAft>
                <a:spcPts val="0"/>
              </a:spcAft>
              <a:buClrTx/>
              <a:buSzTx/>
              <a:buFontTx/>
              <a:buNone/>
              <a:tabLst/>
              <a:defRPr sz="1300">
                <a:solidFill>
                  <a:srgbClr val="8B95A5"/>
                </a:solidFill>
              </a:defRPr>
            </a:pPr>
            <a:r>
              <a:rPr kumimoji="0" sz="1300" b="0" i="0" u="none" strike="noStrike" kern="1200" cap="none" spc="0" normalizeH="0" baseline="0" noProof="0">
                <a:ln>
                  <a:noFill/>
                </a:ln>
                <a:solidFill>
                  <a:srgbClr val="8B95A5"/>
                </a:solidFill>
                <a:effectLst/>
                <a:uLnTx/>
                <a:uFillTx/>
                <a:latin typeface="Calibri"/>
                <a:ea typeface="+mn-ea"/>
                <a:cs typeface="+mn-cs"/>
              </a:rPr>
              <a:t>Pre-approve trusted operations:</a:t>
            </a: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 Bash(npm test)</a:t>
            </a: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 Bash(git *)</a:t>
            </a: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 Read(**/*.ts)</a:t>
            </a:r>
            <a:br>
              <a:rPr kumimoji="0" sz="1300" b="0" i="0" u="none" strike="noStrike" kern="1200" cap="none" spc="0" normalizeH="0" baseline="0" noProof="0">
                <a:ln>
                  <a:noFill/>
                </a:ln>
                <a:solidFill>
                  <a:srgbClr val="8B95A5"/>
                </a:solidFill>
                <a:effectLst/>
                <a:uLnTx/>
                <a:uFillTx/>
                <a:latin typeface="Calibri"/>
                <a:ea typeface="+mn-ea"/>
                <a:cs typeface="+mn-cs"/>
              </a:rPr>
            </a:b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Reduces friction for safe commands.</a:t>
            </a:r>
          </a:p>
        </p:txBody>
      </p:sp>
      <p:sp>
        <p:nvSpPr>
          <p:cNvPr id="11" name="Rounded Rectangle 10"/>
          <p:cNvSpPr/>
          <p:nvPr/>
        </p:nvSpPr>
        <p:spPr>
          <a:xfrm>
            <a:off x="7604607" y="2011679"/>
            <a:ext cx="2286000" cy="3192423"/>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3</a:t>
            </a:r>
          </a:p>
        </p:txBody>
      </p:sp>
      <p:sp>
        <p:nvSpPr>
          <p:cNvPr id="14" name="TextBox 13"/>
          <p:cNvSpPr txBox="1"/>
          <p:nvPr/>
        </p:nvSpPr>
        <p:spPr>
          <a:xfrm>
            <a:off x="7696047" y="3657600"/>
            <a:ext cx="2103120" cy="1371600"/>
          </a:xfrm>
          <a:prstGeom prst="rect">
            <a:avLst/>
          </a:prstGeom>
          <a:noFill/>
        </p:spPr>
        <p:txBody>
          <a:bodyPr wrap="square">
            <a:normAutofit fontScale="85000" lnSpcReduction="20000"/>
          </a:bodyPr>
          <a:lstStyle/>
          <a:p>
            <a:pPr marL="0" marR="0" lvl="0" indent="0" algn="ctr" defTabSz="457200" rtl="0" eaLnBrk="1" fontAlgn="auto" latinLnBrk="0" hangingPunct="1">
              <a:lnSpc>
                <a:spcPct val="100000"/>
              </a:lnSpc>
              <a:spcBef>
                <a:spcPts val="0"/>
              </a:spcBef>
              <a:spcAft>
                <a:spcPts val="0"/>
              </a:spcAft>
              <a:buClrTx/>
              <a:buSzTx/>
              <a:buFontTx/>
              <a:buNone/>
              <a:tabLst/>
              <a:defRPr sz="1800" b="1">
                <a:solidFill>
                  <a:srgbClr val="FFFFFF"/>
                </a:solidFill>
              </a:defRPr>
            </a:pPr>
            <a:r>
              <a:rPr kumimoji="0" sz="1800" b="1" i="0" u="none" strike="noStrike" kern="1200" cap="none" spc="0" normalizeH="0" baseline="0" noProof="0">
                <a:ln>
                  <a:noFill/>
                </a:ln>
                <a:solidFill>
                  <a:srgbClr val="FFFFFF"/>
                </a:solidFill>
                <a:effectLst/>
                <a:uLnTx/>
                <a:uFillTx/>
                <a:latin typeface="Calibri"/>
                <a:ea typeface="+mn-ea"/>
                <a:cs typeface="+mn-cs"/>
              </a:rPr>
              <a:t>Deny Rules</a:t>
            </a:r>
          </a:p>
          <a:p>
            <a:pPr marL="0" marR="0" lvl="0" indent="0" algn="ctr" defTabSz="457200" rtl="0" eaLnBrk="1" fontAlgn="auto" latinLnBrk="0" hangingPunct="1">
              <a:lnSpc>
                <a:spcPct val="100000"/>
              </a:lnSpc>
              <a:spcBef>
                <a:spcPts val="800"/>
              </a:spcBef>
              <a:spcAft>
                <a:spcPts val="0"/>
              </a:spcAft>
              <a:buClrTx/>
              <a:buSzTx/>
              <a:buFontTx/>
              <a:buNone/>
              <a:tabLst/>
              <a:defRPr sz="1300">
                <a:solidFill>
                  <a:srgbClr val="8B95A5"/>
                </a:solidFill>
              </a:defRPr>
            </a:pPr>
            <a:r>
              <a:rPr kumimoji="0" sz="1300" b="0" i="0" u="none" strike="noStrike" kern="1200" cap="none" spc="0" normalizeH="0" baseline="0" noProof="0">
                <a:ln>
                  <a:noFill/>
                </a:ln>
                <a:solidFill>
                  <a:srgbClr val="8B95A5"/>
                </a:solidFill>
                <a:effectLst/>
                <a:uLnTx/>
                <a:uFillTx/>
                <a:latin typeface="Calibri"/>
                <a:ea typeface="+mn-ea"/>
                <a:cs typeface="+mn-cs"/>
              </a:rPr>
              <a:t>Block dangerous operations:</a:t>
            </a: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 Bash(rm -rf *)</a:t>
            </a: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 Bash(sudo *)</a:t>
            </a: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 Read(**/.env)</a:t>
            </a:r>
            <a:br>
              <a:rPr kumimoji="0" sz="1300" b="0" i="0" u="none" strike="noStrike" kern="1200" cap="none" spc="0" normalizeH="0" baseline="0" noProof="0">
                <a:ln>
                  <a:noFill/>
                </a:ln>
                <a:solidFill>
                  <a:srgbClr val="8B95A5"/>
                </a:solidFill>
                <a:effectLst/>
                <a:uLnTx/>
                <a:uFillTx/>
                <a:latin typeface="Calibri"/>
                <a:ea typeface="+mn-ea"/>
                <a:cs typeface="+mn-cs"/>
              </a:rPr>
            </a:b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Defense in depth — even if you slip.</a:t>
            </a:r>
          </a:p>
        </p:txBody>
      </p:sp>
    </p:spTree>
    <p:extLst>
      <p:ext uri="{BB962C8B-B14F-4D97-AF65-F5344CB8AC3E}">
        <p14:creationId xmlns:p14="http://schemas.microsoft.com/office/powerpoint/2010/main" val="408198596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Trust Levels</a:t>
            </a:r>
          </a:p>
        </p:txBody>
      </p:sp>
      <p:sp>
        <p:nvSpPr>
          <p:cNvPr id="3" name="Rounded Rectangle 2"/>
          <p:cNvSpPr/>
          <p:nvPr/>
        </p:nvSpPr>
        <p:spPr>
          <a:xfrm>
            <a:off x="230108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B0F1A"/>
                </a:solidFill>
              </a:defRPr>
            </a:pPr>
            <a:r>
              <a:rPr kumimoji="0" sz="2800" b="1" i="0" u="none" strike="noStrike" kern="1200" cap="none" spc="0" normalizeH="0" baseline="0" noProof="0">
                <a:ln>
                  <a:noFill/>
                </a:ln>
                <a:solidFill>
                  <a:srgbClr val="0B0F1A"/>
                </a:solidFill>
                <a:effectLst/>
                <a:uLnTx/>
                <a:uFillTx/>
                <a:latin typeface="Calibri"/>
                <a:ea typeface="+mn-ea"/>
                <a:cs typeface="+mn-cs"/>
              </a:rPr>
              <a:t>👁</a:t>
            </a:r>
          </a:p>
        </p:txBody>
      </p:sp>
      <p:sp>
        <p:nvSpPr>
          <p:cNvPr id="6" name="TextBox 5"/>
          <p:cNvSpPr txBox="1"/>
          <p:nvPr/>
        </p:nvSpPr>
        <p:spPr>
          <a:xfrm>
            <a:off x="239252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1800" b="1">
                <a:solidFill>
                  <a:srgbClr val="FFFFFF"/>
                </a:solidFill>
              </a:defRPr>
            </a:pPr>
            <a:r>
              <a:rPr kumimoji="0" sz="1800" b="1" i="0" u="none" strike="noStrike" kern="1200" cap="none" spc="0" normalizeH="0" baseline="0" noProof="0">
                <a:ln>
                  <a:noFill/>
                </a:ln>
                <a:solidFill>
                  <a:srgbClr val="FFFFFF"/>
                </a:solidFill>
                <a:effectLst/>
                <a:uLnTx/>
                <a:uFillTx/>
                <a:latin typeface="Calibri"/>
                <a:ea typeface="+mn-ea"/>
                <a:cs typeface="+mn-cs"/>
              </a:rPr>
              <a:t>Suggest Only</a:t>
            </a:r>
          </a:p>
        </p:txBody>
      </p:sp>
      <p:sp>
        <p:nvSpPr>
          <p:cNvPr id="7" name="Rounded Rectangle 6"/>
          <p:cNvSpPr/>
          <p:nvPr/>
        </p:nvSpPr>
        <p:spPr>
          <a:xfrm>
            <a:off x="4952847" y="2011680"/>
            <a:ext cx="2286000" cy="3200400"/>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B0F1A"/>
                </a:solidFill>
              </a:defRPr>
            </a:pPr>
            <a:r>
              <a:rPr kumimoji="0" sz="2800" b="1" i="0" u="none" strike="noStrike" kern="1200" cap="none" spc="0" normalizeH="0" baseline="0" noProof="0">
                <a:ln>
                  <a:noFill/>
                </a:ln>
                <a:solidFill>
                  <a:srgbClr val="0B0F1A"/>
                </a:solidFill>
                <a:effectLst/>
                <a:uLnTx/>
                <a:uFillTx/>
                <a:latin typeface="Calibri"/>
                <a:ea typeface="+mn-ea"/>
                <a:cs typeface="+mn-cs"/>
              </a:rPr>
              <a:t>📖</a:t>
            </a:r>
          </a:p>
        </p:txBody>
      </p:sp>
      <p:sp>
        <p:nvSpPr>
          <p:cNvPr id="10" name="TextBox 9"/>
          <p:cNvSpPr txBox="1"/>
          <p:nvPr/>
        </p:nvSpPr>
        <p:spPr>
          <a:xfrm>
            <a:off x="504428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1800" b="1">
                <a:solidFill>
                  <a:srgbClr val="FFFFFF"/>
                </a:solidFill>
              </a:defRPr>
            </a:pPr>
            <a:r>
              <a:rPr kumimoji="0" sz="1800" b="1" i="0" u="none" strike="noStrike" kern="1200" cap="none" spc="0" normalizeH="0" baseline="0" noProof="0">
                <a:ln>
                  <a:noFill/>
                </a:ln>
                <a:solidFill>
                  <a:srgbClr val="FFFFFF"/>
                </a:solidFill>
                <a:effectLst/>
                <a:uLnTx/>
                <a:uFillTx/>
                <a:latin typeface="Calibri"/>
                <a:ea typeface="+mn-ea"/>
                <a:cs typeface="+mn-cs"/>
              </a:rPr>
              <a:t>Auto-Approve Read</a:t>
            </a:r>
          </a:p>
        </p:txBody>
      </p:sp>
      <p:sp>
        <p:nvSpPr>
          <p:cNvPr id="11" name="Rounded Rectangle 10"/>
          <p:cNvSpPr/>
          <p:nvPr/>
        </p:nvSpPr>
        <p:spPr>
          <a:xfrm>
            <a:off x="7604607" y="2011680"/>
            <a:ext cx="2286000" cy="3200400"/>
          </a:xfrm>
          <a:prstGeom prst="roundRect">
            <a:avLst/>
          </a:prstGeom>
          <a:solidFill>
            <a:srgbClr val="141A26"/>
          </a:solidFill>
          <a:ln w="254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10B98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B0F1A"/>
                </a:solidFill>
              </a:defRPr>
            </a:pPr>
            <a:r>
              <a:rPr kumimoji="0" sz="2800" b="1" i="0" u="none" strike="noStrike" kern="1200" cap="none" spc="0" normalizeH="0" baseline="0" noProof="0">
                <a:ln>
                  <a:noFill/>
                </a:ln>
                <a:solidFill>
                  <a:srgbClr val="0B0F1A"/>
                </a:solidFill>
                <a:effectLst/>
                <a:uLnTx/>
                <a:uFillTx/>
                <a:latin typeface="Calibri"/>
                <a:ea typeface="+mn-ea"/>
                <a:cs typeface="+mn-cs"/>
              </a:rPr>
              <a:t>⚡</a:t>
            </a:r>
          </a:p>
        </p:txBody>
      </p:sp>
      <p:sp>
        <p:nvSpPr>
          <p:cNvPr id="14" name="TextBox 13"/>
          <p:cNvSpPr txBox="1"/>
          <p:nvPr/>
        </p:nvSpPr>
        <p:spPr>
          <a:xfrm>
            <a:off x="7696047" y="3657600"/>
            <a:ext cx="2103120" cy="1371600"/>
          </a:xfrm>
          <a:prstGeom prst="rect">
            <a:avLst/>
          </a:prstGeom>
          <a:noFill/>
        </p:spPr>
        <p:txBody>
          <a:bodyPr wrap="square">
            <a:normAutofit/>
          </a:bodyPr>
          <a:lstStyle/>
          <a:p>
            <a:pPr marL="0" marR="0" lvl="0" indent="0" algn="ctr" defTabSz="457200" rtl="0" eaLnBrk="1" fontAlgn="auto" latinLnBrk="0" hangingPunct="1">
              <a:lnSpc>
                <a:spcPct val="100000"/>
              </a:lnSpc>
              <a:spcBef>
                <a:spcPts val="0"/>
              </a:spcBef>
              <a:spcAft>
                <a:spcPts val="0"/>
              </a:spcAft>
              <a:buClrTx/>
              <a:buSzTx/>
              <a:buFontTx/>
              <a:buNone/>
              <a:tabLst/>
              <a:defRPr sz="1800" b="1">
                <a:solidFill>
                  <a:srgbClr val="FFFFFF"/>
                </a:solidFill>
              </a:defRPr>
            </a:pPr>
            <a:r>
              <a:rPr kumimoji="0" sz="1800" b="1" i="0" u="none" strike="noStrike" kern="1200" cap="none" spc="0" normalizeH="0" baseline="0" noProof="0">
                <a:ln>
                  <a:noFill/>
                </a:ln>
                <a:solidFill>
                  <a:srgbClr val="FFFFFF"/>
                </a:solidFill>
                <a:effectLst/>
                <a:uLnTx/>
                <a:uFillTx/>
                <a:latin typeface="Calibri"/>
                <a:ea typeface="+mn-ea"/>
                <a:cs typeface="+mn-cs"/>
              </a:rPr>
              <a:t>Auto-Approve All</a:t>
            </a:r>
          </a:p>
        </p:txBody>
      </p:sp>
    </p:spTree>
    <p:extLst>
      <p:ext uri="{BB962C8B-B14F-4D97-AF65-F5344CB8AC3E}">
        <p14:creationId xmlns:p14="http://schemas.microsoft.com/office/powerpoint/2010/main" val="236064393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Allowlists and Blocklists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Allow (Auto-approve)</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Bash(npm test) — run tests freely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Bash(npm run *) — all npm scripts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Bash(git add:*) — stage files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Bash(git commit:*) — commit changes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Read(**/*) — read any project file</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Deny (Always block)</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Bash(rm -rf:*) — prevent recursive delete</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Bash(sudo:*) — no elevated access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Bash(curl:*) — prevent data exfiltration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Read(**/.env) — protect secrets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Bash(ssh:*) — no remote access</a:t>
            </a:r>
          </a:p>
        </p:txBody>
      </p:sp>
    </p:spTree>
    <p:extLst>
      <p:ext uri="{BB962C8B-B14F-4D97-AF65-F5344CB8AC3E}">
        <p14:creationId xmlns:p14="http://schemas.microsoft.com/office/powerpoint/2010/main" val="266184739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646331"/>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lang="en-US" sz="3600" b="1" i="0" u="none" strike="noStrike" kern="1200" cap="none" spc="0" normalizeH="0" baseline="0" noProof="0" dirty="0">
                <a:ln>
                  <a:noFill/>
                </a:ln>
                <a:solidFill>
                  <a:srgbClr val="FFFFFF"/>
                </a:solidFill>
                <a:effectLst/>
                <a:uLnTx/>
                <a:uFillTx/>
                <a:latin typeface="Calibri"/>
                <a:ea typeface="+mn-ea"/>
                <a:cs typeface="+mn-cs"/>
              </a:rPr>
              <a:t>/</a:t>
            </a:r>
            <a:r>
              <a:rPr kumimoji="0" sz="3600" b="1" i="0" u="none" strike="noStrike" kern="1200" cap="none" spc="0" normalizeH="0" baseline="0" noProof="0" dirty="0">
                <a:ln>
                  <a:noFill/>
                </a:ln>
                <a:solidFill>
                  <a:srgbClr val="FFFFFF"/>
                </a:solidFill>
                <a:effectLst/>
                <a:uLnTx/>
                <a:uFillTx/>
                <a:latin typeface="Calibri"/>
                <a:ea typeface="+mn-ea"/>
                <a:cs typeface="+mn-cs"/>
              </a:rPr>
              <a:t>Permissions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2159449" y="1463040"/>
            <a:ext cx="1959832" cy="5232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lang="en-US" sz="2800" b="1" i="0" u="none" strike="noStrike" kern="1200" cap="none" spc="0" normalizeH="0" baseline="0" noProof="0" dirty="0">
                <a:ln>
                  <a:noFill/>
                </a:ln>
                <a:solidFill>
                  <a:srgbClr val="00D4AA"/>
                </a:solidFill>
                <a:effectLst/>
                <a:uLnTx/>
                <a:uFillTx/>
                <a:latin typeface="Calibri"/>
                <a:ea typeface="+mn-ea"/>
                <a:cs typeface="+mn-cs"/>
              </a:rPr>
              <a:t>Permissions</a:t>
            </a:r>
            <a:endParaRPr kumimoji="0" sz="2800" b="1" i="0" u="none" strike="noStrike" kern="1200" cap="none" spc="0" normalizeH="0" baseline="0" noProof="0" dirty="0">
              <a:ln>
                <a:noFill/>
              </a:ln>
              <a:solidFill>
                <a:srgbClr val="00D4AA"/>
              </a:solidFill>
              <a:effectLst/>
              <a:uLnTx/>
              <a:uFillTx/>
              <a:latin typeface="Calibri"/>
              <a:ea typeface="+mn-ea"/>
              <a:cs typeface="+mn-cs"/>
            </a:endParaRP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View current permission rules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Add allow/deny rules interactively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Rules persist in .claude/settings.json</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Scoped by tool type (Read, Write, Bash, etc.)</a:t>
            </a:r>
          </a:p>
        </p:txBody>
      </p:sp>
      <p:sp>
        <p:nvSpPr>
          <p:cNvPr id="6" name="TextBox 5"/>
          <p:cNvSpPr txBox="1"/>
          <p:nvPr/>
        </p:nvSpPr>
        <p:spPr>
          <a:xfrm>
            <a:off x="7256941" y="1463040"/>
            <a:ext cx="3590791" cy="5232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lang="en-US" sz="2800" b="1" i="0" u="none" strike="noStrike" kern="1200" cap="none" spc="0" normalizeH="0" baseline="0" noProof="0" dirty="0">
                <a:ln>
                  <a:noFill/>
                </a:ln>
                <a:solidFill>
                  <a:srgbClr val="E86B4A"/>
                </a:solidFill>
                <a:effectLst/>
                <a:uLnTx/>
                <a:uFillTx/>
                <a:latin typeface="Calibri"/>
                <a:ea typeface="+mn-ea"/>
                <a:cs typeface="+mn-cs"/>
              </a:rPr>
              <a:t>Allowlist Configuration</a:t>
            </a:r>
            <a:endParaRPr kumimoji="0" sz="2800" b="1" i="0" u="none" strike="noStrike" kern="1200" cap="none" spc="0" normalizeH="0" baseline="0" noProof="0" dirty="0">
              <a:ln>
                <a:noFill/>
              </a:ln>
              <a:solidFill>
                <a:srgbClr val="E86B4A"/>
              </a:solidFill>
              <a:effectLst/>
              <a:uLnTx/>
              <a:uFillTx/>
              <a:latin typeface="Calibri"/>
              <a:ea typeface="+mn-ea"/>
              <a:cs typeface="+mn-cs"/>
            </a:endParaRP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See which tools Claude can use</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Add tools to allowlist for auto-approval</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Reduce permission prompts for trusted operations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Example: allow Bash(npm test) to run tests without asking</a:t>
            </a:r>
          </a:p>
        </p:txBody>
      </p:sp>
      <p:sp>
        <p:nvSpPr>
          <p:cNvPr id="9" name="TextBox 8">
            <a:extLst>
              <a:ext uri="{FF2B5EF4-FFF2-40B4-BE49-F238E27FC236}">
                <a16:creationId xmlns:a16="http://schemas.microsoft.com/office/drawing/2014/main" id="{180D5042-E48B-27FA-CF75-C01DE6189628}"/>
              </a:ext>
            </a:extLst>
          </p:cNvPr>
          <p:cNvSpPr txBox="1"/>
          <p:nvPr/>
        </p:nvSpPr>
        <p:spPr>
          <a:xfrm>
            <a:off x="3403250" y="6303109"/>
            <a:ext cx="7354758" cy="369332"/>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white"/>
                </a:solidFill>
                <a:effectLst/>
                <a:uLnTx/>
                <a:uFillTx/>
                <a:latin typeface="Calibri"/>
                <a:ea typeface="+mn-ea"/>
                <a:cs typeface="+mn-cs"/>
              </a:rPr>
              <a:t>To bypass all permissions: </a:t>
            </a:r>
            <a:r>
              <a:rPr kumimoji="0" lang="en-US" sz="1800" b="0" i="0" u="none" strike="noStrike" kern="1200" cap="none" spc="0" normalizeH="0" baseline="0" noProof="0" dirty="0" err="1">
                <a:ln>
                  <a:noFill/>
                </a:ln>
                <a:solidFill>
                  <a:prstClr val="white"/>
                </a:solidFill>
                <a:effectLst/>
                <a:uLnTx/>
                <a:uFillTx/>
                <a:latin typeface="Calibri"/>
                <a:ea typeface="+mn-ea"/>
                <a:cs typeface="+mn-cs"/>
              </a:rPr>
              <a:t>claude</a:t>
            </a:r>
            <a:r>
              <a:rPr kumimoji="0" lang="en-US" sz="1800" b="0" i="0" u="none" strike="noStrike" kern="1200" cap="none" spc="0" normalizeH="0" baseline="0" noProof="0" dirty="0">
                <a:ln>
                  <a:noFill/>
                </a:ln>
                <a:solidFill>
                  <a:prstClr val="white"/>
                </a:solidFill>
                <a:effectLst/>
                <a:uLnTx/>
                <a:uFillTx/>
                <a:latin typeface="Calibri"/>
                <a:ea typeface="+mn-ea"/>
                <a:cs typeface="+mn-cs"/>
              </a:rPr>
              <a:t> --dangerously-skip-permissions</a:t>
            </a:r>
          </a:p>
        </p:txBody>
      </p:sp>
    </p:spTree>
    <p:extLst>
      <p:ext uri="{BB962C8B-B14F-4D97-AF65-F5344CB8AC3E}">
        <p14:creationId xmlns:p14="http://schemas.microsoft.com/office/powerpoint/2010/main" val="1389655303"/>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457200"/>
            <a:ext cx="11277295"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FFFFFF"/>
                </a:solidFill>
              </a:defRPr>
            </a:pPr>
            <a:r>
              <a:rPr kumimoji="0" sz="3600" b="1" i="0" u="none" strike="noStrike" kern="1200" cap="none" spc="0" normalizeH="0" baseline="0" noProof="0">
                <a:ln>
                  <a:noFill/>
                </a:ln>
                <a:solidFill>
                  <a:srgbClr val="FFFFFF"/>
                </a:solidFill>
                <a:effectLst/>
                <a:uLnTx/>
                <a:uFillTx/>
                <a:latin typeface="Calibri"/>
                <a:ea typeface="+mn-ea"/>
                <a:cs typeface="+mn-cs"/>
              </a:rPr>
              <a:t>Smart Permission Rules</a:t>
            </a:r>
          </a:p>
        </p:txBody>
      </p:sp>
      <p:sp>
        <p:nvSpPr>
          <p:cNvPr id="3" name="Rectangle 2"/>
          <p:cNvSpPr/>
          <p:nvPr/>
        </p:nvSpPr>
        <p:spPr>
          <a:xfrm>
            <a:off x="6077559" y="1371600"/>
            <a:ext cx="36576" cy="45720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E86B4A"/>
                </a:solidFill>
              </a:defRPr>
            </a:pPr>
            <a:r>
              <a:rPr kumimoji="0" sz="2800" b="1" i="0" u="none" strike="noStrike" kern="1200" cap="none" spc="0" normalizeH="0" baseline="0" noProof="0">
                <a:ln>
                  <a:noFill/>
                </a:ln>
                <a:solidFill>
                  <a:srgbClr val="E86B4A"/>
                </a:solidFill>
                <a:effectLst/>
                <a:uLnTx/>
                <a:uFillTx/>
                <a:latin typeface="Calibri"/>
                <a:ea typeface="+mn-ea"/>
                <a:cs typeface="+mn-cs"/>
              </a:rPr>
              <a:t>Too Restrictive</a:t>
            </a:r>
          </a:p>
        </p:txBody>
      </p:sp>
      <p:sp>
        <p:nvSpPr>
          <p:cNvPr id="5" name="TextBox 4"/>
          <p:cNvSpPr txBox="1"/>
          <p:nvPr/>
        </p:nvSpPr>
        <p:spPr>
          <a:xfrm>
            <a:off x="457200"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Approve every single file read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Confirm every npm command</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10 permission prompts per task</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Developers disable permissions entirely</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Security theater — no actual protection</a:t>
            </a:r>
          </a:p>
        </p:txBody>
      </p:sp>
      <p:sp>
        <p:nvSpPr>
          <p:cNvPr id="6" name="TextBox 5"/>
          <p:cNvSpPr txBox="1"/>
          <p:nvPr/>
        </p:nvSpPr>
        <p:spPr>
          <a:xfrm>
            <a:off x="6370167" y="1463040"/>
            <a:ext cx="5364327" cy="73152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800" b="1">
                <a:solidFill>
                  <a:srgbClr val="00D4AA"/>
                </a:solidFill>
              </a:defRPr>
            </a:pPr>
            <a:r>
              <a:rPr kumimoji="0" sz="2800" b="1" i="0" u="none" strike="noStrike" kern="1200" cap="none" spc="0" normalizeH="0" baseline="0" noProof="0">
                <a:ln>
                  <a:noFill/>
                </a:ln>
                <a:solidFill>
                  <a:srgbClr val="00D4AA"/>
                </a:solidFill>
                <a:effectLst/>
                <a:uLnTx/>
                <a:uFillTx/>
                <a:latin typeface="Calibri"/>
                <a:ea typeface="+mn-ea"/>
                <a:cs typeface="+mn-cs"/>
              </a:rPr>
              <a:t>Smart Rules</a:t>
            </a:r>
          </a:p>
        </p:txBody>
      </p:sp>
      <p:sp>
        <p:nvSpPr>
          <p:cNvPr id="7" name="TextBox 6"/>
          <p:cNvSpPr txBox="1"/>
          <p:nvPr/>
        </p:nvSpPr>
        <p:spPr>
          <a:xfrm>
            <a:off x="6370167" y="2286000"/>
            <a:ext cx="5364327" cy="3657600"/>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Allow reads for all project files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Allow npm test, npm run, git commands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Deny rm -rf, sudo, curl, ssh</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2-3 prompts per task for real decisions</a:t>
            </a:r>
          </a:p>
          <a:p>
            <a:pPr marL="0" marR="0" lvl="0" indent="0" algn="l" defTabSz="457200" rtl="0" eaLnBrk="1" fontAlgn="auto" latinLnBrk="0" hangingPunct="1">
              <a:lnSpc>
                <a:spcPct val="100000"/>
              </a:lnSpc>
              <a:spcBef>
                <a:spcPts val="0"/>
              </a:spcBef>
              <a:spcAft>
                <a:spcPts val="1200"/>
              </a:spcAft>
              <a:buClrTx/>
              <a:buSzTx/>
              <a:buFontTx/>
              <a:buNone/>
              <a:tabLst/>
              <a:defRPr sz="1800">
                <a:solidFill>
                  <a:srgbClr val="FFFFFF"/>
                </a:solidFill>
              </a:defRPr>
            </a:pPr>
            <a:r>
              <a:rPr kumimoji="0" sz="1800" b="0" i="0" u="none" strike="noStrike" kern="1200" cap="none" spc="0" normalizeH="0" baseline="0" noProof="0">
                <a:ln>
                  <a:noFill/>
                </a:ln>
                <a:solidFill>
                  <a:srgbClr val="FFFFFF"/>
                </a:solidFill>
                <a:effectLst/>
                <a:uLnTx/>
                <a:uFillTx/>
                <a:latin typeface="Calibri"/>
                <a:ea typeface="+mn-ea"/>
                <a:cs typeface="+mn-cs"/>
              </a:rPr>
              <a:t>  Developers keep permissions enabled</a:t>
            </a:r>
          </a:p>
        </p:txBody>
      </p:sp>
    </p:spTree>
    <p:extLst>
      <p:ext uri="{BB962C8B-B14F-4D97-AF65-F5344CB8AC3E}">
        <p14:creationId xmlns:p14="http://schemas.microsoft.com/office/powerpoint/2010/main" val="670111524"/>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0">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731520"/>
            <a:ext cx="11277295" cy="9144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4000" b="1">
                <a:solidFill>
                  <a:srgbClr val="FFFFFF"/>
                </a:solidFill>
              </a:defRPr>
            </a:pPr>
            <a:r>
              <a:rPr kumimoji="0" sz="4000" b="1" i="0" u="none" strike="noStrike" kern="1200" cap="none" spc="0" normalizeH="0" baseline="0" noProof="0">
                <a:ln>
                  <a:noFill/>
                </a:ln>
                <a:solidFill>
                  <a:srgbClr val="FFFFFF"/>
                </a:solidFill>
                <a:effectLst/>
                <a:uLnTx/>
                <a:uFillTx/>
                <a:latin typeface="Calibri"/>
                <a:ea typeface="+mn-ea"/>
                <a:cs typeface="+mn-cs"/>
              </a:rPr>
              <a:t>Enterprise Security</a:t>
            </a:r>
          </a:p>
        </p:txBody>
      </p:sp>
      <p:sp>
        <p:nvSpPr>
          <p:cNvPr id="3" name="Rounded Rectangle 2"/>
          <p:cNvSpPr/>
          <p:nvPr/>
        </p:nvSpPr>
        <p:spPr>
          <a:xfrm>
            <a:off x="230108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Oval 3"/>
          <p:cNvSpPr/>
          <p:nvPr/>
        </p:nvSpPr>
        <p:spPr>
          <a:xfrm>
            <a:off x="298688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5" name="TextBox 4"/>
          <p:cNvSpPr txBox="1"/>
          <p:nvPr/>
        </p:nvSpPr>
        <p:spPr>
          <a:xfrm>
            <a:off x="298688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1</a:t>
            </a:r>
          </a:p>
        </p:txBody>
      </p:sp>
      <p:sp>
        <p:nvSpPr>
          <p:cNvPr id="6" name="TextBox 5"/>
          <p:cNvSpPr txBox="1"/>
          <p:nvPr/>
        </p:nvSpPr>
        <p:spPr>
          <a:xfrm>
            <a:off x="2392527" y="3657600"/>
            <a:ext cx="2103120" cy="1371600"/>
          </a:xfrm>
          <a:prstGeom prst="rect">
            <a:avLst/>
          </a:prstGeom>
          <a:noFill/>
        </p:spPr>
        <p:txBody>
          <a:bodyPr wrap="square">
            <a:normAutofit fontScale="92500"/>
          </a:bodyPr>
          <a:lstStyle/>
          <a:p>
            <a:pPr marL="0" marR="0" lvl="0" indent="0" algn="ctr" defTabSz="457200" rtl="0" eaLnBrk="1" fontAlgn="auto" latinLnBrk="0" hangingPunct="1">
              <a:lnSpc>
                <a:spcPct val="100000"/>
              </a:lnSpc>
              <a:spcBef>
                <a:spcPts val="0"/>
              </a:spcBef>
              <a:spcAft>
                <a:spcPts val="0"/>
              </a:spcAft>
              <a:buClrTx/>
              <a:buSzTx/>
              <a:buFontTx/>
              <a:buNone/>
              <a:tabLst/>
              <a:defRPr sz="1800" b="1">
                <a:solidFill>
                  <a:srgbClr val="FFFFFF"/>
                </a:solidFill>
              </a:defRPr>
            </a:pPr>
            <a:r>
              <a:rPr kumimoji="0" sz="1800" b="1" i="0" u="none" strike="noStrike" kern="1200" cap="none" spc="0" normalizeH="0" baseline="0" noProof="0">
                <a:ln>
                  <a:noFill/>
                </a:ln>
                <a:solidFill>
                  <a:srgbClr val="FFFFFF"/>
                </a:solidFill>
                <a:effectLst/>
                <a:uLnTx/>
                <a:uFillTx/>
                <a:latin typeface="Calibri"/>
                <a:ea typeface="+mn-ea"/>
                <a:cs typeface="+mn-cs"/>
              </a:rPr>
              <a:t>Managed Settings</a:t>
            </a:r>
          </a:p>
          <a:p>
            <a:pPr marL="0" marR="0" lvl="0" indent="0" algn="ctr" defTabSz="457200" rtl="0" eaLnBrk="1" fontAlgn="auto" latinLnBrk="0" hangingPunct="1">
              <a:lnSpc>
                <a:spcPct val="100000"/>
              </a:lnSpc>
              <a:spcBef>
                <a:spcPts val="800"/>
              </a:spcBef>
              <a:spcAft>
                <a:spcPts val="0"/>
              </a:spcAft>
              <a:buClrTx/>
              <a:buSzTx/>
              <a:buFontTx/>
              <a:buNone/>
              <a:tabLst/>
              <a:defRPr sz="1300">
                <a:solidFill>
                  <a:srgbClr val="8B95A5"/>
                </a:solidFill>
              </a:defRPr>
            </a:pPr>
            <a:r>
              <a:rPr kumimoji="0" sz="1300" b="0" i="0" u="none" strike="noStrike" kern="1200" cap="none" spc="0" normalizeH="0" baseline="0" noProof="0">
                <a:ln>
                  <a:noFill/>
                </a:ln>
                <a:solidFill>
                  <a:srgbClr val="8B95A5"/>
                </a:solidFill>
                <a:effectLst/>
                <a:uLnTx/>
                <a:uFillTx/>
                <a:latin typeface="Calibri"/>
                <a:ea typeface="+mn-ea"/>
                <a:cs typeface="+mn-cs"/>
              </a:rPr>
              <a:t>IT deploys policies that can't be overridden.</a:t>
            </a: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Disable bypass mode.</a:t>
            </a: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Restrict allowed MCP servers.</a:t>
            </a: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Enforce hooks across all users.</a:t>
            </a:r>
          </a:p>
        </p:txBody>
      </p:sp>
      <p:sp>
        <p:nvSpPr>
          <p:cNvPr id="7" name="Rounded Rectangle 6"/>
          <p:cNvSpPr/>
          <p:nvPr/>
        </p:nvSpPr>
        <p:spPr>
          <a:xfrm>
            <a:off x="495284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8" name="Oval 7"/>
          <p:cNvSpPr/>
          <p:nvPr/>
        </p:nvSpPr>
        <p:spPr>
          <a:xfrm>
            <a:off x="563864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9" name="TextBox 8"/>
          <p:cNvSpPr txBox="1"/>
          <p:nvPr/>
        </p:nvSpPr>
        <p:spPr>
          <a:xfrm>
            <a:off x="563864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2</a:t>
            </a:r>
          </a:p>
        </p:txBody>
      </p:sp>
      <p:sp>
        <p:nvSpPr>
          <p:cNvPr id="10" name="TextBox 9"/>
          <p:cNvSpPr txBox="1"/>
          <p:nvPr/>
        </p:nvSpPr>
        <p:spPr>
          <a:xfrm>
            <a:off x="5044287" y="3657600"/>
            <a:ext cx="2103120" cy="1371600"/>
          </a:xfrm>
          <a:prstGeom prst="rect">
            <a:avLst/>
          </a:prstGeom>
          <a:noFill/>
        </p:spPr>
        <p:txBody>
          <a:bodyPr wrap="square">
            <a:normAutofit fontScale="85000" lnSpcReduction="10000"/>
          </a:bodyPr>
          <a:lstStyle/>
          <a:p>
            <a:pPr marL="0" marR="0" lvl="0" indent="0" algn="ctr" defTabSz="457200" rtl="0" eaLnBrk="1" fontAlgn="auto" latinLnBrk="0" hangingPunct="1">
              <a:lnSpc>
                <a:spcPct val="100000"/>
              </a:lnSpc>
              <a:spcBef>
                <a:spcPts val="0"/>
              </a:spcBef>
              <a:spcAft>
                <a:spcPts val="0"/>
              </a:spcAft>
              <a:buClrTx/>
              <a:buSzTx/>
              <a:buFontTx/>
              <a:buNone/>
              <a:tabLst/>
              <a:defRPr sz="1800" b="1">
                <a:solidFill>
                  <a:srgbClr val="FFFFFF"/>
                </a:solidFill>
              </a:defRPr>
            </a:pPr>
            <a:r>
              <a:rPr kumimoji="0" sz="1800" b="1" i="0" u="none" strike="noStrike" kern="1200" cap="none" spc="0" normalizeH="0" baseline="0" noProof="0">
                <a:ln>
                  <a:noFill/>
                </a:ln>
                <a:solidFill>
                  <a:srgbClr val="FFFFFF"/>
                </a:solidFill>
                <a:effectLst/>
                <a:uLnTx/>
                <a:uFillTx/>
                <a:latin typeface="Calibri"/>
                <a:ea typeface="+mn-ea"/>
                <a:cs typeface="+mn-cs"/>
              </a:rPr>
              <a:t>Audit Logging</a:t>
            </a:r>
          </a:p>
          <a:p>
            <a:pPr marL="0" marR="0" lvl="0" indent="0" algn="ctr" defTabSz="457200" rtl="0" eaLnBrk="1" fontAlgn="auto" latinLnBrk="0" hangingPunct="1">
              <a:lnSpc>
                <a:spcPct val="100000"/>
              </a:lnSpc>
              <a:spcBef>
                <a:spcPts val="800"/>
              </a:spcBef>
              <a:spcAft>
                <a:spcPts val="0"/>
              </a:spcAft>
              <a:buClrTx/>
              <a:buSzTx/>
              <a:buFontTx/>
              <a:buNone/>
              <a:tabLst/>
              <a:defRPr sz="1300">
                <a:solidFill>
                  <a:srgbClr val="8B95A5"/>
                </a:solidFill>
              </a:defRPr>
            </a:pPr>
            <a:r>
              <a:rPr kumimoji="0" sz="1300" b="0" i="0" u="none" strike="noStrike" kern="1200" cap="none" spc="0" normalizeH="0" baseline="0" noProof="0">
                <a:ln>
                  <a:noFill/>
                </a:ln>
                <a:solidFill>
                  <a:srgbClr val="8B95A5"/>
                </a:solidFill>
                <a:effectLst/>
                <a:uLnTx/>
                <a:uFillTx/>
                <a:latin typeface="Calibri"/>
                <a:ea typeface="+mn-ea"/>
                <a:cs typeface="+mn-cs"/>
              </a:rPr>
              <a:t>Track all Claude Code activity.</a:t>
            </a: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File changes, commands run, tools used.</a:t>
            </a: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Export to SIEM (Splunk, Datadog).</a:t>
            </a: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Compliance API for automated monitoring.</a:t>
            </a:r>
          </a:p>
        </p:txBody>
      </p:sp>
      <p:sp>
        <p:nvSpPr>
          <p:cNvPr id="11" name="Rounded Rectangle 10"/>
          <p:cNvSpPr/>
          <p:nvPr/>
        </p:nvSpPr>
        <p:spPr>
          <a:xfrm>
            <a:off x="7604607" y="2011680"/>
            <a:ext cx="2286000" cy="3860202"/>
          </a:xfrm>
          <a:prstGeom prst="roundRect">
            <a:avLst/>
          </a:prstGeom>
          <a:solidFill>
            <a:srgbClr val="141A26"/>
          </a:solidFill>
          <a:ln w="25400">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2" name="Oval 11"/>
          <p:cNvSpPr/>
          <p:nvPr/>
        </p:nvSpPr>
        <p:spPr>
          <a:xfrm>
            <a:off x="8290407" y="2468880"/>
            <a:ext cx="914400" cy="91440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13" name="TextBox 12"/>
          <p:cNvSpPr txBox="1"/>
          <p:nvPr/>
        </p:nvSpPr>
        <p:spPr>
          <a:xfrm>
            <a:off x="8290407" y="2468880"/>
            <a:ext cx="914400" cy="914400"/>
          </a:xfrm>
          <a:prstGeom prst="rect">
            <a:avLst/>
          </a:prstGeom>
          <a:noFill/>
        </p:spPr>
        <p:txBody>
          <a:bodyPr wrap="none" anchor="ctr">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600" b="1">
                <a:solidFill>
                  <a:srgbClr val="0B0F1A"/>
                </a:solidFill>
              </a:defRPr>
            </a:pPr>
            <a:r>
              <a:rPr kumimoji="0" sz="3600" b="1" i="0" u="none" strike="noStrike" kern="1200" cap="none" spc="0" normalizeH="0" baseline="0" noProof="0">
                <a:ln>
                  <a:noFill/>
                </a:ln>
                <a:solidFill>
                  <a:srgbClr val="0B0F1A"/>
                </a:solidFill>
                <a:effectLst/>
                <a:uLnTx/>
                <a:uFillTx/>
                <a:latin typeface="Calibri"/>
                <a:ea typeface="+mn-ea"/>
                <a:cs typeface="+mn-cs"/>
              </a:rPr>
              <a:t>3</a:t>
            </a:r>
          </a:p>
        </p:txBody>
      </p:sp>
      <p:sp>
        <p:nvSpPr>
          <p:cNvPr id="14" name="TextBox 13"/>
          <p:cNvSpPr txBox="1"/>
          <p:nvPr/>
        </p:nvSpPr>
        <p:spPr>
          <a:xfrm>
            <a:off x="7696047" y="3657600"/>
            <a:ext cx="2103120" cy="1371600"/>
          </a:xfrm>
          <a:prstGeom prst="rect">
            <a:avLst/>
          </a:prstGeom>
          <a:noFill/>
        </p:spPr>
        <p:txBody>
          <a:bodyPr wrap="square">
            <a:normAutofit lnSpcReduction="10000"/>
          </a:bodyPr>
          <a:lstStyle/>
          <a:p>
            <a:pPr marL="0" marR="0" lvl="0" indent="0" algn="ctr" defTabSz="457200" rtl="0" eaLnBrk="1" fontAlgn="auto" latinLnBrk="0" hangingPunct="1">
              <a:lnSpc>
                <a:spcPct val="100000"/>
              </a:lnSpc>
              <a:spcBef>
                <a:spcPts val="0"/>
              </a:spcBef>
              <a:spcAft>
                <a:spcPts val="0"/>
              </a:spcAft>
              <a:buClrTx/>
              <a:buSzTx/>
              <a:buFontTx/>
              <a:buNone/>
              <a:tabLst/>
              <a:defRPr sz="1800" b="1">
                <a:solidFill>
                  <a:srgbClr val="FFFFFF"/>
                </a:solidFill>
              </a:defRPr>
            </a:pPr>
            <a:r>
              <a:rPr kumimoji="0" sz="1800" b="1" i="0" u="none" strike="noStrike" kern="1200" cap="none" spc="0" normalizeH="0" baseline="0" noProof="0">
                <a:ln>
                  <a:noFill/>
                </a:ln>
                <a:solidFill>
                  <a:srgbClr val="FFFFFF"/>
                </a:solidFill>
                <a:effectLst/>
                <a:uLnTx/>
                <a:uFillTx/>
                <a:latin typeface="Calibri"/>
                <a:ea typeface="+mn-ea"/>
                <a:cs typeface="+mn-cs"/>
              </a:rPr>
              <a:t>Access Control</a:t>
            </a:r>
          </a:p>
          <a:p>
            <a:pPr marL="0" marR="0" lvl="0" indent="0" algn="ctr" defTabSz="457200" rtl="0" eaLnBrk="1" fontAlgn="auto" latinLnBrk="0" hangingPunct="1">
              <a:lnSpc>
                <a:spcPct val="100000"/>
              </a:lnSpc>
              <a:spcBef>
                <a:spcPts val="800"/>
              </a:spcBef>
              <a:spcAft>
                <a:spcPts val="0"/>
              </a:spcAft>
              <a:buClrTx/>
              <a:buSzTx/>
              <a:buFontTx/>
              <a:buNone/>
              <a:tabLst/>
              <a:defRPr sz="1300">
                <a:solidFill>
                  <a:srgbClr val="8B95A5"/>
                </a:solidFill>
              </a:defRPr>
            </a:pPr>
            <a:r>
              <a:rPr kumimoji="0" sz="1300" b="0" i="0" u="none" strike="noStrike" kern="1200" cap="none" spc="0" normalizeH="0" baseline="0" noProof="0">
                <a:ln>
                  <a:noFill/>
                </a:ln>
                <a:solidFill>
                  <a:srgbClr val="8B95A5"/>
                </a:solidFill>
                <a:effectLst/>
                <a:uLnTx/>
                <a:uFillTx/>
                <a:latin typeface="Calibri"/>
                <a:ea typeface="+mn-ea"/>
                <a:cs typeface="+mn-cs"/>
              </a:rPr>
              <a:t>SSO/SAML + SCIM provisioning.</a:t>
            </a: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Standard vs Premium seats.</a:t>
            </a: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Per-user spending caps.</a:t>
            </a:r>
            <a:br>
              <a:rPr kumimoji="0" sz="1300" b="0" i="0" u="none" strike="noStrike" kern="1200" cap="none" spc="0" normalizeH="0" baseline="0" noProof="0">
                <a:ln>
                  <a:noFill/>
                </a:ln>
                <a:solidFill>
                  <a:srgbClr val="8B95A5"/>
                </a:solidFill>
                <a:effectLst/>
                <a:uLnTx/>
                <a:uFillTx/>
                <a:latin typeface="Calibri"/>
                <a:ea typeface="+mn-ea"/>
                <a:cs typeface="+mn-cs"/>
              </a:rPr>
            </a:br>
            <a:r>
              <a:rPr kumimoji="0" sz="1300" b="0" i="0" u="none" strike="noStrike" kern="1200" cap="none" spc="0" normalizeH="0" baseline="0" noProof="0">
                <a:ln>
                  <a:noFill/>
                </a:ln>
                <a:solidFill>
                  <a:srgbClr val="8B95A5"/>
                </a:solidFill>
                <a:effectLst/>
                <a:uLnTx/>
                <a:uFillTx/>
                <a:latin typeface="Calibri"/>
                <a:ea typeface="+mn-ea"/>
                <a:cs typeface="+mn-cs"/>
              </a:rPr>
              <a:t>Zero-Data-Retention option.</a:t>
            </a:r>
          </a:p>
        </p:txBody>
      </p:sp>
    </p:spTree>
    <p:extLst>
      <p:ext uri="{BB962C8B-B14F-4D97-AF65-F5344CB8AC3E}">
        <p14:creationId xmlns:p14="http://schemas.microsoft.com/office/powerpoint/2010/main" val="273110941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731520" y="2286000"/>
            <a:ext cx="10728655" cy="13716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5200" b="1">
                <a:solidFill>
                  <a:srgbClr val="FFFFFF"/>
                </a:solidFill>
              </a:defRPr>
            </a:pPr>
            <a:r>
              <a:rPr kumimoji="0" sz="5200" b="1" i="0" u="none" strike="noStrike" kern="1200" cap="none" spc="0" normalizeH="0" baseline="0" noProof="0">
                <a:ln>
                  <a:noFill/>
                </a:ln>
                <a:solidFill>
                  <a:srgbClr val="FFFFFF"/>
                </a:solidFill>
                <a:effectLst/>
                <a:uLnTx/>
                <a:uFillTx/>
                <a:latin typeface="Calibri"/>
                <a:ea typeface="+mn-ea"/>
                <a:cs typeface="+mn-cs"/>
              </a:rPr>
              <a:t>Engineering Principle: Default to Safe Behavior</a:t>
            </a:r>
          </a:p>
        </p:txBody>
      </p:sp>
      <p:sp>
        <p:nvSpPr>
          <p:cNvPr id="3" name="TextBox 2"/>
          <p:cNvSpPr txBox="1"/>
          <p:nvPr/>
        </p:nvSpPr>
        <p:spPr>
          <a:xfrm>
            <a:off x="914400" y="4127350"/>
            <a:ext cx="103628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When uncertain, Claude Code asks first.</a:t>
            </a:r>
          </a:p>
          <a:p>
            <a:pPr marL="0" marR="0" lvl="0" indent="0" algn="l" defTabSz="457200" rtl="0" eaLnBrk="1" fontAlgn="auto" latinLnBrk="0" hangingPunct="1">
              <a:lnSpc>
                <a:spcPct val="100000"/>
              </a:lnSpc>
              <a:spcBef>
                <a:spcPts val="0"/>
              </a:spcBef>
              <a:spcAft>
                <a:spcPts val="0"/>
              </a:spcAft>
              <a:buClrTx/>
              <a:buSzTx/>
              <a:buFontTx/>
              <a:buNone/>
              <a:tabLst/>
              <a:defRPr sz="2400">
                <a:solidFill>
                  <a:srgbClr val="8B95A5"/>
                </a:solidFill>
              </a:defRPr>
            </a:pPr>
            <a:endParaRPr kumimoji="0" sz="2400" b="0" i="0" u="none" strike="noStrike" kern="1200" cap="none" spc="0" normalizeH="0" baseline="0" noProof="0">
              <a:ln>
                <a:noFill/>
              </a:ln>
              <a:solidFill>
                <a:srgbClr val="8B95A5"/>
              </a:solidFill>
              <a:effectLst/>
              <a:uLnTx/>
              <a:uFillTx/>
              <a:latin typeface="Calibri"/>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sz="2400">
                <a:solidFill>
                  <a:srgbClr val="8B95A5"/>
                </a:solidFill>
              </a:defRPr>
            </a:pPr>
            <a:r>
              <a:rPr kumimoji="0" sz="2400" b="0" i="0" u="none" strike="noStrike" kern="1200" cap="none" spc="0" normalizeH="0" baseline="0" noProof="0">
                <a:ln>
                  <a:noFill/>
                </a:ln>
                <a:solidFill>
                  <a:srgbClr val="8B95A5"/>
                </a:solidFill>
                <a:effectLst/>
                <a:uLnTx/>
                <a:uFillTx/>
                <a:latin typeface="Calibri"/>
                <a:ea typeface="+mn-ea"/>
                <a:cs typeface="+mn-cs"/>
              </a:rPr>
              <a:t>Safety &gt; Speed.</a:t>
            </a:r>
          </a:p>
        </p:txBody>
      </p:sp>
    </p:spTree>
    <p:extLst>
      <p:ext uri="{BB962C8B-B14F-4D97-AF65-F5344CB8AC3E}">
        <p14:creationId xmlns:p14="http://schemas.microsoft.com/office/powerpoint/2010/main" val="1638746869"/>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0">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1828800"/>
            <a:ext cx="11277295" cy="1371600"/>
          </a:xfrm>
          <a:prstGeom prst="rect">
            <a:avLst/>
          </a:prstGeom>
          <a:noFill/>
        </p:spPr>
        <p:txBody>
          <a:bodyPr wrap="non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9600" b="1">
                <a:solidFill>
                  <a:srgbClr val="00D4AA"/>
                </a:solidFill>
              </a:defRPr>
            </a:pPr>
            <a:r>
              <a:rPr kumimoji="0" sz="9600" b="1" i="0" u="none" strike="noStrike" kern="1200" cap="none" spc="0" normalizeH="0" baseline="0" noProof="0">
                <a:ln>
                  <a:noFill/>
                </a:ln>
                <a:solidFill>
                  <a:srgbClr val="00D4AA"/>
                </a:solidFill>
                <a:effectLst/>
                <a:uLnTx/>
                <a:uFillTx/>
                <a:latin typeface="Calibri"/>
                <a:ea typeface="+mn-ea"/>
                <a:cs typeface="+mn-cs"/>
              </a:rPr>
              <a:t>DEMO</a:t>
            </a:r>
          </a:p>
        </p:txBody>
      </p:sp>
      <p:sp>
        <p:nvSpPr>
          <p:cNvPr id="3" name="Rectangle 2"/>
          <p:cNvSpPr/>
          <p:nvPr/>
        </p:nvSpPr>
        <p:spPr>
          <a:xfrm>
            <a:off x="4724247" y="3474720"/>
            <a:ext cx="2743200" cy="54864"/>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1800" b="0" i="0" u="none" strike="noStrike" kern="1200" cap="none" spc="0" normalizeH="0" baseline="0" noProof="0">
              <a:ln>
                <a:noFill/>
              </a:ln>
              <a:solidFill>
                <a:prstClr val="white"/>
              </a:solidFill>
              <a:effectLst/>
              <a:uLnTx/>
              <a:uFillTx/>
              <a:latin typeface="Calibri"/>
              <a:ea typeface="+mn-ea"/>
              <a:cs typeface="+mn-cs"/>
            </a:endParaRPr>
          </a:p>
        </p:txBody>
      </p:sp>
      <p:sp>
        <p:nvSpPr>
          <p:cNvPr id="4" name="TextBox 3"/>
          <p:cNvSpPr txBox="1"/>
          <p:nvPr/>
        </p:nvSpPr>
        <p:spPr>
          <a:xfrm>
            <a:off x="457200" y="3840480"/>
            <a:ext cx="11277295" cy="914400"/>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sz="3200" b="1">
                <a:solidFill>
                  <a:srgbClr val="FFFFFF"/>
                </a:solidFill>
              </a:defRPr>
            </a:pPr>
            <a:r>
              <a:rPr kumimoji="0" sz="3200" b="1" i="0" u="none" strike="noStrike" kern="1200" cap="none" spc="0" normalizeH="0" baseline="0" noProof="0">
                <a:ln>
                  <a:noFill/>
                </a:ln>
                <a:solidFill>
                  <a:srgbClr val="FFFFFF"/>
                </a:solidFill>
                <a:effectLst/>
                <a:uLnTx/>
                <a:uFillTx/>
                <a:latin typeface="Calibri"/>
                <a:ea typeface="+mn-ea"/>
                <a:cs typeface="+mn-cs"/>
              </a:rPr>
              <a:t>Secure Configuration</a:t>
            </a:r>
          </a:p>
        </p:txBody>
      </p:sp>
    </p:spTree>
    <p:extLst>
      <p:ext uri="{BB962C8B-B14F-4D97-AF65-F5344CB8AC3E}">
        <p14:creationId xmlns:p14="http://schemas.microsoft.com/office/powerpoint/2010/main" val="412149176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ounded Rectangle 1"/>
          <p:cNvSpPr/>
          <p:nvPr/>
        </p:nvSpPr>
        <p:spPr>
          <a:xfrm>
            <a:off x="457200" y="365760"/>
            <a:ext cx="1097280" cy="457200"/>
          </a:xfrm>
          <a:prstGeom prst="round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429768"/>
            <a:ext cx="1097280" cy="365760"/>
          </a:xfrm>
          <a:prstGeom prst="rect">
            <a:avLst/>
          </a:prstGeom>
          <a:noFill/>
        </p:spPr>
        <p:txBody>
          <a:bodyPr wrap="none">
            <a:spAutoFit/>
          </a:bodyPr>
          <a:lstStyle/>
          <a:p>
            <a:pPr algn="ctr">
              <a:defRPr sz="1800" b="1">
                <a:solidFill>
                  <a:srgbClr val="0B0F1A"/>
                </a:solidFill>
              </a:defRPr>
            </a:pPr>
            <a:r>
              <a:t>LAB</a:t>
            </a:r>
          </a:p>
        </p:txBody>
      </p:sp>
      <p:sp>
        <p:nvSpPr>
          <p:cNvPr id="4" name="Rounded Rectangle 3"/>
          <p:cNvSpPr/>
          <p:nvPr/>
        </p:nvSpPr>
        <p:spPr>
          <a:xfrm>
            <a:off x="10362895" y="365760"/>
            <a:ext cx="1371600" cy="457200"/>
          </a:xfrm>
          <a:prstGeom prst="roundRect">
            <a:avLst/>
          </a:prstGeom>
          <a:solidFill>
            <a:srgbClr val="141A26"/>
          </a:solidFill>
          <a:ln>
            <a:solidFill>
              <a:srgbClr val="00D4A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10362895" y="429768"/>
            <a:ext cx="1371600" cy="365760"/>
          </a:xfrm>
          <a:prstGeom prst="rect">
            <a:avLst/>
          </a:prstGeom>
          <a:noFill/>
        </p:spPr>
        <p:txBody>
          <a:bodyPr wrap="none">
            <a:spAutoFit/>
          </a:bodyPr>
          <a:lstStyle/>
          <a:p>
            <a:pPr algn="ctr">
              <a:defRPr sz="1400" b="1">
                <a:solidFill>
                  <a:srgbClr val="00D4AA"/>
                </a:solidFill>
              </a:defRPr>
            </a:pPr>
            <a:r>
              <a:t>5 minutes</a:t>
            </a:r>
          </a:p>
        </p:txBody>
      </p:sp>
      <p:sp>
        <p:nvSpPr>
          <p:cNvPr id="6" name="TextBox 5"/>
          <p:cNvSpPr txBox="1"/>
          <p:nvPr/>
        </p:nvSpPr>
        <p:spPr>
          <a:xfrm>
            <a:off x="457200" y="1005840"/>
            <a:ext cx="11277295" cy="731520"/>
          </a:xfrm>
          <a:prstGeom prst="rect">
            <a:avLst/>
          </a:prstGeom>
          <a:noFill/>
        </p:spPr>
        <p:txBody>
          <a:bodyPr wrap="none">
            <a:spAutoFit/>
          </a:bodyPr>
          <a:lstStyle/>
          <a:p>
            <a:pPr>
              <a:defRPr sz="3200" b="1">
                <a:solidFill>
                  <a:srgbClr val="FFFFFF"/>
                </a:solidFill>
              </a:defRPr>
            </a:pPr>
            <a:r>
              <a:t>Lab 2D: Ship It</a:t>
            </a:r>
          </a:p>
        </p:txBody>
      </p:sp>
      <p:sp>
        <p:nvSpPr>
          <p:cNvPr id="7" name="Rectangle 6"/>
          <p:cNvSpPr/>
          <p:nvPr/>
        </p:nvSpPr>
        <p:spPr>
          <a:xfrm>
            <a:off x="457200" y="1737360"/>
            <a:ext cx="27432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Rectangle 1"/>
          <p:cNvSpPr/>
          <p:nvPr/>
        </p:nvSpPr>
        <p:spPr>
          <a:xfrm>
            <a:off x="0" y="1188720"/>
            <a:ext cx="91440" cy="5029200"/>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457200" y="365760"/>
            <a:ext cx="11277295" cy="822960"/>
          </a:xfrm>
          <a:prstGeom prst="rect">
            <a:avLst/>
          </a:prstGeom>
          <a:noFill/>
        </p:spPr>
        <p:txBody>
          <a:bodyPr wrap="none">
            <a:spAutoFit/>
          </a:bodyPr>
          <a:lstStyle/>
          <a:p>
            <a:pPr>
              <a:defRPr sz="4000" b="1">
                <a:solidFill>
                  <a:srgbClr val="FFFFFF"/>
                </a:solidFill>
              </a:defRPr>
            </a:pPr>
            <a:r>
              <a:t>Key Workflows Recap</a:t>
            </a:r>
          </a:p>
        </p:txBody>
      </p:sp>
      <p:sp>
        <p:nvSpPr>
          <p:cNvPr id="4" name="Oval 3"/>
          <p:cNvSpPr/>
          <p:nvPr/>
        </p:nvSpPr>
        <p:spPr>
          <a:xfrm>
            <a:off x="457200" y="13716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457200" y="13716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6" name="TextBox 5"/>
          <p:cNvSpPr txBox="1"/>
          <p:nvPr/>
        </p:nvSpPr>
        <p:spPr>
          <a:xfrm>
            <a:off x="1005840" y="1417320"/>
            <a:ext cx="10728655" cy="731520"/>
          </a:xfrm>
          <a:prstGeom prst="rect">
            <a:avLst/>
          </a:prstGeom>
          <a:noFill/>
        </p:spPr>
        <p:txBody>
          <a:bodyPr wrap="square">
            <a:spAutoFit/>
          </a:bodyPr>
          <a:lstStyle/>
          <a:p>
            <a:pPr>
              <a:defRPr sz="2200">
                <a:solidFill>
                  <a:srgbClr val="FFFFFF"/>
                </a:solidFill>
              </a:defRPr>
            </a:pPr>
            <a:r>
              <a:t>✓ Install and configure</a:t>
            </a:r>
          </a:p>
        </p:txBody>
      </p:sp>
      <p:sp>
        <p:nvSpPr>
          <p:cNvPr id="7" name="Oval 6"/>
          <p:cNvSpPr/>
          <p:nvPr/>
        </p:nvSpPr>
        <p:spPr>
          <a:xfrm>
            <a:off x="457200" y="219456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57200" y="219456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9" name="TextBox 8"/>
          <p:cNvSpPr txBox="1"/>
          <p:nvPr/>
        </p:nvSpPr>
        <p:spPr>
          <a:xfrm>
            <a:off x="1005840" y="2240280"/>
            <a:ext cx="10728655" cy="731520"/>
          </a:xfrm>
          <a:prstGeom prst="rect">
            <a:avLst/>
          </a:prstGeom>
          <a:noFill/>
        </p:spPr>
        <p:txBody>
          <a:bodyPr wrap="square">
            <a:spAutoFit/>
          </a:bodyPr>
          <a:lstStyle/>
          <a:p>
            <a:pPr>
              <a:defRPr sz="2200">
                <a:solidFill>
                  <a:srgbClr val="FFFFFF"/>
                </a:solidFill>
              </a:defRPr>
            </a:pPr>
            <a:r>
              <a:t>✓ Agentic loop</a:t>
            </a:r>
          </a:p>
        </p:txBody>
      </p:sp>
      <p:sp>
        <p:nvSpPr>
          <p:cNvPr id="10" name="Oval 9"/>
          <p:cNvSpPr/>
          <p:nvPr/>
        </p:nvSpPr>
        <p:spPr>
          <a:xfrm>
            <a:off x="457200" y="301752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457200" y="301752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2" name="TextBox 11"/>
          <p:cNvSpPr txBox="1"/>
          <p:nvPr/>
        </p:nvSpPr>
        <p:spPr>
          <a:xfrm>
            <a:off x="1005840" y="3063240"/>
            <a:ext cx="10728655" cy="731520"/>
          </a:xfrm>
          <a:prstGeom prst="rect">
            <a:avLst/>
          </a:prstGeom>
          <a:noFill/>
        </p:spPr>
        <p:txBody>
          <a:bodyPr wrap="square">
            <a:spAutoFit/>
          </a:bodyPr>
          <a:lstStyle/>
          <a:p>
            <a:pPr>
              <a:defRPr sz="2200">
                <a:solidFill>
                  <a:srgbClr val="FFFFFF"/>
                </a:solidFill>
              </a:defRPr>
            </a:pPr>
            <a:r>
              <a:t>✓ CLAUDE.md</a:t>
            </a:r>
          </a:p>
        </p:txBody>
      </p:sp>
      <p:sp>
        <p:nvSpPr>
          <p:cNvPr id="13" name="Oval 12"/>
          <p:cNvSpPr/>
          <p:nvPr/>
        </p:nvSpPr>
        <p:spPr>
          <a:xfrm>
            <a:off x="457200" y="384048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57200" y="384048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5" name="TextBox 14"/>
          <p:cNvSpPr txBox="1"/>
          <p:nvPr/>
        </p:nvSpPr>
        <p:spPr>
          <a:xfrm>
            <a:off x="1005840" y="3886200"/>
            <a:ext cx="10728655" cy="769441"/>
          </a:xfrm>
          <a:prstGeom prst="rect">
            <a:avLst/>
          </a:prstGeom>
          <a:noFill/>
        </p:spPr>
        <p:txBody>
          <a:bodyPr wrap="square">
            <a:spAutoFit/>
          </a:bodyPr>
          <a:lstStyle/>
          <a:p>
            <a:pPr>
              <a:defRPr sz="2200">
                <a:solidFill>
                  <a:srgbClr val="FFFFFF"/>
                </a:solidFill>
              </a:defRPr>
            </a:pPr>
            <a:r>
              <a:rPr dirty="0"/>
              <a:t>✓ @ mentions</a:t>
            </a:r>
            <a:r>
              <a:rPr lang="en-US" dirty="0"/>
              <a:t> / Context management</a:t>
            </a:r>
          </a:p>
          <a:p>
            <a:pPr>
              <a:defRPr sz="2200">
                <a:solidFill>
                  <a:srgbClr val="FFFFFF"/>
                </a:solidFill>
              </a:defRPr>
            </a:pPr>
            <a:endParaRPr dirty="0"/>
          </a:p>
        </p:txBody>
      </p:sp>
      <p:sp>
        <p:nvSpPr>
          <p:cNvPr id="16" name="Oval 15"/>
          <p:cNvSpPr/>
          <p:nvPr/>
        </p:nvSpPr>
        <p:spPr>
          <a:xfrm>
            <a:off x="457200" y="466344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457200" y="466344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18" name="TextBox 17"/>
          <p:cNvSpPr txBox="1"/>
          <p:nvPr/>
        </p:nvSpPr>
        <p:spPr>
          <a:xfrm>
            <a:off x="1005840" y="4709160"/>
            <a:ext cx="10728655" cy="430887"/>
          </a:xfrm>
          <a:prstGeom prst="rect">
            <a:avLst/>
          </a:prstGeom>
          <a:noFill/>
        </p:spPr>
        <p:txBody>
          <a:bodyPr wrap="square">
            <a:spAutoFit/>
          </a:bodyPr>
          <a:lstStyle/>
          <a:p>
            <a:pPr>
              <a:defRPr sz="2200">
                <a:solidFill>
                  <a:srgbClr val="FFFFFF"/>
                </a:solidFill>
              </a:defRPr>
            </a:pPr>
            <a:r>
              <a:rPr lang="en-US" dirty="0"/>
              <a:t>✓ Slash commands</a:t>
            </a:r>
          </a:p>
        </p:txBody>
      </p:sp>
      <p:sp>
        <p:nvSpPr>
          <p:cNvPr id="19" name="Oval 18"/>
          <p:cNvSpPr/>
          <p:nvPr/>
        </p:nvSpPr>
        <p:spPr>
          <a:xfrm>
            <a:off x="457200" y="5486400"/>
            <a:ext cx="411480" cy="411480"/>
          </a:xfrm>
          <a:prstGeom prst="ellipse">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57200" y="5486400"/>
            <a:ext cx="411480" cy="411480"/>
          </a:xfrm>
          <a:prstGeom prst="rect">
            <a:avLst/>
          </a:prstGeom>
          <a:noFill/>
        </p:spPr>
        <p:txBody>
          <a:bodyPr wrap="none" anchor="ctr">
            <a:spAutoFit/>
          </a:bodyPr>
          <a:lstStyle/>
          <a:p>
            <a:pPr algn="ctr">
              <a:defRPr sz="2000" b="1">
                <a:solidFill>
                  <a:srgbClr val="0B0F1A"/>
                </a:solidFill>
              </a:defRPr>
            </a:pPr>
            <a:r>
              <a:t>v</a:t>
            </a:r>
          </a:p>
        </p:txBody>
      </p:sp>
      <p:sp>
        <p:nvSpPr>
          <p:cNvPr id="21" name="TextBox 20"/>
          <p:cNvSpPr txBox="1"/>
          <p:nvPr/>
        </p:nvSpPr>
        <p:spPr>
          <a:xfrm>
            <a:off x="1005840" y="5532120"/>
            <a:ext cx="10728655" cy="430887"/>
          </a:xfrm>
          <a:prstGeom prst="rect">
            <a:avLst/>
          </a:prstGeom>
          <a:noFill/>
        </p:spPr>
        <p:txBody>
          <a:bodyPr wrap="square">
            <a:spAutoFit/>
          </a:bodyPr>
          <a:lstStyle/>
          <a:p>
            <a:pPr>
              <a:defRPr sz="2200">
                <a:solidFill>
                  <a:srgbClr val="FFFFFF"/>
                </a:solidFill>
              </a:defRPr>
            </a:pPr>
            <a:r>
              <a:t>✓ </a:t>
            </a:r>
            <a:r>
              <a:rPr lang="en-US"/>
              <a:t>Security</a:t>
            </a:r>
            <a:endParaRPr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365760"/>
            <a:ext cx="11277295" cy="822960"/>
          </a:xfrm>
          <a:prstGeom prst="rect">
            <a:avLst/>
          </a:prstGeom>
          <a:noFill/>
        </p:spPr>
        <p:txBody>
          <a:bodyPr wrap="square">
            <a:spAutoFit/>
          </a:bodyPr>
          <a:lstStyle/>
          <a:p>
            <a:pPr>
              <a:defRPr sz="4000" b="1">
                <a:solidFill>
                  <a:srgbClr val="FFFFFF"/>
                </a:solidFill>
              </a:defRPr>
            </a:pPr>
            <a:r>
              <a:t>5 Common Mistakes (And How to Avoid Them)</a:t>
            </a:r>
          </a:p>
        </p:txBody>
      </p:sp>
      <p:sp>
        <p:nvSpPr>
          <p:cNvPr id="3" name="Rectangle 2"/>
          <p:cNvSpPr/>
          <p:nvPr/>
        </p:nvSpPr>
        <p:spPr>
          <a:xfrm>
            <a:off x="457200" y="1234440"/>
            <a:ext cx="1828800"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1463040"/>
            <a:ext cx="11277295" cy="4572000"/>
          </a:xfrm>
          <a:prstGeom prst="rect">
            <a:avLst/>
          </a:prstGeom>
          <a:noFill/>
        </p:spPr>
        <p:txBody>
          <a:bodyPr wrap="square">
            <a:spAutoFit/>
          </a:bodyPr>
          <a:lstStyle/>
          <a:p>
            <a:pPr>
              <a:spcBef>
                <a:spcPts val="800"/>
              </a:spcBef>
              <a:spcAft>
                <a:spcPts val="800"/>
              </a:spcAft>
              <a:defRPr sz="2200">
                <a:solidFill>
                  <a:srgbClr val="FFFFFF"/>
                </a:solidFill>
              </a:defRPr>
            </a:pPr>
            <a:r>
              <a:t>  Mistake 1: Context window overflow.</a:t>
            </a:r>
          </a:p>
          <a:p>
            <a:pPr>
              <a:spcBef>
                <a:spcPts val="800"/>
              </a:spcBef>
              <a:spcAft>
                <a:spcPts val="800"/>
              </a:spcAft>
              <a:defRPr sz="2200">
                <a:solidFill>
                  <a:srgbClr val="FFFFFF"/>
                </a:solidFill>
              </a:defRPr>
            </a:pPr>
            <a:r>
              <a:t>  Mistake 2: Correction spirals.</a:t>
            </a:r>
          </a:p>
          <a:p>
            <a:pPr>
              <a:spcBef>
                <a:spcPts val="800"/>
              </a:spcBef>
              <a:spcAft>
                <a:spcPts val="800"/>
              </a:spcAft>
              <a:defRPr sz="2200">
                <a:solidFill>
                  <a:srgbClr val="FFFFFF"/>
                </a:solidFill>
              </a:defRPr>
            </a:pPr>
            <a:r>
              <a:t>  Mistake 3: Forgotten guidelines.</a:t>
            </a:r>
          </a:p>
          <a:p>
            <a:pPr>
              <a:spcBef>
                <a:spcPts val="800"/>
              </a:spcBef>
              <a:spcAft>
                <a:spcPts val="800"/>
              </a:spcAft>
              <a:defRPr sz="2200">
                <a:solidFill>
                  <a:srgbClr val="FFFFFF"/>
                </a:solidFill>
              </a:defRPr>
            </a:pPr>
            <a:r>
              <a:t>  Mistake 4: Scope creep.</a:t>
            </a:r>
          </a:p>
          <a:p>
            <a:pPr>
              <a:spcBef>
                <a:spcPts val="800"/>
              </a:spcBef>
              <a:spcAft>
                <a:spcPts val="800"/>
              </a:spcAft>
              <a:defRPr sz="2200">
                <a:solidFill>
                  <a:srgbClr val="FFFFFF"/>
                </a:solidFill>
              </a:defRPr>
            </a:pPr>
            <a:r>
              <a:t>  Mistake 5: Vibe coding.</a:t>
            </a:r>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rgbClr val="0B0F1A"/>
        </a:solidFill>
        <a:effectLst/>
      </p:bgPr>
    </p:bg>
    <p:spTree>
      <p:nvGrpSpPr>
        <p:cNvPr id="1" name=""/>
        <p:cNvGrpSpPr/>
        <p:nvPr/>
      </p:nvGrpSpPr>
      <p:grpSpPr>
        <a:xfrm>
          <a:off x="0" y="0"/>
          <a:ext cx="0" cy="0"/>
          <a:chOff x="0" y="0"/>
          <a:chExt cx="0" cy="0"/>
        </a:xfrm>
      </p:grpSpPr>
      <p:sp>
        <p:nvSpPr>
          <p:cNvPr id="2" name="TextBox 1"/>
          <p:cNvSpPr txBox="1"/>
          <p:nvPr/>
        </p:nvSpPr>
        <p:spPr>
          <a:xfrm>
            <a:off x="457200" y="2286000"/>
            <a:ext cx="11277295" cy="2286000"/>
          </a:xfrm>
          <a:prstGeom prst="rect">
            <a:avLst/>
          </a:prstGeom>
          <a:noFill/>
        </p:spPr>
        <p:txBody>
          <a:bodyPr wrap="square">
            <a:spAutoFit/>
          </a:bodyPr>
          <a:lstStyle/>
          <a:p>
            <a:pPr algn="ctr">
              <a:defRPr sz="8000" b="1">
                <a:solidFill>
                  <a:srgbClr val="00D4AA"/>
                </a:solidFill>
              </a:defRPr>
            </a:pPr>
            <a:r>
              <a:t>Thank You!</a:t>
            </a:r>
          </a:p>
        </p:txBody>
      </p:sp>
      <p:sp>
        <p:nvSpPr>
          <p:cNvPr id="3" name="Rectangle 2"/>
          <p:cNvSpPr/>
          <p:nvPr/>
        </p:nvSpPr>
        <p:spPr>
          <a:xfrm>
            <a:off x="0" y="4754880"/>
            <a:ext cx="12191695" cy="36576"/>
          </a:xfrm>
          <a:prstGeom prst="rect">
            <a:avLst/>
          </a:prstGeom>
          <a:solidFill>
            <a:srgbClr val="00D4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457200" y="5029200"/>
            <a:ext cx="11277295" cy="457200"/>
          </a:xfrm>
          <a:prstGeom prst="rect">
            <a:avLst/>
          </a:prstGeom>
          <a:noFill/>
        </p:spPr>
        <p:txBody>
          <a:bodyPr wrap="none">
            <a:spAutoFit/>
          </a:bodyPr>
          <a:lstStyle/>
          <a:p>
            <a:pPr algn="r">
              <a:defRPr sz="2000">
                <a:solidFill>
                  <a:srgbClr val="8B95A5"/>
                </a:solidFill>
              </a:defRPr>
            </a:pPr>
            <a:r>
              <a:t>- © 2026 AIA Copilot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29</TotalTime>
  <Words>18494</Words>
  <Application>Microsoft Office PowerPoint</Application>
  <PresentationFormat>Widescreen</PresentationFormat>
  <Paragraphs>1549</Paragraphs>
  <Slides>104</Slides>
  <Notes>102</Notes>
  <HiddenSlides>8</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104</vt:i4>
      </vt:variant>
    </vt:vector>
  </HeadingPairs>
  <TitlesOfParts>
    <vt:vector size="109" baseType="lpstr">
      <vt:lpstr>Anthropic Sans</vt: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Scott Hay</cp:lastModifiedBy>
  <cp:revision>1</cp:revision>
  <dcterms:created xsi:type="dcterms:W3CDTF">2013-01-27T09:14:16Z</dcterms:created>
  <dcterms:modified xsi:type="dcterms:W3CDTF">2026-03-05T21:14:12Z</dcterms:modified>
  <cp:category/>
</cp:coreProperties>
</file>