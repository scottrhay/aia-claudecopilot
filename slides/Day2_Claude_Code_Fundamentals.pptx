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2! Yesterday you learned to talk to Claude - today you'll learn to build with it. By the end of this session, Claude Code will feel like having a senior developer pair programming with you.</a:t>
            </a:r>
          </a:p>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p>
            <a:r>
              <a:t>REAL-WORLD EXAMPLE:</a:t>
            </a:r>
          </a:p>
          <a:p>
            <a:r>
              <a:t>   One of our developers used Claude Code last week to refactor 47 files in a legacy codebase in under 30 minutes - something that would have taken days manually. That's the power we're unlocking today.</a:t>
            </a:r>
          </a:p>
          <a:p/>
          <a:p>
            <a:r>
              <a:t>TRANSITION:</a:t>
            </a:r>
          </a:p>
          <a:p>
            <a:r>
              <a:t>   Let's look at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 a packed day, but every minute is hands-on and practical - no theoretical fluff.</a:t>
            </a:r>
          </a:p>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p>
            <a:r>
              <a:t>REAL-WORLD EXAMPLE:</a:t>
            </a:r>
          </a:p>
          <a:p>
            <a:r>
              <a:t>   I've trained over 200 developers on Claude Code. The ones who grasp the agentic loop in the morning hit the ground running. The ones who skip it struggle for weeks.</a:t>
            </a:r>
          </a:p>
          <a:p/>
          <a:p>
            <a:r>
              <a:t>TRANSITION:</a:t>
            </a:r>
          </a:p>
          <a:p>
            <a:r>
              <a:t>   Let's talk about what you'll actually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Nine objectives today. This might look intimidating, but they build on each other logically. By lunch you'll have five of these checked off.</a:t>
            </a:r>
          </a:p>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p>
            <a:r>
              <a:t>TRANSITION:</a:t>
            </a:r>
          </a:p>
          <a:p>
            <a:r>
              <a:t>   Here's what you'll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These aren't tutorial projects. These are the exact types of tasks you'll do next week at your desk.</a:t>
            </a:r>
          </a:p>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p>
            <a:r>
              <a:t>TRANSITION:</a:t>
            </a:r>
          </a:p>
          <a:p>
            <a:r>
              <a:t>   Before we dive into installation, let's make sure we're all on the same page about what Claude Code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p>
            <a:r>
              <a:t>ASK THE CLASS:</a:t>
            </a:r>
          </a:p>
          <a:p>
            <a:r>
              <a:t>   "How many hours per week do you spend copy-pasting context into AI tools? What if that went to zero?"</a:t>
            </a:r>
          </a:p>
          <a:p>
            <a:r>
              <a:t>   [PAUSE for 30-60 seconds]</a:t>
            </a:r>
          </a:p>
          <a:p/>
          <a:p>
            <a:r>
              <a:t>REAL-WORLD EXAMPLE:</a:t>
            </a:r>
          </a:p>
          <a:p>
            <a:r>
              <a:t>   A PM creates a folder with competitors.md, analysis-template.md, and CLAUDE.md with instructions. Types 'analyse competitors' — Claude Code does the research automatically using folder context. No copy-pasting.</a:t>
            </a:r>
          </a:p>
          <a:p/>
          <a:p>
            <a:r>
              <a:t>TRANSITION:</a:t>
            </a:r>
          </a:p>
          <a:p>
            <a:r>
              <a:t>   Let's get Claude Code installed so you can experience this shift firsthand.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Before we dive in, let's set expectations. Claude Code is incredibly powerful, but it's not replacing your engineering team. Think of it as letting you validate before consuming engineering resources.</a:t>
            </a:r>
          </a:p>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p>
            <a:r>
              <a:t>ASK THE CLASS:</a:t>
            </a:r>
          </a:p>
          <a:p>
            <a:r>
              <a:t>   "Have you ever had an idea killed in committee that might have survived if you could show a working prototype?"</a:t>
            </a:r>
          </a:p>
          <a:p>
            <a:r>
              <a:t>   [PAUSE for 30-60 seconds]</a:t>
            </a:r>
          </a:p>
          <a:p/>
          <a:p>
            <a:r>
              <a:t>REAL-WORLD EXAMPLE:</a:t>
            </a:r>
          </a:p>
          <a:p>
            <a:r>
              <a:t>   CEO asks 'can we build X?' — PM prototypes in 2 hours with Claude Code — shows CEO working demo — engineering sees clear requirements — estimate drops from 3 weeks to 1 week.</a:t>
            </a:r>
          </a:p>
          <a:p/>
          <a:p>
            <a:r>
              <a:t>TRANSITION:</a:t>
            </a:r>
          </a:p>
          <a:p>
            <a:r>
              <a:t>   Now let's get set up so you can start building prototypes like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address the elephant in the room: how does Claude Code compare to Copilot, Cursor, and Amazon Q? They're not the same category of tool.</a:t>
            </a:r>
          </a:p>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p>
            <a:r>
              <a:t>ASK THE CLASS:</a:t>
            </a:r>
          </a:p>
          <a:p>
            <a:r>
              <a:t>   "How many of you use Copilot today? What tasks does it handle well, and where do you hit limits?"</a:t>
            </a:r>
          </a:p>
          <a:p>
            <a:r>
              <a:t>   [PAUSE for 30-60 seconds]</a:t>
            </a:r>
          </a:p>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p>
            <a:r>
              <a:t>TRANSITION:</a:t>
            </a:r>
          </a:p>
          <a:p>
            <a:r>
              <a:t>   Now that you understand what makes Claude Code different, let's explore the memory architecture that powers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p>
            <a:r>
              <a:t>ASK THE CLASS:</a:t>
            </a:r>
          </a:p>
          <a:p>
            <a:r>
              <a:t>   "Think about how you study for an exam. You review notes repeatedly to move them from short-term to long-term memory. How would you do the same for Claude?"</a:t>
            </a:r>
          </a:p>
          <a:p>
            <a:r>
              <a:t>   [PAUSE for 30-60 seconds]</a:t>
            </a:r>
          </a:p>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p>
            <a:r>
              <a:t>TRANSITION:</a:t>
            </a:r>
          </a:p>
          <a:p>
            <a:r>
              <a:t>   With this model in mind, let's get Claude Code installed and see these memory systems in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Installation is quick, but configuration is where the magic happens. We'll do both.</a:t>
            </a:r>
          </a:p>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p>
            <a:r>
              <a:t>TRANSITION:</a:t>
            </a:r>
          </a:p>
          <a:p>
            <a:r>
              <a:t>   First, let's check if your machine is ready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Everyone pull up a terminal right now and type 'node --version' - I'll wait. If you see a number starting with 18, 20, or 22, you're golden.</a:t>
            </a:r>
          </a:p>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p>
            <a:r>
              <a:t>ASK THE CLASS:</a:t>
            </a:r>
          </a:p>
          <a:p>
            <a:r>
              <a:t>   "Anyone stuck on the Node or Git version check? Speak up now - we'll get you sorted."</a:t>
            </a:r>
          </a:p>
          <a:p>
            <a:r>
              <a:t>   [PAUSE for 30-60 seconds]</a:t>
            </a:r>
          </a:p>
          <a:p/>
          <a:p>
            <a:r>
              <a:t>REAL-WORLD EXAMPLE:</a:t>
            </a:r>
          </a:p>
          <a:p>
            <a:r>
              <a:t>   I've had students try to run Claude Code on Node 16 and wonder why commands fail intermittently. The minimum version exists for a reason - async behavior and module resolution changed significantly in Node 18.</a:t>
            </a:r>
          </a:p>
          <a:p/>
          <a:p>
            <a:r>
              <a:t>TRANSITION:</a:t>
            </a:r>
          </a:p>
          <a:p>
            <a:r>
              <a:t>   Assuming we're all good on requirements, let's install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Three ways to install, but I'm going to tell you which one to use: npm global install. Here's why.</a:t>
            </a:r>
          </a:p>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p>
            <a:r>
              <a:t>ASK THE CLASS:</a:t>
            </a:r>
          </a:p>
          <a:p>
            <a:r>
              <a:t>   "Who's installing right now? Give me a thumbs up in chat when you see a version number."</a:t>
            </a:r>
          </a:p>
          <a:p>
            <a:r>
              <a:t>   [PAUSE for 30-60 seconds]</a:t>
            </a:r>
          </a:p>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p>
            <a:r>
              <a:t>TRANSITION:</a:t>
            </a:r>
          </a:p>
          <a:p>
            <a:r>
              <a:t>   You've got the CLI installed - now let's authenticate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p>
            <a:r>
              <a:t>TRANSITION:</a:t>
            </a:r>
          </a:p>
          <a:p>
            <a:r>
              <a:t>   Whether you use terminal or desktop, the first step is the same — let's walk through your first command.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p>
            <a:r>
              <a:t>TRANSITION:</a:t>
            </a:r>
          </a:p>
          <a:p>
            <a:r>
              <a:t>   Now let's run our first real command and see Claude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Authentication is a one-time thing, but you need to understand where your API key lives and how Claude Code uses it.</a:t>
            </a:r>
          </a:p>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p>
            <a:r>
              <a:t>ASK THE CLASS:</a:t>
            </a:r>
          </a:p>
          <a:p>
            <a:r>
              <a:t>   "Everyone run 'claude login' and 'claude whoami' right now - I want to see your account email appear. If it fails, you might have firewall or proxy issues."</a:t>
            </a:r>
          </a:p>
          <a:p>
            <a:r>
              <a:t>   [PAUSE for 30-60 seconds]</a:t>
            </a:r>
          </a:p>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p>
            <a:r>
              <a:t>TRANSITION:</a:t>
            </a:r>
          </a:p>
          <a:p>
            <a:r>
              <a:t>   Now that you're authenticated, let's talk about which model to 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Model selection is like choosing between a Honda Civic, a BMW, and a Tesla - they all get you there, but the experience and cost differ wildly.</a:t>
            </a:r>
          </a:p>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p>
            <a:r>
              <a:t>ASK THE CLASS:</a:t>
            </a:r>
          </a:p>
          <a:p>
            <a:r>
              <a:t>   "What kind of tasks do you do most often - quick refactoring and docs, or deep architectural work? That'll guide your default model choice."</a:t>
            </a:r>
          </a:p>
          <a:p>
            <a:r>
              <a:t>   [PAUSE for 30-60 seconds]</a:t>
            </a:r>
          </a:p>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p>
            <a:r>
              <a:t>TRANSITION:</a:t>
            </a:r>
          </a:p>
          <a:p>
            <a:r>
              <a:t>   Let's run your first Claude Code command and see this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Alright, talking time is over - let's actually see Claude Code do something. Everyone follow along on your own machine.</a:t>
            </a:r>
          </a:p>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p>
            <a:r>
              <a:t>REAL-WORLD EXAMPLE:</a:t>
            </a:r>
          </a:p>
          <a:p>
            <a:r>
              <a:t>   This is a trivial example, but the pattern is identical whether you're creating a single hello world script or refactoring 50 files - read, plan, execute, verify. You just saw the entire agentic loop in 10 seconds.</a:t>
            </a:r>
          </a:p>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p>
            <a:r>
              <a:t>TRANSITION:</a:t>
            </a:r>
          </a:p>
          <a:p>
            <a:r>
              <a:t>   That was your first taste - now let's dive deep into how the agentic loop actually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This is the most important section of the entire day. If you understand the agentic loop, everything else will click. If you don't, you'll be fighting the tool constantly.</a:t>
            </a:r>
          </a:p>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p>
            <a:r>
              <a:t>TRANSITION:</a:t>
            </a:r>
          </a:p>
          <a:p>
            <a:r>
              <a:t>   Let's visualize the loop first, then break down each stage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 it is - the five-stage cycle that powers every single action Claude Code takes. This graphic should be burned into your brain by end of day.</a:t>
            </a:r>
          </a:p>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p>
            <a:r>
              <a:t>ASK THE CLASS:</a:t>
            </a:r>
          </a:p>
          <a:p>
            <a:r>
              <a:t>   "When you debug code manually, do you follow a similar loop? Read code, understand it, plan a fix, implement it, test it? Claude Code is doing the exact same thing you do, just faster."</a:t>
            </a:r>
          </a:p>
          <a:p>
            <a:r>
              <a:t>   [PAUSE for 30-60 seconds]</a:t>
            </a:r>
          </a:p>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p>
            <a:r>
              <a:t>TRANSITION:</a:t>
            </a:r>
          </a:p>
          <a:p>
            <a:r>
              <a:t>   Let's break down stage one: Read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Read stage is where Claude Code builds its understanding of your project - think of it as the AI reading your entire codebase before touching anything.</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Analysis is where Claude Code gets smart - it's not just seeing your code, it's understanding your code's personality and quirks.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Planning is where Claude Code thinks like a senior engineer - it's not just doing what you asked, it's figuring out the safest, smartest way to do it.</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Execute is where the rubber meets the road - Claude Code stops planning and starts making changes to your actual files.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Verification is Claude Code's quality control - it doesn't just make changes and hope they work, it actively checks that everything is good before calling it done.</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p>
            <a:r>
              <a:t>ASK THE CLASS:</a:t>
            </a:r>
          </a:p>
          <a:p>
            <a:r>
              <a:t>   "Think about the last time you tried to implement a complex feature all at once. How much easier would it have been if you'd broken it into 5 testable steps?"</a:t>
            </a:r>
          </a:p>
          <a:p>
            <a:r>
              <a:t>   [PAUSE for 30-60 seconds]</a:t>
            </a:r>
          </a:p>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Okay, I'm going to run a real task and we're going to pause at each stage so you can see the loop in action. This is not a rehearsed demo - whatever happens, happens.</a:t>
            </a:r>
          </a:p>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p>
            <a:r>
              <a:t>REAL-WORLD EXAMPLE:</a:t>
            </a:r>
          </a:p>
          <a:p>
            <a:r>
              <a:t>   Every single task follows this loop, no matter how simple or complex. The difference is speed - simple tasks complete in one iteration, complex tasks might loop 3-4 times.</a:t>
            </a:r>
          </a:p>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p>
            <a:r>
              <a:t>TRANSITION:</a:t>
            </a:r>
          </a:p>
          <a:p>
            <a:r>
              <a:t>   The loop doesn't always work perfectly - let's talk about what happens when things go wrong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but not magic - it can fail, and when it does, you need to know how to get it back on track. Let's talk about the most common failure modes.</a:t>
            </a:r>
          </a:p>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p>
            <a:r>
              <a:t>TRANSITION:</a:t>
            </a:r>
          </a:p>
          <a:p>
            <a:r>
              <a:t>   Now that you understand the engine, let's talk about how to configure it with CLAUDE.md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CLAUDE.md is the secret weapon of advanced Claude Code users - it's how you train Claude Code to work exactly the way your team works.</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Imagine a new developer joining your team. You'd give them a README, style guide, contribution guidelines, right? CLAUDE.md is all of that, but for Claude Code.</a:t>
            </a:r>
          </a:p>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a minimal but effective CLAUDE.md - it gives Claude Code everything it needs to work like a team member who's been here for months.</a:t>
            </a:r>
          </a:p>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p>
            <a:r>
              <a:t>ASK THE CLASS:</a:t>
            </a:r>
          </a:p>
          <a:p>
            <a:r>
              <a:t>   "What's one convention or rule in your current project that new developers always get wrong initially? That's exactly what should go in CLAUDE.md."</a:t>
            </a:r>
          </a:p>
          <a:p>
            <a:r>
              <a:t>   [PAUSE for 30-60 seconds]</a:t>
            </a:r>
          </a:p>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p>
            <a:r>
              <a:t>TRANSITION:</a:t>
            </a:r>
          </a:p>
          <a:p>
            <a:r>
              <a:t>   Beyond conventions, CLAUDE.md can include team settings and style guides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Team Settings &amp; Style Guides.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Advanced: Model Preferences &amp; Custom Rules.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p>
            <a:r>
              <a:t>ASK THE CLASS:</a:t>
            </a:r>
          </a:p>
          <a:p>
            <a:r>
              <a:t>   "What context do you find yourself repeating to AI tools? That's what belongs in your CLAUDE.md."</a:t>
            </a:r>
          </a:p>
          <a:p>
            <a:r>
              <a:t>   [PAUSE for 30-60 seconds]</a:t>
            </a:r>
          </a:p>
          <a:p/>
          <a:p>
            <a:r>
              <a:t>DEMO:</a:t>
            </a:r>
          </a:p>
          <a:p>
            <a:r>
              <a:t>   Show a PM-focused CLAUDE.md: product context, competitors, templates. Then ask Claude to analyze a competitor — watch it use the context automatically without being told.</a:t>
            </a:r>
          </a:p>
          <a:p/>
          <a:p>
            <a:r>
              <a:t>TRANSITION:</a:t>
            </a:r>
          </a:p>
          <a:p>
            <a:r>
              <a:t>   Let's see how @ mentions let you point Claude at specific files and folders.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CLAUDE.md Best Practices.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p>
            <a:r>
              <a:t>TRANSITION:</a:t>
            </a:r>
          </a:p>
          <a:p>
            <a:r>
              <a:t>   Now let's see how @ mentions let you feed specific context beyond CLAUDE.md.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Your CLAUDE.md doesn't just define project context — it controls Claude's behavior. There are 12 tested behavior templates you can paste in right now. I've grouped them into three working styles.</a:t>
            </a:r>
          </a:p>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p>
            <a:r>
              <a:t>ASK THE CLASS:</a:t>
            </a:r>
          </a:p>
          <a:p>
            <a:r>
              <a:t>   "Which working style matches you — fast and autonomous, or careful and controlled? Why?"</a:t>
            </a:r>
          </a:p>
          <a:p>
            <a:r>
              <a:t>   [PAUSE for 30-60 seconds]</a:t>
            </a:r>
          </a:p>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 have been talking about CLAUDE.md as if there is one file. There are actually six layers of memory, and understanding the hierarchy is what separates someone who uses Claude Code from someone who runs a team on it.</a:t>
            </a:r>
          </a:p>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p>
            <a:r>
              <a:t>TRANSITION:</a:t>
            </a:r>
          </a:p>
          <a:p>
            <a:r>
              <a:t>   Let me show you the auto memory system, because this one surprises most people.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p>
            <a:r>
              <a:t>TRANSITION:</a:t>
            </a:r>
          </a:p>
          <a:p>
            <a:r>
              <a:t>   Let me show you the /memory command that ties all of this together.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The /memory command is your dashboard for all of Claude's memory. Run it and you see every memory file across all layers — managed, project, user, local, and auto memory. You can open and edit any of them right from the selector.</a:t>
            </a:r>
          </a:p>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p>
            <a:r>
              <a:t>TRANSITION:</a:t>
            </a:r>
          </a:p>
          <a:p>
            <a:r>
              <a:t>   Now let me show you all of this in action with a demo.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how folder-based context eliminates copy-pasting entirely.</a:t>
            </a:r>
          </a:p>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p>
            <a:r>
              <a:t>DEMO:</a:t>
            </a:r>
          </a:p>
          <a:p>
            <a:r>
              <a:t>   Pre-create a competitors/ folder with competitors.md (3 real competitors), analysis-template.md (SWOT or similar), and CLAUDE.md with routing instructions. Run the command live. Show the generated output.</a:t>
            </a:r>
          </a:p>
          <a:p/>
          <a:p>
            <a:r>
              <a:t>TRANSITION:</a:t>
            </a:r>
          </a:p>
          <a:p>
            <a:r>
              <a:t>   That's the power of file-based context. Let's dig deeper into how context management works.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Mentions &amp; Context Feeding.</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Mentioning Files.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Folders, URLs, Git Commits.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Building Context: Focused vs Broad.</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Feeding Techniques.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Alright, we've covered installation, the agentic loop, CLAUDE.md, and @ mentions - that's a lot of concepts. Take 15 minutes, grab coffee, stretch your legs.</a:t>
            </a:r>
          </a:p>
          <a:p/>
          <a:p>
            <a:r>
              <a:t>KEY POINTS:</a:t>
            </a:r>
          </a:p>
          <a:p>
            <a:r>
              <a:t>   * When we come back, we're diving into context management and token limits - this is where people often get stuck</a:t>
            </a:r>
          </a:p>
          <a:p/>
          <a:p>
            <a:r>
              <a:t>TRANSITION:</a:t>
            </a:r>
          </a:p>
          <a:p>
            <a:r>
              <a:t>   See you in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Management.</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How Claude Code Reads Your Workspace.</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What's in Context Right Now.</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Token limits are rarely a problem if you understand what burns tokens and how to avoid it. Let's talk about the common culprits and fixes.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uses the exact same syntax as .gitignore - if you know one, you know the other. Let's look at essential patterns.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working on a codebase with 1000+ files, you need strategies beyond .claudeignore.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p>
            <a:r>
              <a:t>TRANSITION:</a:t>
            </a:r>
          </a:p>
          <a:p>
            <a:r>
              <a:t>   Now let's optimize your context management with a hands-on demo.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 me show you a real scenario - I'm going to optimize context and watch tokens drop.</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Welcome back from lunch! This afternoon is all about power user features. We're starting with slash commands - these are your session control panel.</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There are about 15 slash commands total - you don't need to memorize them all, but knowing these core ones makes you way more effective.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These three commands control your session state - think of them as save, reset, and optimize.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Being able to switch models mid-session is like having three different experts on call - you pick the right one for the job at hand.</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Permissions are your safety net - they control how much autonomy Claude Code has.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Output control commands let you adjust how much or how little Claude Code tells you.</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next-level - you can create your own slash commands that encode your team's common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Alright, I'm going to run through a rapid-fire demo of the most useful commands in one session.</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p>
            <a:r>
              <a:t>ASK THE CLASS:</a:t>
            </a:r>
          </a:p>
          <a:p>
            <a:r>
              <a:t>   "How many times have you asked an AI to do something and it changed files you didn't expect?"</a:t>
            </a:r>
          </a:p>
          <a:p>
            <a:r>
              <a:t>   [PAUSE for 30-60 seconds]</a:t>
            </a:r>
          </a:p>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p>
            <a:r>
              <a:t>TRANSITION:</a:t>
            </a:r>
          </a:p>
          <a:p>
            <a:r>
              <a:t>   Let me show you the difference in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the difference between asking Claude to just DO something versus asking it to PLAN first.</a:t>
            </a:r>
          </a:p>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p>
            <a:r>
              <a:t>DEMO:</a:t>
            </a:r>
          </a:p>
          <a:p>
            <a:r>
              <a:t>   Use sample-project. First attempt: 'Add JWT authentication to this API' without planning. Show the mess. Then /clear, Shift+Tab, same prompt. Show the clean plan. Approve and execute.</a:t>
            </a:r>
          </a:p>
          <a:p/>
          <a:p>
            <a:r>
              <a:t>TRANSITION:</a:t>
            </a:r>
          </a:p>
          <a:p>
            <a:r>
              <a:t>   Plan Mode is your first line of defense. Now let's talk about another pattern that prevents wasted work.</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Not everything needs Plan Mode. Here's the rule of thumb: if a task would take a senior engineer more than one focused session to think through, it needs planning. If you can verify the result in 10 seconds, skip it.</a:t>
            </a:r>
          </a:p>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p>
            <a:r>
              <a:t>TRANSITION:</a:t>
            </a:r>
          </a:p>
          <a:p>
            <a:r>
              <a:t>   Now let's talk about another powerful pattern — the Interview Me technique.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p>
            <a:r>
              <a:t>ASK THE CLASS:</a:t>
            </a:r>
          </a:p>
          <a:p>
            <a:r>
              <a:t>   "Think about your last feature build. What questions SHOULD you have answered upfront but discovered the hard way?"</a:t>
            </a:r>
          </a:p>
          <a:p>
            <a:r>
              <a:t>   [PAUSE for 30-60 seconds]</a:t>
            </a:r>
          </a:p>
          <a:p/>
          <a:p>
            <a:r>
              <a:t>DEMO:</a:t>
            </a:r>
          </a:p>
          <a:p>
            <a:r>
              <a:t>   Live: Tell Claude 'I want to add a notification system to this API. Interview me about implementation details.' Show Claude asking 3-4 probing questions. Answer them. Watch Claude generate SPEC.md.</a:t>
            </a:r>
          </a:p>
          <a:p/>
          <a:p>
            <a:r>
              <a:t>TRANSITION:</a:t>
            </a:r>
          </a:p>
          <a:p>
            <a:r>
              <a:t>   Now let's talk about the discipline that makes everything else work — session hygiene.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p>
            <a:r>
              <a:t>TRANSITION:</a:t>
            </a:r>
          </a:p>
          <a:p>
            <a:r>
              <a:t>   So what does a good spec actually look like? Let me show you a framework.</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the same task, two ways. On the left is how most people talk to Claude Code. On the right is how power users talk to Claude Code. The tool is identical. The output quality is completely different.</a:t>
            </a:r>
          </a:p>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p>
            <a:r>
              <a:t>TRANSITION:</a:t>
            </a:r>
          </a:p>
          <a:p>
            <a:r>
              <a:t>   Let me show you a real spec template that works for any Claude Code task.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the framework. Six questions. If you can answer all six before you talk to Claude Code, your output quality jumps dramatically. If you can't answer them, that's a signal — you're not ready to build yet.</a:t>
            </a:r>
          </a:p>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p>
            <a:r>
              <a:t>ASK THE CLASS:</a:t>
            </a:r>
          </a:p>
          <a:p>
            <a:r>
              <a:t>   "Think about the last task you gave to a junior developer or contractor. Did you answer all 6 questions? What happened with the parts you left ambiguous?"</a:t>
            </a:r>
          </a:p>
          <a:p>
            <a:r>
              <a:t>   [PAUSE for 30-60 seconds]</a:t>
            </a:r>
          </a:p>
          <a:p/>
          <a:p>
            <a:r>
              <a:t>TRANSITION:</a:t>
            </a:r>
          </a:p>
          <a:p>
            <a:r>
              <a:t>   Let's see this in practice with a real spec that drives a Claude Code session.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OPEN WITH:</a:t>
            </a:r>
          </a:p>
          <a:p>
            <a:r>
              <a:t>   Let me show you this live. I'm going to write a spec using the 6-question framework, then give it to Claude Code. Watch the difference in output quality.</a:t>
            </a:r>
          </a:p>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p>
            <a:r>
              <a:t>DEMO:</a:t>
            </a:r>
          </a:p>
          <a:p>
            <a:r>
              <a:t>   If time is tight, show the spec on screen and walk through it verbally rather than live-coding both versions.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p>
            <a:r>
              <a:t>ASK THE CLASS:</a:t>
            </a:r>
          </a:p>
          <a:p>
            <a:r>
              <a:t>   "How many of you have had Claude 'forget' what you told it 20 messages ago? That's context degradation."</a:t>
            </a:r>
          </a:p>
          <a:p>
            <a:r>
              <a:t>   [PAUSE for 30-60 seconds]</a:t>
            </a:r>
          </a:p>
          <a:p/>
          <a:p>
            <a:r>
              <a:t>DEMO:</a:t>
            </a:r>
          </a:p>
          <a:p>
            <a:r>
              <a:t>   Do 4 quick unrelated tasks in one session without clearing. Show response quality dropping on task 4. Then /clear, redo task 4, show dramatic quality improvement.</a:t>
            </a:r>
          </a:p>
          <a:p/>
          <a:p>
            <a:r>
              <a:t>TRANSITION:</a:t>
            </a:r>
          </a:p>
          <a:p>
            <a:r>
              <a:t>   Now let's look at the permissions model that keeps your code safe.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p>
            <a:r>
              <a:t>TRANSITION:</a:t>
            </a:r>
          </a:p>
          <a:p>
            <a:r>
              <a:t>   This decomposition discipline applies to everything we'll do today. Now let's set up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which means you need guardrails. This section is about building safe AI workflows.</a:t>
            </a:r>
          </a:p>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Code's security model is based on trust-but-verify - you configure the level of trust based on risk.</a:t>
            </a:r>
          </a:p>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these as traffic lights - red for stop and review, yellow for caution, green for go fast.</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Allowlists and blocklists are like firewall rules for Claude Code.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isn't just for token optimization - it's a critical security tool that prevents Claude Code from ever seeing sensitive files.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in a regulated industry, enterprise security features ensure compliance.</a:t>
            </a:r>
          </a:p>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p>
            <a:r>
              <a:t>TRANSITION:</a:t>
            </a:r>
          </a:p>
          <a:p>
            <a:r>
              <a:t>   Let's configure these permissions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comes from Nate B Jones' 'Second Brain' video - the idea that AI assistants should be cautious by default, not reckless. Claude Code embodies this perfectly.</a:t>
            </a:r>
          </a:p>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Let's configure security boundaries and test them - I want you to see how these controls actually work.</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Quick 15-minute break.</a:t>
            </a:r>
          </a:p>
          <a:p/>
          <a:p>
            <a:r>
              <a:t>KEY POINTS:</a:t>
            </a:r>
          </a:p>
          <a:p>
            <a:r>
              <a:t>   * Git integration next</a:t>
            </a:r>
          </a:p>
          <a:p/>
          <a:p>
            <a:r>
              <a:t>TRANSITION:</a:t>
            </a:r>
          </a:p>
          <a:p>
            <a:r>
              <a:t>   Back in 15</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Git integration is where Claude Code shines.</a:t>
            </a:r>
          </a:p>
          <a:p/>
          <a:p>
            <a:r>
              <a:t>KEY POINTS:</a:t>
            </a:r>
          </a:p>
          <a:p>
            <a:r>
              <a:t>   * Manages entire workflow</a:t>
            </a:r>
          </a:p>
          <a:p/>
          <a:p>
            <a:r>
              <a:t>TRANSITION:</a:t>
            </a:r>
          </a:p>
          <a:p>
            <a:r>
              <a:t>   Auto-commits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writes better commit messages than most humans.</a:t>
            </a:r>
          </a:p>
          <a:p/>
          <a:p>
            <a:r>
              <a:t>KEY POINTS:</a:t>
            </a:r>
          </a:p>
          <a:p>
            <a:r>
              <a:t>   * Knows what changed and why</a:t>
            </a:r>
          </a:p>
          <a:p>
            <a:r>
              <a:t>   * Follows conventions</a:t>
            </a:r>
          </a:p>
          <a:p>
            <a:r>
              <a:t>   * Saves time</a:t>
            </a:r>
          </a:p>
          <a:p/>
          <a:p>
            <a:r>
              <a:t>REAL-WORLD EXAMPLE:</a:t>
            </a:r>
          </a:p>
          <a:p>
            <a:r>
              <a:t>   Student's commits went from 'fixes' to detailed feat/fix messages.</a:t>
            </a:r>
          </a:p>
          <a:p/>
          <a:p>
            <a:r>
              <a:t>TRANSITION:</a:t>
            </a:r>
          </a:p>
          <a:p>
            <a:r>
              <a:t>   Branch management next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Perfect branch names every time.</a:t>
            </a:r>
          </a:p>
          <a:p/>
          <a:p>
            <a:r>
              <a:t>KEY POINTS:</a:t>
            </a:r>
          </a:p>
          <a:p>
            <a:r>
              <a:t>   * Follows CLAUDE.md rules</a:t>
            </a:r>
          </a:p>
          <a:p>
            <a:r>
              <a:t>   * Consistent naming</a:t>
            </a:r>
          </a:p>
          <a:p>
            <a:r>
              <a:t>   * No mistakes</a:t>
            </a:r>
          </a:p>
          <a:p/>
          <a:p>
            <a:r>
              <a:t>REAL-WORLD EXAMPLE:</a:t>
            </a:r>
          </a:p>
          <a:p>
            <a:r>
              <a:t>   Team went from 60% to 100% naming compliance.</a:t>
            </a:r>
          </a:p>
          <a:p/>
          <a:p>
            <a:r>
              <a:t>TRANSITION:</a:t>
            </a:r>
          </a:p>
          <a:p>
            <a:r>
              <a:t>   Commit messages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Real commit messages from Claude Code.</a:t>
            </a:r>
          </a:p>
          <a:p/>
          <a:p>
            <a:r>
              <a:t>KEY POINTS:</a:t>
            </a:r>
          </a:p>
          <a:p>
            <a:r>
              <a:t>   * Detailed and structured</a:t>
            </a:r>
          </a:p>
          <a:p>
            <a:r>
              <a:t>   * Explains what and why</a:t>
            </a:r>
          </a:p>
          <a:p>
            <a:r>
              <a:t>   * Searchable history</a:t>
            </a:r>
          </a:p>
          <a:p/>
          <a:p>
            <a:r>
              <a:t>REAL-WORLD EXAMPLE:</a:t>
            </a:r>
          </a:p>
          <a:p>
            <a:r>
              <a:t>   Developer found bug fix in seconds by searching 'refactor(database)'.</a:t>
            </a:r>
          </a:p>
          <a:p/>
          <a:p>
            <a:r>
              <a:t>TRANSITION:</a:t>
            </a:r>
          </a:p>
          <a:p>
            <a:r>
              <a:t>   PR creation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PR descriptions in seconds.</a:t>
            </a:r>
          </a:p>
          <a:p/>
          <a:p>
            <a:r>
              <a:t>KEY POINTS:</a:t>
            </a:r>
          </a:p>
          <a:p>
            <a:r>
              <a:t>   * What, why, how, testing</a:t>
            </a:r>
          </a:p>
          <a:p>
            <a:r>
              <a:t>   * Linked issues</a:t>
            </a:r>
          </a:p>
          <a:p>
            <a:r>
              <a:t>   * Checklist included</a:t>
            </a:r>
          </a:p>
          <a:p/>
          <a:p>
            <a:r>
              <a:t>REAL-WORLD EXAMPLE:</a:t>
            </a:r>
          </a:p>
          <a:p>
            <a:r>
              <a:t>   Junior dev's Claude-generated PR was called 'best-documented in months'.</a:t>
            </a:r>
          </a:p>
          <a:p/>
          <a:p>
            <a:r>
              <a:t>TRANSITION:</a:t>
            </a:r>
          </a:p>
          <a:p>
            <a:r>
              <a:t>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Git history analysis made easy.</a:t>
            </a:r>
          </a:p>
          <a:p/>
          <a:p>
            <a:r>
              <a:t>KEY POINTS:</a:t>
            </a:r>
          </a:p>
          <a:p>
            <a:r>
              <a:t>   * Answers 'who/when/why'</a:t>
            </a:r>
          </a:p>
          <a:p>
            <a:r>
              <a:t>   * Identifies patterns</a:t>
            </a:r>
          </a:p>
          <a:p>
            <a:r>
              <a:t>   * Generates changelogs</a:t>
            </a:r>
          </a:p>
          <a:p/>
          <a:p>
            <a:r>
              <a:t>REAL-WORLD EXAMPLE:</a:t>
            </a:r>
          </a:p>
          <a:p>
            <a:r>
              <a:t>   Found bug introduction by asking Claude Code to analyze history.</a:t>
            </a:r>
          </a:p>
          <a:p/>
          <a:p>
            <a:r>
              <a:t>TRANSITION:</a:t>
            </a:r>
          </a:p>
          <a:p>
            <a:r>
              <a:t>   Platform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Both platforms supported.</a:t>
            </a:r>
          </a:p>
          <a:p/>
          <a:p>
            <a:r>
              <a:t>KEY POINTS:</a:t>
            </a:r>
          </a:p>
          <a:p>
            <a:r>
              <a:t>   * Same concepts</a:t>
            </a:r>
          </a:p>
          <a:p>
            <a:r>
              <a:t>   * Syntax varies slightly</a:t>
            </a:r>
          </a:p>
          <a:p>
            <a:r>
              <a:t>   * Choose your platform</a:t>
            </a:r>
          </a:p>
          <a:p/>
          <a:p>
            <a:r>
              <a:t>REAL-WORLD EXAMPLE:</a:t>
            </a:r>
          </a:p>
          <a:p>
            <a:r>
              <a:t>   Team switched GitHub to GitLab, Claude Code config took 5 minutes.</a:t>
            </a:r>
          </a:p>
          <a:p/>
          <a:p>
            <a:r>
              <a:t>TRANSITION:</a:t>
            </a:r>
          </a:p>
          <a:p>
            <a:r>
              <a:t>   Complete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Complete Git workflow automated.</a:t>
            </a:r>
          </a:p>
          <a:p/>
          <a:p>
            <a:r>
              <a:t>KEY POINTS:</a:t>
            </a:r>
          </a:p>
          <a:p>
            <a:r>
              <a:t>   * End-to-end flow</a:t>
            </a:r>
          </a:p>
          <a:p>
            <a:r>
              <a:t>   * Everything connected</a:t>
            </a:r>
          </a:p>
          <a:p>
            <a:r>
              <a:t>   * Production-ready</a:t>
            </a:r>
          </a:p>
          <a:p/>
          <a:p>
            <a:r>
              <a:t>REAL-WORLD EXAMPLE:</a:t>
            </a:r>
          </a:p>
          <a:p>
            <a:r>
              <a:t>   This is the daily workflow.</a:t>
            </a:r>
          </a:p>
          <a:p/>
          <a:p>
            <a:r>
              <a:t>DEMO:</a:t>
            </a:r>
          </a:p>
          <a:p>
            <a:r>
              <a:t>   Live demo: create branch, implement feature, commit, push, create PR. All via Claude Code.</a:t>
            </a:r>
          </a:p>
          <a:p/>
          <a:p>
            <a:r>
              <a:t>TRANSITION:</a:t>
            </a:r>
          </a:p>
          <a:p>
            <a:r>
              <a:t>   File operations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Real workflows you'll use daily.</a:t>
            </a:r>
          </a:p>
          <a:p/>
          <a:p>
            <a:r>
              <a:t>KEY POINTS:</a:t>
            </a:r>
          </a:p>
          <a:p>
            <a:r>
              <a:t>   * Complete toolkit</a:t>
            </a:r>
          </a:p>
          <a:p/>
          <a:p>
            <a:r>
              <a:t>TRANSITION:</a:t>
            </a:r>
          </a:p>
          <a:p>
            <a:r>
              <a:t>   File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Precise file operations.</a:t>
            </a:r>
          </a:p>
          <a:p/>
          <a:p>
            <a:r>
              <a:t>KEY POINTS:</a:t>
            </a:r>
          </a:p>
          <a:p>
            <a:r>
              <a:t>   * Coordinated changes</a:t>
            </a:r>
          </a:p>
          <a:p>
            <a:r>
              <a:t>   * Dependency tracking</a:t>
            </a:r>
          </a:p>
          <a:p>
            <a:r>
              <a:t>   * Verification</a:t>
            </a:r>
          </a:p>
          <a:p/>
          <a:p>
            <a:r>
              <a:t>REAL-WORLD EXAMPLE:</a:t>
            </a:r>
          </a:p>
          <a:p>
            <a:r>
              <a:t>   Renamed function across 30 files flawlessly.</a:t>
            </a:r>
          </a:p>
          <a:p/>
          <a:p>
            <a:r>
              <a:t>TRANSITION:</a:t>
            </a:r>
          </a:p>
          <a:p>
            <a:r>
              <a:t>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Refactoring 10+ files is error-prone manually.</a:t>
            </a:r>
          </a:p>
          <a:p/>
          <a:p>
            <a:r>
              <a:t>KEY POINTS:</a:t>
            </a:r>
          </a:p>
          <a:p>
            <a:r>
              <a:t>   * Claude Code handles precision</a:t>
            </a:r>
          </a:p>
          <a:p>
            <a:r>
              <a:t>   * Updates imports</a:t>
            </a:r>
          </a:p>
          <a:p>
            <a:r>
              <a:t>   * Verifies changes</a:t>
            </a:r>
          </a:p>
          <a:p/>
          <a:p>
            <a:r>
              <a:t>REAL-WORLD EXAMPLE:</a:t>
            </a:r>
          </a:p>
          <a:p>
            <a:r>
              <a:t>   Split large class into 5 modules, updated all callers.</a:t>
            </a:r>
          </a:p>
          <a:p/>
          <a:p>
            <a:r>
              <a:t>TRANSITION:</a:t>
            </a:r>
          </a:p>
          <a:p>
            <a:r>
              <a:t>   Code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Why write boilerplate 100 times?</a:t>
            </a:r>
          </a:p>
          <a:p/>
          <a:p>
            <a:r>
              <a:t>KEY POINTS:</a:t>
            </a:r>
          </a:p>
          <a:p>
            <a:r>
              <a:t>   * CRUD generation</a:t>
            </a:r>
          </a:p>
          <a:p>
            <a:r>
              <a:t>   * API scaffolding</a:t>
            </a:r>
          </a:p>
          <a:p>
            <a:r>
              <a:t>   * Test templates</a:t>
            </a:r>
          </a:p>
          <a:p/>
          <a:p>
            <a:r>
              <a:t>REAL-WORLD EXAMPLE:</a:t>
            </a:r>
          </a:p>
          <a:p>
            <a:r>
              <a:t>   Generated 15 CRUD endpoints in 3 minutes.</a:t>
            </a:r>
          </a:p>
          <a:p/>
          <a:p>
            <a:r>
              <a:t>TRANSITION:</a:t>
            </a:r>
          </a:p>
          <a:p>
            <a:r>
              <a:t>   Debugging</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Same debugging process, but faster.</a:t>
            </a:r>
          </a:p>
          <a:p/>
          <a:p>
            <a:r>
              <a:t>KEY POINTS:</a:t>
            </a:r>
          </a:p>
          <a:p>
            <a:r>
              <a:t>   * Systematic approach</a:t>
            </a:r>
          </a:p>
          <a:p>
            <a:r>
              <a:t>   * Tests added</a:t>
            </a:r>
          </a:p>
          <a:p>
            <a:r>
              <a:t>   * Documented</a:t>
            </a:r>
          </a:p>
          <a:p/>
          <a:p>
            <a:r>
              <a:t>REAL-WORLD EXAMPLE:</a:t>
            </a:r>
          </a:p>
          <a:p>
            <a:r>
              <a:t>   Found race condition in 5 minutes after 2 hours stuck.</a:t>
            </a:r>
          </a:p>
          <a:p/>
          <a:p>
            <a:r>
              <a:t>TRANSITION:</a:t>
            </a:r>
          </a:p>
          <a:p>
            <a:r>
              <a:t>   Test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p>
            <a:r>
              <a:t>ASK THE CLASS:</a:t>
            </a:r>
          </a:p>
          <a:p>
            <a:r>
              <a:t>   "Look at your current to-do list. How many items are vague goals vs concrete next actions? Try rephrasing one goal as a next action and see how much clearer it becomes."</a:t>
            </a:r>
          </a:p>
          <a:p>
            <a:r>
              <a:t>   [PAUSE for 30-60 seconds]</a:t>
            </a:r>
          </a:p>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p>
            <a:r>
              <a:t>TRANSITION:</a:t>
            </a:r>
          </a:p>
          <a:p>
            <a:r>
              <a:t>   Next actions are the unit of execution - now let's move to wrapping up the development workflows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tests automatically.</a:t>
            </a:r>
          </a:p>
          <a:p/>
          <a:p>
            <a:r>
              <a:t>KEY POINTS:</a:t>
            </a:r>
          </a:p>
          <a:p>
            <a:r>
              <a:t>   * Multiple test types</a:t>
            </a:r>
          </a:p>
          <a:p>
            <a:r>
              <a:t>   * High coverage</a:t>
            </a:r>
          </a:p>
          <a:p>
            <a:r>
              <a:t>   * Well-named</a:t>
            </a:r>
          </a:p>
          <a:p/>
          <a:p>
            <a:r>
              <a:t>REAL-WORLD EXAMPLE:</a:t>
            </a:r>
          </a:p>
          <a:p>
            <a:r>
              <a:t>   Added feature with full tests, no manual test writing.</a:t>
            </a:r>
          </a:p>
          <a:p/>
          <a:p>
            <a:r>
              <a:t>TRANSITION:</a:t>
            </a:r>
          </a:p>
          <a:p>
            <a:r>
              <a: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p>
            <a:r>
              <a:t>TRANSITION:</a:t>
            </a:r>
          </a:p>
          <a:p>
            <a:r>
              <a:t>   Let's see this verification loop in action during our Git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Documentation generated automatically.</a:t>
            </a:r>
          </a:p>
          <a:p/>
          <a:p>
            <a:r>
              <a:t>KEY POINTS:</a:t>
            </a:r>
          </a:p>
          <a:p>
            <a:r>
              <a:t>   * Multiple doc types</a:t>
            </a:r>
          </a:p>
          <a:p>
            <a:r>
              <a:t>   * Always current</a:t>
            </a:r>
          </a:p>
          <a:p>
            <a:r>
              <a:t>   * Professional quality</a:t>
            </a:r>
          </a:p>
          <a:p/>
          <a:p>
            <a:r>
              <a:t>REAL-WORLD EXAMPLE:</a:t>
            </a:r>
          </a:p>
          <a:p>
            <a:r>
              <a:t>   API docs stayed current because Claude Code updated them with code.</a:t>
            </a:r>
          </a:p>
          <a:p/>
          <a:p>
            <a:r>
              <a:t>TRANSITION:</a:t>
            </a:r>
          </a:p>
          <a:p>
            <a:r>
              <a:t>   Final demo</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Live debugging - real bug, real fix.</a:t>
            </a:r>
          </a:p>
          <a:p/>
          <a:p>
            <a:r>
              <a:t>KEY POINTS:</a:t>
            </a:r>
          </a:p>
          <a:p>
            <a:r>
              <a:t>   * Complete process</a:t>
            </a:r>
          </a:p>
          <a:p>
            <a:r>
              <a:t>   * Real-world scenario</a:t>
            </a:r>
          </a:p>
          <a:p>
            <a:r>
              <a:t>   * Production techniques</a:t>
            </a:r>
          </a:p>
          <a:p/>
          <a:p>
            <a:r>
              <a:t>REAL-WORLD EXAMPLE:</a:t>
            </a:r>
          </a:p>
          <a:p>
            <a:r>
              <a:t>   This is what you'll do Monday.</a:t>
            </a:r>
          </a:p>
          <a:p/>
          <a:p>
            <a:r>
              <a:t>DEMO:</a:t>
            </a:r>
          </a:p>
          <a:p>
            <a:r>
              <a:t>   Run failing test, ask Claude Code to debug, watch it analyze, fix, verify.</a:t>
            </a:r>
          </a:p>
          <a:p/>
          <a:p>
            <a:r>
              <a:t>TRANSITION:</a:t>
            </a:r>
          </a:p>
          <a:p>
            <a:r>
              <a:t>   Final lab</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SQL work is often the most tedious part of development - writing queries, designing schemas, optimizing performance. Claude Code transforms all of that from hours of head-scratching into minutes of guided conversation.</a:t>
            </a:r>
          </a:p>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p>
            <a:r>
              <a:t>TRANSITION:</a:t>
            </a:r>
          </a:p>
          <a:p>
            <a:r>
              <a:t>   Let's start with the most common task: generating SQL queries from natural language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Writing SQL queries is one of Claude Code's strongest capabilities - it understands the intent behind your question and translates it into efficient, correct SQL.</a:t>
            </a:r>
          </a:p>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p>
            <a:r>
              <a:t>TRANSITION:</a:t>
            </a:r>
          </a:p>
          <a:p>
            <a:r>
              <a:t>   Let me show you a real example of complex query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what Claude Code generated from a single natural language prompt - notice how clean and well-structured this query is.</a:t>
            </a:r>
          </a:p>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p>
            <a:r>
              <a:t>TRANSITION:</a:t>
            </a:r>
          </a:p>
          <a:p>
            <a:r>
              <a:t>   Beyond query generation, Claude Code excels at schema design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Schema design is where bad decisions cost you for years - Claude Code acts as a database design reviewer that catches problems before they become production nightmares.</a:t>
            </a:r>
          </a:p>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p>
            <a:r>
              <a:t>TRANSITION:</a:t>
            </a:r>
          </a:p>
          <a:p>
            <a:r>
              <a:t>   Once you have queries, optimization becomes critical</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Query optimization is part science, part art - Claude Code knows both. Look at this transformation from a slow query to a fast one.</a:t>
            </a:r>
          </a:p>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p>
            <a:r>
              <a:t>TRANSITION:</a:t>
            </a:r>
          </a:p>
          <a:p>
            <a:r>
              <a:t>   SQL isn't just queries and schemas - there's also data transformation and ETL work</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ETL work is usually manual, error-prone, and time-consuming - Claude Code automates the entire process from data extraction to transformation to loading, with validation at each step.</a:t>
            </a:r>
          </a:p>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p>
            <a:r>
              <a:t>TRANSITION:</a:t>
            </a:r>
          </a:p>
          <a:p>
            <a:r>
              <a:t>   Different databases have different strengths - Claude Code knows them all</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doesn't just know SQL - it knows the nuances and strengths of different database engines and writes queries optimized for each one.</a:t>
            </a:r>
          </a:p>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p>
            <a:r>
              <a:t>TRANSITION:</a:t>
            </a:r>
          </a:p>
          <a:p>
            <a:r>
              <a:t>   Data quality is critical - let's talk about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Data quality issues are expensive - catching them early with validation queries saves hours of debugging and potential data corruption. Claude Code generates comprehensive validation queries automatically.</a:t>
            </a:r>
          </a:p>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p>
            <a:r>
              <a:t>TRANSITION:</a:t>
            </a:r>
          </a:p>
          <a:p>
            <a:r>
              <a:t>   Let me show you a complete end-to-end demo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p>
            <a:r>
              <a:t>TRANSITION:</a:t>
            </a:r>
          </a:p>
          <a:p>
            <a:r>
              <a:t>   That's the SQL and data analysis section - now you'll practice this in Lab 3</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Final lab - complete feature workflow.</a:t>
            </a:r>
          </a:p>
          <a:p/>
          <a:p>
            <a:r>
              <a:t>KEY POINTS:</a:t>
            </a:r>
          </a:p>
          <a:p>
            <a:r>
              <a:t>   * End-to-end workflow</a:t>
            </a:r>
          </a:p>
          <a:p>
            <a:r>
              <a:t>   * Production-ready</a:t>
            </a:r>
          </a:p>
          <a:p/>
          <a:p>
            <a:r>
              <a:t>TRANSITION:</a:t>
            </a:r>
          </a:p>
          <a:p>
            <a:r>
              <a:t>   Wrap-up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real example of how Claude Code changes the dynamics between PMs and engineering teams.</a:t>
            </a:r>
          </a:p>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p>
            <a:r>
              <a:t>ASK THE CLASS:</a:t>
            </a:r>
          </a:p>
          <a:p>
            <a:r>
              <a:t>   "What's the last feature you spec'd that took weeks of back-and-forth? Could a 2-hour prototype have shortcut that?"</a:t>
            </a:r>
          </a:p>
          <a:p>
            <a:r>
              <a:t>   [PAUSE for 30-60 seconds]</a:t>
            </a:r>
          </a:p>
          <a:p/>
          <a:p>
            <a:r>
              <a:t>TRANSITION:</a:t>
            </a:r>
          </a:p>
          <a:p>
            <a:r>
              <a:t>   Now let's put this into practice. Time for hands-on lab work.</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Eight major capabilities learned today.</a:t>
            </a:r>
          </a:p>
          <a:p/>
          <a:p>
            <a:r>
              <a:t>KEY POINTS:</a:t>
            </a:r>
          </a:p>
          <a:p>
            <a:r>
              <a:t>   * Complete toolkit</a:t>
            </a:r>
          </a:p>
          <a:p>
            <a:r>
              <a:t>   * Production-ready</a:t>
            </a:r>
          </a:p>
          <a:p>
            <a:r>
              <a:t>   * Transform development</a:t>
            </a:r>
          </a:p>
          <a:p/>
          <a:p>
            <a:r>
              <a:t>REAL-WORLD EXAMPLE:</a:t>
            </a:r>
          </a:p>
          <a:p>
            <a:r>
              <a:t>   You're now equipped to use Claude Code professionally.</a:t>
            </a:r>
          </a:p>
          <a:p/>
          <a:p>
            <a:r>
              <a:t>TRANSITION:</a:t>
            </a:r>
          </a:p>
          <a:p>
            <a:r>
              <a:t>   Thank you!</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wrap up, let me save you from the five mistakes I see most often. Each one ties back to an engineering principle we covered today.</a:t>
            </a:r>
          </a:p>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p>
            <a:r>
              <a:t>ASK THE CLASS:</a:t>
            </a:r>
          </a:p>
          <a:p>
            <a:r>
              <a:t>   "Which of these mistakes have you already made today? No shame — we all do it. The goal is building habits that prevent them."</a:t>
            </a:r>
          </a:p>
          <a:p>
            <a:r>
              <a:t>   [PAUSE for 30-60 seconds]</a:t>
            </a:r>
          </a:p>
          <a:p/>
          <a:p>
            <a:r>
              <a:t>TRANSITION:</a:t>
            </a:r>
          </a:p>
          <a:p>
            <a:r>
              <a:t>   Let's recap everything we covered and preview tomorrow's advanced topics.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Completed Claude Code Fundamentals!</a:t>
            </a:r>
          </a:p>
          <a:p/>
          <a:p>
            <a:r>
              <a:t>KEY POINTS:</a:t>
            </a:r>
          </a:p>
          <a:p>
            <a:r>
              <a:t>   * Tomorrow: Advanced topics</a:t>
            </a:r>
          </a:p>
          <a:p>
            <a:r>
              <a:t>   * Custom commands, MCP, agent teams</a:t>
            </a:r>
          </a:p>
          <a:p/>
          <a:p>
            <a:r>
              <a:t>TRANSITION:</a:t>
            </a:r>
          </a:p>
          <a:p>
            <a:r>
              <a:t>   See you 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Lab 1: Debug a real authentication bug, write comprehensive tests, generate documentation</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Lab 2: Refactor a legacy module, create feature branch, generate semantic commits, and submit a PR</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Bonus: Custom CLAUDE.md for your team's coding standards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Bonus: .claudeignore patterns optimized for your stack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Working memory → Context window: Both degrade under load.</a:t>
            </a:r>
          </a:p>
          <a:p>
            <a:pPr>
              <a:spcBef>
                <a:spcPts val="800"/>
              </a:spcBef>
              <a:spcAft>
                <a:spcPts val="800"/>
              </a:spcAft>
              <a:defRPr sz="2200">
                <a:solidFill>
                  <a:srgbClr val="FFFFFF"/>
                </a:solidFill>
              </a:defRPr>
            </a:pPr>
            <a:r>
              <a:t>  Short-term → Session history: When you study, you move important things from short-term to long-term memory through n...</a:t>
            </a:r>
          </a:p>
          <a:p>
            <a:pPr>
              <a:spcBef>
                <a:spcPts val="800"/>
              </a:spcBef>
              <a:spcAft>
                <a:spcPts val="800"/>
              </a:spcAft>
              <a:defRPr sz="2200">
                <a:solidFill>
                  <a:srgbClr val="FFFFFF"/>
                </a:solidFill>
              </a:defRPr>
            </a:pPr>
            <a:r>
              <a:t>  Long-term → CLAUDE.</a:t>
            </a:r>
          </a:p>
          <a:p>
            <a:pPr>
              <a:spcBef>
                <a:spcPts val="800"/>
              </a:spcBef>
              <a:spcAft>
                <a:spcPts val="800"/>
              </a:spcAft>
              <a:defRPr sz="2200">
                <a:solidFill>
                  <a:srgbClr val="FFFFFF"/>
                </a:solidFill>
              </a:defRPr>
            </a:pPr>
            <a:r>
              <a:t>  Muscle memory → Skills / custom commands: Just like you don't consciously think about typing, skills and commands let...</a:t>
            </a:r>
          </a:p>
          <a:p>
            <a:pPr>
              <a:spcBef>
                <a:spcPts val="800"/>
              </a:spcBef>
              <a:spcAft>
                <a:spcPts val="800"/>
              </a:spcAft>
              <a:defRPr sz="2200">
                <a:solidFill>
                  <a:srgbClr val="FFFFFF"/>
                </a:solidFill>
              </a:defRPr>
            </a:pPr>
            <a:r>
              <a:t>  Scott's framing: Context window is short-term memory.</a:t>
            </a:r>
          </a:p>
          <a:p>
            <a:pPr>
              <a:spcBef>
                <a:spcPts val="800"/>
              </a:spcBef>
              <a:spcAft>
                <a:spcPts val="800"/>
              </a:spcAft>
              <a:defRPr sz="2200">
                <a:solidFill>
                  <a:srgbClr val="FFFFFF"/>
                </a:solidFill>
              </a:defRPr>
            </a:pPr>
            <a:r>
              <a:t>  Everything that follows today — CLAUDE.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Tools</a:t>
            </a:r>
          </a:p>
          <a:p>
            <a:pPr algn="ctr">
              <a:spcBef>
                <a:spcPts val="800"/>
              </a:spcBef>
              <a:defRPr sz="1300">
                <a:solidFill>
                  <a:srgbClr val="8B95A5"/>
                </a:solidFill>
              </a:defRPr>
            </a:pPr>
            <a:r>
              <a:t>Terminal (iTerm2, Windows Terminal, etc.)</a:t>
            </a:r>
            <a:br/>
            <a:r>
              <a:t>Git installed and configured</a:t>
            </a:r>
            <a:br/>
            <a:r>
              <a:t>VS Code or JetBrains IDE (optional)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Account</a:t>
            </a:r>
          </a:p>
          <a:p>
            <a:pPr algn="ctr">
              <a:spcBef>
                <a:spcPts val="800"/>
              </a:spcBef>
              <a:defRPr sz="1300">
                <a:solidFill>
                  <a:srgbClr val="8B95A5"/>
                </a:solidFill>
              </a:defRPr>
            </a:pPr>
            <a:r>
              <a:t>Anthropic account (Pro or Max plan)</a:t>
            </a:r>
            <a:br/>
            <a:r>
              <a:t>Claude Code CLI: npm install -g @anthropic-ai/claude-code</a:t>
            </a:r>
            <a:br/>
            <a:r>
              <a:t>Authenticate: claude login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Method 1: Global install via npm (recommended)</a:t>
            </a:r>
          </a:p>
          <a:p>
            <a:pPr>
              <a:defRPr sz="1400">
                <a:solidFill>
                  <a:srgbClr val="FFFFFF"/>
                </a:solidFill>
                <a:latin typeface="Consolas"/>
              </a:defRPr>
            </a:pPr>
            <a:r>
              <a:t>npm install -g @anthropic-ai/claude-code</a:t>
            </a:r>
          </a:p>
          <a:p>
            <a:pPr>
              <a:defRPr sz="1400">
                <a:solidFill>
                  <a:srgbClr val="FFFFFF"/>
                </a:solidFill>
                <a:latin typeface="Consolas"/>
              </a:defRPr>
            </a:pPr>
          </a:p>
          <a:p>
            <a:pPr>
              <a:defRPr sz="1400">
                <a:solidFill>
                  <a:srgbClr val="FFFFFF"/>
                </a:solidFill>
                <a:latin typeface="Consolas"/>
              </a:defRPr>
            </a:pPr>
            <a:r>
              <a:t># Method 2: Homebrew (macOS/Linux)</a:t>
            </a:r>
          </a:p>
          <a:p>
            <a:pPr>
              <a:defRPr sz="1400">
                <a:solidFill>
                  <a:srgbClr val="FFFFFF"/>
                </a:solidFill>
                <a:latin typeface="Consolas"/>
              </a:defRPr>
            </a:pPr>
            <a:r>
              <a:t>brew install claude-code</a:t>
            </a:r>
          </a:p>
          <a:p>
            <a:pPr>
              <a:defRPr sz="1400">
                <a:solidFill>
                  <a:srgbClr val="FFFFFF"/>
                </a:solidFill>
                <a:latin typeface="Consolas"/>
              </a:defRPr>
            </a:pPr>
          </a:p>
          <a:p>
            <a:pPr>
              <a:defRPr sz="1400">
                <a:solidFill>
                  <a:srgbClr val="FFFFFF"/>
                </a:solidFill>
                <a:latin typeface="Consolas"/>
              </a:defRPr>
            </a:pPr>
            <a:r>
              <a:t># Method 3: npx (no install, always latest)</a:t>
            </a:r>
          </a:p>
          <a:p>
            <a:pPr>
              <a:defRPr sz="1400">
                <a:solidFill>
                  <a:srgbClr val="FFFFFF"/>
                </a:solidFill>
                <a:latin typeface="Consolas"/>
              </a:defRPr>
            </a:pPr>
            <a:r>
              <a:t>npx @anthropic-ai/claude-code</a:t>
            </a:r>
          </a:p>
          <a:p>
            <a:pPr>
              <a:defRPr sz="1400">
                <a:solidFill>
                  <a:srgbClr val="FFFFFF"/>
                </a:solidFill>
                <a:latin typeface="Consolas"/>
              </a:defRPr>
            </a:pPr>
          </a:p>
          <a:p>
            <a:pPr>
              <a:defRPr sz="1400">
                <a:solidFill>
                  <a:srgbClr val="FFFFFF"/>
                </a:solidFill>
                <a:latin typeface="Consolas"/>
              </a:defRPr>
            </a:pPr>
            <a:r>
              <a:t># Verify installation</a:t>
            </a:r>
          </a:p>
          <a:p>
            <a:pPr>
              <a:defRPr sz="1400">
                <a:solidFill>
                  <a:srgbClr val="FFFFFF"/>
                </a:solidFill>
                <a:latin typeface="Consolas"/>
              </a:defRPr>
            </a:pPr>
            <a:r>
              <a:t>claude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5" name="TextBox 4"/>
          <p:cNvSpPr txBox="1"/>
          <p:nvPr/>
        </p:nvSpPr>
        <p:spPr>
          <a:xfrm>
            <a:off x="914400" y="4114800"/>
            <a:ext cx="10362895" cy="457200"/>
          </a:xfrm>
          <a:prstGeom prst="rect">
            <a:avLst/>
          </a:prstGeom>
          <a:noFill/>
        </p:spPr>
        <p:txBody>
          <a:bodyPr wrap="none">
            <a:spAutoFit/>
          </a:bodyPr>
          <a:lstStyle/>
          <a:p>
            <a:pPr algn="ctr">
              <a:defRPr sz="1400" i="1">
                <a:solidFill>
                  <a:srgbClr val="4A5568"/>
                </a:solidFill>
              </a:defRPr>
            </a:pPr>
            <a:r>
              <a:t>Replace with actual screenshot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p>
          <a:p>
            <a:pPr>
              <a:defRPr sz="2400">
                <a:solidFill>
                  <a:srgbClr val="8B95A5"/>
                </a:solidFill>
              </a:defRPr>
            </a:pPr>
            <a:r>
              <a:t>Claude Code reads it first, every session.</a:t>
            </a:r>
          </a:p>
          <a:p>
            <a:pPr>
              <a:defRPr sz="2400">
                <a:solidFill>
                  <a:srgbClr val="8B95A5"/>
                </a:solidFill>
              </a:defRPr>
            </a:p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It's not prompting. It's specification.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One task per session — the rule that prevents 80% of failures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Permission Prompts</a:t>
            </a:r>
          </a:p>
          <a:p>
            <a:pPr algn="ctr">
              <a:spcBef>
                <a:spcPts val="800"/>
              </a:spcBef>
              <a:defRPr sz="1300">
                <a:solidFill>
                  <a:srgbClr val="8B95A5"/>
                </a:solidFill>
              </a:defRPr>
            </a:pPr>
            <a:r>
              <a:t>Claude asks before:</a:t>
            </a:r>
            <a:br/>
            <a:r>
              <a:t>• Writing/editing files</a:t>
            </a:r>
            <a:br/>
            <a:r>
              <a:t>• Running shell commands</a:t>
            </a:r>
            <a:br/>
            <a:r>
              <a:t>• Installing packages</a:t>
            </a:r>
            <a:br/>
            <a:br/>
            <a:r>
              <a:t>You approve or deny each action.</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eye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book</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zap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When uncertain, Claude Code asks first.</a:t>
            </a:r>
          </a:p>
          <a:p>
            <a:pPr>
              <a:defRPr sz="2400">
                <a:solidFill>
                  <a:srgbClr val="8B95A5"/>
                </a:solidFill>
              </a:defRPr>
            </a:pPr>
          </a:p>
          <a:p>
            <a:pPr>
              <a:defRPr sz="2400">
                <a:solidFill>
                  <a:srgbClr val="8B95A5"/>
                </a:solidFill>
              </a:defRPr>
            </a:pPr>
            <a:r>
              <a:t>Safety &gt; Speed.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