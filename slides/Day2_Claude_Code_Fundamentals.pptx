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2"/>
  </p:notesMasterIdLst>
  <p:sldIdLst>
    <p:sldId id="256" r:id="rId2"/>
    <p:sldId id="257" r:id="rId3"/>
    <p:sldId id="258" r:id="rId4"/>
    <p:sldId id="259" r:id="rId5"/>
    <p:sldId id="260" r:id="rId6"/>
    <p:sldId id="261" r:id="rId7"/>
    <p:sldId id="262"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375" r:id="rId26"/>
    <p:sldId id="281" r:id="rId27"/>
    <p:sldId id="263"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73" r:id="rId57"/>
    <p:sldId id="374"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3" dt="2026-03-05T02:31:03.41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notesMaster" Target="notesMasters/notesMaster1.xml"/><Relationship Id="rId123" Type="http://schemas.openxmlformats.org/officeDocument/2006/relationships/presProps" Target="presProps.xml"/><Relationship Id="rId124" Type="http://schemas.openxmlformats.org/officeDocument/2006/relationships/viewProps" Target="viewProps.xml"/><Relationship Id="rId125" Type="http://schemas.openxmlformats.org/officeDocument/2006/relationships/theme" Target="theme/theme1.xml"/><Relationship Id="rId126" Type="http://schemas.openxmlformats.org/officeDocument/2006/relationships/tableStyles" Target="tableStyles.xml"/><Relationship Id="rId127" Type="http://schemas.microsoft.com/office/2016/11/relationships/changesInfo" Target="changesInfos/changesInfo1.xml"/><Relationship Id="rId12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5T02:31:29.083" v="104" actId="1076"/>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59:12.747" v="87" actId="14100"/>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addSp delSp modSp mod">
        <pc:chgData name="Scott Hay" userId="e95d3f44-f6c0-414c-b281-41a9346c1b81" providerId="ADAL" clId="{4D76341F-F64C-4A8E-A4EF-1A11730F38E9}" dt="2026-03-05T02:31:29.083" v="104" actId="1076"/>
        <pc:sldMkLst>
          <pc:docMk/>
          <pc:sldMk cId="0" sldId="283"/>
        </pc:sldMkLst>
        <pc:spChg chg="mod">
          <ac:chgData name="Scott Hay" userId="e95d3f44-f6c0-414c-b281-41a9346c1b81" providerId="ADAL" clId="{4D76341F-F64C-4A8E-A4EF-1A11730F38E9}" dt="2026-03-05T02:31:29.083" v="104" actId="1076"/>
          <ac:spMkLst>
            <pc:docMk/>
            <pc:sldMk cId="0" sldId="283"/>
            <ac:spMk id="3" creationId="{00000000-0000-0000-0000-000000000000}"/>
          </ac:spMkLst>
        </pc:spChg>
        <pc:picChg chg="add del mod modCrop">
          <ac:chgData name="Scott Hay" userId="e95d3f44-f6c0-414c-b281-41a9346c1b81" providerId="ADAL" clId="{4D76341F-F64C-4A8E-A4EF-1A11730F38E9}" dt="2026-03-05T02:31:23.100" v="103" actId="478"/>
          <ac:picMkLst>
            <pc:docMk/>
            <pc:sldMk cId="0" sldId="283"/>
            <ac:picMk id="5" creationId="{80AC1220-C2A8-4B8D-33D7-ED31F434E63B}"/>
          </ac:picMkLst>
        </pc:pic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a:p>
            <a:br/>
            <a:br/>
            <a:r>
              <a:t>OPENING HOOK: Before anything else, ask the room: "How long would it take you to build a dashboard with an API, a database, a frontend, input validation, logging, CSV export, and clean git history?" Someone will say a day or two. Then say: "By 4pm today, you'll have done it in about 3 hours — and you'll barely touch the keyboard." Let that land, then move to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OPEN WITH:</a:t>
            </a:r>
            <a:br/>
            <a:r>
              <a:t>  Six objectives today. They build on each other — by lunch you'll have the first three down, and you'll have built a working app and written your own AI policy file.</a:t>
            </a:r>
            <a:br/>
            <a:br/>
            <a:r>
              <a:t>KEY POINTS:</a:t>
            </a:r>
            <a:br/>
            <a:r>
              <a:t>  * Objectives 1-2 are the foundation — install the tool, understand the agentic loop (morning + Lab 2A)</a:t>
            </a:r>
            <a:br/>
            <a:r>
              <a:t>  * Objective 3 is about control — CLAUDE.md as project policy (morning + Lab 2B)</a:t>
            </a:r>
            <a:br/>
            <a:r>
              <a:t>  * Objectives 4-5 are precision skills — @ mentions and context optimization (afternoon + Lab 2C)</a:t>
            </a:r>
            <a:br/>
            <a:r>
              <a:t>  * Objective 6 ties it together — commands, Git, shipping (afternoon + Lab 2D)</a:t>
            </a:r>
            <a:br/>
            <a:r>
              <a:t>  * Every objective is practiced hands-on in the labs</a:t>
            </a:r>
            <a:br/>
            <a:br/>
            <a:r>
              <a:t>TRANSITION:</a:t>
            </a:r>
            <a:br/>
            <a:r>
              <a:t>  Here's what you'll actually build today</a:t>
            </a: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a:p>
            <a:br/>
            <a:br/>
            <a:r>
              <a:t>OPENING QUESTION (before students start the lab): "Raise your hand if you believe AI can generate code." [most hands]. "Keep your hand up if you believe it can debug production failures." [some drop]. "Keep your hand up if you believe it can refactor a large codebase safely." [more drop]. "Good. Today we test all three." Then let them start.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Walk through each step. Emphasize: the developer only does step 1 (intent). Claude does everything else. The self-healing loop at the bottom is why this is an agent, not autocomplete. Flag: graphic version of this diagram is planned.</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a:p>
            <a:br/>
            <a:br/>
            <a:r>
              <a:t>ANALOGY TABLE (draw on whiteboard or just speak it):</a:t>
            </a:r>
            <a:br/>
            <a:r>
              <a:t>Human Brain → Claude Code:</a:t>
            </a:r>
            <a:br/>
            <a:r>
              <a:t>Working memory → Context window (what Claude is thinking about RIGHT NOW)</a:t>
            </a:r>
            <a:br/>
            <a:r>
              <a:t>Short-term memory → Session history (this conversation)</a:t>
            </a:r>
            <a:br/>
            <a:r>
              <a:t>Long-term memory → CLAUDE.md (persists across sessions)</a:t>
            </a:r>
            <a:br/>
            <a:r>
              <a:t>Muscle memory → Skills &amp; slash commands (automatic behaviors)</a:t>
            </a:r>
            <a:br/>
            <a:r>
              <a:t>Everything you learn today is about managing these four layers. That's the whole game.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a:p>
            <a:br/>
            <a:br/>
            <a:r>
              <a:t>COMPOUNDING FEEDBACK LOOP: Advanced teams add a tasks/lessons.md file that Claude updates after EVERY correction. When Claude makes a mistake and you fix it, tell Claude to record the pattern in lessons.md. Over time, the mistake rate drops because Claude reads its own error log before starting work. Boris Cherny's team at Anthropic uses this internally. The setup takes 10 minutes — add one line to CLAUDE.md: "After any correction, update tasks/lessons.md with the lesson learned. Read lessons.md before starting any task." Your AI gets better every day you use it.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a:p>
            <a:br/>
            <a:br/>
            <a:r>
              <a:t>VERIFICATION BAR: A powerful CLAUDE.md convention from Anthropic's internal team: "Cannot mark a task complete without proving it works. Check diffs, run tests, check logs. The bar: Would a staff engineer approve this?" Add that standard to your CLAUDE.md and Claude holds itself to senior-level quality checks before reporting done.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DEMO INSTRUCTIONS:</a:t>
            </a:r>
            <a:br/>
            <a:r>
              <a:t>1. Open Claude Code in the business-dashboard project</a:t>
            </a:r>
            <a:br/>
            <a:r>
              <a:t>2. Type: "Show me all the ways I can feed context to Claude Code"</a:t>
            </a:r>
            <a:br/>
            <a:r>
              <a:t>3. Claude will list: @ mentions, /read, paste, piping, URLs</a:t>
            </a:r>
            <a:br/>
            <a:r>
              <a:t>4. Then type: "Read @package.json and tell me what dependencies we have"</a:t>
            </a:r>
            <a:br/>
            <a:r>
              <a:t>5. Show how @ mention loaded just that one file</a:t>
            </a:r>
            <a:br/>
            <a:r>
              <a:t>6. Then type: "Read @src/ and summarize the architecture"</a:t>
            </a:r>
            <a:br/>
            <a:r>
              <a:t>7. Show how @ with a folder loads multiple files</a:t>
            </a:r>
            <a:br/>
            <a:br/>
            <a:r>
              <a:t>TALKING POINT: "Every method has a trade-off — @ mentions are precise, paste is fast, URLs bring in external docs. You'll practice all of these in Lab 2C."</a:t>
            </a:r>
            <a:br/>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a:p>
            <a:br/>
            <a:br/>
            <a:r>
              <a:t>SIMPLIFY THIS FOR THE ROOM: "Context is your budget. You have about 200K tokens. Here's what eats it: conversation history, code files Claude reads, MCP tool descriptions, docs and URLs. Here's how you manage it: /clear resets the conversation, /compact compresses history, .claudeignore excludes files, and @ mentions load only what you need. That's it — four tools to manage your budget." </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type: /compact</a:t>
            </a:r>
            <a:br/>
            <a:r>
              <a:t>2. Show the before/after token count in the status bar</a:t>
            </a:r>
            <a:br/>
            <a:r>
              <a:t>3. Type: "How much context are you currently using?"</a:t>
            </a:r>
            <a:br/>
            <a:r>
              <a:t>4. Then type: /clear</a:t>
            </a:r>
            <a:br/>
            <a:r>
              <a:t>5. Show that conversation is gone but files remain</a:t>
            </a:r>
            <a:br/>
            <a:r>
              <a:t>6. Type: "What files exist in this project?" — Claude re-reads them</a:t>
            </a:r>
            <a:br/>
            <a:r>
              <a:t>7. Show .claudeignore: "echo 'node_modules/' &gt; .claudeignore"</a:t>
            </a:r>
            <a:br/>
            <a:br/>
            <a:r>
              <a:t>TALKING POINT: "Four tools to manage your context budget: /clear resets everything, /compact compresses history, .claudeignore excludes files, and @ mentions load only what you need."</a:t>
            </a:r>
            <a:br/>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Before the labs, be honest about limitations. Every fix listed here is a skill they practice in the labs. This slide builds enormous credibility with skeptics.</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The skill is delegation — clear intent, right context, let Claude do the work. Same skill that makes great engineering managers. Then launch Lab 2A.</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rapid-fire through commands:</a:t>
            </a:r>
            <a:br/>
            <a:r>
              <a:t>   - Type: /help — show the command list</a:t>
            </a:r>
            <a:br/>
            <a:r>
              <a:t>   - Type: /model — show current model</a:t>
            </a:r>
            <a:br/>
            <a:r>
              <a:t>   - Type: /cost — show token usage</a:t>
            </a:r>
            <a:br/>
            <a:r>
              <a:t>   - Type: /doctor — run diagnostics</a:t>
            </a:r>
            <a:br/>
            <a:r>
              <a:t>   - Type: /status — show session info</a:t>
            </a:r>
            <a:br/>
            <a:r>
              <a:t>   - Type: /memory — show what Claude remembers</a:t>
            </a:r>
            <a:br/>
            <a:r>
              <a:t>2. For each, briefly explain what it does</a:t>
            </a:r>
            <a:br/>
            <a:r>
              <a:t>3. Spend extra time on /compact — show before/after</a:t>
            </a:r>
            <a:br/>
            <a:br/>
            <a:r>
              <a:t>TALKING POINT: "You don't need to memorize these. Just remember /help exists. But /compact and /clear are the two you'll use daily."</a:t>
            </a:r>
            <a:br/>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with business-dashboard project open</a:t>
            </a:r>
            <a:br/>
            <a:r>
              <a:t>2. First, cowboy mode — type: "Add rate limiting to all API routes"</a:t>
            </a:r>
            <a:br/>
            <a:r>
              <a:t>3. Watch Claude just start coding immediately</a:t>
            </a:r>
            <a:br/>
            <a:r>
              <a:t>4. Hit Escape to cancel</a:t>
            </a:r>
            <a:br/>
            <a:r>
              <a:t>5. Now type: "I want to add rate limiting to all API routes. Use plan mode — analyze the codebase first and tell me your approach before making any changes."</a:t>
            </a:r>
            <a:br/>
            <a:r>
              <a:t>6. Claude will outline: which files to modify, what middleware to use, configuration options</a:t>
            </a:r>
            <a:br/>
            <a:r>
              <a:t>7. Review the plan, then say: "Go ahead with option 1"</a:t>
            </a:r>
            <a:br/>
            <a:br/>
            <a:r>
              <a:t>TALKING POINT: "Plan mode is the difference between a junior who starts coding immediately and a senior who thinks first. For any task over 3 steps, always use plan mode."</a:t>
            </a:r>
            <a:br/>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br/>
            <a:br/>
            <a:r>
              <a:t>DEMO INSTRUCTIONS:</a:t>
            </a:r>
            <a:br/>
            <a:r>
              <a:t>1. Create a spec file — type in Claude: "Create a file called SPEC.md with this content:</a:t>
            </a:r>
            <a:br/>
            <a:r>
              <a:t>   # Feature: Dashboard Notifications</a:t>
            </a:r>
            <a:br/>
            <a:r>
              <a:t>   ## What: Toast notifications when metrics change</a:t>
            </a:r>
            <a:br/>
            <a:r>
              <a:t>   ## Why: Users miss important metric changes</a:t>
            </a:r>
            <a:br/>
            <a:r>
              <a:t>   ## Inputs: Metric value changes &gt; 10%</a:t>
            </a:r>
            <a:br/>
            <a:r>
              <a:t>   ## Outputs: Visual toast in bottom-right corner</a:t>
            </a:r>
            <a:br/>
            <a:r>
              <a:t>   ## Constraints: No external libraries, auto-dismiss after 5 seconds</a:t>
            </a:r>
            <a:br/>
            <a:r>
              <a:t>   ## Done when: Notifications appear on metric changes and auto-dismiss"</a:t>
            </a:r>
            <a:br/>
            <a:r>
              <a:t>2. Then type: "Read @SPEC.md and implement this feature exactly as specified"</a:t>
            </a:r>
            <a:br/>
            <a:r>
              <a:t>3. Watch Claude follow the spec precisely</a:t>
            </a:r>
            <a:br/>
            <a:r>
              <a:t>4. Open browser to verify notifications appear</a:t>
            </a:r>
            <a:br/>
            <a:r>
              <a:t>5. Then type: "Review your implementation against @SPEC.md — did you miss anything?"</a:t>
            </a:r>
            <a:br/>
            <a:br/>
            <a:r>
              <a:t>TALKING POINT: "The 6-question spec template: What, Why, Inputs, Outputs, Constraints, Done When. This takes 2 minutes to write and saves 20 minutes of back-and-forth."</a:t>
            </a:r>
            <a:br/>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type: "Show me the current permission settings"</a:t>
            </a:r>
            <a:br/>
            <a:r>
              <a:t>2. Type: /permissions — show the allow/deny lists</a:t>
            </a:r>
            <a:br/>
            <a:r>
              <a:t>3. Demo adding a restriction: "Add a permission rule that blocks Claude from deleting any files in src/"</a:t>
            </a:r>
            <a:br/>
            <a:r>
              <a:t>4. Test it: "Delete src/index.js" — Claude should be blocked</a:t>
            </a:r>
            <a:br/>
            <a:r>
              <a:t>5. Show how to allow specific commands: "Allow Claude to run npm commands"</a:t>
            </a:r>
            <a:br/>
            <a:br/>
            <a:r>
              <a:t>TALKING POINT: "Permissions are your safety net. In a team environment, you lock down destructive operations and allow routine ones. Claude respects these boundaries."</a:t>
            </a:r>
            <a:br/>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with business-dashboard:</a:t>
            </a:r>
            <a:br/>
            <a:r>
              <a:t>2. Type: "Create a new branch called feature/dashboard-stats"</a:t>
            </a:r>
            <a:br/>
            <a:r>
              <a:t>3. Type: "Add a stats summary panel at the top of the dashboard showing total metrics, active tasks, and completion rate"</a:t>
            </a:r>
            <a:br/>
            <a:r>
              <a:t>4. Type: "Commit with message 'feat: add stats summary panel'"</a:t>
            </a:r>
            <a:br/>
            <a:r>
              <a:t>5. Type: "Switch back to main and merge feature/dashboard-stats"</a:t>
            </a:r>
            <a:br/>
            <a:r>
              <a:t>6. Type: "Show me the git log --oneline for the last 5 commits"</a:t>
            </a:r>
            <a:br/>
            <a:r>
              <a:t>7. Show the clean history</a:t>
            </a:r>
            <a:br/>
            <a:br/>
            <a:r>
              <a:t>TALKING POINT: "Natural language Git. No memorizing flags, no merge conflict anxiety. You describe the workflow, Claude handles the commands."</a:t>
            </a:r>
            <a:br/>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intentionally break something:</a:t>
            </a:r>
            <a:br/>
            <a:r>
              <a:t>   Type: "In src/routes/tasks.js, change the database table name from 'tasks' to 'task' (singular) — just change the string, nothing else"</a:t>
            </a:r>
            <a:br/>
            <a:r>
              <a:t>2. Type: "Try to list all tasks via the API"</a:t>
            </a:r>
            <a:br/>
            <a:r>
              <a:t>3. Claude will see the error (table not found)</a:t>
            </a:r>
            <a:br/>
            <a:r>
              <a:t>4. Type: "The tasks endpoint is broken. Diagnose the issue from the error output and fix it."</a:t>
            </a:r>
            <a:br/>
            <a:r>
              <a:t>5. Watch Claude: read the error → trace to the table name → fix it → verify</a:t>
            </a:r>
            <a:br/>
            <a:br/>
            <a:r>
              <a:t>TALKING POINT: "This is the debugging workflow. You don't need to read the stack trace yourself — point Claude at the error and let it trace the root cause. This works on real production bugs too."</a:t>
            </a:r>
            <a:br/>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OPEN WITH: Last lab of the day — you're going to ship this dashboard with production hardening, feature branches, and a scaling review.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TALKING POINT: "This slide shows a real engagement where Claude Code turned a 2-week PM deliverable into a 2-hour exercise. The PM wrote the business requirements in plain English. Claude Code built the prototype. The CEO saw a clickable demo the same afternoon. That's the leverage — not replacing PMs or developers, but collapsing the feedback loop from weeks to hours."</a:t>
            </a:r>
            <a:br/>
            <a:br/>
            <a:r>
              <a:t>No live demo needed — this is a story slide. Tell it conversationally.</a:t>
            </a:r>
            <a:br/>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Lab 2A: The Agentic Build Loop</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Break</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0">
                <a:solidFill>
                  <a:srgbClr val="8B95A5"/>
                </a:solidFill>
              </a:defRPr>
            </a:pPr>
            <a:r>
              <a:t>CLAUDE.md &amp; Memory Architecture</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2B: Teaching Claude Your Codebase</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endParaRP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endParaRP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2C: Precision &amp; Recovery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Commands &amp; Best Practices</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2D: Ship It</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Wrap-up &amp; Day 3 Preview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endParaRP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365760"/>
          </a:xfrm>
          <a:prstGeom prst="rect">
            <a:avLst/>
          </a:prstGeom>
          <a:noFill/>
        </p:spPr>
        <p:txBody>
          <a:bodyPr wrap="square">
            <a:spAutoFit/>
          </a:bodyPr>
          <a:lstStyle/>
          <a:p>
            <a:pPr>
              <a:defRPr sz="1800" b="1">
                <a:solidFill>
                  <a:srgbClr val="00D4AA"/>
                </a:solidFill>
              </a:defRPr>
            </a:pPr>
            <a:r>
              <a:t>Lab 2A:</a:t>
            </a:r>
          </a:p>
        </p:txBody>
      </p:sp>
      <p:sp>
        <p:nvSpPr>
          <p:cNvPr id="5" name="TextBox 4"/>
          <p:cNvSpPr txBox="1"/>
          <p:nvPr/>
        </p:nvSpPr>
        <p:spPr>
          <a:xfrm>
            <a:off x="2194560" y="1828800"/>
            <a:ext cx="8229600" cy="640080"/>
          </a:xfrm>
          <a:prstGeom prst="rect">
            <a:avLst/>
          </a:prstGeom>
          <a:noFill/>
        </p:spPr>
        <p:txBody>
          <a:bodyPr wrap="square">
            <a:spAutoFit/>
          </a:bodyPr>
          <a:lstStyle/>
          <a:p>
            <a:pPr>
              <a:defRPr sz="1600">
                <a:solidFill>
                  <a:srgbClr val="FFFFFF"/>
                </a:solidFill>
              </a:defRPr>
            </a:pPr>
            <a:r>
              <a:t>The Agentic Build Loop — build a working web app from a single prompt</a:t>
            </a:r>
          </a:p>
        </p:txBody>
      </p:sp>
      <p:sp>
        <p:nvSpPr>
          <p:cNvPr id="6" name="TextBox 5"/>
          <p:cNvSpPr txBox="1"/>
          <p:nvPr/>
        </p:nvSpPr>
        <p:spPr>
          <a:xfrm>
            <a:off x="731520" y="2697480"/>
            <a:ext cx="1371600" cy="365760"/>
          </a:xfrm>
          <a:prstGeom prst="rect">
            <a:avLst/>
          </a:prstGeom>
          <a:noFill/>
        </p:spPr>
        <p:txBody>
          <a:bodyPr wrap="square">
            <a:spAutoFit/>
          </a:bodyPr>
          <a:lstStyle/>
          <a:p>
            <a:pPr>
              <a:defRPr sz="1800" b="1">
                <a:solidFill>
                  <a:srgbClr val="00D4AA"/>
                </a:solidFill>
              </a:defRPr>
            </a:pPr>
            <a:r>
              <a:t>Lab 2B:</a:t>
            </a:r>
          </a:p>
        </p:txBody>
      </p:sp>
      <p:sp>
        <p:nvSpPr>
          <p:cNvPr id="7" name="TextBox 6"/>
          <p:cNvSpPr txBox="1"/>
          <p:nvPr/>
        </p:nvSpPr>
        <p:spPr>
          <a:xfrm>
            <a:off x="2194560" y="2697480"/>
            <a:ext cx="8229600" cy="640080"/>
          </a:xfrm>
          <a:prstGeom prst="rect">
            <a:avLst/>
          </a:prstGeom>
          <a:noFill/>
        </p:spPr>
        <p:txBody>
          <a:bodyPr wrap="square">
            <a:spAutoFit/>
          </a:bodyPr>
          <a:lstStyle/>
          <a:p>
            <a:pPr>
              <a:defRPr sz="1600">
                <a:solidFill>
                  <a:srgbClr val="FFFFFF"/>
                </a:solidFill>
              </a:defRPr>
            </a:pPr>
            <a:r>
              <a:t>Teaching Claude Your Codebase — policy enforcement, security audit, draft your own</a:t>
            </a:r>
          </a:p>
        </p:txBody>
      </p:sp>
      <p:sp>
        <p:nvSpPr>
          <p:cNvPr id="8" name="TextBox 7"/>
          <p:cNvSpPr txBox="1"/>
          <p:nvPr/>
        </p:nvSpPr>
        <p:spPr>
          <a:xfrm>
            <a:off x="731520" y="3566160"/>
            <a:ext cx="1371600" cy="365760"/>
          </a:xfrm>
          <a:prstGeom prst="rect">
            <a:avLst/>
          </a:prstGeom>
          <a:noFill/>
        </p:spPr>
        <p:txBody>
          <a:bodyPr wrap="square">
            <a:spAutoFit/>
          </a:bodyPr>
          <a:lstStyle/>
          <a:p>
            <a:pPr>
              <a:defRPr sz="1800" b="1">
                <a:solidFill>
                  <a:srgbClr val="00D4AA"/>
                </a:solidFill>
              </a:defRPr>
            </a:pPr>
            <a:r>
              <a:t>Lab 2C:</a:t>
            </a:r>
          </a:p>
        </p:txBody>
      </p:sp>
      <p:sp>
        <p:nvSpPr>
          <p:cNvPr id="9" name="TextBox 8"/>
          <p:cNvSpPr txBox="1"/>
          <p:nvPr/>
        </p:nvSpPr>
        <p:spPr>
          <a:xfrm>
            <a:off x="2194560" y="3566160"/>
            <a:ext cx="8229600" cy="640080"/>
          </a:xfrm>
          <a:prstGeom prst="rect">
            <a:avLst/>
          </a:prstGeom>
          <a:noFill/>
        </p:spPr>
        <p:txBody>
          <a:bodyPr wrap="square">
            <a:spAutoFit/>
          </a:bodyPr>
          <a:lstStyle/>
          <a:p>
            <a:pPr>
              <a:defRPr sz="1600">
                <a:solidFill>
                  <a:srgbClr val="FFFFFF"/>
                </a:solidFill>
              </a:defRPr>
            </a:pPr>
            <a:r>
              <a:t>Precision &amp; Recovery — token efficiency, disaster recovery, AI debugging</a:t>
            </a:r>
          </a:p>
        </p:txBody>
      </p:sp>
      <p:sp>
        <p:nvSpPr>
          <p:cNvPr id="10" name="TextBox 9"/>
          <p:cNvSpPr txBox="1"/>
          <p:nvPr/>
        </p:nvSpPr>
        <p:spPr>
          <a:xfrm>
            <a:off x="731520" y="4434840"/>
            <a:ext cx="1371600" cy="365760"/>
          </a:xfrm>
          <a:prstGeom prst="rect">
            <a:avLst/>
          </a:prstGeom>
          <a:noFill/>
        </p:spPr>
        <p:txBody>
          <a:bodyPr wrap="square">
            <a:spAutoFit/>
          </a:bodyPr>
          <a:lstStyle/>
          <a:p>
            <a:pPr>
              <a:defRPr sz="1800" b="1">
                <a:solidFill>
                  <a:srgbClr val="00D4AA"/>
                </a:solidFill>
              </a:defRPr>
            </a:pPr>
            <a:r>
              <a:t>Lab 2D:</a:t>
            </a:r>
          </a:p>
        </p:txBody>
      </p:sp>
      <p:sp>
        <p:nvSpPr>
          <p:cNvPr id="11" name="TextBox 10"/>
          <p:cNvSpPr txBox="1"/>
          <p:nvPr/>
        </p:nvSpPr>
        <p:spPr>
          <a:xfrm>
            <a:off x="2194560" y="4434840"/>
            <a:ext cx="8229600" cy="640080"/>
          </a:xfrm>
          <a:prstGeom prst="rect">
            <a:avLst/>
          </a:prstGeom>
          <a:noFill/>
        </p:spPr>
        <p:txBody>
          <a:bodyPr wrap="square">
            <a:spAutoFit/>
          </a:bodyPr>
          <a:lstStyle/>
          <a:p>
            <a:pPr>
              <a:defRPr sz="1600">
                <a:solidFill>
                  <a:srgbClr val="FFFFFF"/>
                </a:solidFill>
              </a:defRPr>
            </a:pPr>
            <a:r>
              <a:t>Ship It — production readiness review, feature branches, scaling analysis</a:t>
            </a:r>
          </a:p>
        </p:txBody>
      </p:sp>
      <p:sp>
        <p:nvSpPr>
          <p:cNvPr id="12" name="TextBox 11"/>
          <p:cNvSpPr txBox="1"/>
          <p:nvPr/>
        </p:nvSpPr>
        <p:spPr>
          <a:xfrm>
            <a:off x="1371600" y="5486400"/>
            <a:ext cx="8229600" cy="457200"/>
          </a:xfrm>
          <a:prstGeom prst="rect">
            <a:avLst/>
          </a:prstGeom>
          <a:noFill/>
        </p:spPr>
        <p:txBody>
          <a:bodyPr wrap="square">
            <a:spAutoFit/>
          </a:bodyPr>
          <a:lstStyle/>
          <a:p>
            <a:pPr algn="ctr">
              <a:defRPr sz="1400">
                <a:solidFill>
                  <a:srgbClr val="8A8F98"/>
                </a:solidFill>
              </a:defRPr>
            </a:pPr>
            <a:r>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rPr dirty="0"/>
              <a:t>Account</a:t>
            </a:r>
          </a:p>
          <a:p>
            <a:pPr algn="ctr">
              <a:spcBef>
                <a:spcPts val="400"/>
              </a:spcBef>
              <a:defRPr sz="1100">
                <a:solidFill>
                  <a:srgbClr val="8A8F98"/>
                </a:solidFill>
              </a:defRPr>
            </a:pPr>
            <a:r>
              <a:rPr dirty="0"/>
              <a:t>Anthropic Pro or Max plan</a:t>
            </a:r>
          </a:p>
          <a:p>
            <a:pPr algn="ctr">
              <a:spcBef>
                <a:spcPts val="400"/>
              </a:spcBef>
              <a:defRPr sz="1100">
                <a:solidFill>
                  <a:srgbClr val="8A8F98"/>
                </a:solidFill>
              </a:defRPr>
            </a:pPr>
            <a:r>
              <a:rPr dirty="0"/>
              <a:t>Install: claude.ai/install.sh</a:t>
            </a:r>
          </a:p>
          <a:p>
            <a:pPr algn="ctr">
              <a:spcBef>
                <a:spcPts val="400"/>
              </a:spcBef>
              <a:defRPr sz="1100">
                <a:solidFill>
                  <a:srgbClr val="8A8F98"/>
                </a:solidFill>
              </a:defRPr>
            </a:pPr>
            <a:r>
              <a:rPr dirty="0"/>
              <a:t>Authenticate: </a:t>
            </a:r>
            <a:r>
              <a:rPr dirty="0" err="1"/>
              <a:t>claude</a:t>
            </a:r>
            <a:r>
              <a:rPr dirty="0"/>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515600" cy="731520"/>
          </a:xfrm>
          <a:prstGeom prst="rect">
            <a:avLst/>
          </a:prstGeom>
          <a:noFill/>
        </p:spPr>
        <p:txBody>
          <a:bodyPr wrap="square">
            <a:spAutoFit/>
          </a:bodyPr>
          <a:lstStyle/>
          <a:p>
            <a:pPr>
              <a:defRPr sz="3200" b="1">
                <a:solidFill>
                  <a:srgbClr val="FFFFFF"/>
                </a:solidFill>
              </a:defRPr>
            </a:pPr>
            <a:r>
              <a:t>What Happens When You Press Enter</a:t>
            </a:r>
          </a:p>
        </p:txBody>
      </p:sp>
      <p:sp>
        <p:nvSpPr>
          <p:cNvPr id="3" name="TextBox 2"/>
          <p:cNvSpPr txBox="1"/>
          <p:nvPr/>
        </p:nvSpPr>
        <p:spPr>
          <a:xfrm>
            <a:off x="731520" y="1005840"/>
            <a:ext cx="10515600" cy="457200"/>
          </a:xfrm>
          <a:prstGeom prst="rect">
            <a:avLst/>
          </a:prstGeom>
          <a:noFill/>
        </p:spPr>
        <p:txBody>
          <a:bodyPr wrap="none">
            <a:spAutoFit/>
          </a:bodyPr>
          <a:lstStyle/>
          <a:p>
            <a:pPr>
              <a:defRPr sz="1600">
                <a:solidFill>
                  <a:srgbClr val="8A8F98"/>
                </a:solidFill>
              </a:defRPr>
            </a:pPr>
            <a:r>
              <a:t>The complete flow — from your intent to working code</a:t>
            </a:r>
          </a:p>
        </p:txBody>
      </p:sp>
      <p:sp>
        <p:nvSpPr>
          <p:cNvPr id="4" name="TextBox 3"/>
          <p:cNvSpPr txBox="1"/>
          <p:nvPr/>
        </p:nvSpPr>
        <p:spPr>
          <a:xfrm>
            <a:off x="2286000" y="1645920"/>
            <a:ext cx="2743200" cy="365760"/>
          </a:xfrm>
          <a:prstGeom prst="rect">
            <a:avLst/>
          </a:prstGeom>
          <a:noFill/>
        </p:spPr>
        <p:txBody>
          <a:bodyPr wrap="none">
            <a:spAutoFit/>
          </a:bodyPr>
          <a:lstStyle/>
          <a:p>
            <a:pPr algn="l">
              <a:defRPr sz="2000" b="1">
                <a:solidFill>
                  <a:srgbClr val="00D4AA"/>
                </a:solidFill>
              </a:defRPr>
            </a:pPr>
            <a:r>
              <a:t>YOUR INTENT</a:t>
            </a:r>
          </a:p>
        </p:txBody>
      </p:sp>
      <p:sp>
        <p:nvSpPr>
          <p:cNvPr id="5" name="TextBox 4"/>
          <p:cNvSpPr txBox="1"/>
          <p:nvPr/>
        </p:nvSpPr>
        <p:spPr>
          <a:xfrm>
            <a:off x="5303520" y="1645920"/>
            <a:ext cx="5029200" cy="365760"/>
          </a:xfrm>
          <a:prstGeom prst="rect">
            <a:avLst/>
          </a:prstGeom>
          <a:noFill/>
        </p:spPr>
        <p:txBody>
          <a:bodyPr wrap="none">
            <a:spAutoFit/>
          </a:bodyPr>
          <a:lstStyle/>
          <a:p>
            <a:pPr>
              <a:defRPr sz="1600">
                <a:solidFill>
                  <a:srgbClr val="FFFFFF"/>
                </a:solidFill>
              </a:defRPr>
            </a:pPr>
            <a:r>
              <a:t>You describe what you want</a:t>
            </a:r>
          </a:p>
        </p:txBody>
      </p:sp>
      <p:sp>
        <p:nvSpPr>
          <p:cNvPr id="6" name="TextBox 5"/>
          <p:cNvSpPr txBox="1"/>
          <p:nvPr/>
        </p:nvSpPr>
        <p:spPr>
          <a:xfrm>
            <a:off x="4114800" y="2057400"/>
            <a:ext cx="914400" cy="274320"/>
          </a:xfrm>
          <a:prstGeom prst="rect">
            <a:avLst/>
          </a:prstGeom>
          <a:noFill/>
        </p:spPr>
        <p:txBody>
          <a:bodyPr wrap="none">
            <a:spAutoFit/>
          </a:bodyPr>
          <a:lstStyle/>
          <a:p>
            <a:pPr algn="l">
              <a:defRPr sz="2000">
                <a:solidFill>
                  <a:srgbClr val="00D4AA"/>
                </a:solidFill>
              </a:defRPr>
            </a:pPr>
            <a:r>
              <a:t>↓</a:t>
            </a:r>
          </a:p>
        </p:txBody>
      </p:sp>
      <p:sp>
        <p:nvSpPr>
          <p:cNvPr id="7" name="TextBox 6"/>
          <p:cNvSpPr txBox="1"/>
          <p:nvPr/>
        </p:nvSpPr>
        <p:spPr>
          <a:xfrm>
            <a:off x="2286000" y="2331720"/>
            <a:ext cx="2743200" cy="365760"/>
          </a:xfrm>
          <a:prstGeom prst="rect">
            <a:avLst/>
          </a:prstGeom>
          <a:noFill/>
        </p:spPr>
        <p:txBody>
          <a:bodyPr wrap="none">
            <a:spAutoFit/>
          </a:bodyPr>
          <a:lstStyle/>
          <a:p>
            <a:pPr algn="l">
              <a:defRPr sz="2000" b="1">
                <a:solidFill>
                  <a:srgbClr val="00D4AA"/>
                </a:solidFill>
              </a:defRPr>
            </a:pPr>
            <a:r>
              <a:t>READ CODEBASE</a:t>
            </a:r>
          </a:p>
        </p:txBody>
      </p:sp>
      <p:sp>
        <p:nvSpPr>
          <p:cNvPr id="8" name="TextBox 7"/>
          <p:cNvSpPr txBox="1"/>
          <p:nvPr/>
        </p:nvSpPr>
        <p:spPr>
          <a:xfrm>
            <a:off x="5303520" y="2331720"/>
            <a:ext cx="5029200" cy="365760"/>
          </a:xfrm>
          <a:prstGeom prst="rect">
            <a:avLst/>
          </a:prstGeom>
          <a:noFill/>
        </p:spPr>
        <p:txBody>
          <a:bodyPr wrap="none">
            <a:spAutoFit/>
          </a:bodyPr>
          <a:lstStyle/>
          <a:p>
            <a:pPr>
              <a:defRPr sz="1600">
                <a:solidFill>
                  <a:srgbClr val="FFFFFF"/>
                </a:solidFill>
              </a:defRPr>
            </a:pPr>
            <a:r>
              <a:t>CLAUDE.md + relevant files + git history</a:t>
            </a:r>
          </a:p>
        </p:txBody>
      </p:sp>
      <p:sp>
        <p:nvSpPr>
          <p:cNvPr id="9" name="TextBox 8"/>
          <p:cNvSpPr txBox="1"/>
          <p:nvPr/>
        </p:nvSpPr>
        <p:spPr>
          <a:xfrm>
            <a:off x="4114800" y="2743200"/>
            <a:ext cx="914400" cy="274320"/>
          </a:xfrm>
          <a:prstGeom prst="rect">
            <a:avLst/>
          </a:prstGeom>
          <a:noFill/>
        </p:spPr>
        <p:txBody>
          <a:bodyPr wrap="none">
            <a:spAutoFit/>
          </a:bodyPr>
          <a:lstStyle/>
          <a:p>
            <a:pPr algn="l">
              <a:defRPr sz="2000">
                <a:solidFill>
                  <a:srgbClr val="00D4AA"/>
                </a:solidFill>
              </a:defRPr>
            </a:pPr>
            <a:r>
              <a:t>↓</a:t>
            </a:r>
          </a:p>
        </p:txBody>
      </p:sp>
      <p:sp>
        <p:nvSpPr>
          <p:cNvPr id="10" name="TextBox 9"/>
          <p:cNvSpPr txBox="1"/>
          <p:nvPr/>
        </p:nvSpPr>
        <p:spPr>
          <a:xfrm>
            <a:off x="2286000" y="3017520"/>
            <a:ext cx="2743200" cy="365760"/>
          </a:xfrm>
          <a:prstGeom prst="rect">
            <a:avLst/>
          </a:prstGeom>
          <a:noFill/>
        </p:spPr>
        <p:txBody>
          <a:bodyPr wrap="none">
            <a:spAutoFit/>
          </a:bodyPr>
          <a:lstStyle/>
          <a:p>
            <a:pPr algn="l">
              <a:defRPr sz="2000" b="1">
                <a:solidFill>
                  <a:srgbClr val="00D4AA"/>
                </a:solidFill>
              </a:defRPr>
            </a:pPr>
            <a:r>
              <a:t>PLAN CHANGES</a:t>
            </a:r>
          </a:p>
        </p:txBody>
      </p:sp>
      <p:sp>
        <p:nvSpPr>
          <p:cNvPr id="11" name="TextBox 10"/>
          <p:cNvSpPr txBox="1"/>
          <p:nvPr/>
        </p:nvSpPr>
        <p:spPr>
          <a:xfrm>
            <a:off x="5303520" y="3017520"/>
            <a:ext cx="5029200" cy="365760"/>
          </a:xfrm>
          <a:prstGeom prst="rect">
            <a:avLst/>
          </a:prstGeom>
          <a:noFill/>
        </p:spPr>
        <p:txBody>
          <a:bodyPr wrap="none">
            <a:spAutoFit/>
          </a:bodyPr>
          <a:lstStyle/>
          <a:p>
            <a:pPr>
              <a:defRPr sz="1600">
                <a:solidFill>
                  <a:srgbClr val="FFFFFF"/>
                </a:solidFill>
              </a:defRPr>
            </a:pPr>
            <a:r>
              <a:t>Design approach, choose files to modify</a:t>
            </a:r>
          </a:p>
        </p:txBody>
      </p:sp>
      <p:sp>
        <p:nvSpPr>
          <p:cNvPr id="12" name="TextBox 11"/>
          <p:cNvSpPr txBox="1"/>
          <p:nvPr/>
        </p:nvSpPr>
        <p:spPr>
          <a:xfrm>
            <a:off x="4114800" y="3429000"/>
            <a:ext cx="914400" cy="274320"/>
          </a:xfrm>
          <a:prstGeom prst="rect">
            <a:avLst/>
          </a:prstGeom>
          <a:noFill/>
        </p:spPr>
        <p:txBody>
          <a:bodyPr wrap="none">
            <a:spAutoFit/>
          </a:bodyPr>
          <a:lstStyle/>
          <a:p>
            <a:pPr algn="l">
              <a:defRPr sz="2000">
                <a:solidFill>
                  <a:srgbClr val="00D4AA"/>
                </a:solidFill>
              </a:defRPr>
            </a:pPr>
            <a:r>
              <a:t>↓</a:t>
            </a:r>
          </a:p>
        </p:txBody>
      </p:sp>
      <p:sp>
        <p:nvSpPr>
          <p:cNvPr id="13" name="TextBox 12"/>
          <p:cNvSpPr txBox="1"/>
          <p:nvPr/>
        </p:nvSpPr>
        <p:spPr>
          <a:xfrm>
            <a:off x="2286000" y="3703320"/>
            <a:ext cx="2743200" cy="365760"/>
          </a:xfrm>
          <a:prstGeom prst="rect">
            <a:avLst/>
          </a:prstGeom>
          <a:noFill/>
        </p:spPr>
        <p:txBody>
          <a:bodyPr wrap="none">
            <a:spAutoFit/>
          </a:bodyPr>
          <a:lstStyle/>
          <a:p>
            <a:pPr algn="l">
              <a:defRPr sz="2000" b="1">
                <a:solidFill>
                  <a:srgbClr val="00D4AA"/>
                </a:solidFill>
              </a:defRPr>
            </a:pPr>
            <a:r>
              <a:t>EDIT FILES</a:t>
            </a:r>
          </a:p>
        </p:txBody>
      </p:sp>
      <p:sp>
        <p:nvSpPr>
          <p:cNvPr id="14" name="TextBox 13"/>
          <p:cNvSpPr txBox="1"/>
          <p:nvPr/>
        </p:nvSpPr>
        <p:spPr>
          <a:xfrm>
            <a:off x="5303520" y="3703320"/>
            <a:ext cx="5029200" cy="365760"/>
          </a:xfrm>
          <a:prstGeom prst="rect">
            <a:avLst/>
          </a:prstGeom>
          <a:noFill/>
        </p:spPr>
        <p:txBody>
          <a:bodyPr wrap="none">
            <a:spAutoFit/>
          </a:bodyPr>
          <a:lstStyle/>
          <a:p>
            <a:pPr>
              <a:defRPr sz="1600">
                <a:solidFill>
                  <a:srgbClr val="FFFFFF"/>
                </a:solidFill>
              </a:defRPr>
            </a:pPr>
            <a:r>
              <a:t>Write code, create files, update imports</a:t>
            </a:r>
          </a:p>
        </p:txBody>
      </p:sp>
      <p:sp>
        <p:nvSpPr>
          <p:cNvPr id="15" name="TextBox 14"/>
          <p:cNvSpPr txBox="1"/>
          <p:nvPr/>
        </p:nvSpPr>
        <p:spPr>
          <a:xfrm>
            <a:off x="4114800" y="4114800"/>
            <a:ext cx="914400" cy="274320"/>
          </a:xfrm>
          <a:prstGeom prst="rect">
            <a:avLst/>
          </a:prstGeom>
          <a:noFill/>
        </p:spPr>
        <p:txBody>
          <a:bodyPr wrap="none">
            <a:spAutoFit/>
          </a:bodyPr>
          <a:lstStyle/>
          <a:p>
            <a:pPr algn="l">
              <a:defRPr sz="2000">
                <a:solidFill>
                  <a:srgbClr val="00D4AA"/>
                </a:solidFill>
              </a:defRPr>
            </a:pPr>
            <a:r>
              <a:t>↓</a:t>
            </a:r>
          </a:p>
        </p:txBody>
      </p:sp>
      <p:sp>
        <p:nvSpPr>
          <p:cNvPr id="16" name="TextBox 15"/>
          <p:cNvSpPr txBox="1"/>
          <p:nvPr/>
        </p:nvSpPr>
        <p:spPr>
          <a:xfrm>
            <a:off x="2286000" y="4389120"/>
            <a:ext cx="2743200" cy="365760"/>
          </a:xfrm>
          <a:prstGeom prst="rect">
            <a:avLst/>
          </a:prstGeom>
          <a:noFill/>
        </p:spPr>
        <p:txBody>
          <a:bodyPr wrap="none">
            <a:spAutoFit/>
          </a:bodyPr>
          <a:lstStyle/>
          <a:p>
            <a:pPr algn="l">
              <a:defRPr sz="2000" b="1">
                <a:solidFill>
                  <a:srgbClr val="00D4AA"/>
                </a:solidFill>
              </a:defRPr>
            </a:pPr>
            <a:r>
              <a:t>RUN &amp; TEST</a:t>
            </a:r>
          </a:p>
        </p:txBody>
      </p:sp>
      <p:sp>
        <p:nvSpPr>
          <p:cNvPr id="17" name="TextBox 16"/>
          <p:cNvSpPr txBox="1"/>
          <p:nvPr/>
        </p:nvSpPr>
        <p:spPr>
          <a:xfrm>
            <a:off x="5303520" y="4389120"/>
            <a:ext cx="5029200" cy="365760"/>
          </a:xfrm>
          <a:prstGeom prst="rect">
            <a:avLst/>
          </a:prstGeom>
          <a:noFill/>
        </p:spPr>
        <p:txBody>
          <a:bodyPr wrap="none">
            <a:spAutoFit/>
          </a:bodyPr>
          <a:lstStyle/>
          <a:p>
            <a:pPr>
              <a:defRPr sz="1600">
                <a:solidFill>
                  <a:srgbClr val="FFFFFF"/>
                </a:solidFill>
              </a:defRPr>
            </a:pPr>
            <a:r>
              <a:t>Execute commands, check output</a:t>
            </a:r>
          </a:p>
        </p:txBody>
      </p:sp>
      <p:sp>
        <p:nvSpPr>
          <p:cNvPr id="18" name="TextBox 17"/>
          <p:cNvSpPr txBox="1"/>
          <p:nvPr/>
        </p:nvSpPr>
        <p:spPr>
          <a:xfrm>
            <a:off x="4114800" y="4800600"/>
            <a:ext cx="914400" cy="274320"/>
          </a:xfrm>
          <a:prstGeom prst="rect">
            <a:avLst/>
          </a:prstGeom>
          <a:noFill/>
        </p:spPr>
        <p:txBody>
          <a:bodyPr wrap="none">
            <a:spAutoFit/>
          </a:bodyPr>
          <a:lstStyle/>
          <a:p>
            <a:pPr algn="l">
              <a:defRPr sz="2000">
                <a:solidFill>
                  <a:srgbClr val="00D4AA"/>
                </a:solidFill>
              </a:defRPr>
            </a:pPr>
            <a:r>
              <a:t>↓</a:t>
            </a:r>
          </a:p>
        </p:txBody>
      </p:sp>
      <p:sp>
        <p:nvSpPr>
          <p:cNvPr id="19" name="TextBox 18"/>
          <p:cNvSpPr txBox="1"/>
          <p:nvPr/>
        </p:nvSpPr>
        <p:spPr>
          <a:xfrm>
            <a:off x="2286000" y="5074920"/>
            <a:ext cx="2743200" cy="365760"/>
          </a:xfrm>
          <a:prstGeom prst="rect">
            <a:avLst/>
          </a:prstGeom>
          <a:noFill/>
        </p:spPr>
        <p:txBody>
          <a:bodyPr wrap="none">
            <a:spAutoFit/>
          </a:bodyPr>
          <a:lstStyle/>
          <a:p>
            <a:pPr algn="l">
              <a:defRPr sz="2000" b="1">
                <a:solidFill>
                  <a:srgbClr val="00D4AA"/>
                </a:solidFill>
              </a:defRPr>
            </a:pPr>
            <a:r>
              <a:t>FIX FAILURES</a:t>
            </a:r>
          </a:p>
        </p:txBody>
      </p:sp>
      <p:sp>
        <p:nvSpPr>
          <p:cNvPr id="20" name="TextBox 19"/>
          <p:cNvSpPr txBox="1"/>
          <p:nvPr/>
        </p:nvSpPr>
        <p:spPr>
          <a:xfrm>
            <a:off x="5303520" y="5074920"/>
            <a:ext cx="5029200" cy="365760"/>
          </a:xfrm>
          <a:prstGeom prst="rect">
            <a:avLst/>
          </a:prstGeom>
          <a:noFill/>
        </p:spPr>
        <p:txBody>
          <a:bodyPr wrap="none">
            <a:spAutoFit/>
          </a:bodyPr>
          <a:lstStyle/>
          <a:p>
            <a:pPr>
              <a:defRPr sz="1600">
                <a:solidFill>
                  <a:srgbClr val="FFFFFF"/>
                </a:solidFill>
              </a:defRPr>
            </a:pPr>
            <a:r>
              <a:t>Read errors, diagnose, retry → self-healing loop</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2501153" y="3840480"/>
            <a:ext cx="8310281" cy="2308324"/>
          </a:xfrm>
          <a:prstGeom prst="rect">
            <a:avLst/>
          </a:prstGeom>
          <a:noFill/>
        </p:spPr>
        <p:txBody>
          <a:bodyPr wrap="square">
            <a:spAutoFit/>
          </a:bodyPr>
          <a:lstStyle/>
          <a:p>
            <a:pPr>
              <a:defRPr sz="2400">
                <a:solidFill>
                  <a:srgbClr val="8B95A5"/>
                </a:solidFill>
              </a:defRPr>
            </a:pPr>
            <a:endParaRPr dirty="0"/>
          </a:p>
          <a:p>
            <a:pPr>
              <a:defRPr sz="2400">
                <a:solidFill>
                  <a:srgbClr val="8B95A5"/>
                </a:solidFill>
              </a:defRPr>
            </a:pPr>
            <a:r>
              <a:rPr lang="en-US" dirty="0"/>
              <a:t>CLAUDE.md is a configuration file that lives in your project root.</a:t>
            </a:r>
          </a:p>
          <a:p>
            <a:pPr>
              <a:defRPr sz="2400">
                <a:solidFill>
                  <a:srgbClr val="8B95A5"/>
                </a:solidFill>
              </a:defRPr>
            </a:pPr>
            <a:endParaRPr lang="en-US" dirty="0"/>
          </a:p>
          <a:p>
            <a:pPr>
              <a:defRPr sz="2400">
                <a:solidFill>
                  <a:srgbClr val="8B95A5"/>
                </a:solidFill>
              </a:defRPr>
            </a:pPr>
            <a:r>
              <a:rPr dirty="0"/>
              <a:t>Claude Code reads it first, every session.</a:t>
            </a:r>
          </a:p>
          <a:p>
            <a:pPr>
              <a:defRPr sz="2400">
                <a:solidFill>
                  <a:srgbClr val="8B95A5"/>
                </a:solidFill>
              </a:defRPr>
            </a:pPr>
            <a:endParaRPr dirty="0"/>
          </a:p>
          <a:p>
            <a:pPr>
              <a:defRPr sz="2400">
                <a:solidFill>
                  <a:srgbClr val="8B95A5"/>
                </a:solidFill>
              </a:defRPr>
            </a:pPr>
            <a:r>
              <a:rPr dirty="0"/>
              <a:t>It's your project's instruction manual for AI.</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When Claude Code Fails</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Honesty builds trust. Here's where it struggles — and how to fix it.</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Ambiguous instructions:  </a:t>
            </a:r>
            <a:r>
              <a:rPr sz="1800">
                <a:solidFill>
                  <a:srgbClr val="FFFFFF"/>
                </a:solidFill>
              </a:rPr>
              <a:t>Claude guesses wrong. Fix: be specific.</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Huge codebase, no docs:  </a:t>
            </a:r>
            <a:r>
              <a:rPr sz="1800">
                <a:solidFill>
                  <a:srgbClr val="FFFFFF"/>
                </a:solidFill>
              </a:rPr>
              <a:t>Claude drowns in context. Fix: CLAUDE.md + .claudeignore</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Complex state across files:  </a:t>
            </a:r>
            <a:r>
              <a:rPr sz="1800">
                <a:solidFill>
                  <a:srgbClr val="FFFFFF"/>
                </a:solidFill>
              </a:rPr>
              <a:t>Claude loses track. Fix: @ mentions to focus.</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Missing dependencies:  </a:t>
            </a:r>
            <a:r>
              <a:rPr sz="1800">
                <a:solidFill>
                  <a:srgbClr val="FFFFFF"/>
                </a:solidFill>
              </a:rPr>
              <a:t>Build fails silently. Fix: describe your environment.</a:t>
            </a:r>
          </a:p>
        </p:txBody>
      </p:sp>
      <p:sp>
        <p:nvSpPr>
          <p:cNvPr id="8" name="TextBox 7"/>
          <p:cNvSpPr txBox="1"/>
          <p:nvPr/>
        </p:nvSpPr>
        <p:spPr>
          <a:xfrm>
            <a:off x="1097280" y="4937760"/>
            <a:ext cx="9144000" cy="640080"/>
          </a:xfrm>
          <a:prstGeom prst="rect">
            <a:avLst/>
          </a:prstGeom>
          <a:noFill/>
        </p:spPr>
        <p:txBody>
          <a:bodyPr wrap="square">
            <a:spAutoFit/>
          </a:bodyPr>
          <a:lstStyle/>
          <a:p>
            <a:r>
              <a:rPr sz="2000" b="1">
                <a:solidFill>
                  <a:srgbClr val="00D4AA"/>
                </a:solidFill>
              </a:rPr>
              <a:t>One massive prompt:  </a:t>
            </a:r>
            <a:r>
              <a:rPr sz="1800">
                <a:solidFill>
                  <a:srgbClr val="FFFFFF"/>
                </a:solidFill>
              </a:rPr>
              <a:t>Claude tries too much. Fix: break into smaller tasks.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The Real Skill: Delegation</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You're not learning to prompt. You're learning to manage an AI engineer.</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"Write authentication."</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"Add JWT auth to @auth.js using the middleware pattern in @payments.js"</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"Fix the bug."</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"POST /api/tasks returns 500. Check @src/routes/tasks.js for the error."</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2A: The Agentic Build Loop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2D: Ship It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TotalTime>
  <Words>27852</Words>
  <Application>Microsoft Office PowerPoint</Application>
  <PresentationFormat>Widescreen</PresentationFormat>
  <Paragraphs>2955</Paragraphs>
  <Slides>120</Slides>
  <Notes>118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120</vt:i4>
      </vt:variant>
    </vt:vector>
  </HeadingPairs>
  <TitlesOfParts>
    <vt:vector size="1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2026-03-05T02:31:32Z</dcterms:modified>
  <cp:category/>
</cp:coreProperties>
</file>