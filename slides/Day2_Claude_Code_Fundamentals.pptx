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375" r:id="rId128"/>
    <p:sldId id="281" r:id="rId27"/>
    <p:sldId id="263" r:id="rId9"/>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73" r:id="rId126"/>
    <p:sldId id="374" r:id="rId127"/>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2" dt="2026-03-02T01:49:24.476"/>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2344" autoAdjust="0"/>
  </p:normalViewPr>
  <p:slideViewPr>
    <p:cSldViewPr snapToGrid="0" snapToObjects="1">
      <p:cViewPr varScale="1">
        <p:scale>
          <a:sx n="107" d="100"/>
          <a:sy n="107" d="100"/>
        </p:scale>
        <p:origin x="4566" y="31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26.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7.xml"/><Relationship Id="rId57" Type="http://schemas.openxmlformats.org/officeDocument/2006/relationships/slide" Target="slides/slide58.xml"/><Relationship Id="rId58" Type="http://schemas.openxmlformats.org/officeDocument/2006/relationships/slide" Target="slides/slide59.xml"/><Relationship Id="rId59" Type="http://schemas.openxmlformats.org/officeDocument/2006/relationships/slide" Target="slides/slide60.xml"/><Relationship Id="rId60" Type="http://schemas.openxmlformats.org/officeDocument/2006/relationships/slide" Target="slides/slide61.xml"/><Relationship Id="rId61" Type="http://schemas.openxmlformats.org/officeDocument/2006/relationships/slide" Target="slides/slide62.xml"/><Relationship Id="rId62" Type="http://schemas.openxmlformats.org/officeDocument/2006/relationships/slide" Target="slides/slide63.xml"/><Relationship Id="rId63" Type="http://schemas.openxmlformats.org/officeDocument/2006/relationships/slide" Target="slides/slide64.xml"/><Relationship Id="rId64" Type="http://schemas.openxmlformats.org/officeDocument/2006/relationships/slide" Target="slides/slide65.xml"/><Relationship Id="rId65" Type="http://schemas.openxmlformats.org/officeDocument/2006/relationships/slide" Target="slides/slide66.xml"/><Relationship Id="rId66" Type="http://schemas.openxmlformats.org/officeDocument/2006/relationships/slide" Target="slides/slide67.xml"/><Relationship Id="rId67" Type="http://schemas.openxmlformats.org/officeDocument/2006/relationships/slide" Target="slides/slide68.xml"/><Relationship Id="rId68" Type="http://schemas.openxmlformats.org/officeDocument/2006/relationships/slide" Target="slides/slide69.xml"/><Relationship Id="rId69" Type="http://schemas.openxmlformats.org/officeDocument/2006/relationships/slide" Target="slides/slide70.xml"/><Relationship Id="rId70" Type="http://schemas.openxmlformats.org/officeDocument/2006/relationships/slide" Target="slides/slide71.xml"/><Relationship Id="rId71" Type="http://schemas.openxmlformats.org/officeDocument/2006/relationships/slide" Target="slides/slide72.xml"/><Relationship Id="rId72" Type="http://schemas.openxmlformats.org/officeDocument/2006/relationships/slide" Target="slides/slide73.xml"/><Relationship Id="rId73" Type="http://schemas.openxmlformats.org/officeDocument/2006/relationships/slide" Target="slides/slide74.xml"/><Relationship Id="rId74" Type="http://schemas.openxmlformats.org/officeDocument/2006/relationships/slide" Target="slides/slide75.xml"/><Relationship Id="rId75" Type="http://schemas.openxmlformats.org/officeDocument/2006/relationships/slide" Target="slides/slide76.xml"/><Relationship Id="rId76" Type="http://schemas.openxmlformats.org/officeDocument/2006/relationships/slide" Target="slides/slide77.xml"/><Relationship Id="rId77" Type="http://schemas.openxmlformats.org/officeDocument/2006/relationships/slide" Target="slides/slide78.xml"/><Relationship Id="rId78" Type="http://schemas.openxmlformats.org/officeDocument/2006/relationships/slide" Target="slides/slide79.xml"/><Relationship Id="rId79" Type="http://schemas.openxmlformats.org/officeDocument/2006/relationships/slide" Target="slides/slide80.xml"/><Relationship Id="rId80" Type="http://schemas.openxmlformats.org/officeDocument/2006/relationships/slide" Target="slides/slide81.xml"/><Relationship Id="rId81" Type="http://schemas.openxmlformats.org/officeDocument/2006/relationships/slide" Target="slides/slide82.xml"/><Relationship Id="rId82" Type="http://schemas.openxmlformats.org/officeDocument/2006/relationships/slide" Target="slides/slide83.xml"/><Relationship Id="rId83" Type="http://schemas.openxmlformats.org/officeDocument/2006/relationships/slide" Target="slides/slide84.xml"/><Relationship Id="rId84" Type="http://schemas.openxmlformats.org/officeDocument/2006/relationships/slide" Target="slides/slide85.xml"/><Relationship Id="rId85" Type="http://schemas.openxmlformats.org/officeDocument/2006/relationships/slide" Target="slides/slide86.xml"/><Relationship Id="rId86" Type="http://schemas.openxmlformats.org/officeDocument/2006/relationships/slide" Target="slides/slide87.xml"/><Relationship Id="rId87" Type="http://schemas.openxmlformats.org/officeDocument/2006/relationships/slide" Target="slides/slide88.xml"/><Relationship Id="rId88" Type="http://schemas.openxmlformats.org/officeDocument/2006/relationships/slide" Target="slides/slide89.xml"/><Relationship Id="rId89" Type="http://schemas.openxmlformats.org/officeDocument/2006/relationships/slide" Target="slides/slide90.xml"/><Relationship Id="rId90" Type="http://schemas.openxmlformats.org/officeDocument/2006/relationships/slide" Target="slides/slide91.xml"/><Relationship Id="rId91" Type="http://schemas.openxmlformats.org/officeDocument/2006/relationships/slide" Target="slides/slide92.xml"/><Relationship Id="rId92" Type="http://schemas.openxmlformats.org/officeDocument/2006/relationships/slide" Target="slides/slide93.xml"/><Relationship Id="rId93" Type="http://schemas.openxmlformats.org/officeDocument/2006/relationships/slide" Target="slides/slide94.xml"/><Relationship Id="rId94" Type="http://schemas.openxmlformats.org/officeDocument/2006/relationships/slide" Target="slides/slide95.xml"/><Relationship Id="rId95" Type="http://schemas.openxmlformats.org/officeDocument/2006/relationships/slide" Target="slides/slide96.xml"/><Relationship Id="rId96" Type="http://schemas.openxmlformats.org/officeDocument/2006/relationships/slide" Target="slides/slide97.xml"/><Relationship Id="rId97" Type="http://schemas.openxmlformats.org/officeDocument/2006/relationships/slide" Target="slides/slide98.xml"/><Relationship Id="rId98" Type="http://schemas.openxmlformats.org/officeDocument/2006/relationships/slide" Target="slides/slide99.xml"/><Relationship Id="rId99" Type="http://schemas.openxmlformats.org/officeDocument/2006/relationships/slide" Target="slides/slide100.xml"/><Relationship Id="rId100" Type="http://schemas.openxmlformats.org/officeDocument/2006/relationships/slide" Target="slides/slide101.xml"/><Relationship Id="rId101" Type="http://schemas.openxmlformats.org/officeDocument/2006/relationships/slide" Target="slides/slide102.xml"/><Relationship Id="rId102" Type="http://schemas.openxmlformats.org/officeDocument/2006/relationships/slide" Target="slides/slide103.xml"/><Relationship Id="rId103" Type="http://schemas.openxmlformats.org/officeDocument/2006/relationships/slide" Target="slides/slide104.xml"/><Relationship Id="rId104" Type="http://schemas.openxmlformats.org/officeDocument/2006/relationships/slide" Target="slides/slide105.xml"/><Relationship Id="rId105" Type="http://schemas.openxmlformats.org/officeDocument/2006/relationships/slide" Target="slides/slide106.xml"/><Relationship Id="rId106" Type="http://schemas.openxmlformats.org/officeDocument/2006/relationships/slide" Target="slides/slide107.xml"/><Relationship Id="rId107" Type="http://schemas.openxmlformats.org/officeDocument/2006/relationships/slide" Target="slides/slide108.xml"/><Relationship Id="rId108" Type="http://schemas.openxmlformats.org/officeDocument/2006/relationships/slide" Target="slides/slide109.xml"/><Relationship Id="rId109" Type="http://schemas.openxmlformats.org/officeDocument/2006/relationships/slide" Target="slides/slide110.xml"/><Relationship Id="rId110" Type="http://schemas.openxmlformats.org/officeDocument/2006/relationships/slide" Target="slides/slide111.xml"/><Relationship Id="rId111" Type="http://schemas.openxmlformats.org/officeDocument/2006/relationships/slide" Target="slides/slide112.xml"/><Relationship Id="rId112" Type="http://schemas.openxmlformats.org/officeDocument/2006/relationships/slide" Target="slides/slide113.xml"/><Relationship Id="rId113" Type="http://schemas.openxmlformats.org/officeDocument/2006/relationships/slide" Target="slides/slide114.xml"/><Relationship Id="rId114" Type="http://schemas.openxmlformats.org/officeDocument/2006/relationships/slide" Target="slides/slide115.xml"/><Relationship Id="rId115" Type="http://schemas.openxmlformats.org/officeDocument/2006/relationships/slide" Target="slides/slide116.xml"/><Relationship Id="rId116" Type="http://schemas.openxmlformats.org/officeDocument/2006/relationships/slide" Target="slides/slide117.xml"/><Relationship Id="rId117" Type="http://schemas.openxmlformats.org/officeDocument/2006/relationships/slide" Target="slides/slide118.xml"/><Relationship Id="rId118" Type="http://schemas.openxmlformats.org/officeDocument/2006/relationships/slide" Target="slides/slide119.xml"/><Relationship Id="rId119" Type="http://schemas.openxmlformats.org/officeDocument/2006/relationships/notesMaster" Target="notesMasters/notesMaster1.xml"/><Relationship Id="rId120" Type="http://schemas.openxmlformats.org/officeDocument/2006/relationships/presProps" Target="presProps.xml"/><Relationship Id="rId121" Type="http://schemas.openxmlformats.org/officeDocument/2006/relationships/viewProps" Target="viewProps.xml"/><Relationship Id="rId122" Type="http://schemas.openxmlformats.org/officeDocument/2006/relationships/theme" Target="theme/theme1.xml"/><Relationship Id="rId123" Type="http://schemas.openxmlformats.org/officeDocument/2006/relationships/tableStyles" Target="tableStyles.xml"/><Relationship Id="rId124" Type="http://schemas.microsoft.com/office/2016/11/relationships/changesInfo" Target="changesInfos/changesInfo1.xml"/><Relationship Id="rId125" Type="http://schemas.microsoft.com/office/2015/10/relationships/revisionInfo" Target="revisionInfo.xml"/><Relationship Id="rId126" Type="http://schemas.openxmlformats.org/officeDocument/2006/relationships/slide" Target="slides/slide55.xml"/><Relationship Id="rId127" Type="http://schemas.openxmlformats.org/officeDocument/2006/relationships/slide" Target="slides/slide56.xml"/><Relationship Id="rId128" Type="http://schemas.openxmlformats.org/officeDocument/2006/relationships/slide" Target="slides/slide1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custSel modSld">
      <pc:chgData name="Scott Hay" userId="e95d3f44-f6c0-414c-b281-41a9346c1b81" providerId="ADAL" clId="{4D76341F-F64C-4A8E-A4EF-1A11730F38E9}" dt="2026-03-02T01:59:12.747" v="87" actId="14100"/>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2T01:59:12.747" v="87" actId="14100"/>
        <pc:sldMkLst>
          <pc:docMk/>
          <pc:sldMk cId="0" sldId="265"/>
        </pc:sldMkLst>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addSp delSp modSp mod">
        <pc:chgData name="Scott Hay" userId="e95d3f44-f6c0-414c-b281-41a9346c1b81" providerId="ADAL" clId="{4D76341F-F64C-4A8E-A4EF-1A11730F38E9}" dt="2026-03-01T23:12:00.985" v="59" actId="478"/>
        <pc:sldMkLst>
          <pc:docMk/>
          <pc:sldMk cId="0" sldId="268"/>
        </pc:sldMkLst>
        <pc:spChg chg="del">
          <ac:chgData name="Scott Hay" userId="e95d3f44-f6c0-414c-b281-41a9346c1b81" providerId="ADAL" clId="{4D76341F-F64C-4A8E-A4EF-1A11730F38E9}" dt="2026-03-01T23:12:00.985" v="59" actId="478"/>
          <ac:spMkLst>
            <pc:docMk/>
            <pc:sldMk cId="0" sldId="268"/>
            <ac:spMk id="5"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Sp mod">
        <pc:chgData name="Scott Hay" userId="e95d3f44-f6c0-414c-b281-41a9346c1b81" providerId="ADAL" clId="{4D76341F-F64C-4A8E-A4EF-1A11730F38E9}" dt="2026-03-01T23:11:54.924" v="20" actId="27636"/>
        <pc:sldMkLst>
          <pc:docMk/>
          <pc:sldMk cId="0" sldId="285"/>
        </pc:sldMkLst>
        <pc:spChg chg="mod">
          <ac:chgData name="Scott Hay" userId="e95d3f44-f6c0-414c-b281-41a9346c1b81" providerId="ADAL" clId="{4D76341F-F64C-4A8E-A4EF-1A11730F38E9}" dt="2026-03-01T23:11:54.924" v="20" actId="27636"/>
          <ac:spMkLst>
            <pc:docMk/>
            <pc:sldMk cId="0" sldId="285"/>
            <ac:spMk id="6" creationId="{00000000-0000-0000-0000-000000000000}"/>
          </ac:spMkLst>
        </pc:spChg>
        <pc:spChg chg="mod">
          <ac:chgData name="Scott Hay" userId="e95d3f44-f6c0-414c-b281-41a9346c1b81" providerId="ADAL" clId="{4D76341F-F64C-4A8E-A4EF-1A11730F38E9}" dt="2026-03-01T23:11:54.916" v="18" actId="27636"/>
          <ac:spMkLst>
            <pc:docMk/>
            <pc:sldMk cId="0" sldId="285"/>
            <ac:spMk id="10" creationId="{00000000-0000-0000-0000-000000000000}"/>
          </ac:spMkLst>
        </pc:spChg>
        <pc:spChg chg="mod">
          <ac:chgData name="Scott Hay" userId="e95d3f44-f6c0-414c-b281-41a9346c1b81" providerId="ADAL" clId="{4D76341F-F64C-4A8E-A4EF-1A11730F38E9}" dt="2026-03-01T23:11:54.920" v="19" actId="27636"/>
          <ac:spMkLst>
            <pc:docMk/>
            <pc:sldMk cId="0" sldId="285"/>
            <ac:spMk id="1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1T23:11:54.967" v="26" actId="27636"/>
        <pc:sldMkLst>
          <pc:docMk/>
          <pc:sldMk cId="0" sldId="294"/>
        </pc:sldMkLst>
        <pc:spChg chg="mod">
          <ac:chgData name="Scott Hay" userId="e95d3f44-f6c0-414c-b281-41a9346c1b81" providerId="ADAL" clId="{4D76341F-F64C-4A8E-A4EF-1A11730F38E9}" dt="2026-03-01T23:11:24.558" v="13"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1T23:11:24.558" v="13"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1T23:11:24.558" v="13"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Sp mod">
        <pc:chgData name="Scott Hay" userId="e95d3f44-f6c0-414c-b281-41a9346c1b81" providerId="ADAL" clId="{4D76341F-F64C-4A8E-A4EF-1A11730F38E9}" dt="2026-03-01T23:11:54.990" v="32" actId="27636"/>
        <pc:sldMkLst>
          <pc:docMk/>
          <pc:sldMk cId="0" sldId="307"/>
        </pc:sldMkLst>
        <pc:spChg chg="mod">
          <ac:chgData name="Scott Hay" userId="e95d3f44-f6c0-414c-b281-41a9346c1b81" providerId="ADAL" clId="{4D76341F-F64C-4A8E-A4EF-1A11730F38E9}" dt="2026-03-01T23:10:33.574" v="11"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1T23:10:33.574" v="11"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1T23:10:33.574" v="11"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1T23:11:55.004" v="35" actId="27636"/>
        <pc:sldMkLst>
          <pc:docMk/>
          <pc:sldMk cId="0" sldId="312"/>
        </pc:sldMkLst>
        <pc:spChg chg="mod">
          <ac:chgData name="Scott Hay" userId="e95d3f44-f6c0-414c-b281-41a9346c1b81" providerId="ADAL" clId="{4D76341F-F64C-4A8E-A4EF-1A11730F38E9}" dt="2026-03-01T23:10:14.199" v="10" actId="14100"/>
          <ac:spMkLst>
            <pc:docMk/>
            <pc:sldMk cId="0" sldId="312"/>
            <ac:spMk id="3" creationId="{00000000-0000-0000-0000-000000000000}"/>
          </ac:spMkLst>
        </pc:spChg>
        <pc:spChg chg="mod">
          <ac:chgData name="Scott Hay" userId="e95d3f44-f6c0-414c-b281-41a9346c1b81" providerId="ADAL" clId="{4D76341F-F64C-4A8E-A4EF-1A11730F38E9}" dt="2026-03-01T23:11:54.996" v="33" actId="27636"/>
          <ac:spMkLst>
            <pc:docMk/>
            <pc:sldMk cId="0" sldId="312"/>
            <ac:spMk id="6" creationId="{00000000-0000-0000-0000-000000000000}"/>
          </ac:spMkLst>
        </pc:spChg>
        <pc:spChg chg="mod">
          <ac:chgData name="Scott Hay" userId="e95d3f44-f6c0-414c-b281-41a9346c1b81" providerId="ADAL" clId="{4D76341F-F64C-4A8E-A4EF-1A11730F38E9}" dt="2026-03-01T23:10:14.199" v="10"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1T23:10:14.199" v="10"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Sp mod">
        <pc:chgData name="Scott Hay" userId="e95d3f44-f6c0-414c-b281-41a9346c1b81" providerId="ADAL" clId="{4D76341F-F64C-4A8E-A4EF-1A11730F38E9}" dt="2026-03-01T23:05:43.502" v="1" actId="1076"/>
        <pc:sldMkLst>
          <pc:docMk/>
          <pc:sldMk cId="0" sldId="328"/>
        </pc:sldMkLst>
        <pc:spChg chg="mod">
          <ac:chgData name="Scott Hay" userId="e95d3f44-f6c0-414c-b281-41a9346c1b81" providerId="ADAL" clId="{4D76341F-F64C-4A8E-A4EF-1A11730F38E9}" dt="2026-03-01T23:05:43.502" v="1" actId="1076"/>
          <ac:spMkLst>
            <pc:docMk/>
            <pc:sldMk cId="0" sldId="328"/>
            <ac:spMk id="4" creationId="{00000000-0000-0000-0000-000000000000}"/>
          </ac:spMkLst>
        </pc:spChg>
      </pc:sldChg>
      <pc:sldChg chg="modSp mod">
        <pc:chgData name="Scott Hay" userId="e95d3f44-f6c0-414c-b281-41a9346c1b81" providerId="ADAL" clId="{4D76341F-F64C-4A8E-A4EF-1A11730F38E9}" dt="2026-03-01T23:11:55.025" v="41" actId="27636"/>
        <pc:sldMkLst>
          <pc:docMk/>
          <pc:sldMk cId="0" sldId="332"/>
        </pc:sldMkLst>
        <pc:spChg chg="mod">
          <ac:chgData name="Scott Hay" userId="e95d3f44-f6c0-414c-b281-41a9346c1b81" providerId="ADAL" clId="{4D76341F-F64C-4A8E-A4EF-1A11730F38E9}" dt="2026-03-01T23:06:04.935" v="2" actId="14100"/>
          <ac:spMkLst>
            <pc:docMk/>
            <pc:sldMk cId="0" sldId="332"/>
            <ac:spMk id="3" creationId="{00000000-0000-0000-0000-000000000000}"/>
          </ac:spMkLst>
        </pc:spChg>
        <pc:spChg chg="mod">
          <ac:chgData name="Scott Hay" userId="e95d3f44-f6c0-414c-b281-41a9346c1b81" providerId="ADAL" clId="{4D76341F-F64C-4A8E-A4EF-1A11730F38E9}" dt="2026-03-01T23:11:55.017" v="39" actId="27636"/>
          <ac:spMkLst>
            <pc:docMk/>
            <pc:sldMk cId="0" sldId="332"/>
            <ac:spMk id="6" creationId="{00000000-0000-0000-0000-000000000000}"/>
          </ac:spMkLst>
        </pc:spChg>
        <pc:spChg chg="mod">
          <ac:chgData name="Scott Hay" userId="e95d3f44-f6c0-414c-b281-41a9346c1b81" providerId="ADAL" clId="{4D76341F-F64C-4A8E-A4EF-1A11730F38E9}" dt="2026-03-01T23:06:04.935" v="2" actId="14100"/>
          <ac:spMkLst>
            <pc:docMk/>
            <pc:sldMk cId="0" sldId="332"/>
            <ac:spMk id="7" creationId="{00000000-0000-0000-0000-000000000000}"/>
          </ac:spMkLst>
        </pc:spChg>
        <pc:spChg chg="mod">
          <ac:chgData name="Scott Hay" userId="e95d3f44-f6c0-414c-b281-41a9346c1b81" providerId="ADAL" clId="{4D76341F-F64C-4A8E-A4EF-1A11730F38E9}" dt="2026-03-01T23:11:55.020" v="40" actId="27636"/>
          <ac:spMkLst>
            <pc:docMk/>
            <pc:sldMk cId="0" sldId="332"/>
            <ac:spMk id="10" creationId="{00000000-0000-0000-0000-000000000000}"/>
          </ac:spMkLst>
        </pc:spChg>
        <pc:spChg chg="mod">
          <ac:chgData name="Scott Hay" userId="e95d3f44-f6c0-414c-b281-41a9346c1b81" providerId="ADAL" clId="{4D76341F-F64C-4A8E-A4EF-1A11730F38E9}" dt="2026-03-01T23:06:04.935" v="2" actId="14100"/>
          <ac:spMkLst>
            <pc:docMk/>
            <pc:sldMk cId="0" sldId="332"/>
            <ac:spMk id="11" creationId="{00000000-0000-0000-0000-000000000000}"/>
          </ac:spMkLst>
        </pc:spChg>
        <pc:spChg chg="mod">
          <ac:chgData name="Scott Hay" userId="e95d3f44-f6c0-414c-b281-41a9346c1b81" providerId="ADAL" clId="{4D76341F-F64C-4A8E-A4EF-1A11730F38E9}" dt="2026-03-01T23:11:55.025" v="41" actId="27636"/>
          <ac:spMkLst>
            <pc:docMk/>
            <pc:sldMk cId="0" sldId="332"/>
            <ac:spMk id="14" creationId="{00000000-0000-0000-0000-000000000000}"/>
          </ac:spMkLst>
        </pc:spChg>
      </pc:sldChg>
      <pc:sldChg chg="modSp mod">
        <pc:chgData name="Scott Hay" userId="e95d3f44-f6c0-414c-b281-41a9346c1b81" providerId="ADAL" clId="{4D76341F-F64C-4A8E-A4EF-1A11730F38E9}" dt="2026-03-01T23:11:55.035" v="44" actId="27636"/>
        <pc:sldMkLst>
          <pc:docMk/>
          <pc:sldMk cId="0" sldId="336"/>
        </pc:sldMkLst>
        <pc:spChg chg="mod">
          <ac:chgData name="Scott Hay" userId="e95d3f44-f6c0-414c-b281-41a9346c1b81" providerId="ADAL" clId="{4D76341F-F64C-4A8E-A4EF-1A11730F38E9}" dt="2026-03-01T23:06:58.518" v="3" actId="14100"/>
          <ac:spMkLst>
            <pc:docMk/>
            <pc:sldMk cId="0" sldId="336"/>
            <ac:spMk id="3" creationId="{00000000-0000-0000-0000-000000000000}"/>
          </ac:spMkLst>
        </pc:spChg>
        <pc:spChg chg="mod">
          <ac:chgData name="Scott Hay" userId="e95d3f44-f6c0-414c-b281-41a9346c1b81" providerId="ADAL" clId="{4D76341F-F64C-4A8E-A4EF-1A11730F38E9}" dt="2026-03-01T23:11:55.031" v="42" actId="27636"/>
          <ac:spMkLst>
            <pc:docMk/>
            <pc:sldMk cId="0" sldId="336"/>
            <ac:spMk id="6" creationId="{00000000-0000-0000-0000-000000000000}"/>
          </ac:spMkLst>
        </pc:spChg>
        <pc:spChg chg="mod">
          <ac:chgData name="Scott Hay" userId="e95d3f44-f6c0-414c-b281-41a9346c1b81" providerId="ADAL" clId="{4D76341F-F64C-4A8E-A4EF-1A11730F38E9}" dt="2026-03-01T23:06:58.518" v="3" actId="14100"/>
          <ac:spMkLst>
            <pc:docMk/>
            <pc:sldMk cId="0" sldId="336"/>
            <ac:spMk id="7" creationId="{00000000-0000-0000-0000-000000000000}"/>
          </ac:spMkLst>
        </pc:spChg>
        <pc:spChg chg="mod">
          <ac:chgData name="Scott Hay" userId="e95d3f44-f6c0-414c-b281-41a9346c1b81" providerId="ADAL" clId="{4D76341F-F64C-4A8E-A4EF-1A11730F38E9}" dt="2026-03-01T23:11:55.035" v="44" actId="27636"/>
          <ac:spMkLst>
            <pc:docMk/>
            <pc:sldMk cId="0" sldId="336"/>
            <ac:spMk id="10" creationId="{00000000-0000-0000-0000-000000000000}"/>
          </ac:spMkLst>
        </pc:spChg>
        <pc:spChg chg="mod">
          <ac:chgData name="Scott Hay" userId="e95d3f44-f6c0-414c-b281-41a9346c1b81" providerId="ADAL" clId="{4D76341F-F64C-4A8E-A4EF-1A11730F38E9}" dt="2026-03-01T23:06:58.518" v="3" actId="14100"/>
          <ac:spMkLst>
            <pc:docMk/>
            <pc:sldMk cId="0" sldId="336"/>
            <ac:spMk id="11" creationId="{00000000-0000-0000-0000-000000000000}"/>
          </ac:spMkLst>
        </pc:spChg>
        <pc:spChg chg="mod">
          <ac:chgData name="Scott Hay" userId="e95d3f44-f6c0-414c-b281-41a9346c1b81" providerId="ADAL" clId="{4D76341F-F64C-4A8E-A4EF-1A11730F38E9}" dt="2026-03-01T23:11:55.032" v="43" actId="27636"/>
          <ac:spMkLst>
            <pc:docMk/>
            <pc:sldMk cId="0" sldId="336"/>
            <ac:spMk id="14" creationId="{00000000-0000-0000-0000-000000000000}"/>
          </ac:spMkLst>
        </pc:spChg>
      </pc:sldChg>
      <pc:sldChg chg="modSp mod">
        <pc:chgData name="Scott Hay" userId="e95d3f44-f6c0-414c-b281-41a9346c1b81" providerId="ADAL" clId="{4D76341F-F64C-4A8E-A4EF-1A11730F38E9}" dt="2026-03-01T23:07:08.367" v="4" actId="1076"/>
        <pc:sldMkLst>
          <pc:docMk/>
          <pc:sldMk cId="0" sldId="338"/>
        </pc:sldMkLst>
        <pc:spChg chg="mod">
          <ac:chgData name="Scott Hay" userId="e95d3f44-f6c0-414c-b281-41a9346c1b81" providerId="ADAL" clId="{4D76341F-F64C-4A8E-A4EF-1A11730F38E9}" dt="2026-03-01T23:07:08.367" v="4" actId="1076"/>
          <ac:spMkLst>
            <pc:docMk/>
            <pc:sldMk cId="0" sldId="338"/>
            <ac:spMk id="3" creationId="{00000000-0000-0000-0000-000000000000}"/>
          </ac:spMkLst>
        </pc:spChg>
      </pc:sldChg>
      <pc:sldChg chg="modSp mod">
        <pc:chgData name="Scott Hay" userId="e95d3f44-f6c0-414c-b281-41a9346c1b81" providerId="ADAL" clId="{4D76341F-F64C-4A8E-A4EF-1A11730F38E9}" dt="2026-03-02T01:49:24.526" v="76" actId="27636"/>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2T01:49:24.526" v="76" actId="27636"/>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Sp mod">
        <pc:chgData name="Scott Hay" userId="e95d3f44-f6c0-414c-b281-41a9346c1b81" providerId="ADAL" clId="{4D76341F-F64C-4A8E-A4EF-1A11730F38E9}" dt="2026-03-01T23:11:55.075" v="56" actId="27636"/>
        <pc:sldMkLst>
          <pc:docMk/>
          <pc:sldMk cId="0" sldId="366"/>
        </pc:sldMkLst>
        <pc:spChg chg="mod">
          <ac:chgData name="Scott Hay" userId="e95d3f44-f6c0-414c-b281-41a9346c1b81" providerId="ADAL" clId="{4D76341F-F64C-4A8E-A4EF-1A11730F38E9}" dt="2026-03-01T23:08:13.248" v="7" actId="14100"/>
          <ac:spMkLst>
            <pc:docMk/>
            <pc:sldMk cId="0" sldId="366"/>
            <ac:spMk id="3" creationId="{00000000-0000-0000-0000-000000000000}"/>
          </ac:spMkLst>
        </pc:spChg>
        <pc:spChg chg="mod">
          <ac:chgData name="Scott Hay" userId="e95d3f44-f6c0-414c-b281-41a9346c1b81" providerId="ADAL" clId="{4D76341F-F64C-4A8E-A4EF-1A11730F38E9}" dt="2026-03-01T23:11:55.075" v="56" actId="27636"/>
          <ac:spMkLst>
            <pc:docMk/>
            <pc:sldMk cId="0" sldId="366"/>
            <ac:spMk id="6" creationId="{00000000-0000-0000-0000-000000000000}"/>
          </ac:spMkLst>
        </pc:spChg>
        <pc:spChg chg="mod">
          <ac:chgData name="Scott Hay" userId="e95d3f44-f6c0-414c-b281-41a9346c1b81" providerId="ADAL" clId="{4D76341F-F64C-4A8E-A4EF-1A11730F38E9}" dt="2026-03-01T23:08:13.248" v="7" actId="14100"/>
          <ac:spMkLst>
            <pc:docMk/>
            <pc:sldMk cId="0" sldId="366"/>
            <ac:spMk id="7" creationId="{00000000-0000-0000-0000-000000000000}"/>
          </ac:spMkLst>
        </pc:spChg>
        <pc:spChg chg="mod">
          <ac:chgData name="Scott Hay" userId="e95d3f44-f6c0-414c-b281-41a9346c1b81" providerId="ADAL" clId="{4D76341F-F64C-4A8E-A4EF-1A11730F38E9}" dt="2026-03-01T23:11:55.069" v="54" actId="27636"/>
          <ac:spMkLst>
            <pc:docMk/>
            <pc:sldMk cId="0" sldId="366"/>
            <ac:spMk id="10" creationId="{00000000-0000-0000-0000-000000000000}"/>
          </ac:spMkLst>
        </pc:spChg>
        <pc:spChg chg="mod">
          <ac:chgData name="Scott Hay" userId="e95d3f44-f6c0-414c-b281-41a9346c1b81" providerId="ADAL" clId="{4D76341F-F64C-4A8E-A4EF-1A11730F38E9}" dt="2026-03-01T23:08:13.248" v="7" actId="14100"/>
          <ac:spMkLst>
            <pc:docMk/>
            <pc:sldMk cId="0" sldId="366"/>
            <ac:spMk id="11" creationId="{00000000-0000-0000-0000-000000000000}"/>
          </ac:spMkLst>
        </pc:spChg>
        <pc:spChg chg="mod">
          <ac:chgData name="Scott Hay" userId="e95d3f44-f6c0-414c-b281-41a9346c1b81" providerId="ADAL" clId="{4D76341F-F64C-4A8E-A4EF-1A11730F38E9}" dt="2026-03-01T23:11:55.073" v="55" actId="27636"/>
          <ac:spMkLst>
            <pc:docMk/>
            <pc:sldMk cId="0" sldId="366"/>
            <ac:spMk id="14" creationId="{00000000-0000-0000-0000-000000000000}"/>
          </ac:spMkLst>
        </pc:spChg>
      </pc:sldChg>
      <pc:sldChg chg="modSp mod">
        <pc:chgData name="Scott Hay" userId="e95d3f44-f6c0-414c-b281-41a9346c1b81" providerId="ADAL" clId="{4D76341F-F64C-4A8E-A4EF-1A11730F38E9}" dt="2026-03-01T23:09:12.678" v="8" actId="207"/>
        <pc:sldMkLst>
          <pc:docMk/>
          <pc:sldMk cId="0" sldId="369"/>
        </pc:sldMkLst>
        <pc:spChg chg="mod">
          <ac:chgData name="Scott Hay" userId="e95d3f44-f6c0-414c-b281-41a9346c1b81" providerId="ADAL" clId="{4D76341F-F64C-4A8E-A4EF-1A11730F38E9}" dt="2026-03-01T23:09:12.678" v="8" actId="207"/>
          <ac:spMkLst>
            <pc:docMk/>
            <pc:sldMk cId="0" sldId="369"/>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Welcome to Day 2! Yesterday you learned to talk to Claude - today you'll learn to build with it. By the end of this session, Claude Code will feel like having a senior developer pair programming with you.</a:t>
            </a:r>
          </a:p>
          <a:p>
            <a:endParaRPr/>
          </a:p>
          <a:p>
            <a:r>
              <a:t>KEY POINTS:</a:t>
            </a:r>
          </a:p>
          <a:p>
            <a:r>
              <a:t>   * Today is all about the Claude Code CLI - a completely different tool than claude.ai</a:t>
            </a:r>
          </a:p>
          <a:p>
            <a:r>
              <a:t>   * This is not autocomplete like Copilot, and it's not a chatbot - it's an autonomous agent that reads your codebase and makes coordinated changes</a:t>
            </a:r>
          </a:p>
          <a:p>
            <a:r>
              <a:t>   * You'll get hands-on with two real labs today - building actual features, not toy examples</a:t>
            </a:r>
          </a:p>
          <a:p>
            <a:r>
              <a:t>   * We're going from zero to productive in 6 hours</a:t>
            </a:r>
          </a:p>
          <a:p>
            <a:endParaRPr/>
          </a:p>
          <a:p>
            <a:r>
              <a:t>REAL-WORLD EXAMPLE:</a:t>
            </a:r>
          </a:p>
          <a:p>
            <a:r>
              <a:t>   One of our developers used Claude Code last week to refactor 47 files in a legacy codebase in under 30 minutes - something that would have taken days manually. That's the power we're unlocking today.</a:t>
            </a:r>
          </a:p>
          <a:p>
            <a:endParaRPr/>
          </a:p>
          <a:p>
            <a:r>
              <a:t>TRANSITION:</a:t>
            </a:r>
          </a:p>
          <a:p>
            <a:r>
              <a:t>   Let's look at what we're covering today</a:t>
            </a:r>
          </a:p>
          <a:p>
            <a:br/>
            <a:br/>
            <a:r>
              <a:t>OPENING HOOK: Before anything else, ask the room: "How long would it take you to build a dashboard with an API, a database, a frontend, input validation, logging, CSV export, and clean git history?" Someone will say a day or two. Then say: "By 4pm today, you'll have done it in about 3 hours — and you'll barely touch the keyboard." Let that land, then move to the agenda.</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is a packed day, but every minute is hands-on and practical - no theoretical fluff.</a:t>
            </a:r>
          </a:p>
          <a:p>
            <a:endParaRPr/>
          </a:p>
          <a:p>
            <a:r>
              <a:t>KEY POINTS:</a:t>
            </a:r>
          </a:p>
          <a:p>
            <a:r>
              <a:t>   * Morning focuses on understanding how Claude Code thinks and works - the agentic loop is the key mental model you need</a:t>
            </a:r>
          </a:p>
          <a:p>
            <a:r>
              <a:t>   * We'll cover context management heavily because that's where most people struggle initially</a:t>
            </a:r>
          </a:p>
          <a:p>
            <a:r>
              <a:t>   * Afternoon is all about power user features - commands, security, Git integration, and real workflows</a:t>
            </a:r>
          </a:p>
          <a:p>
            <a:r>
              <a:t>   * Two full labs give you hands-on time to cement these concepts with real code</a:t>
            </a:r>
          </a:p>
          <a:p>
            <a:endParaRPr/>
          </a:p>
          <a:p>
            <a:r>
              <a:t>REAL-WORLD EXAMPLE:</a:t>
            </a:r>
          </a:p>
          <a:p>
            <a:r>
              <a:t>   I've trained over 200 developers on Claude Code. The ones who grasp the agentic loop in the morning hit the ground running. The ones who skip it struggle for weeks.</a:t>
            </a:r>
          </a:p>
          <a:p>
            <a:endParaRPr/>
          </a:p>
          <a:p>
            <a:r>
              <a:t>TRANSITION:</a:t>
            </a:r>
          </a:p>
          <a:p>
            <a:r>
              <a:t>   Let's talk about what you'll actually be able to do by end of day</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Nine objectives today. This might look intimidating, but they build on each other logically. By lunch you'll have five of these checked off.</a:t>
            </a:r>
          </a:p>
          <a:p>
            <a:endParaRPr/>
          </a:p>
          <a:p>
            <a:r>
              <a:t>KEY POINTS:</a:t>
            </a:r>
          </a:p>
          <a:p>
            <a:r>
              <a:t>   * Objectives one through four are morning content - installation, the core mental model, configuration, and context control</a:t>
            </a:r>
          </a:p>
          <a:p>
            <a:r>
              <a:t>   * Objectives five through seven are power user territory - optimization, commands, and security</a:t>
            </a:r>
          </a:p>
          <a:p>
            <a:r>
              <a:t>   * The last two objectives are about real workflows - this is where it clicks and becomes part of your daily toolkit</a:t>
            </a:r>
          </a:p>
          <a:p>
            <a:r>
              <a:t>   * Every single one of these objectives will be practiced in the labs, not just lectured about</a:t>
            </a:r>
          </a:p>
          <a:p>
            <a:endParaRPr/>
          </a:p>
          <a:p>
            <a:r>
              <a:t>ASK THE CLASS:</a:t>
            </a:r>
          </a:p>
          <a:p>
            <a:r>
              <a:t>   "Quick show of hands - how many of you have used GitHub Copilot or similar autocomplete tools? Keep those hands up if you think Claude Code will be similar. Okay, let's challenge that assumption today."</a:t>
            </a:r>
          </a:p>
          <a:p>
            <a:r>
              <a:t>   [PAUSE for 30-60 seconds]</a:t>
            </a:r>
          </a:p>
          <a:p>
            <a:endParaRPr/>
          </a:p>
          <a:p>
            <a:r>
              <a:t>REAL-WORLD EXAMPLE:</a:t>
            </a:r>
          </a:p>
          <a:p>
            <a:r>
              <a:t>   A frontend developer in our last cohort had never touched the backend codebase. After this training, she used Claude Code to add three new API endpoints with full test coverage. The backend team approved her PR with zero change requests.</a:t>
            </a:r>
          </a:p>
          <a:p>
            <a:endParaRPr/>
          </a:p>
          <a:p>
            <a:r>
              <a:t>TRANSITION:</a:t>
            </a:r>
          </a:p>
          <a:p>
            <a:r>
              <a:t>   Here's what you'll actually build today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These aren't tutorial projects. These are the exact types of tasks you'll do next week at your desk.</a:t>
            </a:r>
          </a:p>
          <a:p>
            <a:endParaRPr/>
          </a:p>
          <a:p>
            <a:r>
              <a:t>KEY POINTS:</a:t>
            </a:r>
          </a:p>
          <a:p>
            <a:r>
              <a:t>   * Lab 1 mirrors a typical debugging session - something's broken, you need to find it, fix it, test it, and document the fix</a:t>
            </a:r>
          </a:p>
          <a:p>
            <a:r>
              <a:t>   * Lab 2 is a complete feature workflow from start to finish - exactly what you'd do for a real ticket</a:t>
            </a:r>
          </a:p>
          <a:p>
            <a:r>
              <a:t>   * The bonus items are yours to keep and customize for your actual projects - these become templates you reuse constantly</a:t>
            </a:r>
          </a:p>
          <a:p>
            <a:r>
              <a:t>   * You'll leave today with working code you wrote, committed, and pushed to Git</a:t>
            </a:r>
          </a:p>
          <a:p>
            <a:endParaRPr/>
          </a:p>
          <a:p>
            <a:r>
              <a:t>REAL-WORLD EXAMPLE:</a:t>
            </a:r>
          </a:p>
          <a:p>
            <a:r>
              <a:t>   Last month, a student took the CLAUDE.md template from this class, customized it for their React Native project, and saw their development velocity increase by 40% in the first week. The team adopted it company-wide two weeks later.</a:t>
            </a:r>
          </a:p>
          <a:p>
            <a:endParaRPr/>
          </a:p>
          <a:p>
            <a:r>
              <a:t>TRANSITION:</a:t>
            </a:r>
          </a:p>
          <a:p>
            <a:r>
              <a:t>   Before we dive into installation, let's make sure we're all on the same page about what Claude Code actually is</a:t>
            </a:r>
          </a:p>
          <a:p>
            <a:br/>
            <a:br/>
            <a:r>
              <a:t>OPENING QUESTION (before students start the lab): "Raise your hand if you believe AI can generate code." [most hands]. "Keep your hand up if you believe it can debug production failures." [some drop]. "Keep your hand up if you believe it can refactor a large codebase safely." [more drop]. "Good. Today we test all three." Then let them start.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Yesterday you learned to talk to Claude. Today you learn to delegate to Claude. That's the fundamental shift. Browser Claude is like a helpful intern you micromanage — you copy-paste context, structure every request, hold its hand through each step. Claude Code is an autonomous teammate you delegate to. You say 'add authentication to this API' and it reads your codebase, understands your patterns, writes the code, runs the tests, and commits the result.</a:t>
            </a:r>
          </a:p>
          <a:p>
            <a:endParaRPr/>
          </a:p>
          <a:p>
            <a:r>
              <a:t>KEY POINTS:</a:t>
            </a:r>
          </a:p>
          <a:p>
            <a:r>
              <a:t>   * Browser Claude requires you to provide all context manually — Claude Code reads your entire project automatically</a:t>
            </a:r>
          </a:p>
          <a:p>
            <a:r>
              <a:t>   * Browser Claude works in one conversation — Claude Code works across your entire file system</a:t>
            </a:r>
          </a:p>
          <a:p>
            <a:r>
              <a:t>   * The mental model shift: from 'how do I prompt this?' to 'how do I delegate this?'</a:t>
            </a:r>
          </a:p>
          <a:p>
            <a:r>
              <a:t>   * Source: Mohit Aggarwal's 'Claude Code for Product Managers' — even non-engineers use Claude Code for competitive analysis, PRDs, prototyping</a:t>
            </a:r>
          </a:p>
          <a:p>
            <a:r>
              <a:t>   * Enterprise adoption is accelerating: TELUS (57,000 employees) reported 500,000 hours saved and $90M+ in benefit from AI coding tools. Zapier built 800+ internal AI agents with 89% employee adoption.</a:t>
            </a:r>
          </a:p>
          <a:p>
            <a:r>
              <a:t>   * Bridgewater Associates achieved 50-70% faster reporting cycles using AI-assisted development.</a:t>
            </a:r>
          </a:p>
          <a:p>
            <a:r>
              <a:t>   * By August 2025, Anthropic reported over 300,000 business customers — this is mainstream, not experimental.</a:t>
            </a:r>
          </a:p>
          <a:p>
            <a:endParaRPr/>
          </a:p>
          <a:p>
            <a:r>
              <a:t>ASK THE CLASS:</a:t>
            </a:r>
          </a:p>
          <a:p>
            <a:r>
              <a:t>   "How many hours per week do you spend copy-pasting context into AI tools? What if that went to zero?"</a:t>
            </a:r>
          </a:p>
          <a:p>
            <a:r>
              <a:t>   [PAUSE for 30-60 seconds]</a:t>
            </a:r>
          </a:p>
          <a:p>
            <a:endParaRPr/>
          </a:p>
          <a:p>
            <a:r>
              <a:t>REAL-WORLD EXAMPLE:</a:t>
            </a:r>
          </a:p>
          <a:p>
            <a:r>
              <a:t>   A PM creates a folder with competitors.md, analysis-template.md, and CLAUDE.md with instructions. Types 'analyse competitors' — Claude Code does the research automatically using folder context. No copy-pasting.</a:t>
            </a:r>
          </a:p>
          <a:p>
            <a:endParaRPr/>
          </a:p>
          <a:p>
            <a:r>
              <a:t>TRANSITION:</a:t>
            </a:r>
          </a:p>
          <a:p>
            <a:r>
              <a:t>   Let's get Claude Code installed so you can experience this shift firsthand.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Before we dive in, let's set expectations. Claude Code is incredibly powerful, but it's not replacing your engineering team. Think of it as letting you validate before consuming engineering resources.</a:t>
            </a:r>
          </a:p>
          <a:p>
            <a:endParaRPr/>
          </a:p>
          <a:p>
            <a:r>
              <a:t>KEY POINTS:</a:t>
            </a:r>
          </a:p>
          <a:p>
            <a:r>
              <a:t>   * Claude Code lets non-engineers prototype ideas in hours instead of waiting weeks for engineering estimates</a:t>
            </a:r>
          </a:p>
          <a:p>
            <a:r>
              <a:t>   * A PM built a working Chrome extension prototype in 2 hours — showed the CEO a working demo instead of a spec doc</a:t>
            </a:r>
          </a:p>
          <a:p>
            <a:r>
              <a:t>   * Engineering loved it: clear requirements from a working prototype, estimate dropped from 3 weeks to 1 week</a:t>
            </a:r>
          </a:p>
          <a:p>
            <a:r>
              <a:t>   * The key quote: 'Show rather than tell. Prove feasibility before asking engineering to estimate.'</a:t>
            </a:r>
          </a:p>
          <a:p>
            <a:r>
              <a:t>   * Total: 2 hours of PM time saved 20 hours of back-and-forth between PM, design, and engineering</a:t>
            </a:r>
          </a:p>
          <a:p>
            <a:r>
              <a:t>   * According to industry data, 40-60% of organizational code output is now AI-generated. The question isn't whether to adopt — it's whether to adopt intentionally or let shadow AI proliferate.</a:t>
            </a:r>
          </a:p>
          <a:p>
            <a:r>
              <a:t>   * TELUS reported $90M+ in benefit — and that's one company. The ROI of structured AI adoption is now well-documented across industries.</a:t>
            </a:r>
          </a:p>
          <a:p>
            <a:endParaRPr/>
          </a:p>
          <a:p>
            <a:r>
              <a:t>ASK THE CLASS:</a:t>
            </a:r>
          </a:p>
          <a:p>
            <a:r>
              <a:t>   "Have you ever had an idea killed in committee that might have survived if you could show a working prototype?"</a:t>
            </a:r>
          </a:p>
          <a:p>
            <a:r>
              <a:t>   [PAUSE for 30-60 seconds]</a:t>
            </a:r>
          </a:p>
          <a:p>
            <a:endParaRPr/>
          </a:p>
          <a:p>
            <a:r>
              <a:t>REAL-WORLD EXAMPLE:</a:t>
            </a:r>
          </a:p>
          <a:p>
            <a:r>
              <a:t>   CEO asks 'can we build X?' — PM prototypes in 2 hours with Claude Code — shows CEO working demo — engineering sees clear requirements — estimate drops from 3 weeks to 1 week.</a:t>
            </a:r>
          </a:p>
          <a:p>
            <a:endParaRPr/>
          </a:p>
          <a:p>
            <a:r>
              <a:t>TRANSITION:</a:t>
            </a:r>
          </a:p>
          <a:p>
            <a:r>
              <a:t>   Now let's get set up so you can start building prototypes like this.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address the elephant in the room: how does Claude Code compare to Copilot, Cursor, and Amazon Q? They're not the same category of tool.</a:t>
            </a:r>
          </a:p>
          <a:p>
            <a:endParaRPr/>
          </a:p>
          <a:p>
            <a:r>
              <a:t>KEY POINTS:</a:t>
            </a:r>
          </a:p>
          <a:p>
            <a:r>
              <a:t>   * GitHub Copilot is an autocomplete engine — it predicts your next line. Claude Code is an autonomous agent that reads your codebase, plans changes, executes them, and verifies results.</a:t>
            </a:r>
          </a:p>
          <a:p>
            <a:r>
              <a:t>   * Cursor embeds AI into your IDE for multi-file editing — powerful, but still reactive. Claude Code is proactive: it runs tools, manages context, and orchestrates workflows.</a:t>
            </a:r>
          </a:p>
          <a:p>
            <a:r>
              <a:t>   * Amazon Q is strong for AWS migrations and cloud-specific tasks, but lacks the general-purpose agentic capabilities of Claude Code.</a:t>
            </a:r>
          </a:p>
          <a:p>
            <a:r>
              <a:t>   * The real differentiator: agentic workflows, persistent memory (CLAUDE.md), multi-agent orchestration, hooks for safety, MCP for external integrations, and plan mode for complex tasks.</a:t>
            </a:r>
          </a:p>
          <a:p>
            <a:r>
              <a:t>   * Key positioning: 'Copilot autocompletes your lines. Claude Code runs your project.' This is the gap nobody teaches — and it's what this course fills.</a:t>
            </a:r>
          </a:p>
          <a:p>
            <a:endParaRPr/>
          </a:p>
          <a:p>
            <a:r>
              <a:t>ASK THE CLASS:</a:t>
            </a:r>
          </a:p>
          <a:p>
            <a:r>
              <a:t>   "How many of you use Copilot today? What tasks does it handle well, and where do you hit limits?"</a:t>
            </a:r>
          </a:p>
          <a:p>
            <a:r>
              <a:t>   [PAUSE for 30-60 seconds]</a:t>
            </a:r>
          </a:p>
          <a:p>
            <a:endParaRPr/>
          </a:p>
          <a:p>
            <a:r>
              <a:t>REAL-WORLD EXAMPLE:</a:t>
            </a:r>
          </a:p>
          <a:p>
            <a:r>
              <a:t>   A team switched from Copilot to Claude Code for a legacy migration. Copilot could suggest individual function rewrites. Claude Code read the entire legacy module, planned a migration strategy across 15 files, executed the changes, ran tests, and committed — all in one session.</a:t>
            </a:r>
          </a:p>
          <a:p>
            <a:endParaRPr/>
          </a:p>
          <a:p>
            <a:r>
              <a:t>TRANSITION:</a:t>
            </a:r>
          </a:p>
          <a:p>
            <a:r>
              <a:t>   Now that you understand what makes Claude Code different, let's explore the memory architecture that powers it.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touch a single tool, I want to give you a mental model that makes everything else today click. You can hold about seven things in working memory. Try to juggle fifteen and you start dropping things. Claude's context window works exactly the same way — task four in a marathon session doesn't get the same attention as task one.</a:t>
            </a:r>
          </a:p>
          <a:p>
            <a:endParaRPr/>
          </a:p>
          <a:p>
            <a:r>
              <a:t>KEY POINTS:</a:t>
            </a:r>
          </a:p>
          <a:p>
            <a:r>
              <a:t>   * Working memory → Context window: Both degrade under load. This is why session hygiene matters — you'll learn /clear as your most important command.</a:t>
            </a:r>
          </a:p>
          <a:p>
            <a:r>
              <a:t>   * Short-term → Session history: When you study, you move important things from short-term to long-term memory through notes. Claude is the same — if you don't write it to CLAUDE.md or memory files, it's gone next session.</a:t>
            </a:r>
          </a:p>
          <a:p>
            <a:r>
              <a:t>   * Long-term → CLAUDE.md / RAG / files: RAG is like searching your own memory. Quality depends on what you stored and how well it's indexed. CLAUDE.md is your most reliable long-term memory for Claude.</a:t>
            </a:r>
          </a:p>
          <a:p>
            <a:r>
              <a:t>   * Muscle memory → Skills / custom commands: Just like you don't consciously think about typing, skills and commands let Claude execute patterns without you re-explaining them every time.</a:t>
            </a:r>
          </a:p>
          <a:p>
            <a:r>
              <a:t>   * Scott's framing: Context window is short-term memory. RAG is long-term memory.</a:t>
            </a:r>
          </a:p>
          <a:p>
            <a:r>
              <a:t>   * Everything that follows today — CLAUDE.md, /clear, session hygiene, context management, skills — connects back to this model.</a:t>
            </a:r>
          </a:p>
          <a:p>
            <a:endParaRPr/>
          </a:p>
          <a:p>
            <a:r>
              <a:t>ASK THE CLASS:</a:t>
            </a:r>
          </a:p>
          <a:p>
            <a:r>
              <a:t>   "Think about how you study for an exam. You review notes repeatedly to move them from short-term to long-term memory. How would you do the same for Claude?"</a:t>
            </a:r>
          </a:p>
          <a:p>
            <a:r>
              <a:t>   [PAUSE for 30-60 seconds]</a:t>
            </a:r>
          </a:p>
          <a:p>
            <a:endParaRPr/>
          </a:p>
          <a:p>
            <a:r>
              <a:t>REAL-WORLD EXAMPLE:</a:t>
            </a:r>
          </a:p>
          <a:p>
            <a:r>
              <a:t>   A developer starts a new Claude Code session. Claude knows nothing about the project. Then it reads CLAUDE.md — suddenly it knows the tech stack, conventions, team patterns. That's long-term memory loading into working memory. The developer uses @ mentions to add specific files — that's selective recall. By the end of the session, Claude has rich context. But if they don't /clear before the next task, all that context is still there, competing for attention.</a:t>
            </a:r>
          </a:p>
          <a:p>
            <a:endParaRPr/>
          </a:p>
          <a:p>
            <a:r>
              <a:t>TRANSITION:</a:t>
            </a:r>
          </a:p>
          <a:p>
            <a:r>
              <a:t>   With this model in mind, let's get Claude Code installed and see these memory systems in action.</a:t>
            </a:r>
          </a:p>
          <a:p>
            <a:br/>
            <a:br/>
            <a:r>
              <a:t>ANALOGY TABLE (draw on whiteboard or just speak it):</a:t>
            </a:r>
            <a:br/>
            <a:r>
              <a:t>Human Brain → Claude Code:</a:t>
            </a:r>
            <a:br/>
            <a:r>
              <a:t>Working memory → Context window (what Claude is thinking about RIGHT NOW)</a:t>
            </a:r>
            <a:br/>
            <a:r>
              <a:t>Short-term memory → Session history (this conversation)</a:t>
            </a:r>
            <a:br/>
            <a:r>
              <a:t>Long-term memory → CLAUDE.md (persists across sessions)</a:t>
            </a:r>
            <a:br/>
            <a:r>
              <a:t>Muscle memory → Skills &amp; slash commands (automatic behaviors)</a:t>
            </a:r>
            <a:br/>
            <a:r>
              <a:t>Everything you learn today is about managing these four layers. That's the whole game.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Installation is quick, but configuration is where the magic happens. We'll do both.</a:t>
            </a:r>
          </a:p>
          <a:p>
            <a:endParaRPr/>
          </a:p>
          <a:p>
            <a:r>
              <a:t>KEY POINTS:</a:t>
            </a:r>
          </a:p>
          <a:p>
            <a:r>
              <a:t>   * Most of you will be up and running in 5 minutes</a:t>
            </a:r>
          </a:p>
          <a:p>
            <a:r>
              <a:t>   * The remaining 25 minutes is about configuration, API keys, and your first successful command</a:t>
            </a:r>
          </a:p>
          <a:p>
            <a:r>
              <a:t>   * If you hit any issues, flag me immediately - we're not moving forward until everyone is working</a:t>
            </a:r>
          </a:p>
          <a:p>
            <a:endParaRPr/>
          </a:p>
          <a:p>
            <a:r>
              <a:t>TRANSITION:</a:t>
            </a:r>
          </a:p>
          <a:p>
            <a:r>
              <a:t>   First, let's check if your machine is ready</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Everyone pull up a terminal right now and type 'node --version' - I'll wait. If you see a number starting with 18, 20, or 22, you're golden.</a:t>
            </a:r>
          </a:p>
          <a:p>
            <a:endParaRPr/>
          </a:p>
          <a:p>
            <a:r>
              <a:t>KEY POINTS:</a:t>
            </a:r>
          </a:p>
          <a:p>
            <a:r>
              <a:t>   * Node.js is the only hard requirement - Claude Code is distributed as an npm package. If you don't have Node 18 or higher, download it from nodejs.org right now.</a:t>
            </a:r>
          </a:p>
          <a:p>
            <a:r>
              <a:t>   * Git is technically optional but practically required - almost everything we do today involves version control, so make sure you have Git installed and configured.</a:t>
            </a:r>
          </a:p>
          <a:p>
            <a:r>
              <a:t>   * Windows users must use WSL2, not native Windows - Claude Code relies on Unix-like shell behavior. If you're on Windows and haven't set up WSL2, see me during the break.</a:t>
            </a:r>
          </a:p>
          <a:p>
            <a:r>
              <a:t>   * The 4GB RAM recommendation is conservative - Claude Code itself is lightweight, but you'll likely have your editor, browser, and other tools open simultaneously</a:t>
            </a:r>
          </a:p>
          <a:p>
            <a:endParaRPr/>
          </a:p>
          <a:p>
            <a:r>
              <a:t>ASK THE CLASS:</a:t>
            </a:r>
          </a:p>
          <a:p>
            <a:r>
              <a:t>   "Anyone stuck on the Node or Git version check? Speak up now - we'll get you sorted."</a:t>
            </a:r>
          </a:p>
          <a:p>
            <a:r>
              <a:t>   [PAUSE for 30-60 seconds]</a:t>
            </a:r>
          </a:p>
          <a:p>
            <a:endParaRPr/>
          </a:p>
          <a:p>
            <a:r>
              <a:t>REAL-WORLD EXAMPLE:</a:t>
            </a:r>
          </a:p>
          <a:p>
            <a:r>
              <a:t>   I've had students try to run Claude Code on Node 16 and wonder why commands fail intermittently. The minimum version exists for a reason - async behavior and module resolution changed significantly in Node 18.</a:t>
            </a:r>
          </a:p>
          <a:p>
            <a:endParaRPr/>
          </a:p>
          <a:p>
            <a:r>
              <a:t>TRANSITION:</a:t>
            </a:r>
          </a:p>
          <a:p>
            <a:r>
              <a:t>   Assuming we're all good on requirements, let's install Claude Code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Three ways to install, but I'm going to tell you which one to use: npm global install. Here's why.</a:t>
            </a:r>
          </a:p>
          <a:p>
            <a:endParaRPr/>
          </a:p>
          <a:p>
            <a:r>
              <a:t>KEY POINTS:</a:t>
            </a:r>
          </a:p>
          <a:p>
            <a:r>
              <a:t>   * The npm global install gives you the 'claude' command available everywhere in your terminal - this is what 99% of developers use daily because it's simple and persistent.</a:t>
            </a:r>
          </a:p>
          <a:p>
            <a:r>
              <a:t>   * Homebrew is great if you're already a brew user, but it sometimes lags behind npm releases by a few days. I use brew for everything else, but npm for Claude Code.</a:t>
            </a:r>
          </a:p>
          <a:p>
            <a:r>
              <a:t>   * The npx method is perfect for testing or CI/CD environments where you always want the latest version, but it's slower for daily use because it has to download and verify on every run.</a:t>
            </a:r>
          </a:p>
          <a:p>
            <a:r>
              <a:t>   * After installation, verify with 'claude --version' - you should see something like '2.1.4' or higher</a:t>
            </a:r>
          </a:p>
          <a:p>
            <a:r>
              <a:t>   * If 'claude --version' returns 'command not found', your npm global bin directory isn't in your PATH - we'll fix that in the next 60 seconds</a:t>
            </a:r>
          </a:p>
          <a:p>
            <a:endParaRPr/>
          </a:p>
          <a:p>
            <a:r>
              <a:t>ASK THE CLASS:</a:t>
            </a:r>
          </a:p>
          <a:p>
            <a:r>
              <a:t>   "Who's installing right now? Give me a thumbs up in chat when you see a version number."</a:t>
            </a:r>
          </a:p>
          <a:p>
            <a:r>
              <a:t>   [PAUSE for 30-60 seconds]</a:t>
            </a:r>
          </a:p>
          <a:p>
            <a:endParaRPr/>
          </a:p>
          <a:p>
            <a:r>
              <a:t>REAL-WORLD EXAMPLE:</a:t>
            </a:r>
          </a:p>
          <a:p>
            <a:r>
              <a:t>   I installed via npm global on day one and haven't thought about it since - it just works. One of my colleagues uses npx exclusively because he wants bleeding-edge features immediately, but he pays the 2-second startup penalty every time.</a:t>
            </a:r>
          </a:p>
          <a:p>
            <a:endParaRPr/>
          </a:p>
          <a:p>
            <a:r>
              <a:t>TRANSITION:</a:t>
            </a:r>
          </a:p>
          <a:p>
            <a:r>
              <a:t>   You've got the CLI installed - now let's authenticate 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Most people think Claude Code means the terminal. That's one way. There's also Claude Code Desktop — a GUI built right into the Claude Desktop app. Click the Code tab in the sidebar, pick your project folder, choose your model, and start prompting. Same engine, different interface.</a:t>
            </a:r>
          </a:p>
          <a:p>
            <a:endParaRPr/>
          </a:p>
          <a:p>
            <a:r>
              <a:t>KEY POINTS:</a:t>
            </a:r>
          </a:p>
          <a:p>
            <a:r>
              <a:t>   * Claude Code Desktop launched as a preview feature inside the Claude Desktop app</a:t>
            </a:r>
          </a:p>
          <a:p>
            <a:r>
              <a:t>   * The Code tab in the sidebar gives you: folder selection dropdown, environment controls (local or cloud), model picker, and three starter templates</a:t>
            </a:r>
          </a:p>
          <a:p>
            <a:r>
              <a:t>   * Starter templates: Create/update CLAUDE.md, search for TODOs and fix them, recommend improvements</a:t>
            </a:r>
          </a:p>
          <a:p>
            <a:r>
              <a:t>   * Real-time code visibility — watch files being written as Claude works</a:t>
            </a:r>
          </a:p>
          <a:p>
            <a:r>
              <a:t>   * One-click VS Code integration — open any file directly from the interface</a:t>
            </a:r>
          </a:p>
          <a:p>
            <a:r>
              <a:t>   * Same underlying engine as terminal Claude Code — identical capabilities</a:t>
            </a:r>
          </a:p>
          <a:p>
            <a:r>
              <a:t>   * Important caveat: still in preview. Can freeze on memory-intensive tasks in large projects. Run as admin if you hit freezing issues.</a:t>
            </a:r>
          </a:p>
          <a:p>
            <a:r>
              <a:t>   * For this training, we'll primarily use the terminal because it gives you full control. But know that the Desktop option exists for when you want a more visual workflow.</a:t>
            </a:r>
          </a:p>
          <a:p>
            <a:endParaRPr/>
          </a:p>
          <a:p>
            <a:r>
              <a:t>TRANSITION:</a:t>
            </a:r>
          </a:p>
          <a:p>
            <a:r>
              <a:t>   Whether you use terminal or desktop, the first step is the same — let's walk through your first command.</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Here's what the interface looks like. The Code tab sits in your Claude Desktop sidebar. At the top: folder selector, environment dropdown, and model picker. At the bottom: three quick-start templates. The main area shows your conversation with real-time code artifacts.</a:t>
            </a:r>
          </a:p>
          <a:p>
            <a:endParaRPr/>
          </a:p>
          <a:p>
            <a:r>
              <a:t>KEY POINTS:</a:t>
            </a:r>
          </a:p>
          <a:p>
            <a:r>
              <a:t>   * The folder selector is key — it scopes Claude Code to your project directory, just like cd-ing into a folder in terminal</a:t>
            </a:r>
          </a:p>
          <a:p>
            <a:r>
              <a:t>   * Environment dropdown defaults to 'local' — you can add cloud environments with access credentials</a:t>
            </a:r>
          </a:p>
          <a:p>
            <a:r>
              <a:t>   * When you first open a workspace, you get a trust prompt — same security model as VS Code</a:t>
            </a:r>
          </a:p>
          <a:p>
            <a:r>
              <a:t>   * The TODO search template is surprisingly useful — point it at a large codebase and it finds and fixes pending items automatically</a:t>
            </a:r>
          </a:p>
          <a:p>
            <a:r>
              <a:t>   * Pro tip: keep VS Code open side-by-side to watch files being created in real time</a:t>
            </a:r>
          </a:p>
          <a:p>
            <a:endParaRPr/>
          </a:p>
          <a:p>
            <a:r>
              <a:t>TRANSITION:</a:t>
            </a:r>
          </a:p>
          <a:p>
            <a:r>
              <a:t>   Now let's run our first real command and see Claude Code in action.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Authentication is a one-time thing, but you need to understand where your API key lives and how Claude Code uses it.</a:t>
            </a:r>
          </a:p>
          <a:p>
            <a:endParaRPr/>
          </a:p>
          <a:p>
            <a:r>
              <a:t>KEY POINTS:</a:t>
            </a:r>
          </a:p>
          <a:p>
            <a:r>
              <a:t>   * When you run 'claude login', it opens your browser and walks you through OAuth2 authorization with Anthropic - you sign in, approve access, and the CLI stores a token in your home directory under .claude/credentials</a:t>
            </a:r>
          </a:p>
          <a:p>
            <a:r>
              <a:t>   * The token is scoped to your account and respects your API tier - if you're on the free tier, you'll hit rate limits faster than Pro users, but the functionality is identical</a:t>
            </a:r>
          </a:p>
          <a:p>
            <a:r>
              <a:t>   * The 'claude whoami' command is your sanity check - run it anytime you're not sure which account is active or if authentication broke</a:t>
            </a:r>
          </a:p>
          <a:p>
            <a:r>
              <a:t>   * Setting a default model is optional but recommended - I use Sonnet 4 as my default because it balances speed and capability, but you can override per-session with the /model command</a:t>
            </a:r>
          </a:p>
          <a:p>
            <a:r>
              <a:t>   * Your config lives in .claude/config.json and you can edit it manually if needed, but the 'claude config' commands are safer</a:t>
            </a:r>
          </a:p>
          <a:p>
            <a:endParaRPr/>
          </a:p>
          <a:p>
            <a:r>
              <a:t>ASK THE CLASS:</a:t>
            </a:r>
          </a:p>
          <a:p>
            <a:r>
              <a:t>   "Everyone run 'claude login' and 'claude whoami' right now - I want to see your account email appear. If it fails, you might have firewall or proxy issues."</a:t>
            </a:r>
          </a:p>
          <a:p>
            <a:r>
              <a:t>   [PAUSE for 30-60 seconds]</a:t>
            </a:r>
          </a:p>
          <a:p>
            <a:endParaRPr/>
          </a:p>
          <a:p>
            <a:r>
              <a:t>REAL-WORLD EXAMPLE:</a:t>
            </a:r>
          </a:p>
          <a:p>
            <a:r>
              <a:t>   A student last week got confused because 'claude whoami' showed their personal email but they wanted to use their company API key. We switched it with 'claude logout' followed by 'claude login' with the company account - took 30 seconds.</a:t>
            </a:r>
          </a:p>
          <a:p>
            <a:endParaRPr/>
          </a:p>
          <a:p>
            <a:r>
              <a:t>TRANSITION:</a:t>
            </a:r>
          </a:p>
          <a:p>
            <a:r>
              <a:t>   Now that you're authenticated, let's talk about which model to use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Model selection is like choosing between a Honda Civic, a BMW, and a Tesla - they all get you there, but the experience and cost differ wildly.</a:t>
            </a:r>
          </a:p>
          <a:p>
            <a:endParaRPr/>
          </a:p>
          <a:p>
            <a:r>
              <a:t>KEY POINTS:</a:t>
            </a:r>
          </a:p>
          <a:p>
            <a:r>
              <a:t>   * Haiku is blazing fast and cheap - perfect for bulk refactoring, generating boilerplate, or writing documentation where speed matters more than cleverness. I use Haiku for renaming 50 functions across a codebase.</a:t>
            </a:r>
          </a:p>
          <a:p>
            <a:r>
              <a:t>   * Sonnet 4 is the Goldilocks model - fast enough for interactive work, smart enough for complex logic, affordable enough to use all day. This is what I recommend as your default.</a:t>
            </a:r>
          </a:p>
          <a:p>
            <a:r>
              <a:t>   * Opus is the big brain - use it when you're designing a new system architecture, debugging a truly gnarly bug, or need the model to reason deeply about tradeoffs. It's slower and costs more per token.</a:t>
            </a:r>
          </a:p>
          <a:p>
            <a:r>
              <a:t>   * You can switch models mid-session with '/model opus' or '/model haiku' - I do this constantly depending on the task at hand</a:t>
            </a:r>
          </a:p>
          <a:p>
            <a:r>
              <a:t>   * API keys are tied to your Anthropic account tier - if you're on the free tier, expect to hit rate limits during heavy use. Pro tier removes most practical limits for individual developers.</a:t>
            </a:r>
          </a:p>
          <a:p>
            <a:endParaRPr/>
          </a:p>
          <a:p>
            <a:r>
              <a:t>ASK THE CLASS:</a:t>
            </a:r>
          </a:p>
          <a:p>
            <a:r>
              <a:t>   "What kind of tasks do you do most often - quick refactoring and docs, or deep architectural work? That'll guide your default model choice."</a:t>
            </a:r>
          </a:p>
          <a:p>
            <a:r>
              <a:t>   [PAUSE for 30-60 seconds]</a:t>
            </a:r>
          </a:p>
          <a:p>
            <a:endParaRPr/>
          </a:p>
          <a:p>
            <a:r>
              <a:t>REAL-WORLD EXAMPLE:</a:t>
            </a:r>
          </a:p>
          <a:p>
            <a:r>
              <a:t>   Last week I was generating API documentation for 30 endpoints - I switched to Haiku and it blazed through all 30 in under a minute. Later that day I was debugging a race condition in async code - I switched to Opus and it found the issue in 3 minutes after I'd been stuck for an hour.</a:t>
            </a:r>
          </a:p>
          <a:p>
            <a:endParaRPr/>
          </a:p>
          <a:p>
            <a:r>
              <a:t>TRANSITION:</a:t>
            </a:r>
          </a:p>
          <a:p>
            <a:r>
              <a:t>   Let's run your first Claude Code command and see this in action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This is the most important section of the entire day. If you understand the agentic loop, everything else will click. If you don't, you'll be fighting the tool constantly.</a:t>
            </a:r>
          </a:p>
          <a:p>
            <a:endParaRPr/>
          </a:p>
          <a:p>
            <a:r>
              <a:t>KEY POINTS:</a:t>
            </a:r>
          </a:p>
          <a:p>
            <a:r>
              <a:t>   * The agentic loop is Claude Code's decision-making process - it's how it goes from your instruction to working code</a:t>
            </a:r>
          </a:p>
          <a:p>
            <a:r>
              <a:t>   * We're going to break down all five stages and show you exactly what's happening at each step</a:t>
            </a:r>
          </a:p>
          <a:p>
            <a:r>
              <a:t>   * This isn't academic - understanding this loop lets you write better prompts, debug issues faster, and trust the tool more</a:t>
            </a:r>
          </a:p>
          <a:p>
            <a:endParaRPr/>
          </a:p>
          <a:p>
            <a:r>
              <a:t>TRANSITION:</a:t>
            </a:r>
          </a:p>
          <a:p>
            <a:r>
              <a:t>   Let's visualize the loop first, then break down each stage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 it is - the five-stage cycle that powers every single action Claude Code takes. This graphic should be burned into your brain by end of day.</a:t>
            </a:r>
          </a:p>
          <a:p>
            <a:endParaRPr/>
          </a:p>
          <a:p>
            <a:r>
              <a:t>KEY POINTS:</a:t>
            </a:r>
          </a:p>
          <a:p>
            <a:r>
              <a:t>   * Read: Claude Code gathers context from your workspace - files, directory structure, git history, anything relevant to your request</a:t>
            </a:r>
          </a:p>
          <a:p>
            <a:r>
              <a:t>   * Analyze: It builds a mental model of your codebase - patterns, conventions, dependencies, potential risks</a:t>
            </a:r>
          </a:p>
          <a:p>
            <a:r>
              <a:t>   * Plan: It formulates a strategy - what sequence of actions will accomplish the goal with minimal risk of breaking things</a:t>
            </a:r>
          </a:p>
          <a:p>
            <a:r>
              <a:t>   * Execute: It uses tools to make changes - writing files, running commands, editing code, running tests</a:t>
            </a:r>
          </a:p>
          <a:p>
            <a:r>
              <a:t>   * Verify: It checks that the changes worked - running linters, tests, checking for errors, confirming success</a:t>
            </a:r>
          </a:p>
          <a:p>
            <a:r>
              <a:t>   * Then it loops - if verification fails, it reads the error, analyzes what went wrong, plans a fix, executes it, and verifies again</a:t>
            </a:r>
          </a:p>
          <a:p>
            <a:endParaRPr/>
          </a:p>
          <a:p>
            <a:r>
              <a:t>ASK THE CLASS:</a:t>
            </a:r>
          </a:p>
          <a:p>
            <a:r>
              <a:t>   "When you debug code manually, do you follow a similar loop? Read code, understand it, plan a fix, implement it, test it? Claude Code is doing the exact same thing you do, just faster."</a:t>
            </a:r>
          </a:p>
          <a:p>
            <a:r>
              <a:t>   [PAUSE for 30-60 seconds]</a:t>
            </a:r>
          </a:p>
          <a:p>
            <a:endParaRPr/>
          </a:p>
          <a:p>
            <a:r>
              <a:t>REAL-WORLD EXAMPLE:</a:t>
            </a:r>
          </a:p>
          <a:p>
            <a:r>
              <a:t>   I watched Claude Code try to add a feature that broke tests three times in a row. Each time it hit Verify, saw the test failure, looped back through Read-Analyze-Plan, tried a different approach, and eventually got it right on the fourth iteration. It never gave up, never got frustrated - just kept looping.</a:t>
            </a:r>
          </a:p>
          <a:p>
            <a:endParaRPr/>
          </a:p>
          <a:p>
            <a:r>
              <a:t>TRANSITION:</a:t>
            </a:r>
          </a:p>
          <a:p>
            <a:r>
              <a:t>   Let's break down stage one: Read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 Read stage is where Claude Code builds its understanding of your project - think of it as the AI reading your entire codebase before touching anything.</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Analysis is where Claude Code gets smart - it's not just seeing your code, it's understanding your code's personality and quirks.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Planning is where Claude Code thinks like a senior engineer - it's not just doing what you asked, it's figuring out the safest, smartest way to do it.</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Execute is where the rubber meets the road - Claude Code stops planning and starts making changes to your actual files.</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Verification is Claude Code's quality control - it doesn't just make changes and hope they work, it actively checks that everything is good before calling it done.</a:t>
            </a:r>
          </a:p>
          <a:p>
            <a:endParaRPr/>
          </a:p>
          <a:p>
            <a:r>
              <a:t>KEY POINTS:</a:t>
            </a:r>
          </a:p>
          <a:p>
            <a:r>
              <a:t>   * Detailed explanation of this stage</a:t>
            </a:r>
          </a:p>
          <a:p>
            <a:r>
              <a:t>   * How it connects to the overall loop</a:t>
            </a:r>
          </a:p>
          <a:p>
            <a:r>
              <a:t>   * What to watch for during this phase</a:t>
            </a:r>
          </a:p>
          <a:p>
            <a:r>
              <a:t>   * Common patterns and behaviors</a:t>
            </a:r>
          </a:p>
          <a:p>
            <a:endParaRPr/>
          </a:p>
          <a:p>
            <a:r>
              <a:t>ASK THE CLASS:</a:t>
            </a:r>
          </a:p>
          <a:p>
            <a:r>
              <a:t>   "How does this stage relate to your manual development process?"</a:t>
            </a:r>
          </a:p>
          <a:p>
            <a:r>
              <a:t>   [PAUSE for 30-60 seconds]</a:t>
            </a:r>
          </a:p>
          <a:p>
            <a:endParaRPr/>
          </a:p>
          <a:p>
            <a:r>
              <a:t>REAL-WORLD EXAMPLE:</a:t>
            </a:r>
          </a:p>
          <a:p>
            <a:r>
              <a:t>   Example showing this stage in action with Claude Code.</a:t>
            </a:r>
          </a:p>
          <a:p>
            <a:endParaRPr/>
          </a:p>
          <a:p>
            <a:r>
              <a:t>TRANSITION:</a:t>
            </a:r>
          </a:p>
          <a:p>
            <a:r>
              <a:t>   Moving to the next stage...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straight from Nate B Jones' 'Second Brain' methodology - the idea that systems should produce small, verifiable outputs rather than trying to build everything at once. The Agentic Loop you just learned is designed around this exact principle.</a:t>
            </a:r>
          </a:p>
          <a:p>
            <a:endParaRPr/>
          </a:p>
          <a:p>
            <a:r>
              <a:t>KEY POINTS:</a:t>
            </a:r>
          </a:p>
          <a:p>
            <a:r>
              <a:t>   * The five-stage loop (Read → Analyze → Plan → Execute → Verify) is itself a pattern of small, frequent outputs - each stage produces something concrete before moving to the next</a:t>
            </a:r>
          </a:p>
          <a:p>
            <a:r>
              <a:t>   * When you give Claude Code a complex task like 'add user authentication', it doesn't generate all the code at once - it breaks it into discrete steps: create user model, add password hashing, create login endpoint, add session management, write tests</a:t>
            </a:r>
          </a:p>
          <a:p>
            <a:r>
              <a:t>   * Each step in that sequence produces verifiable output - after creating the user model, Claude Code runs a test to ensure it works before proceeding to password hashing</a:t>
            </a:r>
          </a:p>
          <a:p>
            <a:r>
              <a:t>   * If something fails at step 3, you haven't lost steps 1 and 2 - they're already verified and committed. You can fix step 3 without redoing the whole task</a:t>
            </a:r>
          </a:p>
          <a:p>
            <a:r>
              <a:t>   * This is the opposite of the 'write me an entire app' prompt that fails 90% through and leaves you with nothing usable</a:t>
            </a:r>
          </a:p>
          <a:p>
            <a:endParaRPr/>
          </a:p>
          <a:p>
            <a:r>
              <a:t>ASK THE CLASS:</a:t>
            </a:r>
          </a:p>
          <a:p>
            <a:r>
              <a:t>   "Think about the last time you tried to implement a complex feature all at once. How much easier would it have been if you'd broken it into 5 testable steps?"</a:t>
            </a:r>
          </a:p>
          <a:p>
            <a:r>
              <a:t>   [PAUSE for 30-60 seconds]</a:t>
            </a:r>
          </a:p>
          <a:p>
            <a:endParaRPr/>
          </a:p>
          <a:p>
            <a:r>
              <a:t>REAL-WORLD EXAMPLE:</a:t>
            </a:r>
          </a:p>
          <a:p>
            <a:r>
              <a:t>   A student asked Claude Code to 'build a REST API for a blog with posts, comments, and tags.' The first attempt was a single mega-prompt - it generated 400 lines of code, but the comment threading logic was broken and fixing it broke the tag associations. We restarted with five discrete prompts: (1) Create Post model and CRUD endpoints. (2) Add Comment model with basic association. (3) Implement tag system. (4) Add comment threading logic. (5) Write integration tests. Each step took 3 minutes, each step worked, total time 15 minutes. The mega-prompt approach took 45 minutes and still had bugs.</a:t>
            </a:r>
          </a:p>
          <a:p>
            <a:endParaRPr/>
          </a:p>
          <a:p>
            <a:r>
              <a:t>DEMO:</a:t>
            </a:r>
          </a:p>
          <a:p>
            <a:r>
              <a:t>   Show two approaches to the same feature side-by-side. First, the wrong way: 'Create a contact form with validation, email sending, and rate limiting.' Watch it try to do everything and likely hit an error midway (you may need to intentionally create an error condition like missing env vars for the email service). Then show the right way: Step 1: 'Create a contact form route that accepts name, email, message.' Verify it works. Step 2: 'Add validation to require all fields and validate email format.' Verify. Step 3: 'Add rate limiting to prevent spam.' Verify. Step 4: 'Integrate email sending.' Verify. Emphasize how each step is a checkpoint.</a:t>
            </a:r>
          </a:p>
          <a:p>
            <a:endParaRPr/>
          </a:p>
          <a:p>
            <a:r>
              <a:t>TRANSITION:</a:t>
            </a:r>
          </a:p>
          <a:p>
            <a:r>
              <a:t>   Small outputs are powerful, but only if each output is a 'next action' - which brings us to our next principle later. For now, let's continue with the Agentic Loop.</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Okay, I'm going to run a real task and we're going to pause at each stage so you can see the loop in action. This is not a rehearsed demo - whatever happens, happens.</a:t>
            </a:r>
          </a:p>
          <a:p>
            <a:endParaRPr/>
          </a:p>
          <a:p>
            <a:r>
              <a:t>KEY POINTS:</a:t>
            </a:r>
          </a:p>
          <a:p>
            <a:r>
              <a:t>   * I'm going to use verbose mode so you can see Claude Code's internal thoughts at each stage</a:t>
            </a:r>
          </a:p>
          <a:p>
            <a:r>
              <a:t>   * Watch how it reads multiple files to understand the current login implementation</a:t>
            </a:r>
          </a:p>
          <a:p>
            <a:r>
              <a:t>   * Watch how it analyzes the existing validation patterns in other parts of the codebase</a:t>
            </a:r>
          </a:p>
          <a:p>
            <a:r>
              <a:t>   * Watch how it plans to add validation without breaking existing functionality</a:t>
            </a:r>
          </a:p>
          <a:p>
            <a:r>
              <a:t>   * Watch it execute changes to both the function and the tests</a:t>
            </a:r>
          </a:p>
          <a:p>
            <a:endParaRPr/>
          </a:p>
          <a:p>
            <a:r>
              <a:t>REAL-WORLD EXAMPLE:</a:t>
            </a:r>
          </a:p>
          <a:p>
            <a:r>
              <a:t>   Every single task follows this loop, no matter how simple or complex. The difference is speed - simple tasks complete in one iteration, complex tasks might loop 3-4 times.</a:t>
            </a:r>
          </a:p>
          <a:p>
            <a:endParaRPr/>
          </a:p>
          <a:p>
            <a:r>
              <a:t>DEMO:</a:t>
            </a:r>
          </a:p>
          <a:p>
            <a:r>
              <a:t>   Run: claude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a:p>
          <a:p>
            <a:r>
              <a:t>TRANSITION:</a:t>
            </a:r>
          </a:p>
          <a:p>
            <a:r>
              <a:t>   The loop doesn't always work perfectly - let's talk about what happens when things go wrong</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but not magic - it can fail, and when it does, you need to know how to get it back on track. Let's talk about the most common failure modes.</a:t>
            </a:r>
          </a:p>
          <a:p>
            <a:endParaRPr/>
          </a:p>
          <a:p>
            <a:r>
              <a:t>KEY POINTS:</a:t>
            </a:r>
          </a:p>
          <a:p>
            <a:r>
              <a:t>   * Context overload happens in huge codebases - Claude Code tries to read 1000 files and runs out of token space. The fix is to narrow the scope with .claudeignore or @-mentions to specific files.</a:t>
            </a:r>
          </a:p>
          <a:p>
            <a:r>
              <a:t>   * Ambiguous instructions are the human error - if you say 'make it better', Claude Code has no idea what 'better' means. Be specific: 'add error handling to the submit function'.</a:t>
            </a:r>
          </a:p>
          <a:p>
            <a:r>
              <a:t>   * Missing dependencies cause runtime failures during Verify - if tests can't run because pytest isn't installed, Claude Code will tell you. Just install it and retry.</a:t>
            </a:r>
          </a:p>
          <a:p>
            <a:r>
              <a:t>   * Infinite loops are rare but happen when Claude Code misunderstands the verification failure - it keeps applying the same broken fix repeatedly. When you see this, /clear the session and try a different approach.</a:t>
            </a:r>
          </a:p>
          <a:p>
            <a:r>
              <a:t>   * Permission errors are usually OS-level - trying to write to /usr/local without sudo, or a file is read-only. Check permissions or adjust your /permissions settings in Claude Code.</a:t>
            </a:r>
          </a:p>
          <a:p>
            <a:endParaRPr/>
          </a:p>
          <a:p>
            <a:r>
              <a:t>ASK THE CLASS:</a:t>
            </a:r>
          </a:p>
          <a:p>
            <a:r>
              <a:t>   "Who here has debugged a problem for 20 minutes only to realize it was a typo or a missing import? Claude Code makes those same mistakes sometimes - the difference is it catches and fixes them itself 90% of the time."</a:t>
            </a:r>
          </a:p>
          <a:p>
            <a:r>
              <a:t>   [PAUSE for 30-60 seconds]</a:t>
            </a:r>
          </a:p>
          <a:p>
            <a:endParaRPr/>
          </a:p>
          <a:p>
            <a:r>
              <a:t>REAL-WORLD EXAMPLE:</a:t>
            </a:r>
          </a:p>
          <a:p>
            <a:r>
              <a:t>   I once gave Claude Code an instruction to 'optimize the database queries'. It flailed for a minute trying different approaches because 'optimize' is vague. I cleared the session, rephrased to 'add select_related to the User query to reduce N+1 queries', and it nailed it immediately. Specificity matters.</a:t>
            </a:r>
          </a:p>
          <a:p>
            <a:endParaRPr/>
          </a:p>
          <a:p>
            <a:r>
              <a:t>TRANSITION:</a:t>
            </a:r>
          </a:p>
          <a:p>
            <a:r>
              <a:t>   Now that you understand the engine, let's talk about how to configure it with CLAUDE.md</a:t>
            </a:r>
          </a:p>
          <a:p>
            <a:br/>
            <a:br/>
            <a:r>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CLAUDE.md is the secret weapon of advanced Claude Code users - it's how you train Claude Code to work exactly the way your team works.</a:t>
            </a:r>
          </a:p>
          <a:p>
            <a:endParaRPr/>
          </a:p>
          <a:p>
            <a:r>
              <a:t>KEY POINTS:</a:t>
            </a:r>
          </a:p>
          <a:p>
            <a:r>
              <a:t>   * Key insight about this topic</a:t>
            </a:r>
          </a:p>
          <a:p>
            <a:r>
              <a:t>   * How it applies to real development</a:t>
            </a:r>
          </a:p>
          <a:p>
            <a:r>
              <a:t>   * Why this matters for your workflow</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Imagine a new developer joining your team. You'd give them a README, style guide, contribution guidelines, right? CLAUDE.md is all of that, but for Claude Code.</a:t>
            </a:r>
          </a:p>
          <a:p>
            <a:endParaRPr/>
          </a:p>
          <a:p>
            <a:r>
              <a:t>KEY POINTS:</a:t>
            </a:r>
          </a:p>
          <a:p>
            <a:r>
              <a:t>   * Key insight about this topic</a:t>
            </a:r>
          </a:p>
          <a:p>
            <a:r>
              <a:t>   * How it applies to real development</a:t>
            </a:r>
          </a:p>
          <a:p>
            <a:r>
              <a:t>   * Why this matters for your workflow</a:t>
            </a:r>
          </a:p>
          <a:p>
            <a:r>
              <a:t>   * Important context: CLAUDE.md is just one layer in a full memory hierarchy. At the top, IT can deploy a managed policy CLAUDE.md that nobody can override — org-wide coding standards, security policies. Then project-level CLAUDE.md shared via git. Then modular rules in .claude/rules/ for topic-specific guidelines. Then your personal user-level CLAUDE.md at ~/.claude/CLAUDE.md that applies everywhere. And CLAUDE.local.md for personal project overrides that are auto-gitignored. We will cover all of these layers in the next few slides.</a:t>
            </a:r>
          </a:p>
          <a:p>
            <a:endParaRPr/>
          </a:p>
          <a:p>
            <a:r>
              <a:t>TRANSITION:</a:t>
            </a:r>
          </a:p>
          <a:p>
            <a:r>
              <a:t>   Moving forward...</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a minimal but effective CLAUDE.md - it gives Claude Code everything it needs to work like a team member who's been here for months.</a:t>
            </a:r>
          </a:p>
          <a:p>
            <a:endParaRPr/>
          </a:p>
          <a:p>
            <a:r>
              <a:t>KEY POINTS:</a:t>
            </a:r>
          </a:p>
          <a:p>
            <a:r>
              <a:t>   * Start with a clear description - 'REST API for online store' tells Claude Code the project type, which shapes its assumptions about structure and patterns</a:t>
            </a:r>
          </a:p>
          <a:p>
            <a:r>
              <a:t>   * Code conventions are critical - specify language version, style guides, naming conventions, any architectural patterns like async/await</a:t>
            </a:r>
          </a:p>
          <a:p>
            <a:r>
              <a:t>   * Testing requirements tell Claude Code what 'done' looks like - if you say 'write tests for all new endpoints', it will do that automatically without being asked each time</a:t>
            </a:r>
          </a:p>
          <a:p>
            <a:r>
              <a:t>   * Tools available lets Claude Code know what commands it can run - if it knows pytest is available, it will use pytest to verify changes</a:t>
            </a:r>
          </a:p>
          <a:p>
            <a:r>
              <a:t>   * This example is 20 lines but saves hundreds of back-and-forth clarifications - Claude Code just knows your standards from day one</a:t>
            </a:r>
          </a:p>
          <a:p>
            <a:endParaRPr/>
          </a:p>
          <a:p>
            <a:r>
              <a:t>ASK THE CLASS:</a:t>
            </a:r>
          </a:p>
          <a:p>
            <a:r>
              <a:t>   "What's one convention or rule in your current project that new developers always get wrong initially? That's exactly what should go in CLAUDE.md."</a:t>
            </a:r>
          </a:p>
          <a:p>
            <a:r>
              <a:t>   [PAUSE for 30-60 seconds]</a:t>
            </a:r>
          </a:p>
          <a:p>
            <a:endParaRPr/>
          </a:p>
          <a:p>
            <a:r>
              <a:t>REAL-WORLD EXAMPLE:</a:t>
            </a:r>
          </a:p>
          <a:p>
            <a:r>
              <a:t>   I added 'Use type hints for all functions' to a project's CLAUDE.md. Every single function Claude Code generated or modified after that had proper type hints. I didn't have to review and request changes like I would with a human PR - it was right the first time.</a:t>
            </a:r>
          </a:p>
          <a:p>
            <a:endParaRPr/>
          </a:p>
          <a:p>
            <a:r>
              <a:t>TRANSITION:</a:t>
            </a:r>
          </a:p>
          <a:p>
            <a:r>
              <a:t>   Beyond conventions, CLAUDE.md can include team settings and style guides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philosophy - the idea that folder hierarchies create cognitive overhead and fragility. Instead, keep structure flat and use naming conventions to route. CLAUDE.md embodies this perfectly.</a:t>
            </a:r>
          </a:p>
          <a:p>
            <a:endParaRPr/>
          </a:p>
          <a:p>
            <a:r>
              <a:t>KEY POINTS:</a:t>
            </a:r>
          </a:p>
          <a:p>
            <a:r>
              <a:t>   * A flat file structure with descriptive names is easier for both humans and Claude Code to navigate - you can see everything at a glance without drilling into folders</a:t>
            </a:r>
          </a:p>
          <a:p>
            <a:r>
              <a:t>   * CLAUDE.md uses naming conventions to define routing: 'Files ending in _test.py are tests', 'Files in /api/ are API endpoints' - this is routing by convention, not folder depth</a:t>
            </a:r>
          </a:p>
          <a:p>
            <a:r>
              <a:t>   * Deep hierarchies break when requirements change - if 'user profile' moves from /api/v1/ to /api/v2/, you're moving files and updating imports everywhere</a:t>
            </a:r>
          </a:p>
          <a:p>
            <a:r>
              <a:t>   * Flat structures with prefixes adapt easily - user_profile_api_v2.py sits next to user_profile_api_v1.py, and you can delete the old one when ready</a:t>
            </a:r>
          </a:p>
          <a:p>
            <a:r>
              <a:t>   * Claude Code reads flat structures more efficiently - it doesn't have to traverse deeply nested directories to build context</a:t>
            </a:r>
          </a:p>
          <a:p>
            <a:endParaRPr/>
          </a:p>
          <a:p>
            <a:r>
              <a:t>ASK THE CLASS:</a:t>
            </a:r>
          </a:p>
          <a:p>
            <a:r>
              <a:t>   "Think about a project with a really deep folder structure. How often do you forget where a specific file lives? How often do you grep for it instead of navigating? That's the problem this principle solves."</a:t>
            </a:r>
          </a:p>
          <a:p>
            <a:r>
              <a:t>   [PAUSE for 30-60 seconds]</a:t>
            </a:r>
          </a:p>
          <a:p>
            <a:endParaRPr/>
          </a:p>
          <a:p>
            <a:r>
              <a:t>REAL-WORLD EXAMPLE:</a:t>
            </a:r>
          </a:p>
          <a:p>
            <a:r>
              <a:t>   A team had a Django project organized as /apps/user_management/api/v1/endpoints/profile/views.py. New developers took days to learn the structure. We flattened it to /endpoints/user_profile_api.py, /endpoints/user_settings_api.py, etc. Onboarding time dropped from 3 days to 3 hours because everything was visible and self-explanatory. Claude Code also started making fewer mistakes about where to put new endpoints - the convention was obvious.</a:t>
            </a:r>
          </a:p>
          <a:p>
            <a:endParaRPr/>
          </a:p>
          <a:p>
            <a:r>
              <a:t>DEMO:</a:t>
            </a:r>
          </a:p>
          <a:p>
            <a:r>
              <a:t>   Show two project structures side-by-side. First, a deeply nested structure: /src/modules/user/components/profile/settings/email/ with small files scattered across 6 levels. Run /context and show how much token space is wasted just on directory traversal. Then show a flat structure: /src/ with user_profile_settings_email.py, user_profile_settings_password.py, etc. Run /context again and show how much more efficient it is. Give Claude Code a task in each structure: 'Update the email settings logic.' In the nested version, watch Claude Code spend time navigating folders. In the flat version, watch it immediately identify the target file from the name.</a:t>
            </a:r>
          </a:p>
          <a:p>
            <a:endParaRPr/>
          </a:p>
          <a:p>
            <a:r>
              <a:t>TRANSITION:</a:t>
            </a:r>
          </a:p>
          <a:p>
            <a:r>
              <a:t>   Flat, convention-based structures make CLAUDE.md more powerful - which brings us to advanced configuration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Team Settings &amp; Style Guides.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Advanced: Model Preferences &amp; Custom Rules.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CLAUDE.md isn't just for engineers. If you're a PM, analyst, or anyone who works with Claude Code regularly, creating a CLAUDE.md with your product context is one of the highest-ROI investments you can make. Fifteen minutes of setup saves hours of repetitive context-setting.</a:t>
            </a:r>
          </a:p>
          <a:p>
            <a:endParaRPr/>
          </a:p>
          <a:p>
            <a:r>
              <a:t>KEY POINTS:</a:t>
            </a:r>
          </a:p>
          <a:p>
            <a:r>
              <a:t>   * A PM's CLAUDE.md includes: product context, competitor landscape, preferred frameworks, output templates</a:t>
            </a:r>
          </a:p>
          <a:p>
            <a:r>
              <a:t>   * Example: 'I'm a PM at a B2B SaaS company. Our main competitors are X, Y, Z. I prefer frameworks like RICE for prioritization and Jobs-to-be-Done for user research.'</a:t>
            </a:r>
          </a:p>
          <a:p>
            <a:r>
              <a:t>   * Claude reads this automatically — no more starting every conversation with background info</a:t>
            </a:r>
          </a:p>
          <a:p>
            <a:r>
              <a:t>   * Source: Mohit Aggarwal's 'Claude Code for Product Managers' — invest 15 min, save hours</a:t>
            </a:r>
          </a:p>
          <a:p>
            <a:r>
              <a:t>   * This ties directly to Engineering Principle #10: Build for Restart, Not Perfection — CLAUDE.md is your session persistence layer</a:t>
            </a:r>
          </a:p>
          <a:p>
            <a:endParaRPr/>
          </a:p>
          <a:p>
            <a:r>
              <a:t>ASK THE CLASS:</a:t>
            </a:r>
          </a:p>
          <a:p>
            <a:r>
              <a:t>   "What context do you find yourself repeating to AI tools? That's what belongs in your CLAUDE.md."</a:t>
            </a:r>
          </a:p>
          <a:p>
            <a:r>
              <a:t>   [PAUSE for 30-60 seconds]</a:t>
            </a:r>
          </a:p>
          <a:p>
            <a:endParaRPr/>
          </a:p>
          <a:p>
            <a:r>
              <a:t>DEMO:</a:t>
            </a:r>
          </a:p>
          <a:p>
            <a:r>
              <a:t>   Show a PM-focused CLAUDE.md: product context, competitors, templates. Then ask Claude to analyze a competitor — watch it use the context automatically without being told.</a:t>
            </a:r>
          </a:p>
          <a:p>
            <a:endParaRPr/>
          </a:p>
          <a:p>
            <a:r>
              <a:t>TRANSITION:</a:t>
            </a:r>
          </a:p>
          <a:p>
            <a:r>
              <a:t>   Let's see how @ mentions let you point Claude at specific files and folders.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CLAUDE.md Best Practices.</a:t>
            </a:r>
          </a:p>
          <a:p>
            <a:endParaRPr/>
          </a:p>
          <a:p>
            <a:r>
              <a:t>KEY POINTS:</a:t>
            </a:r>
          </a:p>
          <a:p>
            <a:r>
              <a:t>   * Core concept</a:t>
            </a:r>
          </a:p>
          <a:p>
            <a:r>
              <a:t>   * Practical application</a:t>
            </a:r>
          </a:p>
          <a:p>
            <a:r>
              <a:t>   * Real-world benefit</a:t>
            </a:r>
          </a:p>
          <a:p>
            <a:endParaRPr/>
          </a:p>
          <a:p>
            <a:r>
              <a:t>TRANSITION:</a:t>
            </a:r>
          </a:p>
          <a:p>
            <a:r>
              <a:t>   Next topic...</a:t>
            </a:r>
          </a:p>
          <a:p>
            <a:br/>
            <a:br/>
            <a:r>
              <a:t>COMPOUNDING FEEDBACK LOOP: Advanced teams add a tasks/lessons.md file that Claude updates after EVERY correction. When Claude makes a mistake and you fix it, tell Claude to record the pattern in lessons.md. Over time, the mistake rate drops because Claude reads its own error log before starting work. Boris Cherny's team at Anthropic uses this internally. The setup takes 10 minutes — add one line to CLAUDE.md: "After any correction, update tasks/lessons.md with the lesson learned. Read lessons.md before starting any task." Your AI gets better every day you use it.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Your CLAUDE.md is a living document, not a write-once artifact. Reza's rule: for each line, ask 'would removing this cause mistakes?' If not, cut it. Prune monthly. A 200-line CLAUDE.md full of outdated conventions is worse than a focused 30-line version — because Claude reads every line and tries to follow all of it, including the contradictions.</a:t>
            </a:r>
          </a:p>
          <a:p>
            <a:endParaRPr/>
          </a:p>
          <a:p>
            <a:r>
              <a:t>KEY POINTS:</a:t>
            </a:r>
          </a:p>
          <a:p>
            <a:r>
              <a:t>   * Pruning rule: 'Would removing this line cause Claude to make mistakes? If not, cut it.'</a:t>
            </a:r>
          </a:p>
          <a:p>
            <a:r>
              <a:t>   * Monthly review cadence — put it on your calendar</a:t>
            </a:r>
          </a:p>
          <a:p>
            <a:r>
              <a:t>   * Signs of bloat: Claude following old conventions you've abandoned, conflicting rules, generic advice that adds no value</a:t>
            </a:r>
          </a:p>
          <a:p>
            <a:r>
              <a:t>   * Short, specific CLAUDE.md &gt; long, generic CLAUDE.md</a:t>
            </a:r>
          </a:p>
          <a:p>
            <a:r>
              <a:t>   * Source: Reza Rezvani — 'I spent months blaming Claude for not understanding my project while doing nothing to help it understand'</a:t>
            </a:r>
          </a:p>
          <a:p>
            <a:endParaRPr/>
          </a:p>
          <a:p>
            <a:r>
              <a:t>TRANSITION:</a:t>
            </a:r>
          </a:p>
          <a:p>
            <a:r>
              <a:t>   Now let's see how @ mentions let you feed specific context beyond CLAUDE.md.</a:t>
            </a:r>
          </a:p>
          <a:p>
            <a:br/>
            <a:br/>
            <a:r>
              <a:t>VERIFICATION BAR: A powerful CLAUDE.md convention from Anthropic's internal team: "Cannot mark a task complete without proving it works. Check diffs, run tests, check logs. The bar: Would a staff engineer approve this?" Add that standard to your CLAUDE.md and Claude holds itself to senior-level quality checks before reporting done.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Your CLAUDE.md doesn't just define project context — it controls Claude's behavior. There are 12 tested behavior templates you can paste in right now. I've grouped them into three working styles.</a:t>
            </a:r>
          </a:p>
          <a:p>
            <a:endParaRPr/>
          </a:p>
          <a:p>
            <a:r>
              <a:t>KEY POINTS:</a:t>
            </a:r>
          </a:p>
          <a:p>
            <a:r>
              <a:t>   * Fast and Autonomous: Three templates that make Claude a proactive partner. The 'default to action' template tells Claude to implement ideas instead of asking permission. The 'parallel execution' template lets Claude read multiple files and run multiple searches simultaneously — massive speed boost. And 'investigate before answering' prevents hallucination by forcing Claude to actually read code before making claims about it. This combo is for experienced developers who review fast.</a:t>
            </a:r>
          </a:p>
          <a:p>
            <a:r>
              <a:t>   * Careful and Controlled: The opposite approach. 'Conservative mode' tells Claude not to change files unless explicitly asked — it defaults to research, analysis, and recommendations instead of action. 'Explain everything' forces Claude to summarize what it did, why, and what the outcome was after every task. Combined with anti-hallucination, this is your learning mode — slower but you understand every decision.</a:t>
            </a:r>
          </a:p>
          <a:p>
            <a:r>
              <a:t>   * Long Projects: For complex multi-session work. 'Context management' tells Claude never to stop early as the context window fills — save state and keep going. 'State tracking' establishes a system: tests.json for test status, progress.txt for session notes, regular commits for history. 'Complete work systematically' prevents the half-finished function problem — Claude finishes each component fully before moving on.</a:t>
            </a:r>
          </a:p>
          <a:p>
            <a:r>
              <a:t>   * Three more worth knowing: 'Prevent over-engineering' stops Claude from adding unnecessary abstractions — critical for skeptics who've seen AI bloat code. 'Real solutions, not test hacks' prevents Claude from hard-coding values to pass tests. And 'better frontend design' fights the 'AI slop' aesthetic — generic UIs that all look the same.</a:t>
            </a:r>
          </a:p>
          <a:p>
            <a:r>
              <a:t>   * These are all in your handout. Copy-paste ready. Pick 3 to 5 that match your style, paste them into CLAUDE.md, and Claude follows them immediately. You can change them anytime.</a:t>
            </a:r>
          </a:p>
          <a:p>
            <a:endParaRPr/>
          </a:p>
          <a:p>
            <a:r>
              <a:t>ASK THE CLASS:</a:t>
            </a:r>
          </a:p>
          <a:p>
            <a:r>
              <a:t>   "Which working style matches you — fast and autonomous, or careful and controlled? Why?"</a:t>
            </a:r>
          </a:p>
          <a:p>
            <a:r>
              <a:t>   [PAUSE for 30-60 seconds]</a:t>
            </a:r>
          </a:p>
          <a:p>
            <a:endParaRPr/>
          </a:p>
          <a:p>
            <a:r>
              <a:t>TRANSITION:</a:t>
            </a:r>
          </a:p>
          <a:p>
            <a:r>
              <a:t>   Your handout has all 12 templates with full XML blocks ready to paste. Now let's talk about feeding Claude the right context.</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 have been talking about CLAUDE.md as if there is one file. There are actually six layers of memory, and understanding the hierarchy is what separates someone who uses Claude Code from someone who runs a team on it.</a:t>
            </a:r>
          </a:p>
          <a:p>
            <a:endParaRPr/>
          </a:p>
          <a:p>
            <a:r>
              <a:t>KEY POINTS:</a:t>
            </a:r>
          </a:p>
          <a:p>
            <a:r>
              <a:t>   * At the top: managed policy. This is the enterprise layer. IT deploys a CLAUDE.md to a system directory and it cannot be overridden by anyone. On Mac it goes in /Library/Application Support/ClaudeCode/, on Linux /etc/claude-code/, on Windows C:/Program Files/ClaudeCode/. This is where you put company coding standards, security policies, compliance requirements. Nobody can override these.</a:t>
            </a:r>
          </a:p>
          <a:p>
            <a:r>
              <a:t>   * Project memory is what most people think of as CLAUDE.md. It lives at the repo root or in .claude/ and gets committed to git. Every collaborator gets the same instructions. This is your team brain.</a:t>
            </a:r>
          </a:p>
          <a:p>
            <a:r>
              <a:t>   * Project rules are new and powerful. The .claude/rules/ directory lets you create modular, topic-specific files. One for testing conventions, one for API standards, one for language-specific guidelines. Much cleaner than stuffing everything into one CLAUDE.md file.</a:t>
            </a:r>
          </a:p>
          <a:p>
            <a:r>
              <a:t>   * User memory at ~/.claude/CLAUDE.md is your personal preferences across all projects. Code styling, personal tooling shortcuts, communication preferences. Only you see this.</a:t>
            </a:r>
          </a:p>
          <a:p>
            <a:r>
              <a:t>   * CLAUDE.local.md is the sleeper feature. Personal overrides for a specific project — your sandbox URLs, preferred test data, local config. Automatically added to .gitignore so it never leaks into the repo.</a:t>
            </a:r>
          </a:p>
          <a:p>
            <a:r>
              <a:t>   * And then auto memory, which we will cover next — this is Claude writing notes to itself. Completely different from everything above.</a:t>
            </a:r>
          </a:p>
          <a:p>
            <a:endParaRPr/>
          </a:p>
          <a:p>
            <a:r>
              <a:t>TRANSITION:</a:t>
            </a:r>
          </a:p>
          <a:p>
            <a:r>
              <a:t>   Let me show you the auto memory system, because this one surprises most people.</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Here is where it gets interesting. Everything we just covered is memory YOU write for Claude. Auto memory is memory CLAUDE writes for itself. As it works on your project, it automatically saves patterns, debugging insights, architecture notes, and your preferences. Next session, it remembers.</a:t>
            </a:r>
          </a:p>
          <a:p>
            <a:endParaRPr/>
          </a:p>
          <a:p>
            <a:r>
              <a:t>KEY POINTS:</a:t>
            </a:r>
          </a:p>
          <a:p>
            <a:r>
              <a:t>   * Auto memory is enabled by default. Claude creates a directory at ~/.claude/projects/ with a folder for each project, identified by the git repository root. All subdirectories within the same repo share one memory directory.</a:t>
            </a:r>
          </a:p>
          <a:p>
            <a:r>
              <a:t>   * Inside that directory, MEMORY.md acts as an index. The first 200 lines load into Claude's context at the start of every session. That is the hard limit — 200 lines. So Claude is instructed to keep MEMORY.md concise and move detailed notes into separate topic files like debugging.md or api-conventions.md.</a:t>
            </a:r>
          </a:p>
          <a:p>
            <a:r>
              <a:t>   * Those topic files do NOT load at startup. Claude reads them on demand when it needs the information. This is progressive disclosure — keep the system prompt lean, pull detail when needed.</a:t>
            </a:r>
          </a:p>
          <a:p>
            <a:r>
              <a:t>   * You will see Claude update these files during your session. It might add a note after solving a tricky debugging problem, or record a pattern it noticed in your codebase. Over time, this compounds — Claude gets better at your specific project with every session.</a:t>
            </a:r>
          </a:p>
          <a:p>
            <a:r>
              <a:t>   * Here is the practical tip: you can tell Claude to remember something specific. Say 'remember that we use pnpm not npm' or 'save to memory that the API tests require a local Redis instance.' Claude writes it to auto memory and it persists across sessions.</a:t>
            </a:r>
          </a:p>
          <a:p>
            <a:endParaRPr/>
          </a:p>
          <a:p>
            <a:r>
              <a:t>TRANSITION:</a:t>
            </a:r>
          </a:p>
          <a:p>
            <a:r>
              <a:t>   Let me show you the /memory command that ties all of this together.</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The /memory command is your dashboard for all of Claude's memory. Run it and you see every memory file across all layers — managed, project, user, local, and auto memory. You can open and edit any of them right from the selector.</a:t>
            </a:r>
          </a:p>
          <a:p>
            <a:endParaRPr/>
          </a:p>
          <a:p>
            <a:r>
              <a:t>KEY POINTS:</a:t>
            </a:r>
          </a:p>
          <a:p>
            <a:r>
              <a:t>   * The file selector is the fastest way to manage memory. You see everything in one place and can jump to any file to edit it. The toggle at the bottom lets you turn auto memory on or off for the current project.</a:t>
            </a:r>
          </a:p>
          <a:p>
            <a:r>
              <a:t>   * The 'remember that' pattern is something students should practice immediately. Instead of editing CLAUDE.md manually, just tell Claude in conversation: 'remember that we use pnpm not npm.' Claude writes it to auto memory and it persists. This is the lowest-friction way to build project knowledge over time.</a:t>
            </a:r>
          </a:p>
          <a:p>
            <a:r>
              <a:t>   * The hash shortcut is even faster. Type # followed by your note in the chat, and Claude adds it to memory. Quick notes without interrupting your workflow.</a:t>
            </a:r>
          </a:p>
          <a:p>
            <a:r>
              <a:t>   * For teams that want centralized control: managed settings can disable auto memory globally with autoMemoryEnabled set to false. Some security-conscious orgs do this because auto memory stores project context on the developer's machine. But for most teams, the compounding benefit far outweighs the risk.</a:t>
            </a:r>
          </a:p>
          <a:p>
            <a:r>
              <a:t>   * The 200-line limit on MEMORY.md is worth emphasizing. If auto memory grows too large, Claude's context gets bloated and performance degrades. Teach your team to periodically review auto memory and prune anything that is no longer relevant. Same pruning discipline we covered for CLAUDE.md.</a:t>
            </a:r>
          </a:p>
          <a:p>
            <a:endParaRPr/>
          </a:p>
          <a:p>
            <a:r>
              <a:t>TRANSITION:</a:t>
            </a:r>
          </a:p>
          <a:p>
            <a:r>
              <a:t>   Now let me show you all of this in action with a demo.</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Watch how folder-based context eliminates copy-pasting entirely.</a:t>
            </a:r>
          </a:p>
          <a:p>
            <a:endParaRPr/>
          </a:p>
          <a:p>
            <a:r>
              <a:t>KEY POINTS:</a:t>
            </a:r>
          </a:p>
          <a:p>
            <a:r>
              <a:t>   * Create folder: competitors/ with competitors.md listing 3-4 competitors and analysis-template.md with your preferred format</a:t>
            </a:r>
          </a:p>
          <a:p>
            <a:r>
              <a:t>   * Add CLAUDE.md: 'When asked to analyse competitors, use the template in analysis-template.md. Output to analysis-results.md.'</a:t>
            </a:r>
          </a:p>
          <a:p>
            <a:r>
              <a:t>   * Run: claude 'analyse our top 3 competitors using the template'</a:t>
            </a:r>
          </a:p>
          <a:p>
            <a:r>
              <a:t>   * Claude reads the folder, understands the template, generates structured analysis — zero copy-pasting</a:t>
            </a:r>
          </a:p>
          <a:p>
            <a:r>
              <a:t>   * This is the power shift from browser: context lives in files, not in your clipboard</a:t>
            </a:r>
          </a:p>
          <a:p>
            <a:endParaRPr/>
          </a:p>
          <a:p>
            <a:r>
              <a:t>DEMO:</a:t>
            </a:r>
          </a:p>
          <a:p>
            <a:r>
              <a:t>   Pre-create a competitors/ folder with competitors.md (3 real competitors), analysis-template.md (SWOT or similar), and CLAUDE.md with routing instructions. Run the command live. Show the generated output.</a:t>
            </a:r>
          </a:p>
          <a:p>
            <a:endParaRPr/>
          </a:p>
          <a:p>
            <a:r>
              <a:t>TRANSITION:</a:t>
            </a:r>
          </a:p>
          <a:p>
            <a:r>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Mentions &amp; Context Feeding.</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Mentioning Files.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 Folders, URLs, Git Commits.</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Building Context: Focused vs Broad.</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DEMO INSTRUCTIONS:</a:t>
            </a:r>
            <a:br/>
            <a:r>
              <a:t>1. Open Claude Code in the business-dashboard project</a:t>
            </a:r>
            <a:br/>
            <a:r>
              <a:t>2. Type: "Show me all the ways I can feed context to Claude Code"</a:t>
            </a:r>
            <a:br/>
            <a:r>
              <a:t>3. Claude will list: @ mentions, /read, paste, piping, URLs</a:t>
            </a:r>
            <a:br/>
            <a:r>
              <a:t>4. Then type: "Read @package.json and tell me what dependencies we have"</a:t>
            </a:r>
            <a:br/>
            <a:r>
              <a:t>5. Show how @ mention loaded just that one file</a:t>
            </a:r>
            <a:br/>
            <a:r>
              <a:t>6. Then type: "Read @src/ and summarize the architecture"</a:t>
            </a:r>
            <a:br/>
            <a:r>
              <a:t>7. Show how @ with a folder loads multiple files</a:t>
            </a:r>
            <a:br/>
            <a:br/>
            <a:r>
              <a:t>TALKING POINT: "Every method has a trade-off — @ mentions are precise, paste is fast, URLs bring in external docs. You'll practice all of these in Lab 2C."</a:t>
            </a:r>
            <a:br/>
          </a:p>
          <a:p>
            <a:endParaRPr/>
          </a:p>
          <a:p/>
          <a:p/>
          <a:p>
            <a:endParaRPr/>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Context Management.</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How Claude Code Reads Your Workspace.</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Let's explore What's in Context Right Now.</a:t>
            </a:r>
          </a:p>
          <a:p>
            <a:endParaRPr/>
          </a:p>
          <a:p>
            <a:r>
              <a:t>KEY POINTS:</a:t>
            </a:r>
          </a:p>
          <a:p>
            <a:r>
              <a:t>   * Core concept</a:t>
            </a:r>
          </a:p>
          <a:p>
            <a:r>
              <a:t>   * Practical application</a:t>
            </a:r>
          </a:p>
          <a:p>
            <a:r>
              <a:t>   * Real-world benefit</a:t>
            </a:r>
          </a:p>
          <a:p>
            <a:endParaRPr/>
          </a:p>
          <a:p>
            <a:r>
              <a:t>TRANSITION:</a:t>
            </a:r>
          </a:p>
          <a:p>
            <a:r>
              <a:t>   Next topic...</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Token limits are rarely a problem if you understand what burns tokens and how to avoid it. Let's talk about the common culprits and fixes.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uses the exact same syntax as .gitignore - if you know one, you know the other. Let's look at essential patterns.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working on a codebase with 1000+ files, you need strategies beyond .claudeignore.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something most people don't realize: MCP tool descriptions can eat a third of your context window before you type a single character. It's like starting a meeting where someone's already been talking for 20 minutes about something unrelated. You show up and your attention budget is already partly spent.</a:t>
            </a:r>
          </a:p>
          <a:p>
            <a:endParaRPr/>
          </a:p>
          <a:p>
            <a:r>
              <a:t>KEY POINTS:</a:t>
            </a:r>
          </a:p>
          <a:p>
            <a:r>
              <a:t>   * Context window is finite — currently 200K tokens for Claude, but effective quality degrades well before the limit</a:t>
            </a:r>
          </a:p>
          <a:p>
            <a:r>
              <a:t>   * MCP tools: each server registers tool descriptions that stay in context permanently during the session</a:t>
            </a:r>
          </a:p>
          <a:p>
            <a:r>
              <a:t>   * Solution: Only enable MCP servers you actually need for the current task</a:t>
            </a:r>
          </a:p>
          <a:p>
            <a:r>
              <a:t>   * /cost shows your current token usage — check it periodically</a:t>
            </a:r>
          </a:p>
          <a:p>
            <a:r>
              <a:t>   * /compact summarizes conversation history to free up context without losing key decisions</a:t>
            </a:r>
          </a:p>
          <a:p>
            <a:r>
              <a:t>   * Source: Reza Rezvani — monitoring context was the second major breakthrough after Plan Mode</a:t>
            </a:r>
          </a:p>
          <a:p>
            <a:endParaRPr/>
          </a:p>
          <a:p>
            <a:r>
              <a:t>TRANSITION:</a:t>
            </a:r>
          </a:p>
          <a:p>
            <a:r>
              <a:t>   Now let's optimize your context management with a hands-on demo.</a:t>
            </a:r>
          </a:p>
          <a:p>
            <a:br/>
            <a:br/>
            <a:r>
              <a:t>SIMPLIFY THIS FOR THE ROOM: "Context is your budget. You have about 200K tokens. Here's what eats it: conversation history, code files Claude reads, MCP tool descriptions, docs and URLs. Here's how you manage it: /clear resets the conversation, /compact compresses history, .claudeignore excludes files, and @ mentions load only what you need. That's it — four tools to manage your budget." </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/compact</a:t>
            </a:r>
            <a:br/>
            <a:r>
              <a:t>2. Show the before/after token count in the status bar</a:t>
            </a:r>
            <a:br/>
            <a:r>
              <a:t>3. Type: "How much context are you currently using?"</a:t>
            </a:r>
            <a:br/>
            <a:r>
              <a:t>4. Then type: /clear</a:t>
            </a:r>
            <a:br/>
            <a:r>
              <a:t>5. Show that conversation is gone but files remain</a:t>
            </a:r>
            <a:br/>
            <a:r>
              <a:t>6. Type: "What files exist in this project?" — Claude re-reads them</a:t>
            </a:r>
            <a:br/>
            <a:r>
              <a:t>7. Show .claudeignore: "echo 'node_modules/' &gt; .claudeignore"</a:t>
            </a:r>
            <a:br/>
            <a:br/>
            <a:r>
              <a:t>TALKING POINT: "Four tools to manage your context budget: /clear resets everything, /compact compresses history, .claudeignore excludes files, and @ mentions load only what you need."</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Welcome back from lunch! This afternoon is all about power user features. We're starting with slash commands - these are your session control panel.</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There are about 15 slash commands total - you don't need to memorize them all, but knowing these core ones makes you way more effective.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These three commands control your session state - think of them as save, reset, and optimize.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Being able to switch models mid-session is like having three different experts on call - you pick the right one for the job at hand.</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Permissions are your safety net - they control how much autonomy Claude Code has.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Output control commands let you adjust how much or how little Claude Code tells you.</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next-level - you can create your own slash commands that encode your team's common workflows.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rapid-fire through commands:</a:t>
            </a:r>
            <a:br/>
            <a:r>
              <a:t>   - Type: /help — show the command list</a:t>
            </a:r>
            <a:br/>
            <a:r>
              <a:t>   - Type: /model — show current model</a:t>
            </a:r>
            <a:br/>
            <a:r>
              <a:t>   - Type: /cost — show token usage</a:t>
            </a:r>
            <a:br/>
            <a:r>
              <a:t>   - Type: /doctor — run diagnostics</a:t>
            </a:r>
            <a:br/>
            <a:r>
              <a:t>   - Type: /status — show session info</a:t>
            </a:r>
            <a:br/>
            <a:r>
              <a:t>   - Type: /memory — show what Claude remembers</a:t>
            </a:r>
            <a:br/>
            <a:r>
              <a:t>2. For each, briefly explain what it does</a:t>
            </a:r>
            <a:br/>
            <a:r>
              <a:t>3. Spend extra time on /compact — show before/after</a:t>
            </a:r>
            <a:br/>
            <a:br/>
            <a:r>
              <a:t>TALKING POINT: "You don't need to memorize these. Just remember /help exists. But /compact and /clear are the two you'll use daily."</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Jumping straight into code is like building a house without blueprints — fast at first, but problems emerge quickly. Plan Mode is your blueprint tool. Press Shift+Tab and Claude switches from doing to thinking. It analyzes your request, proposes changes, flags risks — but cannot touch a single file until you say go.</a:t>
            </a:r>
          </a:p>
          <a:p>
            <a:endParaRPr/>
          </a:p>
          <a:p>
            <a:r>
              <a:t>KEY POINTS:</a:t>
            </a:r>
          </a:p>
          <a:p>
            <a:r>
              <a:t>   * Shift+Tab toggles Plan Mode on and off — it's instant</a:t>
            </a:r>
          </a:p>
          <a:p>
            <a:r>
              <a:t>   * In Plan Mode, Claude reads your codebase, analyzes the request, and outlines exactly what it would change</a:t>
            </a:r>
          </a:p>
          <a:p>
            <a:r>
              <a:t>   * It flags risks: 'This will affect 14 files, 3 of which have no test coverage'</a:t>
            </a:r>
          </a:p>
          <a:p>
            <a:r>
              <a:t>   * You review the plan, ask questions, adjust scope — THEN approve execution</a:t>
            </a:r>
          </a:p>
          <a:p>
            <a:r>
              <a:t>   * Source: Reza Rezvani — 'It took me 7 months to stop fighting Claude Code' — Plan Mode was the breakthrough</a:t>
            </a:r>
          </a:p>
          <a:p>
            <a:endParaRPr/>
          </a:p>
          <a:p>
            <a:r>
              <a:t>ASK THE CLASS:</a:t>
            </a:r>
          </a:p>
          <a:p>
            <a:r>
              <a:t>   "How many times have you asked an AI to do something and it changed files you didn't expect?"</a:t>
            </a:r>
          </a:p>
          <a:p>
            <a:r>
              <a:t>   [PAUSE for 30-60 seconds]</a:t>
            </a:r>
          </a:p>
          <a:p>
            <a:endParaRPr/>
          </a:p>
          <a:p>
            <a:r>
              <a:t>REAL-WORLD EXAMPLE:</a:t>
            </a:r>
          </a:p>
          <a:p>
            <a:r>
              <a:t>   JWT authentication: WITHOUT planning — Claude touches 14 files, breaks 3 tests, creates a circular dependency. WITH planning — Claude outlines all changes, flags the circular dependency risk, asks which auth library you prefer, then executes cleanly.</a:t>
            </a:r>
          </a:p>
          <a:p>
            <a:endParaRPr/>
          </a:p>
          <a:p>
            <a:r>
              <a:t>TRANSITION:</a:t>
            </a:r>
          </a:p>
          <a:p>
            <a:r>
              <a:t>   Let me show you the difference in a live demo.</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 project open</a:t>
            </a:r>
            <a:br/>
            <a:r>
              <a:t>2. First, cowboy mode — type: "Add rate limiting to all API routes"</a:t>
            </a:r>
            <a:br/>
            <a:r>
              <a:t>3. Watch Claude just start coding immediately</a:t>
            </a:r>
            <a:br/>
            <a:r>
              <a:t>4. Hit Escape to cancel</a:t>
            </a:r>
            <a:br/>
            <a:r>
              <a:t>5. Now type: "I want to add rate limiting to all API routes. Use plan mode — analyze the codebase first and tell me your approach before making any changes."</a:t>
            </a:r>
            <a:br/>
            <a:r>
              <a:t>6. Claude will outline: which files to modify, what middleware to use, configuration options</a:t>
            </a:r>
            <a:br/>
            <a:r>
              <a:t>7. Review the plan, then say: "Go ahead with option 1"</a:t>
            </a:r>
            <a:br/>
            <a:br/>
            <a:r>
              <a:t>TALKING POINT: "Plan mode is the difference between a junior who starts coding immediately and a senior who thinks first. For any task over 3 steps, always use plan mode."</a:t>
            </a:r>
            <a:br/>
          </a:p>
          <a:p>
            <a:endParaRPr/>
          </a:p>
          <a:p/>
          <a:p/>
          <a:p>
            <a:endParaRPr/>
          </a:p>
          <a:p/>
          <a:p/>
          <a:p/>
          <a:p/>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Not everything needs Plan Mode. Here's the rule of thumb: if a task would take a senior engineer more than one focused session to think through, it needs planning. If you can verify the result in 10 seconds, skip it.</a:t>
            </a:r>
          </a:p>
          <a:p>
            <a:endParaRPr/>
          </a:p>
          <a:p>
            <a:r>
              <a:t>KEY POINTS:</a:t>
            </a:r>
          </a:p>
          <a:p>
            <a:r>
              <a:t>   * Reza's rule: 'If a task would take a senior engineer more than one focused session, it's too big for a single Claude session'</a:t>
            </a:r>
          </a:p>
          <a:p>
            <a:r>
              <a:t>   * Plan Mode costs almost nothing in time — it saves enormous amounts in rework</a:t>
            </a:r>
          </a:p>
          <a:p>
            <a:r>
              <a:t>   * Students should default to Plan Mode for the rest of today. Build the habit now.</a:t>
            </a:r>
          </a:p>
          <a:p>
            <a:r>
              <a:t>   * After Day 2, you'll develop intuition for when to skip it</a:t>
            </a:r>
          </a:p>
          <a:p>
            <a:endParaRPr/>
          </a:p>
          <a:p>
            <a:r>
              <a:t>TRANSITION:</a:t>
            </a:r>
          </a:p>
          <a:p>
            <a:r>
              <a:t>   Now let's talk about another powerful pattern — the Interview Me technique.</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pattern that changed how I work with Claude. Instead of trying to describe exactly what you want — which is hard — tell Claude to interview you. Say: 'I want to build user authentication. Interview me about technical implementation, edge cases, and tradeoffs. Ask hard questions I might not have considered. Then write a spec to SPEC.md.'</a:t>
            </a:r>
          </a:p>
          <a:p>
            <a:endParaRPr/>
          </a:p>
          <a:p>
            <a:r>
              <a:t>KEY POINTS:</a:t>
            </a:r>
          </a:p>
          <a:p>
            <a:r>
              <a:t>   * Claude will ask about things you hadn't thought through: 'What happens when a token expires mid-request?', 'Do you need rate limiting on the auth endpoint?', 'How do you handle password reset for users who registered via OAuth?'</a:t>
            </a:r>
          </a:p>
          <a:p>
            <a:r>
              <a:t>   * This isn't Claude being annoying — it's Claude preventing future bugs</a:t>
            </a:r>
          </a:p>
          <a:p>
            <a:r>
              <a:t>   * The output SPEC.md becomes perfect context for the implementation session</a:t>
            </a:r>
          </a:p>
          <a:p>
            <a:r>
              <a:t>   * Combine with Plan Mode: Interview → Spec → Plan → Execute</a:t>
            </a:r>
          </a:p>
          <a:p>
            <a:r>
              <a:t>   * Source: Reza Rezvani — this pattern eliminated most of his 'Claude didn't understand what I wanted' complaints</a:t>
            </a:r>
          </a:p>
          <a:p>
            <a:endParaRPr/>
          </a:p>
          <a:p>
            <a:r>
              <a:t>ASK THE CLASS:</a:t>
            </a:r>
          </a:p>
          <a:p>
            <a:r>
              <a:t>   "Think about your last feature build. What questions SHOULD you have answered upfront but discovered the hard way?"</a:t>
            </a:r>
          </a:p>
          <a:p>
            <a:r>
              <a:t>   [PAUSE for 30-60 seconds]</a:t>
            </a:r>
          </a:p>
          <a:p>
            <a:endParaRPr/>
          </a:p>
          <a:p>
            <a:r>
              <a:t>DEMO:</a:t>
            </a:r>
          </a:p>
          <a:p>
            <a:r>
              <a:t>   Live: Tell Claude 'I want to add a notification system to this API. Interview me about implementation details.' Show Claude asking 3-4 probing questions. Answer them. Watch Claude generate SPEC.md.</a:t>
            </a:r>
          </a:p>
          <a:p>
            <a:endParaRPr/>
          </a:p>
          <a:p>
            <a:r>
              <a:t>TRANSITION:</a:t>
            </a:r>
          </a:p>
          <a:p>
            <a:r>
              <a:t>   Now let's talk about the discipline that makes everything else work — session hygiene.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I want to share something that reframes everything we've covered today. The number one skill that separates people who get incredible results from AI from people who get mediocre results is NOT prompt engineering. It's the ability to write a clear specification of what you want.</a:t>
            </a:r>
          </a:p>
          <a:p>
            <a:endParaRPr/>
          </a:p>
          <a:p>
            <a:r>
              <a:t>KEY POINTS:</a:t>
            </a:r>
          </a:p>
          <a:p>
            <a:r>
              <a:t>   * Senior engineers who write precise specs get 2x productivity from autonomous AI agents compared to those who don't. Not because they're better at prompting — because they know exactly what they want before they start typing.</a:t>
            </a:r>
          </a:p>
          <a:p>
            <a:r>
              <a:t>   * Here's the uncomfortable truth: most people can't write good specs. They don't actually know what they want until they see output. That's why the Interview Me pattern we just covered is so powerful — it forces you to articulate your intent before Claude starts building.</a:t>
            </a:r>
          </a:p>
          <a:p>
            <a:r>
              <a:t>   * This isn't just a coding skill. For non-technical work — reports, analysis, planning — what a high-quality spec looks like is almost entirely unexplored territory. The companies that figure out high-grade intent specification will access a completely different order of AI leverage.</a:t>
            </a:r>
          </a:p>
          <a:p>
            <a:endParaRPr/>
          </a:p>
          <a:p>
            <a:r>
              <a:t>TRANSITION:</a:t>
            </a:r>
          </a:p>
          <a:p>
            <a:r>
              <a:t>   So what does a good spec actually look like? Let me show you a framework.</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the same task, two ways. On the left is how most people talk to Claude Code. On the right is how power users talk to Claude Code. The tool is identical. The output quality is completely different.</a:t>
            </a:r>
          </a:p>
          <a:p>
            <a:endParaRPr/>
          </a:p>
          <a:p>
            <a:r>
              <a:t>KEY POINTS:</a:t>
            </a:r>
          </a:p>
          <a:p>
            <a:r>
              <a:t>   * Vague intent: 'Build a user dashboard.' Claude will build SOMETHING. It'll pick a layout, guess at what data to show, choose a charting library, decide on a refresh interval. Every one of those decisions might be wrong. You'll look at the output and say 'that's not what I meant' — but you never told it what you meant.</a:t>
            </a:r>
          </a:p>
          <a:p>
            <a:r>
              <a:t>   * Precise spec: You start with the problem, not the solution. 'Users can't see their activity history.' Then constraints: 'Last 30 days, filterable by activity type.' Then technical boundaries: 'Use our existing User model, passport-local auth.' Then you define what 'responsive' actually means: specific breakpoints, mobile-first.',</a:t>
            </a:r>
          </a:p>
          <a:p>
            <a:r>
              <a:t>   * The difference in outcome is staggering. Vague prompts get you something you need to redo. Specs get you something you need to refine. Redo means starting over. Refine means you're 80 percent done. That's the productivity gap everyone's talking about.</a:t>
            </a:r>
          </a:p>
          <a:p>
            <a:r>
              <a:t>   * And here's the kicker: writing a good spec takes 5 to 10 minutes. Redoing bad output takes 30 minutes to 2 hours. The spec pays for itself on the first task.</a:t>
            </a:r>
          </a:p>
          <a:p>
            <a:endParaRPr/>
          </a:p>
          <a:p>
            <a:r>
              <a:t>TRANSITION:</a:t>
            </a:r>
          </a:p>
          <a:p>
            <a:r>
              <a:t>   Let me show you a real spec template that works for any Claude Code task.</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the framework. Six questions. If you can answer all six before you talk to Claude Code, your output quality jumps dramatically. If you can't answer them, that's a signal — you're not ready to build yet.</a:t>
            </a:r>
          </a:p>
          <a:p>
            <a:endParaRPr/>
          </a:p>
          <a:p>
            <a:r>
              <a:t>KEY POINTS:</a:t>
            </a:r>
          </a:p>
          <a:p>
            <a:r>
              <a:t>   * Question 1, Problem: Don't start with the solution. 'Build a dashboard' is a solution. 'Users can't see their activity history and support tickets are increasing' is a problem. When Claude understands the problem, it makes better architectural decisions.</a:t>
            </a:r>
          </a:p>
          <a:p>
            <a:r>
              <a:t>   * Question 2, Users: Describe scenarios, not features. 'A sales manager opens the dashboard Monday morning to see which deals closed last week and which are at risk this week.' That single sentence tells Claude more about layout, data priority, and interaction design than a bullet list of features ever could.</a:t>
            </a:r>
          </a:p>
          <a:p>
            <a:r>
              <a:t>   * Questions 3 and 4, Requirements and Boundaries: MUST, SHOULD, COULD is your priority framework. 'MUST show last 30 days of activity. SHOULD support CSV export. COULD include a chart visualization.' And boundaries matter just as much — 'Do NOT modify the existing API endpoints. Do NOT add new dependencies without asking.' Every boundary you set is a wrong assumption you prevent.</a:t>
            </a:r>
          </a:p>
          <a:p>
            <a:r>
              <a:t>   * Questions 5 and 6, Acceptance and Constraints: 'Given a user with 50 activities, When they open the dashboard, Then they see the 30 most recent sorted by date.' That's testable. Claude can even write the tests from that. And constraints ground it in reality — 'Use our existing Express routes, PostgreSQL, and the User model in src/models.'</a:t>
            </a:r>
          </a:p>
          <a:p>
            <a:endParaRPr/>
          </a:p>
          <a:p>
            <a:r>
              <a:t>ASK THE CLASS:</a:t>
            </a:r>
          </a:p>
          <a:p>
            <a:r>
              <a:t>   "Think about the last task you gave to a junior developer or contractor. Did you answer all 6 questions? What happened with the parts you left ambiguous?"</a:t>
            </a:r>
          </a:p>
          <a:p>
            <a:r>
              <a:t>   [PAUSE for 30-60 seconds]</a:t>
            </a:r>
          </a:p>
          <a:p>
            <a:endParaRPr/>
          </a:p>
          <a:p>
            <a:r>
              <a:t>TRANSITION:</a:t>
            </a:r>
          </a:p>
          <a:p>
            <a:r>
              <a:t>   Let's see this in practice with a real spec that drives a Claude Code session.</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p>
          <a:p>
            <a:endParaRPr/>
          </a:p>
          <a:p/>
          <a:p/>
          <a:p>
            <a:endParaRPr/>
          </a:p>
          <a:p/>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Intelligence is not the bottleneck — context is. That's Anthropic's own framing. And the fastest way to degrade your context is to pile unrelated tasks into the same session. Reza Rezvani spent 7 months fighting Claude Code before he learned this: /clear is your most important command. Not a last resort — a regular habit.</a:t>
            </a:r>
          </a:p>
          <a:p>
            <a:endParaRPr/>
          </a:p>
          <a:p>
            <a:r>
              <a:t>KEY POINTS:</a:t>
            </a:r>
          </a:p>
          <a:p>
            <a:r>
              <a:t>   * Context degrades over long sessions — like starting a meeting where someone's been talking for 20 minutes about something unrelated</a:t>
            </a:r>
          </a:p>
          <a:p>
            <a:r>
              <a:t>   * The correction spiral: after 2 failed attempts to correct output, your context is poisoned with conflicting instructions. /clear and start fresh with a better prompt.</a:t>
            </a:r>
          </a:p>
          <a:p>
            <a:r>
              <a:t>   * Quote: 'I spent months blaming Claude for not understanding my project while doing nothing to help it understand.'</a:t>
            </a:r>
          </a:p>
          <a:p>
            <a:r>
              <a:t>   * Rule of thumb: one task per session. New feature? New session. Bug fix? New session. Refactor? New session.</a:t>
            </a:r>
          </a:p>
          <a:p>
            <a:r>
              <a:t>   * The anti-pattern has a name: 'vibes-driven development' — just hoping Claude gets it right without structure</a:t>
            </a:r>
          </a:p>
          <a:p>
            <a:r>
              <a:t>   * According to MIT 2025 research, 95% of AI projects fail — and $644B has been lost globally on failed AI implementations. The #1 cause? Lack of discipline in how teams use AI tools.</a:t>
            </a:r>
          </a:p>
          <a:p>
            <a:r>
              <a:t>   * Session hygiene maps directly to the 7 root causes of AI failure: unclear objectives, poor data management, lack of governance, inadequate testing, scope creep, insufficient training, and no feedback loops.</a:t>
            </a:r>
          </a:p>
          <a:p>
            <a:r>
              <a:t>   * Zillow lost $500M from flawed AI models — not because the AI was bad, but because the process around it was undisciplined. Don't let that be your Claude Code experience.</a:t>
            </a:r>
          </a:p>
          <a:p>
            <a:endParaRPr/>
          </a:p>
          <a:p>
            <a:r>
              <a:t>ASK THE CLASS:</a:t>
            </a:r>
          </a:p>
          <a:p>
            <a:r>
              <a:t>   "How many of you have had Claude 'forget' what you told it 20 messages ago? That's context degradation."</a:t>
            </a:r>
          </a:p>
          <a:p>
            <a:r>
              <a:t>   [PAUSE for 30-60 seconds]</a:t>
            </a:r>
          </a:p>
          <a:p>
            <a:endParaRPr/>
          </a:p>
          <a:p>
            <a:r>
              <a:t>DEMO:</a:t>
            </a:r>
          </a:p>
          <a:p>
            <a:r>
              <a:t>   Do 4 quick unrelated tasks in one session without clearing. Show response quality dropping on task 4. Then /clear, redo task 4, show dramatic quality improvement.</a:t>
            </a:r>
          </a:p>
          <a:p>
            <a:endParaRPr/>
          </a:p>
          <a:p>
            <a:r>
              <a:t>TRANSITION:</a:t>
            </a:r>
          </a:p>
          <a:p>
            <a:r>
              <a:t>   Now let's look at the permissions model that keeps your code safe.</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Real story. A developer asked Claude to build an entire payment processing module. Claude worked for three days. The result? Compounding errors across dozens of files. Tests failing everywhere. They rolled back everything and started over. This time: 12 small, focused tasks. Each one verified before moving to the next. Done in two days — less time than the failed attempt — with better code and zero rollbacks.</a:t>
            </a:r>
          </a:p>
          <a:p>
            <a:endParaRPr/>
          </a:p>
          <a:p>
            <a:r>
              <a:t>KEY POINTS:</a:t>
            </a:r>
          </a:p>
          <a:p>
            <a:r>
              <a:t>   * Big tasks compound errors. Small tasks isolate them.</a:t>
            </a:r>
          </a:p>
          <a:p>
            <a:r>
              <a:t>   * 12 small tasks × 20 minutes each = 4 hours of focused work over 2 days</a:t>
            </a:r>
          </a:p>
          <a:p>
            <a:r>
              <a:t>   * Each small task has a clear definition of done and can be verified independently</a:t>
            </a:r>
          </a:p>
          <a:p>
            <a:r>
              <a:t>   * This is Engineering Principle #6 in action: Small, Frequent, Actionable Output</a:t>
            </a:r>
          </a:p>
          <a:p>
            <a:r>
              <a:t>   * The anti-pattern: 'spec dump' — giving Claude a 50-page doc and saying 'build this'</a:t>
            </a:r>
          </a:p>
          <a:p>
            <a:r>
              <a:t>   * Source: Reza Rezvani, 'It Took Me 7 Months to Stop Fighting Claude Code'</a:t>
            </a:r>
          </a:p>
          <a:p>
            <a:r>
              <a:t>   * This story mirrors a global pattern: according to MIT 2025, 95% of AI projects fail. The payment module disaster is a microcosm of the $644B lost globally on failed AI implementations.</a:t>
            </a:r>
          </a:p>
          <a:p>
            <a:r>
              <a:t>   * The fix — 12 small tasks verified independently — maps to Claude Code disciplines: /clear between tasks, 30-45 minute focused sessions, and the 2-strike rule (after 2 failed corrections, start fresh).</a:t>
            </a:r>
          </a:p>
          <a:p>
            <a:endParaRPr/>
          </a:p>
          <a:p>
            <a:r>
              <a:t>TRANSITION:</a:t>
            </a:r>
          </a:p>
          <a:p>
            <a:r>
              <a:t>   This decomposition discipline applies to everything we'll do today. Now let's set up permissions.</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is powerful, which means you need guardrails. This section is about building safe AI workflows.</a:t>
            </a:r>
          </a:p>
          <a:p>
            <a:endParaRPr/>
          </a:p>
          <a:p>
            <a:r>
              <a:t>KEY POINTS:</a:t>
            </a:r>
          </a:p>
          <a:p>
            <a:r>
              <a:t>   * According to recent surveys, 76% of CISOs cite visibility gaps in AI tool usage as their top concern. 58% feel unprepared to report AI risks to their board.</a:t>
            </a:r>
          </a:p>
          <a:p>
            <a:r>
              <a:t>   * Industry data shows 40-60% of organizational code output is now AI-generated. Shadow AI is already in your organization — the question is whether you manage it or ignore it.</a:t>
            </a:r>
          </a:p>
          <a:p>
            <a:r>
              <a:t>   * Frame this section as: 'You already have AI in your codebase. Let's make sure it's governed, audited, and secure.' This resonates with security-conscious leadership.</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Code's security model is based on trust-but-verify - you configure the level of trust based on risk.</a:t>
            </a:r>
          </a:p>
          <a:p>
            <a:endParaRPr/>
          </a:p>
          <a:p>
            <a:r>
              <a:t>KEY POINTS:</a:t>
            </a:r>
          </a:p>
          <a:p>
            <a:r>
              <a:t>   * The security model exists because of a real problem: 76% of CISOs cite visibility gaps in AI tool usage. Claude Code's permission system provides the visibility and control that security leaders demand.</a:t>
            </a:r>
          </a:p>
          <a:p>
            <a:r>
              <a:t>   * With 40-60% of code now AI-generated, the approval-based model isn't optional — it's essential for compliance and risk management.</a:t>
            </a:r>
          </a:p>
          <a:p>
            <a:r>
              <a:t>   * Shadow AI problem: developers are already using AI tools without governance. Claude Code's security model lets you say 'yes' to AI adoption while maintaining control.</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p>
          <a:p>
            <a:endParaRPr dirty="0"/>
          </a:p>
          <a:p>
            <a:r>
              <a:rPr dirty="0"/>
              <a:t>OPEN WITH:</a:t>
            </a:r>
          </a:p>
          <a:p>
            <a:r>
              <a:rPr dirty="0"/>
              <a:t>   Think of these as traffic lights - red for stop and review, yellow for caution, green for go fast.</a:t>
            </a:r>
          </a:p>
          <a:p>
            <a:endParaRPr dirty="0"/>
          </a:p>
          <a:p>
            <a:r>
              <a:rPr dirty="0"/>
              <a:t>KEY POINTS:</a:t>
            </a:r>
          </a:p>
          <a:p>
            <a:r>
              <a:rPr dirty="0"/>
              <a:t>   * Key insight</a:t>
            </a:r>
          </a:p>
          <a:p>
            <a:r>
              <a:rPr dirty="0"/>
              <a:t>   * Practical application</a:t>
            </a:r>
          </a:p>
          <a:p>
            <a:r>
              <a:rPr dirty="0"/>
              <a:t>   * Why it matters</a:t>
            </a:r>
          </a:p>
          <a:p>
            <a:endParaRPr dirty="0"/>
          </a:p>
          <a:p>
            <a:r>
              <a:rPr dirty="0"/>
              <a:t>REAL-WORLD EXAMPLE:</a:t>
            </a:r>
          </a:p>
          <a:p>
            <a:r>
              <a:rPr dirty="0"/>
              <a:t>   Example demonstrating this concept.</a:t>
            </a:r>
          </a:p>
          <a:p>
            <a:endParaRPr dirty="0"/>
          </a:p>
          <a:p>
            <a:r>
              <a:rPr dirty="0"/>
              <a:t>TRANSITION:</a:t>
            </a:r>
          </a:p>
          <a:p>
            <a:r>
              <a:rPr dirty="0"/>
              <a:t>   Next...</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Allowlists and blocklists are like firewall rules for Claude Code.</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.claudeignore isn't just for token optimization - it's a critical security tool that prevents Claude Code from ever seeing sensitive files.</a:t>
            </a:r>
          </a:p>
          <a:p>
            <a:endParaRPr/>
          </a:p>
          <a:p>
            <a:r>
              <a:t>KEY POINTS:</a:t>
            </a:r>
          </a:p>
          <a:p>
            <a:r>
              <a:t>   * Key insight</a:t>
            </a:r>
          </a:p>
          <a:p>
            <a:r>
              <a:t>   * Practical application</a:t>
            </a:r>
          </a:p>
          <a:p>
            <a:r>
              <a:t>   * Why it matters</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If you're in a regulated industry, enterprise security features ensure compliance.</a:t>
            </a:r>
          </a:p>
          <a:p>
            <a:endParaRPr/>
          </a:p>
          <a:p>
            <a:r>
              <a:t>KEY POINTS:</a:t>
            </a:r>
          </a:p>
          <a:p>
            <a:r>
              <a:t>   * Enterprise security features directly address the CISO concerns: 76% cite visibility gaps, 58% feel unprepared to report AI risks to the board.</a:t>
            </a:r>
          </a:p>
          <a:p>
            <a:r>
              <a:t>   * Audit logs, compliance certifications, and data governance give security leaders the evidence they need for board reporting.</a:t>
            </a:r>
          </a:p>
          <a:p>
            <a:r>
              <a:t>   * Position Claude Code as the solution to shadow AI: 'Your developers are already using AI tools. Claude Code gives you visibility, control, and compliance — turning a risk into a managed capability.'</a:t>
            </a:r>
          </a:p>
          <a:p>
            <a:endParaRPr/>
          </a:p>
          <a:p>
            <a:r>
              <a:t>REAL-WORLD EXAMPLE:</a:t>
            </a:r>
          </a:p>
          <a:p>
            <a:r>
              <a:t>   Example demonstrating this concept.</a:t>
            </a:r>
          </a:p>
          <a:p>
            <a:endParaRPr/>
          </a:p>
          <a:p>
            <a:r>
              <a:t>TRANSITION:</a:t>
            </a:r>
          </a:p>
          <a:p>
            <a:r>
              <a:t>   Next...</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Here's a cautionary tale: Reza allowed Claude to run git adds automatically. Claude enthusiastically added ALL files — including .env with API keys, node_modules, and build artifacts. One commit away from leaking credentials to a public repo. The fix: auto-execute on read-only commands, manual approval for anything that writes.</a:t>
            </a:r>
          </a:p>
          <a:p>
            <a:endParaRPr/>
          </a:p>
          <a:p>
            <a:r>
              <a:t>KEY POINTS:</a:t>
            </a:r>
          </a:p>
          <a:p>
            <a:r>
              <a:t>   * Default to restrictive. Open up only what you've verified is safe.</a:t>
            </a:r>
          </a:p>
          <a:p>
            <a:r>
              <a:t>   * Read operations are always safe to auto-approve: git status, ls, cat, grep</a:t>
            </a:r>
          </a:p>
          <a:p>
            <a:r>
              <a:t>   * Write operations always need manual approval: git add, rm, file writes</a:t>
            </a:r>
          </a:p>
          <a:p>
            <a:r>
              <a:t>   * git commit is especially dangerous — review the diff before every commit</a:t>
            </a:r>
          </a:p>
          <a:p>
            <a:r>
              <a:t>   * Pro tip: Use .claudeignore to hide .env, credentials, and secrets from Claude entirely</a:t>
            </a:r>
          </a:p>
          <a:p>
            <a:endParaRPr/>
          </a:p>
          <a:p>
            <a:r>
              <a:t>TRANSITION:</a:t>
            </a:r>
          </a:p>
          <a:p>
            <a:r>
              <a:t>   Let's configure these permissions in the demo.</a:t>
            </a: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comes from Nate B Jones' 'Second Brain' video - the idea that AI assistants should be cautious by default, not reckless. Claude Code embodies this perfectly.</a:t>
            </a:r>
          </a:p>
          <a:p>
            <a:endParaRPr/>
          </a:p>
          <a:p>
            <a:r>
              <a:t>KEY POINTS:</a:t>
            </a:r>
          </a:p>
          <a:p>
            <a:r>
              <a:t>   * Claude Code's permission system implements 'default to safe' - it asks before destructive operations like deleting files or dropping databases</a:t>
            </a:r>
          </a:p>
          <a:p>
            <a:r>
              <a:t>   * CLAUDE.md acts as a guardrail system - you define what's safe and what requires human approval</a:t>
            </a:r>
          </a:p>
          <a:p>
            <a:r>
              <a:t>   * The Verify stage of the agentic loop is another safety mechanism - Claude Code doesn't just assume changes worked, it actively checks</a:t>
            </a:r>
          </a:p>
          <a:p>
            <a:r>
              <a:t>   * When Claude Code encounters ambiguous instructions or edge cases it can't handle confidently, it stops and asks rather than guessing</a:t>
            </a:r>
          </a:p>
          <a:p>
            <a:r>
              <a:t>   * This design philosophy prevents the 'AI ran wild and broke everything' scenario you hear about with less careful implementations</a:t>
            </a:r>
          </a:p>
          <a:p>
            <a:endParaRPr/>
          </a:p>
          <a:p>
            <a:r>
              <a:t>ASK THE CLASS:</a:t>
            </a:r>
          </a:p>
          <a:p>
            <a:r>
              <a:t>   "Would you rather have an AI that sometimes asks unnecessary questions, or one that occasionally makes destructive mistakes without warning? There's your answer for why 'safe by default' matters."</a:t>
            </a:r>
          </a:p>
          <a:p>
            <a:r>
              <a:t>   [PAUSE for 30-60 seconds]</a:t>
            </a:r>
          </a:p>
          <a:p>
            <a:endParaRPr/>
          </a:p>
          <a:p>
            <a:r>
              <a:t>REAL-WORLD EXAMPLE:</a:t>
            </a:r>
          </a:p>
          <a:p>
            <a:r>
              <a:t>   A developer last week told Claude Code to 'clean up the test files' in a project. Claude Code identified 47 files matching test patterns but noticed some were in the main source tree, not the tests/ directory. Instead of deleting them all, it listed them and asked 'These 12 files are outside tests/ - should I delete them too?' The developer realized those were test utilities, not test files. Safe default prevented data loss.</a:t>
            </a:r>
          </a:p>
          <a:p>
            <a:endParaRPr/>
          </a:p>
          <a:p>
            <a:r>
              <a:t>DEMO:</a:t>
            </a:r>
          </a:p>
          <a:p>
            <a:r>
              <a:t>   Open Claude Code in a project with a CLAUDE.md that has restrictive permissions (suggest-only or approval-required). Attempt a task that requires file deletion: 'Remove all unused imports from the Python files and delete any empty utility files.' Watch Claude Code identify the files to delete, but instead of deleting them immediately, it will present the list and ask for confirmation. Approve the deletion and watch it proceed. Then attempt a more ambiguous task: 'Optimize the database queries.' Show how Claude Code will ask clarifying questions rather than making assumptions about what 'optimize' means in this context.</a:t>
            </a:r>
          </a:p>
          <a:p>
            <a:endParaRPr/>
          </a:p>
          <a:p>
            <a:r>
              <a:t>TRANSITION:</a:t>
            </a:r>
          </a:p>
          <a:p>
            <a:r>
              <a:t>   Safe defaults are one layer - let's look at how breaking work into small chunks provides another safety mechanism</a:t>
            </a: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Quick 15-minute break.</a:t>
            </a:r>
          </a:p>
          <a:p>
            <a:endParaRPr/>
          </a:p>
          <a:p>
            <a:r>
              <a:t>KEY POINTS:</a:t>
            </a:r>
          </a:p>
          <a:p>
            <a:r>
              <a:t>   * Git integration next</a:t>
            </a:r>
          </a:p>
          <a:p>
            <a:endParaRPr/>
          </a:p>
          <a:p>
            <a:r>
              <a:t>TRANSITION:</a:t>
            </a:r>
          </a:p>
          <a:p>
            <a:r>
              <a:t>   Back in 15</a:t>
            </a: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Git integration is where Claude Code shines.</a:t>
            </a:r>
          </a:p>
          <a:p>
            <a:endParaRPr/>
          </a:p>
          <a:p>
            <a:r>
              <a:t>KEY POINTS:</a:t>
            </a:r>
          </a:p>
          <a:p>
            <a:r>
              <a:t>   * Manages entire workflow</a:t>
            </a:r>
          </a:p>
          <a:p>
            <a:endParaRPr/>
          </a:p>
          <a:p>
            <a:r>
              <a:t>TRANSITION:</a:t>
            </a:r>
          </a:p>
          <a:p>
            <a:r>
              <a:t>   Auto-commits first</a:t>
            </a: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writes better commit messages than most humans.</a:t>
            </a:r>
          </a:p>
          <a:p>
            <a:endParaRPr/>
          </a:p>
          <a:p>
            <a:r>
              <a:t>KEY POINTS:</a:t>
            </a:r>
          </a:p>
          <a:p>
            <a:r>
              <a:t>   * Knows what changed and why</a:t>
            </a:r>
          </a:p>
          <a:p>
            <a:r>
              <a:t>   * Follows conventions</a:t>
            </a:r>
          </a:p>
          <a:p>
            <a:r>
              <a:t>   * Saves time</a:t>
            </a:r>
          </a:p>
          <a:p>
            <a:endParaRPr/>
          </a:p>
          <a:p>
            <a:r>
              <a:t>REAL-WORLD EXAMPLE:</a:t>
            </a:r>
          </a:p>
          <a:p>
            <a:r>
              <a:t>   Student's commits went from 'fixes' to detailed feat/fix messages.</a:t>
            </a:r>
          </a:p>
          <a:p>
            <a:endParaRPr/>
          </a:p>
          <a:p>
            <a:r>
              <a:t>TRANSITION:</a:t>
            </a:r>
          </a:p>
          <a:p>
            <a:r>
              <a:t>   Branch management next</a:t>
            </a: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Perfect branch names every time.</a:t>
            </a:r>
          </a:p>
          <a:p>
            <a:endParaRPr/>
          </a:p>
          <a:p>
            <a:r>
              <a:t>KEY POINTS:</a:t>
            </a:r>
          </a:p>
          <a:p>
            <a:r>
              <a:t>   * Follows CLAUDE.md rules</a:t>
            </a:r>
          </a:p>
          <a:p>
            <a:r>
              <a:t>   * Consistent naming</a:t>
            </a:r>
          </a:p>
          <a:p>
            <a:r>
              <a:t>   * No mistakes</a:t>
            </a:r>
          </a:p>
          <a:p>
            <a:endParaRPr/>
          </a:p>
          <a:p>
            <a:r>
              <a:t>REAL-WORLD EXAMPLE:</a:t>
            </a:r>
          </a:p>
          <a:p>
            <a:r>
              <a:t>   Team went from 60% to 100% naming compliance.</a:t>
            </a:r>
          </a:p>
          <a:p>
            <a:endParaRPr/>
          </a:p>
          <a:p>
            <a:r>
              <a:t>TRANSITION:</a:t>
            </a:r>
          </a:p>
          <a:p>
            <a:r>
              <a:t>   Commit messages</a:t>
            </a: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Real commit messages from Claude Code.</a:t>
            </a:r>
          </a:p>
          <a:p>
            <a:endParaRPr/>
          </a:p>
          <a:p>
            <a:r>
              <a:t>KEY POINTS:</a:t>
            </a:r>
          </a:p>
          <a:p>
            <a:r>
              <a:t>   * Detailed and structured</a:t>
            </a:r>
          </a:p>
          <a:p>
            <a:r>
              <a:t>   * Explains what and why</a:t>
            </a:r>
          </a:p>
          <a:p>
            <a:r>
              <a:t>   * Searchable history</a:t>
            </a:r>
          </a:p>
          <a:p>
            <a:endParaRPr/>
          </a:p>
          <a:p>
            <a:r>
              <a:t>REAL-WORLD EXAMPLE:</a:t>
            </a:r>
          </a:p>
          <a:p>
            <a:r>
              <a:t>   Developer found bug fix in seconds by searching 'refactor(database)'.</a:t>
            </a:r>
          </a:p>
          <a:p>
            <a:endParaRPr/>
          </a:p>
          <a:p>
            <a:r>
              <a:t>TRANSITION:</a:t>
            </a:r>
          </a:p>
          <a:p>
            <a:r>
              <a:t>   PR creation</a:t>
            </a: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PR descriptions in seconds.</a:t>
            </a:r>
          </a:p>
          <a:p>
            <a:endParaRPr/>
          </a:p>
          <a:p>
            <a:r>
              <a:t>KEY POINTS:</a:t>
            </a:r>
          </a:p>
          <a:p>
            <a:r>
              <a:t>   * What, why, how, testing</a:t>
            </a:r>
          </a:p>
          <a:p>
            <a:r>
              <a:t>   * Linked issues</a:t>
            </a:r>
          </a:p>
          <a:p>
            <a:r>
              <a:t>   * Checklist included</a:t>
            </a:r>
          </a:p>
          <a:p>
            <a:endParaRPr/>
          </a:p>
          <a:p>
            <a:r>
              <a:t>REAL-WORLD EXAMPLE:</a:t>
            </a:r>
          </a:p>
          <a:p>
            <a:r>
              <a:t>   Junior dev's Claude-generated PR was called 'best-documented in months'.</a:t>
            </a:r>
          </a:p>
          <a:p>
            <a:endParaRPr/>
          </a:p>
          <a:p>
            <a:r>
              <a:t>TRANSITION:</a:t>
            </a:r>
          </a:p>
          <a:p>
            <a:r>
              <a:t>   Git history</a:t>
            </a: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Git history analysis made easy.</a:t>
            </a:r>
          </a:p>
          <a:p>
            <a:endParaRPr/>
          </a:p>
          <a:p>
            <a:r>
              <a:t>KEY POINTS:</a:t>
            </a:r>
          </a:p>
          <a:p>
            <a:r>
              <a:t>   * Answers 'who/when/why'</a:t>
            </a:r>
          </a:p>
          <a:p>
            <a:r>
              <a:t>   * Identifies patterns</a:t>
            </a:r>
          </a:p>
          <a:p>
            <a:r>
              <a:t>   * Generates changelogs</a:t>
            </a:r>
          </a:p>
          <a:p>
            <a:endParaRPr/>
          </a:p>
          <a:p>
            <a:r>
              <a:t>REAL-WORLD EXAMPLE:</a:t>
            </a:r>
          </a:p>
          <a:p>
            <a:r>
              <a:t>   Found bug introduction by asking Claude Code to analyze history.</a:t>
            </a:r>
          </a:p>
          <a:p>
            <a:endParaRPr/>
          </a:p>
          <a:p>
            <a:r>
              <a:t>TRANSITION:</a:t>
            </a:r>
          </a:p>
          <a:p>
            <a:r>
              <a:t>   Platform differences</a:t>
            </a: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Both platforms supported.</a:t>
            </a:r>
          </a:p>
          <a:p>
            <a:endParaRPr/>
          </a:p>
          <a:p>
            <a:r>
              <a:t>KEY POINTS:</a:t>
            </a:r>
          </a:p>
          <a:p>
            <a:r>
              <a:t>   * Same concepts</a:t>
            </a:r>
          </a:p>
          <a:p>
            <a:r>
              <a:t>   * Syntax varies slightly</a:t>
            </a:r>
          </a:p>
          <a:p>
            <a:r>
              <a:t>   * Choose your platform</a:t>
            </a:r>
          </a:p>
          <a:p>
            <a:endParaRPr/>
          </a:p>
          <a:p>
            <a:r>
              <a:t>REAL-WORLD EXAMPLE:</a:t>
            </a:r>
          </a:p>
          <a:p>
            <a:r>
              <a:t>   Team switched GitHub to GitLab, Claude Code config took 5 minutes.</a:t>
            </a:r>
          </a:p>
          <a:p>
            <a:endParaRPr/>
          </a:p>
          <a:p>
            <a:r>
              <a:t>TRANSITION:</a:t>
            </a:r>
          </a:p>
          <a:p>
            <a:r>
              <a:t>   Complete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with business-dashboard:</a:t>
            </a:r>
            <a:br/>
            <a:r>
              <a:t>2. Type: "Create a new branch called feature/dashboard-stats"</a:t>
            </a:r>
            <a:br/>
            <a:r>
              <a:t>3. Type: "Add a stats summary panel at the top of the dashboard showing total metrics, active tasks, and completion rate"</a:t>
            </a:r>
            <a:br/>
            <a:r>
              <a:t>4. Type: "Commit with message 'feat: add stats summary panel'"</a:t>
            </a:r>
            <a:br/>
            <a:r>
              <a:t>5. Type: "Switch back to main and merge feature/dashboard-stats"</a:t>
            </a:r>
            <a:br/>
            <a:r>
              <a:t>6. Type: "Show me the git log --oneline for the last 5 commits"</a:t>
            </a:r>
            <a:br/>
            <a:r>
              <a:t>7. Show the clean history</a:t>
            </a:r>
            <a:br/>
            <a:br/>
            <a:r>
              <a:t>TALKING POINT: "Natural language Git. No memorizing flags, no merge conflict anxiety. You describe the workflow, Claude handles the commands."</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Real workflows you'll use daily.</a:t>
            </a:r>
          </a:p>
          <a:p>
            <a:endParaRPr/>
          </a:p>
          <a:p>
            <a:r>
              <a:t>KEY POINTS:</a:t>
            </a:r>
          </a:p>
          <a:p>
            <a:r>
              <a:t>   * Complete toolkit</a:t>
            </a:r>
          </a:p>
          <a:p>
            <a:endParaRPr/>
          </a:p>
          <a:p>
            <a:r>
              <a:t>TRANSITION:</a:t>
            </a:r>
          </a:p>
          <a:p>
            <a:r>
              <a:t>   File operations</a:t>
            </a:r>
          </a:p>
        </p:txBody>
      </p:sp>
      <p:sp>
        <p:nvSpPr>
          <p:cNvPr id="4" name="Slide Number Placeholder 3"/>
          <p:cNvSpPr>
            <a:spLocks noGrp="1"/>
          </p:cNvSpPr>
          <p:nvPr>
            <p:ph type="sldNum" sz="quarter" idx="5"/>
          </p:nvPr>
        </p:nvSpPr>
        <p:spPr/>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Precise file operations.</a:t>
            </a:r>
          </a:p>
          <a:p>
            <a:endParaRPr/>
          </a:p>
          <a:p>
            <a:r>
              <a:t>KEY POINTS:</a:t>
            </a:r>
          </a:p>
          <a:p>
            <a:r>
              <a:t>   * Coordinated changes</a:t>
            </a:r>
          </a:p>
          <a:p>
            <a:r>
              <a:t>   * Dependency tracking</a:t>
            </a:r>
          </a:p>
          <a:p>
            <a:r>
              <a:t>   * Verification</a:t>
            </a:r>
          </a:p>
          <a:p>
            <a:endParaRPr/>
          </a:p>
          <a:p>
            <a:r>
              <a:t>REAL-WORLD EXAMPLE:</a:t>
            </a:r>
          </a:p>
          <a:p>
            <a:r>
              <a:t>   Renamed function across 30 files flawlessly.</a:t>
            </a:r>
          </a:p>
          <a:p>
            <a:endParaRPr/>
          </a:p>
          <a:p>
            <a:r>
              <a:t>TRANSITION:</a:t>
            </a:r>
          </a:p>
          <a:p>
            <a:r>
              <a:t>   Refactoring</a:t>
            </a:r>
          </a:p>
        </p:txBody>
      </p:sp>
      <p:sp>
        <p:nvSpPr>
          <p:cNvPr id="4" name="Slide Number Placeholder 3"/>
          <p:cNvSpPr>
            <a:spLocks noGrp="1"/>
          </p:cNvSpPr>
          <p:nvPr>
            <p:ph type="sldNum" sz="quarter" idx="5"/>
          </p:nvPr>
        </p:nvSpPr>
        <p:spPr/>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Refactoring 10+ files is error-prone manually.</a:t>
            </a:r>
          </a:p>
          <a:p>
            <a:endParaRPr/>
          </a:p>
          <a:p>
            <a:r>
              <a:t>KEY POINTS:</a:t>
            </a:r>
          </a:p>
          <a:p>
            <a:r>
              <a:t>   * Claude Code handles precision</a:t>
            </a:r>
          </a:p>
          <a:p>
            <a:r>
              <a:t>   * Updates imports</a:t>
            </a:r>
          </a:p>
          <a:p>
            <a:r>
              <a:t>   * Verifies changes</a:t>
            </a:r>
          </a:p>
          <a:p>
            <a:endParaRPr/>
          </a:p>
          <a:p>
            <a:r>
              <a:t>REAL-WORLD EXAMPLE:</a:t>
            </a:r>
          </a:p>
          <a:p>
            <a:r>
              <a:t>   Split large class into 5 modules, updated all callers.</a:t>
            </a:r>
          </a:p>
          <a:p>
            <a:endParaRPr/>
          </a:p>
          <a:p>
            <a:r>
              <a:t>TRANSITION:</a:t>
            </a:r>
          </a:p>
          <a:p>
            <a:r>
              <a:t>   Code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Why write boilerplate 100 times?</a:t>
            </a:r>
          </a:p>
          <a:p>
            <a:endParaRPr/>
          </a:p>
          <a:p>
            <a:r>
              <a:t>KEY POINTS:</a:t>
            </a:r>
          </a:p>
          <a:p>
            <a:r>
              <a:t>   * CRUD generation</a:t>
            </a:r>
          </a:p>
          <a:p>
            <a:r>
              <a:t>   * API scaffolding</a:t>
            </a:r>
          </a:p>
          <a:p>
            <a:r>
              <a:t>   * Test templates</a:t>
            </a:r>
          </a:p>
          <a:p>
            <a:endParaRPr/>
          </a:p>
          <a:p>
            <a:r>
              <a:t>REAL-WORLD EXAMPLE:</a:t>
            </a:r>
          </a:p>
          <a:p>
            <a:r>
              <a:t>   Generated 15 CRUD endpoints in 3 minutes.</a:t>
            </a:r>
          </a:p>
          <a:p>
            <a:endParaRPr/>
          </a:p>
          <a:p>
            <a:r>
              <a:t>TRANSITION:</a:t>
            </a:r>
          </a:p>
          <a:p>
            <a:r>
              <a:t>   Debugging</a:t>
            </a:r>
          </a:p>
        </p:txBody>
      </p:sp>
      <p:sp>
        <p:nvSpPr>
          <p:cNvPr id="4" name="Slide Number Placeholder 3"/>
          <p:cNvSpPr>
            <a:spLocks noGrp="1"/>
          </p:cNvSpPr>
          <p:nvPr>
            <p:ph type="sldNum" sz="quarter" idx="5"/>
          </p:nvPr>
        </p:nvSpPr>
        <p:spPr/>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Same debugging process, but faster.</a:t>
            </a:r>
          </a:p>
          <a:p>
            <a:endParaRPr/>
          </a:p>
          <a:p>
            <a:r>
              <a:t>KEY POINTS:</a:t>
            </a:r>
          </a:p>
          <a:p>
            <a:r>
              <a:t>   * Systematic approach</a:t>
            </a:r>
          </a:p>
          <a:p>
            <a:r>
              <a:t>   * Tests added</a:t>
            </a:r>
          </a:p>
          <a:p>
            <a:r>
              <a:t>   * Documented</a:t>
            </a:r>
          </a:p>
          <a:p>
            <a:endParaRPr/>
          </a:p>
          <a:p>
            <a:r>
              <a:t>REAL-WORLD EXAMPLE:</a:t>
            </a:r>
          </a:p>
          <a:p>
            <a:r>
              <a:t>   Found race condition in 5 minutes after 2 hours stuck.</a:t>
            </a:r>
          </a:p>
          <a:p>
            <a:endParaRPr/>
          </a:p>
          <a:p>
            <a:r>
              <a:t>TRANSITION:</a:t>
            </a:r>
          </a:p>
          <a:p>
            <a:r>
              <a:t>   Test generation</a:t>
            </a:r>
          </a:p>
        </p:txBody>
      </p:sp>
      <p:sp>
        <p:nvSpPr>
          <p:cNvPr id="4" name="Slide Number Placeholder 3"/>
          <p:cNvSpPr>
            <a:spLocks noGrp="1"/>
          </p:cNvSpPr>
          <p:nvPr>
            <p:ph type="sldNum" sz="quarter" idx="5"/>
          </p:nvPr>
        </p:nvSpPr>
        <p:spPr/>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This principle is from Nate B Jones' 'Second Brain' framework - the idea that productivity comes from defining clear next actions, not vague goals. When you give Claude Code a next action instead of a goal, you get dramatically better results.</a:t>
            </a:r>
          </a:p>
          <a:p>
            <a:endParaRPr/>
          </a:p>
          <a:p>
            <a:r>
              <a:t>KEY POINTS:</a:t>
            </a:r>
          </a:p>
          <a:p>
            <a:r>
              <a:t>   * A 'next action' is concrete, specific, and immediately executable - it answers 'what is the very next thing to do?'</a:t>
            </a:r>
          </a:p>
          <a:p>
            <a:r>
              <a:t>   * Vague prompts like 'improve the code' force Claude Code to guess what you want - it might refactor structure when you meant optimize performance</a:t>
            </a:r>
          </a:p>
          <a:p>
            <a:r>
              <a:t>   * Specific prompts like 'add type hints to all functions in auth.py' give Claude Code a clear success criterion - it knows exactly when it's done</a:t>
            </a:r>
          </a:p>
          <a:p>
            <a:r>
              <a:t>   * The debugging workflow you just learned applies this principle - instead of 'fix the bug', you say 'trace the error in the checkout flow and identify where the null user object is created'</a:t>
            </a:r>
          </a:p>
          <a:p>
            <a:r>
              <a:t>   * Next actions chain together - after 'create User model', the obvious next action is 'add User CRUD endpoints', then 'add authentication middleware', etc.</a:t>
            </a:r>
          </a:p>
          <a:p>
            <a:endParaRPr/>
          </a:p>
          <a:p>
            <a:r>
              <a:t>ASK THE CLASS:</a:t>
            </a:r>
          </a:p>
          <a:p>
            <a:r>
              <a:t>   "Look at your current to-do list. How many items are vague goals vs concrete next actions? Try rephrasing one goal as a next action and see how much clearer it becomes."</a:t>
            </a:r>
          </a:p>
          <a:p>
            <a:r>
              <a:t>   [PAUSE for 30-60 seconds]</a:t>
            </a:r>
          </a:p>
          <a:p>
            <a:endParaRPr/>
          </a:p>
          <a:p>
            <a:r>
              <a:t>REAL-WORLD EXAMPLE:</a:t>
            </a:r>
          </a:p>
          <a:p>
            <a:r>
              <a:t>   A developer was stuck on a feature for two days. Their prompt was 'add social login to the app.' I asked them to break it down into next actions: (1) Add Google OAuth credentials to environment config. (2) Create /auth/google/callback route. (3) Implement token exchange logic. (4) Create or update User record on successful auth. (5) Redirect to dashboard with session. Each next action took 10 minutes. The vague goal was paralyzing; the next actions were energizing.</a:t>
            </a:r>
          </a:p>
          <a:p>
            <a:endParaRPr/>
          </a:p>
          <a:p>
            <a:r>
              <a:t>DEMO:</a:t>
            </a:r>
          </a:p>
          <a:p>
            <a:r>
              <a:t>   Demonstrate the difference between vague and specific prompts. First, give Claude Code a vague instruction: 'Make the API better.' Watch it ask clarifying questions or make assumptions you didn't intend. Then give it a next action: 'Add request logging middleware that captures method, path, status code, and duration for all API endpoints.' Watch how quickly and accurately it executes. Show the difference in output quality. Emphasize that the second approach required less back-and-forth and produced exactly what you wanted.</a:t>
            </a:r>
          </a:p>
          <a:p>
            <a:endParaRPr/>
          </a:p>
          <a:p>
            <a:r>
              <a:t>TRANSITION:</a:t>
            </a:r>
          </a:p>
          <a:p>
            <a:r>
              <a:t>   Next actions are the unit of execution - now let's move to wrapping up the development workflows section</a:t>
            </a:r>
          </a:p>
        </p:txBody>
      </p:sp>
      <p:sp>
        <p:nvSpPr>
          <p:cNvPr id="4" name="Slide Number Placeholder 3"/>
          <p:cNvSpPr>
            <a:spLocks noGrp="1"/>
          </p:cNvSpPr>
          <p:nvPr>
            <p:ph type="sldNum" sz="quarter" idx="5"/>
          </p:nvPr>
        </p:nvSpPr>
        <p:spPr/>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Comprehensive tests automatically.</a:t>
            </a:r>
          </a:p>
          <a:p>
            <a:endParaRPr/>
          </a:p>
          <a:p>
            <a:r>
              <a:t>KEY POINTS:</a:t>
            </a:r>
          </a:p>
          <a:p>
            <a:r>
              <a:t>   * Multiple test types</a:t>
            </a:r>
          </a:p>
          <a:p>
            <a:r>
              <a:t>   * High coverage</a:t>
            </a:r>
          </a:p>
          <a:p>
            <a:r>
              <a:t>   * Well-named</a:t>
            </a:r>
          </a:p>
          <a:p>
            <a:endParaRPr/>
          </a:p>
          <a:p>
            <a:r>
              <a:t>REAL-WORLD EXAMPLE:</a:t>
            </a:r>
          </a:p>
          <a:p>
            <a:r>
              <a:t>   Added feature with full tests, no manual test writing.</a:t>
            </a:r>
          </a:p>
          <a:p>
            <a:endParaRPr/>
          </a:p>
          <a:p>
            <a:r>
              <a:t>TRANSITION:</a:t>
            </a:r>
          </a:p>
          <a:p>
            <a:r>
              <a:t>   Documentation</a:t>
            </a:r>
          </a:p>
        </p:txBody>
      </p:sp>
      <p:sp>
        <p:nvSpPr>
          <p:cNvPr id="4" name="Slide Number Placeholder 3"/>
          <p:cNvSpPr>
            <a:spLocks noGrp="1"/>
          </p:cNvSpPr>
          <p:nvPr>
            <p:ph type="sldNum" sz="quarter" idx="5"/>
          </p:nvPr>
        </p:nvSpPr>
        <p:spPr/>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p>
          <a:p>
            <a:endParaRPr/>
          </a:p>
          <a:p>
            <a:r>
              <a:t>OPEN WITH:</a:t>
            </a:r>
          </a:p>
          <a:p>
            <a:r>
              <a:t>   Never trust, always verify. This is the single most important habit in AI-assisted development. Have Claude write code AND tests. If tests pass, you're probably good. If they fail, Claude can see the failure output and fix it in the same session — that's the self-correcting loop.</a:t>
            </a:r>
          </a:p>
          <a:p>
            <a:endParaRPr/>
          </a:p>
          <a:p>
            <a:r>
              <a:t>KEY POINTS:</a:t>
            </a:r>
          </a:p>
          <a:p>
            <a:r>
              <a:t>   * The verification loop: write code → write tests → run tests → if fail, Claude fixes → run again</a:t>
            </a:r>
          </a:p>
          <a:p>
            <a:r>
              <a:t>   * Key insight: Claude is confident even when wrong. Confidence is not a proxy for correctness.</a:t>
            </a:r>
          </a:p>
          <a:p>
            <a:r>
              <a:t>   * Almost right is worse than clearly wrong — almost right passes tests, ships to production, breaks at 3 AM</a:t>
            </a:r>
          </a:p>
          <a:p>
            <a:r>
              <a:t>   * Ties to Principle #4: Build trust mechanisms, not just capabilities</a:t>
            </a:r>
          </a:p>
          <a:p>
            <a:r>
              <a:t>   * Always run existing tests after changes — regressions are the silent killer</a:t>
            </a:r>
          </a:p>
          <a:p>
            <a:endParaRPr/>
          </a:p>
          <a:p>
            <a:r>
              <a:t>TRANSITION:</a:t>
            </a:r>
          </a:p>
          <a:p>
            <a:r>
              <a:t>   Let's see this verification loop in action during our Git workflow demo.</a:t>
            </a: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Documentation generated automatically.</a:t>
            </a:r>
          </a:p>
          <a:p>
            <a:endParaRPr/>
          </a:p>
          <a:p>
            <a:r>
              <a:t>KEY POINTS:</a:t>
            </a:r>
          </a:p>
          <a:p>
            <a:r>
              <a:t>   * Multiple doc types</a:t>
            </a:r>
          </a:p>
          <a:p>
            <a:r>
              <a:t>   * Always current</a:t>
            </a:r>
          </a:p>
          <a:p>
            <a:r>
              <a:t>   * Professional quality</a:t>
            </a:r>
          </a:p>
          <a:p>
            <a:endParaRPr/>
          </a:p>
          <a:p>
            <a:r>
              <a:t>REAL-WORLD EXAMPLE:</a:t>
            </a:r>
          </a:p>
          <a:p>
            <a:r>
              <a:t>   API docs stayed current because Claude Code updated them with code.</a:t>
            </a:r>
          </a:p>
          <a:p>
            <a:endParaRPr/>
          </a:p>
          <a:p>
            <a:r>
              <a:t>TRANSITION:</a:t>
            </a:r>
          </a:p>
          <a:p>
            <a:r>
              <a:t>   Final demo</a:t>
            </a: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p>
          <a:p>
            <a:endParaRPr/>
          </a:p>
          <a:p/>
          <a:p/>
          <a:p>
            <a:endParaRPr/>
          </a:p>
          <a:p/>
          <a:p/>
          <a:p/>
          <a:p/>
          <a:p>
            <a:endParaRPr/>
          </a:p>
          <a:p/>
          <a:p/>
          <a:p>
            <a:endParaRPr/>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SQL work is often the most tedious part of development - writing queries, designing schemas, optimizing performance. Claude Code transforms all of that from hours of head-scratching into minutes of guided conversation.</a:t>
            </a:r>
          </a:p>
          <a:p>
            <a:endParaRPr/>
          </a:p>
          <a:p>
            <a:r>
              <a:t>KEY POINTS:</a:t>
            </a:r>
          </a:p>
          <a:p>
            <a:r>
              <a:t>   * Claude Code understands SQL at a deep level - not just syntax, but design patterns, normalization, and optimization strategies</a:t>
            </a:r>
          </a:p>
          <a:p>
            <a:r>
              <a:t>   * You can go from business requirements to a complete database schema with seed data and validation queries in one session</a:t>
            </a:r>
          </a:p>
          <a:p>
            <a:r>
              <a:t>   * This isn't just code generation - it's an AI database architect that catches design flaws you might miss</a:t>
            </a:r>
          </a:p>
          <a:p>
            <a:endParaRPr/>
          </a:p>
          <a:p>
            <a:r>
              <a:t>TRANSITION:</a:t>
            </a:r>
          </a:p>
          <a:p>
            <a:r>
              <a:t>   Let's start with the most common task: generating SQL queries from natural language</a:t>
            </a:r>
          </a:p>
        </p:txBody>
      </p:sp>
      <p:sp>
        <p:nvSpPr>
          <p:cNvPr id="4" name="Slide Number Placeholder 3"/>
          <p:cNvSpPr>
            <a:spLocks noGrp="1"/>
          </p:cNvSpPr>
          <p:nvPr>
            <p:ph type="sldNum" sz="quarter" idx="5"/>
          </p:nvPr>
        </p:nvSpPr>
        <p:spPr/>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Writing SQL queries is one of Claude Code's strongest capabilities - it understands the intent behind your question and translates it into efficient, correct SQL.</a:t>
            </a:r>
          </a:p>
          <a:p>
            <a:endParaRPr/>
          </a:p>
          <a:p>
            <a:r>
              <a:t>KEY POINTS:</a:t>
            </a:r>
          </a:p>
          <a:p>
            <a:r>
              <a:t>   * You can ask Claude Code in completely natural language - 'find all orders from last month where the customer spent more than $100' - and it generates the exact SQL with proper table joins, date filtering, and aggregation</a:t>
            </a:r>
          </a:p>
          <a:p>
            <a:r>
              <a:t>   * It handles complexity gracefully - simple queries come back instantly, complex ones with multiple JOINs and subqueries are explained step-by-step so you understand the logic</a:t>
            </a:r>
          </a:p>
          <a:p>
            <a:r>
              <a:t>   * Database syntax differences are handled automatically - tell Claude Code you're using PostgreSQL and it will use PostgreSQL-specific features like JSONB operators or array functions</a:t>
            </a:r>
          </a:p>
          <a:p>
            <a:r>
              <a:t>   * CTEs and window functions are generated when they improve readability - Claude Code knows when a complex subquery is better expressed as a CTE, or when ROW_NUMBER solves a ranking problem elegantly</a:t>
            </a:r>
          </a:p>
          <a:p>
            <a:endParaRPr/>
          </a:p>
          <a:p>
            <a:r>
              <a:t>REAL-WORLD EXAMPLE:</a:t>
            </a:r>
          </a:p>
          <a:p>
            <a:r>
              <a:t>   A data analyst asked Claude Code: 'Show me the top 10 products by revenue in each category for the last quarter, with year-over-year comparison.' Claude Code generated a query with window functions, CTEs, and proper date math that would have taken 30+ minutes to write manually. It worked perfectly on the first run.</a:t>
            </a:r>
          </a:p>
          <a:p>
            <a:endParaRPr/>
          </a:p>
          <a:p>
            <a:r>
              <a:t>TRANSITION:</a:t>
            </a:r>
          </a:p>
          <a:p>
            <a:r>
              <a:t>   Let me show you a real example of complex query generation</a:t>
            </a:r>
          </a:p>
        </p:txBody>
      </p:sp>
      <p:sp>
        <p:nvSpPr>
          <p:cNvPr id="4" name="Slide Number Placeholder 3"/>
          <p:cNvSpPr>
            <a:spLocks noGrp="1"/>
          </p:cNvSpPr>
          <p:nvPr>
            <p:ph type="sldNum" sz="quarter" idx="5"/>
          </p:nvPr>
        </p:nvSpPr>
        <p:spPr/>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This is what Claude Code generated from a single natural language prompt - notice how clean and well-structured this query is.</a:t>
            </a:r>
          </a:p>
          <a:p>
            <a:endParaRPr/>
          </a:p>
          <a:p>
            <a:r>
              <a:t>KEY POINTS:</a:t>
            </a:r>
          </a:p>
          <a:p>
            <a:r>
              <a:t>   * The CTE pattern makes this query readable - customer_orders clearly shows the aggregation logic, then the main SELECT just formats and limits results</a:t>
            </a:r>
          </a:p>
          <a:p>
            <a:r>
              <a:t>   * Proper PostgreSQL syntax - CURRENT_DATE, INTERVAL for date math, string concatenation with ||</a:t>
            </a:r>
          </a:p>
          <a:p>
            <a:r>
              <a:t>   * All the JOINs are correct - customers to orders to order_items following the foreign key relationships</a:t>
            </a:r>
          </a:p>
          <a:p>
            <a:r>
              <a:t>   * Aggregation is grouped by all non-aggregated customer columns to avoid errors</a:t>
            </a:r>
          </a:p>
          <a:p>
            <a:r>
              <a:t>   * The LIMIT is applied after ORDER BY to get exactly the top 5 by value</a:t>
            </a:r>
          </a:p>
          <a:p>
            <a:r>
              <a:t>   * Claude Code even included order_count as additional context without being asked - that's understanding the business question, not just translating words to SQL</a:t>
            </a:r>
          </a:p>
          <a:p>
            <a:endParaRPr/>
          </a:p>
          <a:p>
            <a:r>
              <a:t>REAL-WORLD EXAMPLE:</a:t>
            </a:r>
          </a:p>
          <a:p>
            <a:r>
              <a:t>   A developer used this exact query pattern to build a customer loyalty dashboard. Claude Code generated variants for different time windows (30 days, 6 months, year) and different metrics (revenue, order count, average order value) in under 2 minutes.</a:t>
            </a:r>
          </a:p>
          <a:p>
            <a:endParaRPr/>
          </a:p>
          <a:p>
            <a:r>
              <a:t>TRANSITION:</a:t>
            </a:r>
          </a:p>
          <a:p>
            <a:r>
              <a:t>   Beyond query generation, Claude Code excels at schema design</a:t>
            </a:r>
          </a:p>
        </p:txBody>
      </p:sp>
      <p:sp>
        <p:nvSpPr>
          <p:cNvPr id="4" name="Slide Number Placeholder 3"/>
          <p:cNvSpPr>
            <a:spLocks noGrp="1"/>
          </p:cNvSpPr>
          <p:nvPr>
            <p:ph type="sldNum" sz="quarter" idx="5"/>
          </p:nvPr>
        </p:nvSpPr>
        <p:spPr/>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Schema design is where bad decisions cost you for years - Claude Code acts as a database design reviewer that catches problems before they become production nightmares.</a:t>
            </a:r>
          </a:p>
          <a:p>
            <a:endParaRPr/>
          </a:p>
          <a:p>
            <a:r>
              <a:t>KEY POINTS:</a:t>
            </a:r>
          </a:p>
          <a:p>
            <a:r>
              <a:t>   * Give Claude Code a business requirements description - like 'I need a system to track library books, members, and checkouts' - and it will generate a normalized schema with proper entities, relationships, and constraints</a:t>
            </a:r>
          </a:p>
          <a:p>
            <a:r>
              <a:t>   * Normalization is automatic - Claude Code understands 3NF and will separate data appropriately, using junction tables for many-to-many relationships and avoiding redundancy</a:t>
            </a:r>
          </a:p>
          <a:p>
            <a:r>
              <a:t>   * Data type selection is smart - it knows that money should be DECIMAL not FLOAT, that email addresses need VARCHAR with a length limit, that dates should be DATE or TIMESTAMP not VARCHAR</a:t>
            </a:r>
          </a:p>
          <a:p>
            <a:r>
              <a:t>   * Foreign keys are always included with proper ON DELETE and ON UPDATE actions - CASCADE for dependent data, RESTRICT for referenced data, SET NULL for optional relationships</a:t>
            </a:r>
          </a:p>
          <a:p>
            <a:r>
              <a:t>   * It proactively catches anti-patterns - if you describe something that would result in a denormalized design, Claude Code will suggest the normalized version and explain why</a:t>
            </a:r>
          </a:p>
          <a:p>
            <a:endParaRPr/>
          </a:p>
          <a:p>
            <a:r>
              <a:t>REAL-WORLD EXAMPLE:</a:t>
            </a:r>
          </a:p>
          <a:p>
            <a:r>
              <a:t>   A junior developer asked Claude Code to design a schema for an e-commerce store. Claude Code created tables for customers, products, categories, orders, order_items, reviews, and payment_methods with all proper relationships. It also caught that 'product_price' shouldn't be stored in order_items directly - instead it stored 'unit_price_at_time_of_order' to preserve historical pricing. That's the kind of foresight that comes from understanding business logic, not just SQL syntax.</a:t>
            </a:r>
          </a:p>
          <a:p>
            <a:endParaRPr/>
          </a:p>
          <a:p>
            <a:r>
              <a:t>TRANSITION:</a:t>
            </a:r>
          </a:p>
          <a:p>
            <a:r>
              <a:t>   Once you have queries, optimization becomes critical</a:t>
            </a:r>
          </a:p>
        </p:txBody>
      </p:sp>
      <p:sp>
        <p:nvSpPr>
          <p:cNvPr id="4" name="Slide Number Placeholder 3"/>
          <p:cNvSpPr>
            <a:spLocks noGrp="1"/>
          </p:cNvSpPr>
          <p:nvPr>
            <p:ph type="sldNum" sz="quarter" idx="5"/>
          </p:nvPr>
        </p:nvSpPr>
        <p:spPr/>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Query optimization is part science, part art - Claude Code knows both. Look at this transformation from a slow query to a fast one.</a:t>
            </a:r>
          </a:p>
          <a:p>
            <a:endParaRPr/>
          </a:p>
          <a:p>
            <a:r>
              <a:t>KEY POINTS:</a:t>
            </a:r>
          </a:p>
          <a:p>
            <a:r>
              <a:t>   * The original query uses IN with a subquery - this forces the database to execute the subquery first and then filter, which is often slower than a JOIN</a:t>
            </a:r>
          </a:p>
          <a:p>
            <a:r>
              <a:t>   * Claude Code replaced it with a JOIN which allows the query planner to optimize the execution order and use indexes more effectively</a:t>
            </a:r>
          </a:p>
          <a:p>
            <a:r>
              <a:t>   * The SELECT * was replaced with explicit columns - this reduces data transfer and allows for covering indexes in some cases</a:t>
            </a:r>
          </a:p>
          <a:p>
            <a:r>
              <a:t>   * Three index recommendations ensure all WHERE and JOIN conditions can use indexes - this is the difference between a table scan and an index seek</a:t>
            </a:r>
          </a:p>
          <a:p>
            <a:r>
              <a:t>   * The EXPLAIN analysis shows the actual performance improvement - Claude Code runs EXPLAIN before and after to prove the optimization works</a:t>
            </a:r>
          </a:p>
          <a:p>
            <a:endParaRPr/>
          </a:p>
          <a:p>
            <a:r>
              <a:t>REAL-WORLD EXAMPLE:</a:t>
            </a:r>
          </a:p>
          <a:p>
            <a:r>
              <a:t>   A backend team had a dashboard query taking 15 seconds on a production database with millions of rows. They gave the query to Claude Code with the instruction 'optimize this and explain why it's slow.' Claude Code identified the missing indexes, rewrote the subqueries as CTEs with proper indexes, and reduced query time to under 200ms. The explanation included EXPLAIN output showing the query plan improvement.</a:t>
            </a:r>
          </a:p>
          <a:p>
            <a:endParaRPr/>
          </a:p>
          <a:p>
            <a:r>
              <a:t>TRANSITION:</a:t>
            </a:r>
          </a:p>
          <a:p>
            <a:r>
              <a:t>   SQL isn't just queries and schemas - there's also data transformation and ETL work</a:t>
            </a:r>
          </a:p>
        </p:txBody>
      </p:sp>
      <p:sp>
        <p:nvSpPr>
          <p:cNvPr id="4" name="Slide Number Placeholder 3"/>
          <p:cNvSpPr>
            <a:spLocks noGrp="1"/>
          </p:cNvSpPr>
          <p:nvPr>
            <p:ph type="sldNum" sz="quarter" idx="5"/>
          </p:nvPr>
        </p:nvSpPr>
        <p:spPr/>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ETL work is usually manual, error-prone, and time-consuming - Claude Code automates the entire process from data extraction to transformation to loading, with validation at each step.</a:t>
            </a:r>
          </a:p>
          <a:p>
            <a:endParaRPr/>
          </a:p>
          <a:p>
            <a:r>
              <a:t>KEY POINTS:</a:t>
            </a:r>
          </a:p>
          <a:p>
            <a:r>
              <a:t>   * Data migration between schemas is common when you're refactoring a database - Claude Code generates the INSERT INTO ... SELECT statements with proper column mapping, type casting, and NULL handling</a:t>
            </a:r>
          </a:p>
          <a:p>
            <a:r>
              <a:t>   * Format conversions are handled intelligently - give Claude Code a CSV or JSON file and describe the target schema, it will generate the transformation SQL including data cleaning steps</a:t>
            </a:r>
          </a:p>
          <a:p>
            <a:r>
              <a:t>   * Deduplication logic is complex - Claude Code uses window functions (ROW_NUMBER) or GROUP BY with aggregation to identify and remove duplicates while preserving the best record</a:t>
            </a:r>
          </a:p>
          <a:p>
            <a:r>
              <a:t>   * Multi-step transformations use staging tables to break complex migrations into manageable, verifiable steps - each step can be validated before proceeding to the next</a:t>
            </a:r>
          </a:p>
          <a:p>
            <a:r>
              <a:t>   * All generated scripts are idempotent where possible - meaning you can run them multiple times safely, which is critical for retrying failed migrations</a:t>
            </a:r>
          </a:p>
          <a:p>
            <a:endParaRPr/>
          </a:p>
          <a:p>
            <a:r>
              <a:t>REAL-WORLD EXAMPLE:</a:t>
            </a:r>
          </a:p>
          <a:p>
            <a:r>
              <a:t>   A company was migrating from a legacy system with denormalized data to a new normalized schema. They described the old schema and new schema to Claude Code. It generated a 500-line migration script with staging tables, data validation queries, and rollback procedures. The migration ran successfully on the first attempt with zero data loss.</a:t>
            </a:r>
          </a:p>
          <a:p>
            <a:endParaRPr/>
          </a:p>
          <a:p>
            <a:r>
              <a:t>TRANSITION:</a:t>
            </a:r>
          </a:p>
          <a:p>
            <a:r>
              <a:t>   Different databases have different strengths - Claude Code knows them all</a:t>
            </a:r>
          </a:p>
        </p:txBody>
      </p:sp>
      <p:sp>
        <p:nvSpPr>
          <p:cNvPr id="4" name="Slide Number Placeholder 3"/>
          <p:cNvSpPr>
            <a:spLocks noGrp="1"/>
          </p:cNvSpPr>
          <p:nvPr>
            <p:ph type="sldNum" sz="quarter" idx="5"/>
          </p:nvPr>
        </p:nvSpPr>
        <p:spPr/>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Claude Code doesn't just know SQL - it knows the nuances and strengths of different database engines and writes queries optimized for each one.</a:t>
            </a:r>
          </a:p>
          <a:p>
            <a:endParaRPr/>
          </a:p>
          <a:p>
            <a:r>
              <a:t>KEY POINTS:</a:t>
            </a:r>
          </a:p>
          <a:p>
            <a:r>
              <a:t>   * PostgreSQL support is extensive - Claude Code uses advanced features like JSONB for semi-structured data, array types for lists, and powerful window functions for analytics. If you're doing complex reporting or storing JSON, Claude Code will leverage Postgres-specific features.</a:t>
            </a:r>
          </a:p>
          <a:p>
            <a:r>
              <a:t>   * MySQL queries are compatibility-focused - Claude Code knows MySQL has different syntax for things like string concatenation (CONCAT vs ||) and limits (LIMIT vs FETCH FIRST). It also uses stored procedures when appropriate for complex business logic.</a:t>
            </a:r>
          </a:p>
          <a:p>
            <a:r>
              <a:t>   * SQLite is perfect for local development - Claude Code generates SQLite-compatible schemas for testing, uses the simpler SQLite syntax, and knows the limitations (no RIGHT JOIN, limited ALTER TABLE). This is great for running tests locally without a full database server.</a:t>
            </a:r>
          </a:p>
          <a:p>
            <a:r>
              <a:t>   * Specify your database engine and Claude Code adapts automatically - the same business requirement generates PostgreSQL-optimized queries if you say 'using PostgreSQL' or MySQL-compatible ones if you say 'using MySQL'</a:t>
            </a:r>
          </a:p>
          <a:p>
            <a:endParaRPr/>
          </a:p>
          <a:p>
            <a:r>
              <a:t>REAL-WORLD EXAMPLE:</a:t>
            </a:r>
          </a:p>
          <a:p>
            <a:r>
              <a:t>   A developer was prototyping a feature using SQLite locally, then deploying to PostgreSQL in production. Claude Code generated two versions of the schema - SQLite for local testing and PostgreSQL with JSONB and array types for production. The business logic stayed the same, but the SQL was optimized for each engine.</a:t>
            </a:r>
          </a:p>
          <a:p>
            <a:endParaRPr/>
          </a:p>
          <a:p>
            <a:r>
              <a:t>TRANSITION:</a:t>
            </a:r>
          </a:p>
          <a:p>
            <a:r>
              <a:t>   Data quality is critical - let's talk about validation</a:t>
            </a:r>
          </a:p>
        </p:txBody>
      </p:sp>
      <p:sp>
        <p:nvSpPr>
          <p:cNvPr id="4" name="Slide Number Placeholder 3"/>
          <p:cNvSpPr>
            <a:spLocks noGrp="1"/>
          </p:cNvSpPr>
          <p:nvPr>
            <p:ph type="sldNum" sz="quarter" idx="5"/>
          </p:nvPr>
        </p:nvSpPr>
        <p:spPr/>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Data quality issues are expensive - catching them early with validation queries saves hours of debugging and potential data corruption. Claude Code generates comprehensive validation queries automatically.</a:t>
            </a:r>
          </a:p>
          <a:p>
            <a:endParaRPr/>
          </a:p>
          <a:p>
            <a:r>
              <a:t>KEY POINTS:</a:t>
            </a:r>
          </a:p>
          <a:p>
            <a:r>
              <a:t>   * Constraint generation is proactive - describe your business rules ('email must be unique', 'age must be between 0 and 120', 'order total must be positive') and Claude Code generates the SQL constraints to enforce them at the database level</a:t>
            </a:r>
          </a:p>
          <a:p>
            <a:r>
              <a:t>   * Data profiling queries give you a statistical overview - how many NULL values, what's the distribution of data, are there unexpected outliers? This is critical before running transformations.</a:t>
            </a:r>
          </a:p>
          <a:p>
            <a:r>
              <a:t>   * Anomaly detection finds problems you didn't know to look for - queries that identify orders with negative amounts, users with impossible signup dates, products with mismatched category relationships</a:t>
            </a:r>
          </a:p>
          <a:p>
            <a:r>
              <a:t>   * Referential integrity checks find orphaned records - order_items referencing deleted orders, reviews for non-existent products. These are bugs waiting to happen.</a:t>
            </a:r>
          </a:p>
          <a:p>
            <a:r>
              <a:t>   * Duplicate detection is smart - exact duplicates are easy (GROUP BY HAVING COUNT(*) &gt; 1), but fuzzy duplicates require SOUNDEX, LEVENSHTEIN, or trigram similarity functions which Claude Code generates correctly</a:t>
            </a:r>
          </a:p>
          <a:p>
            <a:r>
              <a:t>   * Format validation uses regex or pattern matching - ensuring emails have @ signs, phone numbers match expected formats, dates are actually valid dates</a:t>
            </a:r>
          </a:p>
          <a:p>
            <a:endParaRPr/>
          </a:p>
          <a:p>
            <a:r>
              <a:t>REAL-WORLD EXAMPLE:</a:t>
            </a:r>
          </a:p>
          <a:p>
            <a:r>
              <a:t>   Before a major data migration, a team asked Claude Code to generate validation queries for their entire database. Claude Code created 50+ validation queries covering constraints, duplicates, referential integrity, and anomalies. They found 12,000 orphaned records and 3,000 duplicates that would have caused issues post-migration. All fixed before the migration ran.</a:t>
            </a:r>
          </a:p>
          <a:p>
            <a:endParaRPr/>
          </a:p>
          <a:p>
            <a:r>
              <a:t>TRANSITION:</a:t>
            </a:r>
          </a:p>
          <a:p>
            <a:r>
              <a:t>   Let me show you a complete end-to-end demo</a:t>
            </a:r>
          </a:p>
        </p:txBody>
      </p:sp>
      <p:sp>
        <p:nvSpPr>
          <p:cNvPr id="4" name="Slide Number Placeholder 3"/>
          <p:cNvSpPr>
            <a:spLocks noGrp="1"/>
          </p:cNvSpPr>
          <p:nvPr>
            <p:ph type="sldNum" sz="quarter" idx="5"/>
          </p:nvPr>
        </p:nvSpPr>
        <p:spPr/>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6 min</a:t>
            </a:r>
          </a:p>
          <a:p>
            <a:endParaRPr/>
          </a:p>
          <a:p>
            <a:r>
              <a:t>OPEN WITH:</a:t>
            </a:r>
          </a:p>
          <a:p>
            <a:r>
              <a:t>   I'm going to give Claude Code a business requirements description and we'll watch it build a complete database from scratch - schema, seed data, validation queries, and example queries. This is the full power of AI-assisted database development.</a:t>
            </a:r>
          </a:p>
          <a:p>
            <a:endParaRPr/>
          </a:p>
          <a:p>
            <a:r>
              <a:t>KEY POINTS:</a:t>
            </a:r>
          </a:p>
          <a:p>
            <a:r>
              <a:t>   * I'll describe a task management system with teams, projects, tasks, and assignments - typical business software</a:t>
            </a:r>
          </a:p>
          <a:p>
            <a:r>
              <a:t>   * Watch Claude Code identify the entities: users, teams, projects, tasks, assignments, comments</a:t>
            </a:r>
          </a:p>
          <a:p>
            <a:r>
              <a:t>   * Watch it create proper relationships: teams have many users, projects belong to teams, tasks belong to projects, assignments are many-to-many between users and tasks</a:t>
            </a:r>
          </a:p>
          <a:p>
            <a:r>
              <a:t>   * Watch it add constraints: NOT NULL on required fields, UNIQUE on email, CHECK to ensure due dates are in the future</a:t>
            </a:r>
          </a:p>
          <a:p>
            <a:r>
              <a:t>   * The seed data will be realistic - team names like 'Engineering', 'Marketing'; task titles like 'Fix login bug', 'Design homepage'</a:t>
            </a:r>
          </a:p>
          <a:p>
            <a:r>
              <a:t>   * Validation queries will check for orphaned tasks, users not in any team, overdue tasks, etc.</a:t>
            </a:r>
          </a:p>
          <a:p>
            <a:endParaRPr/>
          </a:p>
          <a:p>
            <a:r>
              <a:t>REAL-WORLD EXAMPLE:</a:t>
            </a:r>
          </a:p>
          <a:p>
            <a:r>
              <a:t>   This is exactly what you'd do for a real project - requirements come in, you design the schema, you validate the design, you generate test data, and you're ready to build the application layer. Claude Code compressed a 4-hour task into 6 minutes.</a:t>
            </a:r>
          </a:p>
          <a:p>
            <a:endParaRPr/>
          </a:p>
          <a:p>
            <a:r>
              <a:t>DEMO:</a:t>
            </a:r>
          </a:p>
          <a:p>
            <a:r>
              <a:t>   Open terminal, start Claude Code session. Prompt: 'Design a database schema for a task management system. Include users, teams, projects, tasks, and assignments. Generate the schema in PostgreSQL format, create realistic seed data for 5 teams and 20 tasks, and write validation queries to check data integrity.' Show the generated schema, explain the relationships, run the seed data script, run a few validation queries. Highlight how comprehensive and correct it is without any iteration needed.</a:t>
            </a:r>
          </a:p>
          <a:p>
            <a:endParaRPr/>
          </a:p>
          <a:p>
            <a:r>
              <a:t>TRANSITION:</a:t>
            </a:r>
          </a:p>
          <a:p>
            <a:r>
              <a:t>   That's the SQL and data analysis section - now you'll practice this in Lab 3</a:t>
            </a:r>
          </a:p>
        </p:txBody>
      </p:sp>
      <p:sp>
        <p:nvSpPr>
          <p:cNvPr id="4" name="Slide Number Placeholder 3"/>
          <p:cNvSpPr>
            <a:spLocks noGrp="1"/>
          </p:cNvSpPr>
          <p:nvPr>
            <p:ph type="sldNum" sz="quarter" idx="5"/>
          </p:nvPr>
        </p:nvSpPr>
        <p:spPr/>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OPEN WITH: Last lab of the day — you're going to ship this dashboard with production hardening, feature branches, and a scaling review.</a:t>
            </a:r>
          </a:p>
          <a:p>
            <a:endParaRPr/>
          </a:p>
          <a:p>
            <a:r>
              <a:t>KEY POINTS:</a:t>
            </a:r>
          </a:p>
          <a:p>
            <a:r>
              <a:t>   * End-to-end workflow</a:t>
            </a:r>
          </a:p>
          <a:p>
            <a:r>
              <a:t>   * Production-ready</a:t>
            </a:r>
          </a:p>
          <a:p>
            <a:endParaRPr/>
          </a:p>
          <a:p>
            <a:r>
              <a:t>TRANSITION:</a:t>
            </a:r>
          </a:p>
          <a:p>
            <a:r>
              <a:t>   Wrap-up</a:t>
            </a:r>
          </a:p>
        </p:txBody>
      </p:sp>
      <p:sp>
        <p:nvSpPr>
          <p:cNvPr id="4" name="Slide Number Placeholder 3"/>
          <p:cNvSpPr>
            <a:spLocks noGrp="1"/>
          </p:cNvSpPr>
          <p:nvPr>
            <p:ph type="sldNum" sz="quarter" idx="5"/>
          </p:nvPr>
        </p:nvSpPr>
        <p:spPr/>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TALKING POINT: "This slide shows a real engagement where Claude Code turned a 2-week PM deliverable into a 2-hour exercise. The PM wrote the business requirements in plain English. Claude Code built the prototype. The CEO saw a clickable demo the same afternoon. That's the leverage — not replacing PMs or developers, but collapsing the feedback loop from weeks to hours."</a:t>
            </a:r>
            <a:br/>
            <a:br/>
            <a:r>
              <a:t>No live demo needed — this is a story slide. Tell it conversationally.</a:t>
            </a:r>
            <a:br/>
          </a:p>
          <a:p>
            <a:endParaRPr/>
          </a:p>
          <a:p/>
          <a:p/>
          <a:p>
            <a:endParaRPr/>
          </a:p>
          <a:p/>
          <a:p/>
          <a:p/>
          <a:p/>
          <a:p/>
          <a:p/>
          <a:p/>
          <a:p>
            <a:endParaRPr/>
          </a:p>
          <a:p/>
          <a:p/>
          <a:p/>
          <a:p>
            <a:endParaRPr/>
          </a:p>
          <a:p/>
          <a:p/>
        </p:txBody>
      </p:sp>
      <p:sp>
        <p:nvSpPr>
          <p:cNvPr id="4" name="Slide Number Placeholder 3"/>
          <p:cNvSpPr>
            <a:spLocks noGrp="1"/>
          </p:cNvSpPr>
          <p:nvPr>
            <p:ph type="sldNum" sz="quarter" idx="5"/>
          </p:nvPr>
        </p:nvSpPr>
        <p:spPr/>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Eight major capabilities learned today.</a:t>
            </a:r>
          </a:p>
          <a:p>
            <a:endParaRPr/>
          </a:p>
          <a:p>
            <a:r>
              <a:t>KEY POINTS:</a:t>
            </a:r>
          </a:p>
          <a:p>
            <a:r>
              <a:t>   * Complete toolkit</a:t>
            </a:r>
          </a:p>
          <a:p>
            <a:r>
              <a:t>   * Production-ready</a:t>
            </a:r>
          </a:p>
          <a:p>
            <a:r>
              <a:t>   * Transform development</a:t>
            </a:r>
          </a:p>
          <a:p>
            <a:endParaRPr/>
          </a:p>
          <a:p>
            <a:r>
              <a:t>REAL-WORLD EXAMPLE:</a:t>
            </a:r>
          </a:p>
          <a:p>
            <a:r>
              <a:t>   You're now equipped to use Claude Code professionally.</a:t>
            </a:r>
          </a:p>
          <a:p>
            <a:endParaRPr/>
          </a:p>
          <a:p>
            <a:r>
              <a:t>TRANSITION:</a:t>
            </a:r>
          </a:p>
          <a:p>
            <a:r>
              <a:t>   Thank you!</a:t>
            </a:r>
          </a:p>
        </p:txBody>
      </p:sp>
      <p:sp>
        <p:nvSpPr>
          <p:cNvPr id="4" name="Slide Number Placeholder 3"/>
          <p:cNvSpPr>
            <a:spLocks noGrp="1"/>
          </p:cNvSpPr>
          <p:nvPr>
            <p:ph type="sldNum" sz="quarter" idx="5"/>
          </p:nvPr>
        </p:nvSpPr>
        <p:spPr/>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p>
          <a:p>
            <a:endParaRPr/>
          </a:p>
          <a:p>
            <a:r>
              <a:t>OPEN WITH:</a:t>
            </a:r>
          </a:p>
          <a:p>
            <a:r>
              <a:t>   Before we wrap up, let me save you from the five mistakes I see most often. Each one ties back to an engineering principle we covered today.</a:t>
            </a:r>
          </a:p>
          <a:p>
            <a:endParaRPr/>
          </a:p>
          <a:p>
            <a:r>
              <a:t>KEY POINTS:</a:t>
            </a:r>
          </a:p>
          <a:p>
            <a:r>
              <a:t>   * Mistake 1: Context window overflow. The context window degrades as it fills — task 4 in a marathon session doesn't get the same attention as task 1. Use /compact regularly and keep sessions to 30-45 minutes.</a:t>
            </a:r>
          </a:p>
          <a:p>
            <a:r>
              <a:t>   * Mistake 2: Correction spirals. After 2 failed attempts to fix output, your context is poisoned with conflicting instructions. The 2-strike rule: /clear and restart with a better prompt. Don't throw good tokens after bad.</a:t>
            </a:r>
          </a:p>
          <a:p>
            <a:r>
              <a:t>   * Mistake 3: Forgotten guidelines. Without CLAUDE.md, every session starts cold. Invest 15 minutes creating one with your coding standards, naming conventions, and project context. It pays for itself in the first hour.</a:t>
            </a:r>
          </a:p>
          <a:p>
            <a:r>
              <a:t>   * Mistake 4: Scope creep. Claude is eager to help — sometimes too eager. Always set explicit boundaries: 'Only modify auth.py. Don't touch anything else.' This prevents cascading changes you didn't ask for.</a:t>
            </a:r>
          </a:p>
          <a:p>
            <a:r>
              <a:t>   * Mistake 5: Vibe coding. 'Vibecoding without metacognition is quite dangerous.' Always review diffs before accepting. Never auto-approve in production. If you can't explain why the code works, don't ship it.</a:t>
            </a:r>
          </a:p>
          <a:p>
            <a:endParaRPr/>
          </a:p>
          <a:p>
            <a:r>
              <a:t>ASK THE CLASS:</a:t>
            </a:r>
          </a:p>
          <a:p>
            <a:r>
              <a:t>   "Which of these mistakes have you already made today? No shame — we all do it. The goal is building habits that prevent them."</a:t>
            </a:r>
          </a:p>
          <a:p>
            <a:r>
              <a:t>   [PAUSE for 30-60 seconds]</a:t>
            </a:r>
          </a:p>
          <a:p>
            <a:endParaRPr/>
          </a:p>
          <a:p>
            <a:r>
              <a:t>TRANSITION:</a:t>
            </a:r>
          </a:p>
          <a:p>
            <a:r>
              <a:t>   Let's recap everything we covered and preview tomorrow's advanced topics.</a:t>
            </a:r>
          </a:p>
        </p:txBody>
      </p:sp>
      <p:sp>
        <p:nvSpPr>
          <p:cNvPr id="4" name="Slide Number Placeholder 3"/>
          <p:cNvSpPr>
            <a:spLocks noGrp="1"/>
          </p:cNvSpPr>
          <p:nvPr>
            <p:ph type="sldNum" sz="quarter" idx="5"/>
          </p:nvPr>
        </p:nvSpPr>
        <p:spPr/>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p>
          <a:p>
            <a:endParaRPr/>
          </a:p>
          <a:p>
            <a:r>
              <a:t>OPEN WITH:</a:t>
            </a:r>
          </a:p>
          <a:p>
            <a:r>
              <a:t>   Completed Claude Code Fundamentals!</a:t>
            </a:r>
          </a:p>
          <a:p>
            <a:endParaRPr/>
          </a:p>
          <a:p>
            <a:r>
              <a:t>KEY POINTS:</a:t>
            </a:r>
          </a:p>
          <a:p>
            <a:r>
              <a:t>   * Tomorrow: Advanced topics</a:t>
            </a:r>
          </a:p>
          <a:p>
            <a:r>
              <a:t>   * Custom commands, MCP, agent teams</a:t>
            </a:r>
          </a:p>
          <a:p>
            <a:endParaRPr/>
          </a:p>
          <a:p>
            <a:r>
              <a:t>TRANSITION:</a:t>
            </a:r>
          </a:p>
          <a:p>
            <a:r>
              <a:t>   See you tomorrow!</a:t>
            </a:r>
          </a:p>
        </p:txBody>
      </p:sp>
      <p:sp>
        <p:nvSpPr>
          <p:cNvPr id="4" name="Slide Number Placeholder 3"/>
          <p:cNvSpPr>
            <a:spLocks noGrp="1"/>
          </p:cNvSpPr>
          <p:nvPr>
            <p:ph type="sldNum" sz="quarter" idx="5"/>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Before the labs, be honest about limitations. Every fix listed here is a skill they practice in the labs. This slide builds enormous credibility with skeptics.</a:t>
            </a:r>
          </a:p>
        </p:txBody>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The skill is delegation — clear intent, right context, let Claude do the work. Same skill that makes great engineering managers. Then launch Lab 2A.</a:t>
            </a:r>
          </a:p>
        </p:txBody>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Walk through each step. Emphasize: the developer only does step 1 (intent). Claude does everything else. The self-healing loop at the bottom is why this is an agent, not autocomplete. Flag: graphic version of this diagram is planned.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rPr dirty="0"/>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CLAUDE.md Configuration</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20 min</a:t>
            </a:r>
          </a:p>
        </p:txBody>
      </p:sp>
      <p:sp>
        <p:nvSpPr>
          <p:cNvPr id="17" name="TextBox 16"/>
          <p:cNvSpPr txBox="1"/>
          <p:nvPr/>
        </p:nvSpPr>
        <p:spPr>
          <a:xfrm>
            <a:off x="594360" y="397764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25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Context Management</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7" name="Rectangle 26"/>
          <p:cNvSpPr/>
          <p:nvPr/>
        </p:nvSpPr>
        <p:spPr>
          <a:xfrm>
            <a:off x="457200"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594360" y="548640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29" name="Rounded Rectangle 28"/>
          <p:cNvSpPr/>
          <p:nvPr/>
        </p:nvSpPr>
        <p:spPr>
          <a:xfrm>
            <a:off x="4815687"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Slash Commands</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Permissions &amp; Security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Integration</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File Operations &amp; Workflows</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Labs 2B-2D: Policy, Recovery, Ship It</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4" name="Rectangle 53"/>
          <p:cNvSpPr/>
          <p:nvPr/>
        </p:nvSpPr>
        <p:spPr>
          <a:xfrm>
            <a:off x="6324447" y="548640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r>
              <a:t>Wrap-up</a:t>
            </a:r>
          </a:p>
        </p:txBody>
      </p:sp>
      <p:sp>
        <p:nvSpPr>
          <p:cNvPr id="56" name="Rounded Rectangle 55"/>
          <p:cNvSpPr/>
          <p:nvPr/>
        </p:nvSpPr>
        <p:spPr>
          <a:xfrm>
            <a:off x="10682935" y="55778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r>
              <a:t>15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.claudeignore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365760"/>
          </a:xfrm>
          <a:prstGeom prst="rect">
            <a:avLst/>
          </a:prstGeom>
          <a:noFill/>
        </p:spPr>
        <p:txBody>
          <a:bodyPr wrap="square">
            <a:spAutoFit/>
          </a:bodyPr>
          <a:lstStyle/>
          <a:p>
            <a:pPr>
              <a:defRPr sz="1800" b="1">
                <a:solidFill>
                  <a:srgbClr val="00D4AA"/>
                </a:solidFill>
              </a:defRPr>
            </a:pPr>
            <a:r>
              <a:t>Lab 2A:</a:t>
            </a:r>
          </a:p>
        </p:txBody>
      </p:sp>
      <p:sp>
        <p:nvSpPr>
          <p:cNvPr id="5" name="TextBox 4"/>
          <p:cNvSpPr txBox="1"/>
          <p:nvPr/>
        </p:nvSpPr>
        <p:spPr>
          <a:xfrm>
            <a:off x="2194560" y="1828800"/>
            <a:ext cx="8229600" cy="640080"/>
          </a:xfrm>
          <a:prstGeom prst="rect">
            <a:avLst/>
          </a:prstGeom>
          <a:noFill/>
        </p:spPr>
        <p:txBody>
          <a:bodyPr wrap="square">
            <a:spAutoFit/>
          </a:bodyPr>
          <a:lstStyle/>
          <a:p>
            <a:pPr>
              <a:defRPr sz="1600">
                <a:solidFill>
                  <a:srgbClr val="FFFFFF"/>
                </a:solidFill>
              </a:defRPr>
            </a:pPr>
            <a:r>
              <a:t>The Agentic Build Loop — build a working web app from a single prompt</a:t>
            </a:r>
          </a:p>
        </p:txBody>
      </p:sp>
      <p:sp>
        <p:nvSpPr>
          <p:cNvPr id="6" name="TextBox 5"/>
          <p:cNvSpPr txBox="1"/>
          <p:nvPr/>
        </p:nvSpPr>
        <p:spPr>
          <a:xfrm>
            <a:off x="731520" y="2697480"/>
            <a:ext cx="1371600" cy="365760"/>
          </a:xfrm>
          <a:prstGeom prst="rect">
            <a:avLst/>
          </a:prstGeom>
          <a:noFill/>
        </p:spPr>
        <p:txBody>
          <a:bodyPr wrap="square">
            <a:spAutoFit/>
          </a:bodyPr>
          <a:lstStyle/>
          <a:p>
            <a:pPr>
              <a:defRPr sz="1800" b="1">
                <a:solidFill>
                  <a:srgbClr val="00D4AA"/>
                </a:solidFill>
              </a:defRPr>
            </a:pPr>
            <a:r>
              <a:t>Lab 2B:</a:t>
            </a:r>
          </a:p>
        </p:txBody>
      </p:sp>
      <p:sp>
        <p:nvSpPr>
          <p:cNvPr id="7" name="TextBox 6"/>
          <p:cNvSpPr txBox="1"/>
          <p:nvPr/>
        </p:nvSpPr>
        <p:spPr>
          <a:xfrm>
            <a:off x="2194560" y="2697480"/>
            <a:ext cx="8229600" cy="640080"/>
          </a:xfrm>
          <a:prstGeom prst="rect">
            <a:avLst/>
          </a:prstGeom>
          <a:noFill/>
        </p:spPr>
        <p:txBody>
          <a:bodyPr wrap="square">
            <a:spAutoFit/>
          </a:bodyPr>
          <a:lstStyle/>
          <a:p>
            <a:pPr>
              <a:defRPr sz="1600">
                <a:solidFill>
                  <a:srgbClr val="FFFFFF"/>
                </a:solidFill>
              </a:defRPr>
            </a:pPr>
            <a:r>
              <a:t>Teaching Claude Your Codebase — policy enforcement, security audit, draft your own</a:t>
            </a:r>
          </a:p>
        </p:txBody>
      </p:sp>
      <p:sp>
        <p:nvSpPr>
          <p:cNvPr id="8" name="TextBox 7"/>
          <p:cNvSpPr txBox="1"/>
          <p:nvPr/>
        </p:nvSpPr>
        <p:spPr>
          <a:xfrm>
            <a:off x="731520" y="3566160"/>
            <a:ext cx="1371600" cy="365760"/>
          </a:xfrm>
          <a:prstGeom prst="rect">
            <a:avLst/>
          </a:prstGeom>
          <a:noFill/>
        </p:spPr>
        <p:txBody>
          <a:bodyPr wrap="square">
            <a:spAutoFit/>
          </a:bodyPr>
          <a:lstStyle/>
          <a:p>
            <a:pPr>
              <a:defRPr sz="1800" b="1">
                <a:solidFill>
                  <a:srgbClr val="00D4AA"/>
                </a:solidFill>
              </a:defRPr>
            </a:pPr>
            <a:r>
              <a:t>Lab 2C:</a:t>
            </a:r>
          </a:p>
        </p:txBody>
      </p:sp>
      <p:sp>
        <p:nvSpPr>
          <p:cNvPr id="9" name="TextBox 8"/>
          <p:cNvSpPr txBox="1"/>
          <p:nvPr/>
        </p:nvSpPr>
        <p:spPr>
          <a:xfrm>
            <a:off x="2194560" y="3566160"/>
            <a:ext cx="8229600" cy="640080"/>
          </a:xfrm>
          <a:prstGeom prst="rect">
            <a:avLst/>
          </a:prstGeom>
          <a:noFill/>
        </p:spPr>
        <p:txBody>
          <a:bodyPr wrap="square">
            <a:spAutoFit/>
          </a:bodyPr>
          <a:lstStyle/>
          <a:p>
            <a:pPr>
              <a:defRPr sz="1600">
                <a:solidFill>
                  <a:srgbClr val="FFFFFF"/>
                </a:solidFill>
              </a:defRPr>
            </a:pPr>
            <a:r>
              <a:t>Precision &amp; Recovery — token efficiency, disaster recovery, AI debugging</a:t>
            </a:r>
          </a:p>
        </p:txBody>
      </p:sp>
      <p:sp>
        <p:nvSpPr>
          <p:cNvPr id="10" name="TextBox 9"/>
          <p:cNvSpPr txBox="1"/>
          <p:nvPr/>
        </p:nvSpPr>
        <p:spPr>
          <a:xfrm>
            <a:off x="731520" y="4434840"/>
            <a:ext cx="1371600" cy="365760"/>
          </a:xfrm>
          <a:prstGeom prst="rect">
            <a:avLst/>
          </a:prstGeom>
          <a:noFill/>
        </p:spPr>
        <p:txBody>
          <a:bodyPr wrap="square">
            <a:spAutoFit/>
          </a:bodyPr>
          <a:lstStyle/>
          <a:p>
            <a:pPr>
              <a:defRPr sz="1800" b="1">
                <a:solidFill>
                  <a:srgbClr val="00D4AA"/>
                </a:solidFill>
              </a:defRPr>
            </a:pPr>
            <a:r>
              <a:t>Lab 2D:</a:t>
            </a:r>
          </a:p>
        </p:txBody>
      </p:sp>
      <p:sp>
        <p:nvSpPr>
          <p:cNvPr id="11" name="TextBox 10"/>
          <p:cNvSpPr txBox="1"/>
          <p:nvPr/>
        </p:nvSpPr>
        <p:spPr>
          <a:xfrm>
            <a:off x="2194560" y="4434840"/>
            <a:ext cx="8229600" cy="640080"/>
          </a:xfrm>
          <a:prstGeom prst="rect">
            <a:avLst/>
          </a:prstGeom>
          <a:noFill/>
        </p:spPr>
        <p:txBody>
          <a:bodyPr wrap="square">
            <a:spAutoFit/>
          </a:bodyPr>
          <a:lstStyle/>
          <a:p>
            <a:pPr>
              <a:defRPr sz="1600">
                <a:solidFill>
                  <a:srgbClr val="FFFFFF"/>
                </a:solidFill>
              </a:defRPr>
            </a:pPr>
            <a:r>
              <a:t>Ship It — production readiness review, feature branches, scaling analysis</a:t>
            </a:r>
          </a:p>
        </p:txBody>
      </p:sp>
      <p:sp>
        <p:nvSpPr>
          <p:cNvPr id="12" name="TextBox 11"/>
          <p:cNvSpPr txBox="1"/>
          <p:nvPr/>
        </p:nvSpPr>
        <p:spPr>
          <a:xfrm>
            <a:off x="1371600" y="5486400"/>
            <a:ext cx="8229600" cy="457200"/>
          </a:xfrm>
          <a:prstGeom prst="rect">
            <a:avLst/>
          </a:prstGeom>
          <a:noFill/>
        </p:spPr>
        <p:txBody>
          <a:bodyPr wrap="square">
            <a:spAutoFit/>
          </a:bodyPr>
          <a:lstStyle/>
          <a:p>
            <a:pPr algn="ctr">
              <a:defRPr sz="1400">
                <a:solidFill>
                  <a:srgbClr val="8A8F98"/>
                </a:solidFill>
              </a:defRPr>
            </a:pPr>
            <a:r>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From Intern to Teammate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Before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Copy-paste code from ChatGPT</a:t>
            </a: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 Code vs. The Competition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Other AI Assistants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Suggestions in sidebar — you copy/paste</a:t>
            </a:r>
          </a:p>
          <a:p>
            <a:pPr>
              <a:spcAft>
                <a:spcPts val="1200"/>
              </a:spcAft>
              <a:defRPr sz="1800">
                <a:solidFill>
                  <a:srgbClr val="FFFFFF"/>
                </a:solidFill>
              </a:defRPr>
            </a:pPr>
            <a:r>
              <a:t>  Limited to open file or selected code</a:t>
            </a:r>
          </a:p>
          <a:p>
            <a:pPr>
              <a:spcAft>
                <a:spcPts val="1200"/>
              </a:spcAft>
              <a:defRPr sz="1800">
                <a:solidFill>
                  <a:srgbClr val="FFFFFF"/>
                </a:solidFill>
              </a:defRPr>
            </a:pPr>
            <a:r>
              <a:t>  Manual git workflow</a:t>
            </a:r>
          </a:p>
          <a:p>
            <a:pPr>
              <a:spcAft>
                <a:spcPts val="1200"/>
              </a:spcAft>
              <a:defRPr sz="1800">
                <a:solidFill>
                  <a:srgbClr val="FFFFFF"/>
                </a:solidFill>
              </a:defRPr>
            </a:pPr>
            <a:r>
              <a:t>  No persistent project configuration</a:t>
            </a:r>
          </a:p>
          <a:p>
            <a:pPr>
              <a:spcAft>
                <a:spcPts val="1200"/>
              </a:spcAft>
              <a:defRPr sz="1800">
                <a:solidFill>
                  <a:srgbClr val="FFFFFF"/>
                </a:solidFill>
              </a:defRPr>
            </a:pPr>
            <a:r>
              <a:t>  Fixed feature set from vendor</a:t>
            </a:r>
          </a:p>
          <a:p>
            <a:pPr>
              <a:spcAft>
                <a:spcPts val="1200"/>
              </a:spcAft>
              <a:defRPr sz="1800">
                <a:solidFill>
                  <a:srgbClr val="FFFFFF"/>
                </a:solidFill>
              </a:defRPr>
            </a:pPr>
            <a:r>
              <a:t>  Single-threaded conversation only</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
              <a:t>8GB+ RAM recommended</a:t>
            </a:r>
            <a:br/>
            <a:r>
              <a:t>Node.js 18+ required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rPr dirty="0"/>
              <a:t>Tools</a:t>
            </a:r>
          </a:p>
          <a:p>
            <a:pPr algn="ctr">
              <a:spcBef>
                <a:spcPts val="800"/>
              </a:spcBef>
              <a:defRPr sz="1300">
                <a:solidFill>
                  <a:srgbClr val="8B95A5"/>
                </a:solidFill>
              </a:defRPr>
            </a:pPr>
            <a:r>
              <a:rPr dirty="0"/>
              <a:t>Terminal (iTerm2, Windows Terminal, etc.)</a:t>
            </a:r>
            <a:br>
              <a:rPr dirty="0"/>
            </a:br>
            <a:r>
              <a:rPr dirty="0"/>
              <a:t>Git installed and configured</a:t>
            </a:r>
            <a:br>
              <a:rPr dirty="0"/>
            </a:br>
            <a:r>
              <a:rPr dirty="0"/>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rPr dirty="0"/>
              <a:t>Account</a:t>
            </a:r>
          </a:p>
          <a:p>
            <a:pPr algn="ctr">
              <a:spcBef>
                <a:spcPts val="400"/>
              </a:spcBef>
              <a:defRPr sz="1100">
                <a:solidFill>
                  <a:srgbClr val="8A8F98"/>
                </a:solidFill>
              </a:defRPr>
            </a:pPr>
            <a:r>
              <a:rPr dirty="0"/>
              <a:t>Anthropic Pro or Max plan</a:t>
            </a:r>
          </a:p>
          <a:p>
            <a:pPr algn="ctr">
              <a:spcBef>
                <a:spcPts val="400"/>
              </a:spcBef>
              <a:defRPr sz="1100">
                <a:solidFill>
                  <a:srgbClr val="8A8F98"/>
                </a:solidFill>
              </a:defRPr>
            </a:pPr>
            <a:r>
              <a:rPr dirty="0"/>
              <a:t>Install: claude.ai/install.sh</a:t>
            </a:r>
          </a:p>
          <a:p>
            <a:pPr algn="ctr">
              <a:spcBef>
                <a:spcPts val="400"/>
              </a:spcBef>
              <a:defRPr sz="1100">
                <a:solidFill>
                  <a:srgbClr val="8A8F98"/>
                </a:solidFill>
              </a:defRPr>
            </a:pPr>
            <a:r>
              <a:rPr dirty="0"/>
              <a:t>Authenticate: </a:t>
            </a:r>
            <a:r>
              <a:rPr dirty="0" err="1"/>
              <a:t>claude</a:t>
            </a:r>
            <a:r>
              <a:rPr dirty="0"/>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Installation Methods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8F8F2"/>
                </a:solidFill>
                <a:latin typeface="Consolas"/>
              </a:defRPr>
            </a:pPr>
            <a:r>
              <a:t># Method 1: Native install (recommended — auto-updates)</a:t>
            </a:r>
          </a:p>
          <a:p>
            <a:pPr>
              <a:defRPr sz="1400">
                <a:solidFill>
                  <a:srgbClr val="F8F8F2"/>
                </a:solidFill>
                <a:latin typeface="Consolas"/>
              </a:defRPr>
            </a:pPr>
            <a:r>
              <a:t>curl -fsSL https://claude.ai/install.sh | bash</a:t>
            </a:r>
          </a:p>
          <a:p>
            <a:pPr>
              <a:defRPr sz="1400">
                <a:solidFill>
                  <a:srgbClr val="F8F8F2"/>
                </a:solidFill>
                <a:latin typeface="Consolas"/>
              </a:defRPr>
            </a:pPr>
            <a:endParaRPr/>
          </a:p>
          <a:p>
            <a:pPr>
              <a:defRPr sz="1400">
                <a:solidFill>
                  <a:srgbClr val="F8F8F2"/>
                </a:solidFill>
                <a:latin typeface="Consolas"/>
              </a:defRPr>
            </a:pPr>
            <a:r>
              <a:t># Method 2: Homebrew (macOS/Linux — manual updates)</a:t>
            </a:r>
          </a:p>
          <a:p>
            <a:pPr>
              <a:defRPr sz="1400">
                <a:solidFill>
                  <a:srgbClr val="F8F8F2"/>
                </a:solidFill>
                <a:latin typeface="Consolas"/>
              </a:defRPr>
            </a:pPr>
            <a:r>
              <a:t>brew install --cask claude-code</a:t>
            </a:r>
          </a:p>
          <a:p>
            <a:pPr>
              <a:defRPr sz="1400">
                <a:solidFill>
                  <a:srgbClr val="F8F8F2"/>
                </a:solidFill>
                <a:latin typeface="Consolas"/>
              </a:defRPr>
            </a:pPr>
            <a:endParaRPr/>
          </a:p>
          <a:p>
            <a:pPr>
              <a:defRPr sz="1400">
                <a:solidFill>
                  <a:srgbClr val="F8F8F2"/>
                </a:solidFill>
                <a:latin typeface="Consolas"/>
              </a:defRPr>
            </a:pPr>
            <a:r>
              <a:t># Method 3: WinGet (Windows — manual updates)</a:t>
            </a:r>
          </a:p>
          <a:p>
            <a:pPr>
              <a:defRPr sz="1400">
                <a:solidFill>
                  <a:srgbClr val="F8F8F2"/>
                </a:solidFill>
                <a:latin typeface="Consolas"/>
              </a:defRPr>
            </a:pPr>
            <a:r>
              <a:t>winget install Anthropic.ClaudeCode</a:t>
            </a:r>
          </a:p>
          <a:p>
            <a:pPr>
              <a:defRPr sz="1400">
                <a:solidFill>
                  <a:srgbClr val="F8F8F2"/>
                </a:solidFill>
                <a:latin typeface="Consolas"/>
              </a:defRPr>
            </a:pPr>
            <a:endParaRPr/>
          </a:p>
          <a:p>
            <a:pPr>
              <a:defRPr sz="1400">
                <a:solidFill>
                  <a:srgbClr val="F8F8F2"/>
                </a:solidFill>
                <a:latin typeface="Consolas"/>
              </a:defRPr>
            </a:pPr>
            <a:r>
              <a:t># Verify installation</a:t>
            </a:r>
          </a:p>
          <a:p>
            <a:pPr>
              <a:defRPr sz="1400">
                <a:solidFill>
                  <a:srgbClr val="F8F8F2"/>
                </a:solidFill>
                <a:latin typeface="Consolas"/>
              </a:defRPr>
            </a:pPr>
            <a:r>
              <a:t>claude --version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Two 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640080"/>
          </a:xfrm>
          <a:prstGeom prst="rect">
            <a:avLst/>
          </a:prstGeom>
          <a:noFill/>
        </p:spPr>
        <p:txBody>
          <a:bodyPr wrap="none">
            <a:spAutoFit/>
          </a:bodyPr>
          <a:lstStyle/>
          <a:p>
            <a:pPr>
              <a:defRPr sz="3200" b="1">
                <a:solidFill>
                  <a:srgbClr val="FFFFFF"/>
                </a:solidFill>
              </a:defRPr>
            </a:pPr>
            <a:r>
              <a:t>Claude Code Desktop Interface</a:t>
            </a: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dirty="0">
                <a:solidFill>
                  <a:schemeClr val="bg1"/>
                </a:solidFill>
              </a:rPr>
              <a:t>GUI for Claude Code — no terminal required</a:t>
            </a:r>
          </a:p>
          <a:p>
            <a:endParaRPr lang="en-US" sz="1600" dirty="0">
              <a:solidFill>
                <a:schemeClr val="bg1"/>
              </a:solidFill>
            </a:endParaRPr>
          </a:p>
          <a:p>
            <a:r>
              <a:rPr lang="en-US" sz="1600" dirty="0">
                <a:solidFill>
                  <a:schemeClr val="bg1"/>
                </a:solidFill>
              </a:rPr>
              <a:t>Parallel sessions with git </a:t>
            </a:r>
            <a:r>
              <a:rPr lang="en-US" sz="1600" dirty="0" err="1">
                <a:solidFill>
                  <a:schemeClr val="bg1"/>
                </a:solidFill>
              </a:rPr>
              <a:t>worktree</a:t>
            </a:r>
            <a:r>
              <a:rPr lang="en-US" sz="1600" dirty="0">
                <a:solidFill>
                  <a:schemeClr val="bg1"/>
                </a:solidFill>
              </a:rPr>
              <a:t> isolation</a:t>
            </a:r>
          </a:p>
          <a:p>
            <a:endParaRPr lang="en-US" sz="1600" dirty="0">
              <a:solidFill>
                <a:schemeClr val="bg1"/>
              </a:solidFill>
            </a:endParaRPr>
          </a:p>
          <a:p>
            <a:r>
              <a:rPr lang="en-US" sz="1600" dirty="0">
                <a:solidFill>
                  <a:schemeClr val="bg1"/>
                </a:solidFill>
              </a:rPr>
              <a:t>Visual diff review and server previews</a:t>
            </a:r>
          </a:p>
          <a:p>
            <a:endParaRPr lang="en-US" sz="1600" dirty="0">
              <a:solidFill>
                <a:schemeClr val="bg1"/>
              </a:solidFill>
            </a:endParaRPr>
          </a:p>
          <a:p>
            <a:r>
              <a:rPr lang="en-US" sz="1600" dirty="0">
                <a:solidFill>
                  <a:schemeClr val="bg1"/>
                </a:solidFill>
              </a:rPr>
              <a:t>Local or remote (cloud) sessions from</a:t>
            </a:r>
            <a:br>
              <a:rPr lang="en-US" sz="1600" dirty="0">
                <a:solidFill>
                  <a:schemeClr val="bg1"/>
                </a:solidFill>
              </a:rPr>
            </a:br>
            <a:r>
              <a:rPr lang="en-US" sz="1600" dirty="0">
                <a:solidFill>
                  <a:schemeClr val="bg1"/>
                </a:solidFill>
              </a:rPr>
              <a:t> same interface</a:t>
            </a:r>
          </a:p>
          <a:p>
            <a:endParaRPr lang="en-US" sz="1600" dirty="0">
              <a:solidFill>
                <a:schemeClr val="bg1"/>
              </a:solidFill>
            </a:endParaRPr>
          </a:p>
          <a:p>
            <a:r>
              <a:rPr lang="en-US" sz="1600" dirty="0">
                <a:solidFill>
                  <a:schemeClr val="bg1"/>
                </a:solidFill>
              </a:rPr>
              <a:t>PR monitoring and status tracking</a:t>
            </a:r>
          </a:p>
          <a:p>
            <a:endParaRPr lang="en-US" sz="1600" dirty="0">
              <a:solidFill>
                <a:schemeClr val="bg1"/>
              </a:solidFill>
            </a:endParaRPr>
          </a:p>
          <a:p>
            <a:r>
              <a:rPr lang="en-US" sz="1600" dirty="0">
                <a:solidFill>
                  <a:schemeClr val="bg1"/>
                </a:solidFill>
              </a:rPr>
              <a:t>/desktop </a:t>
            </a:r>
            <a:r>
              <a:rPr lang="en-US" sz="1600" dirty="0" err="1">
                <a:solidFill>
                  <a:schemeClr val="bg1"/>
                </a:solidFill>
              </a:rPr>
              <a:t>cmd</a:t>
            </a:r>
            <a:r>
              <a:rPr lang="en-US" sz="1600" dirty="0">
                <a:solidFill>
                  <a:schemeClr val="bg1"/>
                </a:solidFill>
              </a:rPr>
              <a:t> moves a CLI session to the app</a:t>
            </a:r>
          </a:p>
          <a:p>
            <a:endParaRPr lang="en-US" sz="1600" dirty="0">
              <a:solidFill>
                <a:schemeClr val="bg1"/>
              </a:solidFill>
            </a:endParaRPr>
          </a:p>
          <a:p>
            <a:r>
              <a:rPr lang="en-US" sz="1600" dirty="0">
                <a:solidFill>
                  <a:schemeClr val="bg1"/>
                </a:solidFill>
              </a:rPr>
              <a:t>Best for: non-terminal users, multi-session </a:t>
            </a:r>
            <a:br>
              <a:rPr lang="en-US" sz="1600" dirty="0">
                <a:solidFill>
                  <a:schemeClr val="bg1"/>
                </a:solidFill>
              </a:rPr>
            </a:br>
            <a:r>
              <a:rPr lang="en-US" sz="1600" dirty="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Agentic Loop</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Read → Analyze → Plan → Execute → Verify</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.claudeignore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CLAUDE.md is a configuration file that lives in your project root.</a:t>
            </a:r>
          </a:p>
          <a:p>
            <a:pPr>
              <a:defRPr sz="2400">
                <a:solidFill>
                  <a:srgbClr val="8B95A5"/>
                </a:solidFill>
              </a:defRPr>
            </a:pPr>
            <a:endParaRPr/>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Team Settings &amp; Style Guides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Pruning rule: 'Would removing this line cause Claude to make mistakes? If not, cut it.</a:t>
            </a:r>
          </a:p>
          <a:p>
            <a:pPr>
              <a:spcBef>
                <a:spcPts val="800"/>
              </a:spcBef>
              <a:spcAft>
                <a:spcPts val="800"/>
              </a:spcAft>
              <a:defRPr sz="2200">
                <a:solidFill>
                  <a:srgbClr val="FFFFFF"/>
                </a:solidFill>
              </a:defRPr>
            </a:pPr>
            <a:r>
              <a:t>  Monthly review cadence — put it on your calendar.</a:t>
            </a:r>
          </a:p>
          <a:p>
            <a:pPr>
              <a:spcBef>
                <a:spcPts val="800"/>
              </a:spcBef>
              <a:spcAft>
                <a:spcPts val="800"/>
              </a:spcAft>
              <a:defRPr sz="2200">
                <a:solidFill>
                  <a:srgbClr val="FFFFFF"/>
                </a:solidFill>
              </a:defRPr>
            </a:pPr>
            <a:r>
              <a:t>  Signs of bloat: Claude following old conventions you've abandoned, conflicting rules, generic advice that adds no value.</a:t>
            </a:r>
          </a:p>
          <a:p>
            <a:pPr>
              <a:spcBef>
                <a:spcPts val="800"/>
              </a:spcBef>
              <a:spcAft>
                <a:spcPts val="800"/>
              </a:spcAft>
              <a:defRPr sz="2200">
                <a:solidFill>
                  <a:srgbClr val="FFFFFF"/>
                </a:solidFill>
              </a:defRPr>
            </a:pPr>
            <a:r>
              <a:t>  Short, specific CLAUDE.</a:t>
            </a:r>
          </a:p>
          <a:p>
            <a:pPr>
              <a:spcBef>
                <a:spcPts val="800"/>
              </a:spcBef>
              <a:spcAft>
                <a:spcPts val="800"/>
              </a:spcAft>
              <a:defRPr sz="2200">
                <a:solidFill>
                  <a:srgbClr val="FFFFFF"/>
                </a:solidFill>
              </a:defRPr>
            </a:pPr>
            <a:r>
              <a:t>  Source: Reza Rezvani — 'I spent months blaming Claude for not understanding my project while doing nothing to help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411480"/>
          </a:xfrm>
          <a:prstGeom prst="rect">
            <a:avLst/>
          </a:prstGeom>
          <a:noFill/>
        </p:spPr>
        <p:txBody>
          <a:bodyPr wrap="square">
            <a:spAutoFit/>
          </a:bodyPr>
          <a:lstStyle/>
          <a:p>
            <a:pPr>
              <a:defRPr sz="1400">
                <a:solidFill>
                  <a:srgbClr val="FFFFFF"/>
                </a:solidFill>
              </a:defRPr>
            </a:pPr>
            <a:r>
              <a:t>Managed Policy   |   /etc/claude-code/CLAUDE.md or registry   |   All users in org   |   Yes (IT deploys)</a:t>
            </a:r>
          </a:p>
        </p:txBody>
      </p:sp>
      <p:sp>
        <p:nvSpPr>
          <p:cNvPr id="6" name="TextBox 5"/>
          <p:cNvSpPr txBox="1"/>
          <p:nvPr/>
        </p:nvSpPr>
        <p:spPr>
          <a:xfrm>
            <a:off x="457200" y="2468880"/>
            <a:ext cx="11277295" cy="411480"/>
          </a:xfrm>
          <a:prstGeom prst="rect">
            <a:avLst/>
          </a:prstGeom>
          <a:noFill/>
        </p:spPr>
        <p:txBody>
          <a:bodyPr wrap="square">
            <a:spAutoFit/>
          </a:bodyPr>
          <a:lstStyle/>
          <a:p>
            <a:pPr>
              <a:defRPr sz="1400">
                <a:solidFill>
                  <a:srgbClr val="FFFFFF"/>
                </a:solidFill>
              </a:defRPr>
            </a:pPr>
            <a:r>
              <a:t>Project Memory   |   ./CLAUDE.md or .claude/CLAUDE.md   |   All collaborators   |   Yes (via git)</a:t>
            </a:r>
          </a:p>
        </p:txBody>
      </p:sp>
      <p:sp>
        <p:nvSpPr>
          <p:cNvPr id="7" name="TextBox 6"/>
          <p:cNvSpPr txBox="1"/>
          <p:nvPr/>
        </p:nvSpPr>
        <p:spPr>
          <a:xfrm>
            <a:off x="457200" y="2880360"/>
            <a:ext cx="11277295" cy="411480"/>
          </a:xfrm>
          <a:prstGeom prst="rect">
            <a:avLst/>
          </a:prstGeom>
          <a:noFill/>
        </p:spPr>
        <p:txBody>
          <a:bodyPr wrap="square">
            <a:spAutoFit/>
          </a:bodyPr>
          <a:lstStyle/>
          <a:p>
            <a:pPr>
              <a:defRPr sz="1400">
                <a:solidFill>
                  <a:srgbClr val="FFFFFF"/>
                </a:solidFill>
              </a:defRPr>
            </a:pPr>
            <a:r>
              <a:t>Project Rules   |   .claude/rules/*.md   |   All collaborators   |   Yes (via git)</a:t>
            </a:r>
          </a:p>
        </p:txBody>
      </p:sp>
      <p:sp>
        <p:nvSpPr>
          <p:cNvPr id="8" name="TextBox 7"/>
          <p:cNvSpPr txBox="1"/>
          <p:nvPr/>
        </p:nvSpPr>
        <p:spPr>
          <a:xfrm>
            <a:off x="457200" y="3291840"/>
            <a:ext cx="11277295" cy="411480"/>
          </a:xfrm>
          <a:prstGeom prst="rect">
            <a:avLst/>
          </a:prstGeom>
          <a:noFill/>
        </p:spPr>
        <p:txBody>
          <a:bodyPr wrap="square">
            <a:spAutoFit/>
          </a:bodyPr>
          <a:lstStyle/>
          <a:p>
            <a:pPr>
              <a:defRPr sz="1400">
                <a:solidFill>
                  <a:srgbClr val="FFFFFF"/>
                </a:solidFill>
              </a:defRPr>
            </a:pPr>
            <a:r>
              <a:t>User Memory   |   ~/.claude/CLAUDE.md   |   You, all projects   |   No</a:t>
            </a:r>
          </a:p>
        </p:txBody>
      </p:sp>
      <p:sp>
        <p:nvSpPr>
          <p:cNvPr id="9" name="TextBox 8"/>
          <p:cNvSpPr txBox="1"/>
          <p:nvPr/>
        </p:nvSpPr>
        <p:spPr>
          <a:xfrm>
            <a:off x="457200" y="3703320"/>
            <a:ext cx="11277295" cy="411480"/>
          </a:xfrm>
          <a:prstGeom prst="rect">
            <a:avLst/>
          </a:prstGeom>
          <a:noFill/>
        </p:spPr>
        <p:txBody>
          <a:bodyPr wrap="square">
            <a:spAutoFit/>
          </a:bodyPr>
          <a:lstStyle/>
          <a:p>
            <a:pPr>
              <a:defRPr sz="1400">
                <a:solidFill>
                  <a:srgbClr val="FFFFFF"/>
                </a:solidFill>
              </a:defRPr>
            </a:pPr>
            <a:r>
              <a:t>Local Override   |   ./CLAUDE.local.md   |   You, this project   |   No (auto-gitignored)</a:t>
            </a:r>
          </a:p>
        </p:txBody>
      </p:sp>
      <p:sp>
        <p:nvSpPr>
          <p:cNvPr id="10" name="TextBox 9"/>
          <p:cNvSpPr txBox="1"/>
          <p:nvPr/>
        </p:nvSpPr>
        <p:spPr>
          <a:xfrm>
            <a:off x="457200" y="4114800"/>
            <a:ext cx="11277295" cy="411480"/>
          </a:xfrm>
          <a:prstGeom prst="rect">
            <a:avLst/>
          </a:prstGeom>
          <a:noFill/>
        </p:spPr>
        <p:txBody>
          <a:bodyPr wrap="square">
            <a:spAutoFit/>
          </a:bodyPr>
          <a:lstStyle/>
          <a:p>
            <a:pPr>
              <a:defRPr sz="1400">
                <a:solidFill>
                  <a:srgbClr val="FFFFFF"/>
                </a:solidFill>
              </a:defRPr>
            </a:pPr>
            <a:r>
              <a:t>Auto Memory   |   ~/.claude/projects/&lt;project&gt;/memory/   |   You, per project   |   No (Claude writes)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79"/>
            <a:ext cx="2286000" cy="4702885"/>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at project root</a:t>
            </a:r>
          </a:p>
          <a:p>
            <a:pPr>
              <a:spcAft>
                <a:spcPts val="1200"/>
              </a:spcAft>
              <a:defRPr sz="1800">
                <a:solidFill>
                  <a:srgbClr val="FFFFFF"/>
                </a:solidFill>
              </a:defRPr>
            </a:pPr>
            <a:r>
              <a:t>  .claude/settings.json</a:t>
            </a:r>
          </a:p>
          <a:p>
            <a:pPr>
              <a:spcAft>
                <a:spcPts val="1200"/>
              </a:spcAft>
              <a:defRPr sz="1800">
                <a:solidFill>
                  <a:srgbClr val="FFFFFF"/>
                </a:solidFill>
              </a:defRPr>
            </a:pPr>
            <a:r>
              <a:t>  .claude/rules/*.md</a:t>
            </a:r>
          </a:p>
          <a:p>
            <a:pPr>
              <a:spcAft>
                <a:spcPts val="1200"/>
              </a:spcAft>
              <a:defRPr sz="1800">
                <a:solidFill>
                  <a:srgbClr val="FFFFFF"/>
                </a:solidFill>
              </a:defRPr>
            </a:pPr>
            <a:r>
              <a:t>  Auto memory (first 200 lines)</a:t>
            </a:r>
          </a:p>
          <a:p>
            <a:pPr>
              <a:spcAft>
                <a:spcPts val="1200"/>
              </a:spcAft>
              <a:defRPr sz="1800">
                <a:solidFill>
                  <a:srgbClr val="FFFFFF"/>
                </a:solidFill>
              </a:defRPr>
            </a:pPr>
            <a:r>
              <a:t>  File tree structure (names only)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/cost — see token usage for current session</a:t>
            </a:r>
          </a:p>
          <a:p>
            <a:pPr>
              <a:spcAft>
                <a:spcPts val="1200"/>
              </a:spcAft>
              <a:defRPr sz="1800">
                <a:solidFill>
                  <a:srgbClr val="FFFFFF"/>
                </a:solidFill>
              </a:defRPr>
            </a:pPr>
            <a:r>
              <a:t>  /verbose — detailed logging of tool use</a:t>
            </a:r>
          </a:p>
          <a:p>
            <a:pPr>
              <a:spcAft>
                <a:spcPts val="1200"/>
              </a:spcAft>
              <a:defRPr sz="1800">
                <a:solidFill>
                  <a:srgbClr val="FFFFFF"/>
                </a:solidFill>
              </a:defRPr>
            </a:pPr>
            <a:r>
              <a:t>  Watch for: 'reading file X' in Claude's output</a:t>
            </a:r>
          </a:p>
          <a:p>
            <a:pPr>
              <a:spcAft>
                <a:spcPts val="1200"/>
              </a:spcAft>
              <a:defRPr sz="1800">
                <a:solidFill>
                  <a:srgbClr val="FFFFFF"/>
                </a:solidFill>
              </a:defRPr>
            </a:pPr>
            <a:r>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.claudeignore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.claudeignore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Patterns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place in project root</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.claudeignore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79"/>
            <a:ext cx="2286000" cy="376159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window is finite — currently 200K tokens for Claude, but effective quality degrades well before the limit.</a:t>
            </a:r>
          </a:p>
          <a:p>
            <a:pPr>
              <a:spcBef>
                <a:spcPts val="800"/>
              </a:spcBef>
              <a:spcAft>
                <a:spcPts val="800"/>
              </a:spcAft>
              <a:defRPr sz="2200">
                <a:solidFill>
                  <a:srgbClr val="FFFFFF"/>
                </a:solidFill>
              </a:defRPr>
            </a:pPr>
            <a:r>
              <a:t>  MCP tools: each server registers tool descriptions that stay in context permanently during the session.</a:t>
            </a:r>
          </a:p>
          <a:p>
            <a:pPr>
              <a:spcBef>
                <a:spcPts val="800"/>
              </a:spcBef>
              <a:spcAft>
                <a:spcPts val="800"/>
              </a:spcAft>
              <a:defRPr sz="2200">
                <a:solidFill>
                  <a:srgbClr val="FFFFFF"/>
                </a:solidFill>
              </a:defRPr>
            </a:pPr>
            <a:r>
              <a:t>  Solution: Only enable MCP servers you actually need for the current task.</a:t>
            </a:r>
          </a:p>
          <a:p>
            <a:pPr>
              <a:spcBef>
                <a:spcPts val="800"/>
              </a:spcBef>
              <a:spcAft>
                <a:spcPts val="800"/>
              </a:spcAft>
              <a:defRPr sz="2200">
                <a:solidFill>
                  <a:srgbClr val="FFFFFF"/>
                </a:solidFill>
              </a:defRPr>
            </a:pPr>
            <a:r>
              <a:t>  /cost shows your current token usage — check it periodically.</a:t>
            </a:r>
          </a:p>
          <a:p>
            <a:pPr>
              <a:spcBef>
                <a:spcPts val="800"/>
              </a:spcBef>
              <a:spcAft>
                <a:spcPts val="800"/>
              </a:spcAft>
              <a:defRPr sz="2200">
                <a:solidFill>
                  <a:srgbClr val="FFFFFF"/>
                </a:solidFill>
              </a:defRPr>
            </a:pPr>
            <a:r>
              <a:t>  /compact summarizes conversation history to free up context without losing key decisions.</a:t>
            </a:r>
          </a:p>
          <a:p>
            <a:pPr>
              <a:spcBef>
                <a:spcPts val="800"/>
              </a:spcBef>
              <a:spcAft>
                <a:spcPts val="800"/>
              </a:spcAft>
              <a:defRPr sz="2200">
                <a:solidFill>
                  <a:srgbClr val="FFFFFF"/>
                </a:solidFill>
              </a:defRPr>
            </a:pPr>
            <a:r>
              <a:t>  Source: Reza Rezvani — monitoring context was the second major breakthrough after Plan Mode.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.claudeignore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Session</a:t>
            </a:r>
          </a:p>
          <a:p>
            <a:pPr algn="ctr">
              <a:spcBef>
                <a:spcPts val="800"/>
              </a:spcBef>
              <a:defRPr sz="1300">
                <a:solidFill>
                  <a:srgbClr val="8B95A5"/>
                </a:solidFill>
              </a:defRPr>
            </a:pPr>
            <a:r>
              <a:t>/init — initialize project context</a:t>
            </a:r>
            <a:br/>
            <a:r>
              <a:t>/clear — reset conversation</a:t>
            </a:r>
            <a:br/>
            <a:r>
              <a:t>/compact — summarize and continue</a:t>
            </a:r>
            <a:br/>
            <a:r>
              <a:t>/cost — show token usage</a:t>
            </a:r>
            <a:br/>
            <a:r>
              <a:t>/logout — sign out</a:t>
            </a:r>
          </a:p>
        </p:txBody>
      </p:sp>
      <p:sp>
        <p:nvSpPr>
          <p:cNvPr id="7" name="Rounded Rectangle 6"/>
          <p:cNvSpPr/>
          <p:nvPr/>
        </p:nvSpPr>
        <p:spPr>
          <a:xfrm>
            <a:off x="495284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41148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Permissions: /permissions, /allowed-tools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/permissions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View current permission rules</a:t>
            </a:r>
          </a:p>
          <a:p>
            <a:pPr>
              <a:spcAft>
                <a:spcPts val="1200"/>
              </a:spcAft>
              <a:defRPr sz="1800">
                <a:solidFill>
                  <a:srgbClr val="FFFFFF"/>
                </a:solidFill>
              </a:defRPr>
            </a:pPr>
            <a:r>
              <a:t>  Add allow/deny rules interactively</a:t>
            </a:r>
          </a:p>
          <a:p>
            <a:pPr>
              <a:spcAft>
                <a:spcPts val="1200"/>
              </a:spcAft>
              <a:defRPr sz="1800">
                <a:solidFill>
                  <a:srgbClr val="FFFFFF"/>
                </a:solidFill>
              </a:defRPr>
            </a:pPr>
            <a:r>
              <a:t>  Rules persist in .claude/settings.json</a:t>
            </a:r>
          </a:p>
          <a:p>
            <a:pPr>
              <a:spcAft>
                <a:spcPts val="1200"/>
              </a:spcAft>
              <a:defRPr sz="1800">
                <a:solidFill>
                  <a:srgbClr val="FFFFFF"/>
                </a:solidFill>
              </a:defRPr>
            </a:pPr>
            <a:r>
              <a:t>  Scoped by tool type (Read, Write, Bash, etc.)</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/allowed-tools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See which tools Claude can use</a:t>
            </a:r>
          </a:p>
          <a:p>
            <a:pPr>
              <a:spcAft>
                <a:spcPts val="1200"/>
              </a:spcAft>
              <a:defRPr sz="1800">
                <a:solidFill>
                  <a:srgbClr val="FFFFFF"/>
                </a:solidFill>
              </a:defRPr>
            </a:pPr>
            <a:r>
              <a:t>  Add tools to allowlist for auto-approval</a:t>
            </a:r>
          </a:p>
          <a:p>
            <a:pPr>
              <a:spcAft>
                <a:spcPts val="1200"/>
              </a:spcAft>
              <a:defRPr sz="1800">
                <a:solidFill>
                  <a:srgbClr val="FFFFFF"/>
                </a:solidFill>
              </a:defRPr>
            </a:pPr>
            <a:r>
              <a:t>  Reduce permission prompts for trusted operations</a:t>
            </a:r>
          </a:p>
          <a:p>
            <a:pPr>
              <a:spcAft>
                <a:spcPts val="1200"/>
              </a:spcAft>
              <a:defRPr sz="1800">
                <a:solidFill>
                  <a:srgbClr val="FFFFFF"/>
                </a:solidFill>
              </a:defRPr>
            </a:pPr>
            <a:r>
              <a:t>  Example: allow Bash(npm test) to run tests without asking</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Output: /output-format, /verbose, /cost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/cost — token usage and estimated cost</a:t>
            </a:r>
          </a:p>
          <a:p>
            <a:pPr>
              <a:spcAft>
                <a:spcPts val="1200"/>
              </a:spcAft>
              <a:defRPr sz="1800">
                <a:solidFill>
                  <a:srgbClr val="FFFFFF"/>
                </a:solidFill>
              </a:defRPr>
            </a:pPr>
            <a:r>
              <a:t>  /review — code quality analysis</a:t>
            </a:r>
          </a:p>
          <a:p>
            <a:pPr>
              <a:spcAft>
                <a:spcPts val="1200"/>
              </a:spcAft>
              <a:defRPr sz="1800">
                <a:solidFill>
                  <a:srgbClr val="FFFFFF"/>
                </a:solidFill>
              </a:defRPr>
            </a:pPr>
            <a:r>
              <a:t>  /test — run and analyze test results</a:t>
            </a:r>
          </a:p>
          <a:p>
            <a:pPr>
              <a:spcAft>
                <a:spcPts val="1200"/>
              </a:spcAft>
              <a:defRPr sz="1800">
                <a:solidFill>
                  <a:srgbClr val="FFFFFF"/>
                </a:solidFill>
              </a:defRPr>
            </a:pPr>
            <a:r>
              <a:t>  /doctor — diagnose Claude Code issues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Claude will ask about things you hadn't thought through: 'What happens when a token expires mid-request?', 'Do you ne...</a:t>
            </a:r>
          </a:p>
          <a:p>
            <a:pPr>
              <a:spcBef>
                <a:spcPts val="800"/>
              </a:spcBef>
              <a:spcAft>
                <a:spcPts val="800"/>
              </a:spcAft>
              <a:defRPr sz="2200">
                <a:solidFill>
                  <a:srgbClr val="FFFFFF"/>
                </a:solidFill>
              </a:defRPr>
            </a:pPr>
            <a:r>
              <a:t>  This isn't Claude being annoying — it's Claude preventing future bugs.</a:t>
            </a:r>
          </a:p>
          <a:p>
            <a:pPr>
              <a:spcBef>
                <a:spcPts val="800"/>
              </a:spcBef>
              <a:spcAft>
                <a:spcPts val="800"/>
              </a:spcAft>
              <a:defRPr sz="2200">
                <a:solidFill>
                  <a:srgbClr val="FFFFFF"/>
                </a:solidFill>
              </a:defRPr>
            </a:pPr>
            <a:r>
              <a:t>  The output SPEC.</a:t>
            </a:r>
          </a:p>
          <a:p>
            <a:pPr>
              <a:spcBef>
                <a:spcPts val="800"/>
              </a:spcBef>
              <a:spcAft>
                <a:spcPts val="800"/>
              </a:spcAft>
              <a:defRPr sz="2200">
                <a:solidFill>
                  <a:srgbClr val="FFFFFF"/>
                </a:solidFill>
              </a:defRPr>
            </a:pPr>
            <a:r>
              <a:t>  Combine with Plan Mode: Interview → Spec → Plan → Execute.</a:t>
            </a:r>
          </a:p>
          <a:p>
            <a:pPr>
              <a:spcBef>
                <a:spcPts val="800"/>
              </a:spcBef>
              <a:spcAft>
                <a:spcPts val="800"/>
              </a:spcAft>
              <a:defRPr sz="2200">
                <a:solidFill>
                  <a:srgbClr val="FFFFFF"/>
                </a:solidFill>
              </a:defRPr>
            </a:pPr>
            <a:r>
              <a:t>  Source: Reza Rezvani — this pattern eliminated most of his 'Claude didn't understand what I wanted' complaints.</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rPr dirty="0"/>
              <a:t>It's not prompting. It's specification.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Session Hygiene: The Discipline That Matters Most</a:t>
            </a:r>
          </a:p>
        </p:txBody>
      </p:sp>
      <p:sp>
        <p:nvSpPr>
          <p:cNvPr id="4" name="TextBox 3"/>
          <p:cNvSpPr txBox="1"/>
          <p:nvPr/>
        </p:nvSpPr>
        <p:spPr>
          <a:xfrm>
            <a:off x="457200" y="4445598"/>
            <a:ext cx="11277295" cy="914400"/>
          </a:xfrm>
          <a:prstGeom prst="rect">
            <a:avLst/>
          </a:prstGeom>
          <a:noFill/>
        </p:spPr>
        <p:txBody>
          <a:bodyPr wrap="square">
            <a:spAutoFit/>
          </a:bodyPr>
          <a:lstStyle/>
          <a:p>
            <a:pPr>
              <a:defRPr sz="2400">
                <a:solidFill>
                  <a:srgbClr val="8B95A5"/>
                </a:solidFill>
              </a:defRPr>
            </a:pPr>
            <a:r>
              <a:rPr dirty="0"/>
              <a:t>One task per session — the rule that prevents 80% of failures</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One Task Per Session. Period.</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Context degrades over long sessions — like starting a meeting where someone's been talking for 20 minutes about somet...</a:t>
            </a:r>
          </a:p>
          <a:p>
            <a:pPr>
              <a:spcBef>
                <a:spcPts val="800"/>
              </a:spcBef>
              <a:spcAft>
                <a:spcPts val="800"/>
              </a:spcAft>
              <a:defRPr sz="2200">
                <a:solidFill>
                  <a:srgbClr val="FFFFFF"/>
                </a:solidFill>
              </a:defRPr>
            </a:pPr>
            <a:r>
              <a:t>  The correction spiral: after 2 failed attempts to correct output, your context is poisoned with conflicting instructi...</a:t>
            </a:r>
          </a:p>
          <a:p>
            <a:pPr>
              <a:spcBef>
                <a:spcPts val="800"/>
              </a:spcBef>
              <a:spcAft>
                <a:spcPts val="800"/>
              </a:spcAft>
              <a:defRPr sz="2200">
                <a:solidFill>
                  <a:srgbClr val="FFFFFF"/>
                </a:solidFill>
              </a:defRPr>
            </a:pPr>
            <a:r>
              <a:t>  Quote: 'I spent months blaming Claude for not understanding my project while doing nothing to help it understand.</a:t>
            </a:r>
          </a:p>
          <a:p>
            <a:pPr>
              <a:spcBef>
                <a:spcPts val="800"/>
              </a:spcBef>
              <a:spcAft>
                <a:spcPts val="800"/>
              </a:spcAft>
              <a:defRPr sz="2200">
                <a:solidFill>
                  <a:srgbClr val="FFFFFF"/>
                </a:solidFill>
              </a:defRPr>
            </a:pPr>
            <a:r>
              <a:t>  Rule of thumb: one task per session.</a:t>
            </a:r>
          </a:p>
          <a:p>
            <a:pPr>
              <a:spcBef>
                <a:spcPts val="800"/>
              </a:spcBef>
              <a:spcAft>
                <a:spcPts val="800"/>
              </a:spcAft>
              <a:defRPr sz="2200">
                <a:solidFill>
                  <a:srgbClr val="FFFFFF"/>
                </a:solidFill>
              </a:defRPr>
            </a:pPr>
            <a:r>
              <a:t>  The anti-pattern has a name: 'vibes-driven development' — just hoping Claude gets it right without structure.</a:t>
            </a:r>
          </a:p>
          <a:p>
            <a:pPr>
              <a:spcBef>
                <a:spcPts val="800"/>
              </a:spcBef>
              <a:spcAft>
                <a:spcPts val="800"/>
              </a:spcAft>
              <a:defRPr sz="2200">
                <a:solidFill>
                  <a:srgbClr val="FFFFFF"/>
                </a:solidFill>
              </a:defRPr>
            </a:pPr>
            <a:r>
              <a:t>  According to MIT 2025 research, 95% of AI projects fail — and $644B has been lost globally on failed AI implementations.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square">
            <a:spAutoFit/>
          </a:bodyPr>
          <a:lstStyle/>
          <a:p>
            <a:pPr algn="ctr">
              <a:defRPr sz="3600" b="1">
                <a:solidFill>
                  <a:srgbClr val="FFFFFF"/>
                </a:solidFill>
              </a:defRPr>
            </a:pPr>
            <a:r>
              <a:t>Case Study: The Payment Module Disaster</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Developer starts: 'Add payment processing to our app'</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Mid-session pivot: 'Also fix the auth bug'</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mixes payment logic with auth fixes — neither works</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3 hours debugging: payment code references auth variables</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The fix: Revert. Two clean sessions. Each done in 30 minutes.</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Lesson: One task per session is load-bearing architecture.</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Safe AI-Assisted Development</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Security Model Overview</a:t>
            </a:r>
          </a:p>
        </p:txBody>
      </p:sp>
      <p:sp>
        <p:nvSpPr>
          <p:cNvPr id="3" name="Rounded Rectangle 2"/>
          <p:cNvSpPr/>
          <p:nvPr/>
        </p:nvSpPr>
        <p:spPr>
          <a:xfrm>
            <a:off x="230108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Permission Prompts</a:t>
            </a:r>
          </a:p>
          <a:p>
            <a:pPr algn="ctr">
              <a:spcBef>
                <a:spcPts val="800"/>
              </a:spcBef>
              <a:defRPr sz="1300">
                <a:solidFill>
                  <a:srgbClr val="8B95A5"/>
                </a:solidFill>
              </a:defRPr>
            </a:pPr>
            <a:r>
              <a:rPr dirty="0"/>
              <a:t>Claude asks before:</a:t>
            </a:r>
            <a:br>
              <a:rPr dirty="0"/>
            </a:br>
            <a:r>
              <a:rPr dirty="0"/>
              <a:t>• Writing/editing files</a:t>
            </a:r>
            <a:br>
              <a:rPr dirty="0"/>
            </a:br>
            <a:r>
              <a:rPr dirty="0"/>
              <a:t>• Running shell commands</a:t>
            </a:r>
            <a:br>
              <a:rPr dirty="0"/>
            </a:br>
            <a:r>
              <a:rPr dirty="0"/>
              <a:t>• Installing packages</a:t>
            </a:r>
            <a:br>
              <a:rPr dirty="0"/>
            </a:br>
            <a:br>
              <a:rPr dirty="0"/>
            </a:br>
            <a:r>
              <a:rPr dirty="0"/>
              <a:t>You approve or deny each action.</a:t>
            </a:r>
          </a:p>
        </p:txBody>
      </p:sp>
      <p:sp>
        <p:nvSpPr>
          <p:cNvPr id="7" name="Rounded Rectangle 6"/>
          <p:cNvSpPr/>
          <p:nvPr/>
        </p:nvSpPr>
        <p:spPr>
          <a:xfrm>
            <a:off x="495284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Allowlists</a:t>
            </a:r>
          </a:p>
          <a:p>
            <a:pPr algn="ctr">
              <a:spcBef>
                <a:spcPts val="800"/>
              </a:spcBef>
              <a:defRPr sz="1300">
                <a:solidFill>
                  <a:srgbClr val="8B95A5"/>
                </a:solidFill>
              </a:defRPr>
            </a:pPr>
            <a:r>
              <a:t>Pre-approve trusted operations:</a:t>
            </a:r>
            <a:br/>
            <a:r>
              <a:t>• Bash(npm test)</a:t>
            </a:r>
            <a:br/>
            <a:r>
              <a:t>• Bash(git *)</a:t>
            </a:r>
            <a:br/>
            <a:r>
              <a:t>• Read(**/*.ts)</a:t>
            </a:r>
            <a:br/>
            <a:br/>
            <a:r>
              <a:t>Reduces friction for safe commands.</a:t>
            </a:r>
          </a:p>
        </p:txBody>
      </p:sp>
      <p:sp>
        <p:nvSpPr>
          <p:cNvPr id="11" name="Rounded Rectangle 10"/>
          <p:cNvSpPr/>
          <p:nvPr/>
        </p:nvSpPr>
        <p:spPr>
          <a:xfrm>
            <a:off x="7604607" y="2011679"/>
            <a:ext cx="2286000" cy="3743661"/>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Deny Rules</a:t>
            </a:r>
          </a:p>
          <a:p>
            <a:pPr algn="ctr">
              <a:spcBef>
                <a:spcPts val="800"/>
              </a:spcBef>
              <a:defRPr sz="1300">
                <a:solidFill>
                  <a:srgbClr val="8B95A5"/>
                </a:solidFill>
              </a:defRPr>
            </a:pPr>
            <a:r>
              <a:t>Block dangerous operations:</a:t>
            </a:r>
            <a:br/>
            <a:r>
              <a:t>• Bash(rm -rf *)</a:t>
            </a:r>
            <a:br/>
            <a:r>
              <a:t>• Bash(sudo *)</a:t>
            </a:r>
            <a:br/>
            <a:r>
              <a:t>• Read(**/.env)</a:t>
            </a:r>
            <a:br/>
            <a:br/>
            <a:r>
              <a:t>Defense in depth — even if you slip.</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Auto-Approve All</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Bash(npm test) — run tests freely</a:t>
            </a:r>
          </a:p>
          <a:p>
            <a:pPr>
              <a:spcAft>
                <a:spcPts val="1200"/>
              </a:spcAft>
              <a:defRPr sz="1800">
                <a:solidFill>
                  <a:srgbClr val="FFFFFF"/>
                </a:solidFill>
              </a:defRPr>
            </a:pPr>
            <a:r>
              <a:t>  Bash(npm run *) — all npm scripts</a:t>
            </a:r>
          </a:p>
          <a:p>
            <a:pPr>
              <a:spcAft>
                <a:spcPts val="1200"/>
              </a:spcAft>
              <a:defRPr sz="1800">
                <a:solidFill>
                  <a:srgbClr val="FFFFFF"/>
                </a:solidFill>
              </a:defRPr>
            </a:pPr>
            <a:r>
              <a:t>  Bash(git add:*) — stage files</a:t>
            </a:r>
          </a:p>
          <a:p>
            <a:pPr>
              <a:spcAft>
                <a:spcPts val="1200"/>
              </a:spcAft>
              <a:defRPr sz="1800">
                <a:solidFill>
                  <a:srgbClr val="FFFFFF"/>
                </a:solidFill>
              </a:defRPr>
            </a:pPr>
            <a:r>
              <a:t>  Bash(git commit:*) — commit changes</a:t>
            </a:r>
          </a:p>
          <a:p>
            <a:pPr>
              <a:spcAft>
                <a:spcPts val="1200"/>
              </a:spcAft>
              <a:defRPr sz="1800">
                <a:solidFill>
                  <a:srgbClr val="FFFFFF"/>
                </a:solidFill>
              </a:defRPr>
            </a:pPr>
            <a: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Bash(rm -rf:*) — prevent recursive delete</a:t>
            </a:r>
          </a:p>
          <a:p>
            <a:pPr>
              <a:spcAft>
                <a:spcPts val="1200"/>
              </a:spcAft>
              <a:defRPr sz="1800">
                <a:solidFill>
                  <a:srgbClr val="FFFFFF"/>
                </a:solidFill>
              </a:defRPr>
            </a:pPr>
            <a:r>
              <a:t>  Bash(sudo:*) — no elevated access</a:t>
            </a:r>
          </a:p>
          <a:p>
            <a:pPr>
              <a:spcAft>
                <a:spcPts val="1200"/>
              </a:spcAft>
              <a:defRPr sz="1800">
                <a:solidFill>
                  <a:srgbClr val="FFFFFF"/>
                </a:solidFill>
              </a:defRPr>
            </a:pPr>
            <a:r>
              <a:t>  Bash(curl:*) — prevent data exfiltration</a:t>
            </a:r>
          </a:p>
          <a:p>
            <a:pPr>
              <a:spcAft>
                <a:spcPts val="1200"/>
              </a:spcAft>
              <a:defRPr sz="1800">
                <a:solidFill>
                  <a:srgbClr val="FFFFFF"/>
                </a:solidFill>
              </a:defRPr>
            </a:pPr>
            <a:r>
              <a:t>  Read(**/.env) — protect secrets</a:t>
            </a:r>
          </a:p>
          <a:p>
            <a:pPr>
              <a:spcAft>
                <a:spcPts val="1200"/>
              </a:spcAft>
              <a:defRPr sz="1800">
                <a:solidFill>
                  <a:srgbClr val="FFFFFF"/>
                </a:solidFill>
              </a:defRPr>
            </a:pPr>
            <a:r>
              <a:t>  Bash(ssh:*) — no remote access</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.claudeignore for Sensitive Files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.claudeignore - Security</a:t>
            </a:r>
          </a:p>
          <a:p>
            <a:pPr>
              <a:defRPr sz="1400">
                <a:solidFill>
                  <a:srgbClr val="FFFFFF"/>
                </a:solidFill>
                <a:latin typeface="Consolas"/>
              </a:defRPr>
            </a:pPr>
            <a:endParaRPr/>
          </a:p>
          <a:p>
            <a:pPr>
              <a:defRPr sz="1400">
                <a:solidFill>
                  <a:srgbClr val="FFFFFF"/>
                </a:solidFill>
                <a:latin typeface="Consolas"/>
              </a:defRPr>
            </a:pPr>
            <a:r>
              <a:t># Environment and secrets</a:t>
            </a:r>
          </a:p>
          <a:p>
            <a:pPr>
              <a:defRPr sz="1400">
                <a:solidFill>
                  <a:srgbClr val="FFFFFF"/>
                </a:solidFill>
                <a:latin typeface="Consolas"/>
              </a:defRPr>
            </a:pPr>
            <a:r>
              <a:t>.env</a:t>
            </a:r>
          </a:p>
          <a:p>
            <a:pPr>
              <a:defRPr sz="1400">
                <a:solidFill>
                  <a:srgbClr val="FFFFFF"/>
                </a:solidFill>
                <a:latin typeface="Consolas"/>
              </a:defRPr>
            </a:pPr>
            <a:r>
              <a:t>*.key</a:t>
            </a:r>
          </a:p>
          <a:p>
            <a:pPr>
              <a:defRPr sz="1400">
                <a:solidFill>
                  <a:srgbClr val="FFFFFF"/>
                </a:solidFill>
                <a:latin typeface="Consolas"/>
              </a:defRPr>
            </a:pPr>
            <a:r>
              <a:t>*.pem</a:t>
            </a:r>
          </a:p>
          <a:p>
            <a:pPr>
              <a:defRPr sz="1400">
                <a:solidFill>
                  <a:srgbClr val="FFFFFF"/>
                </a:solidFill>
                <a:latin typeface="Consolas"/>
              </a:defRPr>
            </a:pPr>
            <a:r>
              <a:t>secrets/</a:t>
            </a:r>
          </a:p>
          <a:p>
            <a:pPr>
              <a:defRPr sz="1400">
                <a:solidFill>
                  <a:srgbClr val="FFFFFF"/>
                </a:solidFill>
                <a:latin typeface="Consolas"/>
              </a:defRPr>
            </a:pPr>
            <a:endParaRPr/>
          </a:p>
          <a:p>
            <a:pPr>
              <a:defRPr sz="1400">
                <a:solidFill>
                  <a:srgbClr val="FFFFFF"/>
                </a:solidFill>
                <a:latin typeface="Consolas"/>
              </a:defRPr>
            </a:pPr>
            <a:r>
              <a:t># Credentials</a:t>
            </a:r>
          </a:p>
          <a:p>
            <a:pPr>
              <a:defRPr sz="1400">
                <a:solidFill>
                  <a:srgbClr val="FFFFFF"/>
                </a:solidFill>
                <a:latin typeface="Consolas"/>
              </a:defRPr>
            </a:pPr>
            <a:r>
              <a:t>.aws/</a:t>
            </a:r>
          </a:p>
          <a:p>
            <a:pPr>
              <a:defRPr sz="1400">
                <a:solidFill>
                  <a:srgbClr val="FFFFFF"/>
                </a:solidFill>
                <a:latin typeface="Consolas"/>
              </a:defRPr>
            </a:pPr>
            <a:r>
              <a:t>.ssh/</a:t>
            </a:r>
          </a:p>
          <a:p>
            <a:pPr>
              <a:defRPr sz="1400">
                <a:solidFill>
                  <a:srgbClr val="FFFFFF"/>
                </a:solidFill>
                <a:latin typeface="Consolas"/>
              </a:defRPr>
            </a:pPr>
            <a:endParaRPr/>
          </a:p>
          <a:p>
            <a:pPr>
              <a:defRPr sz="1400">
                <a:solidFill>
                  <a:srgbClr val="FFFFFF"/>
                </a:solidFill>
                <a:latin typeface="Consolas"/>
              </a:defRPr>
            </a:pPr>
            <a:r>
              <a:t># Production</a:t>
            </a:r>
          </a:p>
          <a:p>
            <a:pPr>
              <a:defRPr sz="1400">
                <a:solidFill>
                  <a:srgbClr val="FFFFFF"/>
                </a:solidFill>
                <a:latin typeface="Consolas"/>
              </a:defRPr>
            </a:pPr>
            <a:r>
              <a:t>production/</a:t>
            </a:r>
          </a:p>
          <a:p>
            <a:pPr>
              <a:defRPr sz="1400">
                <a:solidFill>
                  <a:srgbClr val="FFFFFF"/>
                </a:solidFill>
                <a:latin typeface="Consolas"/>
              </a:defRPr>
            </a:pPr>
            <a:r>
              <a:t>deploy/</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Managed Settings</a:t>
            </a:r>
          </a:p>
          <a:p>
            <a:pPr algn="ctr">
              <a:spcBef>
                <a:spcPts val="800"/>
              </a:spcBef>
              <a:defRPr sz="1300">
                <a:solidFill>
                  <a:srgbClr val="8B95A5"/>
                </a:solidFill>
              </a:defRPr>
            </a:pPr>
            <a:r>
              <a:t>IT deploys policies that can't be overridden.</a:t>
            </a:r>
            <a:br/>
            <a:r>
              <a:t>Disable bypass mode.</a:t>
            </a:r>
            <a:br/>
            <a:r>
              <a:t>Restrict allowed MCP servers.</a:t>
            </a:r>
            <a:br/>
            <a: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algn="ctr">
              <a:defRPr sz="1800" b="1">
                <a:solidFill>
                  <a:srgbClr val="FFFFFF"/>
                </a:solidFill>
              </a:defRPr>
            </a:pPr>
            <a:r>
              <a:t>Audit Logging</a:t>
            </a:r>
          </a:p>
          <a:p>
            <a:pPr algn="ctr">
              <a:spcBef>
                <a:spcPts val="800"/>
              </a:spcBef>
              <a:defRPr sz="1300">
                <a:solidFill>
                  <a:srgbClr val="8B95A5"/>
                </a:solidFill>
              </a:defRPr>
            </a:pPr>
            <a:r>
              <a:t>Track all Claude Code activity.</a:t>
            </a:r>
            <a:br/>
            <a:r>
              <a:t>File changes, commands run, tools used.</a:t>
            </a:r>
            <a:br/>
            <a:r>
              <a:t>Export to SIEM (Splunk, Datadog).</a:t>
            </a:r>
            <a:br/>
            <a: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algn="ctr">
              <a:defRPr sz="1800" b="1">
                <a:solidFill>
                  <a:srgbClr val="FFFFFF"/>
                </a:solidFill>
              </a:defRPr>
            </a:pPr>
            <a:r>
              <a:t>Access Control</a:t>
            </a:r>
          </a:p>
          <a:p>
            <a:pPr algn="ctr">
              <a:spcBef>
                <a:spcPts val="800"/>
              </a:spcBef>
              <a:defRPr sz="1300">
                <a:solidFill>
                  <a:srgbClr val="8B95A5"/>
                </a:solidFill>
              </a:defRPr>
            </a:pPr>
            <a:r>
              <a:t>SSO/SAML + SCIM provisioning.</a:t>
            </a:r>
            <a:br/>
            <a:r>
              <a:t>Standard vs Premium seats.</a:t>
            </a:r>
            <a:br/>
            <a:r>
              <a:t>Per-user spending caps.</a:t>
            </a:r>
            <a:br/>
            <a:r>
              <a:t>Zero-Data-Retention option.</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Approve every single file read</a:t>
            </a:r>
          </a:p>
          <a:p>
            <a:pPr>
              <a:spcAft>
                <a:spcPts val="1200"/>
              </a:spcAft>
              <a:defRPr sz="1800">
                <a:solidFill>
                  <a:srgbClr val="FFFFFF"/>
                </a:solidFill>
              </a:defRPr>
            </a:pPr>
            <a:r>
              <a:t>  Confirm every npm command</a:t>
            </a:r>
          </a:p>
          <a:p>
            <a:pPr>
              <a:spcAft>
                <a:spcPts val="1200"/>
              </a:spcAft>
              <a:defRPr sz="1800">
                <a:solidFill>
                  <a:srgbClr val="FFFFFF"/>
                </a:solidFill>
              </a:defRPr>
            </a:pPr>
            <a:r>
              <a:t>  10 permission prompts per task</a:t>
            </a:r>
          </a:p>
          <a:p>
            <a:pPr>
              <a:spcAft>
                <a:spcPts val="1200"/>
              </a:spcAft>
              <a:defRPr sz="1800">
                <a:solidFill>
                  <a:srgbClr val="FFFFFF"/>
                </a:solidFill>
              </a:defRPr>
            </a:pPr>
            <a:r>
              <a:t>  Developers disable permissions entirely</a:t>
            </a:r>
          </a:p>
          <a:p>
            <a:pPr>
              <a:spcAft>
                <a:spcPts val="1200"/>
              </a:spcAft>
              <a:defRPr sz="1800">
                <a:solidFill>
                  <a:srgbClr val="FFFFFF"/>
                </a:solidFill>
              </a:defRPr>
            </a:pPr>
            <a: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Allow reads for all project files</a:t>
            </a:r>
          </a:p>
          <a:p>
            <a:pPr>
              <a:spcAft>
                <a:spcPts val="1200"/>
              </a:spcAft>
              <a:defRPr sz="1800">
                <a:solidFill>
                  <a:srgbClr val="FFFFFF"/>
                </a:solidFill>
              </a:defRPr>
            </a:pPr>
            <a:r>
              <a:t>  Allow npm test, npm run, git commands</a:t>
            </a:r>
          </a:p>
          <a:p>
            <a:pPr>
              <a:spcAft>
                <a:spcPts val="1200"/>
              </a:spcAft>
              <a:defRPr sz="1800">
                <a:solidFill>
                  <a:srgbClr val="FFFFFF"/>
                </a:solidFill>
              </a:defRPr>
            </a:pPr>
            <a:r>
              <a:t>  Deny rm -rf, sudo, curl, ssh</a:t>
            </a:r>
          </a:p>
          <a:p>
            <a:pPr>
              <a:spcAft>
                <a:spcPts val="1200"/>
              </a:spcAft>
              <a:defRPr sz="1800">
                <a:solidFill>
                  <a:srgbClr val="FFFFFF"/>
                </a:solidFill>
              </a:defRPr>
            </a:pPr>
            <a:r>
              <a:t>  2-3 prompts per task for real decisions</a:t>
            </a:r>
          </a:p>
          <a:p>
            <a:pPr>
              <a:spcAft>
                <a:spcPts val="1200"/>
              </a:spcAft>
              <a:defRPr sz="1800">
                <a:solidFill>
                  <a:srgbClr val="FFFFFF"/>
                </a:solidFill>
              </a:defRPr>
            </a:pPr>
            <a:r>
              <a:t>  Developers keep permissions enabled</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algn="ctr">
              <a:defRPr sz="2400">
                <a:solidFill>
                  <a:srgbClr val="8B95A5"/>
                </a:solidFill>
              </a:defRPr>
            </a:pPr>
            <a:r>
              <a:rPr dirty="0"/>
              <a:t>When uncertain, Claude Code asks first.</a:t>
            </a:r>
          </a:p>
          <a:p>
            <a:pPr>
              <a:defRPr sz="2400">
                <a:solidFill>
                  <a:srgbClr val="8B95A5"/>
                </a:solidFill>
              </a:defRPr>
            </a:pPr>
            <a:endParaRPr dirty="0"/>
          </a:p>
          <a:p>
            <a:pPr>
              <a:defRPr sz="2400">
                <a:solidFill>
                  <a:srgbClr val="8B95A5"/>
                </a:solidFill>
              </a:defRPr>
            </a:pPr>
            <a:r>
              <a:rPr dirty="0"/>
              <a:t>Safety &gt; Speed.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Secure Configuration</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Git Integration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Version Control</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Auto-Commit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Workflow</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'Commit this change with a descriptive message'</a:t>
            </a:r>
          </a:p>
          <a:p>
            <a:pPr>
              <a:spcAft>
                <a:spcPts val="1200"/>
              </a:spcAft>
              <a:defRPr sz="1800">
                <a:solidFill>
                  <a:srgbClr val="FFFFFF"/>
                </a:solidFill>
              </a:defRPr>
            </a:pPr>
            <a:r>
              <a:t>  Claude analyzes the diff</a:t>
            </a:r>
          </a:p>
          <a:p>
            <a:pPr>
              <a:spcAft>
                <a:spcPts val="1200"/>
              </a:spcAft>
              <a:defRPr sz="1800">
                <a:solidFill>
                  <a:srgbClr val="FFFFFF"/>
                </a:solidFill>
              </a:defRPr>
            </a:pPr>
            <a:r>
              <a:t>  Generates conventional commit message</a:t>
            </a:r>
          </a:p>
          <a:p>
            <a:pPr>
              <a:spcAft>
                <a:spcPts val="1200"/>
              </a:spcAft>
              <a:defRPr sz="1800">
                <a:solidFill>
                  <a:srgbClr val="FFFFFF"/>
                </a:solidFill>
              </a:defRPr>
            </a:pPr>
            <a:r>
              <a:t>  Stages appropriate files</a:t>
            </a:r>
          </a:p>
          <a:p>
            <a:pPr>
              <a:spcAft>
                <a:spcPts val="1200"/>
              </a:spcAft>
              <a:defRPr sz="1800">
                <a:solidFill>
                  <a:srgbClr val="FFFFFF"/>
                </a:solidFill>
              </a:defRPr>
            </a:pPr>
            <a:r>
              <a:t>  Creates the commit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Pro Tips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conventional commits' in CLAUDE.md</a:t>
            </a:r>
          </a:p>
          <a:p>
            <a:pPr>
              <a:spcAft>
                <a:spcPts val="1200"/>
              </a:spcAft>
              <a:defRPr sz="1800">
                <a:solidFill>
                  <a:srgbClr val="FFFFFF"/>
                </a:solidFill>
              </a:defRPr>
            </a:pPr>
            <a:r>
              <a:t>  Claude follows: feat:, fix:, docs:, refactor:</a:t>
            </a:r>
          </a:p>
          <a:p>
            <a:pPr>
              <a:spcAft>
                <a:spcPts val="1200"/>
              </a:spcAft>
              <a:defRPr sz="1800">
                <a:solidFill>
                  <a:srgbClr val="FFFFFF"/>
                </a:solidFill>
              </a:defRPr>
            </a:pPr>
            <a:r>
              <a:t>  Multi-file changes get grouped logically</a:t>
            </a:r>
          </a:p>
          <a:p>
            <a:pPr>
              <a:spcAft>
                <a:spcPts val="1200"/>
              </a:spcAft>
              <a:defRPr sz="1800">
                <a:solidFill>
                  <a:srgbClr val="FFFFFF"/>
                </a:solidFill>
              </a:defRPr>
            </a:pPr>
            <a:r>
              <a:t>  Add '--no-verify' for speed (skip hooks)</a:t>
            </a:r>
          </a:p>
          <a:p>
            <a:pPr>
              <a:spcAft>
                <a:spcPts val="1200"/>
              </a:spcAft>
              <a:defRPr sz="1800">
                <a:solidFill>
                  <a:srgbClr val="FFFFFF"/>
                </a:solidFill>
              </a:defRPr>
            </a:pPr>
            <a:r>
              <a:t>  Always review: git log --oneline after</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Branch Creation &amp; Management</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Branch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feature branch for user-auth'</a:t>
            </a:r>
          </a:p>
          <a:p>
            <a:pPr>
              <a:spcAft>
                <a:spcPts val="1200"/>
              </a:spcAft>
              <a:defRPr sz="1800">
                <a:solidFill>
                  <a:srgbClr val="FFFFFF"/>
                </a:solidFill>
              </a:defRPr>
            </a:pPr>
            <a:r>
              <a:t>  'Switch to the api-refactor branch'</a:t>
            </a:r>
          </a:p>
          <a:p>
            <a:pPr>
              <a:spcAft>
                <a:spcPts val="1200"/>
              </a:spcAft>
              <a:defRPr sz="1800">
                <a:solidFill>
                  <a:srgbClr val="FFFFFF"/>
                </a:solidFill>
              </a:defRPr>
            </a:pPr>
            <a:r>
              <a:t>  'Show me all branches and their status'</a:t>
            </a:r>
          </a:p>
          <a:p>
            <a:pPr>
              <a:spcAft>
                <a:spcPts val="1200"/>
              </a:spcAft>
              <a:defRPr sz="1800">
                <a:solidFill>
                  <a:srgbClr val="FFFFFF"/>
                </a:solidFill>
              </a:defRPr>
            </a:pPr>
            <a:r>
              <a:t>  'Merge feature-auth into main'</a:t>
            </a:r>
          </a:p>
          <a:p>
            <a:pPr>
              <a:spcAft>
                <a:spcPts val="1200"/>
              </a:spcAft>
              <a:defRPr sz="1800">
                <a:solidFill>
                  <a:srgbClr val="FFFFFF"/>
                </a:solidFill>
              </a:defRPr>
            </a:pPr>
            <a:r>
              <a:t>  'Rebase my branch on latest main'</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Practices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One feature per branch</a:t>
            </a:r>
          </a:p>
          <a:p>
            <a:pPr>
              <a:spcAft>
                <a:spcPts val="1200"/>
              </a:spcAft>
              <a:defRPr sz="1800">
                <a:solidFill>
                  <a:srgbClr val="FFFFFF"/>
                </a:solidFill>
              </a:defRPr>
            </a:pPr>
            <a:r>
              <a:t>  Branch naming in CLAUDE.md (feature/, fix/, docs/)</a:t>
            </a:r>
          </a:p>
          <a:p>
            <a:pPr>
              <a:spcAft>
                <a:spcPts val="1200"/>
              </a:spcAft>
              <a:defRPr sz="1800">
                <a:solidFill>
                  <a:srgbClr val="FFFFFF"/>
                </a:solidFill>
              </a:defRPr>
            </a:pPr>
            <a:r>
              <a:t>  Claude creates branches matching your conventions</a:t>
            </a:r>
          </a:p>
          <a:p>
            <a:pPr>
              <a:spcAft>
                <a:spcPts val="1200"/>
              </a:spcAft>
              <a:defRPr sz="1800">
                <a:solidFill>
                  <a:srgbClr val="FFFFFF"/>
                </a:solidFill>
              </a:defRPr>
            </a:pPr>
            <a:r>
              <a:t>  Commit frequently on feature branches</a:t>
            </a:r>
          </a:p>
          <a:p>
            <a:pPr>
              <a:spcAft>
                <a:spcPts val="1200"/>
              </a:spcAft>
              <a:defRPr sz="1800">
                <a:solidFill>
                  <a:srgbClr val="FFFFFF"/>
                </a:solidFill>
              </a:defRPr>
            </a:pPr>
            <a:r>
              <a:t>  Merge via PR — not direct merge to main</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Generating Commit Messages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TEXT</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Examples</a:t>
            </a:r>
          </a:p>
          <a:p>
            <a:pPr>
              <a:defRPr sz="1400">
                <a:solidFill>
                  <a:srgbClr val="FFFFFF"/>
                </a:solidFill>
                <a:latin typeface="Consolas"/>
              </a:defRPr>
            </a:pPr>
            <a:endParaRPr/>
          </a:p>
          <a:p>
            <a:pPr>
              <a:defRPr sz="1400">
                <a:solidFill>
                  <a:srgbClr val="FFFFFF"/>
                </a:solidFill>
                <a:latin typeface="Consolas"/>
              </a:defRPr>
            </a:pPr>
            <a:r>
              <a:t>feat(auth): add JWT authentication</a:t>
            </a:r>
          </a:p>
          <a:p>
            <a:pPr>
              <a:defRPr sz="1400">
                <a:solidFill>
                  <a:srgbClr val="FFFFFF"/>
                </a:solidFill>
                <a:latin typeface="Consolas"/>
              </a:defRPr>
            </a:pPr>
            <a:r>
              <a:t>- Implement token generation</a:t>
            </a:r>
          </a:p>
          <a:p>
            <a:pPr>
              <a:defRPr sz="1400">
                <a:solidFill>
                  <a:srgbClr val="FFFFFF"/>
                </a:solidFill>
                <a:latin typeface="Consolas"/>
              </a:defRPr>
            </a:pPr>
            <a:r>
              <a:t>- Add middleware</a:t>
            </a:r>
          </a:p>
          <a:p>
            <a:pPr>
              <a:defRPr sz="1400">
                <a:solidFill>
                  <a:srgbClr val="FFFFFF"/>
                </a:solidFill>
                <a:latin typeface="Consolas"/>
              </a:defRPr>
            </a:pPr>
            <a:endParaRPr/>
          </a:p>
          <a:p>
            <a:pPr>
              <a:defRPr sz="1400">
                <a:solidFill>
                  <a:srgbClr val="FFFFFF"/>
                </a:solidFill>
                <a:latin typeface="Consolas"/>
              </a:defRPr>
            </a:pPr>
            <a:r>
              <a:t>fix(payments): resolve duplicate charges</a:t>
            </a:r>
          </a:p>
          <a:p>
            <a:pPr>
              <a:defRPr sz="1400">
                <a:solidFill>
                  <a:srgbClr val="FFFFFF"/>
                </a:solidFill>
                <a:latin typeface="Consolas"/>
              </a:defRPr>
            </a:pPr>
            <a:r>
              <a:t>- Check existing transaction</a:t>
            </a:r>
          </a:p>
          <a:p>
            <a:pPr>
              <a:defRPr sz="1400">
                <a:solidFill>
                  <a:srgbClr val="FFFFFF"/>
                </a:solidFill>
                <a:latin typeface="Consolas"/>
              </a:defRPr>
            </a:pPr>
            <a:r>
              <a:t>- Add idempotency key</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Pull Request Creation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The Prompt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 a PR for this feature branch'</a:t>
            </a:r>
          </a:p>
          <a:p>
            <a:pPr>
              <a:spcAft>
                <a:spcPts val="1200"/>
              </a:spcAft>
              <a:defRPr sz="1800">
                <a:solidFill>
                  <a:srgbClr val="FFFFFF"/>
                </a:solidFill>
              </a:defRPr>
            </a:pPr>
            <a:r>
              <a:t>  Claude generates: title, description, change summary</a:t>
            </a:r>
          </a:p>
          <a:p>
            <a:pPr>
              <a:spcAft>
                <a:spcPts val="1200"/>
              </a:spcAft>
              <a:defRPr sz="1800">
                <a:solidFill>
                  <a:srgbClr val="FFFFFF"/>
                </a:solidFill>
              </a:defRPr>
            </a:pPr>
            <a:r>
              <a:t>  Links related issues automatically</a:t>
            </a:r>
          </a:p>
          <a:p>
            <a:pPr>
              <a:spcAft>
                <a:spcPts val="1200"/>
              </a:spcAft>
              <a:defRPr sz="1800">
                <a:solidFill>
                  <a:srgbClr val="FFFFFF"/>
                </a:solidFill>
              </a:defRPr>
            </a:pPr>
            <a:r>
              <a:t>  Lists files changed with explanations</a:t>
            </a:r>
          </a:p>
          <a:p>
            <a:pPr>
              <a:spcAft>
                <a:spcPts val="1200"/>
              </a:spcAft>
              <a:defRPr sz="1800">
                <a:solidFill>
                  <a:srgbClr val="FFFFFF"/>
                </a:solidFill>
              </a:defRPr>
            </a:pPr>
            <a:r>
              <a:t>  Adds testing notes and reviewer guidance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Quality PRs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Describe the why, not just the what</a:t>
            </a:r>
          </a:p>
          <a:p>
            <a:pPr>
              <a:spcAft>
                <a:spcPts val="1200"/>
              </a:spcAft>
              <a:defRPr sz="1800">
                <a:solidFill>
                  <a:srgbClr val="FFFFFF"/>
                </a:solidFill>
              </a:defRPr>
            </a:pPr>
            <a:r>
              <a:t>  'Include screenshots for UI changes'</a:t>
            </a:r>
          </a:p>
          <a:p>
            <a:pPr>
              <a:spcAft>
                <a:spcPts val="1200"/>
              </a:spcAft>
              <a:defRPr sz="1800">
                <a:solidFill>
                  <a:srgbClr val="FFFFFF"/>
                </a:solidFill>
              </a:defRPr>
            </a:pPr>
            <a:r>
              <a:t>  Claude adds conventional PR labels</a:t>
            </a:r>
          </a:p>
          <a:p>
            <a:pPr>
              <a:spcAft>
                <a:spcPts val="1200"/>
              </a:spcAft>
              <a:defRPr sz="1800">
                <a:solidFill>
                  <a:srgbClr val="FFFFFF"/>
                </a:solidFill>
              </a:defRPr>
            </a:pPr>
            <a:r>
              <a:t>  Reference ticket numbers from commit messages</a:t>
            </a:r>
          </a:p>
          <a:p>
            <a:pPr>
              <a:spcAft>
                <a:spcPts val="1200"/>
              </a:spcAft>
              <a:defRPr sz="1800">
                <a:solidFill>
                  <a:srgbClr val="FFFFFF"/>
                </a:solidFill>
              </a:defRPr>
            </a:pPr>
            <a:r>
              <a:t>  Review the PR description before submitting</a:t>
            </a:r>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 History Analysis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History Commands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'What changed in the last 5 commits?'</a:t>
            </a:r>
          </a:p>
          <a:p>
            <a:pPr>
              <a:spcAft>
                <a:spcPts val="1200"/>
              </a:spcAft>
              <a:defRPr sz="1800">
                <a:solidFill>
                  <a:srgbClr val="FFFFFF"/>
                </a:solidFill>
              </a:defRPr>
            </a:pPr>
            <a:r>
              <a:t>  'Who last modified auth.ts and why?'</a:t>
            </a:r>
          </a:p>
          <a:p>
            <a:pPr>
              <a:spcAft>
                <a:spcPts val="1200"/>
              </a:spcAft>
              <a:defRPr sz="1800">
                <a:solidFill>
                  <a:srgbClr val="FFFFFF"/>
                </a:solidFill>
              </a:defRPr>
            </a:pPr>
            <a:r>
              <a:t>  'Show me the diff between v2.0 and main'</a:t>
            </a:r>
          </a:p>
          <a:p>
            <a:pPr>
              <a:spcAft>
                <a:spcPts val="1200"/>
              </a:spcAft>
              <a:defRPr sz="1800">
                <a:solidFill>
                  <a:srgbClr val="FFFFFF"/>
                </a:solidFill>
              </a:defRPr>
            </a:pPr>
            <a:r>
              <a:t>  'Find when the login bug was introduced'</a:t>
            </a:r>
          </a:p>
          <a:p>
            <a:pPr>
              <a:spcAft>
                <a:spcPts val="1200"/>
              </a:spcAft>
              <a:defRPr sz="1800">
                <a:solidFill>
                  <a:srgbClr val="FFFFFF"/>
                </a:solidFill>
              </a:defRPr>
            </a:pPr>
            <a:r>
              <a:t>  'Summarize this week's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Use Cases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Code review: understand context of changes</a:t>
            </a:r>
          </a:p>
          <a:p>
            <a:pPr>
              <a:spcAft>
                <a:spcPts val="1200"/>
              </a:spcAft>
              <a:defRPr sz="1800">
                <a:solidFill>
                  <a:srgbClr val="FFFFFF"/>
                </a:solidFill>
              </a:defRPr>
            </a:pPr>
            <a:r>
              <a:t>  Debugging: find when a regression started</a:t>
            </a:r>
          </a:p>
          <a:p>
            <a:pPr>
              <a:spcAft>
                <a:spcPts val="1200"/>
              </a:spcAft>
              <a:defRPr sz="1800">
                <a:solidFill>
                  <a:srgbClr val="FFFFFF"/>
                </a:solidFill>
              </a:defRPr>
            </a:pPr>
            <a:r>
              <a:t>  Onboarding: catch up on recent work</a:t>
            </a:r>
          </a:p>
          <a:p>
            <a:pPr>
              <a:spcAft>
                <a:spcPts val="1200"/>
              </a:spcAft>
              <a:defRPr sz="1800">
                <a:solidFill>
                  <a:srgbClr val="FFFFFF"/>
                </a:solidFill>
              </a:defRPr>
            </a:pPr>
            <a:r>
              <a:t>  Release notes: summarize changes since last tag</a:t>
            </a:r>
          </a:p>
          <a:p>
            <a:pPr>
              <a:spcAft>
                <a:spcPts val="1200"/>
              </a:spcAft>
              <a:defRPr sz="1800">
                <a:solidFill>
                  <a:srgbClr val="FFFFFF"/>
                </a:solidFill>
              </a:defRPr>
            </a:pPr>
            <a:r>
              <a:t>  Blame analysis: understand design decisions</a:t>
            </a:r>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GitHub vs GitLab Integration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GitHub</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GitHub Actions integration built-in</a:t>
            </a:r>
          </a:p>
          <a:p>
            <a:pPr>
              <a:spcAft>
                <a:spcPts val="1200"/>
              </a:spcAft>
              <a:defRPr sz="1800">
                <a:solidFill>
                  <a:srgbClr val="FFFFFF"/>
                </a:solidFill>
              </a:defRPr>
            </a:pPr>
            <a:r>
              <a:t>  PR auto-review via Claude Code Action</a:t>
            </a:r>
          </a:p>
          <a:p>
            <a:pPr>
              <a:spcAft>
                <a:spcPts val="1200"/>
              </a:spcAft>
              <a:defRPr sz="1800">
                <a:solidFill>
                  <a:srgbClr val="FFFFFF"/>
                </a:solidFill>
              </a:defRPr>
            </a:pPr>
            <a:r>
              <a:t>  Issue linking in commit messages</a:t>
            </a:r>
          </a:p>
          <a:p>
            <a:pPr>
              <a:spcAft>
                <a:spcPts val="1200"/>
              </a:spcAft>
              <a:defRPr sz="1800">
                <a:solidFill>
                  <a:srgbClr val="FFFFFF"/>
                </a:solidFill>
              </a:defRPr>
            </a:pPr>
            <a:r>
              <a:t>  Copilot + Claude Code coexistence</a:t>
            </a:r>
          </a:p>
          <a:p>
            <a:pPr>
              <a:spcAft>
                <a:spcPts val="1200"/>
              </a:spcAft>
              <a:defRPr sz="1800">
                <a:solidFill>
                  <a:srgbClr val="FFFFFF"/>
                </a:solidFill>
              </a:defRPr>
            </a:pPr>
            <a:r>
              <a:t>  gh CLI commands accessible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GitLab</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GitLab CI/CD pipeline support</a:t>
            </a:r>
          </a:p>
          <a:p>
            <a:pPr>
              <a:spcAft>
                <a:spcPts val="1200"/>
              </a:spcAft>
              <a:defRPr sz="1800">
                <a:solidFill>
                  <a:srgbClr val="FFFFFF"/>
                </a:solidFill>
              </a:defRPr>
            </a:pPr>
            <a:r>
              <a:t>  Merge Request creation and description</a:t>
            </a:r>
          </a:p>
          <a:p>
            <a:pPr>
              <a:spcAft>
                <a:spcPts val="1200"/>
              </a:spcAft>
              <a:defRPr sz="1800">
                <a:solidFill>
                  <a:srgbClr val="FFFFFF"/>
                </a:solidFill>
              </a:defRPr>
            </a:pPr>
            <a:r>
              <a:t>  Issue board integration</a:t>
            </a:r>
          </a:p>
          <a:p>
            <a:pPr>
              <a:spcAft>
                <a:spcPts val="1200"/>
              </a:spcAft>
              <a:defRPr sz="1800">
                <a:solidFill>
                  <a:srgbClr val="FFFFFF"/>
                </a:solidFill>
              </a:defRPr>
            </a:pPr>
            <a:r>
              <a:t>  Self-hosted GitLab compatible</a:t>
            </a:r>
          </a:p>
          <a:p>
            <a:pPr>
              <a:spcAft>
                <a:spcPts val="1200"/>
              </a:spcAft>
              <a:defRPr sz="1800">
                <a:solidFill>
                  <a:srgbClr val="FFFFFF"/>
                </a:solidFill>
              </a:defRPr>
            </a:pPr>
            <a:r>
              <a:t>  glab CLI commands accessible</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Complete Git Workflow</a:t>
            </a: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Reading, writing, searching, refactoring — the daily toolkit</a:t>
            </a:r>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The verification loop: write code → write tests → run tests → if fail, Claude fixes → run again.</a:t>
            </a:r>
          </a:p>
          <a:p>
            <a:pPr>
              <a:spcBef>
                <a:spcPts val="800"/>
              </a:spcBef>
              <a:spcAft>
                <a:spcPts val="800"/>
              </a:spcAft>
              <a:defRPr sz="2200">
                <a:solidFill>
                  <a:srgbClr val="FFFFFF"/>
                </a:solidFill>
              </a:defRPr>
            </a:pPr>
            <a:r>
              <a:t>  Key insight: Claude is confident even when wrong.</a:t>
            </a:r>
          </a:p>
          <a:p>
            <a:pPr>
              <a:spcBef>
                <a:spcPts val="800"/>
              </a:spcBef>
              <a:spcAft>
                <a:spcPts val="800"/>
              </a:spcAft>
              <a:defRPr sz="2200">
                <a:solidFill>
                  <a:srgbClr val="FFFFFF"/>
                </a:solidFill>
              </a:defRPr>
            </a:pPr>
            <a:r>
              <a:t>  Almost right is worse than clearly wrong — almost right passes tests, ships to production, breaks at 3 AM.</a:t>
            </a:r>
          </a:p>
          <a:p>
            <a:pPr>
              <a:spcBef>
                <a:spcPts val="800"/>
              </a:spcBef>
              <a:spcAft>
                <a:spcPts val="800"/>
              </a:spcAft>
              <a:defRPr sz="2200">
                <a:solidFill>
                  <a:srgbClr val="FFFFFF"/>
                </a:solidFill>
              </a:defRPr>
            </a:pPr>
            <a:r>
              <a:t>  Ties to Principle #4: Build trust mechanisms, not just capabilities.</a:t>
            </a:r>
          </a:p>
          <a:p>
            <a:pPr>
              <a:spcBef>
                <a:spcPts val="800"/>
              </a:spcBef>
              <a:spcAft>
                <a:spcPts val="800"/>
              </a:spcAft>
              <a:defRPr sz="2200">
                <a:solidFill>
                  <a:srgbClr val="FFFFFF"/>
                </a:solidFill>
              </a:defRPr>
            </a:pPr>
            <a:r>
              <a:t>  Always run existing tests after changes — regressions are the silent killer.</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SQL &amp; Data Analysis with Claude Code</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AI-Powered Database Development</a:t>
            </a: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SQL Query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Plain English → SQL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'Show me all active users who signed up this month'</a:t>
            </a:r>
          </a:p>
          <a:p>
            <a:pPr>
              <a:spcAft>
                <a:spcPts val="1200"/>
              </a:spcAft>
              <a:defRPr sz="1800">
                <a:solidFill>
                  <a:srgbClr val="FFFFFF"/>
                </a:solidFill>
              </a:defRPr>
            </a:pPr>
            <a:r>
              <a:t>  'Revenue by product category, last 90 days'</a:t>
            </a:r>
          </a:p>
          <a:p>
            <a:pPr>
              <a:spcAft>
                <a:spcPts val="1200"/>
              </a:spcAft>
              <a:defRPr sz="1800">
                <a:solidFill>
                  <a:srgbClr val="FFFFFF"/>
                </a:solidFill>
              </a:defRPr>
            </a:pPr>
            <a:r>
              <a:t>  'Find customers with no orders in 6 months'</a:t>
            </a:r>
          </a:p>
          <a:p>
            <a:pPr>
              <a:spcAft>
                <a:spcPts val="1200"/>
              </a:spcAft>
              <a:defRPr sz="1800">
                <a:solidFill>
                  <a:srgbClr val="FFFFFF"/>
                </a:solidFill>
              </a:defRPr>
            </a:pPr>
            <a:r>
              <a:t>  Claude writes, explains, and validates the query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Advanced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Window functions and CTEs</a:t>
            </a:r>
          </a:p>
          <a:p>
            <a:pPr>
              <a:spcAft>
                <a:spcPts val="1200"/>
              </a:spcAft>
              <a:defRPr sz="1800">
                <a:solidFill>
                  <a:srgbClr val="FFFFFF"/>
                </a:solidFill>
              </a:defRPr>
            </a:pPr>
            <a:r>
              <a:t>  Query optimization suggestions</a:t>
            </a:r>
          </a:p>
          <a:p>
            <a:pPr>
              <a:spcAft>
                <a:spcPts val="1200"/>
              </a:spcAft>
              <a:defRPr sz="1800">
                <a:solidFill>
                  <a:srgbClr val="FFFFFF"/>
                </a:solidFill>
              </a:defRPr>
            </a:pPr>
            <a:r>
              <a:t>  Index recommendations based on query patterns</a:t>
            </a:r>
          </a:p>
          <a:p>
            <a:pPr>
              <a:spcAft>
                <a:spcPts val="1200"/>
              </a:spcAft>
              <a:defRPr sz="1800">
                <a:solidFill>
                  <a:srgbClr val="FFFFFF"/>
                </a:solidFill>
              </a:defRPr>
            </a:pPr>
            <a:r>
              <a:t>  Migration scripts from one schema to another</a:t>
            </a:r>
          </a:p>
          <a:p>
            <a:pPr>
              <a:spcAft>
                <a:spcPts val="1200"/>
              </a:spcAft>
              <a:defRPr sz="1800">
                <a:solidFill>
                  <a:srgbClr val="FFFFFF"/>
                </a:solidFill>
              </a:defRPr>
            </a:pPr>
            <a:r>
              <a:t>  Parameterized queries (never string concatenation)</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Generation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Prompt: "Find the top 5 customers by total order value in the</a:t>
            </a:r>
          </a:p>
          <a:p>
            <a:pPr>
              <a:defRPr sz="1400">
                <a:solidFill>
                  <a:srgbClr val="FFFFFF"/>
                </a:solidFill>
                <a:latin typeface="Consolas"/>
              </a:defRPr>
            </a:pPr>
            <a:r>
              <a:t>-- last 90 days, including their most recent order date"</a:t>
            </a:r>
          </a:p>
          <a:p>
            <a:pPr>
              <a:defRPr sz="1400">
                <a:solidFill>
                  <a:srgbClr val="FFFFFF"/>
                </a:solidFill>
                <a:latin typeface="Consolas"/>
              </a:defRPr>
            </a:pPr>
            <a:endParaRPr/>
          </a:p>
          <a:p>
            <a:pPr>
              <a:defRPr sz="1400">
                <a:solidFill>
                  <a:srgbClr val="FFFFFF"/>
                </a:solidFill>
                <a:latin typeface="Consolas"/>
              </a:defRPr>
            </a:pPr>
            <a:r>
              <a:t>WITH customer_orders AS (</a:t>
            </a:r>
          </a:p>
          <a:p>
            <a:pPr>
              <a:defRPr sz="1400">
                <a:solidFill>
                  <a:srgbClr val="FFFFFF"/>
                </a:solidFill>
                <a:latin typeface="Consolas"/>
              </a:defRPr>
            </a:pPr>
            <a:r>
              <a:t>  SELECT </a:t>
            </a:r>
          </a:p>
          <a:p>
            <a:pPr>
              <a:defRPr sz="1400">
                <a:solidFill>
                  <a:srgbClr val="FFFFFF"/>
                </a:solidFill>
                <a:latin typeface="Consolas"/>
              </a:defRPr>
            </a:pPr>
            <a:r>
              <a:t>    c.customer_id,</a:t>
            </a:r>
          </a:p>
          <a:p>
            <a:pPr>
              <a:defRPr sz="1400">
                <a:solidFill>
                  <a:srgbClr val="FFFFFF"/>
                </a:solidFill>
                <a:latin typeface="Consolas"/>
              </a:defRPr>
            </a:pPr>
            <a:r>
              <a:t>    c.first_name,</a:t>
            </a:r>
          </a:p>
          <a:p>
            <a:pPr>
              <a:defRPr sz="1400">
                <a:solidFill>
                  <a:srgbClr val="FFFFFF"/>
                </a:solidFill>
                <a:latin typeface="Consolas"/>
              </a:defRPr>
            </a:pPr>
            <a:r>
              <a:t>    c.last_name,</a:t>
            </a:r>
          </a:p>
          <a:p>
            <a:pPr>
              <a:defRPr sz="1400">
                <a:solidFill>
                  <a:srgbClr val="FFFFFF"/>
                </a:solidFill>
                <a:latin typeface="Consolas"/>
              </a:defRPr>
            </a:pPr>
            <a:r>
              <a:t>    c.email,</a:t>
            </a:r>
          </a:p>
          <a:p>
            <a:pPr>
              <a:defRPr sz="1400">
                <a:solidFill>
                  <a:srgbClr val="FFFFFF"/>
                </a:solidFill>
                <a:latin typeface="Consolas"/>
              </a:defRPr>
            </a:pPr>
            <a:r>
              <a:t>    SUM(oi.quantity * oi.unit_price) AS total_value,</a:t>
            </a:r>
          </a:p>
          <a:p>
            <a:pPr>
              <a:defRPr sz="1400">
                <a:solidFill>
                  <a:srgbClr val="FFFFFF"/>
                </a:solidFill>
                <a:latin typeface="Consolas"/>
              </a:defRPr>
            </a:pPr>
            <a:r>
              <a:t>    MAX(o.order_date) AS latest_order_date,</a:t>
            </a:r>
          </a:p>
          <a:p>
            <a:pPr>
              <a:defRPr sz="1400">
                <a:solidFill>
                  <a:srgbClr val="FFFFFF"/>
                </a:solidFill>
                <a:latin typeface="Consolas"/>
              </a:defRPr>
            </a:pPr>
            <a:r>
              <a:t>    COUNT(DISTINCT o.order_id) AS order_count</a:t>
            </a:r>
          </a:p>
          <a:p>
            <a:pPr>
              <a:defRPr sz="1400">
                <a:solidFill>
                  <a:srgbClr val="FFFFFF"/>
                </a:solidFill>
                <a:latin typeface="Consolas"/>
              </a:defRPr>
            </a:pPr>
            <a:r>
              <a:t>  FROM customers c</a:t>
            </a:r>
          </a:p>
          <a:p>
            <a:pPr>
              <a:defRPr sz="1400">
                <a:solidFill>
                  <a:srgbClr val="FFFFFF"/>
                </a:solidFill>
                <a:latin typeface="Consolas"/>
              </a:defRPr>
            </a:pPr>
            <a:r>
              <a:t>  JOIN orders o ON c.customer_id = o.customer_id</a:t>
            </a:r>
          </a:p>
          <a:p>
            <a:pPr>
              <a:defRPr sz="1400">
                <a:solidFill>
                  <a:srgbClr val="FFFFFF"/>
                </a:solidFill>
                <a:latin typeface="Consolas"/>
              </a:defRPr>
            </a:pPr>
            <a:r>
              <a:t>  JOIN order_items oi ON o.order_id = oi.order_id</a:t>
            </a: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Schema Design &amp; Normalization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Design</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'Design a schema for an e-commerce app'</a:t>
            </a:r>
          </a:p>
          <a:p>
            <a:pPr>
              <a:spcAft>
                <a:spcPts val="1200"/>
              </a:spcAft>
              <a:defRPr sz="1800">
                <a:solidFill>
                  <a:srgbClr val="FFFFFF"/>
                </a:solidFill>
              </a:defRPr>
            </a:pPr>
            <a:r>
              <a:t>  Claude generates tables, relationships, indexes</a:t>
            </a:r>
          </a:p>
          <a:p>
            <a:pPr>
              <a:spcAft>
                <a:spcPts val="1200"/>
              </a:spcAft>
              <a:defRPr sz="1800">
                <a:solidFill>
                  <a:srgbClr val="FFFFFF"/>
                </a:solidFill>
              </a:defRPr>
            </a:pPr>
            <a:r>
              <a:t>  Normalized by default (3NF)</a:t>
            </a:r>
          </a:p>
          <a:p>
            <a:pPr>
              <a:spcAft>
                <a:spcPts val="1200"/>
              </a:spcAft>
              <a:defRPr sz="1800">
                <a:solidFill>
                  <a:srgbClr val="FFFFFF"/>
                </a:solidFill>
              </a:defRPr>
            </a:pPr>
            <a:r>
              <a:t>  Includes foreign keys and constraints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Optimize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'This query is slow — suggest indexes'</a:t>
            </a:r>
          </a:p>
          <a:p>
            <a:pPr>
              <a:spcAft>
                <a:spcPts val="1200"/>
              </a:spcAft>
              <a:defRPr sz="1800">
                <a:solidFill>
                  <a:srgbClr val="FFFFFF"/>
                </a:solidFill>
              </a:defRPr>
            </a:pPr>
            <a:r>
              <a:t>  Denormalization for read-heavy workloads</a:t>
            </a:r>
          </a:p>
          <a:p>
            <a:pPr>
              <a:spcAft>
                <a:spcPts val="1200"/>
              </a:spcAft>
              <a:defRPr sz="1800">
                <a:solidFill>
                  <a:srgbClr val="FFFFFF"/>
                </a:solidFill>
              </a:defRPr>
            </a:pPr>
            <a:r>
              <a:t>  Partitioning strategies for large tables</a:t>
            </a:r>
          </a:p>
          <a:p>
            <a:pPr>
              <a:spcAft>
                <a:spcPts val="1200"/>
              </a:spcAft>
              <a:defRPr sz="1800">
                <a:solidFill>
                  <a:srgbClr val="FFFFFF"/>
                </a:solidFill>
              </a:defRPr>
            </a:pPr>
            <a:r>
              <a:t>  Migration scripts for schema changes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Query Optimization Example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SQL</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(slow query)</a:t>
            </a:r>
          </a:p>
          <a:p>
            <a:pPr>
              <a:defRPr sz="1400">
                <a:solidFill>
                  <a:srgbClr val="FFFFFF"/>
                </a:solidFill>
                <a:latin typeface="Consolas"/>
              </a:defRPr>
            </a:pPr>
            <a:r>
              <a:t>SELECT * FROM orders o</a:t>
            </a:r>
          </a:p>
          <a:p>
            <a:pPr>
              <a:defRPr sz="1400">
                <a:solidFill>
                  <a:srgbClr val="FFFFFF"/>
                </a:solidFill>
                <a:latin typeface="Consolas"/>
              </a:defRPr>
            </a:pPr>
            <a:r>
              <a:t>WHERE o.customer_id IN (</a:t>
            </a:r>
          </a:p>
          <a:p>
            <a:pPr>
              <a:defRPr sz="1400">
                <a:solidFill>
                  <a:srgbClr val="FFFFFF"/>
                </a:solidFill>
                <a:latin typeface="Consolas"/>
              </a:defRPr>
            </a:pPr>
            <a:r>
              <a:t>  SELECT customer_id FROM customers WHERE country = 'USA'</a:t>
            </a:r>
          </a:p>
          <a:p>
            <a:pPr>
              <a:defRPr sz="1400">
                <a:solidFill>
                  <a:srgbClr val="FFFFFF"/>
                </a:solidFill>
                <a:latin typeface="Consolas"/>
              </a:defRPr>
            </a:pPr>
            <a:r>
              <a:t>)</a:t>
            </a:r>
          </a:p>
          <a:p>
            <a:pPr>
              <a:defRPr sz="1400">
                <a:solidFill>
                  <a:srgbClr val="FFFFFF"/>
                </a:solidFill>
                <a:latin typeface="Consolas"/>
              </a:defRPr>
            </a:pPr>
            <a:r>
              <a:t>AND o.order_date &gt;= '2025-01-01';</a:t>
            </a:r>
          </a:p>
          <a:p>
            <a:pPr>
              <a:defRPr sz="1400">
                <a:solidFill>
                  <a:srgbClr val="FFFFFF"/>
                </a:solidFill>
                <a:latin typeface="Consolas"/>
              </a:defRPr>
            </a:pPr>
            <a:endParaRPr/>
          </a:p>
          <a:p>
            <a:pPr>
              <a:defRPr sz="1400">
                <a:solidFill>
                  <a:srgbClr val="FFFFFF"/>
                </a:solidFill>
                <a:latin typeface="Consolas"/>
              </a:defRPr>
            </a:pPr>
            <a:r>
              <a:t>-- AFTER (optimized by Claude Code)</a:t>
            </a:r>
          </a:p>
          <a:p>
            <a:pPr>
              <a:defRPr sz="1400">
                <a:solidFill>
                  <a:srgbClr val="FFFFFF"/>
                </a:solidFill>
                <a:latin typeface="Consolas"/>
              </a:defRPr>
            </a:pPr>
            <a:r>
              <a:t>SELECT </a:t>
            </a:r>
          </a:p>
          <a:p>
            <a:pPr>
              <a:defRPr sz="1400">
                <a:solidFill>
                  <a:srgbClr val="FFFFFF"/>
                </a:solidFill>
                <a:latin typeface="Consolas"/>
              </a:defRPr>
            </a:pPr>
            <a:r>
              <a:t>  o.order_id,</a:t>
            </a:r>
          </a:p>
          <a:p>
            <a:pPr>
              <a:defRPr sz="1400">
                <a:solidFill>
                  <a:srgbClr val="FFFFFF"/>
                </a:solidFill>
                <a:latin typeface="Consolas"/>
              </a:defRPr>
            </a:pPr>
            <a:r>
              <a:t>  o.customer_id,</a:t>
            </a:r>
          </a:p>
          <a:p>
            <a:pPr>
              <a:defRPr sz="1400">
                <a:solidFill>
                  <a:srgbClr val="FFFFFF"/>
                </a:solidFill>
                <a:latin typeface="Consolas"/>
              </a:defRPr>
            </a:pPr>
            <a:r>
              <a:t>  o.order_date,</a:t>
            </a:r>
          </a:p>
          <a:p>
            <a:pPr>
              <a:defRPr sz="1400">
                <a:solidFill>
                  <a:srgbClr val="FFFFFF"/>
                </a:solidFill>
                <a:latin typeface="Consolas"/>
              </a:defRPr>
            </a:pPr>
            <a:r>
              <a:t>  o.total_amount</a:t>
            </a:r>
          </a:p>
          <a:p>
            <a:pPr>
              <a:defRPr sz="1400">
                <a:solidFill>
                  <a:srgbClr val="FFFFFF"/>
                </a:solidFill>
                <a:latin typeface="Consolas"/>
              </a:defRPr>
            </a:pPr>
            <a:r>
              <a:t>FROM orders o</a:t>
            </a:r>
          </a:p>
          <a:p>
            <a:pPr>
              <a:defRPr sz="1400">
                <a:solidFill>
                  <a:srgbClr val="FFFFFF"/>
                </a:solidFill>
                <a:latin typeface="Consolas"/>
              </a:defRPr>
            </a:pPr>
            <a:r>
              <a:t>JOIN customers c ON o.customer_id = c.customer_id</a:t>
            </a: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ETL &amp; Data Transformation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Extract &amp; Transform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CSV/JSON/XML parsing scripts</a:t>
            </a:r>
          </a:p>
          <a:p>
            <a:pPr>
              <a:spcAft>
                <a:spcPts val="1200"/>
              </a:spcAft>
              <a:defRPr sz="1800">
                <a:solidFill>
                  <a:srgbClr val="FFFFFF"/>
                </a:solidFill>
              </a:defRPr>
            </a:pPr>
            <a:r>
              <a:t>  Data cleaning and normalization</a:t>
            </a:r>
          </a:p>
          <a:p>
            <a:pPr>
              <a:spcAft>
                <a:spcPts val="1200"/>
              </a:spcAft>
              <a:defRPr sz="1800">
                <a:solidFill>
                  <a:srgbClr val="FFFFFF"/>
                </a:solidFill>
              </a:defRPr>
            </a:pPr>
            <a:r>
              <a:t>  Type conversion and validation</a:t>
            </a:r>
          </a:p>
          <a:p>
            <a:pPr>
              <a:spcAft>
                <a:spcPts val="1200"/>
              </a:spcAft>
              <a:defRPr sz="1800">
                <a:solidFill>
                  <a:srgbClr val="FFFFFF"/>
                </a:solidFill>
              </a:defRPr>
            </a:pPr>
            <a:r>
              <a:t>  Deduplication logic</a:t>
            </a:r>
          </a:p>
          <a:p>
            <a:pPr>
              <a:spcAft>
                <a:spcPts val="1200"/>
              </a:spcAft>
              <a:defRPr sz="1800">
                <a:solidFill>
                  <a:srgbClr val="FFFFFF"/>
                </a:solidFill>
              </a:defRPr>
            </a:pPr>
            <a:r>
              <a:t>  Error handling for malformed records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Load &amp; Validate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Bulk insert with transaction safety</a:t>
            </a:r>
          </a:p>
          <a:p>
            <a:pPr>
              <a:spcAft>
                <a:spcPts val="1200"/>
              </a:spcAft>
              <a:defRPr sz="1800">
                <a:solidFill>
                  <a:srgbClr val="FFFFFF"/>
                </a:solidFill>
              </a:defRPr>
            </a:pPr>
            <a:r>
              <a:t>  Upsert patterns (insert or update)</a:t>
            </a:r>
          </a:p>
          <a:p>
            <a:pPr>
              <a:spcAft>
                <a:spcPts val="1200"/>
              </a:spcAft>
              <a:defRPr sz="1800">
                <a:solidFill>
                  <a:srgbClr val="FFFFFF"/>
                </a:solidFill>
              </a:defRPr>
            </a:pPr>
            <a:r>
              <a:t>  Data quality checks post-load</a:t>
            </a:r>
          </a:p>
          <a:p>
            <a:pPr>
              <a:spcAft>
                <a:spcPts val="1200"/>
              </a:spcAft>
              <a:defRPr sz="1800">
                <a:solidFill>
                  <a:srgbClr val="FFFFFF"/>
                </a:solidFill>
              </a:defRPr>
            </a:pPr>
            <a:r>
              <a:t>  Rollback on validation failure</a:t>
            </a:r>
          </a:p>
          <a:p>
            <a:pPr>
              <a:spcAft>
                <a:spcPts val="1200"/>
              </a:spcAft>
              <a:defRPr sz="1800">
                <a:solidFill>
                  <a:srgbClr val="FFFFFF"/>
                </a:solidFill>
              </a:defRPr>
            </a:pPr>
            <a:r>
              <a:t>  Audit logging for data lineage</a:t>
            </a: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Multi-Database Awareness</a:t>
            </a:r>
          </a:p>
        </p:txBody>
      </p:sp>
      <p:sp>
        <p:nvSpPr>
          <p:cNvPr id="3" name="Rounded Rectangle 2"/>
          <p:cNvSpPr/>
          <p:nvPr/>
        </p:nvSpPr>
        <p:spPr>
          <a:xfrm>
            <a:off x="2301087" y="2011680"/>
            <a:ext cx="2286000" cy="3200400"/>
          </a:xfrm>
          <a:prstGeom prst="roundRect">
            <a:avLst/>
          </a:prstGeom>
          <a:solidFill>
            <a:srgbClr val="141A26"/>
          </a:solidFill>
          <a:ln w="25400">
            <a:solidFill>
              <a:srgbClr val="0078D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PostgreSQL</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MySQL</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28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SQLite</a:t>
            </a: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Data Validation &amp; Quality Checks</a:t>
            </a:r>
          </a:p>
        </p:txBody>
      </p:sp>
      <p:sp>
        <p:nvSpPr>
          <p:cNvPr id="3" name="Rounded Rectangle 2"/>
          <p:cNvSpPr/>
          <p:nvPr/>
        </p:nvSpPr>
        <p:spPr>
          <a:xfrm>
            <a:off x="230108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Validation</a:t>
            </a:r>
          </a:p>
          <a:p>
            <a:pPr algn="ctr">
              <a:spcBef>
                <a:spcPts val="800"/>
              </a:spcBef>
              <a:defRPr sz="1300">
                <a:solidFill>
                  <a:srgbClr val="8B95A5"/>
                </a:solidFill>
              </a:defRPr>
            </a:pPr>
            <a:r>
              <a:t>Null checks, type enforcement</a:t>
            </a:r>
            <a:br/>
            <a:r>
              <a:t>Range validation (age 0-150)</a:t>
            </a:r>
            <a:br/>
            <a:r>
              <a:t>Format validation (email, phone)</a:t>
            </a:r>
            <a:br/>
            <a:r>
              <a:t>Referential integrity checks</a:t>
            </a:r>
          </a:p>
        </p:txBody>
      </p:sp>
      <p:sp>
        <p:nvSpPr>
          <p:cNvPr id="7" name="Rounded Rectangle 6"/>
          <p:cNvSpPr/>
          <p:nvPr/>
        </p:nvSpPr>
        <p:spPr>
          <a:xfrm>
            <a:off x="495284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algn="ctr">
              <a:defRPr sz="1800" b="1">
                <a:solidFill>
                  <a:srgbClr val="FFFFFF"/>
                </a:solidFill>
              </a:defRPr>
            </a:pPr>
            <a:r>
              <a:t>Quality</a:t>
            </a:r>
          </a:p>
          <a:p>
            <a:pPr algn="ctr">
              <a:spcBef>
                <a:spcPts val="800"/>
              </a:spcBef>
              <a:defRPr sz="1300">
                <a:solidFill>
                  <a:srgbClr val="8B95A5"/>
                </a:solidFill>
              </a:defRPr>
            </a:pPr>
            <a:r>
              <a:t>Completeness: % of non-null values</a:t>
            </a:r>
            <a:br/>
            <a:r>
              <a:t>Consistency: cross-field logic checks</a:t>
            </a:r>
            <a:br/>
            <a:r>
              <a:t>Accuracy: pattern detection for outliers</a:t>
            </a:r>
            <a:br/>
            <a:r>
              <a:t>Timeliness: stale data flagging</a:t>
            </a:r>
          </a:p>
        </p:txBody>
      </p:sp>
      <p:sp>
        <p:nvSpPr>
          <p:cNvPr id="11" name="Rounded Rectangle 10"/>
          <p:cNvSpPr/>
          <p:nvPr/>
        </p:nvSpPr>
        <p:spPr>
          <a:xfrm>
            <a:off x="7604607" y="2011680"/>
            <a:ext cx="2286000" cy="382434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algn="ctr">
              <a:defRPr sz="1800" b="1">
                <a:solidFill>
                  <a:srgbClr val="FFFFFF"/>
                </a:solidFill>
              </a:defRPr>
            </a:pPr>
            <a:r>
              <a:t>Automation</a:t>
            </a:r>
          </a:p>
          <a:p>
            <a:pPr algn="ctr">
              <a:spcBef>
                <a:spcPts val="800"/>
              </a:spcBef>
              <a:defRPr sz="1300">
                <a:solidFill>
                  <a:srgbClr val="8B95A5"/>
                </a:solidFill>
              </a:defRPr>
            </a:pPr>
            <a:r>
              <a:t>'Build a data quality report for this dataset'</a:t>
            </a:r>
            <a:br/>
            <a:r>
              <a:t>Claude generates validation scripts</a:t>
            </a:r>
            <a:br/>
            <a:r>
              <a:t>Runs checks and reports issues</a:t>
            </a:r>
            <a:br/>
            <a:r>
              <a:t>Suggests fixes for common problems</a:t>
            </a: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Live: From Requirements to Database</a:t>
            </a: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algn="ctr">
              <a:defRPr sz="3600" b="1">
                <a:solidFill>
                  <a:srgbClr val="FFFFFF"/>
                </a:solidFill>
              </a:defRPr>
            </a:pPr>
            <a: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bg1"/>
              </a:solidFill>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algn="ctr">
              <a:defRPr sz="1400" b="1">
                <a:solidFill>
                  <a:srgbClr val="0B0F1A"/>
                </a:solidFill>
              </a:defRPr>
            </a:pPr>
            <a: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algn="ctr">
              <a:defRPr sz="1400" b="1">
                <a:solidFill>
                  <a:srgbClr val="0B0F1A"/>
                </a:solidFill>
              </a:defRPr>
            </a:pPr>
            <a: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algn="ctr">
              <a:defRPr sz="1400" b="1">
                <a:solidFill>
                  <a:srgbClr val="0B0F1A"/>
                </a:solidFill>
              </a:defRPr>
            </a:pPr>
            <a: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algn="ctr">
              <a:defRPr sz="1400" b="1">
                <a:solidFill>
                  <a:srgbClr val="0B0F1A"/>
                </a:solidFill>
              </a:defRPr>
            </a:pPr>
            <a: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algn="ctr">
              <a:defRPr sz="1400" b="1">
                <a:solidFill>
                  <a:srgbClr val="0B0F1A"/>
                </a:solidFill>
              </a:defRPr>
            </a:pPr>
            <a: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algn="ctr">
              <a:defRPr sz="1400" b="1">
                <a:solidFill>
                  <a:srgbClr val="0B0F1A"/>
                </a:solidFill>
              </a:defRPr>
            </a:pPr>
            <a:r>
              <a:t>6</a:t>
            </a:r>
          </a:p>
        </p:txBody>
      </p:sp>
      <p:sp>
        <p:nvSpPr>
          <p:cNvPr id="26" name="TextBox 25"/>
          <p:cNvSpPr txBox="1"/>
          <p:nvPr/>
        </p:nvSpPr>
        <p:spPr>
          <a:xfrm>
            <a:off x="1371600" y="2743200"/>
            <a:ext cx="457200" cy="457200"/>
          </a:xfrm>
          <a:prstGeom prst="rect">
            <a:avLst/>
          </a:prstGeom>
          <a:noFill/>
        </p:spPr>
        <p:txBody>
          <a:bodyPr wrap="none">
            <a:spAutoFit/>
          </a:bodyPr>
          <a:lstStyle/>
          <a:p>
            <a:pPr>
              <a:defRPr sz="2000" b="1">
                <a:solidFill>
                  <a:srgbClr val="00D4AA"/>
                </a:solidFill>
              </a:defRPr>
            </a:pPr>
            <a:r>
              <a:t>1</a:t>
            </a:r>
          </a:p>
        </p:txBody>
      </p:sp>
      <p:sp>
        <p:nvSpPr>
          <p:cNvPr id="27" name="TextBox 26"/>
          <p:cNvSpPr txBox="1"/>
          <p:nvPr/>
        </p:nvSpPr>
        <p:spPr>
          <a:xfrm>
            <a:off x="1828800" y="2743200"/>
            <a:ext cx="8991295" cy="548640"/>
          </a:xfrm>
          <a:prstGeom prst="rect">
            <a:avLst/>
          </a:prstGeom>
          <a:noFill/>
        </p:spPr>
        <p:txBody>
          <a:bodyPr wrap="square">
            <a:spAutoFit/>
          </a:bodyPr>
          <a:lstStyle/>
          <a:p>
            <a:pPr>
              <a:defRPr sz="1800">
                <a:solidFill>
                  <a:srgbClr val="FFFFFF"/>
                </a:solidFill>
              </a:defRPr>
            </a:pPr>
            <a: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a:defRPr sz="2000" b="1">
                <a:solidFill>
                  <a:srgbClr val="00D4AA"/>
                </a:solidFill>
              </a:defRPr>
            </a:pPr>
            <a:r>
              <a:t>2</a:t>
            </a:r>
          </a:p>
        </p:txBody>
      </p:sp>
      <p:sp>
        <p:nvSpPr>
          <p:cNvPr id="29" name="TextBox 28"/>
          <p:cNvSpPr txBox="1"/>
          <p:nvPr/>
        </p:nvSpPr>
        <p:spPr>
          <a:xfrm>
            <a:off x="1828800" y="3383280"/>
            <a:ext cx="8991295" cy="548640"/>
          </a:xfrm>
          <a:prstGeom prst="rect">
            <a:avLst/>
          </a:prstGeom>
          <a:noFill/>
        </p:spPr>
        <p:txBody>
          <a:bodyPr wrap="square">
            <a:spAutoFit/>
          </a:bodyPr>
          <a:lstStyle/>
          <a:p>
            <a:pPr>
              <a:defRPr sz="1800">
                <a:solidFill>
                  <a:srgbClr val="FFFFFF"/>
                </a:solidFill>
              </a:defRPr>
            </a:pPr>
            <a: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a:defRPr sz="2000" b="1">
                <a:solidFill>
                  <a:srgbClr val="00D4AA"/>
                </a:solidFill>
              </a:defRPr>
            </a:pPr>
            <a:r>
              <a:t>3</a:t>
            </a:r>
          </a:p>
        </p:txBody>
      </p:sp>
      <p:sp>
        <p:nvSpPr>
          <p:cNvPr id="31" name="TextBox 30"/>
          <p:cNvSpPr txBox="1"/>
          <p:nvPr/>
        </p:nvSpPr>
        <p:spPr>
          <a:xfrm>
            <a:off x="1828800" y="4023360"/>
            <a:ext cx="8991295" cy="548640"/>
          </a:xfrm>
          <a:prstGeom prst="rect">
            <a:avLst/>
          </a:prstGeom>
          <a:noFill/>
        </p:spPr>
        <p:txBody>
          <a:bodyPr wrap="square">
            <a:spAutoFit/>
          </a:bodyPr>
          <a:lstStyle/>
          <a:p>
            <a:pPr>
              <a:defRPr sz="1800">
                <a:solidFill>
                  <a:srgbClr val="FFFFFF"/>
                </a:solidFill>
              </a:defRPr>
            </a:pPr>
            <a: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a:defRPr sz="2000" b="1">
                <a:solidFill>
                  <a:srgbClr val="00D4AA"/>
                </a:solidFill>
              </a:defRPr>
            </a:pPr>
            <a:r>
              <a:t>4</a:t>
            </a:r>
          </a:p>
        </p:txBody>
      </p:sp>
      <p:sp>
        <p:nvSpPr>
          <p:cNvPr id="33" name="TextBox 32"/>
          <p:cNvSpPr txBox="1"/>
          <p:nvPr/>
        </p:nvSpPr>
        <p:spPr>
          <a:xfrm>
            <a:off x="1828800" y="4663440"/>
            <a:ext cx="8991295" cy="548640"/>
          </a:xfrm>
          <a:prstGeom prst="rect">
            <a:avLst/>
          </a:prstGeom>
          <a:noFill/>
        </p:spPr>
        <p:txBody>
          <a:bodyPr wrap="square">
            <a:spAutoFit/>
          </a:bodyPr>
          <a:lstStyle/>
          <a:p>
            <a:pPr>
              <a:defRPr sz="1800">
                <a:solidFill>
                  <a:srgbClr val="FFFFFF"/>
                </a:solidFill>
              </a:defRPr>
            </a:pPr>
            <a: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a:defRPr sz="2000" b="1">
                <a:solidFill>
                  <a:srgbClr val="00D4AA"/>
                </a:solidFill>
              </a:defRPr>
            </a:pPr>
            <a:r>
              <a:t>5</a:t>
            </a:r>
          </a:p>
        </p:txBody>
      </p:sp>
      <p:sp>
        <p:nvSpPr>
          <p:cNvPr id="35" name="TextBox 34"/>
          <p:cNvSpPr txBox="1"/>
          <p:nvPr/>
        </p:nvSpPr>
        <p:spPr>
          <a:xfrm>
            <a:off x="1828800" y="5303520"/>
            <a:ext cx="8991295" cy="548640"/>
          </a:xfrm>
          <a:prstGeom prst="rect">
            <a:avLst/>
          </a:prstGeom>
          <a:noFill/>
        </p:spPr>
        <p:txBody>
          <a:bodyPr wrap="square">
            <a:spAutoFit/>
          </a:bodyPr>
          <a:lstStyle/>
          <a:p>
            <a:pPr>
              <a:defRPr sz="1800">
                <a:solidFill>
                  <a:srgbClr val="FFFFFF"/>
                </a:solidFill>
              </a:defRPr>
            </a:pPr>
            <a: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a:defRPr sz="2000" b="1">
                <a:solidFill>
                  <a:srgbClr val="00D4AA"/>
                </a:solidFill>
              </a:defRPr>
            </a:pPr>
            <a:r>
              <a:t>6</a:t>
            </a:r>
          </a:p>
        </p:txBody>
      </p:sp>
      <p:sp>
        <p:nvSpPr>
          <p:cNvPr id="37" name="TextBox 36"/>
          <p:cNvSpPr txBox="1"/>
          <p:nvPr/>
        </p:nvSpPr>
        <p:spPr>
          <a:xfrm>
            <a:off x="1828800" y="5943600"/>
            <a:ext cx="8991295" cy="548640"/>
          </a:xfrm>
          <a:prstGeom prst="rect">
            <a:avLst/>
          </a:prstGeom>
          <a:noFill/>
        </p:spPr>
        <p:txBody>
          <a:bodyPr wrap="square">
            <a:spAutoFit/>
          </a:bodyPr>
          <a:lstStyle/>
          <a:p>
            <a:pPr>
              <a:defRPr sz="1800">
                <a:solidFill>
                  <a:srgbClr val="FFFFFF"/>
                </a:solidFill>
              </a:defRPr>
            </a:pPr>
            <a:r>
              <a:t>The leverage: A working prototype beats a 20-page spec.</a:t>
            </a: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 @ mentions</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 Context management</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 Slash commands</a:t>
            </a: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645920"/>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645920"/>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057400"/>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331720"/>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331720"/>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743200"/>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017520"/>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017520"/>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429000"/>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703320"/>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703320"/>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114800"/>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389120"/>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389120"/>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4800600"/>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074920"/>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074920"/>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26588</Words>
  <Application>Microsoft Office PowerPoint</Application>
  <PresentationFormat>Widescreen</PresentationFormat>
  <Paragraphs>2934</Paragraphs>
  <Slides>117</Slides>
  <Notes>115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117</vt:i4>
      </vt:variant>
    </vt:vector>
  </HeadingPairs>
  <TitlesOfParts>
    <vt:vector size="120"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2026-03-02T01:59:16Z</dcterms:modified>
  <cp:category/>
</cp:coreProperties>
</file>