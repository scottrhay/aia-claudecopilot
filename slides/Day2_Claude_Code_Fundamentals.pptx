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375" r:id="rId128"/>
    <p:sldId id="281" r:id="rId27"/>
    <p:sldId id="263" r:id="rId9"/>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73" r:id="rId126"/>
    <p:sldId id="374" r:id="rId127"/>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39C36B-8AB1-447E-AA47-07FFCAD28EDF}" v="2" dt="2026-03-02T01:49:24.4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344" autoAdjust="0"/>
  </p:normalViewPr>
  <p:slideViewPr>
    <p:cSldViewPr snapToGrid="0" snapToObjects="1">
      <p:cViewPr varScale="1">
        <p:scale>
          <a:sx n="107" d="100"/>
          <a:sy n="107" d="100"/>
        </p:scale>
        <p:origin x="4566" y="31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2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6.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8.xml"/><Relationship Id="rId57" Type="http://schemas.openxmlformats.org/officeDocument/2006/relationships/slide" Target="slides/slide59.xml"/><Relationship Id="rId58" Type="http://schemas.openxmlformats.org/officeDocument/2006/relationships/slide" Target="slides/slide60.xml"/><Relationship Id="rId59" Type="http://schemas.openxmlformats.org/officeDocument/2006/relationships/slide" Target="slides/slide61.xml"/><Relationship Id="rId60" Type="http://schemas.openxmlformats.org/officeDocument/2006/relationships/slide" Target="slides/slide62.xml"/><Relationship Id="rId61" Type="http://schemas.openxmlformats.org/officeDocument/2006/relationships/slide" Target="slides/slide63.xml"/><Relationship Id="rId62" Type="http://schemas.openxmlformats.org/officeDocument/2006/relationships/slide" Target="slides/slide64.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slide" Target="slides/slide68.xml"/><Relationship Id="rId67" Type="http://schemas.openxmlformats.org/officeDocument/2006/relationships/slide" Target="slides/slide69.xml"/><Relationship Id="rId68" Type="http://schemas.openxmlformats.org/officeDocument/2006/relationships/slide" Target="slides/slide70.xml"/><Relationship Id="rId69" Type="http://schemas.openxmlformats.org/officeDocument/2006/relationships/slide" Target="slides/slide71.xml"/><Relationship Id="rId70" Type="http://schemas.openxmlformats.org/officeDocument/2006/relationships/slide" Target="slides/slide72.xml"/><Relationship Id="rId71" Type="http://schemas.openxmlformats.org/officeDocument/2006/relationships/slide" Target="slides/slide73.xml"/><Relationship Id="rId72" Type="http://schemas.openxmlformats.org/officeDocument/2006/relationships/slide" Target="slides/slide74.xml"/><Relationship Id="rId73" Type="http://schemas.openxmlformats.org/officeDocument/2006/relationships/slide" Target="slides/slide75.xml"/><Relationship Id="rId74" Type="http://schemas.openxmlformats.org/officeDocument/2006/relationships/slide" Target="slides/slide76.xml"/><Relationship Id="rId75" Type="http://schemas.openxmlformats.org/officeDocument/2006/relationships/slide" Target="slides/slide77.xml"/><Relationship Id="rId76" Type="http://schemas.openxmlformats.org/officeDocument/2006/relationships/slide" Target="slides/slide78.xml"/><Relationship Id="rId77" Type="http://schemas.openxmlformats.org/officeDocument/2006/relationships/slide" Target="slides/slide79.xml"/><Relationship Id="rId78" Type="http://schemas.openxmlformats.org/officeDocument/2006/relationships/slide" Target="slides/slide80.xml"/><Relationship Id="rId79" Type="http://schemas.openxmlformats.org/officeDocument/2006/relationships/slide" Target="slides/slide81.xml"/><Relationship Id="rId80" Type="http://schemas.openxmlformats.org/officeDocument/2006/relationships/slide" Target="slides/slide82.xml"/><Relationship Id="rId81" Type="http://schemas.openxmlformats.org/officeDocument/2006/relationships/slide" Target="slides/slide83.xml"/><Relationship Id="rId82" Type="http://schemas.openxmlformats.org/officeDocument/2006/relationships/slide" Target="slides/slide84.xml"/><Relationship Id="rId83" Type="http://schemas.openxmlformats.org/officeDocument/2006/relationships/slide" Target="slides/slide85.xml"/><Relationship Id="rId84" Type="http://schemas.openxmlformats.org/officeDocument/2006/relationships/slide" Target="slides/slide86.xml"/><Relationship Id="rId85" Type="http://schemas.openxmlformats.org/officeDocument/2006/relationships/slide" Target="slides/slide87.xml"/><Relationship Id="rId86" Type="http://schemas.openxmlformats.org/officeDocument/2006/relationships/slide" Target="slides/slide88.xml"/><Relationship Id="rId87" Type="http://schemas.openxmlformats.org/officeDocument/2006/relationships/slide" Target="slides/slide89.xml"/><Relationship Id="rId88" Type="http://schemas.openxmlformats.org/officeDocument/2006/relationships/slide" Target="slides/slide90.xml"/><Relationship Id="rId89" Type="http://schemas.openxmlformats.org/officeDocument/2006/relationships/slide" Target="slides/slide91.xml"/><Relationship Id="rId90" Type="http://schemas.openxmlformats.org/officeDocument/2006/relationships/slide" Target="slides/slide92.xml"/><Relationship Id="rId91" Type="http://schemas.openxmlformats.org/officeDocument/2006/relationships/slide" Target="slides/slide93.xml"/><Relationship Id="rId92" Type="http://schemas.openxmlformats.org/officeDocument/2006/relationships/slide" Target="slides/slide94.xml"/><Relationship Id="rId93" Type="http://schemas.openxmlformats.org/officeDocument/2006/relationships/slide" Target="slides/slide95.xml"/><Relationship Id="rId94" Type="http://schemas.openxmlformats.org/officeDocument/2006/relationships/slide" Target="slides/slide96.xml"/><Relationship Id="rId95" Type="http://schemas.openxmlformats.org/officeDocument/2006/relationships/slide" Target="slides/slide97.xml"/><Relationship Id="rId96" Type="http://schemas.openxmlformats.org/officeDocument/2006/relationships/slide" Target="slides/slide98.xml"/><Relationship Id="rId97" Type="http://schemas.openxmlformats.org/officeDocument/2006/relationships/slide" Target="slides/slide99.xml"/><Relationship Id="rId98" Type="http://schemas.openxmlformats.org/officeDocument/2006/relationships/slide" Target="slides/slide100.xml"/><Relationship Id="rId99" Type="http://schemas.openxmlformats.org/officeDocument/2006/relationships/slide" Target="slides/slide101.xml"/><Relationship Id="rId100" Type="http://schemas.openxmlformats.org/officeDocument/2006/relationships/slide" Target="slides/slide102.xml"/><Relationship Id="rId101" Type="http://schemas.openxmlformats.org/officeDocument/2006/relationships/slide" Target="slides/slide103.xml"/><Relationship Id="rId102" Type="http://schemas.openxmlformats.org/officeDocument/2006/relationships/slide" Target="slides/slide104.xml"/><Relationship Id="rId103" Type="http://schemas.openxmlformats.org/officeDocument/2006/relationships/slide" Target="slides/slide105.xml"/><Relationship Id="rId104" Type="http://schemas.openxmlformats.org/officeDocument/2006/relationships/slide" Target="slides/slide106.xml"/><Relationship Id="rId105" Type="http://schemas.openxmlformats.org/officeDocument/2006/relationships/slide" Target="slides/slide107.xml"/><Relationship Id="rId106" Type="http://schemas.openxmlformats.org/officeDocument/2006/relationships/slide" Target="slides/slide108.xml"/><Relationship Id="rId107" Type="http://schemas.openxmlformats.org/officeDocument/2006/relationships/slide" Target="slides/slide109.xml"/><Relationship Id="rId108" Type="http://schemas.openxmlformats.org/officeDocument/2006/relationships/slide" Target="slides/slide110.xml"/><Relationship Id="rId109" Type="http://schemas.openxmlformats.org/officeDocument/2006/relationships/slide" Target="slides/slide111.xml"/><Relationship Id="rId110" Type="http://schemas.openxmlformats.org/officeDocument/2006/relationships/slide" Target="slides/slide112.xml"/><Relationship Id="rId111" Type="http://schemas.openxmlformats.org/officeDocument/2006/relationships/slide" Target="slides/slide113.xml"/><Relationship Id="rId112" Type="http://schemas.openxmlformats.org/officeDocument/2006/relationships/slide" Target="slides/slide114.xml"/><Relationship Id="rId113" Type="http://schemas.openxmlformats.org/officeDocument/2006/relationships/slide" Target="slides/slide115.xml"/><Relationship Id="rId114" Type="http://schemas.openxmlformats.org/officeDocument/2006/relationships/slide" Target="slides/slide116.xml"/><Relationship Id="rId115" Type="http://schemas.openxmlformats.org/officeDocument/2006/relationships/slide" Target="slides/slide117.xml"/><Relationship Id="rId116" Type="http://schemas.openxmlformats.org/officeDocument/2006/relationships/slide" Target="slides/slide118.xml"/><Relationship Id="rId117" Type="http://schemas.openxmlformats.org/officeDocument/2006/relationships/slide" Target="slides/slide119.xml"/><Relationship Id="rId118" Type="http://schemas.openxmlformats.org/officeDocument/2006/relationships/slide" Target="slides/slide120.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 Id="rId124" Type="http://schemas.microsoft.com/office/2016/11/relationships/changesInfo" Target="changesInfos/changesInfo1.xml"/><Relationship Id="rId125" Type="http://schemas.microsoft.com/office/2015/10/relationships/revisionInfo" Target="revisionInfo.xml"/><Relationship Id="rId126" Type="http://schemas.openxmlformats.org/officeDocument/2006/relationships/slide" Target="slides/slide56.xml"/><Relationship Id="rId127" Type="http://schemas.openxmlformats.org/officeDocument/2006/relationships/slide" Target="slides/slide57.xml"/><Relationship Id="rId128"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modSld">
      <pc:chgData name="Scott Hay" userId="e95d3f44-f6c0-414c-b281-41a9346c1b81" providerId="ADAL" clId="{4D76341F-F64C-4A8E-A4EF-1A11730F38E9}" dt="2026-03-02T01:59:12.747" v="87" actId="14100"/>
      <pc:docMkLst>
        <pc:docMk/>
      </pc:docMkLst>
      <pc:sldChg chg="modSp mod">
        <pc:chgData name="Scott Hay" userId="e95d3f44-f6c0-414c-b281-41a9346c1b81" providerId="ADAL" clId="{4D76341F-F64C-4A8E-A4EF-1A11730F38E9}" dt="2026-03-02T00:51:04.186" v="61" actId="20577"/>
        <pc:sldMkLst>
          <pc:docMk/>
          <pc:sldMk cId="0" sldId="256"/>
        </pc:sldMkLst>
        <pc:spChg chg="mod">
          <ac:chgData name="Scott Hay" userId="e95d3f44-f6c0-414c-b281-41a9346c1b81" providerId="ADAL" clId="{4D76341F-F64C-4A8E-A4EF-1A11730F38E9}" dt="2026-03-02T00:51:04.186" v="61" actId="20577"/>
          <ac:spMkLst>
            <pc:docMk/>
            <pc:sldMk cId="0" sldId="256"/>
            <ac:spMk id="4" creationId="{00000000-0000-0000-0000-000000000000}"/>
          </ac:spMkLst>
        </pc:spChg>
      </pc:sldChg>
      <pc:sldChg chg="modSp mod">
        <pc:chgData name="Scott Hay" userId="e95d3f44-f6c0-414c-b281-41a9346c1b81" providerId="ADAL" clId="{4D76341F-F64C-4A8E-A4EF-1A11730F38E9}" dt="2026-03-02T00:51:44.576" v="63" actId="20577"/>
        <pc:sldMkLst>
          <pc:docMk/>
          <pc:sldMk cId="0" sldId="263"/>
        </pc:sldMkLst>
        <pc:spChg chg="mod">
          <ac:chgData name="Scott Hay" userId="e95d3f44-f6c0-414c-b281-41a9346c1b81" providerId="ADAL" clId="{4D76341F-F64C-4A8E-A4EF-1A11730F38E9}" dt="2026-03-02T00:51:44.576" v="63" actId="20577"/>
          <ac:spMkLst>
            <pc:docMk/>
            <pc:sldMk cId="0" sldId="263"/>
            <ac:spMk id="4" creationId="{00000000-0000-0000-0000-000000000000}"/>
          </ac:spMkLst>
        </pc:spChg>
      </pc:sldChg>
      <pc:sldChg chg="modSp mod">
        <pc:chgData name="Scott Hay" userId="e95d3f44-f6c0-414c-b281-41a9346c1b81" providerId="ADAL" clId="{4D76341F-F64C-4A8E-A4EF-1A11730F38E9}" dt="2026-03-02T01:59:12.747" v="87" actId="14100"/>
        <pc:sldMkLst>
          <pc:docMk/>
          <pc:sldMk cId="0" sldId="265"/>
        </pc:sldMkLst>
        <pc:spChg chg="mod">
          <ac:chgData name="Scott Hay" userId="e95d3f44-f6c0-414c-b281-41a9346c1b81" providerId="ADAL" clId="{4D76341F-F64C-4A8E-A4EF-1A11730F38E9}" dt="2026-03-01T23:11:55.079" v="57" actId="27636"/>
          <ac:spMkLst>
            <pc:docMk/>
            <pc:sldMk cId="0" sldId="265"/>
            <ac:spMk id="10" creationId="{00000000-0000-0000-0000-000000000000}"/>
          </ac:spMkLst>
        </pc:spChg>
        <pc:spChg chg="mod">
          <ac:chgData name="Scott Hay" userId="e95d3f44-f6c0-414c-b281-41a9346c1b81" providerId="ADAL" clId="{4D76341F-F64C-4A8E-A4EF-1A11730F38E9}" dt="2026-03-02T01:59:12.747" v="87" actId="14100"/>
          <ac:spMkLst>
            <pc:docMk/>
            <pc:sldMk cId="0" sldId="265"/>
            <ac:spMk id="11" creationId="{00000000-0000-0000-0000-000000000000}"/>
          </ac:spMkLst>
        </pc:spChg>
        <pc:spChg chg="mod">
          <ac:chgData name="Scott Hay" userId="e95d3f44-f6c0-414c-b281-41a9346c1b81" providerId="ADAL" clId="{4D76341F-F64C-4A8E-A4EF-1A11730F38E9}" dt="2026-03-02T01:58:50.425" v="85" actId="14100"/>
          <ac:spMkLst>
            <pc:docMk/>
            <pc:sldMk cId="0" sldId="265"/>
            <ac:spMk id="14" creationId="{00000000-0000-0000-0000-000000000000}"/>
          </ac:spMkLst>
        </pc:spChg>
      </pc:sldChg>
      <pc:sldChg chg="addSp delSp modSp mod">
        <pc:chgData name="Scott Hay" userId="e95d3f44-f6c0-414c-b281-41a9346c1b81" providerId="ADAL" clId="{4D76341F-F64C-4A8E-A4EF-1A11730F38E9}" dt="2026-03-01T23:12:00.985" v="59" actId="478"/>
        <pc:sldMkLst>
          <pc:docMk/>
          <pc:sldMk cId="0" sldId="268"/>
        </pc:sldMkLst>
        <pc:spChg chg="del">
          <ac:chgData name="Scott Hay" userId="e95d3f44-f6c0-414c-b281-41a9346c1b81" providerId="ADAL" clId="{4D76341F-F64C-4A8E-A4EF-1A11730F38E9}" dt="2026-03-01T23:12:00.985" v="59" actId="478"/>
          <ac:spMkLst>
            <pc:docMk/>
            <pc:sldMk cId="0" sldId="268"/>
            <ac:spMk id="5" creationId="{00000000-0000-0000-0000-000000000000}"/>
          </ac:spMkLst>
        </pc:spChg>
        <pc:spChg chg="add mod">
          <ac:chgData name="Scott Hay" userId="e95d3f44-f6c0-414c-b281-41a9346c1b81" providerId="ADAL" clId="{4D76341F-F64C-4A8E-A4EF-1A11730F38E9}" dt="2026-03-01T23:11:54.861" v="15"/>
          <ac:spMkLst>
            <pc:docMk/>
            <pc:sldMk cId="0" sldId="268"/>
            <ac:spMk id="6" creationId="{20DA46C1-A09C-CC85-41D0-591C5CEE27C2}"/>
          </ac:spMkLst>
        </pc:spChg>
        <pc:picChg chg="add mod">
          <ac:chgData name="Scott Hay" userId="e95d3f44-f6c0-414c-b281-41a9346c1b81" providerId="ADAL" clId="{4D76341F-F64C-4A8E-A4EF-1A11730F38E9}" dt="2026-03-01T23:11:54.861" v="15"/>
          <ac:picMkLst>
            <pc:docMk/>
            <pc:sldMk cId="0" sldId="268"/>
            <ac:picMk id="7" creationId="{1CE2B5A9-A391-ACE3-A562-6E21FAF6C260}"/>
          </ac:picMkLst>
        </pc:picChg>
      </pc:sldChg>
      <pc:sldChg chg="modSp mod">
        <pc:chgData name="Scott Hay" userId="e95d3f44-f6c0-414c-b281-41a9346c1b81" providerId="ADAL" clId="{4D76341F-F64C-4A8E-A4EF-1A11730F38E9}" dt="2026-03-01T23:11:54.908" v="17" actId="27636"/>
        <pc:sldMkLst>
          <pc:docMk/>
          <pc:sldMk cId="0" sldId="279"/>
        </pc:sldMkLst>
        <pc:spChg chg="mod">
          <ac:chgData name="Scott Hay" userId="e95d3f44-f6c0-414c-b281-41a9346c1b81" providerId="ADAL" clId="{4D76341F-F64C-4A8E-A4EF-1A11730F38E9}" dt="2026-03-01T23:11:54.906" v="16" actId="27636"/>
          <ac:spMkLst>
            <pc:docMk/>
            <pc:sldMk cId="0" sldId="279"/>
            <ac:spMk id="6" creationId="{00000000-0000-0000-0000-000000000000}"/>
          </ac:spMkLst>
        </pc:spChg>
        <pc:spChg chg="mod">
          <ac:chgData name="Scott Hay" userId="e95d3f44-f6c0-414c-b281-41a9346c1b81" providerId="ADAL" clId="{4D76341F-F64C-4A8E-A4EF-1A11730F38E9}" dt="2026-03-01T23:11:54.908" v="17" actId="27636"/>
          <ac:spMkLst>
            <pc:docMk/>
            <pc:sldMk cId="0" sldId="279"/>
            <ac:spMk id="14" creationId="{00000000-0000-0000-0000-000000000000}"/>
          </ac:spMkLst>
        </pc:spChg>
      </pc:sldChg>
      <pc:sldChg chg="modSp mod">
        <pc:chgData name="Scott Hay" userId="e95d3f44-f6c0-414c-b281-41a9346c1b81" providerId="ADAL" clId="{4D76341F-F64C-4A8E-A4EF-1A11730F38E9}" dt="2026-03-01T23:11:54.924" v="20" actId="27636"/>
        <pc:sldMkLst>
          <pc:docMk/>
          <pc:sldMk cId="0" sldId="285"/>
        </pc:sldMkLst>
        <pc:spChg chg="mod">
          <ac:chgData name="Scott Hay" userId="e95d3f44-f6c0-414c-b281-41a9346c1b81" providerId="ADAL" clId="{4D76341F-F64C-4A8E-A4EF-1A11730F38E9}" dt="2026-03-01T23:11:54.924" v="20" actId="27636"/>
          <ac:spMkLst>
            <pc:docMk/>
            <pc:sldMk cId="0" sldId="285"/>
            <ac:spMk id="6" creationId="{00000000-0000-0000-0000-000000000000}"/>
          </ac:spMkLst>
        </pc:spChg>
        <pc:spChg chg="mod">
          <ac:chgData name="Scott Hay" userId="e95d3f44-f6c0-414c-b281-41a9346c1b81" providerId="ADAL" clId="{4D76341F-F64C-4A8E-A4EF-1A11730F38E9}" dt="2026-03-01T23:11:54.916" v="18" actId="27636"/>
          <ac:spMkLst>
            <pc:docMk/>
            <pc:sldMk cId="0" sldId="285"/>
            <ac:spMk id="10" creationId="{00000000-0000-0000-0000-000000000000}"/>
          </ac:spMkLst>
        </pc:spChg>
        <pc:spChg chg="mod">
          <ac:chgData name="Scott Hay" userId="e95d3f44-f6c0-414c-b281-41a9346c1b81" providerId="ADAL" clId="{4D76341F-F64C-4A8E-A4EF-1A11730F38E9}" dt="2026-03-01T23:11:54.920" v="19" actId="27636"/>
          <ac:spMkLst>
            <pc:docMk/>
            <pc:sldMk cId="0" sldId="285"/>
            <ac:spMk id="14" creationId="{00000000-0000-0000-0000-000000000000}"/>
          </ac:spMkLst>
        </pc:spChg>
      </pc:sldChg>
      <pc:sldChg chg="modSp mod">
        <pc:chgData name="Scott Hay" userId="e95d3f44-f6c0-414c-b281-41a9346c1b81" providerId="ADAL" clId="{4D76341F-F64C-4A8E-A4EF-1A11730F38E9}" dt="2026-03-01T23:11:54.944" v="23" actId="27636"/>
        <pc:sldMkLst>
          <pc:docMk/>
          <pc:sldMk cId="0" sldId="291"/>
        </pc:sldMkLst>
        <pc:spChg chg="mod">
          <ac:chgData name="Scott Hay" userId="e95d3f44-f6c0-414c-b281-41a9346c1b81" providerId="ADAL" clId="{4D76341F-F64C-4A8E-A4EF-1A11730F38E9}" dt="2026-03-01T23:11:34.072" v="14" actId="14100"/>
          <ac:spMkLst>
            <pc:docMk/>
            <pc:sldMk cId="0" sldId="291"/>
            <ac:spMk id="3" creationId="{00000000-0000-0000-0000-000000000000}"/>
          </ac:spMkLst>
        </pc:spChg>
        <pc:spChg chg="mod">
          <ac:chgData name="Scott Hay" userId="e95d3f44-f6c0-414c-b281-41a9346c1b81" providerId="ADAL" clId="{4D76341F-F64C-4A8E-A4EF-1A11730F38E9}" dt="2026-03-01T23:11:54.941" v="22" actId="27636"/>
          <ac:spMkLst>
            <pc:docMk/>
            <pc:sldMk cId="0" sldId="291"/>
            <ac:spMk id="6" creationId="{00000000-0000-0000-0000-000000000000}"/>
          </ac:spMkLst>
        </pc:spChg>
        <pc:spChg chg="mod">
          <ac:chgData name="Scott Hay" userId="e95d3f44-f6c0-414c-b281-41a9346c1b81" providerId="ADAL" clId="{4D76341F-F64C-4A8E-A4EF-1A11730F38E9}" dt="2026-03-01T23:11:34.072" v="14" actId="14100"/>
          <ac:spMkLst>
            <pc:docMk/>
            <pc:sldMk cId="0" sldId="291"/>
            <ac:spMk id="7" creationId="{00000000-0000-0000-0000-000000000000}"/>
          </ac:spMkLst>
        </pc:spChg>
        <pc:spChg chg="mod">
          <ac:chgData name="Scott Hay" userId="e95d3f44-f6c0-414c-b281-41a9346c1b81" providerId="ADAL" clId="{4D76341F-F64C-4A8E-A4EF-1A11730F38E9}" dt="2026-03-01T23:11:54.944" v="23" actId="27636"/>
          <ac:spMkLst>
            <pc:docMk/>
            <pc:sldMk cId="0" sldId="291"/>
            <ac:spMk id="10" creationId="{00000000-0000-0000-0000-000000000000}"/>
          </ac:spMkLst>
        </pc:spChg>
        <pc:spChg chg="mod">
          <ac:chgData name="Scott Hay" userId="e95d3f44-f6c0-414c-b281-41a9346c1b81" providerId="ADAL" clId="{4D76341F-F64C-4A8E-A4EF-1A11730F38E9}" dt="2026-03-01T23:11:34.072" v="14" actId="14100"/>
          <ac:spMkLst>
            <pc:docMk/>
            <pc:sldMk cId="0" sldId="291"/>
            <ac:spMk id="11" creationId="{00000000-0000-0000-0000-000000000000}"/>
          </ac:spMkLst>
        </pc:spChg>
        <pc:spChg chg="mod">
          <ac:chgData name="Scott Hay" userId="e95d3f44-f6c0-414c-b281-41a9346c1b81" providerId="ADAL" clId="{4D76341F-F64C-4A8E-A4EF-1A11730F38E9}" dt="2026-03-01T23:11:54.937" v="21" actId="27636"/>
          <ac:spMkLst>
            <pc:docMk/>
            <pc:sldMk cId="0" sldId="291"/>
            <ac:spMk id="14" creationId="{00000000-0000-0000-0000-000000000000}"/>
          </ac:spMkLst>
        </pc:spChg>
      </pc:sldChg>
      <pc:sldChg chg="modSp mod">
        <pc:chgData name="Scott Hay" userId="e95d3f44-f6c0-414c-b281-41a9346c1b81" providerId="ADAL" clId="{4D76341F-F64C-4A8E-A4EF-1A11730F38E9}" dt="2026-03-01T23:11:54.967" v="26" actId="27636"/>
        <pc:sldMkLst>
          <pc:docMk/>
          <pc:sldMk cId="0" sldId="294"/>
        </pc:sldMkLst>
        <pc:spChg chg="mod">
          <ac:chgData name="Scott Hay" userId="e95d3f44-f6c0-414c-b281-41a9346c1b81" providerId="ADAL" clId="{4D76341F-F64C-4A8E-A4EF-1A11730F38E9}" dt="2026-03-01T23:11:24.558" v="13" actId="14100"/>
          <ac:spMkLst>
            <pc:docMk/>
            <pc:sldMk cId="0" sldId="294"/>
            <ac:spMk id="3" creationId="{00000000-0000-0000-0000-000000000000}"/>
          </ac:spMkLst>
        </pc:spChg>
        <pc:spChg chg="mod">
          <ac:chgData name="Scott Hay" userId="e95d3f44-f6c0-414c-b281-41a9346c1b81" providerId="ADAL" clId="{4D76341F-F64C-4A8E-A4EF-1A11730F38E9}" dt="2026-03-01T23:11:54.952" v="24" actId="27636"/>
          <ac:spMkLst>
            <pc:docMk/>
            <pc:sldMk cId="0" sldId="294"/>
            <ac:spMk id="6" creationId="{00000000-0000-0000-0000-000000000000}"/>
          </ac:spMkLst>
        </pc:spChg>
        <pc:spChg chg="mod">
          <ac:chgData name="Scott Hay" userId="e95d3f44-f6c0-414c-b281-41a9346c1b81" providerId="ADAL" clId="{4D76341F-F64C-4A8E-A4EF-1A11730F38E9}" dt="2026-03-01T23:11:24.558" v="13" actId="14100"/>
          <ac:spMkLst>
            <pc:docMk/>
            <pc:sldMk cId="0" sldId="294"/>
            <ac:spMk id="7" creationId="{00000000-0000-0000-0000-000000000000}"/>
          </ac:spMkLst>
        </pc:spChg>
        <pc:spChg chg="mod">
          <ac:chgData name="Scott Hay" userId="e95d3f44-f6c0-414c-b281-41a9346c1b81" providerId="ADAL" clId="{4D76341F-F64C-4A8E-A4EF-1A11730F38E9}" dt="2026-03-01T23:11:54.960" v="25" actId="27636"/>
          <ac:spMkLst>
            <pc:docMk/>
            <pc:sldMk cId="0" sldId="294"/>
            <ac:spMk id="10" creationId="{00000000-0000-0000-0000-000000000000}"/>
          </ac:spMkLst>
        </pc:spChg>
        <pc:spChg chg="mod">
          <ac:chgData name="Scott Hay" userId="e95d3f44-f6c0-414c-b281-41a9346c1b81" providerId="ADAL" clId="{4D76341F-F64C-4A8E-A4EF-1A11730F38E9}" dt="2026-03-01T23:11:24.558" v="13" actId="14100"/>
          <ac:spMkLst>
            <pc:docMk/>
            <pc:sldMk cId="0" sldId="294"/>
            <ac:spMk id="11" creationId="{00000000-0000-0000-0000-000000000000}"/>
          </ac:spMkLst>
        </pc:spChg>
        <pc:spChg chg="mod">
          <ac:chgData name="Scott Hay" userId="e95d3f44-f6c0-414c-b281-41a9346c1b81" providerId="ADAL" clId="{4D76341F-F64C-4A8E-A4EF-1A11730F38E9}" dt="2026-03-01T23:11:54.967" v="26" actId="27636"/>
          <ac:spMkLst>
            <pc:docMk/>
            <pc:sldMk cId="0" sldId="294"/>
            <ac:spMk id="14" creationId="{00000000-0000-0000-0000-000000000000}"/>
          </ac:spMkLst>
        </pc:spChg>
      </pc:sldChg>
      <pc:sldChg chg="modSp mod">
        <pc:chgData name="Scott Hay" userId="e95d3f44-f6c0-414c-b281-41a9346c1b81" providerId="ADAL" clId="{4D76341F-F64C-4A8E-A4EF-1A11730F38E9}" dt="2026-03-01T23:11:54.980" v="29" actId="27636"/>
        <pc:sldMkLst>
          <pc:docMk/>
          <pc:sldMk cId="0" sldId="298"/>
        </pc:sldMkLst>
        <pc:spChg chg="mod">
          <ac:chgData name="Scott Hay" userId="e95d3f44-f6c0-414c-b281-41a9346c1b81" providerId="ADAL" clId="{4D76341F-F64C-4A8E-A4EF-1A11730F38E9}" dt="2026-03-01T23:11:11.127" v="12" actId="14100"/>
          <ac:spMkLst>
            <pc:docMk/>
            <pc:sldMk cId="0" sldId="298"/>
            <ac:spMk id="3" creationId="{00000000-0000-0000-0000-000000000000}"/>
          </ac:spMkLst>
        </pc:spChg>
        <pc:spChg chg="mod">
          <ac:chgData name="Scott Hay" userId="e95d3f44-f6c0-414c-b281-41a9346c1b81" providerId="ADAL" clId="{4D76341F-F64C-4A8E-A4EF-1A11730F38E9}" dt="2026-03-01T23:11:54.973" v="27" actId="27636"/>
          <ac:spMkLst>
            <pc:docMk/>
            <pc:sldMk cId="0" sldId="298"/>
            <ac:spMk id="6" creationId="{00000000-0000-0000-0000-000000000000}"/>
          </ac:spMkLst>
        </pc:spChg>
        <pc:spChg chg="mod">
          <ac:chgData name="Scott Hay" userId="e95d3f44-f6c0-414c-b281-41a9346c1b81" providerId="ADAL" clId="{4D76341F-F64C-4A8E-A4EF-1A11730F38E9}" dt="2026-03-01T23:11:11.127" v="12" actId="14100"/>
          <ac:spMkLst>
            <pc:docMk/>
            <pc:sldMk cId="0" sldId="298"/>
            <ac:spMk id="7" creationId="{00000000-0000-0000-0000-000000000000}"/>
          </ac:spMkLst>
        </pc:spChg>
        <pc:spChg chg="mod">
          <ac:chgData name="Scott Hay" userId="e95d3f44-f6c0-414c-b281-41a9346c1b81" providerId="ADAL" clId="{4D76341F-F64C-4A8E-A4EF-1A11730F38E9}" dt="2026-03-01T23:11:54.980" v="29" actId="27636"/>
          <ac:spMkLst>
            <pc:docMk/>
            <pc:sldMk cId="0" sldId="298"/>
            <ac:spMk id="10" creationId="{00000000-0000-0000-0000-000000000000}"/>
          </ac:spMkLst>
        </pc:spChg>
        <pc:spChg chg="mod">
          <ac:chgData name="Scott Hay" userId="e95d3f44-f6c0-414c-b281-41a9346c1b81" providerId="ADAL" clId="{4D76341F-F64C-4A8E-A4EF-1A11730F38E9}" dt="2026-03-01T23:11:11.127" v="12" actId="14100"/>
          <ac:spMkLst>
            <pc:docMk/>
            <pc:sldMk cId="0" sldId="298"/>
            <ac:spMk id="11" creationId="{00000000-0000-0000-0000-000000000000}"/>
          </ac:spMkLst>
        </pc:spChg>
        <pc:spChg chg="mod">
          <ac:chgData name="Scott Hay" userId="e95d3f44-f6c0-414c-b281-41a9346c1b81" providerId="ADAL" clId="{4D76341F-F64C-4A8E-A4EF-1A11730F38E9}" dt="2026-03-01T23:11:54.977" v="28" actId="27636"/>
          <ac:spMkLst>
            <pc:docMk/>
            <pc:sldMk cId="0" sldId="298"/>
            <ac:spMk id="14" creationId="{00000000-0000-0000-0000-000000000000}"/>
          </ac:spMkLst>
        </pc:spChg>
      </pc:sldChg>
      <pc:sldChg chg="modSp mod">
        <pc:chgData name="Scott Hay" userId="e95d3f44-f6c0-414c-b281-41a9346c1b81" providerId="ADAL" clId="{4D76341F-F64C-4A8E-A4EF-1A11730F38E9}" dt="2026-03-01T23:11:54.990" v="32" actId="27636"/>
        <pc:sldMkLst>
          <pc:docMk/>
          <pc:sldMk cId="0" sldId="307"/>
        </pc:sldMkLst>
        <pc:spChg chg="mod">
          <ac:chgData name="Scott Hay" userId="e95d3f44-f6c0-414c-b281-41a9346c1b81" providerId="ADAL" clId="{4D76341F-F64C-4A8E-A4EF-1A11730F38E9}" dt="2026-03-01T23:10:33.574" v="11" actId="14100"/>
          <ac:spMkLst>
            <pc:docMk/>
            <pc:sldMk cId="0" sldId="307"/>
            <ac:spMk id="3" creationId="{00000000-0000-0000-0000-000000000000}"/>
          </ac:spMkLst>
        </pc:spChg>
        <pc:spChg chg="mod">
          <ac:chgData name="Scott Hay" userId="e95d3f44-f6c0-414c-b281-41a9346c1b81" providerId="ADAL" clId="{4D76341F-F64C-4A8E-A4EF-1A11730F38E9}" dt="2026-03-01T23:11:54.987" v="31" actId="27636"/>
          <ac:spMkLst>
            <pc:docMk/>
            <pc:sldMk cId="0" sldId="307"/>
            <ac:spMk id="6" creationId="{00000000-0000-0000-0000-000000000000}"/>
          </ac:spMkLst>
        </pc:spChg>
        <pc:spChg chg="mod">
          <ac:chgData name="Scott Hay" userId="e95d3f44-f6c0-414c-b281-41a9346c1b81" providerId="ADAL" clId="{4D76341F-F64C-4A8E-A4EF-1A11730F38E9}" dt="2026-03-01T23:10:33.574" v="11" actId="14100"/>
          <ac:spMkLst>
            <pc:docMk/>
            <pc:sldMk cId="0" sldId="307"/>
            <ac:spMk id="7" creationId="{00000000-0000-0000-0000-000000000000}"/>
          </ac:spMkLst>
        </pc:spChg>
        <pc:spChg chg="mod">
          <ac:chgData name="Scott Hay" userId="e95d3f44-f6c0-414c-b281-41a9346c1b81" providerId="ADAL" clId="{4D76341F-F64C-4A8E-A4EF-1A11730F38E9}" dt="2026-03-01T23:11:54.990" v="32" actId="27636"/>
          <ac:spMkLst>
            <pc:docMk/>
            <pc:sldMk cId="0" sldId="307"/>
            <ac:spMk id="10" creationId="{00000000-0000-0000-0000-000000000000}"/>
          </ac:spMkLst>
        </pc:spChg>
        <pc:spChg chg="mod">
          <ac:chgData name="Scott Hay" userId="e95d3f44-f6c0-414c-b281-41a9346c1b81" providerId="ADAL" clId="{4D76341F-F64C-4A8E-A4EF-1A11730F38E9}" dt="2026-03-01T23:10:33.574" v="11" actId="14100"/>
          <ac:spMkLst>
            <pc:docMk/>
            <pc:sldMk cId="0" sldId="307"/>
            <ac:spMk id="11" creationId="{00000000-0000-0000-0000-000000000000}"/>
          </ac:spMkLst>
        </pc:spChg>
        <pc:spChg chg="mod">
          <ac:chgData name="Scott Hay" userId="e95d3f44-f6c0-414c-b281-41a9346c1b81" providerId="ADAL" clId="{4D76341F-F64C-4A8E-A4EF-1A11730F38E9}" dt="2026-03-01T23:11:54.984" v="30" actId="27636"/>
          <ac:spMkLst>
            <pc:docMk/>
            <pc:sldMk cId="0" sldId="307"/>
            <ac:spMk id="14" creationId="{00000000-0000-0000-0000-000000000000}"/>
          </ac:spMkLst>
        </pc:spChg>
      </pc:sldChg>
      <pc:sldChg chg="modSp mod">
        <pc:chgData name="Scott Hay" userId="e95d3f44-f6c0-414c-b281-41a9346c1b81" providerId="ADAL" clId="{4D76341F-F64C-4A8E-A4EF-1A11730F38E9}" dt="2026-03-01T23:11:55.004" v="35" actId="27636"/>
        <pc:sldMkLst>
          <pc:docMk/>
          <pc:sldMk cId="0" sldId="312"/>
        </pc:sldMkLst>
        <pc:spChg chg="mod">
          <ac:chgData name="Scott Hay" userId="e95d3f44-f6c0-414c-b281-41a9346c1b81" providerId="ADAL" clId="{4D76341F-F64C-4A8E-A4EF-1A11730F38E9}" dt="2026-03-01T23:10:14.199" v="10" actId="14100"/>
          <ac:spMkLst>
            <pc:docMk/>
            <pc:sldMk cId="0" sldId="312"/>
            <ac:spMk id="3" creationId="{00000000-0000-0000-0000-000000000000}"/>
          </ac:spMkLst>
        </pc:spChg>
        <pc:spChg chg="mod">
          <ac:chgData name="Scott Hay" userId="e95d3f44-f6c0-414c-b281-41a9346c1b81" providerId="ADAL" clId="{4D76341F-F64C-4A8E-A4EF-1A11730F38E9}" dt="2026-03-01T23:11:54.996" v="33" actId="27636"/>
          <ac:spMkLst>
            <pc:docMk/>
            <pc:sldMk cId="0" sldId="312"/>
            <ac:spMk id="6" creationId="{00000000-0000-0000-0000-000000000000}"/>
          </ac:spMkLst>
        </pc:spChg>
        <pc:spChg chg="mod">
          <ac:chgData name="Scott Hay" userId="e95d3f44-f6c0-414c-b281-41a9346c1b81" providerId="ADAL" clId="{4D76341F-F64C-4A8E-A4EF-1A11730F38E9}" dt="2026-03-01T23:10:14.199" v="10" actId="14100"/>
          <ac:spMkLst>
            <pc:docMk/>
            <pc:sldMk cId="0" sldId="312"/>
            <ac:spMk id="7" creationId="{00000000-0000-0000-0000-000000000000}"/>
          </ac:spMkLst>
        </pc:spChg>
        <pc:spChg chg="mod">
          <ac:chgData name="Scott Hay" userId="e95d3f44-f6c0-414c-b281-41a9346c1b81" providerId="ADAL" clId="{4D76341F-F64C-4A8E-A4EF-1A11730F38E9}" dt="2026-03-01T23:11:55.004" v="35" actId="27636"/>
          <ac:spMkLst>
            <pc:docMk/>
            <pc:sldMk cId="0" sldId="312"/>
            <ac:spMk id="10" creationId="{00000000-0000-0000-0000-000000000000}"/>
          </ac:spMkLst>
        </pc:spChg>
        <pc:spChg chg="mod">
          <ac:chgData name="Scott Hay" userId="e95d3f44-f6c0-414c-b281-41a9346c1b81" providerId="ADAL" clId="{4D76341F-F64C-4A8E-A4EF-1A11730F38E9}" dt="2026-03-01T23:10:14.199" v="10" actId="14100"/>
          <ac:spMkLst>
            <pc:docMk/>
            <pc:sldMk cId="0" sldId="312"/>
            <ac:spMk id="11" creationId="{00000000-0000-0000-0000-000000000000}"/>
          </ac:spMkLst>
        </pc:spChg>
        <pc:spChg chg="mod">
          <ac:chgData name="Scott Hay" userId="e95d3f44-f6c0-414c-b281-41a9346c1b81" providerId="ADAL" clId="{4D76341F-F64C-4A8E-A4EF-1A11730F38E9}" dt="2026-03-01T23:11:54.999" v="34" actId="27636"/>
          <ac:spMkLst>
            <pc:docMk/>
            <pc:sldMk cId="0" sldId="312"/>
            <ac:spMk id="14" creationId="{00000000-0000-0000-0000-000000000000}"/>
          </ac:spMkLst>
        </pc:spChg>
      </pc:sldChg>
      <pc:sldChg chg="modSp mod">
        <pc:chgData name="Scott Hay" userId="e95d3f44-f6c0-414c-b281-41a9346c1b81" providerId="ADAL" clId="{4D76341F-F64C-4A8E-A4EF-1A11730F38E9}" dt="2026-03-01T23:11:55.012" v="38" actId="27636"/>
        <pc:sldMkLst>
          <pc:docMk/>
          <pc:sldMk cId="0" sldId="313"/>
        </pc:sldMkLst>
        <pc:spChg chg="mod">
          <ac:chgData name="Scott Hay" userId="e95d3f44-f6c0-414c-b281-41a9346c1b81" providerId="ADAL" clId="{4D76341F-F64C-4A8E-A4EF-1A11730F38E9}" dt="2026-03-01T23:10:04.359" v="9" actId="14100"/>
          <ac:spMkLst>
            <pc:docMk/>
            <pc:sldMk cId="0" sldId="313"/>
            <ac:spMk id="3" creationId="{00000000-0000-0000-0000-000000000000}"/>
          </ac:spMkLst>
        </pc:spChg>
        <pc:spChg chg="mod">
          <ac:chgData name="Scott Hay" userId="e95d3f44-f6c0-414c-b281-41a9346c1b81" providerId="ADAL" clId="{4D76341F-F64C-4A8E-A4EF-1A11730F38E9}" dt="2026-03-01T23:11:55.012" v="38" actId="27636"/>
          <ac:spMkLst>
            <pc:docMk/>
            <pc:sldMk cId="0" sldId="313"/>
            <ac:spMk id="6" creationId="{00000000-0000-0000-0000-000000000000}"/>
          </ac:spMkLst>
        </pc:spChg>
        <pc:spChg chg="mod">
          <ac:chgData name="Scott Hay" userId="e95d3f44-f6c0-414c-b281-41a9346c1b81" providerId="ADAL" clId="{4D76341F-F64C-4A8E-A4EF-1A11730F38E9}" dt="2026-03-01T23:10:04.359" v="9" actId="14100"/>
          <ac:spMkLst>
            <pc:docMk/>
            <pc:sldMk cId="0" sldId="313"/>
            <ac:spMk id="7" creationId="{00000000-0000-0000-0000-000000000000}"/>
          </ac:spMkLst>
        </pc:spChg>
        <pc:spChg chg="mod">
          <ac:chgData name="Scott Hay" userId="e95d3f44-f6c0-414c-b281-41a9346c1b81" providerId="ADAL" clId="{4D76341F-F64C-4A8E-A4EF-1A11730F38E9}" dt="2026-03-01T23:11:55.010" v="37" actId="27636"/>
          <ac:spMkLst>
            <pc:docMk/>
            <pc:sldMk cId="0" sldId="313"/>
            <ac:spMk id="10" creationId="{00000000-0000-0000-0000-000000000000}"/>
          </ac:spMkLst>
        </pc:spChg>
        <pc:spChg chg="mod">
          <ac:chgData name="Scott Hay" userId="e95d3f44-f6c0-414c-b281-41a9346c1b81" providerId="ADAL" clId="{4D76341F-F64C-4A8E-A4EF-1A11730F38E9}" dt="2026-03-01T23:10:04.359" v="9" actId="14100"/>
          <ac:spMkLst>
            <pc:docMk/>
            <pc:sldMk cId="0" sldId="313"/>
            <ac:spMk id="11" creationId="{00000000-0000-0000-0000-000000000000}"/>
          </ac:spMkLst>
        </pc:spChg>
        <pc:spChg chg="mod">
          <ac:chgData name="Scott Hay" userId="e95d3f44-f6c0-414c-b281-41a9346c1b81" providerId="ADAL" clId="{4D76341F-F64C-4A8E-A4EF-1A11730F38E9}" dt="2026-03-01T23:11:55.008" v="36" actId="27636"/>
          <ac:spMkLst>
            <pc:docMk/>
            <pc:sldMk cId="0" sldId="313"/>
            <ac:spMk id="14" creationId="{00000000-0000-0000-0000-000000000000}"/>
          </ac:spMkLst>
        </pc:spChg>
      </pc:sldChg>
      <pc:sldChg chg="modSp mod">
        <pc:chgData name="Scott Hay" userId="e95d3f44-f6c0-414c-b281-41a9346c1b81" providerId="ADAL" clId="{4D76341F-F64C-4A8E-A4EF-1A11730F38E9}" dt="2026-03-01T23:05:36.230" v="0" actId="1076"/>
        <pc:sldMkLst>
          <pc:docMk/>
          <pc:sldMk cId="0" sldId="324"/>
        </pc:sldMkLst>
        <pc:spChg chg="mod">
          <ac:chgData name="Scott Hay" userId="e95d3f44-f6c0-414c-b281-41a9346c1b81" providerId="ADAL" clId="{4D76341F-F64C-4A8E-A4EF-1A11730F38E9}" dt="2026-03-01T23:05:36.230" v="0" actId="1076"/>
          <ac:spMkLst>
            <pc:docMk/>
            <pc:sldMk cId="0" sldId="324"/>
            <ac:spMk id="3" creationId="{00000000-0000-0000-0000-000000000000}"/>
          </ac:spMkLst>
        </pc:spChg>
      </pc:sldChg>
      <pc:sldChg chg="modSp mod">
        <pc:chgData name="Scott Hay" userId="e95d3f44-f6c0-414c-b281-41a9346c1b81" providerId="ADAL" clId="{4D76341F-F64C-4A8E-A4EF-1A11730F38E9}" dt="2026-03-01T23:05:43.502" v="1" actId="1076"/>
        <pc:sldMkLst>
          <pc:docMk/>
          <pc:sldMk cId="0" sldId="328"/>
        </pc:sldMkLst>
        <pc:spChg chg="mod">
          <ac:chgData name="Scott Hay" userId="e95d3f44-f6c0-414c-b281-41a9346c1b81" providerId="ADAL" clId="{4D76341F-F64C-4A8E-A4EF-1A11730F38E9}" dt="2026-03-01T23:05:43.502" v="1" actId="1076"/>
          <ac:spMkLst>
            <pc:docMk/>
            <pc:sldMk cId="0" sldId="328"/>
            <ac:spMk id="4" creationId="{00000000-0000-0000-0000-000000000000}"/>
          </ac:spMkLst>
        </pc:spChg>
      </pc:sldChg>
      <pc:sldChg chg="modSp mod">
        <pc:chgData name="Scott Hay" userId="e95d3f44-f6c0-414c-b281-41a9346c1b81" providerId="ADAL" clId="{4D76341F-F64C-4A8E-A4EF-1A11730F38E9}" dt="2026-03-01T23:11:55.025" v="41" actId="27636"/>
        <pc:sldMkLst>
          <pc:docMk/>
          <pc:sldMk cId="0" sldId="332"/>
        </pc:sldMkLst>
        <pc:spChg chg="mod">
          <ac:chgData name="Scott Hay" userId="e95d3f44-f6c0-414c-b281-41a9346c1b81" providerId="ADAL" clId="{4D76341F-F64C-4A8E-A4EF-1A11730F38E9}" dt="2026-03-01T23:06:04.935" v="2" actId="14100"/>
          <ac:spMkLst>
            <pc:docMk/>
            <pc:sldMk cId="0" sldId="332"/>
            <ac:spMk id="3" creationId="{00000000-0000-0000-0000-000000000000}"/>
          </ac:spMkLst>
        </pc:spChg>
        <pc:spChg chg="mod">
          <ac:chgData name="Scott Hay" userId="e95d3f44-f6c0-414c-b281-41a9346c1b81" providerId="ADAL" clId="{4D76341F-F64C-4A8E-A4EF-1A11730F38E9}" dt="2026-03-01T23:11:55.017" v="39" actId="27636"/>
          <ac:spMkLst>
            <pc:docMk/>
            <pc:sldMk cId="0" sldId="332"/>
            <ac:spMk id="6" creationId="{00000000-0000-0000-0000-000000000000}"/>
          </ac:spMkLst>
        </pc:spChg>
        <pc:spChg chg="mod">
          <ac:chgData name="Scott Hay" userId="e95d3f44-f6c0-414c-b281-41a9346c1b81" providerId="ADAL" clId="{4D76341F-F64C-4A8E-A4EF-1A11730F38E9}" dt="2026-03-01T23:06:04.935" v="2" actId="14100"/>
          <ac:spMkLst>
            <pc:docMk/>
            <pc:sldMk cId="0" sldId="332"/>
            <ac:spMk id="7" creationId="{00000000-0000-0000-0000-000000000000}"/>
          </ac:spMkLst>
        </pc:spChg>
        <pc:spChg chg="mod">
          <ac:chgData name="Scott Hay" userId="e95d3f44-f6c0-414c-b281-41a9346c1b81" providerId="ADAL" clId="{4D76341F-F64C-4A8E-A4EF-1A11730F38E9}" dt="2026-03-01T23:11:55.020" v="40" actId="27636"/>
          <ac:spMkLst>
            <pc:docMk/>
            <pc:sldMk cId="0" sldId="332"/>
            <ac:spMk id="10" creationId="{00000000-0000-0000-0000-000000000000}"/>
          </ac:spMkLst>
        </pc:spChg>
        <pc:spChg chg="mod">
          <ac:chgData name="Scott Hay" userId="e95d3f44-f6c0-414c-b281-41a9346c1b81" providerId="ADAL" clId="{4D76341F-F64C-4A8E-A4EF-1A11730F38E9}" dt="2026-03-01T23:06:04.935" v="2" actId="14100"/>
          <ac:spMkLst>
            <pc:docMk/>
            <pc:sldMk cId="0" sldId="332"/>
            <ac:spMk id="11" creationId="{00000000-0000-0000-0000-000000000000}"/>
          </ac:spMkLst>
        </pc:spChg>
        <pc:spChg chg="mod">
          <ac:chgData name="Scott Hay" userId="e95d3f44-f6c0-414c-b281-41a9346c1b81" providerId="ADAL" clId="{4D76341F-F64C-4A8E-A4EF-1A11730F38E9}" dt="2026-03-01T23:11:55.025" v="41" actId="27636"/>
          <ac:spMkLst>
            <pc:docMk/>
            <pc:sldMk cId="0" sldId="332"/>
            <ac:spMk id="14" creationId="{00000000-0000-0000-0000-000000000000}"/>
          </ac:spMkLst>
        </pc:spChg>
      </pc:sldChg>
      <pc:sldChg chg="modSp mod">
        <pc:chgData name="Scott Hay" userId="e95d3f44-f6c0-414c-b281-41a9346c1b81" providerId="ADAL" clId="{4D76341F-F64C-4A8E-A4EF-1A11730F38E9}" dt="2026-03-01T23:11:55.035" v="44" actId="27636"/>
        <pc:sldMkLst>
          <pc:docMk/>
          <pc:sldMk cId="0" sldId="336"/>
        </pc:sldMkLst>
        <pc:spChg chg="mod">
          <ac:chgData name="Scott Hay" userId="e95d3f44-f6c0-414c-b281-41a9346c1b81" providerId="ADAL" clId="{4D76341F-F64C-4A8E-A4EF-1A11730F38E9}" dt="2026-03-01T23:06:58.518" v="3" actId="14100"/>
          <ac:spMkLst>
            <pc:docMk/>
            <pc:sldMk cId="0" sldId="336"/>
            <ac:spMk id="3" creationId="{00000000-0000-0000-0000-000000000000}"/>
          </ac:spMkLst>
        </pc:spChg>
        <pc:spChg chg="mod">
          <ac:chgData name="Scott Hay" userId="e95d3f44-f6c0-414c-b281-41a9346c1b81" providerId="ADAL" clId="{4D76341F-F64C-4A8E-A4EF-1A11730F38E9}" dt="2026-03-01T23:11:55.031" v="42" actId="27636"/>
          <ac:spMkLst>
            <pc:docMk/>
            <pc:sldMk cId="0" sldId="336"/>
            <ac:spMk id="6" creationId="{00000000-0000-0000-0000-000000000000}"/>
          </ac:spMkLst>
        </pc:spChg>
        <pc:spChg chg="mod">
          <ac:chgData name="Scott Hay" userId="e95d3f44-f6c0-414c-b281-41a9346c1b81" providerId="ADAL" clId="{4D76341F-F64C-4A8E-A4EF-1A11730F38E9}" dt="2026-03-01T23:06:58.518" v="3" actId="14100"/>
          <ac:spMkLst>
            <pc:docMk/>
            <pc:sldMk cId="0" sldId="336"/>
            <ac:spMk id="7" creationId="{00000000-0000-0000-0000-000000000000}"/>
          </ac:spMkLst>
        </pc:spChg>
        <pc:spChg chg="mod">
          <ac:chgData name="Scott Hay" userId="e95d3f44-f6c0-414c-b281-41a9346c1b81" providerId="ADAL" clId="{4D76341F-F64C-4A8E-A4EF-1A11730F38E9}" dt="2026-03-01T23:11:55.035" v="44" actId="27636"/>
          <ac:spMkLst>
            <pc:docMk/>
            <pc:sldMk cId="0" sldId="336"/>
            <ac:spMk id="10" creationId="{00000000-0000-0000-0000-000000000000}"/>
          </ac:spMkLst>
        </pc:spChg>
        <pc:spChg chg="mod">
          <ac:chgData name="Scott Hay" userId="e95d3f44-f6c0-414c-b281-41a9346c1b81" providerId="ADAL" clId="{4D76341F-F64C-4A8E-A4EF-1A11730F38E9}" dt="2026-03-01T23:06:58.518" v="3" actId="14100"/>
          <ac:spMkLst>
            <pc:docMk/>
            <pc:sldMk cId="0" sldId="336"/>
            <ac:spMk id="11" creationId="{00000000-0000-0000-0000-000000000000}"/>
          </ac:spMkLst>
        </pc:spChg>
        <pc:spChg chg="mod">
          <ac:chgData name="Scott Hay" userId="e95d3f44-f6c0-414c-b281-41a9346c1b81" providerId="ADAL" clId="{4D76341F-F64C-4A8E-A4EF-1A11730F38E9}" dt="2026-03-01T23:11:55.032" v="43" actId="27636"/>
          <ac:spMkLst>
            <pc:docMk/>
            <pc:sldMk cId="0" sldId="336"/>
            <ac:spMk id="14" creationId="{00000000-0000-0000-0000-000000000000}"/>
          </ac:spMkLst>
        </pc:spChg>
      </pc:sldChg>
      <pc:sldChg chg="modSp mod">
        <pc:chgData name="Scott Hay" userId="e95d3f44-f6c0-414c-b281-41a9346c1b81" providerId="ADAL" clId="{4D76341F-F64C-4A8E-A4EF-1A11730F38E9}" dt="2026-03-01T23:07:08.367" v="4" actId="1076"/>
        <pc:sldMkLst>
          <pc:docMk/>
          <pc:sldMk cId="0" sldId="338"/>
        </pc:sldMkLst>
        <pc:spChg chg="mod">
          <ac:chgData name="Scott Hay" userId="e95d3f44-f6c0-414c-b281-41a9346c1b81" providerId="ADAL" clId="{4D76341F-F64C-4A8E-A4EF-1A11730F38E9}" dt="2026-03-01T23:07:08.367" v="4" actId="1076"/>
          <ac:spMkLst>
            <pc:docMk/>
            <pc:sldMk cId="0" sldId="338"/>
            <ac:spMk id="3" creationId="{00000000-0000-0000-0000-000000000000}"/>
          </ac:spMkLst>
        </pc:spChg>
      </pc:sldChg>
      <pc:sldChg chg="modSp mod">
        <pc:chgData name="Scott Hay" userId="e95d3f44-f6c0-414c-b281-41a9346c1b81" providerId="ADAL" clId="{4D76341F-F64C-4A8E-A4EF-1A11730F38E9}" dt="2026-03-02T01:49:24.526" v="76" actId="27636"/>
        <pc:sldMkLst>
          <pc:docMk/>
          <pc:sldMk cId="0" sldId="350"/>
        </pc:sldMkLst>
        <pc:spChg chg="mod">
          <ac:chgData name="Scott Hay" userId="e95d3f44-f6c0-414c-b281-41a9346c1b81" providerId="ADAL" clId="{4D76341F-F64C-4A8E-A4EF-1A11730F38E9}" dt="2026-03-01T23:07:28.063" v="5" actId="14100"/>
          <ac:spMkLst>
            <pc:docMk/>
            <pc:sldMk cId="0" sldId="350"/>
            <ac:spMk id="3" creationId="{00000000-0000-0000-0000-000000000000}"/>
          </ac:spMkLst>
        </pc:spChg>
        <pc:spChg chg="mod">
          <ac:chgData name="Scott Hay" userId="e95d3f44-f6c0-414c-b281-41a9346c1b81" providerId="ADAL" clId="{4D76341F-F64C-4A8E-A4EF-1A11730F38E9}" dt="2026-03-01T23:11:55.044" v="46" actId="27636"/>
          <ac:spMkLst>
            <pc:docMk/>
            <pc:sldMk cId="0" sldId="350"/>
            <ac:spMk id="6" creationId="{00000000-0000-0000-0000-000000000000}"/>
          </ac:spMkLst>
        </pc:spChg>
        <pc:spChg chg="mod">
          <ac:chgData name="Scott Hay" userId="e95d3f44-f6c0-414c-b281-41a9346c1b81" providerId="ADAL" clId="{4D76341F-F64C-4A8E-A4EF-1A11730F38E9}" dt="2026-03-01T23:07:28.063" v="5" actId="14100"/>
          <ac:spMkLst>
            <pc:docMk/>
            <pc:sldMk cId="0" sldId="350"/>
            <ac:spMk id="7" creationId="{00000000-0000-0000-0000-000000000000}"/>
          </ac:spMkLst>
        </pc:spChg>
        <pc:spChg chg="mod">
          <ac:chgData name="Scott Hay" userId="e95d3f44-f6c0-414c-b281-41a9346c1b81" providerId="ADAL" clId="{4D76341F-F64C-4A8E-A4EF-1A11730F38E9}" dt="2026-03-02T01:49:24.526" v="76" actId="27636"/>
          <ac:spMkLst>
            <pc:docMk/>
            <pc:sldMk cId="0" sldId="350"/>
            <ac:spMk id="10" creationId="{00000000-0000-0000-0000-000000000000}"/>
          </ac:spMkLst>
        </pc:spChg>
        <pc:spChg chg="mod">
          <ac:chgData name="Scott Hay" userId="e95d3f44-f6c0-414c-b281-41a9346c1b81" providerId="ADAL" clId="{4D76341F-F64C-4A8E-A4EF-1A11730F38E9}" dt="2026-03-01T23:07:28.063" v="5" actId="14100"/>
          <ac:spMkLst>
            <pc:docMk/>
            <pc:sldMk cId="0" sldId="350"/>
            <ac:spMk id="11" creationId="{00000000-0000-0000-0000-000000000000}"/>
          </ac:spMkLst>
        </pc:spChg>
        <pc:spChg chg="mod">
          <ac:chgData name="Scott Hay" userId="e95d3f44-f6c0-414c-b281-41a9346c1b81" providerId="ADAL" clId="{4D76341F-F64C-4A8E-A4EF-1A11730F38E9}" dt="2026-03-01T23:11:55.042" v="45" actId="27636"/>
          <ac:spMkLst>
            <pc:docMk/>
            <pc:sldMk cId="0" sldId="350"/>
            <ac:spMk id="14" creationId="{00000000-0000-0000-0000-000000000000}"/>
          </ac:spMkLst>
        </pc:spChg>
      </pc:sldChg>
      <pc:sldChg chg="modSp mod">
        <pc:chgData name="Scott Hay" userId="e95d3f44-f6c0-414c-b281-41a9346c1b81" providerId="ADAL" clId="{4D76341F-F64C-4A8E-A4EF-1A11730F38E9}" dt="2026-03-01T23:11:55.054" v="50" actId="27636"/>
        <pc:sldMkLst>
          <pc:docMk/>
          <pc:sldMk cId="0" sldId="352"/>
        </pc:sldMkLst>
        <pc:spChg chg="mod">
          <ac:chgData name="Scott Hay" userId="e95d3f44-f6c0-414c-b281-41a9346c1b81" providerId="ADAL" clId="{4D76341F-F64C-4A8E-A4EF-1A11730F38E9}" dt="2026-03-01T23:07:37.183" v="6" actId="14100"/>
          <ac:spMkLst>
            <pc:docMk/>
            <pc:sldMk cId="0" sldId="352"/>
            <ac:spMk id="3" creationId="{00000000-0000-0000-0000-000000000000}"/>
          </ac:spMkLst>
        </pc:spChg>
        <pc:spChg chg="mod">
          <ac:chgData name="Scott Hay" userId="e95d3f44-f6c0-414c-b281-41a9346c1b81" providerId="ADAL" clId="{4D76341F-F64C-4A8E-A4EF-1A11730F38E9}" dt="2026-03-01T23:11:55.051" v="49" actId="27636"/>
          <ac:spMkLst>
            <pc:docMk/>
            <pc:sldMk cId="0" sldId="352"/>
            <ac:spMk id="6" creationId="{00000000-0000-0000-0000-000000000000}"/>
          </ac:spMkLst>
        </pc:spChg>
        <pc:spChg chg="mod">
          <ac:chgData name="Scott Hay" userId="e95d3f44-f6c0-414c-b281-41a9346c1b81" providerId="ADAL" clId="{4D76341F-F64C-4A8E-A4EF-1A11730F38E9}" dt="2026-03-01T23:07:37.183" v="6" actId="14100"/>
          <ac:spMkLst>
            <pc:docMk/>
            <pc:sldMk cId="0" sldId="352"/>
            <ac:spMk id="7" creationId="{00000000-0000-0000-0000-000000000000}"/>
          </ac:spMkLst>
        </pc:spChg>
        <pc:spChg chg="mod">
          <ac:chgData name="Scott Hay" userId="e95d3f44-f6c0-414c-b281-41a9346c1b81" providerId="ADAL" clId="{4D76341F-F64C-4A8E-A4EF-1A11730F38E9}" dt="2026-03-01T23:11:55.054" v="50" actId="27636"/>
          <ac:spMkLst>
            <pc:docMk/>
            <pc:sldMk cId="0" sldId="352"/>
            <ac:spMk id="10" creationId="{00000000-0000-0000-0000-000000000000}"/>
          </ac:spMkLst>
        </pc:spChg>
        <pc:spChg chg="mod">
          <ac:chgData name="Scott Hay" userId="e95d3f44-f6c0-414c-b281-41a9346c1b81" providerId="ADAL" clId="{4D76341F-F64C-4A8E-A4EF-1A11730F38E9}" dt="2026-03-01T23:07:37.183" v="6" actId="14100"/>
          <ac:spMkLst>
            <pc:docMk/>
            <pc:sldMk cId="0" sldId="352"/>
            <ac:spMk id="11" creationId="{00000000-0000-0000-0000-000000000000}"/>
          </ac:spMkLst>
        </pc:spChg>
        <pc:spChg chg="mod">
          <ac:chgData name="Scott Hay" userId="e95d3f44-f6c0-414c-b281-41a9346c1b81" providerId="ADAL" clId="{4D76341F-F64C-4A8E-A4EF-1A11730F38E9}" dt="2026-03-01T23:11:55.048" v="48" actId="27636"/>
          <ac:spMkLst>
            <pc:docMk/>
            <pc:sldMk cId="0" sldId="352"/>
            <ac:spMk id="14" creationId="{00000000-0000-0000-0000-000000000000}"/>
          </ac:spMkLst>
        </pc:spChg>
      </pc:sldChg>
      <pc:sldChg chg="modSp mod">
        <pc:chgData name="Scott Hay" userId="e95d3f44-f6c0-414c-b281-41a9346c1b81" providerId="ADAL" clId="{4D76341F-F64C-4A8E-A4EF-1A11730F38E9}" dt="2026-03-01T23:11:55.063" v="53" actId="27636"/>
        <pc:sldMkLst>
          <pc:docMk/>
          <pc:sldMk cId="0" sldId="357"/>
        </pc:sldMkLst>
        <pc:spChg chg="mod">
          <ac:chgData name="Scott Hay" userId="e95d3f44-f6c0-414c-b281-41a9346c1b81" providerId="ADAL" clId="{4D76341F-F64C-4A8E-A4EF-1A11730F38E9}" dt="2026-03-01T23:11:55.059" v="51" actId="27636"/>
          <ac:spMkLst>
            <pc:docMk/>
            <pc:sldMk cId="0" sldId="357"/>
            <ac:spMk id="6" creationId="{00000000-0000-0000-0000-000000000000}"/>
          </ac:spMkLst>
        </pc:spChg>
        <pc:spChg chg="mod">
          <ac:chgData name="Scott Hay" userId="e95d3f44-f6c0-414c-b281-41a9346c1b81" providerId="ADAL" clId="{4D76341F-F64C-4A8E-A4EF-1A11730F38E9}" dt="2026-03-01T23:11:55.063" v="53" actId="27636"/>
          <ac:spMkLst>
            <pc:docMk/>
            <pc:sldMk cId="0" sldId="357"/>
            <ac:spMk id="10" creationId="{00000000-0000-0000-0000-000000000000}"/>
          </ac:spMkLst>
        </pc:spChg>
        <pc:spChg chg="mod">
          <ac:chgData name="Scott Hay" userId="e95d3f44-f6c0-414c-b281-41a9346c1b81" providerId="ADAL" clId="{4D76341F-F64C-4A8E-A4EF-1A11730F38E9}" dt="2026-03-01T23:11:55.061" v="52" actId="27636"/>
          <ac:spMkLst>
            <pc:docMk/>
            <pc:sldMk cId="0" sldId="357"/>
            <ac:spMk id="14" creationId="{00000000-0000-0000-0000-000000000000}"/>
          </ac:spMkLst>
        </pc:spChg>
      </pc:sldChg>
      <pc:sldChg chg="modSp mod">
        <pc:chgData name="Scott Hay" userId="e95d3f44-f6c0-414c-b281-41a9346c1b81" providerId="ADAL" clId="{4D76341F-F64C-4A8E-A4EF-1A11730F38E9}" dt="2026-03-01T23:11:55.075" v="56" actId="27636"/>
        <pc:sldMkLst>
          <pc:docMk/>
          <pc:sldMk cId="0" sldId="366"/>
        </pc:sldMkLst>
        <pc:spChg chg="mod">
          <ac:chgData name="Scott Hay" userId="e95d3f44-f6c0-414c-b281-41a9346c1b81" providerId="ADAL" clId="{4D76341F-F64C-4A8E-A4EF-1A11730F38E9}" dt="2026-03-01T23:08:13.248" v="7" actId="14100"/>
          <ac:spMkLst>
            <pc:docMk/>
            <pc:sldMk cId="0" sldId="366"/>
            <ac:spMk id="3" creationId="{00000000-0000-0000-0000-000000000000}"/>
          </ac:spMkLst>
        </pc:spChg>
        <pc:spChg chg="mod">
          <ac:chgData name="Scott Hay" userId="e95d3f44-f6c0-414c-b281-41a9346c1b81" providerId="ADAL" clId="{4D76341F-F64C-4A8E-A4EF-1A11730F38E9}" dt="2026-03-01T23:11:55.075" v="56" actId="27636"/>
          <ac:spMkLst>
            <pc:docMk/>
            <pc:sldMk cId="0" sldId="366"/>
            <ac:spMk id="6" creationId="{00000000-0000-0000-0000-000000000000}"/>
          </ac:spMkLst>
        </pc:spChg>
        <pc:spChg chg="mod">
          <ac:chgData name="Scott Hay" userId="e95d3f44-f6c0-414c-b281-41a9346c1b81" providerId="ADAL" clId="{4D76341F-F64C-4A8E-A4EF-1A11730F38E9}" dt="2026-03-01T23:08:13.248" v="7" actId="14100"/>
          <ac:spMkLst>
            <pc:docMk/>
            <pc:sldMk cId="0" sldId="366"/>
            <ac:spMk id="7" creationId="{00000000-0000-0000-0000-000000000000}"/>
          </ac:spMkLst>
        </pc:spChg>
        <pc:spChg chg="mod">
          <ac:chgData name="Scott Hay" userId="e95d3f44-f6c0-414c-b281-41a9346c1b81" providerId="ADAL" clId="{4D76341F-F64C-4A8E-A4EF-1A11730F38E9}" dt="2026-03-01T23:11:55.069" v="54" actId="27636"/>
          <ac:spMkLst>
            <pc:docMk/>
            <pc:sldMk cId="0" sldId="366"/>
            <ac:spMk id="10" creationId="{00000000-0000-0000-0000-000000000000}"/>
          </ac:spMkLst>
        </pc:spChg>
        <pc:spChg chg="mod">
          <ac:chgData name="Scott Hay" userId="e95d3f44-f6c0-414c-b281-41a9346c1b81" providerId="ADAL" clId="{4D76341F-F64C-4A8E-A4EF-1A11730F38E9}" dt="2026-03-01T23:08:13.248" v="7" actId="14100"/>
          <ac:spMkLst>
            <pc:docMk/>
            <pc:sldMk cId="0" sldId="366"/>
            <ac:spMk id="11" creationId="{00000000-0000-0000-0000-000000000000}"/>
          </ac:spMkLst>
        </pc:spChg>
        <pc:spChg chg="mod">
          <ac:chgData name="Scott Hay" userId="e95d3f44-f6c0-414c-b281-41a9346c1b81" providerId="ADAL" clId="{4D76341F-F64C-4A8E-A4EF-1A11730F38E9}" dt="2026-03-01T23:11:55.073" v="55" actId="27636"/>
          <ac:spMkLst>
            <pc:docMk/>
            <pc:sldMk cId="0" sldId="366"/>
            <ac:spMk id="14" creationId="{00000000-0000-0000-0000-000000000000}"/>
          </ac:spMkLst>
        </pc:spChg>
      </pc:sldChg>
      <pc:sldChg chg="modSp mod">
        <pc:chgData name="Scott Hay" userId="e95d3f44-f6c0-414c-b281-41a9346c1b81" providerId="ADAL" clId="{4D76341F-F64C-4A8E-A4EF-1A11730F38E9}" dt="2026-03-01T23:09:12.678" v="8" actId="207"/>
        <pc:sldMkLst>
          <pc:docMk/>
          <pc:sldMk cId="0" sldId="369"/>
        </pc:sldMkLst>
        <pc:spChg chg="mod">
          <ac:chgData name="Scott Hay" userId="e95d3f44-f6c0-414c-b281-41a9346c1b81" providerId="ADAL" clId="{4D76341F-F64C-4A8E-A4EF-1A11730F38E9}" dt="2026-03-01T23:09:12.678" v="8" actId="207"/>
          <ac:spMkLst>
            <pc:docMk/>
            <pc:sldMk cId="0" sldId="36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03013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 Day 2! Yesterday you learned to talk to Claude - today you'll learn to build with it. By the end of this session, Claude Code will feel like having a senior developer pair programming with you.</a:t>
            </a:r>
          </a:p>
          <a:p>
            <a:endParaRPr/>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endParaRPr/>
          </a:p>
          <a:p>
            <a:r>
              <a:t>REAL-WORLD EXAMPLE:</a:t>
            </a:r>
          </a:p>
          <a:p>
            <a:r>
              <a:t>   One of our developers used Claude Code last week to refactor 47 files in a legacy codebase in under 30 minutes - something that would have taken days manually. That's the power we're unlocking today.</a:t>
            </a:r>
          </a:p>
          <a:p>
            <a:endParaRPr/>
          </a:p>
          <a:p>
            <a:r>
              <a:t>TRANSITION:</a:t>
            </a:r>
          </a:p>
          <a:p>
            <a:r>
              <a:t>   Let's look at what we're covering today</a:t>
            </a:r>
          </a:p>
          <a:p>
            <a:br/>
            <a:br/>
            <a:r>
              <a:t>OPENING HOOK: Before anything else, ask the room: "How long would it take you to build a dashboard with an API, a database, a frontend, input validation, logging, CSV export, and clean git history?" Someone will say a day or two. Then say: "By 4pm today, you'll have done it in about 3 hours — and you'll barely touch the keyboard." Let that land, then move to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is a packed day, but every minute is hands-on and practical - no theoretical fluff.</a:t>
            </a:r>
          </a:p>
          <a:p>
            <a:endParaRPr/>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endParaRPr/>
          </a:p>
          <a:p>
            <a:r>
              <a:t>REAL-WORLD EXAMPLE:</a:t>
            </a:r>
          </a:p>
          <a:p>
            <a:r>
              <a:t>   I've trained over 200 developers on Claude Code. The ones who grasp the agentic loop in the morning hit the ground running. The ones who skip it struggle for weeks.</a:t>
            </a:r>
          </a:p>
          <a:p>
            <a:endParaRPr/>
          </a:p>
          <a:p>
            <a:r>
              <a:t>TRANSITION:</a:t>
            </a:r>
          </a:p>
          <a:p>
            <a:r>
              <a:t>   Let's talk about what you'll actually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OPEN WITH:</a:t>
            </a:r>
            <a:br/>
            <a:r>
              <a:t>  Six objectives today. They build on each other — by lunch you'll have the first three down, and you'll have built a working app and written your own AI policy file.</a:t>
            </a:r>
            <a:br/>
            <a:br/>
            <a:r>
              <a:t>KEY POINTS:</a:t>
            </a:r>
            <a:br/>
            <a:r>
              <a:t>  * Objectives 1-2 are the foundation — install the tool, understand the agentic loop (morning + Lab 2A)</a:t>
            </a:r>
            <a:br/>
            <a:r>
              <a:t>  * Objective 3 is about control — CLAUDE.md as project policy (morning + Lab 2B)</a:t>
            </a:r>
            <a:br/>
            <a:r>
              <a:t>  * Objectives 4-5 are precision skills — @ mentions and context optimization (afternoon + Lab 2C)</a:t>
            </a:r>
            <a:br/>
            <a:r>
              <a:t>  * Objective 6 ties it together — commands, Git, shipping (afternoon + Lab 2D)</a:t>
            </a:r>
            <a:br/>
            <a:r>
              <a:t>  * Every objective is practiced hands-on in the labs</a:t>
            </a:r>
            <a:br/>
            <a:br/>
            <a:r>
              <a:t>TRANSITION:</a:t>
            </a:r>
            <a:br/>
            <a:r>
              <a:t>  Here's what you'll actually build today</a:t>
            </a:r>
          </a:p>
          <a:p>
            <a:endParaRPr/>
          </a:p>
          <a:p/>
          <a:p/>
          <a:p>
            <a:endParaRPr/>
          </a:p>
          <a:p/>
          <a:p/>
          <a:p/>
          <a:p/>
          <a:p/>
          <a:p>
            <a:endParaRPr/>
          </a:p>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These aren't tutorial projects. These are the exact types of tasks you'll do next week at your desk.</a:t>
            </a:r>
          </a:p>
          <a:p>
            <a:endParaRPr/>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endParaRPr/>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endParaRPr/>
          </a:p>
          <a:p>
            <a:r>
              <a:t>TRANSITION:</a:t>
            </a:r>
          </a:p>
          <a:p>
            <a:r>
              <a:t>   Before we dive into installation, let's make sure we're all on the same page about what Claude Code actually is</a:t>
            </a:r>
          </a:p>
          <a:p>
            <a:br/>
            <a:br/>
            <a:r>
              <a:t>OPENING QUESTION (before students start the lab): "Raise your hand if you believe AI can generate code." [most hands]. "Keep your hand up if you believe it can debug production failures." [some drop]. "Keep your hand up if you believe it can refactor a large codebase safely." [more drop]. "Good. Today we test all three." Then let them start.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endParaRPr/>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endParaRPr/>
          </a:p>
          <a:p>
            <a:r>
              <a:t>ASK THE CLASS:</a:t>
            </a:r>
          </a:p>
          <a:p>
            <a:r>
              <a:t>   "How many hours per week do you spend copy-pasting context into AI tools? What if that went to zero?"</a:t>
            </a:r>
          </a:p>
          <a:p>
            <a:r>
              <a:t>   [PAUSE for 30-60 seconds]</a:t>
            </a:r>
          </a:p>
          <a:p>
            <a:endParaRPr/>
          </a:p>
          <a:p>
            <a:r>
              <a:t>REAL-WORLD EXAMPLE:</a:t>
            </a:r>
          </a:p>
          <a:p>
            <a:r>
              <a:t>   A PM creates a folder with competitors.md, analysis-template.md, and CLAUDE.md with instructions. Types 'analyse competitors' — Claude Code does the research automatically using folder context. No copy-pasting.</a:t>
            </a:r>
          </a:p>
          <a:p>
            <a:endParaRPr/>
          </a:p>
          <a:p>
            <a:r>
              <a:t>TRANSITION:</a:t>
            </a:r>
          </a:p>
          <a:p>
            <a:r>
              <a:t>   Let's get Claude Code installed so you can experience this shift firsthand.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Before we dive in, let's set expectations. Claude Code is incredibly powerful, but it's not replacing your engineering team. Think of it as letting you validate before consuming engineering resources.</a:t>
            </a:r>
          </a:p>
          <a:p>
            <a:endParaRPr/>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endParaRPr/>
          </a:p>
          <a:p>
            <a:r>
              <a:t>ASK THE CLASS:</a:t>
            </a:r>
          </a:p>
          <a:p>
            <a:r>
              <a:t>   "Have you ever had an idea killed in committee that might have survived if you could show a working prototype?"</a:t>
            </a:r>
          </a:p>
          <a:p>
            <a:r>
              <a:t>   [PAUSE for 30-60 seconds]</a:t>
            </a:r>
          </a:p>
          <a:p>
            <a:endParaRPr/>
          </a:p>
          <a:p>
            <a:r>
              <a:t>REAL-WORLD EXAMPLE:</a:t>
            </a:r>
          </a:p>
          <a:p>
            <a:r>
              <a:t>   CEO asks 'can we build X?' — PM prototypes in 2 hours with Claude Code — shows CEO working demo — engineering sees clear requirements — estimate drops from 3 weeks to 1 week.</a:t>
            </a:r>
          </a:p>
          <a:p>
            <a:endParaRPr/>
          </a:p>
          <a:p>
            <a:r>
              <a:t>TRANSITION:</a:t>
            </a:r>
          </a:p>
          <a:p>
            <a:r>
              <a:t>   Now let's get set up so you can start building prototypes like this.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address the elephant in the room: how does Claude Code compare to Copilot, Cursor, and Amazon Q? They're not the same category of tool.</a:t>
            </a:r>
          </a:p>
          <a:p>
            <a:endParaRPr/>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endParaRPr/>
          </a:p>
          <a:p>
            <a:r>
              <a:t>ASK THE CLASS:</a:t>
            </a:r>
          </a:p>
          <a:p>
            <a:r>
              <a:t>   "How many of you use Copilot today? What tasks does it handle well, and where do you hit limits?"</a:t>
            </a:r>
          </a:p>
          <a:p>
            <a:r>
              <a:t>   [PAUSE for 30-60 seconds]</a:t>
            </a:r>
          </a:p>
          <a:p>
            <a:endParaRPr/>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endParaRPr/>
          </a:p>
          <a:p>
            <a:r>
              <a:t>TRANSITION:</a:t>
            </a:r>
          </a:p>
          <a:p>
            <a:r>
              <a:t>   Now that you understand what makes Claude Code different, let's explore the memory architecture that powers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endParaRPr/>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endParaRPr/>
          </a:p>
          <a:p>
            <a:r>
              <a:t>ASK THE CLASS:</a:t>
            </a:r>
          </a:p>
          <a:p>
            <a:r>
              <a:t>   "Think about how you study for an exam. You review notes repeatedly to move them from short-term to long-term memory. How would you do the same for Claude?"</a:t>
            </a:r>
          </a:p>
          <a:p>
            <a:r>
              <a:t>   [PAUSE for 30-60 seconds]</a:t>
            </a:r>
          </a:p>
          <a:p>
            <a:endParaRPr/>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endParaRPr/>
          </a:p>
          <a:p>
            <a:r>
              <a:t>TRANSITION:</a:t>
            </a:r>
          </a:p>
          <a:p>
            <a:r>
              <a:t>   With this model in mind, let's get Claude Code installed and see these memory systems in action.</a:t>
            </a:r>
          </a:p>
          <a:p>
            <a:br/>
            <a:br/>
            <a:r>
              <a:t>ANALOGY TABLE (draw on whiteboard or just speak it):</a:t>
            </a:r>
            <a:br/>
            <a:r>
              <a:t>Human Brain → Claude Code:</a:t>
            </a:r>
            <a:br/>
            <a:r>
              <a:t>Working memory → Context window (what Claude is thinking about RIGHT NOW)</a:t>
            </a:r>
            <a:br/>
            <a:r>
              <a:t>Short-term memory → Session history (this conversation)</a:t>
            </a:r>
            <a:br/>
            <a:r>
              <a:t>Long-term memory → CLAUDE.md (persists across sessions)</a:t>
            </a:r>
            <a:br/>
            <a:r>
              <a:t>Muscle memory → Skills &amp; slash commands (automatic behaviors)</a:t>
            </a:r>
            <a:br/>
            <a:r>
              <a:t>Everything you learn today is about managing these four layers. That's the whole game.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Installation is quick, but configuration is where the magic happens. We'll do both.</a:t>
            </a:r>
          </a:p>
          <a:p>
            <a:endParaRPr/>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endParaRPr/>
          </a:p>
          <a:p>
            <a:r>
              <a:t>TRANSITION:</a:t>
            </a:r>
          </a:p>
          <a:p>
            <a:r>
              <a:t>   First, let's check if your machine is ready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Everyone pull up a terminal right now and type 'node --version' - I'll wait. If you see a number starting with 18, 20, or 22, you're golden.</a:t>
            </a:r>
          </a:p>
          <a:p>
            <a:endParaRPr/>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endParaRPr/>
          </a:p>
          <a:p>
            <a:r>
              <a:t>ASK THE CLASS:</a:t>
            </a:r>
          </a:p>
          <a:p>
            <a:r>
              <a:t>   "Anyone stuck on the Node or Git version check? Speak up now - we'll get you sorted."</a:t>
            </a:r>
          </a:p>
          <a:p>
            <a:r>
              <a:t>   [PAUSE for 30-60 seconds]</a:t>
            </a:r>
          </a:p>
          <a:p>
            <a:endParaRPr/>
          </a:p>
          <a:p>
            <a:r>
              <a:t>REAL-WORLD EXAMPLE:</a:t>
            </a:r>
          </a:p>
          <a:p>
            <a:r>
              <a:t>   I've had students try to run Claude Code on Node 16 and wonder why commands fail intermittently. The minimum version exists for a reason - async behavior and module resolution changed significantly in Node 18.</a:t>
            </a:r>
          </a:p>
          <a:p>
            <a:endParaRPr/>
          </a:p>
          <a:p>
            <a:r>
              <a:t>TRANSITION:</a:t>
            </a:r>
          </a:p>
          <a:p>
            <a:r>
              <a:t>   Assuming we're all good on requirements, let's install Claude Code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Three ways to install, but I'm going to tell you which one to use: npm global install. Here's why.</a:t>
            </a:r>
          </a:p>
          <a:p>
            <a:endParaRPr/>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endParaRPr/>
          </a:p>
          <a:p>
            <a:r>
              <a:t>ASK THE CLASS:</a:t>
            </a:r>
          </a:p>
          <a:p>
            <a:r>
              <a:t>   "Who's installing right now? Give me a thumbs up in chat when you see a version number."</a:t>
            </a:r>
          </a:p>
          <a:p>
            <a:r>
              <a:t>   [PAUSE for 30-60 seconds]</a:t>
            </a:r>
          </a:p>
          <a:p>
            <a:endParaRPr/>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endParaRPr/>
          </a:p>
          <a:p>
            <a:r>
              <a:t>TRANSITION:</a:t>
            </a:r>
          </a:p>
          <a:p>
            <a:r>
              <a:t>   You've got the CLI installed - now let's authenticate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endParaRPr/>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endParaRPr/>
          </a:p>
          <a:p>
            <a:r>
              <a:t>TRANSITION:</a:t>
            </a:r>
          </a:p>
          <a:p>
            <a:r>
              <a:t>   Whether you use terminal or desktop, the first step is the same — let's walk through your first command.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endParaRPr/>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endParaRPr/>
          </a:p>
          <a:p>
            <a:r>
              <a:t>TRANSITION:</a:t>
            </a:r>
          </a:p>
          <a:p>
            <a:r>
              <a:t>   Now let's run our first real command and see Claude Code in action.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Authentication is a one-time thing, but you need to understand where your API key lives and how Claude Code uses it.</a:t>
            </a:r>
          </a:p>
          <a:p>
            <a:endParaRPr/>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endParaRPr/>
          </a:p>
          <a:p>
            <a:r>
              <a:t>ASK THE CLASS:</a:t>
            </a:r>
          </a:p>
          <a:p>
            <a:r>
              <a:t>   "Everyone run 'claude login' and 'claude whoami' right now - I want to see your account email appear. If it fails, you might have firewall or proxy issues."</a:t>
            </a:r>
          </a:p>
          <a:p>
            <a:r>
              <a:t>   [PAUSE for 30-60 seconds]</a:t>
            </a:r>
          </a:p>
          <a:p>
            <a:endParaRPr/>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endParaRPr/>
          </a:p>
          <a:p>
            <a:r>
              <a:t>TRANSITION:</a:t>
            </a:r>
          </a:p>
          <a:p>
            <a:r>
              <a:t>   Now that you're authenticated, let's talk about which model to use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Model selection is like choosing between a Honda Civic, a BMW, and a Tesla - they all get you there, but the experience and cost differ wildly.</a:t>
            </a:r>
          </a:p>
          <a:p>
            <a:endParaRPr/>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endParaRPr/>
          </a:p>
          <a:p>
            <a:r>
              <a:t>ASK THE CLASS:</a:t>
            </a:r>
          </a:p>
          <a:p>
            <a:r>
              <a:t>   "What kind of tasks do you do most often - quick refactoring and docs, or deep architectural work? That'll guide your default model choice."</a:t>
            </a:r>
          </a:p>
          <a:p>
            <a:r>
              <a:t>   [PAUSE for 30-60 seconds]</a:t>
            </a:r>
          </a:p>
          <a:p>
            <a:endParaRPr/>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endParaRPr/>
          </a:p>
          <a:p>
            <a:r>
              <a:t>TRANSITION:</a:t>
            </a:r>
          </a:p>
          <a:p>
            <a:r>
              <a:t>   Let's run your first Claude Code command and see this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Alright, talking time is over - let's actually see Claude Code do something. Everyone follow along on your own machine.</a:t>
            </a:r>
          </a:p>
          <a:p>
            <a:endParaRPr/>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endParaRPr/>
          </a:p>
          <a:p>
            <a:r>
              <a:t>REAL-WORLD EXAMPLE:</a:t>
            </a:r>
          </a:p>
          <a:p>
            <a:r>
              <a:t>   This is a trivial example, but the pattern is identical whether you're creating a single hello world script or refactoring 50 files - read, plan, execute, verify. You just saw the entire agentic loop in 10 seconds.</a:t>
            </a:r>
          </a:p>
          <a:p>
            <a:endParaRPr/>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endParaRPr/>
          </a:p>
          <a:p>
            <a:r>
              <a:t>TRANSITION:</a:t>
            </a:r>
          </a:p>
          <a:p>
            <a:r>
              <a:t>   That was your first taste - now let's dive deep into how the agentic loop actually works under the hood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This is the most important section of the entire day. If you understand the agentic loop, everything else will click. If you don't, you'll be fighting the tool constantly.</a:t>
            </a:r>
          </a:p>
          <a:p>
            <a:endParaRPr/>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endParaRPr/>
          </a:p>
          <a:p>
            <a:r>
              <a:t>TRANSITION:</a:t>
            </a:r>
          </a:p>
          <a:p>
            <a:r>
              <a:t>   Let's visualize the loop first, then break down each stage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 it is - the five-stage cycle that powers every single action Claude Code takes. This graphic should be burned into your brain by end of day.</a:t>
            </a:r>
          </a:p>
          <a:p>
            <a:endParaRPr/>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endParaRPr/>
          </a:p>
          <a:p>
            <a:r>
              <a:t>ASK THE CLASS:</a:t>
            </a:r>
          </a:p>
          <a:p>
            <a:r>
              <a:t>   "When you debug code manually, do you follow a similar loop? Read code, understand it, plan a fix, implement it, test it? Claude Code is doing the exact same thing you do, just faster."</a:t>
            </a:r>
          </a:p>
          <a:p>
            <a:r>
              <a:t>   [PAUSE for 30-60 seconds]</a:t>
            </a:r>
          </a:p>
          <a:p>
            <a:endParaRPr/>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endParaRPr/>
          </a:p>
          <a:p>
            <a:r>
              <a:t>TRANSITION:</a:t>
            </a:r>
          </a:p>
          <a:p>
            <a:r>
              <a:t>   Let's break down stage one: Read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 Read stage is where Claude Code builds its understanding of your project - think of it as the AI reading your entire codebase before touching anything.</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Analysis is where Claude Code gets smart - it's not just seeing your code, it's understanding your code's personality and quirks.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Planning is where Claude Code thinks like a senior engineer - it's not just doing what you asked, it's figuring out the safest, smartest way to do it.</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Execute is where the rubber meets the road - Claude Code stops planning and starts making changes to your actual files.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Verification is Claude Code's quality control - it doesn't just make changes and hope they work, it actively checks that everything is good before calling it done.</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endParaRPr/>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endParaRPr/>
          </a:p>
          <a:p>
            <a:r>
              <a:t>ASK THE CLASS:</a:t>
            </a:r>
          </a:p>
          <a:p>
            <a:r>
              <a:t>   "Think about the last time you tried to implement a complex feature all at once. How much easier would it have been if you'd broken it into 5 testable steps?"</a:t>
            </a:r>
          </a:p>
          <a:p>
            <a:r>
              <a:t>   [PAUSE for 30-60 seconds]</a:t>
            </a:r>
          </a:p>
          <a:p>
            <a:endParaRPr/>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endParaRPr/>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endParaRPr/>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Okay, I'm going to run a real task and we're going to pause at each stage so you can see the loop in action. This is not a rehearsed demo - whatever happens, happens.</a:t>
            </a:r>
          </a:p>
          <a:p>
            <a:endParaRPr/>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endParaRPr/>
          </a:p>
          <a:p>
            <a:r>
              <a:t>REAL-WORLD EXAMPLE:</a:t>
            </a:r>
          </a:p>
          <a:p>
            <a:r>
              <a:t>   Every single task follows this loop, no matter how simple or complex. The difference is speed - simple tasks complete in one iteration, complex tasks might loop 3-4 times.</a:t>
            </a:r>
          </a:p>
          <a:p>
            <a:endParaRPr/>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endParaRPr/>
          </a:p>
          <a:p>
            <a:r>
              <a:t>TRANSITION:</a:t>
            </a:r>
          </a:p>
          <a:p>
            <a:r>
              <a:t>   The loop doesn't always work perfectly - let's talk about what happens when things go wrong</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but not magic - it can fail, and when it does, you need to know how to get it back on track. Let's talk about the most common failure modes.</a:t>
            </a:r>
          </a:p>
          <a:p>
            <a:endParaRPr/>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endParaRPr/>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endParaRPr/>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endParaRPr/>
          </a:p>
          <a:p>
            <a:r>
              <a:t>TRANSITION:</a:t>
            </a:r>
          </a:p>
          <a:p>
            <a:r>
              <a:t>   Now that you understand the engine, let's talk about how to configure it with CLAUDE.md</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CLAUDE.md is the secret weapon of advanced Claude Code users - it's how you train Claude Code to work exactly the way your team works.</a:t>
            </a:r>
          </a:p>
          <a:p>
            <a:endParaRPr/>
          </a:p>
          <a:p>
            <a:r>
              <a:t>KEY POINTS:</a:t>
            </a:r>
          </a:p>
          <a:p>
            <a:r>
              <a:t>   * Key insight about this topic</a:t>
            </a:r>
          </a:p>
          <a:p>
            <a:r>
              <a:t>   * How it applies to real development</a:t>
            </a:r>
          </a:p>
          <a:p>
            <a:r>
              <a:t>   * Why this matters for your workflow</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Imagine a new developer joining your team. You'd give them a README, style guide, contribution guidelines, right? CLAUDE.md is all of that, but for Claude Code.</a:t>
            </a:r>
          </a:p>
          <a:p>
            <a:endParaRPr/>
          </a:p>
          <a:p>
            <a:r>
              <a:t>KEY POINTS:</a:t>
            </a:r>
          </a:p>
          <a:p>
            <a:r>
              <a:t>   * Key insight about this topic</a:t>
            </a:r>
          </a:p>
          <a:p>
            <a:r>
              <a:t>   * How it applies to real development</a:t>
            </a:r>
          </a:p>
          <a:p>
            <a:r>
              <a:t>   * Why this matters for your workflow</a:t>
            </a:r>
          </a:p>
          <a:p>
            <a:r>
              <a:t>   * Important context: CLAUDE.md is just one layer in a full memory hierarchy. At the top, IT can deploy a managed policy CLAUDE.md that nobody can override — org-wide coding standards, security policies. Then project-level CLAUDE.md shared via git. Then modular rules in .claude/rules/ for topic-specific guidelines. Then your personal user-level CLAUDE.md at ~/.claude/CLAUDE.md that applies everywhere. And CLAUDE.local.md for personal project overrides that are auto-gitignored. We will cover all of these layers in the next few slides.</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a minimal but effective CLAUDE.md - it gives Claude Code everything it needs to work like a team member who's been here for months.</a:t>
            </a:r>
          </a:p>
          <a:p>
            <a:endParaRPr/>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endParaRPr/>
          </a:p>
          <a:p>
            <a:r>
              <a:t>ASK THE CLASS:</a:t>
            </a:r>
          </a:p>
          <a:p>
            <a:r>
              <a:t>   "What's one convention or rule in your current project that new developers always get wrong initially? That's exactly what should go in CLAUDE.md."</a:t>
            </a:r>
          </a:p>
          <a:p>
            <a:r>
              <a:t>   [PAUSE for 30-60 seconds]</a:t>
            </a:r>
          </a:p>
          <a:p>
            <a:endParaRPr/>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endParaRPr/>
          </a:p>
          <a:p>
            <a:r>
              <a:t>TRANSITION:</a:t>
            </a:r>
          </a:p>
          <a:p>
            <a:r>
              <a:t>   Beyond conventions, CLAUDE.md can include team settings and style guides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endParaRPr/>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endParaRPr/>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endParaRPr/>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endParaRPr/>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endParaRPr/>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Team Settings &amp; Style Guides.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Advanced: Model Preferences &amp; Custom Rules.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endParaRPr/>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endParaRPr/>
          </a:p>
          <a:p>
            <a:r>
              <a:t>ASK THE CLASS:</a:t>
            </a:r>
          </a:p>
          <a:p>
            <a:r>
              <a:t>   "What context do you find yourself repeating to AI tools? That's what belongs in your CLAUDE.md."</a:t>
            </a:r>
          </a:p>
          <a:p>
            <a:r>
              <a:t>   [PAUSE for 30-60 seconds]</a:t>
            </a:r>
          </a:p>
          <a:p>
            <a:endParaRPr/>
          </a:p>
          <a:p>
            <a:r>
              <a:t>DEMO:</a:t>
            </a:r>
          </a:p>
          <a:p>
            <a:r>
              <a:t>   Show a PM-focused CLAUDE.md: product context, competitors, templates. Then ask Claude to analyze a competitor — watch it use the context automatically without being told.</a:t>
            </a:r>
          </a:p>
          <a:p>
            <a:endParaRPr/>
          </a:p>
          <a:p>
            <a:r>
              <a:t>TRANSITION:</a:t>
            </a:r>
          </a:p>
          <a:p>
            <a:r>
              <a:t>   Let's see how @ mentions let you point Claude at specific files and folders.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CLAUDE.md Best Practices.</a:t>
            </a:r>
          </a:p>
          <a:p>
            <a:endParaRPr/>
          </a:p>
          <a:p>
            <a:r>
              <a:t>KEY POINTS:</a:t>
            </a:r>
          </a:p>
          <a:p>
            <a:r>
              <a:t>   * Core concept</a:t>
            </a:r>
          </a:p>
          <a:p>
            <a:r>
              <a:t>   * Practical application</a:t>
            </a:r>
          </a:p>
          <a:p>
            <a:r>
              <a:t>   * Real-world benefit</a:t>
            </a:r>
          </a:p>
          <a:p>
            <a:endParaRPr/>
          </a:p>
          <a:p>
            <a:r>
              <a:t>TRANSITION:</a:t>
            </a:r>
          </a:p>
          <a:p>
            <a:r>
              <a:t>   Next topic...</a:t>
            </a:r>
          </a:p>
          <a:p>
            <a:br/>
            <a:br/>
            <a:r>
              <a:t>COMPOUNDING FEEDBACK LOOP: Advanced teams add a tasks/lessons.md file that Claude updates after EVERY correction. When Claude makes a mistake and you fix it, tell Claude to record the pattern in lessons.md. Over time, the mistake rate drops because Claude reads its own error log before starting work. Boris Cherny's team at Anthropic uses this internally. The setup takes 10 minutes — add one line to CLAUDE.md: "After any correction, update tasks/lessons.md with the lesson learned. Read lessons.md before starting any task." Your AI gets better every day you use it.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endParaRPr/>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endParaRPr/>
          </a:p>
          <a:p>
            <a:r>
              <a:t>TRANSITION:</a:t>
            </a:r>
          </a:p>
          <a:p>
            <a:r>
              <a:t>   Now let's see how @ mentions let you feed specific context beyond CLAUDE.md.</a:t>
            </a:r>
          </a:p>
          <a:p>
            <a:br/>
            <a:br/>
            <a:r>
              <a:t>VERIFICATION BAR: A powerful CLAUDE.md convention from Anthropic's internal team: "Cannot mark a task complete without proving it works. Check diffs, run tests, check logs. The bar: Would a staff engineer approve this?" Add that standard to your CLAUDE.md and Claude holds itself to senior-level quality checks before reporting done.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Your CLAUDE.md doesn't just define project context — it controls Claude's behavior. There are 12 tested behavior templates you can paste in right now. I've grouped them into three working styles.</a:t>
            </a:r>
          </a:p>
          <a:p>
            <a:endParaRPr/>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endParaRPr/>
          </a:p>
          <a:p>
            <a:r>
              <a:t>ASK THE CLASS:</a:t>
            </a:r>
          </a:p>
          <a:p>
            <a:r>
              <a:t>   "Which working style matches you — fast and autonomous, or careful and controlled? Why?"</a:t>
            </a:r>
          </a:p>
          <a:p>
            <a:r>
              <a:t>   [PAUSE for 30-60 seconds]</a:t>
            </a:r>
          </a:p>
          <a:p>
            <a:endParaRPr/>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 have been talking about CLAUDE.md as if there is one file. There are actually six layers of memory, and understanding the hierarchy is what separates someone who uses Claude Code from someone who runs a team on it.</a:t>
            </a:r>
          </a:p>
          <a:p>
            <a:endParaRPr/>
          </a:p>
          <a:p>
            <a:r>
              <a:t>KEY POINTS:</a:t>
            </a:r>
          </a:p>
          <a:p>
            <a:r>
              <a:t>   * At the top: managed policy. This is the enterprise layer. IT deploys a CLAUDE.md to a system directory and it cannot be overridden by anyone. On Mac it goes in /Library/Application Support/ClaudeCode/, on Linux /etc/claude-code/, on Windows C:/Program Files/ClaudeCode/. This is where you put company coding standards, security policies, compliance requirements. Nobody can override these.</a:t>
            </a:r>
          </a:p>
          <a:p>
            <a:r>
              <a:t>   * Project memory is what most people think of as CLAUDE.md. It lives at the repo root or in .claude/ and gets committed to git. Every collaborator gets the same instructions. This is your team brain.</a:t>
            </a:r>
          </a:p>
          <a:p>
            <a:r>
              <a:t>   * Project rules are new and powerful. The .claude/rules/ directory lets you create modular, topic-specific files. One for testing conventions, one for API standards, one for language-specific guidelines. Much cleaner than stuffing everything into one CLAUDE.md file.</a:t>
            </a:r>
          </a:p>
          <a:p>
            <a:r>
              <a:t>   * User memory at ~/.claude/CLAUDE.md is your personal preferences across all projects. Code styling, personal tooling shortcuts, communication preferences. Only you see this.</a:t>
            </a:r>
          </a:p>
          <a:p>
            <a:r>
              <a:t>   * CLAUDE.local.md is the sleeper feature. Personal overrides for a specific project — your sandbox URLs, preferred test data, local config. Automatically added to .gitignore so it never leaks into the repo.</a:t>
            </a:r>
          </a:p>
          <a:p>
            <a:r>
              <a:t>   * And then auto memory, which we will cover next — this is Claude writing notes to itself. Completely different from everything above.</a:t>
            </a:r>
          </a:p>
          <a:p>
            <a:endParaRPr/>
          </a:p>
          <a:p>
            <a:r>
              <a:t>TRANSITION:</a:t>
            </a:r>
          </a:p>
          <a:p>
            <a:r>
              <a:t>   Let me show you the auto memory system, because this one surprises most people.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Here is where it gets interesting. Everything we just covered is memory YOU write for Claude. Auto memory is memory CLAUDE writes for itself. As it works on your project, it automatically saves patterns, debugging insights, architecture notes, and your preferences. Next session, it remembers.</a:t>
            </a:r>
          </a:p>
          <a:p>
            <a:endParaRPr/>
          </a:p>
          <a:p>
            <a:r>
              <a:t>KEY POINTS:</a:t>
            </a:r>
          </a:p>
          <a:p>
            <a:r>
              <a:t>   * Auto memory is enabled by default. Claude creates a directory at ~/.claude/projects/ with a folder for each project, identified by the git repository root. All subdirectories within the same repo share one memory directory.</a:t>
            </a:r>
          </a:p>
          <a:p>
            <a:r>
              <a:t>   * Inside that directory, MEMORY.md acts as an index. The first 200 lines load into Claude's context at the start of every session. That is the hard limit — 200 lines. So Claude is instructed to keep MEMORY.md concise and move detailed notes into separate topic files like debugging.md or api-conventions.md.</a:t>
            </a:r>
          </a:p>
          <a:p>
            <a:r>
              <a:t>   * Those topic files do NOT load at startup. Claude reads them on demand when it needs the information. This is progressive disclosure — keep the system prompt lean, pull detail when needed.</a:t>
            </a:r>
          </a:p>
          <a:p>
            <a:r>
              <a:t>   * You will see Claude update these files during your session. It might add a note after solving a tricky debugging problem, or record a pattern it noticed in your codebase. Over time, this compounds — Claude gets better at your specific project with every session.</a:t>
            </a:r>
          </a:p>
          <a:p>
            <a:r>
              <a:t>   * Here is the practical tip: you can tell Claude to remember something specific. Say 'remember that we use pnpm not npm' or 'save to memory that the API tests require a local Redis instance.' Claude writes it to auto memory and it persists across sessions.</a:t>
            </a:r>
          </a:p>
          <a:p>
            <a:endParaRPr/>
          </a:p>
          <a:p>
            <a:r>
              <a:t>TRANSITION:</a:t>
            </a:r>
          </a:p>
          <a:p>
            <a:r>
              <a:t>   Let me show you the /memory command that ties all of this together.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The /memory command is your dashboard for all of Claude's memory. Run it and you see every memory file across all layers — managed, project, user, local, and auto memory. You can open and edit any of them right from the selector.</a:t>
            </a:r>
          </a:p>
          <a:p>
            <a:endParaRPr/>
          </a:p>
          <a:p>
            <a:r>
              <a:t>KEY POINTS:</a:t>
            </a:r>
          </a:p>
          <a:p>
            <a:r>
              <a:t>   * The file selector is the fastest way to manage memory. You see everything in one place and can jump to any file to edit it. The toggle at the bottom lets you turn auto memory on or off for the current project.</a:t>
            </a:r>
          </a:p>
          <a:p>
            <a:r>
              <a:t>   * The 'remember that' pattern is something students should practice immediately. Instead of editing CLAUDE.md manually, just tell Claude in conversation: 'remember that we use pnpm not npm.' Claude writes it to auto memory and it persists. This is the lowest-friction way to build project knowledge over time.</a:t>
            </a:r>
          </a:p>
          <a:p>
            <a:r>
              <a:t>   * The hash shortcut is even faster. Type # followed by your note in the chat, and Claude adds it to memory. Quick notes without interrupting your workflow.</a:t>
            </a:r>
          </a:p>
          <a:p>
            <a:r>
              <a:t>   * For teams that want centralized control: managed settings can disable auto memory globally with autoMemoryEnabled set to false. Some security-conscious orgs do this because auto memory stores project context on the developer's machine. But for most teams, the compounding benefit far outweighs the risk.</a:t>
            </a:r>
          </a:p>
          <a:p>
            <a:r>
              <a:t>   * The 200-line limit on MEMORY.md is worth emphasizing. If auto memory grows too large, Claude's context gets bloated and performance degrades. Teach your team to periodically review auto memory and prune anything that is no longer relevant. Same pruning discipline we covered for CLAUDE.md.</a:t>
            </a:r>
          </a:p>
          <a:p>
            <a:endParaRPr/>
          </a:p>
          <a:p>
            <a:r>
              <a:t>TRANSITION:</a:t>
            </a:r>
          </a:p>
          <a:p>
            <a:r>
              <a:t>   Now let me show you all of this in action with a demo.</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how folder-based context eliminates copy-pasting entirely.</a:t>
            </a:r>
          </a:p>
          <a:p>
            <a:endParaRPr/>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endParaRPr/>
          </a:p>
          <a:p>
            <a:r>
              <a:t>DEMO:</a:t>
            </a:r>
          </a:p>
          <a:p>
            <a:r>
              <a:t>   Pre-create a competitors/ folder with competitors.md (3 real competitors), analysis-template.md (SWOT or similar), and CLAUDE.md with routing instructions. Run the command live. Show the generated output.</a:t>
            </a:r>
          </a:p>
          <a:p>
            <a:endParaRPr/>
          </a:p>
          <a:p>
            <a:r>
              <a:t>TRANSITION:</a:t>
            </a:r>
          </a:p>
          <a:p>
            <a:r>
              <a:t>   That's the power of file-based context. Let's dig deeper into how context management works.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Mentions &amp; Context Feeding.</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Mentioning Files.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Folders, URLs, Git Commits.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Building Context: Focused vs Broad.</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DEMO INSTRUCTIONS:</a:t>
            </a:r>
            <a:br/>
            <a:r>
              <a:t>1. Open Claude Code in the business-dashboard project</a:t>
            </a:r>
            <a:br/>
            <a:r>
              <a:t>2. Type: "Show me all the ways I can feed context to Claude Code"</a:t>
            </a:r>
            <a:br/>
            <a:r>
              <a:t>3. Claude will list: @ mentions, /read, paste, piping, URLs</a:t>
            </a:r>
            <a:br/>
            <a:r>
              <a:t>4. Then type: "Read @package.json and tell me what dependencies we have"</a:t>
            </a:r>
            <a:br/>
            <a:r>
              <a:t>5. Show how @ mention loaded just that one file</a:t>
            </a:r>
            <a:br/>
            <a:r>
              <a:t>6. Then type: "Read @src/ and summarize the architecture"</a:t>
            </a:r>
            <a:br/>
            <a:r>
              <a:t>7. Show how @ with a folder loads multiple files</a:t>
            </a:r>
            <a:br/>
            <a:br/>
            <a:r>
              <a:t>TALKING POINT: "Every method has a trade-off — @ mentions are precise, paste is fast, URLs bring in external docs. You'll practice all of these in Lab 2C."</a:t>
            </a:r>
            <a:br/>
          </a:p>
          <a:p>
            <a:endParaRPr/>
          </a:p>
          <a:p/>
          <a:p/>
          <a:p>
            <a:endParaRPr/>
          </a:p>
          <a:p/>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Alright, we've covered installation, the agentic loop, CLAUDE.md, and @ mentions - that's a lot of concepts. Take 15 minutes, grab coffee, stretch your legs.</a:t>
            </a:r>
          </a:p>
          <a:p>
            <a:endParaRPr/>
          </a:p>
          <a:p>
            <a:r>
              <a:t>KEY POINTS:</a:t>
            </a:r>
          </a:p>
          <a:p>
            <a:r>
              <a:t>   * When we come back, we're diving into context management and token limits - this is where people often get stuck</a:t>
            </a:r>
          </a:p>
          <a:p>
            <a:endParaRPr/>
          </a:p>
          <a:p>
            <a:r>
              <a:t>TRANSITION:</a:t>
            </a:r>
          </a:p>
          <a:p>
            <a:r>
              <a:t>   See you in 15 minutes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Management.</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How Claude Code Reads Your Workspace.</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What's in Context Right Now.</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Token limits are rarely a problem if you understand what burns tokens and how to avoid it. Let's talk about the common culprits and fixes.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uses the exact same syntax as .gitignore - if you know one, you know the other. Let's look at essential patterns.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working on a codebase with 1000+ files, you need strategies beyond .claudeignore.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endParaRPr/>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endParaRPr/>
          </a:p>
          <a:p>
            <a:r>
              <a:t>TRANSITION:</a:t>
            </a:r>
          </a:p>
          <a:p>
            <a:r>
              <a:t>   Now let's optimize your context management with a hands-on demo.</a:t>
            </a:r>
          </a:p>
          <a:p>
            <a:br/>
            <a:br/>
            <a:r>
              <a:t>SIMPLIFY THIS FOR THE ROOM: "Context is your budget. You have about 200K tokens. Here's what eats it: conversation history, code files Claude reads, MCP tool descriptions, docs and URLs. Here's how you manage it: /clear resets the conversation, /compact compresses history, .claudeignore excludes files, and @ mentions load only what you need. That's it — four tools to manage your budget." </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br/>
            <a:br/>
            <a:r>
              <a:t>DEMO INSTRUCTIONS:</a:t>
            </a:r>
            <a:br/>
            <a:r>
              <a:t>1. In Claude Code, type: /compact</a:t>
            </a:r>
            <a:br/>
            <a:r>
              <a:t>2. Show the before/after token count in the status bar</a:t>
            </a:r>
            <a:br/>
            <a:r>
              <a:t>3. Type: "How much context are you currently using?"</a:t>
            </a:r>
            <a:br/>
            <a:r>
              <a:t>4. Then type: /clear</a:t>
            </a:r>
            <a:br/>
            <a:r>
              <a:t>5. Show that conversation is gone but files remain</a:t>
            </a:r>
            <a:br/>
            <a:r>
              <a:t>6. Type: "What files exist in this project?" — Claude re-reads them</a:t>
            </a:r>
            <a:br/>
            <a:r>
              <a:t>7. Show .claudeignore: "echo 'node_modules/' &gt; .claudeignore"</a:t>
            </a:r>
            <a:br/>
            <a:br/>
            <a:r>
              <a:t>TALKING POINT: "Four tools to manage your context budget: /clear resets everything, /compact compresses history, .claudeignore excludes files, and @ mentions load only what you need."</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45 min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Welcome back from lunch! This afternoon is all about power user features. We're starting with slash commands - these are your session control panel.</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There are about 15 slash commands total - you don't need to memorize them all, but knowing these core ones makes you way more effective.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These three commands control your session state - think of them as save, reset, and optimize.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Being able to switch models mid-session is like having three different experts on call - you pick the right one for the job at hand.</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Permissions are your safety net - they control how much autonomy Claude Code has.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Output control commands let you adjust how much or how little Claude Code tells you.</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next-level - you can create your own slash commands that encode your team's common workflows.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br/>
            <a:br/>
            <a:r>
              <a:t>DEMO INSTRUCTIONS:</a:t>
            </a:r>
            <a:br/>
            <a:r>
              <a:t>1. In Claude Code, rapid-fire through commands:</a:t>
            </a:r>
            <a:br/>
            <a:r>
              <a:t>   - Type: /help — show the command list</a:t>
            </a:r>
            <a:br/>
            <a:r>
              <a:t>   - Type: /model — show current model</a:t>
            </a:r>
            <a:br/>
            <a:r>
              <a:t>   - Type: /cost — show token usage</a:t>
            </a:r>
            <a:br/>
            <a:r>
              <a:t>   - Type: /doctor — run diagnostics</a:t>
            </a:r>
            <a:br/>
            <a:r>
              <a:t>   - Type: /status — show session info</a:t>
            </a:r>
            <a:br/>
            <a:r>
              <a:t>   - Type: /memory — show what Claude remembers</a:t>
            </a:r>
            <a:br/>
            <a:r>
              <a:t>2. For each, briefly explain what it does</a:t>
            </a:r>
            <a:br/>
            <a:r>
              <a:t>3. Spend extra time on /compact — show before/after</a:t>
            </a:r>
            <a:br/>
            <a:br/>
            <a:r>
              <a:t>TALKING POINT: "You don't need to memorize these. Just remember /help exists. But /compact and /clear are the two you'll use daily."</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endParaRPr/>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endParaRPr/>
          </a:p>
          <a:p>
            <a:r>
              <a:t>ASK THE CLASS:</a:t>
            </a:r>
          </a:p>
          <a:p>
            <a:r>
              <a:t>   "How many times have you asked an AI to do something and it changed files you didn't expect?"</a:t>
            </a:r>
          </a:p>
          <a:p>
            <a:r>
              <a:t>   [PAUSE for 30-60 seconds]</a:t>
            </a:r>
          </a:p>
          <a:p>
            <a:endParaRPr/>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endParaRPr/>
          </a:p>
          <a:p>
            <a:r>
              <a:t>TRANSITION:</a:t>
            </a:r>
          </a:p>
          <a:p>
            <a:r>
              <a:t>   Let me show you the difference in a live demo.</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br/>
            <a:br/>
            <a:r>
              <a:t>DEMO INSTRUCTIONS:</a:t>
            </a:r>
            <a:br/>
            <a:r>
              <a:t>1. In Claude Code with business-dashboard project open</a:t>
            </a:r>
            <a:br/>
            <a:r>
              <a:t>2. First, cowboy mode — type: "Add rate limiting to all API routes"</a:t>
            </a:r>
            <a:br/>
            <a:r>
              <a:t>3. Watch Claude just start coding immediately</a:t>
            </a:r>
            <a:br/>
            <a:r>
              <a:t>4. Hit Escape to cancel</a:t>
            </a:r>
            <a:br/>
            <a:r>
              <a:t>5. Now type: "I want to add rate limiting to all API routes. Use plan mode — analyze the codebase first and tell me your approach before making any changes."</a:t>
            </a:r>
            <a:br/>
            <a:r>
              <a:t>6. Claude will outline: which files to modify, what middleware to use, configuration options</a:t>
            </a:r>
            <a:br/>
            <a:r>
              <a:t>7. Review the plan, then say: "Go ahead with option 1"</a:t>
            </a:r>
            <a:br/>
            <a:br/>
            <a:r>
              <a:t>TALKING POINT: "Plan mode is the difference between a junior who starts coding immediately and a senior who thinks first. For any task over 3 steps, always use plan mode."</a:t>
            </a:r>
            <a:br/>
          </a:p>
          <a:p>
            <a:endParaRPr/>
          </a:p>
          <a:p/>
          <a:p/>
          <a:p>
            <a:endParaRPr/>
          </a:p>
          <a:p/>
          <a:p/>
          <a:p/>
          <a:p/>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Not everything needs Plan Mode. Here's the rule of thumb: if a task would take a senior engineer more than one focused session to think through, it needs planning. If you can verify the result in 10 seconds, skip it.</a:t>
            </a:r>
          </a:p>
          <a:p>
            <a:endParaRPr/>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endParaRPr/>
          </a:p>
          <a:p>
            <a:r>
              <a:t>TRANSITION:</a:t>
            </a:r>
          </a:p>
          <a:p>
            <a:r>
              <a:t>   Now let's talk about another powerful pattern — the Interview Me technique.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endParaRPr/>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endParaRPr/>
          </a:p>
          <a:p>
            <a:r>
              <a:t>ASK THE CLASS:</a:t>
            </a:r>
          </a:p>
          <a:p>
            <a:r>
              <a:t>   "Think about your last feature build. What questions SHOULD you have answered upfront but discovered the hard way?"</a:t>
            </a:r>
          </a:p>
          <a:p>
            <a:r>
              <a:t>   [PAUSE for 30-60 seconds]</a:t>
            </a:r>
          </a:p>
          <a:p>
            <a:endParaRPr/>
          </a:p>
          <a:p>
            <a:r>
              <a:t>DEMO:</a:t>
            </a:r>
          </a:p>
          <a:p>
            <a:r>
              <a:t>   Live: Tell Claude 'I want to add a notification system to this API. Interview me about implementation details.' Show Claude asking 3-4 probing questions. Answer them. Watch Claude generate SPEC.md.</a:t>
            </a:r>
          </a:p>
          <a:p>
            <a:endParaRPr/>
          </a:p>
          <a:p>
            <a:r>
              <a:t>TRANSITION:</a:t>
            </a:r>
          </a:p>
          <a:p>
            <a:r>
              <a:t>   Now let's talk about the discipline that makes everything else work — session hygiene.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endParaRPr/>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endParaRPr/>
          </a:p>
          <a:p>
            <a:r>
              <a:t>TRANSITION:</a:t>
            </a:r>
          </a:p>
          <a:p>
            <a:r>
              <a:t>   So what does a good spec actually look like? Let me show you a framework.</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the same task, two ways. On the left is how most people talk to Claude Code. On the right is how power users talk to Claude Code. The tool is identical. The output quality is completely different.</a:t>
            </a:r>
          </a:p>
          <a:p>
            <a:endParaRPr/>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endParaRPr/>
          </a:p>
          <a:p>
            <a:r>
              <a:t>TRANSITION:</a:t>
            </a:r>
          </a:p>
          <a:p>
            <a:r>
              <a:t>   Let me show you a real spec template that works for any Claude Code task.</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framework. Six questions. If you can answer all six before you talk to Claude Code, your output quality jumps dramatically. If you can't answer them, that's a signal — you're not ready to build yet.</a:t>
            </a:r>
          </a:p>
          <a:p>
            <a:endParaRPr/>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endParaRPr/>
          </a:p>
          <a:p>
            <a:r>
              <a:t>ASK THE CLASS:</a:t>
            </a:r>
          </a:p>
          <a:p>
            <a:r>
              <a:t>   "Think about the last task you gave to a junior developer or contractor. Did you answer all 6 questions? What happened with the parts you left ambiguous?"</a:t>
            </a:r>
          </a:p>
          <a:p>
            <a:r>
              <a:t>   [PAUSE for 30-60 seconds]</a:t>
            </a:r>
          </a:p>
          <a:p>
            <a:endParaRPr/>
          </a:p>
          <a:p>
            <a:r>
              <a:t>TRANSITION:</a:t>
            </a:r>
          </a:p>
          <a:p>
            <a:r>
              <a:t>   Let's see this in practice with a real spec that drives a Claude Code session.</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8 min</a:t>
            </a:r>
            <a:br/>
            <a:br/>
            <a:r>
              <a:t>DEMO INSTRUCTIONS:</a:t>
            </a:r>
            <a:br/>
            <a:r>
              <a:t>1. Create a spec file — type in Claude: "Create a file called SPEC.md with this content:</a:t>
            </a:r>
            <a:br/>
            <a:r>
              <a:t>   # Feature: Dashboard Notifications</a:t>
            </a:r>
            <a:br/>
            <a:r>
              <a:t>   ## What: Toast notifications when metrics change</a:t>
            </a:r>
            <a:br/>
            <a:r>
              <a:t>   ## Why: Users miss important metric changes</a:t>
            </a:r>
            <a:br/>
            <a:r>
              <a:t>   ## Inputs: Metric value changes &gt; 10%</a:t>
            </a:r>
            <a:br/>
            <a:r>
              <a:t>   ## Outputs: Visual toast in bottom-right corner</a:t>
            </a:r>
            <a:br/>
            <a:r>
              <a:t>   ## Constraints: No external libraries, auto-dismiss after 5 seconds</a:t>
            </a:r>
            <a:br/>
            <a:r>
              <a:t>   ## Done when: Notifications appear on metric changes and auto-dismiss"</a:t>
            </a:r>
            <a:br/>
            <a:r>
              <a:t>2. Then type: "Read @SPEC.md and implement this feature exactly as specified"</a:t>
            </a:r>
            <a:br/>
            <a:r>
              <a:t>3. Watch Claude follow the spec precisely</a:t>
            </a:r>
            <a:br/>
            <a:r>
              <a:t>4. Open browser to verify notifications appear</a:t>
            </a:r>
            <a:br/>
            <a:r>
              <a:t>5. Then type: "Review your implementation against @SPEC.md — did you miss anything?"</a:t>
            </a:r>
            <a:br/>
            <a:br/>
            <a:r>
              <a:t>TALKING POINT: "The 6-question spec template: What, Why, Inputs, Outputs, Constraints, Done When. This takes 2 minutes to write and saves 20 minutes of back-and-forth."</a:t>
            </a:r>
            <a:br/>
          </a:p>
          <a:p>
            <a:endParaRPr/>
          </a:p>
          <a:p/>
          <a:p/>
          <a:p>
            <a:endParaRPr/>
          </a:p>
          <a:p/>
          <a:p/>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endParaRPr/>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endParaRPr/>
          </a:p>
          <a:p>
            <a:r>
              <a:t>ASK THE CLASS:</a:t>
            </a:r>
          </a:p>
          <a:p>
            <a:r>
              <a:t>   "How many of you have had Claude 'forget' what you told it 20 messages ago? That's context degradation."</a:t>
            </a:r>
          </a:p>
          <a:p>
            <a:r>
              <a:t>   [PAUSE for 30-60 seconds]</a:t>
            </a:r>
          </a:p>
          <a:p>
            <a:endParaRPr/>
          </a:p>
          <a:p>
            <a:r>
              <a:t>DEMO:</a:t>
            </a:r>
          </a:p>
          <a:p>
            <a:r>
              <a:t>   Do 4 quick unrelated tasks in one session without clearing. Show response quality dropping on task 4. Then /clear, redo task 4, show dramatic quality improvement.</a:t>
            </a:r>
          </a:p>
          <a:p>
            <a:endParaRPr/>
          </a:p>
          <a:p>
            <a:r>
              <a:t>TRANSITION:</a:t>
            </a:r>
          </a:p>
          <a:p>
            <a:r>
              <a:t>   Now let's look at the permissions model that keeps your code safe.</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endParaRPr/>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endParaRPr/>
          </a:p>
          <a:p>
            <a:r>
              <a:t>TRANSITION:</a:t>
            </a:r>
          </a:p>
          <a:p>
            <a:r>
              <a:t>   This decomposition discipline applies to everything we'll do today. Now let's set up permissions.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which means you need guardrails. This section is about building safe AI workflows.</a:t>
            </a:r>
          </a:p>
          <a:p>
            <a:endParaRPr/>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Code's security model is based on trust-but-verify - you configure the level of trust based on risk.</a:t>
            </a:r>
          </a:p>
          <a:p>
            <a:endParaRPr/>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Think of these as traffic lights - red for stop and review, yellow for caution, green for go fast.</a:t>
            </a:r>
          </a:p>
          <a:p>
            <a:endParaRPr dirty="0"/>
          </a:p>
          <a:p>
            <a:r>
              <a:rPr dirty="0"/>
              <a:t>KEY POINTS:</a:t>
            </a:r>
          </a:p>
          <a:p>
            <a:r>
              <a:rPr dirty="0"/>
              <a:t>   * Key insight</a:t>
            </a:r>
          </a:p>
          <a:p>
            <a:r>
              <a:rPr dirty="0"/>
              <a:t>   * Practical application</a:t>
            </a:r>
          </a:p>
          <a:p>
            <a:r>
              <a:rPr dirty="0"/>
              <a:t>   * Why it matters</a:t>
            </a:r>
          </a:p>
          <a:p>
            <a:endParaRPr dirty="0"/>
          </a:p>
          <a:p>
            <a:r>
              <a:rPr dirty="0"/>
              <a:t>REAL-WORLD EXAMPLE:</a:t>
            </a:r>
          </a:p>
          <a:p>
            <a:r>
              <a:rPr dirty="0"/>
              <a:t>   Example demonstrating this concept.</a:t>
            </a:r>
          </a:p>
          <a:p>
            <a:endParaRPr dirty="0"/>
          </a:p>
          <a:p>
            <a:r>
              <a:rPr dirty="0"/>
              <a:t>TRANSITION:</a:t>
            </a:r>
          </a:p>
          <a:p>
            <a:r>
              <a:rPr dirty="0"/>
              <a:t>   Next...</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Allowlists and blocklists are like firewall rules for Claude Code.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isn't just for token optimization - it's a critical security tool that prevents Claude Code from ever seeing sensitive files.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in a regulated industry, enterprise security features ensure compliance.</a:t>
            </a:r>
          </a:p>
          <a:p>
            <a:endParaRPr/>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endParaRPr/>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endParaRPr/>
          </a:p>
          <a:p>
            <a:r>
              <a:t>TRANSITION:</a:t>
            </a:r>
          </a:p>
          <a:p>
            <a:r>
              <a:t>   Let's configure these permissions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comes from Nate B Jones' 'Second Brain' video - the idea that AI assistants should be cautious by default, not reckless. Claude Code embodies this perfectly.</a:t>
            </a:r>
          </a:p>
          <a:p>
            <a:endParaRPr/>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endParaRPr/>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endParaRPr/>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endParaRPr/>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endParaRPr/>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br/>
            <a:br/>
            <a:r>
              <a:t>DEMO INSTRUCTIONS:</a:t>
            </a:r>
            <a:br/>
            <a:r>
              <a:t>1. In Claude Code, type: "Show me the current permission settings"</a:t>
            </a:r>
            <a:br/>
            <a:r>
              <a:t>2. Type: /permissions — show the allow/deny lists</a:t>
            </a:r>
            <a:br/>
            <a:r>
              <a:t>3. Demo adding a restriction: "Add a permission rule that blocks Claude from deleting any files in src/"</a:t>
            </a:r>
            <a:br/>
            <a:r>
              <a:t>4. Test it: "Delete src/index.js" — Claude should be blocked</a:t>
            </a:r>
            <a:br/>
            <a:r>
              <a:t>5. Show how to allow specific commands: "Allow Claude to run npm commands"</a:t>
            </a:r>
            <a:br/>
            <a:br/>
            <a:r>
              <a:t>TALKING POINT: "Permissions are your safety net. In a team environment, you lock down destructive operations and allow routine ones. Claude respects these boundaries."</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Quick 15-minute break.</a:t>
            </a:r>
          </a:p>
          <a:p>
            <a:endParaRPr/>
          </a:p>
          <a:p>
            <a:r>
              <a:t>KEY POINTS:</a:t>
            </a:r>
          </a:p>
          <a:p>
            <a:r>
              <a:t>   * Git integration next</a:t>
            </a:r>
          </a:p>
          <a:p>
            <a:endParaRPr/>
          </a:p>
          <a:p>
            <a:r>
              <a:t>TRANSITION:</a:t>
            </a:r>
          </a:p>
          <a:p>
            <a:r>
              <a:t>   Back in 15</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Git integration is where Claude Code shines.</a:t>
            </a:r>
          </a:p>
          <a:p>
            <a:endParaRPr/>
          </a:p>
          <a:p>
            <a:r>
              <a:t>KEY POINTS:</a:t>
            </a:r>
          </a:p>
          <a:p>
            <a:r>
              <a:t>   * Manages entire workflow</a:t>
            </a:r>
          </a:p>
          <a:p>
            <a:endParaRPr/>
          </a:p>
          <a:p>
            <a:r>
              <a:t>TRANSITION:</a:t>
            </a:r>
          </a:p>
          <a:p>
            <a:r>
              <a:t>   Auto-commits first</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writes better commit messages than most humans.</a:t>
            </a:r>
          </a:p>
          <a:p>
            <a:endParaRPr/>
          </a:p>
          <a:p>
            <a:r>
              <a:t>KEY POINTS:</a:t>
            </a:r>
          </a:p>
          <a:p>
            <a:r>
              <a:t>   * Knows what changed and why</a:t>
            </a:r>
          </a:p>
          <a:p>
            <a:r>
              <a:t>   * Follows conventions</a:t>
            </a:r>
          </a:p>
          <a:p>
            <a:r>
              <a:t>   * Saves time</a:t>
            </a:r>
          </a:p>
          <a:p>
            <a:endParaRPr/>
          </a:p>
          <a:p>
            <a:r>
              <a:t>REAL-WORLD EXAMPLE:</a:t>
            </a:r>
          </a:p>
          <a:p>
            <a:r>
              <a:t>   Student's commits went from 'fixes' to detailed feat/fix messages.</a:t>
            </a:r>
          </a:p>
          <a:p>
            <a:endParaRPr/>
          </a:p>
          <a:p>
            <a:r>
              <a:t>TRANSITION:</a:t>
            </a:r>
          </a:p>
          <a:p>
            <a:r>
              <a:t>   Branch management next</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Perfect branch names every time.</a:t>
            </a:r>
          </a:p>
          <a:p>
            <a:endParaRPr/>
          </a:p>
          <a:p>
            <a:r>
              <a:t>KEY POINTS:</a:t>
            </a:r>
          </a:p>
          <a:p>
            <a:r>
              <a:t>   * Follows CLAUDE.md rules</a:t>
            </a:r>
          </a:p>
          <a:p>
            <a:r>
              <a:t>   * Consistent naming</a:t>
            </a:r>
          </a:p>
          <a:p>
            <a:r>
              <a:t>   * No mistakes</a:t>
            </a:r>
          </a:p>
          <a:p>
            <a:endParaRPr/>
          </a:p>
          <a:p>
            <a:r>
              <a:t>REAL-WORLD EXAMPLE:</a:t>
            </a:r>
          </a:p>
          <a:p>
            <a:r>
              <a:t>   Team went from 60% to 100% naming compliance.</a:t>
            </a:r>
          </a:p>
          <a:p>
            <a:endParaRPr/>
          </a:p>
          <a:p>
            <a:r>
              <a:t>TRANSITION:</a:t>
            </a:r>
          </a:p>
          <a:p>
            <a:r>
              <a:t>   Commit messages</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Real commit messages from Claude Code.</a:t>
            </a:r>
          </a:p>
          <a:p>
            <a:endParaRPr/>
          </a:p>
          <a:p>
            <a:r>
              <a:t>KEY POINTS:</a:t>
            </a:r>
          </a:p>
          <a:p>
            <a:r>
              <a:t>   * Detailed and structured</a:t>
            </a:r>
          </a:p>
          <a:p>
            <a:r>
              <a:t>   * Explains what and why</a:t>
            </a:r>
          </a:p>
          <a:p>
            <a:r>
              <a:t>   * Searchable history</a:t>
            </a:r>
          </a:p>
          <a:p>
            <a:endParaRPr/>
          </a:p>
          <a:p>
            <a:r>
              <a:t>REAL-WORLD EXAMPLE:</a:t>
            </a:r>
          </a:p>
          <a:p>
            <a:r>
              <a:t>   Developer found bug fix in seconds by searching 'refactor(database)'.</a:t>
            </a:r>
          </a:p>
          <a:p>
            <a:endParaRPr/>
          </a:p>
          <a:p>
            <a:r>
              <a:t>TRANSITION:</a:t>
            </a:r>
          </a:p>
          <a:p>
            <a:r>
              <a:t>   PR creation</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PR descriptions in seconds.</a:t>
            </a:r>
          </a:p>
          <a:p>
            <a:endParaRPr/>
          </a:p>
          <a:p>
            <a:r>
              <a:t>KEY POINTS:</a:t>
            </a:r>
          </a:p>
          <a:p>
            <a:r>
              <a:t>   * What, why, how, testing</a:t>
            </a:r>
          </a:p>
          <a:p>
            <a:r>
              <a:t>   * Linked issues</a:t>
            </a:r>
          </a:p>
          <a:p>
            <a:r>
              <a:t>   * Checklist included</a:t>
            </a:r>
          </a:p>
          <a:p>
            <a:endParaRPr/>
          </a:p>
          <a:p>
            <a:r>
              <a:t>REAL-WORLD EXAMPLE:</a:t>
            </a:r>
          </a:p>
          <a:p>
            <a:r>
              <a:t>   Junior dev's Claude-generated PR was called 'best-documented in months'.</a:t>
            </a:r>
          </a:p>
          <a:p>
            <a:endParaRPr/>
          </a:p>
          <a:p>
            <a:r>
              <a:t>TRANSITION:</a:t>
            </a:r>
          </a:p>
          <a:p>
            <a:r>
              <a:t>   Git history</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Git history analysis made easy.</a:t>
            </a:r>
          </a:p>
          <a:p>
            <a:endParaRPr/>
          </a:p>
          <a:p>
            <a:r>
              <a:t>KEY POINTS:</a:t>
            </a:r>
          </a:p>
          <a:p>
            <a:r>
              <a:t>   * Answers 'who/when/why'</a:t>
            </a:r>
          </a:p>
          <a:p>
            <a:r>
              <a:t>   * Identifies patterns</a:t>
            </a:r>
          </a:p>
          <a:p>
            <a:r>
              <a:t>   * Generates changelogs</a:t>
            </a:r>
          </a:p>
          <a:p>
            <a:endParaRPr/>
          </a:p>
          <a:p>
            <a:r>
              <a:t>REAL-WORLD EXAMPLE:</a:t>
            </a:r>
          </a:p>
          <a:p>
            <a:r>
              <a:t>   Found bug introduction by asking Claude Code to analyze history.</a:t>
            </a:r>
          </a:p>
          <a:p>
            <a:endParaRPr/>
          </a:p>
          <a:p>
            <a:r>
              <a:t>TRANSITION:</a:t>
            </a:r>
          </a:p>
          <a:p>
            <a:r>
              <a:t>   Platform differences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Both platforms supported.</a:t>
            </a:r>
          </a:p>
          <a:p>
            <a:endParaRPr/>
          </a:p>
          <a:p>
            <a:r>
              <a:t>KEY POINTS:</a:t>
            </a:r>
          </a:p>
          <a:p>
            <a:r>
              <a:t>   * Same concepts</a:t>
            </a:r>
          </a:p>
          <a:p>
            <a:r>
              <a:t>   * Syntax varies slightly</a:t>
            </a:r>
          </a:p>
          <a:p>
            <a:r>
              <a:t>   * Choose your platform</a:t>
            </a:r>
          </a:p>
          <a:p>
            <a:endParaRPr/>
          </a:p>
          <a:p>
            <a:r>
              <a:t>REAL-WORLD EXAMPLE:</a:t>
            </a:r>
          </a:p>
          <a:p>
            <a:r>
              <a:t>   Team switched GitHub to GitLab, Claude Code config took 5 minutes.</a:t>
            </a:r>
          </a:p>
          <a:p>
            <a:endParaRPr/>
          </a:p>
          <a:p>
            <a:r>
              <a:t>TRANSITION:</a:t>
            </a:r>
          </a:p>
          <a:p>
            <a:r>
              <a:t>   Complete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br/>
            <a:br/>
            <a:r>
              <a:t>DEMO INSTRUCTIONS:</a:t>
            </a:r>
            <a:br/>
            <a:r>
              <a:t>1. In Claude Code with business-dashboard:</a:t>
            </a:r>
            <a:br/>
            <a:r>
              <a:t>2. Type: "Create a new branch called feature/dashboard-stats"</a:t>
            </a:r>
            <a:br/>
            <a:r>
              <a:t>3. Type: "Add a stats summary panel at the top of the dashboard showing total metrics, active tasks, and completion rate"</a:t>
            </a:r>
            <a:br/>
            <a:r>
              <a:t>4. Type: "Commit with message 'feat: add stats summary panel'"</a:t>
            </a:r>
            <a:br/>
            <a:r>
              <a:t>5. Type: "Switch back to main and merge feature/dashboard-stats"</a:t>
            </a:r>
            <a:br/>
            <a:r>
              <a:t>6. Type: "Show me the git log --oneline for the last 5 commits"</a:t>
            </a:r>
            <a:br/>
            <a:r>
              <a:t>7. Show the clean history</a:t>
            </a:r>
            <a:br/>
            <a:br/>
            <a:r>
              <a:t>TALKING POINT: "Natural language Git. No memorizing flags, no merge conflict anxiety. You describe the workflow, Claude handles the commands."</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Real workflows you'll use daily.</a:t>
            </a:r>
          </a:p>
          <a:p>
            <a:endParaRPr/>
          </a:p>
          <a:p>
            <a:r>
              <a:t>KEY POINTS:</a:t>
            </a:r>
          </a:p>
          <a:p>
            <a:r>
              <a:t>   * Complete toolkit</a:t>
            </a:r>
          </a:p>
          <a:p>
            <a:endParaRPr/>
          </a:p>
          <a:p>
            <a:r>
              <a:t>TRANSITION:</a:t>
            </a:r>
          </a:p>
          <a:p>
            <a:r>
              <a:t>   File operations</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Precise file operations.</a:t>
            </a:r>
          </a:p>
          <a:p>
            <a:endParaRPr/>
          </a:p>
          <a:p>
            <a:r>
              <a:t>KEY POINTS:</a:t>
            </a:r>
          </a:p>
          <a:p>
            <a:r>
              <a:t>   * Coordinated changes</a:t>
            </a:r>
          </a:p>
          <a:p>
            <a:r>
              <a:t>   * Dependency tracking</a:t>
            </a:r>
          </a:p>
          <a:p>
            <a:r>
              <a:t>   * Verification</a:t>
            </a:r>
          </a:p>
          <a:p>
            <a:endParaRPr/>
          </a:p>
          <a:p>
            <a:r>
              <a:t>REAL-WORLD EXAMPLE:</a:t>
            </a:r>
          </a:p>
          <a:p>
            <a:r>
              <a:t>   Renamed function across 30 files flawlessly.</a:t>
            </a:r>
          </a:p>
          <a:p>
            <a:endParaRPr/>
          </a:p>
          <a:p>
            <a:r>
              <a:t>TRANSITION:</a:t>
            </a:r>
          </a:p>
          <a:p>
            <a:r>
              <a:t>   Refactoring</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Refactoring 10+ files is error-prone manually.</a:t>
            </a:r>
          </a:p>
          <a:p>
            <a:endParaRPr/>
          </a:p>
          <a:p>
            <a:r>
              <a:t>KEY POINTS:</a:t>
            </a:r>
          </a:p>
          <a:p>
            <a:r>
              <a:t>   * Claude Code handles precision</a:t>
            </a:r>
          </a:p>
          <a:p>
            <a:r>
              <a:t>   * Updates imports</a:t>
            </a:r>
          </a:p>
          <a:p>
            <a:r>
              <a:t>   * Verifies changes</a:t>
            </a:r>
          </a:p>
          <a:p>
            <a:endParaRPr/>
          </a:p>
          <a:p>
            <a:r>
              <a:t>REAL-WORLD EXAMPLE:</a:t>
            </a:r>
          </a:p>
          <a:p>
            <a:r>
              <a:t>   Split large class into 5 modules, updated all callers.</a:t>
            </a:r>
          </a:p>
          <a:p>
            <a:endParaRPr/>
          </a:p>
          <a:p>
            <a:r>
              <a:t>TRANSITION:</a:t>
            </a:r>
          </a:p>
          <a:p>
            <a:r>
              <a:t>   Code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Why write boilerplate 100 times?</a:t>
            </a:r>
          </a:p>
          <a:p>
            <a:endParaRPr/>
          </a:p>
          <a:p>
            <a:r>
              <a:t>KEY POINTS:</a:t>
            </a:r>
          </a:p>
          <a:p>
            <a:r>
              <a:t>   * CRUD generation</a:t>
            </a:r>
          </a:p>
          <a:p>
            <a:r>
              <a:t>   * API scaffolding</a:t>
            </a:r>
          </a:p>
          <a:p>
            <a:r>
              <a:t>   * Test templates</a:t>
            </a:r>
          </a:p>
          <a:p>
            <a:endParaRPr/>
          </a:p>
          <a:p>
            <a:r>
              <a:t>REAL-WORLD EXAMPLE:</a:t>
            </a:r>
          </a:p>
          <a:p>
            <a:r>
              <a:t>   Generated 15 CRUD endpoints in 3 minutes.</a:t>
            </a:r>
          </a:p>
          <a:p>
            <a:endParaRPr/>
          </a:p>
          <a:p>
            <a:r>
              <a:t>TRANSITION:</a:t>
            </a:r>
          </a:p>
          <a:p>
            <a:r>
              <a:t>   Debugging</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Same debugging process, but faster.</a:t>
            </a:r>
          </a:p>
          <a:p>
            <a:endParaRPr/>
          </a:p>
          <a:p>
            <a:r>
              <a:t>KEY POINTS:</a:t>
            </a:r>
          </a:p>
          <a:p>
            <a:r>
              <a:t>   * Systematic approach</a:t>
            </a:r>
          </a:p>
          <a:p>
            <a:r>
              <a:t>   * Tests added</a:t>
            </a:r>
          </a:p>
          <a:p>
            <a:r>
              <a:t>   * Documented</a:t>
            </a:r>
          </a:p>
          <a:p>
            <a:endParaRPr/>
          </a:p>
          <a:p>
            <a:r>
              <a:t>REAL-WORLD EXAMPLE:</a:t>
            </a:r>
          </a:p>
          <a:p>
            <a:r>
              <a:t>   Found race condition in 5 minutes after 2 hours stuck.</a:t>
            </a:r>
          </a:p>
          <a:p>
            <a:endParaRPr/>
          </a:p>
          <a:p>
            <a:r>
              <a:t>TRANSITION:</a:t>
            </a:r>
          </a:p>
          <a:p>
            <a:r>
              <a:t>   Test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endParaRPr/>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endParaRPr/>
          </a:p>
          <a:p>
            <a:r>
              <a:t>ASK THE CLASS:</a:t>
            </a:r>
          </a:p>
          <a:p>
            <a:r>
              <a:t>   "Look at your current to-do list. How many items are vague goals vs concrete next actions? Try rephrasing one goal as a next action and see how much clearer it becomes."</a:t>
            </a:r>
          </a:p>
          <a:p>
            <a:r>
              <a:t>   [PAUSE for 30-60 seconds]</a:t>
            </a:r>
          </a:p>
          <a:p>
            <a:endParaRPr/>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endParaRPr/>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endParaRPr/>
          </a:p>
          <a:p>
            <a:r>
              <a:t>TRANSITION:</a:t>
            </a:r>
          </a:p>
          <a:p>
            <a:r>
              <a:t>   Next actions are the unit of execution - now let's move to wrapping up the development workflows section</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tests automatically.</a:t>
            </a:r>
          </a:p>
          <a:p>
            <a:endParaRPr/>
          </a:p>
          <a:p>
            <a:r>
              <a:t>KEY POINTS:</a:t>
            </a:r>
          </a:p>
          <a:p>
            <a:r>
              <a:t>   * Multiple test types</a:t>
            </a:r>
          </a:p>
          <a:p>
            <a:r>
              <a:t>   * High coverage</a:t>
            </a:r>
          </a:p>
          <a:p>
            <a:r>
              <a:t>   * Well-named</a:t>
            </a:r>
          </a:p>
          <a:p>
            <a:endParaRPr/>
          </a:p>
          <a:p>
            <a:r>
              <a:t>REAL-WORLD EXAMPLE:</a:t>
            </a:r>
          </a:p>
          <a:p>
            <a:r>
              <a:t>   Added feature with full tests, no manual test writing.</a:t>
            </a:r>
          </a:p>
          <a:p>
            <a:endParaRPr/>
          </a:p>
          <a:p>
            <a:r>
              <a:t>TRANSITION:</a:t>
            </a:r>
          </a:p>
          <a:p>
            <a:r>
              <a:t>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endParaRPr/>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endParaRPr/>
          </a:p>
          <a:p>
            <a:r>
              <a:t>TRANSITION:</a:t>
            </a:r>
          </a:p>
          <a:p>
            <a:r>
              <a:t>   Let's see this verification loop in action during our Git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Documentation generated automatically.</a:t>
            </a:r>
          </a:p>
          <a:p>
            <a:endParaRPr/>
          </a:p>
          <a:p>
            <a:r>
              <a:t>KEY POINTS:</a:t>
            </a:r>
          </a:p>
          <a:p>
            <a:r>
              <a:t>   * Multiple doc types</a:t>
            </a:r>
          </a:p>
          <a:p>
            <a:r>
              <a:t>   * Always current</a:t>
            </a:r>
          </a:p>
          <a:p>
            <a:r>
              <a:t>   * Professional quality</a:t>
            </a:r>
          </a:p>
          <a:p>
            <a:endParaRPr/>
          </a:p>
          <a:p>
            <a:r>
              <a:t>REAL-WORLD EXAMPLE:</a:t>
            </a:r>
          </a:p>
          <a:p>
            <a:r>
              <a:t>   API docs stayed current because Claude Code updated them with code.</a:t>
            </a:r>
          </a:p>
          <a:p>
            <a:endParaRPr/>
          </a:p>
          <a:p>
            <a:r>
              <a:t>TRANSITION:</a:t>
            </a:r>
          </a:p>
          <a:p>
            <a:r>
              <a:t>   Final demo</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br/>
            <a:br/>
            <a:r>
              <a:t>DEMO INSTRUCTIONS:</a:t>
            </a:r>
            <a:br/>
            <a:r>
              <a:t>1. In Claude Code, intentionally break something:</a:t>
            </a:r>
            <a:br/>
            <a:r>
              <a:t>   Type: "In src/routes/tasks.js, change the database table name from 'tasks' to 'task' (singular) — just change the string, nothing else"</a:t>
            </a:r>
            <a:br/>
            <a:r>
              <a:t>2. Type: "Try to list all tasks via the API"</a:t>
            </a:r>
            <a:br/>
            <a:r>
              <a:t>3. Claude will see the error (table not found)</a:t>
            </a:r>
            <a:br/>
            <a:r>
              <a:t>4. Type: "The tasks endpoint is broken. Diagnose the issue from the error output and fix it."</a:t>
            </a:r>
            <a:br/>
            <a:r>
              <a:t>5. Watch Claude: read the error → trace to the table name → fix it → verify</a:t>
            </a:r>
            <a:br/>
            <a:br/>
            <a:r>
              <a:t>TALKING POINT: "This is the debugging workflow. You don't need to read the stack trace yourself — point Claude at the error and let it trace the root cause. This works on real production bugs too."</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SQL work is often the most tedious part of development - writing queries, designing schemas, optimizing performance. Claude Code transforms all of that from hours of head-scratching into minutes of guided conversation.</a:t>
            </a:r>
          </a:p>
          <a:p>
            <a:endParaRPr/>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endParaRPr/>
          </a:p>
          <a:p>
            <a:r>
              <a:t>TRANSITION:</a:t>
            </a:r>
          </a:p>
          <a:p>
            <a:r>
              <a:t>   Let's start with the most common task: generating SQL queries from natural language</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Writing SQL queries is one of Claude Code's strongest capabilities - it understands the intent behind your question and translates it into efficient, correct SQL.</a:t>
            </a:r>
          </a:p>
          <a:p>
            <a:endParaRPr/>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endParaRPr/>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endParaRPr/>
          </a:p>
          <a:p>
            <a:r>
              <a:t>TRANSITION:</a:t>
            </a:r>
          </a:p>
          <a:p>
            <a:r>
              <a:t>   Let me show you a real example of complex query generation</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what Claude Code generated from a single natural language prompt - notice how clean and well-structured this query is.</a:t>
            </a:r>
          </a:p>
          <a:p>
            <a:endParaRPr/>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endParaRPr/>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endParaRPr/>
          </a:p>
          <a:p>
            <a:r>
              <a:t>TRANSITION:</a:t>
            </a:r>
          </a:p>
          <a:p>
            <a:r>
              <a:t>   Beyond query generation, Claude Code excels at schema design</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Schema design is where bad decisions cost you for years - Claude Code acts as a database design reviewer that catches problems before they become production nightmares.</a:t>
            </a:r>
          </a:p>
          <a:p>
            <a:endParaRPr/>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endParaRPr/>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endParaRPr/>
          </a:p>
          <a:p>
            <a:r>
              <a:t>TRANSITION:</a:t>
            </a:r>
          </a:p>
          <a:p>
            <a:r>
              <a:t>   Once you have queries, optimization becomes critical</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Query optimization is part science, part art - Claude Code knows both. Look at this transformation from a slow query to a fast one.</a:t>
            </a:r>
          </a:p>
          <a:p>
            <a:endParaRPr/>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endParaRPr/>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endParaRPr/>
          </a:p>
          <a:p>
            <a:r>
              <a:t>TRANSITION:</a:t>
            </a:r>
          </a:p>
          <a:p>
            <a:r>
              <a:t>   SQL isn't just queries and schemas - there's also data transformation and ETL work</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ETL work is usually manual, error-prone, and time-consuming - Claude Code automates the entire process from data extraction to transformation to loading, with validation at each step.</a:t>
            </a:r>
          </a:p>
          <a:p>
            <a:endParaRPr/>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endParaRPr/>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endParaRPr/>
          </a:p>
          <a:p>
            <a:r>
              <a:t>TRANSITION:</a:t>
            </a:r>
          </a:p>
          <a:p>
            <a:r>
              <a:t>   Different databases have different strengths - Claude Code knows them all</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doesn't just know SQL - it knows the nuances and strengths of different database engines and writes queries optimized for each one.</a:t>
            </a:r>
          </a:p>
          <a:p>
            <a:endParaRPr/>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endParaRPr/>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endParaRPr/>
          </a:p>
          <a:p>
            <a:r>
              <a:t>TRANSITION:</a:t>
            </a:r>
          </a:p>
          <a:p>
            <a:r>
              <a:t>   Data quality is critical - let's talk about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Data quality issues are expensive - catching them early with validation queries saves hours of debugging and potential data corruption. Claude Code generates comprehensive validation queries automatically.</a:t>
            </a:r>
          </a:p>
          <a:p>
            <a:endParaRPr/>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endParaRPr/>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endParaRPr/>
          </a:p>
          <a:p>
            <a:r>
              <a:t>TRANSITION:</a:t>
            </a:r>
          </a:p>
          <a:p>
            <a:r>
              <a:t>   Let me show you a complete end-to-end demo</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endParaRPr/>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endParaRPr/>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endParaRPr/>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endParaRPr/>
          </a:p>
          <a:p>
            <a:r>
              <a:t>TRANSITION:</a:t>
            </a:r>
          </a:p>
          <a:p>
            <a:r>
              <a:t>   That's the SQL and data analysis section - now you'll practice this in Lab 3</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OPEN WITH: Last lab of the day — you're going to ship this dashboard with production hardening, feature branches, and a scaling review.</a:t>
            </a:r>
          </a:p>
          <a:p>
            <a:endParaRPr/>
          </a:p>
          <a:p>
            <a:r>
              <a:t>KEY POINTS:</a:t>
            </a:r>
          </a:p>
          <a:p>
            <a:r>
              <a:t>   * End-to-end workflow</a:t>
            </a:r>
          </a:p>
          <a:p>
            <a:r>
              <a:t>   * Production-ready</a:t>
            </a:r>
          </a:p>
          <a:p>
            <a:endParaRPr/>
          </a:p>
          <a:p>
            <a:r>
              <a:t>TRANSITION:</a:t>
            </a:r>
          </a:p>
          <a:p>
            <a:r>
              <a:t>   Wrap-up</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TALKING POINT: "This slide shows a real engagement where Claude Code turned a 2-week PM deliverable into a 2-hour exercise. The PM wrote the business requirements in plain English. Claude Code built the prototype. The CEO saw a clickable demo the same afternoon. That's the leverage — not replacing PMs or developers, but collapsing the feedback loop from weeks to hours."</a:t>
            </a:r>
            <a:br/>
            <a:br/>
            <a:r>
              <a:t>No live demo needed — this is a story slide. Tell it conversationally.</a:t>
            </a:r>
            <a:br/>
          </a:p>
          <a:p>
            <a:endParaRPr/>
          </a:p>
          <a:p/>
          <a:p/>
          <a:p>
            <a:endParaRPr/>
          </a:p>
          <a:p/>
          <a:p/>
          <a:p/>
          <a:p/>
          <a:p/>
          <a:p/>
          <a:p/>
          <a:p>
            <a:endParaRPr/>
          </a:p>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Eight major capabilities learned today.</a:t>
            </a:r>
          </a:p>
          <a:p>
            <a:endParaRPr/>
          </a:p>
          <a:p>
            <a:r>
              <a:t>KEY POINTS:</a:t>
            </a:r>
          </a:p>
          <a:p>
            <a:r>
              <a:t>   * Complete toolkit</a:t>
            </a:r>
          </a:p>
          <a:p>
            <a:r>
              <a:t>   * Production-ready</a:t>
            </a:r>
          </a:p>
          <a:p>
            <a:r>
              <a:t>   * Transform development</a:t>
            </a:r>
          </a:p>
          <a:p>
            <a:endParaRPr/>
          </a:p>
          <a:p>
            <a:r>
              <a:t>REAL-WORLD EXAMPLE:</a:t>
            </a:r>
          </a:p>
          <a:p>
            <a:r>
              <a:t>   You're now equipped to use Claude Code professionally.</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wrap up, let me save you from the five mistakes I see most often. Each one ties back to an engineering principle we covered today.</a:t>
            </a:r>
          </a:p>
          <a:p>
            <a:endParaRPr/>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endParaRPr/>
          </a:p>
          <a:p>
            <a:r>
              <a:t>ASK THE CLASS:</a:t>
            </a:r>
          </a:p>
          <a:p>
            <a:r>
              <a:t>   "Which of these mistakes have you already made today? No shame — we all do it. The goal is building habits that prevent them."</a:t>
            </a:r>
          </a:p>
          <a:p>
            <a:r>
              <a:t>   [PAUSE for 30-60 seconds]</a:t>
            </a:r>
          </a:p>
          <a:p>
            <a:endParaRPr/>
          </a:p>
          <a:p>
            <a:r>
              <a:t>TRANSITION:</a:t>
            </a:r>
          </a:p>
          <a:p>
            <a:r>
              <a:t>   Let's recap everything we covered and preview tomorrow's advanced topics.</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Completed Claude Code Fundamentals!</a:t>
            </a:r>
          </a:p>
          <a:p>
            <a:endParaRPr/>
          </a:p>
          <a:p>
            <a:r>
              <a:t>KEY POINTS:</a:t>
            </a:r>
          </a:p>
          <a:p>
            <a:r>
              <a:t>   * Tomorrow: Advanced topics</a:t>
            </a:r>
          </a:p>
          <a:p>
            <a:r>
              <a:t>   * Custom commands, MCP, agent teams</a:t>
            </a:r>
          </a:p>
          <a:p>
            <a:endParaRPr/>
          </a:p>
          <a:p>
            <a:r>
              <a:t>TRANSITION:</a:t>
            </a:r>
          </a:p>
          <a:p>
            <a:r>
              <a:t>   See you tomorrow!</a:t>
            </a:r>
          </a:p>
        </p:txBody>
      </p:sp>
      <p:sp>
        <p:nvSpPr>
          <p:cNvPr id="4" name="Slide Number Placeholder 3"/>
          <p:cNvSpPr>
            <a:spLocks noGrp="1"/>
          </p:cNvSpPr>
          <p:nvPr>
            <p:ph type="sldNum" sz="quarter" idx="5"/>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Before the labs, be honest about limitations. Every fix listed here is a skill they practice in the labs. This slide builds enormous credibility with skeptics.</a:t>
            </a:r>
          </a:p>
        </p:txBody>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The skill is delegation — clear intent, right context, let Claude do the work. Same skill that makes great engineering managers. Then launch Lab 2A.</a:t>
            </a:r>
          </a:p>
        </p:txBody>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Walk through each step. Emphasize: the developer only does step 1 (intent). Claude does everything else. The self-healing loop at the bottom is why this is an agent, not autocomplete. Flag: graphic version of this diagram is planned.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456307" y="5029200"/>
            <a:ext cx="2278188" cy="400110"/>
          </a:xfrm>
          <a:prstGeom prst="rect">
            <a:avLst/>
          </a:prstGeom>
          <a:noFill/>
        </p:spPr>
        <p:txBody>
          <a:bodyPr wrap="none">
            <a:spAutoFit/>
          </a:bodyPr>
          <a:lstStyle/>
          <a:p>
            <a:pPr algn="r">
              <a:defRPr sz="2000">
                <a:solidFill>
                  <a:srgbClr val="8B95A5"/>
                </a:solidFill>
              </a:defRPr>
            </a:pPr>
            <a:r>
              <a:rPr dirty="0"/>
              <a:t>©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Lab 2A: The Agentic Build Loop</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Break</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CLAUDE.md &amp; Memory Architecture</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Lab 2B: Teaching Claude Your Codebase</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2C: Precision &amp; Recovery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Commands &amp; Best Practices</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2D: Ship It</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Wrap-up &amp; Day 3 Preview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.claudeignore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TextBox 3"/>
          <p:cNvSpPr txBox="1"/>
          <p:nvPr/>
        </p:nvSpPr>
        <p:spPr>
          <a:xfrm>
            <a:off x="731520" y="1828800"/>
            <a:ext cx="1371600" cy="365760"/>
          </a:xfrm>
          <a:prstGeom prst="rect">
            <a:avLst/>
          </a:prstGeom>
          <a:noFill/>
        </p:spPr>
        <p:txBody>
          <a:bodyPr wrap="square">
            <a:spAutoFit/>
          </a:bodyPr>
          <a:lstStyle/>
          <a:p>
            <a:pPr>
              <a:defRPr sz="1800" b="1">
                <a:solidFill>
                  <a:srgbClr val="00D4AA"/>
                </a:solidFill>
              </a:defRPr>
            </a:pPr>
            <a:r>
              <a:t>Lab 2A:</a:t>
            </a:r>
          </a:p>
        </p:txBody>
      </p:sp>
      <p:sp>
        <p:nvSpPr>
          <p:cNvPr id="5" name="TextBox 4"/>
          <p:cNvSpPr txBox="1"/>
          <p:nvPr/>
        </p:nvSpPr>
        <p:spPr>
          <a:xfrm>
            <a:off x="2194560" y="1828800"/>
            <a:ext cx="8229600" cy="640080"/>
          </a:xfrm>
          <a:prstGeom prst="rect">
            <a:avLst/>
          </a:prstGeom>
          <a:noFill/>
        </p:spPr>
        <p:txBody>
          <a:bodyPr wrap="square">
            <a:spAutoFit/>
          </a:bodyPr>
          <a:lstStyle/>
          <a:p>
            <a:pPr>
              <a:defRPr sz="1600">
                <a:solidFill>
                  <a:srgbClr val="FFFFFF"/>
                </a:solidFill>
              </a:defRPr>
            </a:pPr>
            <a:r>
              <a:t>The Agentic Build Loop — build a working web app from a single prompt</a:t>
            </a:r>
          </a:p>
        </p:txBody>
      </p:sp>
      <p:sp>
        <p:nvSpPr>
          <p:cNvPr id="6" name="TextBox 5"/>
          <p:cNvSpPr txBox="1"/>
          <p:nvPr/>
        </p:nvSpPr>
        <p:spPr>
          <a:xfrm>
            <a:off x="731520" y="2697480"/>
            <a:ext cx="1371600" cy="365760"/>
          </a:xfrm>
          <a:prstGeom prst="rect">
            <a:avLst/>
          </a:prstGeom>
          <a:noFill/>
        </p:spPr>
        <p:txBody>
          <a:bodyPr wrap="square">
            <a:spAutoFit/>
          </a:bodyPr>
          <a:lstStyle/>
          <a:p>
            <a:pPr>
              <a:defRPr sz="1800" b="1">
                <a:solidFill>
                  <a:srgbClr val="00D4AA"/>
                </a:solidFill>
              </a:defRPr>
            </a:pPr>
            <a:r>
              <a:t>Lab 2B:</a:t>
            </a:r>
          </a:p>
        </p:txBody>
      </p:sp>
      <p:sp>
        <p:nvSpPr>
          <p:cNvPr id="7" name="TextBox 6"/>
          <p:cNvSpPr txBox="1"/>
          <p:nvPr/>
        </p:nvSpPr>
        <p:spPr>
          <a:xfrm>
            <a:off x="2194560" y="2697480"/>
            <a:ext cx="8229600" cy="640080"/>
          </a:xfrm>
          <a:prstGeom prst="rect">
            <a:avLst/>
          </a:prstGeom>
          <a:noFill/>
        </p:spPr>
        <p:txBody>
          <a:bodyPr wrap="square">
            <a:spAutoFit/>
          </a:bodyPr>
          <a:lstStyle/>
          <a:p>
            <a:pPr>
              <a:defRPr sz="1600">
                <a:solidFill>
                  <a:srgbClr val="FFFFFF"/>
                </a:solidFill>
              </a:defRPr>
            </a:pPr>
            <a:r>
              <a:t>Teaching Claude Your Codebase — policy enforcement, security audit, draft your own</a:t>
            </a:r>
          </a:p>
        </p:txBody>
      </p:sp>
      <p:sp>
        <p:nvSpPr>
          <p:cNvPr id="8" name="TextBox 7"/>
          <p:cNvSpPr txBox="1"/>
          <p:nvPr/>
        </p:nvSpPr>
        <p:spPr>
          <a:xfrm>
            <a:off x="731520" y="3566160"/>
            <a:ext cx="1371600" cy="365760"/>
          </a:xfrm>
          <a:prstGeom prst="rect">
            <a:avLst/>
          </a:prstGeom>
          <a:noFill/>
        </p:spPr>
        <p:txBody>
          <a:bodyPr wrap="square">
            <a:spAutoFit/>
          </a:bodyPr>
          <a:lstStyle/>
          <a:p>
            <a:pPr>
              <a:defRPr sz="1800" b="1">
                <a:solidFill>
                  <a:srgbClr val="00D4AA"/>
                </a:solidFill>
              </a:defRPr>
            </a:pPr>
            <a:r>
              <a:t>Lab 2C:</a:t>
            </a:r>
          </a:p>
        </p:txBody>
      </p:sp>
      <p:sp>
        <p:nvSpPr>
          <p:cNvPr id="9" name="TextBox 8"/>
          <p:cNvSpPr txBox="1"/>
          <p:nvPr/>
        </p:nvSpPr>
        <p:spPr>
          <a:xfrm>
            <a:off x="2194560" y="3566160"/>
            <a:ext cx="8229600" cy="640080"/>
          </a:xfrm>
          <a:prstGeom prst="rect">
            <a:avLst/>
          </a:prstGeom>
          <a:noFill/>
        </p:spPr>
        <p:txBody>
          <a:bodyPr wrap="square">
            <a:spAutoFit/>
          </a:bodyPr>
          <a:lstStyle/>
          <a:p>
            <a:pPr>
              <a:defRPr sz="1600">
                <a:solidFill>
                  <a:srgbClr val="FFFFFF"/>
                </a:solidFill>
              </a:defRPr>
            </a:pPr>
            <a:r>
              <a:t>Precision &amp; Recovery — token efficiency, disaster recovery, AI debugging</a:t>
            </a:r>
          </a:p>
        </p:txBody>
      </p:sp>
      <p:sp>
        <p:nvSpPr>
          <p:cNvPr id="10" name="TextBox 9"/>
          <p:cNvSpPr txBox="1"/>
          <p:nvPr/>
        </p:nvSpPr>
        <p:spPr>
          <a:xfrm>
            <a:off x="731520" y="4434840"/>
            <a:ext cx="1371600" cy="365760"/>
          </a:xfrm>
          <a:prstGeom prst="rect">
            <a:avLst/>
          </a:prstGeom>
          <a:noFill/>
        </p:spPr>
        <p:txBody>
          <a:bodyPr wrap="square">
            <a:spAutoFit/>
          </a:bodyPr>
          <a:lstStyle/>
          <a:p>
            <a:pPr>
              <a:defRPr sz="1800" b="1">
                <a:solidFill>
                  <a:srgbClr val="00D4AA"/>
                </a:solidFill>
              </a:defRPr>
            </a:pPr>
            <a:r>
              <a:t>Lab 2D:</a:t>
            </a:r>
          </a:p>
        </p:txBody>
      </p:sp>
      <p:sp>
        <p:nvSpPr>
          <p:cNvPr id="11" name="TextBox 10"/>
          <p:cNvSpPr txBox="1"/>
          <p:nvPr/>
        </p:nvSpPr>
        <p:spPr>
          <a:xfrm>
            <a:off x="2194560" y="4434840"/>
            <a:ext cx="8229600" cy="640080"/>
          </a:xfrm>
          <a:prstGeom prst="rect">
            <a:avLst/>
          </a:prstGeom>
          <a:noFill/>
        </p:spPr>
        <p:txBody>
          <a:bodyPr wrap="square">
            <a:spAutoFit/>
          </a:bodyPr>
          <a:lstStyle/>
          <a:p>
            <a:pPr>
              <a:defRPr sz="1600">
                <a:solidFill>
                  <a:srgbClr val="FFFFFF"/>
                </a:solidFill>
              </a:defRPr>
            </a:pPr>
            <a:r>
              <a:t>Ship It — production readiness review, feature branches, scaling analysis</a:t>
            </a:r>
          </a:p>
        </p:txBody>
      </p:sp>
      <p:sp>
        <p:nvSpPr>
          <p:cNvPr id="12" name="TextBox 11"/>
          <p:cNvSpPr txBox="1"/>
          <p:nvPr/>
        </p:nvSpPr>
        <p:spPr>
          <a:xfrm>
            <a:off x="1371600" y="5486400"/>
            <a:ext cx="8229600" cy="457200"/>
          </a:xfrm>
          <a:prstGeom prst="rect">
            <a:avLst/>
          </a:prstGeom>
          <a:noFill/>
        </p:spPr>
        <p:txBody>
          <a:bodyPr wrap="square">
            <a:spAutoFit/>
          </a:bodyPr>
          <a:lstStyle/>
          <a:p>
            <a:pPr algn="ctr">
              <a:defRPr sz="1400">
                <a:solidFill>
                  <a:srgbClr val="8A8F98"/>
                </a:solidFill>
              </a:defRPr>
            </a:pPr>
            <a:r>
              <a:t>One continuous project — each lab builds on the last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Copy-paste code from ChatGPT</a:t>
            </a: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Other AI Assistants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Suggestions in sidebar — you copy/paste</a:t>
            </a:r>
          </a:p>
          <a:p>
            <a:pPr>
              <a:spcAft>
                <a:spcPts val="1200"/>
              </a:spcAft>
              <a:defRPr sz="1800">
                <a:solidFill>
                  <a:srgbClr val="FFFFFF"/>
                </a:solidFill>
              </a:defRPr>
            </a:pPr>
            <a:r>
              <a:t>  Limited to open file or selected code</a:t>
            </a:r>
          </a:p>
          <a:p>
            <a:pPr>
              <a:spcAft>
                <a:spcPts val="1200"/>
              </a:spcAft>
              <a:defRPr sz="1800">
                <a:solidFill>
                  <a:srgbClr val="FFFFFF"/>
                </a:solidFill>
              </a:defRPr>
            </a:pPr>
            <a:r>
              <a:t>  Manual git workflow</a:t>
            </a:r>
          </a:p>
          <a:p>
            <a:pPr>
              <a:spcAft>
                <a:spcPts val="1200"/>
              </a:spcAft>
              <a:defRPr sz="1800">
                <a:solidFill>
                  <a:srgbClr val="FFFFFF"/>
                </a:solidFill>
              </a:defRPr>
            </a:pPr>
            <a:r>
              <a:t>  No persistent project configuration</a:t>
            </a:r>
          </a:p>
          <a:p>
            <a:pPr>
              <a:spcAft>
                <a:spcPts val="1200"/>
              </a:spcAft>
              <a:defRPr sz="1800">
                <a:solidFill>
                  <a:srgbClr val="FFFFFF"/>
                </a:solidFill>
              </a:defRPr>
            </a:pPr>
            <a:r>
              <a:t>  Fixed feature set from vendor</a:t>
            </a:r>
          </a:p>
          <a:p>
            <a:pPr>
              <a:spcAft>
                <a:spcPts val="1200"/>
              </a:spcAft>
              <a:defRPr sz="1800">
                <a:solidFill>
                  <a:srgbClr val="FFFFFF"/>
                </a:solidFill>
              </a:defRPr>
            </a:pPr>
            <a:r>
              <a:t>  Single-threaded conversation only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
              <a:t>8GB+ RAM recommended</a:t>
            </a:r>
            <a:br/>
            <a:r>
              <a:t>Node.js 18+ required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rPr dirty="0"/>
              <a:t>Tools</a:t>
            </a:r>
          </a:p>
          <a:p>
            <a:pPr algn="ctr">
              <a:spcBef>
                <a:spcPts val="800"/>
              </a:spcBef>
              <a:defRPr sz="1300">
                <a:solidFill>
                  <a:srgbClr val="8B95A5"/>
                </a:solidFill>
              </a:defRPr>
            </a:pPr>
            <a:r>
              <a:rPr dirty="0"/>
              <a:t>Terminal (iTerm2, Windows Terminal, etc.)</a:t>
            </a:r>
            <a:br>
              <a:rPr dirty="0"/>
            </a:br>
            <a:r>
              <a:rPr dirty="0"/>
              <a:t>Git installed and configured</a:t>
            </a:r>
            <a:br>
              <a:rPr dirty="0"/>
            </a:br>
            <a:r>
              <a:rPr dirty="0"/>
              <a:t>VS Code or JetBrains IDE (optional)</a:t>
            </a:r>
          </a:p>
        </p:txBody>
      </p:sp>
      <p:sp>
        <p:nvSpPr>
          <p:cNvPr id="11" name="Rounded Rectangle 10"/>
          <p:cNvSpPr/>
          <p:nvPr/>
        </p:nvSpPr>
        <p:spPr>
          <a:xfrm>
            <a:off x="7604607" y="2011680"/>
            <a:ext cx="2286001"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94866" cy="1371600"/>
          </a:xfrm>
          <a:prstGeom prst="rect">
            <a:avLst/>
          </a:prstGeom>
          <a:noFill/>
        </p:spPr>
        <p:txBody>
          <a:bodyPr wrap="square">
            <a:noAutofit/>
          </a:bodyPr>
          <a:lstStyle/>
          <a:p>
            <a:pPr algn="ctr">
              <a:defRPr sz="1800" b="1">
                <a:solidFill>
                  <a:srgbClr val="FFFFFF"/>
                </a:solidFill>
                <a:latin typeface="Consolas"/>
              </a:defRPr>
            </a:pPr>
            <a:r>
              <a:rPr dirty="0"/>
              <a:t>Account</a:t>
            </a:r>
          </a:p>
          <a:p>
            <a:pPr algn="ctr">
              <a:spcBef>
                <a:spcPts val="400"/>
              </a:spcBef>
              <a:defRPr sz="1100">
                <a:solidFill>
                  <a:srgbClr val="8A8F98"/>
                </a:solidFill>
              </a:defRPr>
            </a:pPr>
            <a:r>
              <a:rPr dirty="0"/>
              <a:t>Anthropic Pro or Max plan</a:t>
            </a:r>
          </a:p>
          <a:p>
            <a:pPr algn="ctr">
              <a:spcBef>
                <a:spcPts val="400"/>
              </a:spcBef>
              <a:defRPr sz="1100">
                <a:solidFill>
                  <a:srgbClr val="8A8F98"/>
                </a:solidFill>
              </a:defRPr>
            </a:pPr>
            <a:r>
              <a:rPr dirty="0"/>
              <a:t>Install: claude.ai/install.sh</a:t>
            </a:r>
          </a:p>
          <a:p>
            <a:pPr algn="ctr">
              <a:spcBef>
                <a:spcPts val="400"/>
              </a:spcBef>
              <a:defRPr sz="1100">
                <a:solidFill>
                  <a:srgbClr val="8A8F98"/>
                </a:solidFill>
              </a:defRPr>
            </a:pPr>
            <a:r>
              <a:rPr dirty="0"/>
              <a:t>Authenticate: </a:t>
            </a:r>
            <a:r>
              <a:rPr dirty="0" err="1"/>
              <a:t>claude</a:t>
            </a:r>
            <a:r>
              <a:rPr dirty="0"/>
              <a:t> login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8F8F2"/>
                </a:solidFill>
                <a:latin typeface="Consolas"/>
              </a:defRPr>
            </a:pPr>
            <a:r>
              <a:t># Method 1: Native install (recommended — auto-updates)</a:t>
            </a:r>
          </a:p>
          <a:p>
            <a:pPr>
              <a:defRPr sz="1400">
                <a:solidFill>
                  <a:srgbClr val="F8F8F2"/>
                </a:solidFill>
                <a:latin typeface="Consolas"/>
              </a:defRPr>
            </a:pPr>
            <a:r>
              <a:t>curl -fsSL https://claude.ai/install.sh | bash</a:t>
            </a:r>
          </a:p>
          <a:p>
            <a:pPr>
              <a:defRPr sz="1400">
                <a:solidFill>
                  <a:srgbClr val="F8F8F2"/>
                </a:solidFill>
                <a:latin typeface="Consolas"/>
              </a:defRPr>
            </a:pPr>
            <a:endParaRPr/>
          </a:p>
          <a:p>
            <a:pPr>
              <a:defRPr sz="1400">
                <a:solidFill>
                  <a:srgbClr val="F8F8F2"/>
                </a:solidFill>
                <a:latin typeface="Consolas"/>
              </a:defRPr>
            </a:pPr>
            <a:r>
              <a:t># Method 2: Homebrew (macOS/Linux — manual updates)</a:t>
            </a:r>
          </a:p>
          <a:p>
            <a:pPr>
              <a:defRPr sz="1400">
                <a:solidFill>
                  <a:srgbClr val="F8F8F2"/>
                </a:solidFill>
                <a:latin typeface="Consolas"/>
              </a:defRPr>
            </a:pPr>
            <a:r>
              <a:t>brew install --cask claude-code</a:t>
            </a:r>
          </a:p>
          <a:p>
            <a:pPr>
              <a:defRPr sz="1400">
                <a:solidFill>
                  <a:srgbClr val="F8F8F2"/>
                </a:solidFill>
                <a:latin typeface="Consolas"/>
              </a:defRPr>
            </a:pPr>
            <a:endParaRPr/>
          </a:p>
          <a:p>
            <a:pPr>
              <a:defRPr sz="1400">
                <a:solidFill>
                  <a:srgbClr val="F8F8F2"/>
                </a:solidFill>
                <a:latin typeface="Consolas"/>
              </a:defRPr>
            </a:pPr>
            <a:r>
              <a:t># Method 3: WinGet (Windows — manual updates)</a:t>
            </a:r>
          </a:p>
          <a:p>
            <a:pPr>
              <a:defRPr sz="1400">
                <a:solidFill>
                  <a:srgbClr val="F8F8F2"/>
                </a:solidFill>
                <a:latin typeface="Consolas"/>
              </a:defRPr>
            </a:pPr>
            <a:r>
              <a:t>winget install Anthropic.ClaudeCode</a:t>
            </a:r>
          </a:p>
          <a:p>
            <a:pPr>
              <a:defRPr sz="1400">
                <a:solidFill>
                  <a:srgbClr val="F8F8F2"/>
                </a:solidFill>
                <a:latin typeface="Consolas"/>
              </a:defRPr>
            </a:pPr>
            <a:endParaRPr/>
          </a:p>
          <a:p>
            <a:pPr>
              <a:defRPr sz="1400">
                <a:solidFill>
                  <a:srgbClr val="F8F8F2"/>
                </a:solidFill>
                <a:latin typeface="Consolas"/>
              </a:defRPr>
            </a:pPr>
            <a:r>
              <a:t># Verify installation</a:t>
            </a:r>
          </a:p>
          <a:p>
            <a:pPr>
              <a:defRPr sz="1400">
                <a:solidFill>
                  <a:srgbClr val="F8F8F2"/>
                </a:solidFill>
                <a:latin typeface="Consolas"/>
              </a:defRPr>
            </a:pPr>
            <a:r>
              <a:t>claude --version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6" name="TextBox 5">
            <a:extLst>
              <a:ext uri="{FF2B5EF4-FFF2-40B4-BE49-F238E27FC236}">
                <a16:creationId xmlns:a16="http://schemas.microsoft.com/office/drawing/2014/main" id="{20DA46C1-A09C-CC85-41D0-591C5CEE27C2}"/>
              </a:ext>
            </a:extLst>
          </p:cNvPr>
          <p:cNvSpPr txBox="1"/>
          <p:nvPr/>
        </p:nvSpPr>
        <p:spPr>
          <a:xfrm>
            <a:off x="7300452" y="1778568"/>
            <a:ext cx="3976843" cy="3785652"/>
          </a:xfrm>
          <a:prstGeom prst="rect">
            <a:avLst/>
          </a:prstGeom>
          <a:noFill/>
        </p:spPr>
        <p:txBody>
          <a:bodyPr wrap="square">
            <a:spAutoFit/>
          </a:bodyPr>
          <a:lstStyle/>
          <a:p>
            <a:r>
              <a:rPr lang="en-US" sz="1600" dirty="0">
                <a:solidFill>
                  <a:schemeClr val="bg1"/>
                </a:solidFill>
              </a:rPr>
              <a:t>GUI for Claude Code — no terminal required</a:t>
            </a:r>
          </a:p>
          <a:p>
            <a:endParaRPr lang="en-US" sz="1600" dirty="0">
              <a:solidFill>
                <a:schemeClr val="bg1"/>
              </a:solidFill>
            </a:endParaRPr>
          </a:p>
          <a:p>
            <a:r>
              <a:rPr lang="en-US" sz="1600" dirty="0">
                <a:solidFill>
                  <a:schemeClr val="bg1"/>
                </a:solidFill>
              </a:rPr>
              <a:t>Parallel sessions with git </a:t>
            </a:r>
            <a:r>
              <a:rPr lang="en-US" sz="1600" dirty="0" err="1">
                <a:solidFill>
                  <a:schemeClr val="bg1"/>
                </a:solidFill>
              </a:rPr>
              <a:t>worktree</a:t>
            </a:r>
            <a:r>
              <a:rPr lang="en-US" sz="1600" dirty="0">
                <a:solidFill>
                  <a:schemeClr val="bg1"/>
                </a:solidFill>
              </a:rPr>
              <a:t> isolation</a:t>
            </a:r>
          </a:p>
          <a:p>
            <a:endParaRPr lang="en-US" sz="1600" dirty="0">
              <a:solidFill>
                <a:schemeClr val="bg1"/>
              </a:solidFill>
            </a:endParaRPr>
          </a:p>
          <a:p>
            <a:r>
              <a:rPr lang="en-US" sz="1600" dirty="0">
                <a:solidFill>
                  <a:schemeClr val="bg1"/>
                </a:solidFill>
              </a:rPr>
              <a:t>Visual diff review and server previews</a:t>
            </a:r>
          </a:p>
          <a:p>
            <a:endParaRPr lang="en-US" sz="1600" dirty="0">
              <a:solidFill>
                <a:schemeClr val="bg1"/>
              </a:solidFill>
            </a:endParaRPr>
          </a:p>
          <a:p>
            <a:r>
              <a:rPr lang="en-US" sz="1600" dirty="0">
                <a:solidFill>
                  <a:schemeClr val="bg1"/>
                </a:solidFill>
              </a:rPr>
              <a:t>Local or remote (cloud) sessions from</a:t>
            </a:r>
            <a:br>
              <a:rPr lang="en-US" sz="1600" dirty="0">
                <a:solidFill>
                  <a:schemeClr val="bg1"/>
                </a:solidFill>
              </a:rPr>
            </a:br>
            <a:r>
              <a:rPr lang="en-US" sz="1600" dirty="0">
                <a:solidFill>
                  <a:schemeClr val="bg1"/>
                </a:solidFill>
              </a:rPr>
              <a:t> same interface</a:t>
            </a:r>
          </a:p>
          <a:p>
            <a:endParaRPr lang="en-US" sz="1600" dirty="0">
              <a:solidFill>
                <a:schemeClr val="bg1"/>
              </a:solidFill>
            </a:endParaRPr>
          </a:p>
          <a:p>
            <a:r>
              <a:rPr lang="en-US" sz="1600" dirty="0">
                <a:solidFill>
                  <a:schemeClr val="bg1"/>
                </a:solidFill>
              </a:rPr>
              <a:t>PR monitoring and status tracking</a:t>
            </a:r>
          </a:p>
          <a:p>
            <a:endParaRPr lang="en-US" sz="1600" dirty="0">
              <a:solidFill>
                <a:schemeClr val="bg1"/>
              </a:solidFill>
            </a:endParaRPr>
          </a:p>
          <a:p>
            <a:r>
              <a:rPr lang="en-US" sz="1600" dirty="0">
                <a:solidFill>
                  <a:schemeClr val="bg1"/>
                </a:solidFill>
              </a:rPr>
              <a:t>/desktop </a:t>
            </a:r>
            <a:r>
              <a:rPr lang="en-US" sz="1600" dirty="0" err="1">
                <a:solidFill>
                  <a:schemeClr val="bg1"/>
                </a:solidFill>
              </a:rPr>
              <a:t>cmd</a:t>
            </a:r>
            <a:r>
              <a:rPr lang="en-US" sz="1600" dirty="0">
                <a:solidFill>
                  <a:schemeClr val="bg1"/>
                </a:solidFill>
              </a:rPr>
              <a:t> moves a CLI session to the app</a:t>
            </a:r>
          </a:p>
          <a:p>
            <a:endParaRPr lang="en-US" sz="1600" dirty="0">
              <a:solidFill>
                <a:schemeClr val="bg1"/>
              </a:solidFill>
            </a:endParaRPr>
          </a:p>
          <a:p>
            <a:r>
              <a:rPr lang="en-US" sz="1600" dirty="0">
                <a:solidFill>
                  <a:schemeClr val="bg1"/>
                </a:solidFill>
              </a:rPr>
              <a:t>Best for: non-terminal users, multi-session </a:t>
            </a:r>
            <a:br>
              <a:rPr lang="en-US" sz="1600" dirty="0">
                <a:solidFill>
                  <a:schemeClr val="bg1"/>
                </a:solidFill>
              </a:rPr>
            </a:br>
            <a:r>
              <a:rPr lang="en-US" sz="1600" dirty="0">
                <a:solidFill>
                  <a:schemeClr val="bg1"/>
                </a:solidFill>
              </a:rPr>
              <a:t> management, visual workflows</a:t>
            </a:r>
          </a:p>
        </p:txBody>
      </p:sp>
      <p:pic>
        <p:nvPicPr>
          <p:cNvPr id="7" name="Picture 6">
            <a:extLst>
              <a:ext uri="{FF2B5EF4-FFF2-40B4-BE49-F238E27FC236}">
                <a16:creationId xmlns:a16="http://schemas.microsoft.com/office/drawing/2014/main" id="{1CE2B5A9-A391-ACE3-A562-6E21FAF6C260}"/>
              </a:ext>
            </a:extLst>
          </p:cNvPr>
          <p:cNvPicPr>
            <a:picLocks noChangeAspect="1"/>
          </p:cNvPicPr>
          <p:nvPr/>
        </p:nvPicPr>
        <p:blipFill>
          <a:blip r:embed="rId3"/>
          <a:stretch>
            <a:fillRect/>
          </a:stretch>
        </p:blipFill>
        <p:spPr>
          <a:xfrm>
            <a:off x="1203631" y="1828800"/>
            <a:ext cx="5912508" cy="36576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endParaR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endParaR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endParaR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.claudeignore prevents overload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365760"/>
            <a:ext cx="10515600" cy="731520"/>
          </a:xfrm>
          <a:prstGeom prst="rect">
            <a:avLst/>
          </a:prstGeom>
          <a:noFill/>
        </p:spPr>
        <p:txBody>
          <a:bodyPr wrap="square">
            <a:spAutoFit/>
          </a:bodyPr>
          <a:lstStyle/>
          <a:p>
            <a:pPr>
              <a:defRPr sz="3200" b="1">
                <a:solidFill>
                  <a:srgbClr val="FFFFFF"/>
                </a:solidFill>
              </a:defRPr>
            </a:pPr>
            <a:r>
              <a:t>What Happens When You Press Enter</a:t>
            </a:r>
          </a:p>
        </p:txBody>
      </p:sp>
      <p:sp>
        <p:nvSpPr>
          <p:cNvPr id="3" name="TextBox 2"/>
          <p:cNvSpPr txBox="1"/>
          <p:nvPr/>
        </p:nvSpPr>
        <p:spPr>
          <a:xfrm>
            <a:off x="731520" y="1005840"/>
            <a:ext cx="10515600" cy="457200"/>
          </a:xfrm>
          <a:prstGeom prst="rect">
            <a:avLst/>
          </a:prstGeom>
          <a:noFill/>
        </p:spPr>
        <p:txBody>
          <a:bodyPr wrap="none">
            <a:spAutoFit/>
          </a:bodyPr>
          <a:lstStyle/>
          <a:p>
            <a:pPr>
              <a:defRPr sz="1600">
                <a:solidFill>
                  <a:srgbClr val="8A8F98"/>
                </a:solidFill>
              </a:defRPr>
            </a:pPr>
            <a:r>
              <a:t>The complete flow — from your intent to working code</a:t>
            </a:r>
          </a:p>
        </p:txBody>
      </p:sp>
      <p:sp>
        <p:nvSpPr>
          <p:cNvPr id="4" name="TextBox 3"/>
          <p:cNvSpPr txBox="1"/>
          <p:nvPr/>
        </p:nvSpPr>
        <p:spPr>
          <a:xfrm>
            <a:off x="2286000" y="1645920"/>
            <a:ext cx="2743200" cy="365760"/>
          </a:xfrm>
          <a:prstGeom prst="rect">
            <a:avLst/>
          </a:prstGeom>
          <a:noFill/>
        </p:spPr>
        <p:txBody>
          <a:bodyPr wrap="none">
            <a:spAutoFit/>
          </a:bodyPr>
          <a:lstStyle/>
          <a:p>
            <a:pPr algn="l">
              <a:defRPr sz="2000" b="1">
                <a:solidFill>
                  <a:srgbClr val="00D4AA"/>
                </a:solidFill>
              </a:defRPr>
            </a:pPr>
            <a:r>
              <a:t>YOUR INTENT</a:t>
            </a:r>
          </a:p>
        </p:txBody>
      </p:sp>
      <p:sp>
        <p:nvSpPr>
          <p:cNvPr id="5" name="TextBox 4"/>
          <p:cNvSpPr txBox="1"/>
          <p:nvPr/>
        </p:nvSpPr>
        <p:spPr>
          <a:xfrm>
            <a:off x="5303520" y="1645920"/>
            <a:ext cx="5029200" cy="365760"/>
          </a:xfrm>
          <a:prstGeom prst="rect">
            <a:avLst/>
          </a:prstGeom>
          <a:noFill/>
        </p:spPr>
        <p:txBody>
          <a:bodyPr wrap="none">
            <a:spAutoFit/>
          </a:bodyPr>
          <a:lstStyle/>
          <a:p>
            <a:pPr>
              <a:defRPr sz="1600">
                <a:solidFill>
                  <a:srgbClr val="FFFFFF"/>
                </a:solidFill>
              </a:defRPr>
            </a:pPr>
            <a:r>
              <a:t>You describe what you want</a:t>
            </a:r>
          </a:p>
        </p:txBody>
      </p:sp>
      <p:sp>
        <p:nvSpPr>
          <p:cNvPr id="6" name="TextBox 5"/>
          <p:cNvSpPr txBox="1"/>
          <p:nvPr/>
        </p:nvSpPr>
        <p:spPr>
          <a:xfrm>
            <a:off x="4114800" y="2057400"/>
            <a:ext cx="914400" cy="274320"/>
          </a:xfrm>
          <a:prstGeom prst="rect">
            <a:avLst/>
          </a:prstGeom>
          <a:noFill/>
        </p:spPr>
        <p:txBody>
          <a:bodyPr wrap="none">
            <a:spAutoFit/>
          </a:bodyPr>
          <a:lstStyle/>
          <a:p>
            <a:pPr algn="l">
              <a:defRPr sz="2000">
                <a:solidFill>
                  <a:srgbClr val="00D4AA"/>
                </a:solidFill>
              </a:defRPr>
            </a:pPr>
            <a:r>
              <a:t>↓</a:t>
            </a:r>
          </a:p>
        </p:txBody>
      </p:sp>
      <p:sp>
        <p:nvSpPr>
          <p:cNvPr id="7" name="TextBox 6"/>
          <p:cNvSpPr txBox="1"/>
          <p:nvPr/>
        </p:nvSpPr>
        <p:spPr>
          <a:xfrm>
            <a:off x="2286000" y="2331720"/>
            <a:ext cx="2743200" cy="365760"/>
          </a:xfrm>
          <a:prstGeom prst="rect">
            <a:avLst/>
          </a:prstGeom>
          <a:noFill/>
        </p:spPr>
        <p:txBody>
          <a:bodyPr wrap="none">
            <a:spAutoFit/>
          </a:bodyPr>
          <a:lstStyle/>
          <a:p>
            <a:pPr algn="l">
              <a:defRPr sz="2000" b="1">
                <a:solidFill>
                  <a:srgbClr val="00D4AA"/>
                </a:solidFill>
              </a:defRPr>
            </a:pPr>
            <a:r>
              <a:t>READ CODEBASE</a:t>
            </a:r>
          </a:p>
        </p:txBody>
      </p:sp>
      <p:sp>
        <p:nvSpPr>
          <p:cNvPr id="8" name="TextBox 7"/>
          <p:cNvSpPr txBox="1"/>
          <p:nvPr/>
        </p:nvSpPr>
        <p:spPr>
          <a:xfrm>
            <a:off x="5303520" y="2331720"/>
            <a:ext cx="5029200" cy="365760"/>
          </a:xfrm>
          <a:prstGeom prst="rect">
            <a:avLst/>
          </a:prstGeom>
          <a:noFill/>
        </p:spPr>
        <p:txBody>
          <a:bodyPr wrap="none">
            <a:spAutoFit/>
          </a:bodyPr>
          <a:lstStyle/>
          <a:p>
            <a:pPr>
              <a:defRPr sz="1600">
                <a:solidFill>
                  <a:srgbClr val="FFFFFF"/>
                </a:solidFill>
              </a:defRPr>
            </a:pPr>
            <a:r>
              <a:t>CLAUDE.md + relevant files + git history</a:t>
            </a:r>
          </a:p>
        </p:txBody>
      </p:sp>
      <p:sp>
        <p:nvSpPr>
          <p:cNvPr id="9" name="TextBox 8"/>
          <p:cNvSpPr txBox="1"/>
          <p:nvPr/>
        </p:nvSpPr>
        <p:spPr>
          <a:xfrm>
            <a:off x="4114800" y="2743200"/>
            <a:ext cx="914400" cy="274320"/>
          </a:xfrm>
          <a:prstGeom prst="rect">
            <a:avLst/>
          </a:prstGeom>
          <a:noFill/>
        </p:spPr>
        <p:txBody>
          <a:bodyPr wrap="none">
            <a:spAutoFit/>
          </a:bodyPr>
          <a:lstStyle/>
          <a:p>
            <a:pPr algn="l">
              <a:defRPr sz="2000">
                <a:solidFill>
                  <a:srgbClr val="00D4AA"/>
                </a:solidFill>
              </a:defRPr>
            </a:pPr>
            <a:r>
              <a:t>↓</a:t>
            </a:r>
          </a:p>
        </p:txBody>
      </p:sp>
      <p:sp>
        <p:nvSpPr>
          <p:cNvPr id="10" name="TextBox 9"/>
          <p:cNvSpPr txBox="1"/>
          <p:nvPr/>
        </p:nvSpPr>
        <p:spPr>
          <a:xfrm>
            <a:off x="2286000" y="3017520"/>
            <a:ext cx="2743200" cy="365760"/>
          </a:xfrm>
          <a:prstGeom prst="rect">
            <a:avLst/>
          </a:prstGeom>
          <a:noFill/>
        </p:spPr>
        <p:txBody>
          <a:bodyPr wrap="none">
            <a:spAutoFit/>
          </a:bodyPr>
          <a:lstStyle/>
          <a:p>
            <a:pPr algn="l">
              <a:defRPr sz="2000" b="1">
                <a:solidFill>
                  <a:srgbClr val="00D4AA"/>
                </a:solidFill>
              </a:defRPr>
            </a:pPr>
            <a:r>
              <a:t>PLAN CHANGES</a:t>
            </a:r>
          </a:p>
        </p:txBody>
      </p:sp>
      <p:sp>
        <p:nvSpPr>
          <p:cNvPr id="11" name="TextBox 10"/>
          <p:cNvSpPr txBox="1"/>
          <p:nvPr/>
        </p:nvSpPr>
        <p:spPr>
          <a:xfrm>
            <a:off x="5303520" y="3017520"/>
            <a:ext cx="5029200" cy="365760"/>
          </a:xfrm>
          <a:prstGeom prst="rect">
            <a:avLst/>
          </a:prstGeom>
          <a:noFill/>
        </p:spPr>
        <p:txBody>
          <a:bodyPr wrap="none">
            <a:spAutoFit/>
          </a:bodyPr>
          <a:lstStyle/>
          <a:p>
            <a:pPr>
              <a:defRPr sz="1600">
                <a:solidFill>
                  <a:srgbClr val="FFFFFF"/>
                </a:solidFill>
              </a:defRPr>
            </a:pPr>
            <a:r>
              <a:t>Design approach, choose files to modify</a:t>
            </a:r>
          </a:p>
        </p:txBody>
      </p:sp>
      <p:sp>
        <p:nvSpPr>
          <p:cNvPr id="12" name="TextBox 11"/>
          <p:cNvSpPr txBox="1"/>
          <p:nvPr/>
        </p:nvSpPr>
        <p:spPr>
          <a:xfrm>
            <a:off x="4114800" y="3429000"/>
            <a:ext cx="914400" cy="274320"/>
          </a:xfrm>
          <a:prstGeom prst="rect">
            <a:avLst/>
          </a:prstGeom>
          <a:noFill/>
        </p:spPr>
        <p:txBody>
          <a:bodyPr wrap="none">
            <a:spAutoFit/>
          </a:bodyPr>
          <a:lstStyle/>
          <a:p>
            <a:pPr algn="l">
              <a:defRPr sz="2000">
                <a:solidFill>
                  <a:srgbClr val="00D4AA"/>
                </a:solidFill>
              </a:defRPr>
            </a:pPr>
            <a:r>
              <a:t>↓</a:t>
            </a:r>
          </a:p>
        </p:txBody>
      </p:sp>
      <p:sp>
        <p:nvSpPr>
          <p:cNvPr id="13" name="TextBox 12"/>
          <p:cNvSpPr txBox="1"/>
          <p:nvPr/>
        </p:nvSpPr>
        <p:spPr>
          <a:xfrm>
            <a:off x="2286000" y="3703320"/>
            <a:ext cx="2743200" cy="365760"/>
          </a:xfrm>
          <a:prstGeom prst="rect">
            <a:avLst/>
          </a:prstGeom>
          <a:noFill/>
        </p:spPr>
        <p:txBody>
          <a:bodyPr wrap="none">
            <a:spAutoFit/>
          </a:bodyPr>
          <a:lstStyle/>
          <a:p>
            <a:pPr algn="l">
              <a:defRPr sz="2000" b="1">
                <a:solidFill>
                  <a:srgbClr val="00D4AA"/>
                </a:solidFill>
              </a:defRPr>
            </a:pPr>
            <a:r>
              <a:t>EDIT FILES</a:t>
            </a:r>
          </a:p>
        </p:txBody>
      </p:sp>
      <p:sp>
        <p:nvSpPr>
          <p:cNvPr id="14" name="TextBox 13"/>
          <p:cNvSpPr txBox="1"/>
          <p:nvPr/>
        </p:nvSpPr>
        <p:spPr>
          <a:xfrm>
            <a:off x="5303520" y="3703320"/>
            <a:ext cx="5029200" cy="365760"/>
          </a:xfrm>
          <a:prstGeom prst="rect">
            <a:avLst/>
          </a:prstGeom>
          <a:noFill/>
        </p:spPr>
        <p:txBody>
          <a:bodyPr wrap="none">
            <a:spAutoFit/>
          </a:bodyPr>
          <a:lstStyle/>
          <a:p>
            <a:pPr>
              <a:defRPr sz="1600">
                <a:solidFill>
                  <a:srgbClr val="FFFFFF"/>
                </a:solidFill>
              </a:defRPr>
            </a:pPr>
            <a:r>
              <a:t>Write code, create files, update imports</a:t>
            </a:r>
          </a:p>
        </p:txBody>
      </p:sp>
      <p:sp>
        <p:nvSpPr>
          <p:cNvPr id="15" name="TextBox 14"/>
          <p:cNvSpPr txBox="1"/>
          <p:nvPr/>
        </p:nvSpPr>
        <p:spPr>
          <a:xfrm>
            <a:off x="4114800" y="4114800"/>
            <a:ext cx="914400" cy="274320"/>
          </a:xfrm>
          <a:prstGeom prst="rect">
            <a:avLst/>
          </a:prstGeom>
          <a:noFill/>
        </p:spPr>
        <p:txBody>
          <a:bodyPr wrap="none">
            <a:spAutoFit/>
          </a:bodyPr>
          <a:lstStyle/>
          <a:p>
            <a:pPr algn="l">
              <a:defRPr sz="2000">
                <a:solidFill>
                  <a:srgbClr val="00D4AA"/>
                </a:solidFill>
              </a:defRPr>
            </a:pPr>
            <a:r>
              <a:t>↓</a:t>
            </a:r>
          </a:p>
        </p:txBody>
      </p:sp>
      <p:sp>
        <p:nvSpPr>
          <p:cNvPr id="16" name="TextBox 15"/>
          <p:cNvSpPr txBox="1"/>
          <p:nvPr/>
        </p:nvSpPr>
        <p:spPr>
          <a:xfrm>
            <a:off x="2286000" y="4389120"/>
            <a:ext cx="2743200" cy="365760"/>
          </a:xfrm>
          <a:prstGeom prst="rect">
            <a:avLst/>
          </a:prstGeom>
          <a:noFill/>
        </p:spPr>
        <p:txBody>
          <a:bodyPr wrap="none">
            <a:spAutoFit/>
          </a:bodyPr>
          <a:lstStyle/>
          <a:p>
            <a:pPr algn="l">
              <a:defRPr sz="2000" b="1">
                <a:solidFill>
                  <a:srgbClr val="00D4AA"/>
                </a:solidFill>
              </a:defRPr>
            </a:pPr>
            <a:r>
              <a:t>RUN &amp; TEST</a:t>
            </a:r>
          </a:p>
        </p:txBody>
      </p:sp>
      <p:sp>
        <p:nvSpPr>
          <p:cNvPr id="17" name="TextBox 16"/>
          <p:cNvSpPr txBox="1"/>
          <p:nvPr/>
        </p:nvSpPr>
        <p:spPr>
          <a:xfrm>
            <a:off x="5303520" y="4389120"/>
            <a:ext cx="5029200" cy="365760"/>
          </a:xfrm>
          <a:prstGeom prst="rect">
            <a:avLst/>
          </a:prstGeom>
          <a:noFill/>
        </p:spPr>
        <p:txBody>
          <a:bodyPr wrap="none">
            <a:spAutoFit/>
          </a:bodyPr>
          <a:lstStyle/>
          <a:p>
            <a:pPr>
              <a:defRPr sz="1600">
                <a:solidFill>
                  <a:srgbClr val="FFFFFF"/>
                </a:solidFill>
              </a:defRPr>
            </a:pPr>
            <a:r>
              <a:t>Execute commands, check output</a:t>
            </a:r>
          </a:p>
        </p:txBody>
      </p:sp>
      <p:sp>
        <p:nvSpPr>
          <p:cNvPr id="18" name="TextBox 17"/>
          <p:cNvSpPr txBox="1"/>
          <p:nvPr/>
        </p:nvSpPr>
        <p:spPr>
          <a:xfrm>
            <a:off x="4114800" y="4800600"/>
            <a:ext cx="914400" cy="274320"/>
          </a:xfrm>
          <a:prstGeom prst="rect">
            <a:avLst/>
          </a:prstGeom>
          <a:noFill/>
        </p:spPr>
        <p:txBody>
          <a:bodyPr wrap="none">
            <a:spAutoFit/>
          </a:bodyPr>
          <a:lstStyle/>
          <a:p>
            <a:pPr algn="l">
              <a:defRPr sz="2000">
                <a:solidFill>
                  <a:srgbClr val="00D4AA"/>
                </a:solidFill>
              </a:defRPr>
            </a:pPr>
            <a:r>
              <a:t>↓</a:t>
            </a:r>
          </a:p>
        </p:txBody>
      </p:sp>
      <p:sp>
        <p:nvSpPr>
          <p:cNvPr id="19" name="TextBox 18"/>
          <p:cNvSpPr txBox="1"/>
          <p:nvPr/>
        </p:nvSpPr>
        <p:spPr>
          <a:xfrm>
            <a:off x="2286000" y="5074920"/>
            <a:ext cx="2743200" cy="365760"/>
          </a:xfrm>
          <a:prstGeom prst="rect">
            <a:avLst/>
          </a:prstGeom>
          <a:noFill/>
        </p:spPr>
        <p:txBody>
          <a:bodyPr wrap="none">
            <a:spAutoFit/>
          </a:bodyPr>
          <a:lstStyle/>
          <a:p>
            <a:pPr algn="l">
              <a:defRPr sz="2000" b="1">
                <a:solidFill>
                  <a:srgbClr val="00D4AA"/>
                </a:solidFill>
              </a:defRPr>
            </a:pPr>
            <a:r>
              <a:t>FIX FAILURES</a:t>
            </a:r>
          </a:p>
        </p:txBody>
      </p:sp>
      <p:sp>
        <p:nvSpPr>
          <p:cNvPr id="20" name="TextBox 19"/>
          <p:cNvSpPr txBox="1"/>
          <p:nvPr/>
        </p:nvSpPr>
        <p:spPr>
          <a:xfrm>
            <a:off x="5303520" y="5074920"/>
            <a:ext cx="5029200" cy="365760"/>
          </a:xfrm>
          <a:prstGeom prst="rect">
            <a:avLst/>
          </a:prstGeom>
          <a:noFill/>
        </p:spPr>
        <p:txBody>
          <a:bodyPr wrap="none">
            <a:spAutoFit/>
          </a:bodyPr>
          <a:lstStyle/>
          <a:p>
            <a:pPr>
              <a:defRPr sz="1600">
                <a:solidFill>
                  <a:srgbClr val="FFFFFF"/>
                </a:solidFill>
              </a:defRPr>
            </a:pPr>
            <a:r>
              <a:t>Read errors, diagnose, retry → self-healing loop</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828800"/>
            <a:ext cx="3200400" cy="822960"/>
          </a:xfrm>
          <a:prstGeom prst="rect">
            <a:avLst/>
          </a:prstGeom>
          <a:noFill/>
        </p:spPr>
        <p:txBody>
          <a:bodyPr wrap="square">
            <a:spAutoFit/>
          </a:bodyPr>
          <a:lstStyle/>
          <a:p>
            <a:pPr algn="r">
              <a:defRPr sz="2200" b="1">
                <a:solidFill>
                  <a:srgbClr val="FF6B6B"/>
                </a:solidFill>
              </a:defRPr>
            </a:pPr>
            <a:r>
              <a:t>Working memory</a:t>
            </a:r>
          </a:p>
        </p:txBody>
      </p:sp>
      <p:sp>
        <p:nvSpPr>
          <p:cNvPr id="5" name="TextBox 4"/>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6" name="TextBox 5"/>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7" name="TextBox 6"/>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8" name="TextBox 7"/>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9" name="TextBox 8"/>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10" name="TextBox 9"/>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11" name="TextBox 10"/>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12" name="TextBox 11"/>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13" name="TextBox 12"/>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14" name="TextBox 13"/>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15" name="TextBox 14"/>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16" name="TextBox 15"/>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
        <p:nvSpPr>
          <p:cNvPr id="17" name="TextBox 16"/>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18" name="TextBox 17"/>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19" name="TextBox 18"/>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20" name="TextBox 19"/>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21" name="TextBox 20"/>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22" name="TextBox 21"/>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23" name="TextBox 22"/>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24" name="TextBox 23"/>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25" name="TextBox 24"/>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26" name="TextBox 25"/>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27" name="TextBox 26"/>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28" name="TextBox 27"/>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CLAUDE.md is a configuration file that lives in your project root.</a:t>
            </a:r>
          </a:p>
          <a:p>
            <a:pPr>
              <a:defRPr sz="2400">
                <a:solidFill>
                  <a:srgbClr val="8B95A5"/>
                </a:solidFill>
              </a:defRPr>
            </a:pPr>
            <a:endParaRPr/>
          </a:p>
          <a:p>
            <a:pPr>
              <a:defRPr sz="2400">
                <a:solidFill>
                  <a:srgbClr val="8B95A5"/>
                </a:solidFill>
              </a:defRPr>
            </a:pPr>
            <a:r>
              <a:t>Claude Code reads it first, every session.</a:t>
            </a:r>
          </a:p>
          <a:p>
            <a:pPr>
              <a:defRPr sz="2400">
                <a:solidFill>
                  <a:srgbClr val="8B95A5"/>
                </a:solidFill>
              </a:defRPr>
            </a:pPr>
            <a:endParaRPr/>
          </a:p>
          <a:p>
            <a:pPr>
              <a:defRPr sz="2400">
                <a:solidFill>
                  <a:srgbClr val="8B95A5"/>
                </a:solidFill>
              </a:defRPr>
            </a:pPr>
            <a:r>
              <a:t>It's your project's instruction manual for AI.</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endParaR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endParaR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endParaR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Team Settings &amp; Style Guides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endParaR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endParaR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squar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057400"/>
            <a:ext cx="11277295" cy="411480"/>
          </a:xfrm>
          <a:prstGeom prst="rect">
            <a:avLst/>
          </a:prstGeom>
          <a:noFill/>
        </p:spPr>
        <p:txBody>
          <a:bodyPr wrap="square">
            <a:spAutoFit/>
          </a:bodyPr>
          <a:lstStyle/>
          <a:p>
            <a:pPr>
              <a:defRPr sz="1400">
                <a:solidFill>
                  <a:srgbClr val="FFFFFF"/>
                </a:solidFill>
              </a:defRPr>
            </a:pPr>
            <a:r>
              <a:t>Managed Policy   |   /etc/claude-code/CLAUDE.md or registry   |   All users in org   |   Yes (IT deploys)</a:t>
            </a:r>
          </a:p>
        </p:txBody>
      </p:sp>
      <p:sp>
        <p:nvSpPr>
          <p:cNvPr id="6" name="TextBox 5"/>
          <p:cNvSpPr txBox="1"/>
          <p:nvPr/>
        </p:nvSpPr>
        <p:spPr>
          <a:xfrm>
            <a:off x="457200" y="2468880"/>
            <a:ext cx="11277295" cy="411480"/>
          </a:xfrm>
          <a:prstGeom prst="rect">
            <a:avLst/>
          </a:prstGeom>
          <a:noFill/>
        </p:spPr>
        <p:txBody>
          <a:bodyPr wrap="square">
            <a:spAutoFit/>
          </a:bodyPr>
          <a:lstStyle/>
          <a:p>
            <a:pPr>
              <a:defRPr sz="1400">
                <a:solidFill>
                  <a:srgbClr val="FFFFFF"/>
                </a:solidFill>
              </a:defRPr>
            </a:pPr>
            <a:r>
              <a:t>Project Memory   |   ./CLAUDE.md or .claude/CLAUDE.md   |   All collaborators   |   Yes (via git)</a:t>
            </a:r>
          </a:p>
        </p:txBody>
      </p:sp>
      <p:sp>
        <p:nvSpPr>
          <p:cNvPr id="7" name="TextBox 6"/>
          <p:cNvSpPr txBox="1"/>
          <p:nvPr/>
        </p:nvSpPr>
        <p:spPr>
          <a:xfrm>
            <a:off x="457200" y="2880360"/>
            <a:ext cx="11277295" cy="411480"/>
          </a:xfrm>
          <a:prstGeom prst="rect">
            <a:avLst/>
          </a:prstGeom>
          <a:noFill/>
        </p:spPr>
        <p:txBody>
          <a:bodyPr wrap="square">
            <a:spAutoFit/>
          </a:bodyPr>
          <a:lstStyle/>
          <a:p>
            <a:pPr>
              <a:defRPr sz="1400">
                <a:solidFill>
                  <a:srgbClr val="FFFFFF"/>
                </a:solidFill>
              </a:defRPr>
            </a:pPr>
            <a:r>
              <a:t>Project Rules   |   .claude/rules/*.md   |   All collaborators   |   Yes (via git)</a:t>
            </a:r>
          </a:p>
        </p:txBody>
      </p:sp>
      <p:sp>
        <p:nvSpPr>
          <p:cNvPr id="8" name="TextBox 7"/>
          <p:cNvSpPr txBox="1"/>
          <p:nvPr/>
        </p:nvSpPr>
        <p:spPr>
          <a:xfrm>
            <a:off x="457200" y="3291840"/>
            <a:ext cx="11277295" cy="411480"/>
          </a:xfrm>
          <a:prstGeom prst="rect">
            <a:avLst/>
          </a:prstGeom>
          <a:noFill/>
        </p:spPr>
        <p:txBody>
          <a:bodyPr wrap="square">
            <a:spAutoFit/>
          </a:bodyPr>
          <a:lstStyle/>
          <a:p>
            <a:pPr>
              <a:defRPr sz="1400">
                <a:solidFill>
                  <a:srgbClr val="FFFFFF"/>
                </a:solidFill>
              </a:defRPr>
            </a:pPr>
            <a:r>
              <a:t>User Memory   |   ~/.claude/CLAUDE.md   |   You, all projects   |   No</a:t>
            </a:r>
          </a:p>
        </p:txBody>
      </p:sp>
      <p:sp>
        <p:nvSpPr>
          <p:cNvPr id="9" name="TextBox 8"/>
          <p:cNvSpPr txBox="1"/>
          <p:nvPr/>
        </p:nvSpPr>
        <p:spPr>
          <a:xfrm>
            <a:off x="457200" y="3703320"/>
            <a:ext cx="11277295" cy="411480"/>
          </a:xfrm>
          <a:prstGeom prst="rect">
            <a:avLst/>
          </a:prstGeom>
          <a:noFill/>
        </p:spPr>
        <p:txBody>
          <a:bodyPr wrap="square">
            <a:spAutoFit/>
          </a:bodyPr>
          <a:lstStyle/>
          <a:p>
            <a:pPr>
              <a:defRPr sz="1400">
                <a:solidFill>
                  <a:srgbClr val="FFFFFF"/>
                </a:solidFill>
              </a:defRPr>
            </a:pPr>
            <a:r>
              <a:t>Local Override   |   ./CLAUDE.local.md   |   You, this project   |   No (auto-gitignored)</a:t>
            </a:r>
          </a:p>
        </p:txBody>
      </p:sp>
      <p:sp>
        <p:nvSpPr>
          <p:cNvPr id="10" name="TextBox 9"/>
          <p:cNvSpPr txBox="1"/>
          <p:nvPr/>
        </p:nvSpPr>
        <p:spPr>
          <a:xfrm>
            <a:off x="457200" y="4114800"/>
            <a:ext cx="11277295" cy="411480"/>
          </a:xfrm>
          <a:prstGeom prst="rect">
            <a:avLst/>
          </a:prstGeom>
          <a:noFill/>
        </p:spPr>
        <p:txBody>
          <a:bodyPr wrap="square">
            <a:spAutoFit/>
          </a:bodyPr>
          <a:lstStyle/>
          <a:p>
            <a:pPr>
              <a:defRPr sz="1400">
                <a:solidFill>
                  <a:srgbClr val="FFFFFF"/>
                </a:solidFill>
              </a:defRPr>
            </a:pPr>
            <a:r>
              <a:t>Auto Memory   |   ~/.claude/projects/&lt;project&gt;/memory/   |   You, per project   |   No (Claude writes)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0000" lnSpcReduction="20000"/>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0000" lnSpcReduction="20000"/>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62500" lnSpcReduction="20000"/>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at project root</a:t>
            </a:r>
          </a:p>
          <a:p>
            <a:pPr>
              <a:spcAft>
                <a:spcPts val="1200"/>
              </a:spcAft>
              <a:defRPr sz="1800">
                <a:solidFill>
                  <a:srgbClr val="FFFFFF"/>
                </a:solidFill>
              </a:defRPr>
            </a:pPr>
            <a:r>
              <a:t>  .claude/settings.json</a:t>
            </a:r>
          </a:p>
          <a:p>
            <a:pPr>
              <a:spcAft>
                <a:spcPts val="1200"/>
              </a:spcAft>
              <a:defRPr sz="1800">
                <a:solidFill>
                  <a:srgbClr val="FFFFFF"/>
                </a:solidFill>
              </a:defRPr>
            </a:pPr>
            <a:r>
              <a:t>  .claude/rules/*.md</a:t>
            </a:r>
          </a:p>
          <a:p>
            <a:pPr>
              <a:spcAft>
                <a:spcPts val="1200"/>
              </a:spcAft>
              <a:defRPr sz="1800">
                <a:solidFill>
                  <a:srgbClr val="FFFFFF"/>
                </a:solidFill>
              </a:defRPr>
            </a:pPr>
            <a:r>
              <a:t>  Auto memory (first 200 lines)</a:t>
            </a:r>
          </a:p>
          <a:p>
            <a:pPr>
              <a:spcAft>
                <a:spcPts val="1200"/>
              </a:spcAft>
              <a:defRPr sz="1800">
                <a:solidFill>
                  <a:srgbClr val="FFFFFF"/>
                </a:solidFill>
              </a:defRPr>
            </a:pPr>
            <a:r>
              <a:t>  File tree structure (names only)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/cost — see token usage for current session</a:t>
            </a:r>
          </a:p>
          <a:p>
            <a:pPr>
              <a:spcAft>
                <a:spcPts val="1200"/>
              </a:spcAft>
              <a:defRPr sz="1800">
                <a:solidFill>
                  <a:srgbClr val="FFFFFF"/>
                </a:solidFill>
              </a:defRPr>
            </a:pPr>
            <a:r>
              <a:t>  /verbose — detailed logging of tool use</a:t>
            </a:r>
          </a:p>
          <a:p>
            <a:pPr>
              <a:spcAft>
                <a:spcPts val="1200"/>
              </a:spcAft>
              <a:defRPr sz="1800">
                <a:solidFill>
                  <a:srgbClr val="FFFFFF"/>
                </a:solidFill>
              </a:defRPr>
            </a:pPr>
            <a:r>
              <a:t>  Watch for: 'reading file X' in Claude's output</a:t>
            </a:r>
          </a:p>
          <a:p>
            <a:pPr>
              <a:spcAft>
                <a:spcPts val="1200"/>
              </a:spcAft>
              <a:defRPr sz="1800">
                <a:solidFill>
                  <a:srgbClr val="FFFFFF"/>
                </a:solidFill>
              </a:defRPr>
            </a:pPr>
            <a:r>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.claudeignore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.claudeignore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place in project root</a:t>
            </a:r>
          </a:p>
          <a:p>
            <a:pPr>
              <a:defRPr sz="1400">
                <a:solidFill>
                  <a:srgbClr val="FFFFFF"/>
                </a:solidFill>
                <a:latin typeface="Consolas"/>
              </a:defRPr>
            </a:pPr>
            <a:endParaR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endParaR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endParaR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7500" lnSpcReduction="20000"/>
          </a:bodyPr>
          <a:lstStyle/>
          <a:p>
            <a:pPr algn="ctr">
              <a:defRPr sz="1800" b="1">
                <a:solidFill>
                  <a:srgbClr val="FFFFFF"/>
                </a:solidFill>
              </a:defRPr>
            </a:pPr>
            <a:r>
              <a:t>.claudeignore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548640"/>
            <a:ext cx="10515600" cy="914400"/>
          </a:xfrm>
          <a:prstGeom prst="rect">
            <a:avLst/>
          </a:prstGeom>
          <a:noFill/>
        </p:spPr>
        <p:txBody>
          <a:bodyPr wrap="square">
            <a:spAutoFit/>
          </a:bodyPr>
          <a:lstStyle/>
          <a:p>
            <a:pPr>
              <a:defRPr sz="3600" b="1">
                <a:solidFill>
                  <a:srgbClr val="FFFFFF"/>
                </a:solidFill>
              </a:defRPr>
            </a:pPr>
            <a:r>
              <a:t>When Claude Code Fails</a:t>
            </a:r>
          </a:p>
        </p:txBody>
      </p:sp>
      <p:sp>
        <p:nvSpPr>
          <p:cNvPr id="3" name="TextBox 2"/>
          <p:cNvSpPr txBox="1"/>
          <p:nvPr/>
        </p:nvSpPr>
        <p:spPr>
          <a:xfrm>
            <a:off x="731520" y="1371600"/>
            <a:ext cx="10515600" cy="548640"/>
          </a:xfrm>
          <a:prstGeom prst="rect">
            <a:avLst/>
          </a:prstGeom>
          <a:noFill/>
        </p:spPr>
        <p:txBody>
          <a:bodyPr wrap="square">
            <a:spAutoFit/>
          </a:bodyPr>
          <a:lstStyle/>
          <a:p>
            <a:pPr>
              <a:defRPr sz="1800">
                <a:solidFill>
                  <a:srgbClr val="00D4AA"/>
                </a:solidFill>
              </a:defRPr>
            </a:pPr>
            <a:r>
              <a:t>Honesty builds trust. Here's where it struggles — and how to fix it.</a:t>
            </a:r>
          </a:p>
        </p:txBody>
      </p:sp>
      <p:sp>
        <p:nvSpPr>
          <p:cNvPr id="4" name="TextBox 3"/>
          <p:cNvSpPr txBox="1"/>
          <p:nvPr/>
        </p:nvSpPr>
        <p:spPr>
          <a:xfrm>
            <a:off x="1097280" y="2194560"/>
            <a:ext cx="9144000" cy="640080"/>
          </a:xfrm>
          <a:prstGeom prst="rect">
            <a:avLst/>
          </a:prstGeom>
          <a:noFill/>
        </p:spPr>
        <p:txBody>
          <a:bodyPr wrap="square">
            <a:spAutoFit/>
          </a:bodyPr>
          <a:lstStyle/>
          <a:p>
            <a:r>
              <a:rPr sz="2000" b="1">
                <a:solidFill>
                  <a:srgbClr val="00D4AA"/>
                </a:solidFill>
              </a:rPr>
              <a:t>Ambiguous instructions:  </a:t>
            </a:r>
            <a:r>
              <a:rPr sz="1800">
                <a:solidFill>
                  <a:srgbClr val="FFFFFF"/>
                </a:solidFill>
              </a:rPr>
              <a:t>Claude guesses wrong. Fix: be specific.</a:t>
            </a:r>
          </a:p>
        </p:txBody>
      </p:sp>
      <p:sp>
        <p:nvSpPr>
          <p:cNvPr id="5" name="TextBox 4"/>
          <p:cNvSpPr txBox="1"/>
          <p:nvPr/>
        </p:nvSpPr>
        <p:spPr>
          <a:xfrm>
            <a:off x="1097280" y="2880360"/>
            <a:ext cx="9144000" cy="640080"/>
          </a:xfrm>
          <a:prstGeom prst="rect">
            <a:avLst/>
          </a:prstGeom>
          <a:noFill/>
        </p:spPr>
        <p:txBody>
          <a:bodyPr wrap="square">
            <a:spAutoFit/>
          </a:bodyPr>
          <a:lstStyle/>
          <a:p>
            <a:r>
              <a:rPr sz="2000" b="1">
                <a:solidFill>
                  <a:srgbClr val="00D4AA"/>
                </a:solidFill>
              </a:rPr>
              <a:t>Huge codebase, no docs:  </a:t>
            </a:r>
            <a:r>
              <a:rPr sz="1800">
                <a:solidFill>
                  <a:srgbClr val="FFFFFF"/>
                </a:solidFill>
              </a:rPr>
              <a:t>Claude drowns in context. Fix: CLAUDE.md + .claudeignore</a:t>
            </a:r>
          </a:p>
        </p:txBody>
      </p:sp>
      <p:sp>
        <p:nvSpPr>
          <p:cNvPr id="6" name="TextBox 5"/>
          <p:cNvSpPr txBox="1"/>
          <p:nvPr/>
        </p:nvSpPr>
        <p:spPr>
          <a:xfrm>
            <a:off x="1097280" y="3566160"/>
            <a:ext cx="9144000" cy="640080"/>
          </a:xfrm>
          <a:prstGeom prst="rect">
            <a:avLst/>
          </a:prstGeom>
          <a:noFill/>
        </p:spPr>
        <p:txBody>
          <a:bodyPr wrap="square">
            <a:spAutoFit/>
          </a:bodyPr>
          <a:lstStyle/>
          <a:p>
            <a:r>
              <a:rPr sz="2000" b="1">
                <a:solidFill>
                  <a:srgbClr val="00D4AA"/>
                </a:solidFill>
              </a:rPr>
              <a:t>Complex state across files:  </a:t>
            </a:r>
            <a:r>
              <a:rPr sz="1800">
                <a:solidFill>
                  <a:srgbClr val="FFFFFF"/>
                </a:solidFill>
              </a:rPr>
              <a:t>Claude loses track. Fix: @ mentions to focus.</a:t>
            </a:r>
          </a:p>
        </p:txBody>
      </p:sp>
      <p:sp>
        <p:nvSpPr>
          <p:cNvPr id="7" name="TextBox 6"/>
          <p:cNvSpPr txBox="1"/>
          <p:nvPr/>
        </p:nvSpPr>
        <p:spPr>
          <a:xfrm>
            <a:off x="1097280" y="4251960"/>
            <a:ext cx="9144000" cy="640080"/>
          </a:xfrm>
          <a:prstGeom prst="rect">
            <a:avLst/>
          </a:prstGeom>
          <a:noFill/>
        </p:spPr>
        <p:txBody>
          <a:bodyPr wrap="square">
            <a:spAutoFit/>
          </a:bodyPr>
          <a:lstStyle/>
          <a:p>
            <a:r>
              <a:rPr sz="2000" b="1">
                <a:solidFill>
                  <a:srgbClr val="00D4AA"/>
                </a:solidFill>
              </a:rPr>
              <a:t>Missing dependencies:  </a:t>
            </a:r>
            <a:r>
              <a:rPr sz="1800">
                <a:solidFill>
                  <a:srgbClr val="FFFFFF"/>
                </a:solidFill>
              </a:rPr>
              <a:t>Build fails silently. Fix: describe your environment.</a:t>
            </a:r>
          </a:p>
        </p:txBody>
      </p:sp>
      <p:sp>
        <p:nvSpPr>
          <p:cNvPr id="8" name="TextBox 7"/>
          <p:cNvSpPr txBox="1"/>
          <p:nvPr/>
        </p:nvSpPr>
        <p:spPr>
          <a:xfrm>
            <a:off x="1097280" y="4937760"/>
            <a:ext cx="9144000" cy="640080"/>
          </a:xfrm>
          <a:prstGeom prst="rect">
            <a:avLst/>
          </a:prstGeom>
          <a:noFill/>
        </p:spPr>
        <p:txBody>
          <a:bodyPr wrap="square">
            <a:spAutoFit/>
          </a:bodyPr>
          <a:lstStyle/>
          <a:p>
            <a:r>
              <a:rPr sz="2000" b="1">
                <a:solidFill>
                  <a:srgbClr val="00D4AA"/>
                </a:solidFill>
              </a:rPr>
              <a:t>One massive prompt:  </a:t>
            </a:r>
            <a:r>
              <a:rPr sz="1800">
                <a:solidFill>
                  <a:srgbClr val="FFFFFF"/>
                </a:solidFill>
              </a:rPr>
              <a:t>Claude tries too much. Fix: break into smaller tasks.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548640"/>
            <a:ext cx="10515600" cy="914400"/>
          </a:xfrm>
          <a:prstGeom prst="rect">
            <a:avLst/>
          </a:prstGeom>
          <a:noFill/>
        </p:spPr>
        <p:txBody>
          <a:bodyPr wrap="square">
            <a:spAutoFit/>
          </a:bodyPr>
          <a:lstStyle/>
          <a:p>
            <a:pPr>
              <a:defRPr sz="3600" b="1">
                <a:solidFill>
                  <a:srgbClr val="FFFFFF"/>
                </a:solidFill>
              </a:defRPr>
            </a:pPr>
            <a:r>
              <a:t>The Real Skill: Delegation</a:t>
            </a:r>
          </a:p>
        </p:txBody>
      </p:sp>
      <p:sp>
        <p:nvSpPr>
          <p:cNvPr id="3" name="TextBox 2"/>
          <p:cNvSpPr txBox="1"/>
          <p:nvPr/>
        </p:nvSpPr>
        <p:spPr>
          <a:xfrm>
            <a:off x="731520" y="1371600"/>
            <a:ext cx="10515600" cy="548640"/>
          </a:xfrm>
          <a:prstGeom prst="rect">
            <a:avLst/>
          </a:prstGeom>
          <a:noFill/>
        </p:spPr>
        <p:txBody>
          <a:bodyPr wrap="square">
            <a:spAutoFit/>
          </a:bodyPr>
          <a:lstStyle/>
          <a:p>
            <a:pPr>
              <a:defRPr sz="1800">
                <a:solidFill>
                  <a:srgbClr val="00D4AA"/>
                </a:solidFill>
              </a:defRPr>
            </a:pPr>
            <a:r>
              <a:t>You're not learning to prompt. You're learning to manage an AI engineer.</a:t>
            </a:r>
          </a:p>
        </p:txBody>
      </p:sp>
      <p:sp>
        <p:nvSpPr>
          <p:cNvPr id="4" name="TextBox 3"/>
          <p:cNvSpPr txBox="1"/>
          <p:nvPr/>
        </p:nvSpPr>
        <p:spPr>
          <a:xfrm>
            <a:off x="1097280" y="2194560"/>
            <a:ext cx="9144000" cy="640080"/>
          </a:xfrm>
          <a:prstGeom prst="rect">
            <a:avLst/>
          </a:prstGeom>
          <a:noFill/>
        </p:spPr>
        <p:txBody>
          <a:bodyPr wrap="square">
            <a:spAutoFit/>
          </a:bodyPr>
          <a:lstStyle/>
          <a:p>
            <a:r>
              <a:rPr sz="2000" b="1">
                <a:solidFill>
                  <a:srgbClr val="00D4AA"/>
                </a:solidFill>
              </a:rPr>
              <a:t>Bad:  </a:t>
            </a:r>
            <a:r>
              <a:rPr sz="1800">
                <a:solidFill>
                  <a:srgbClr val="FFFFFF"/>
                </a:solidFill>
              </a:rPr>
              <a:t>"Write authentication."</a:t>
            </a:r>
          </a:p>
        </p:txBody>
      </p:sp>
      <p:sp>
        <p:nvSpPr>
          <p:cNvPr id="5" name="TextBox 4"/>
          <p:cNvSpPr txBox="1"/>
          <p:nvPr/>
        </p:nvSpPr>
        <p:spPr>
          <a:xfrm>
            <a:off x="1097280" y="2880360"/>
            <a:ext cx="9144000" cy="640080"/>
          </a:xfrm>
          <a:prstGeom prst="rect">
            <a:avLst/>
          </a:prstGeom>
          <a:noFill/>
        </p:spPr>
        <p:txBody>
          <a:bodyPr wrap="square">
            <a:spAutoFit/>
          </a:bodyPr>
          <a:lstStyle/>
          <a:p>
            <a:r>
              <a:rPr sz="2000" b="1">
                <a:solidFill>
                  <a:srgbClr val="00D4AA"/>
                </a:solidFill>
              </a:rPr>
              <a:t>Good:  </a:t>
            </a:r>
            <a:r>
              <a:rPr sz="1800">
                <a:solidFill>
                  <a:srgbClr val="FFFFFF"/>
                </a:solidFill>
              </a:rPr>
              <a:t>"Add JWT auth to @auth.js using the middleware pattern in @payments.js"</a:t>
            </a:r>
          </a:p>
        </p:txBody>
      </p:sp>
      <p:sp>
        <p:nvSpPr>
          <p:cNvPr id="6" name="TextBox 5"/>
          <p:cNvSpPr txBox="1"/>
          <p:nvPr/>
        </p:nvSpPr>
        <p:spPr>
          <a:xfrm>
            <a:off x="1097280" y="3566160"/>
            <a:ext cx="9144000" cy="640080"/>
          </a:xfrm>
          <a:prstGeom prst="rect">
            <a:avLst/>
          </a:prstGeom>
          <a:noFill/>
        </p:spPr>
        <p:txBody>
          <a:bodyPr wrap="square">
            <a:spAutoFit/>
          </a:bodyPr>
          <a:lstStyle/>
          <a:p>
            <a:r>
              <a:rPr sz="2000" b="1">
                <a:solidFill>
                  <a:srgbClr val="00D4AA"/>
                </a:solidFill>
              </a:rPr>
              <a:t>Bad:  </a:t>
            </a:r>
            <a:r>
              <a:rPr sz="1800">
                <a:solidFill>
                  <a:srgbClr val="FFFFFF"/>
                </a:solidFill>
              </a:rPr>
              <a:t>"Fix the bug."</a:t>
            </a:r>
          </a:p>
        </p:txBody>
      </p:sp>
      <p:sp>
        <p:nvSpPr>
          <p:cNvPr id="7" name="TextBox 6"/>
          <p:cNvSpPr txBox="1"/>
          <p:nvPr/>
        </p:nvSpPr>
        <p:spPr>
          <a:xfrm>
            <a:off x="1097280" y="4251960"/>
            <a:ext cx="9144000" cy="640080"/>
          </a:xfrm>
          <a:prstGeom prst="rect">
            <a:avLst/>
          </a:prstGeom>
          <a:noFill/>
        </p:spPr>
        <p:txBody>
          <a:bodyPr wrap="square">
            <a:spAutoFit/>
          </a:bodyPr>
          <a:lstStyle/>
          <a:p>
            <a:r>
              <a:rPr sz="2000" b="1">
                <a:solidFill>
                  <a:srgbClr val="00D4AA"/>
                </a:solidFill>
              </a:rPr>
              <a:t>Good:  </a:t>
            </a:r>
            <a:r>
              <a:rPr sz="1800">
                <a:solidFill>
                  <a:srgbClr val="FFFFFF"/>
                </a:solidFill>
              </a:rPr>
              <a:t>"POST /api/tasks returns 500. Check @src/routes/tasks.js for the error."</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2A: The Agentic Build Loop</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Session</a:t>
            </a:r>
          </a:p>
          <a:p>
            <a:pPr algn="ctr">
              <a:spcBef>
                <a:spcPts val="800"/>
              </a:spcBef>
              <a:defRPr sz="1300">
                <a:solidFill>
                  <a:srgbClr val="8B95A5"/>
                </a:solidFill>
              </a:defRPr>
            </a:pPr>
            <a:r>
              <a:t>/init — initialize project context</a:t>
            </a:r>
            <a:br/>
            <a:r>
              <a:t>/clear — reset conversation</a:t>
            </a:r>
            <a:br/>
            <a:r>
              <a:t>/compact — summarize and continue</a:t>
            </a:r>
            <a:br/>
            <a:r>
              <a:t>/cost — show token usage</a:t>
            </a:r>
            <a:br/>
            <a:r>
              <a:t>/logout — sign out</a:t>
            </a:r>
          </a:p>
        </p:txBody>
      </p:sp>
      <p:sp>
        <p:nvSpPr>
          <p:cNvPr id="7" name="Rounded Rectangle 6"/>
          <p:cNvSpPr/>
          <p:nvPr/>
        </p:nvSpPr>
        <p:spPr>
          <a:xfrm>
            <a:off x="495284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7500" lnSpcReduction="20000"/>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10000"/>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Permissions: /permissions, /allowed-tools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/permissions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View current permission rules</a:t>
            </a:r>
          </a:p>
          <a:p>
            <a:pPr>
              <a:spcAft>
                <a:spcPts val="1200"/>
              </a:spcAft>
              <a:defRPr sz="1800">
                <a:solidFill>
                  <a:srgbClr val="FFFFFF"/>
                </a:solidFill>
              </a:defRPr>
            </a:pPr>
            <a:r>
              <a:t>  Add allow/deny rules interactively</a:t>
            </a:r>
          </a:p>
          <a:p>
            <a:pPr>
              <a:spcAft>
                <a:spcPts val="1200"/>
              </a:spcAft>
              <a:defRPr sz="1800">
                <a:solidFill>
                  <a:srgbClr val="FFFFFF"/>
                </a:solidFill>
              </a:defRPr>
            </a:pPr>
            <a:r>
              <a:t>  Rules persist in .claude/settings.json</a:t>
            </a:r>
          </a:p>
          <a:p>
            <a:pPr>
              <a:spcAft>
                <a:spcPts val="1200"/>
              </a:spcAft>
              <a:defRPr sz="1800">
                <a:solidFill>
                  <a:srgbClr val="FFFFFF"/>
                </a:solidFill>
              </a:defRPr>
            </a:pPr>
            <a:r>
              <a:t>  Scoped by tool type (Read, Write, Bash, etc.)</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/allowed-tools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See which tools Claude can use</a:t>
            </a:r>
          </a:p>
          <a:p>
            <a:pPr>
              <a:spcAft>
                <a:spcPts val="1200"/>
              </a:spcAft>
              <a:defRPr sz="1800">
                <a:solidFill>
                  <a:srgbClr val="FFFFFF"/>
                </a:solidFill>
              </a:defRPr>
            </a:pPr>
            <a:r>
              <a:t>  Add tools to allowlist for auto-approval</a:t>
            </a:r>
          </a:p>
          <a:p>
            <a:pPr>
              <a:spcAft>
                <a:spcPts val="1200"/>
              </a:spcAft>
              <a:defRPr sz="1800">
                <a:solidFill>
                  <a:srgbClr val="FFFFFF"/>
                </a:solidFill>
              </a:defRPr>
            </a:pPr>
            <a:r>
              <a:t>  Reduce permission prompts for trusted operations</a:t>
            </a:r>
          </a:p>
          <a:p>
            <a:pPr>
              <a:spcAft>
                <a:spcPts val="1200"/>
              </a:spcAft>
              <a:defRPr sz="1800">
                <a:solidFill>
                  <a:srgbClr val="FFFFFF"/>
                </a:solidFill>
              </a:defRPr>
            </a:pPr>
            <a:r>
              <a:t>  Example: allow Bash(npm test) to run tests without asking</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Output: /output-format, /verbose, /cost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/cost — token usage and estimated cost</a:t>
            </a:r>
          </a:p>
          <a:p>
            <a:pPr>
              <a:spcAft>
                <a:spcPts val="1200"/>
              </a:spcAft>
              <a:defRPr sz="1800">
                <a:solidFill>
                  <a:srgbClr val="FFFFFF"/>
                </a:solidFill>
              </a:defRPr>
            </a:pPr>
            <a:r>
              <a:t>  /review — code quality analysis</a:t>
            </a:r>
          </a:p>
          <a:p>
            <a:pPr>
              <a:spcAft>
                <a:spcPts val="1200"/>
              </a:spcAft>
              <a:defRPr sz="1800">
                <a:solidFill>
                  <a:srgbClr val="FFFFFF"/>
                </a:solidFill>
              </a:defRPr>
            </a:pPr>
            <a:r>
              <a:t>  /test — run and analyze test results</a:t>
            </a:r>
          </a:p>
          <a:p>
            <a:pPr>
              <a:spcAft>
                <a:spcPts val="1200"/>
              </a:spcAft>
              <a:defRPr sz="1800">
                <a:solidFill>
                  <a:srgbClr val="FFFFFF"/>
                </a:solidFill>
              </a:defRPr>
            </a:pPr>
            <a:r>
              <a:t>  /doctor — diagnose Claude Code issues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endParaR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399" y="5043991"/>
            <a:ext cx="10362895" cy="914400"/>
          </a:xfrm>
          <a:prstGeom prst="rect">
            <a:avLst/>
          </a:prstGeom>
          <a:noFill/>
        </p:spPr>
        <p:txBody>
          <a:bodyPr wrap="square">
            <a:spAutoFit/>
          </a:bodyPr>
          <a:lstStyle/>
          <a:p>
            <a:pPr algn="ctr">
              <a:defRPr sz="2400">
                <a:solidFill>
                  <a:srgbClr val="8B95A5"/>
                </a:solidFill>
              </a:defRPr>
            </a:pPr>
            <a:r>
              <a:rPr dirty="0"/>
              <a:t>It's not prompting. It's specification.</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endParaR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endParaR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endParaR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endParaR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endParaRPr/>
          </a:p>
          <a:p>
            <a:pPr>
              <a:defRPr sz="1400">
                <a:solidFill>
                  <a:srgbClr val="FFFFFF"/>
                </a:solidFill>
                <a:latin typeface="Consolas"/>
              </a:defRPr>
            </a:pPr>
            <a:r>
              <a:t>5. ACCEPTANCE: How do I know it's correct?</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
        <p:nvSpPr>
          <p:cNvPr id="4" name="TextBox 3"/>
          <p:cNvSpPr txBox="1"/>
          <p:nvPr/>
        </p:nvSpPr>
        <p:spPr>
          <a:xfrm>
            <a:off x="457200" y="4445598"/>
            <a:ext cx="11277295" cy="914400"/>
          </a:xfrm>
          <a:prstGeom prst="rect">
            <a:avLst/>
          </a:prstGeom>
          <a:noFill/>
        </p:spPr>
        <p:txBody>
          <a:bodyPr wrap="square">
            <a:spAutoFit/>
          </a:bodyPr>
          <a:lstStyle/>
          <a:p>
            <a:pPr>
              <a:defRPr sz="2400">
                <a:solidFill>
                  <a:srgbClr val="8B95A5"/>
                </a:solidFill>
              </a:defRPr>
            </a:pPr>
            <a:r>
              <a:rPr dirty="0"/>
              <a:t>One task per session — the rule that prevents 80% of failures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square">
            <a:spAutoFit/>
          </a:bodyPr>
          <a:lstStyle/>
          <a:p>
            <a:pPr algn="ctr">
              <a:defRPr sz="3600" b="1">
                <a:solidFill>
                  <a:srgbClr val="FFFFFF"/>
                </a:solidFill>
              </a:defRPr>
            </a:pPr>
            <a:r>
              <a:t>Case Study: The Payment Module Disaster</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Developer starts: 'Add payment processing to our app'</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Mid-session pivot: 'Also fix the auth bug'</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mixes payment logic with auth fixes — neither works</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3 hours debugging: payment code references auth variables</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The fix: Revert. Two clean sessions. Each done in 30 minutes.</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Lesson: One task per session is load-bearing architecture.</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 AI-Assisted Development</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Security Model Overview</a:t>
            </a:r>
          </a:p>
        </p:txBody>
      </p:sp>
      <p:sp>
        <p:nvSpPr>
          <p:cNvPr id="3" name="Rounded Rectangle 2"/>
          <p:cNvSpPr/>
          <p:nvPr/>
        </p:nvSpPr>
        <p:spPr>
          <a:xfrm>
            <a:off x="230108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rPr dirty="0"/>
              <a:t>Permission Prompts</a:t>
            </a:r>
          </a:p>
          <a:p>
            <a:pPr algn="ctr">
              <a:spcBef>
                <a:spcPts val="800"/>
              </a:spcBef>
              <a:defRPr sz="1300">
                <a:solidFill>
                  <a:srgbClr val="8B95A5"/>
                </a:solidFill>
              </a:defRPr>
            </a:pPr>
            <a:r>
              <a:rPr dirty="0"/>
              <a:t>Claude asks before:</a:t>
            </a:r>
            <a:br>
              <a:rPr dirty="0"/>
            </a:br>
            <a:r>
              <a:rPr dirty="0"/>
              <a:t>• Writing/editing files</a:t>
            </a:r>
            <a:br>
              <a:rPr dirty="0"/>
            </a:br>
            <a:r>
              <a:rPr dirty="0"/>
              <a:t>• Running shell commands</a:t>
            </a:r>
            <a:br>
              <a:rPr dirty="0"/>
            </a:br>
            <a:r>
              <a:rPr dirty="0"/>
              <a:t>• Installing packages</a:t>
            </a:r>
            <a:br>
              <a:rPr dirty="0"/>
            </a:br>
            <a:br>
              <a:rPr dirty="0"/>
            </a:br>
            <a:r>
              <a:rPr dirty="0"/>
              <a:t>You approve or deny each action.</a:t>
            </a:r>
          </a:p>
        </p:txBody>
      </p:sp>
      <p:sp>
        <p:nvSpPr>
          <p:cNvPr id="7" name="Rounded Rectangle 6"/>
          <p:cNvSpPr/>
          <p:nvPr/>
        </p:nvSpPr>
        <p:spPr>
          <a:xfrm>
            <a:off x="495284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Allowlists</a:t>
            </a:r>
          </a:p>
          <a:p>
            <a:pPr algn="ctr">
              <a:spcBef>
                <a:spcPts val="800"/>
              </a:spcBef>
              <a:defRPr sz="1300">
                <a:solidFill>
                  <a:srgbClr val="8B95A5"/>
                </a:solidFill>
              </a:defRPr>
            </a:pPr>
            <a:r>
              <a:t>Pre-approve trusted operations:</a:t>
            </a:r>
            <a:br/>
            <a:r>
              <a:t>• Bash(npm test)</a:t>
            </a:r>
            <a:br/>
            <a:r>
              <a:t>• Bash(git *)</a:t>
            </a:r>
            <a:br/>
            <a:r>
              <a:t>• Read(**/*.ts)</a:t>
            </a:r>
            <a:br/>
            <a:br/>
            <a:r>
              <a:t>Reduces friction for safe commands.</a:t>
            </a:r>
          </a:p>
        </p:txBody>
      </p:sp>
      <p:sp>
        <p:nvSpPr>
          <p:cNvPr id="11" name="Rounded Rectangle 10"/>
          <p:cNvSpPr/>
          <p:nvPr/>
        </p:nvSpPr>
        <p:spPr>
          <a:xfrm>
            <a:off x="760460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Deny Rules</a:t>
            </a:r>
          </a:p>
          <a:p>
            <a:pPr algn="ctr">
              <a:spcBef>
                <a:spcPts val="800"/>
              </a:spcBef>
              <a:defRPr sz="1300">
                <a:solidFill>
                  <a:srgbClr val="8B95A5"/>
                </a:solidFill>
              </a:defRPr>
            </a:pPr>
            <a:r>
              <a:t>Block dangerous operations:</a:t>
            </a:r>
            <a:br/>
            <a:r>
              <a:t>• Bash(rm -rf *)</a:t>
            </a:r>
            <a:br/>
            <a:r>
              <a:t>• Bash(sudo *)</a:t>
            </a:r>
            <a:br/>
            <a:r>
              <a:t>• Read(**/.env)</a:t>
            </a:r>
            <a:br/>
            <a:br/>
            <a:r>
              <a:t>Defense in depth — even if you slip.</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Bash(npm test) — run tests freely</a:t>
            </a:r>
          </a:p>
          <a:p>
            <a:pPr>
              <a:spcAft>
                <a:spcPts val="1200"/>
              </a:spcAft>
              <a:defRPr sz="1800">
                <a:solidFill>
                  <a:srgbClr val="FFFFFF"/>
                </a:solidFill>
              </a:defRPr>
            </a:pPr>
            <a:r>
              <a:t>  Bash(npm run *) — all npm scripts</a:t>
            </a:r>
          </a:p>
          <a:p>
            <a:pPr>
              <a:spcAft>
                <a:spcPts val="1200"/>
              </a:spcAft>
              <a:defRPr sz="1800">
                <a:solidFill>
                  <a:srgbClr val="FFFFFF"/>
                </a:solidFill>
              </a:defRPr>
            </a:pPr>
            <a:r>
              <a:t>  Bash(git add:*) — stage files</a:t>
            </a:r>
          </a:p>
          <a:p>
            <a:pPr>
              <a:spcAft>
                <a:spcPts val="1200"/>
              </a:spcAft>
              <a:defRPr sz="1800">
                <a:solidFill>
                  <a:srgbClr val="FFFFFF"/>
                </a:solidFill>
              </a:defRPr>
            </a:pPr>
            <a:r>
              <a:t>  Bash(git commit:*) — commit changes</a:t>
            </a:r>
          </a:p>
          <a:p>
            <a:pPr>
              <a:spcAft>
                <a:spcPts val="1200"/>
              </a:spcAft>
              <a:defRPr sz="1800">
                <a:solidFill>
                  <a:srgbClr val="FFFFFF"/>
                </a:solidFill>
              </a:defRPr>
            </a:pPr>
            <a: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Bash(rm -rf:*) — prevent recursive delete</a:t>
            </a:r>
          </a:p>
          <a:p>
            <a:pPr>
              <a:spcAft>
                <a:spcPts val="1200"/>
              </a:spcAft>
              <a:defRPr sz="1800">
                <a:solidFill>
                  <a:srgbClr val="FFFFFF"/>
                </a:solidFill>
              </a:defRPr>
            </a:pPr>
            <a:r>
              <a:t>  Bash(sudo:*) — no elevated access</a:t>
            </a:r>
          </a:p>
          <a:p>
            <a:pPr>
              <a:spcAft>
                <a:spcPts val="1200"/>
              </a:spcAft>
              <a:defRPr sz="1800">
                <a:solidFill>
                  <a:srgbClr val="FFFFFF"/>
                </a:solidFill>
              </a:defRPr>
            </a:pPr>
            <a:r>
              <a:t>  Bash(curl:*) — prevent data exfiltration</a:t>
            </a:r>
          </a:p>
          <a:p>
            <a:pPr>
              <a:spcAft>
                <a:spcPts val="1200"/>
              </a:spcAft>
              <a:defRPr sz="1800">
                <a:solidFill>
                  <a:srgbClr val="FFFFFF"/>
                </a:solidFill>
              </a:defRPr>
            </a:pPr>
            <a:r>
              <a:t>  Read(**/.env) — protect secrets</a:t>
            </a:r>
          </a:p>
          <a:p>
            <a:pPr>
              <a:spcAft>
                <a:spcPts val="1200"/>
              </a:spcAft>
              <a:defRPr sz="1800">
                <a:solidFill>
                  <a:srgbClr val="FFFFFF"/>
                </a:solidFill>
              </a:defRPr>
            </a:pPr>
            <a:r>
              <a:t>  Bash(ssh:*) — no remote access</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Security</a:t>
            </a:r>
          </a:p>
          <a:p>
            <a:pPr>
              <a:defRPr sz="1400">
                <a:solidFill>
                  <a:srgbClr val="FFFFFF"/>
                </a:solidFill>
                <a:latin typeface="Consolas"/>
              </a:defRPr>
            </a:pPr>
            <a:endParaRPr/>
          </a:p>
          <a:p>
            <a:pPr>
              <a:defRPr sz="1400">
                <a:solidFill>
                  <a:srgbClr val="FFFFFF"/>
                </a:solidFill>
                <a:latin typeface="Consolas"/>
              </a:defRPr>
            </a:pPr>
            <a:r>
              <a:t># Environment and secrets</a:t>
            </a:r>
          </a:p>
          <a:p>
            <a:pPr>
              <a:defRPr sz="1400">
                <a:solidFill>
                  <a:srgbClr val="FFFFFF"/>
                </a:solidFill>
                <a:latin typeface="Consolas"/>
              </a:defRPr>
            </a:pPr>
            <a:r>
              <a:t>.env</a:t>
            </a:r>
          </a:p>
          <a:p>
            <a:pPr>
              <a:defRPr sz="1400">
                <a:solidFill>
                  <a:srgbClr val="FFFFFF"/>
                </a:solidFill>
                <a:latin typeface="Consolas"/>
              </a:defRPr>
            </a:pPr>
            <a:r>
              <a:t>*.key</a:t>
            </a:r>
          </a:p>
          <a:p>
            <a:pPr>
              <a:defRPr sz="1400">
                <a:solidFill>
                  <a:srgbClr val="FFFFFF"/>
                </a:solidFill>
                <a:latin typeface="Consolas"/>
              </a:defRPr>
            </a:pPr>
            <a:r>
              <a:t>*.pem</a:t>
            </a:r>
          </a:p>
          <a:p>
            <a:pPr>
              <a:defRPr sz="1400">
                <a:solidFill>
                  <a:srgbClr val="FFFFFF"/>
                </a:solidFill>
                <a:latin typeface="Consolas"/>
              </a:defRPr>
            </a:pPr>
            <a:r>
              <a:t>secrets/</a:t>
            </a:r>
          </a:p>
          <a:p>
            <a:pPr>
              <a:defRPr sz="1400">
                <a:solidFill>
                  <a:srgbClr val="FFFFFF"/>
                </a:solidFill>
                <a:latin typeface="Consolas"/>
              </a:defRPr>
            </a:pPr>
            <a:endParaRPr/>
          </a:p>
          <a:p>
            <a:pPr>
              <a:defRPr sz="1400">
                <a:solidFill>
                  <a:srgbClr val="FFFFFF"/>
                </a:solidFill>
                <a:latin typeface="Consolas"/>
              </a:defRPr>
            </a:pPr>
            <a:r>
              <a:t># Credentials</a:t>
            </a:r>
          </a:p>
          <a:p>
            <a:pPr>
              <a:defRPr sz="1400">
                <a:solidFill>
                  <a:srgbClr val="FFFFFF"/>
                </a:solidFill>
                <a:latin typeface="Consolas"/>
              </a:defRPr>
            </a:pPr>
            <a:r>
              <a:t>.aws/</a:t>
            </a:r>
          </a:p>
          <a:p>
            <a:pPr>
              <a:defRPr sz="1400">
                <a:solidFill>
                  <a:srgbClr val="FFFFFF"/>
                </a:solidFill>
                <a:latin typeface="Consolas"/>
              </a:defRPr>
            </a:pPr>
            <a:r>
              <a:t>.ssh/</a:t>
            </a:r>
          </a:p>
          <a:p>
            <a:pPr>
              <a:defRPr sz="1400">
                <a:solidFill>
                  <a:srgbClr val="FFFFFF"/>
                </a:solidFill>
                <a:latin typeface="Consolas"/>
              </a:defRPr>
            </a:pPr>
            <a:endParaRPr/>
          </a:p>
          <a:p>
            <a:pPr>
              <a:defRPr sz="1400">
                <a:solidFill>
                  <a:srgbClr val="FFFFFF"/>
                </a:solidFill>
                <a:latin typeface="Consolas"/>
              </a:defRPr>
            </a:pPr>
            <a:r>
              <a:t># Production</a:t>
            </a:r>
          </a:p>
          <a:p>
            <a:pPr>
              <a:defRPr sz="1400">
                <a:solidFill>
                  <a:srgbClr val="FFFFFF"/>
                </a:solidFill>
                <a:latin typeface="Consolas"/>
              </a:defRPr>
            </a:pPr>
            <a:r>
              <a:t>production/</a:t>
            </a:r>
          </a:p>
          <a:p>
            <a:pPr>
              <a:defRPr sz="1400">
                <a:solidFill>
                  <a:srgbClr val="FFFFFF"/>
                </a:solidFill>
                <a:latin typeface="Consolas"/>
              </a:defRPr>
            </a:pPr>
            <a:r>
              <a:t>deploy/</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Enterprise Security</a:t>
            </a:r>
          </a:p>
        </p:txBody>
      </p:sp>
      <p:sp>
        <p:nvSpPr>
          <p:cNvPr id="3" name="Rounded Rectangle 2"/>
          <p:cNvSpPr/>
          <p:nvPr/>
        </p:nvSpPr>
        <p:spPr>
          <a:xfrm>
            <a:off x="230108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Managed Settings</a:t>
            </a:r>
          </a:p>
          <a:p>
            <a:pPr algn="ctr">
              <a:spcBef>
                <a:spcPts val="800"/>
              </a:spcBef>
              <a:defRPr sz="1300">
                <a:solidFill>
                  <a:srgbClr val="8B95A5"/>
                </a:solidFill>
              </a:defRPr>
            </a:pPr>
            <a:r>
              <a:t>IT deploys policies that can't be overridden.</a:t>
            </a:r>
            <a:br/>
            <a:r>
              <a:t>Disable bypass mode.</a:t>
            </a:r>
            <a:br/>
            <a:r>
              <a:t>Restrict allowed MCP servers.</a:t>
            </a:r>
            <a:br/>
            <a:r>
              <a:t>Enforce hooks across all users.</a:t>
            </a:r>
          </a:p>
        </p:txBody>
      </p:sp>
      <p:sp>
        <p:nvSpPr>
          <p:cNvPr id="7" name="Rounded Rectangle 6"/>
          <p:cNvSpPr/>
          <p:nvPr/>
        </p:nvSpPr>
        <p:spPr>
          <a:xfrm>
            <a:off x="495284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10000"/>
          </a:bodyPr>
          <a:lstStyle/>
          <a:p>
            <a:pPr algn="ctr">
              <a:defRPr sz="1800" b="1">
                <a:solidFill>
                  <a:srgbClr val="FFFFFF"/>
                </a:solidFill>
              </a:defRPr>
            </a:pPr>
            <a:r>
              <a:t>Audit Logging</a:t>
            </a:r>
          </a:p>
          <a:p>
            <a:pPr algn="ctr">
              <a:spcBef>
                <a:spcPts val="800"/>
              </a:spcBef>
              <a:defRPr sz="1300">
                <a:solidFill>
                  <a:srgbClr val="8B95A5"/>
                </a:solidFill>
              </a:defRPr>
            </a:pPr>
            <a:r>
              <a:t>Track all Claude Code activity.</a:t>
            </a:r>
            <a:br/>
            <a:r>
              <a:t>File changes, commands run, tools used.</a:t>
            </a:r>
            <a:br/>
            <a:r>
              <a:t>Export to SIEM (Splunk, Datadog).</a:t>
            </a:r>
            <a:br/>
            <a:r>
              <a:t>Compliance API for automated monitoring.</a:t>
            </a:r>
          </a:p>
        </p:txBody>
      </p:sp>
      <p:sp>
        <p:nvSpPr>
          <p:cNvPr id="11" name="Rounded Rectangle 10"/>
          <p:cNvSpPr/>
          <p:nvPr/>
        </p:nvSpPr>
        <p:spPr>
          <a:xfrm>
            <a:off x="760460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lnSpcReduction="10000"/>
          </a:bodyPr>
          <a:lstStyle/>
          <a:p>
            <a:pPr algn="ctr">
              <a:defRPr sz="1800" b="1">
                <a:solidFill>
                  <a:srgbClr val="FFFFFF"/>
                </a:solidFill>
              </a:defRPr>
            </a:pPr>
            <a:r>
              <a:t>Access Control</a:t>
            </a:r>
          </a:p>
          <a:p>
            <a:pPr algn="ctr">
              <a:spcBef>
                <a:spcPts val="800"/>
              </a:spcBef>
              <a:defRPr sz="1300">
                <a:solidFill>
                  <a:srgbClr val="8B95A5"/>
                </a:solidFill>
              </a:defRPr>
            </a:pPr>
            <a:r>
              <a:t>SSO/SAML + SCIM provisioning.</a:t>
            </a:r>
            <a:br/>
            <a:r>
              <a:t>Standard vs Premium seats.</a:t>
            </a:r>
            <a:br/>
            <a:r>
              <a:t>Per-user spending caps.</a:t>
            </a:r>
            <a:br/>
            <a:r>
              <a:t>Zero-Data-Retention option.</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Approve every single file read</a:t>
            </a:r>
          </a:p>
          <a:p>
            <a:pPr>
              <a:spcAft>
                <a:spcPts val="1200"/>
              </a:spcAft>
              <a:defRPr sz="1800">
                <a:solidFill>
                  <a:srgbClr val="FFFFFF"/>
                </a:solidFill>
              </a:defRPr>
            </a:pPr>
            <a:r>
              <a:t>  Confirm every npm command</a:t>
            </a:r>
          </a:p>
          <a:p>
            <a:pPr>
              <a:spcAft>
                <a:spcPts val="1200"/>
              </a:spcAft>
              <a:defRPr sz="1800">
                <a:solidFill>
                  <a:srgbClr val="FFFFFF"/>
                </a:solidFill>
              </a:defRPr>
            </a:pPr>
            <a:r>
              <a:t>  10 permission prompts per task</a:t>
            </a:r>
          </a:p>
          <a:p>
            <a:pPr>
              <a:spcAft>
                <a:spcPts val="1200"/>
              </a:spcAft>
              <a:defRPr sz="1800">
                <a:solidFill>
                  <a:srgbClr val="FFFFFF"/>
                </a:solidFill>
              </a:defRPr>
            </a:pPr>
            <a:r>
              <a:t>  Developers disable permissions entirely</a:t>
            </a:r>
          </a:p>
          <a:p>
            <a:pPr>
              <a:spcAft>
                <a:spcPts val="1200"/>
              </a:spcAft>
              <a:defRPr sz="1800">
                <a:solidFill>
                  <a:srgbClr val="FFFFFF"/>
                </a:solidFill>
              </a:defRPr>
            </a:pPr>
            <a: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Allow reads for all project files</a:t>
            </a:r>
          </a:p>
          <a:p>
            <a:pPr>
              <a:spcAft>
                <a:spcPts val="1200"/>
              </a:spcAft>
              <a:defRPr sz="1800">
                <a:solidFill>
                  <a:srgbClr val="FFFFFF"/>
                </a:solidFill>
              </a:defRPr>
            </a:pPr>
            <a:r>
              <a:t>  Allow npm test, npm run, git commands</a:t>
            </a:r>
          </a:p>
          <a:p>
            <a:pPr>
              <a:spcAft>
                <a:spcPts val="1200"/>
              </a:spcAft>
              <a:defRPr sz="1800">
                <a:solidFill>
                  <a:srgbClr val="FFFFFF"/>
                </a:solidFill>
              </a:defRPr>
            </a:pPr>
            <a:r>
              <a:t>  Deny rm -rf, sudo, curl, ssh</a:t>
            </a:r>
          </a:p>
          <a:p>
            <a:pPr>
              <a:spcAft>
                <a:spcPts val="1200"/>
              </a:spcAft>
              <a:defRPr sz="1800">
                <a:solidFill>
                  <a:srgbClr val="FFFFFF"/>
                </a:solidFill>
              </a:defRPr>
            </a:pPr>
            <a:r>
              <a:t>  2-3 prompts per task for real decisions</a:t>
            </a:r>
          </a:p>
          <a:p>
            <a:pPr>
              <a:spcAft>
                <a:spcPts val="1200"/>
              </a:spcAft>
              <a:defRPr sz="1800">
                <a:solidFill>
                  <a:srgbClr val="FFFFFF"/>
                </a:solidFill>
              </a:defRPr>
            </a:pPr>
            <a:r>
              <a:t>  Developers keep permissions enabled</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
        <p:nvSpPr>
          <p:cNvPr id="3" name="TextBox 2"/>
          <p:cNvSpPr txBox="1"/>
          <p:nvPr/>
        </p:nvSpPr>
        <p:spPr>
          <a:xfrm>
            <a:off x="914400" y="4127350"/>
            <a:ext cx="10362895" cy="914400"/>
          </a:xfrm>
          <a:prstGeom prst="rect">
            <a:avLst/>
          </a:prstGeom>
          <a:noFill/>
        </p:spPr>
        <p:txBody>
          <a:bodyPr wrap="square">
            <a:spAutoFit/>
          </a:bodyPr>
          <a:lstStyle/>
          <a:p>
            <a:pPr algn="ctr">
              <a:defRPr sz="2400">
                <a:solidFill>
                  <a:srgbClr val="8B95A5"/>
                </a:solidFill>
              </a:defRPr>
            </a:pPr>
            <a:r>
              <a:rPr dirty="0"/>
              <a:t>When uncertain, Claude Code asks first.</a:t>
            </a:r>
          </a:p>
          <a:p>
            <a:pPr>
              <a:defRPr sz="2400">
                <a:solidFill>
                  <a:srgbClr val="8B95A5"/>
                </a:solidFill>
              </a:defRPr>
            </a:pPr>
            <a:endParaRPr dirty="0"/>
          </a:p>
          <a:p>
            <a:pPr>
              <a:defRPr sz="2400">
                <a:solidFill>
                  <a:srgbClr val="8B95A5"/>
                </a:solidFill>
              </a:defRPr>
            </a:pPr>
            <a:r>
              <a:rPr dirty="0"/>
              <a:t>Safety &gt; Speed.</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Auto-Commit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Workflow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'Commit this change with a descriptive message'</a:t>
            </a:r>
          </a:p>
          <a:p>
            <a:pPr>
              <a:spcAft>
                <a:spcPts val="1200"/>
              </a:spcAft>
              <a:defRPr sz="1800">
                <a:solidFill>
                  <a:srgbClr val="FFFFFF"/>
                </a:solidFill>
              </a:defRPr>
            </a:pPr>
            <a:r>
              <a:t>  Claude analyzes the diff</a:t>
            </a:r>
          </a:p>
          <a:p>
            <a:pPr>
              <a:spcAft>
                <a:spcPts val="1200"/>
              </a:spcAft>
              <a:defRPr sz="1800">
                <a:solidFill>
                  <a:srgbClr val="FFFFFF"/>
                </a:solidFill>
              </a:defRPr>
            </a:pPr>
            <a:r>
              <a:t>  Generates conventional commit message</a:t>
            </a:r>
          </a:p>
          <a:p>
            <a:pPr>
              <a:spcAft>
                <a:spcPts val="1200"/>
              </a:spcAft>
              <a:defRPr sz="1800">
                <a:solidFill>
                  <a:srgbClr val="FFFFFF"/>
                </a:solidFill>
              </a:defRPr>
            </a:pPr>
            <a:r>
              <a:t>  Stages appropriate files</a:t>
            </a:r>
          </a:p>
          <a:p>
            <a:pPr>
              <a:spcAft>
                <a:spcPts val="1200"/>
              </a:spcAft>
              <a:defRPr sz="1800">
                <a:solidFill>
                  <a:srgbClr val="FFFFFF"/>
                </a:solidFill>
              </a:defRPr>
            </a:pPr>
            <a:r>
              <a:t>  Creates the commit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 Tips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conventional commits' in CLAUDE.md</a:t>
            </a:r>
          </a:p>
          <a:p>
            <a:pPr>
              <a:spcAft>
                <a:spcPts val="1200"/>
              </a:spcAft>
              <a:defRPr sz="1800">
                <a:solidFill>
                  <a:srgbClr val="FFFFFF"/>
                </a:solidFill>
              </a:defRPr>
            </a:pPr>
            <a:r>
              <a:t>  Claude follows: feat:, fix:, docs:, refactor:</a:t>
            </a:r>
          </a:p>
          <a:p>
            <a:pPr>
              <a:spcAft>
                <a:spcPts val="1200"/>
              </a:spcAft>
              <a:defRPr sz="1800">
                <a:solidFill>
                  <a:srgbClr val="FFFFFF"/>
                </a:solidFill>
              </a:defRPr>
            </a:pPr>
            <a:r>
              <a:t>  Multi-file changes get grouped logically</a:t>
            </a:r>
          </a:p>
          <a:p>
            <a:pPr>
              <a:spcAft>
                <a:spcPts val="1200"/>
              </a:spcAft>
              <a:defRPr sz="1800">
                <a:solidFill>
                  <a:srgbClr val="FFFFFF"/>
                </a:solidFill>
              </a:defRPr>
            </a:pPr>
            <a:r>
              <a:t>  Add '--no-verify' for speed (skip hooks)</a:t>
            </a:r>
          </a:p>
          <a:p>
            <a:pPr>
              <a:spcAft>
                <a:spcPts val="1200"/>
              </a:spcAft>
              <a:defRPr sz="1800">
                <a:solidFill>
                  <a:srgbClr val="FFFFFF"/>
                </a:solidFill>
              </a:defRPr>
            </a:pPr>
            <a:r>
              <a:t>  Always review: git log --oneline after</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 Creation &amp; Management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Branch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feature branch for user-auth'</a:t>
            </a:r>
          </a:p>
          <a:p>
            <a:pPr>
              <a:spcAft>
                <a:spcPts val="1200"/>
              </a:spcAft>
              <a:defRPr sz="1800">
                <a:solidFill>
                  <a:srgbClr val="FFFFFF"/>
                </a:solidFill>
              </a:defRPr>
            </a:pPr>
            <a:r>
              <a:t>  'Switch to the api-refactor branch'</a:t>
            </a:r>
          </a:p>
          <a:p>
            <a:pPr>
              <a:spcAft>
                <a:spcPts val="1200"/>
              </a:spcAft>
              <a:defRPr sz="1800">
                <a:solidFill>
                  <a:srgbClr val="FFFFFF"/>
                </a:solidFill>
              </a:defRPr>
            </a:pPr>
            <a:r>
              <a:t>  'Show me all branches and their status'</a:t>
            </a:r>
          </a:p>
          <a:p>
            <a:pPr>
              <a:spcAft>
                <a:spcPts val="1200"/>
              </a:spcAft>
              <a:defRPr sz="1800">
                <a:solidFill>
                  <a:srgbClr val="FFFFFF"/>
                </a:solidFill>
              </a:defRPr>
            </a:pPr>
            <a:r>
              <a:t>  'Merge feature-auth into main'</a:t>
            </a:r>
          </a:p>
          <a:p>
            <a:pPr>
              <a:spcAft>
                <a:spcPts val="1200"/>
              </a:spcAft>
              <a:defRPr sz="1800">
                <a:solidFill>
                  <a:srgbClr val="FFFFFF"/>
                </a:solidFill>
              </a:defRPr>
            </a:pPr>
            <a:r>
              <a:t>  'Rebase my branch on latest main'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Practices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 feature per branch</a:t>
            </a:r>
          </a:p>
          <a:p>
            <a:pPr>
              <a:spcAft>
                <a:spcPts val="1200"/>
              </a:spcAft>
              <a:defRPr sz="1800">
                <a:solidFill>
                  <a:srgbClr val="FFFFFF"/>
                </a:solidFill>
              </a:defRPr>
            </a:pPr>
            <a:r>
              <a:t>  Branch naming in CLAUDE.md (feature/, fix/, docs/)</a:t>
            </a:r>
          </a:p>
          <a:p>
            <a:pPr>
              <a:spcAft>
                <a:spcPts val="1200"/>
              </a:spcAft>
              <a:defRPr sz="1800">
                <a:solidFill>
                  <a:srgbClr val="FFFFFF"/>
                </a:solidFill>
              </a:defRPr>
            </a:pPr>
            <a:r>
              <a:t>  Claude creates branches matching your conventions</a:t>
            </a:r>
          </a:p>
          <a:p>
            <a:pPr>
              <a:spcAft>
                <a:spcPts val="1200"/>
              </a:spcAft>
              <a:defRPr sz="1800">
                <a:solidFill>
                  <a:srgbClr val="FFFFFF"/>
                </a:solidFill>
              </a:defRPr>
            </a:pPr>
            <a:r>
              <a:t>  Commit frequently on feature branches</a:t>
            </a:r>
          </a:p>
          <a:p>
            <a:pPr>
              <a:spcAft>
                <a:spcPts val="1200"/>
              </a:spcAft>
              <a:defRPr sz="1800">
                <a:solidFill>
                  <a:srgbClr val="FFFFFF"/>
                </a:solidFill>
              </a:defRPr>
            </a:pPr>
            <a:r>
              <a:t>  Merge via PR — not direct merge to main</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Examples</a:t>
            </a:r>
          </a:p>
          <a:p>
            <a:pPr>
              <a:defRPr sz="1400">
                <a:solidFill>
                  <a:srgbClr val="FFFFFF"/>
                </a:solidFill>
                <a:latin typeface="Consolas"/>
              </a:defRPr>
            </a:pPr>
            <a:endParaRPr/>
          </a:p>
          <a:p>
            <a:pPr>
              <a:defRPr sz="1400">
                <a:solidFill>
                  <a:srgbClr val="FFFFFF"/>
                </a:solidFill>
                <a:latin typeface="Consolas"/>
              </a:defRPr>
            </a:pPr>
            <a:r>
              <a:t>feat(auth): add JWT authentication</a:t>
            </a:r>
          </a:p>
          <a:p>
            <a:pPr>
              <a:defRPr sz="1400">
                <a:solidFill>
                  <a:srgbClr val="FFFFFF"/>
                </a:solidFill>
                <a:latin typeface="Consolas"/>
              </a:defRPr>
            </a:pPr>
            <a:r>
              <a:t>- Implement token generation</a:t>
            </a:r>
          </a:p>
          <a:p>
            <a:pPr>
              <a:defRPr sz="1400">
                <a:solidFill>
                  <a:srgbClr val="FFFFFF"/>
                </a:solidFill>
                <a:latin typeface="Consolas"/>
              </a:defRPr>
            </a:pPr>
            <a:r>
              <a:t>- Add middleware</a:t>
            </a:r>
          </a:p>
          <a:p>
            <a:pPr>
              <a:defRPr sz="1400">
                <a:solidFill>
                  <a:srgbClr val="FFFFFF"/>
                </a:solidFill>
                <a:latin typeface="Consolas"/>
              </a:defRPr>
            </a:pPr>
            <a:endParaRPr/>
          </a:p>
          <a:p>
            <a:pPr>
              <a:defRPr sz="1400">
                <a:solidFill>
                  <a:srgbClr val="FFFFFF"/>
                </a:solidFill>
                <a:latin typeface="Consolas"/>
              </a:defRPr>
            </a:pPr>
            <a:r>
              <a:t>fix(payments): resolve duplicate charges</a:t>
            </a:r>
          </a:p>
          <a:p>
            <a:pPr>
              <a:defRPr sz="1400">
                <a:solidFill>
                  <a:srgbClr val="FFFFFF"/>
                </a:solidFill>
                <a:latin typeface="Consolas"/>
              </a:defRPr>
            </a:pPr>
            <a:r>
              <a:t>- Check existing transaction</a:t>
            </a:r>
          </a:p>
          <a:p>
            <a:pPr>
              <a:defRPr sz="1400">
                <a:solidFill>
                  <a:srgbClr val="FFFFFF"/>
                </a:solidFill>
                <a:latin typeface="Consolas"/>
              </a:defRPr>
            </a:pPr>
            <a:r>
              <a:t>- Add idempotency key</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Pull Request Creation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PR for this feature branch'</a:t>
            </a:r>
          </a:p>
          <a:p>
            <a:pPr>
              <a:spcAft>
                <a:spcPts val="1200"/>
              </a:spcAft>
              <a:defRPr sz="1800">
                <a:solidFill>
                  <a:srgbClr val="FFFFFF"/>
                </a:solidFill>
              </a:defRPr>
            </a:pPr>
            <a:r>
              <a:t>  Claude generates: title, description, change summary</a:t>
            </a:r>
          </a:p>
          <a:p>
            <a:pPr>
              <a:spcAft>
                <a:spcPts val="1200"/>
              </a:spcAft>
              <a:defRPr sz="1800">
                <a:solidFill>
                  <a:srgbClr val="FFFFFF"/>
                </a:solidFill>
              </a:defRPr>
            </a:pPr>
            <a:r>
              <a:t>  Links related issues automatically</a:t>
            </a:r>
          </a:p>
          <a:p>
            <a:pPr>
              <a:spcAft>
                <a:spcPts val="1200"/>
              </a:spcAft>
              <a:defRPr sz="1800">
                <a:solidFill>
                  <a:srgbClr val="FFFFFF"/>
                </a:solidFill>
              </a:defRPr>
            </a:pPr>
            <a:r>
              <a:t>  Lists files changed with explanations</a:t>
            </a:r>
          </a:p>
          <a:p>
            <a:pPr>
              <a:spcAft>
                <a:spcPts val="1200"/>
              </a:spcAft>
              <a:defRPr sz="1800">
                <a:solidFill>
                  <a:srgbClr val="FFFFFF"/>
                </a:solidFill>
              </a:defRPr>
            </a:pPr>
            <a:r>
              <a:t>  Adds testing notes and reviewer guidance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Quality PRs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Describe the why, not just the what</a:t>
            </a:r>
          </a:p>
          <a:p>
            <a:pPr>
              <a:spcAft>
                <a:spcPts val="1200"/>
              </a:spcAft>
              <a:defRPr sz="1800">
                <a:solidFill>
                  <a:srgbClr val="FFFFFF"/>
                </a:solidFill>
              </a:defRPr>
            </a:pPr>
            <a:r>
              <a:t>  'Include screenshots for UI changes'</a:t>
            </a:r>
          </a:p>
          <a:p>
            <a:pPr>
              <a:spcAft>
                <a:spcPts val="1200"/>
              </a:spcAft>
              <a:defRPr sz="1800">
                <a:solidFill>
                  <a:srgbClr val="FFFFFF"/>
                </a:solidFill>
              </a:defRPr>
            </a:pPr>
            <a:r>
              <a:t>  Claude adds conventional PR labels</a:t>
            </a:r>
          </a:p>
          <a:p>
            <a:pPr>
              <a:spcAft>
                <a:spcPts val="1200"/>
              </a:spcAft>
              <a:defRPr sz="1800">
                <a:solidFill>
                  <a:srgbClr val="FFFFFF"/>
                </a:solidFill>
              </a:defRPr>
            </a:pPr>
            <a:r>
              <a:t>  Reference ticket numbers from commit messages</a:t>
            </a:r>
          </a:p>
          <a:p>
            <a:pPr>
              <a:spcAft>
                <a:spcPts val="1200"/>
              </a:spcAft>
              <a:defRPr sz="1800">
                <a:solidFill>
                  <a:srgbClr val="FFFFFF"/>
                </a:solidFill>
              </a:defRPr>
            </a:pPr>
            <a:r>
              <a:t>  Review the PR description before submitting</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History Analysis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History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'What changed in the last 5 commits?'</a:t>
            </a:r>
          </a:p>
          <a:p>
            <a:pPr>
              <a:spcAft>
                <a:spcPts val="1200"/>
              </a:spcAft>
              <a:defRPr sz="1800">
                <a:solidFill>
                  <a:srgbClr val="FFFFFF"/>
                </a:solidFill>
              </a:defRPr>
            </a:pPr>
            <a:r>
              <a:t>  'Who last modified auth.ts and why?'</a:t>
            </a:r>
          </a:p>
          <a:p>
            <a:pPr>
              <a:spcAft>
                <a:spcPts val="1200"/>
              </a:spcAft>
              <a:defRPr sz="1800">
                <a:solidFill>
                  <a:srgbClr val="FFFFFF"/>
                </a:solidFill>
              </a:defRPr>
            </a:pPr>
            <a:r>
              <a:t>  'Show me the diff between v2.0 and main'</a:t>
            </a:r>
          </a:p>
          <a:p>
            <a:pPr>
              <a:spcAft>
                <a:spcPts val="1200"/>
              </a:spcAft>
              <a:defRPr sz="1800">
                <a:solidFill>
                  <a:srgbClr val="FFFFFF"/>
                </a:solidFill>
              </a:defRPr>
            </a:pPr>
            <a:r>
              <a:t>  'Find when the login bug was introduced'</a:t>
            </a:r>
          </a:p>
          <a:p>
            <a:pPr>
              <a:spcAft>
                <a:spcPts val="1200"/>
              </a:spcAft>
              <a:defRPr sz="1800">
                <a:solidFill>
                  <a:srgbClr val="FFFFFF"/>
                </a:solidFill>
              </a:defRPr>
            </a:pPr>
            <a:r>
              <a:t>  'Summarize this week's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Use Cases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review: understand context of changes</a:t>
            </a:r>
          </a:p>
          <a:p>
            <a:pPr>
              <a:spcAft>
                <a:spcPts val="1200"/>
              </a:spcAft>
              <a:defRPr sz="1800">
                <a:solidFill>
                  <a:srgbClr val="FFFFFF"/>
                </a:solidFill>
              </a:defRPr>
            </a:pPr>
            <a:r>
              <a:t>  Debugging: find when a regression started</a:t>
            </a:r>
          </a:p>
          <a:p>
            <a:pPr>
              <a:spcAft>
                <a:spcPts val="1200"/>
              </a:spcAft>
              <a:defRPr sz="1800">
                <a:solidFill>
                  <a:srgbClr val="FFFFFF"/>
                </a:solidFill>
              </a:defRPr>
            </a:pPr>
            <a:r>
              <a:t>  Onboarding: catch up on recent work</a:t>
            </a:r>
          </a:p>
          <a:p>
            <a:pPr>
              <a:spcAft>
                <a:spcPts val="1200"/>
              </a:spcAft>
              <a:defRPr sz="1800">
                <a:solidFill>
                  <a:srgbClr val="FFFFFF"/>
                </a:solidFill>
              </a:defRPr>
            </a:pPr>
            <a:r>
              <a:t>  Release notes: summarize changes since last tag</a:t>
            </a:r>
          </a:p>
          <a:p>
            <a:pPr>
              <a:spcAft>
                <a:spcPts val="1200"/>
              </a:spcAft>
              <a:defRPr sz="1800">
                <a:solidFill>
                  <a:srgbClr val="FFFFFF"/>
                </a:solidFill>
              </a:defRPr>
            </a:pPr>
            <a:r>
              <a:t>  Blame analysis: understand design decisions</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GitHub Actions integration built-in</a:t>
            </a:r>
          </a:p>
          <a:p>
            <a:pPr>
              <a:spcAft>
                <a:spcPts val="1200"/>
              </a:spcAft>
              <a:defRPr sz="1800">
                <a:solidFill>
                  <a:srgbClr val="FFFFFF"/>
                </a:solidFill>
              </a:defRPr>
            </a:pPr>
            <a:r>
              <a:t>  PR auto-review via Claude Code Action</a:t>
            </a:r>
          </a:p>
          <a:p>
            <a:pPr>
              <a:spcAft>
                <a:spcPts val="1200"/>
              </a:spcAft>
              <a:defRPr sz="1800">
                <a:solidFill>
                  <a:srgbClr val="FFFFFF"/>
                </a:solidFill>
              </a:defRPr>
            </a:pPr>
            <a:r>
              <a:t>  Issue linking in commit messages</a:t>
            </a:r>
          </a:p>
          <a:p>
            <a:pPr>
              <a:spcAft>
                <a:spcPts val="1200"/>
              </a:spcAft>
              <a:defRPr sz="1800">
                <a:solidFill>
                  <a:srgbClr val="FFFFFF"/>
                </a:solidFill>
              </a:defRPr>
            </a:pPr>
            <a:r>
              <a:t>  Copilot + Claude Code coexistence</a:t>
            </a:r>
          </a:p>
          <a:p>
            <a:pPr>
              <a:spcAft>
                <a:spcPts val="1200"/>
              </a:spcAft>
              <a:defRPr sz="1800">
                <a:solidFill>
                  <a:srgbClr val="FFFFFF"/>
                </a:solidFill>
              </a:defRPr>
            </a:pPr>
            <a:r>
              <a:t>  gh CLI commands accessible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GitLab</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GitLab CI/CD pipeline support</a:t>
            </a:r>
          </a:p>
          <a:p>
            <a:pPr>
              <a:spcAft>
                <a:spcPts val="1200"/>
              </a:spcAft>
              <a:defRPr sz="1800">
                <a:solidFill>
                  <a:srgbClr val="FFFFFF"/>
                </a:solidFill>
              </a:defRPr>
            </a:pPr>
            <a:r>
              <a:t>  Merge Request creation and description</a:t>
            </a:r>
          </a:p>
          <a:p>
            <a:pPr>
              <a:spcAft>
                <a:spcPts val="1200"/>
              </a:spcAft>
              <a:defRPr sz="1800">
                <a:solidFill>
                  <a:srgbClr val="FFFFFF"/>
                </a:solidFill>
              </a:defRPr>
            </a:pPr>
            <a:r>
              <a:t>  Issue board integration</a:t>
            </a:r>
          </a:p>
          <a:p>
            <a:pPr>
              <a:spcAft>
                <a:spcPts val="1200"/>
              </a:spcAft>
              <a:defRPr sz="1800">
                <a:solidFill>
                  <a:srgbClr val="FFFFFF"/>
                </a:solidFill>
              </a:defRPr>
            </a:pPr>
            <a:r>
              <a:t>  Self-hosted GitLab compatible</a:t>
            </a:r>
          </a:p>
          <a:p>
            <a:pPr>
              <a:spcAft>
                <a:spcPts val="1200"/>
              </a:spcAft>
              <a:defRPr sz="1800">
                <a:solidFill>
                  <a:srgbClr val="FFFFFF"/>
                </a:solidFill>
              </a:defRPr>
            </a:pPr>
            <a:r>
              <a:t>  glab CLI commands accessible</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Reading, writing, searching, refactoring — the daily toolkit</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Database Development</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SQL Query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Plain English → SQL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'Show me all active users who signed up this month'</a:t>
            </a:r>
          </a:p>
          <a:p>
            <a:pPr>
              <a:spcAft>
                <a:spcPts val="1200"/>
              </a:spcAft>
              <a:defRPr sz="1800">
                <a:solidFill>
                  <a:srgbClr val="FFFFFF"/>
                </a:solidFill>
              </a:defRPr>
            </a:pPr>
            <a:r>
              <a:t>  'Revenue by product category, last 90 days'</a:t>
            </a:r>
          </a:p>
          <a:p>
            <a:pPr>
              <a:spcAft>
                <a:spcPts val="1200"/>
              </a:spcAft>
              <a:defRPr sz="1800">
                <a:solidFill>
                  <a:srgbClr val="FFFFFF"/>
                </a:solidFill>
              </a:defRPr>
            </a:pPr>
            <a:r>
              <a:t>  'Find customers with no orders in 6 months'</a:t>
            </a:r>
          </a:p>
          <a:p>
            <a:pPr>
              <a:spcAft>
                <a:spcPts val="1200"/>
              </a:spcAft>
              <a:defRPr sz="1800">
                <a:solidFill>
                  <a:srgbClr val="FFFFFF"/>
                </a:solidFill>
              </a:defRPr>
            </a:pPr>
            <a:r>
              <a:t>  Claude writes, explains, and validates the query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Advanced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Window functions and CTEs</a:t>
            </a:r>
          </a:p>
          <a:p>
            <a:pPr>
              <a:spcAft>
                <a:spcPts val="1200"/>
              </a:spcAft>
              <a:defRPr sz="1800">
                <a:solidFill>
                  <a:srgbClr val="FFFFFF"/>
                </a:solidFill>
              </a:defRPr>
            </a:pPr>
            <a:r>
              <a:t>  Query optimization suggestions</a:t>
            </a:r>
          </a:p>
          <a:p>
            <a:pPr>
              <a:spcAft>
                <a:spcPts val="1200"/>
              </a:spcAft>
              <a:defRPr sz="1800">
                <a:solidFill>
                  <a:srgbClr val="FFFFFF"/>
                </a:solidFill>
              </a:defRPr>
            </a:pPr>
            <a:r>
              <a:t>  Index recommendations based on query patterns</a:t>
            </a:r>
          </a:p>
          <a:p>
            <a:pPr>
              <a:spcAft>
                <a:spcPts val="1200"/>
              </a:spcAft>
              <a:defRPr sz="1800">
                <a:solidFill>
                  <a:srgbClr val="FFFFFF"/>
                </a:solidFill>
              </a:defRPr>
            </a:pPr>
            <a:r>
              <a:t>  Migration scripts from one schema to another</a:t>
            </a:r>
          </a:p>
          <a:p>
            <a:pPr>
              <a:spcAft>
                <a:spcPts val="1200"/>
              </a:spcAft>
              <a:defRPr sz="1800">
                <a:solidFill>
                  <a:srgbClr val="FFFFFF"/>
                </a:solidFill>
              </a:defRPr>
            </a:pPr>
            <a:r>
              <a:t>  Parameterized queries (never string concatenation)</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Prompt: "Find the top 5 customers by total order value in the</a:t>
            </a:r>
          </a:p>
          <a:p>
            <a:pPr>
              <a:defRPr sz="1400">
                <a:solidFill>
                  <a:srgbClr val="FFFFFF"/>
                </a:solidFill>
                <a:latin typeface="Consolas"/>
              </a:defRPr>
            </a:pPr>
            <a:r>
              <a:t>-- last 90 days, including their most recent order date"</a:t>
            </a:r>
          </a:p>
          <a:p>
            <a:pPr>
              <a:defRPr sz="1400">
                <a:solidFill>
                  <a:srgbClr val="FFFFFF"/>
                </a:solidFill>
                <a:latin typeface="Consolas"/>
              </a:defRPr>
            </a:pPr>
            <a:endParaRPr/>
          </a:p>
          <a:p>
            <a:pPr>
              <a:defRPr sz="1400">
                <a:solidFill>
                  <a:srgbClr val="FFFFFF"/>
                </a:solidFill>
                <a:latin typeface="Consolas"/>
              </a:defRPr>
            </a:pPr>
            <a:r>
              <a:t>WITH customer_orders AS (</a:t>
            </a:r>
          </a:p>
          <a:p>
            <a:pPr>
              <a:defRPr sz="1400">
                <a:solidFill>
                  <a:srgbClr val="FFFFFF"/>
                </a:solidFill>
                <a:latin typeface="Consolas"/>
              </a:defRPr>
            </a:pPr>
            <a:r>
              <a:t>  SELECT </a:t>
            </a:r>
          </a:p>
          <a:p>
            <a:pPr>
              <a:defRPr sz="1400">
                <a:solidFill>
                  <a:srgbClr val="FFFFFF"/>
                </a:solidFill>
                <a:latin typeface="Consolas"/>
              </a:defRPr>
            </a:pPr>
            <a:r>
              <a:t>    c.customer_id,</a:t>
            </a:r>
          </a:p>
          <a:p>
            <a:pPr>
              <a:defRPr sz="1400">
                <a:solidFill>
                  <a:srgbClr val="FFFFFF"/>
                </a:solidFill>
                <a:latin typeface="Consolas"/>
              </a:defRPr>
            </a:pPr>
            <a:r>
              <a:t>    c.first_name,</a:t>
            </a:r>
          </a:p>
          <a:p>
            <a:pPr>
              <a:defRPr sz="1400">
                <a:solidFill>
                  <a:srgbClr val="FFFFFF"/>
                </a:solidFill>
                <a:latin typeface="Consolas"/>
              </a:defRPr>
            </a:pPr>
            <a:r>
              <a:t>    c.last_name,</a:t>
            </a:r>
          </a:p>
          <a:p>
            <a:pPr>
              <a:defRPr sz="1400">
                <a:solidFill>
                  <a:srgbClr val="FFFFFF"/>
                </a:solidFill>
                <a:latin typeface="Consolas"/>
              </a:defRPr>
            </a:pPr>
            <a:r>
              <a:t>    c.email,</a:t>
            </a:r>
          </a:p>
          <a:p>
            <a:pPr>
              <a:defRPr sz="1400">
                <a:solidFill>
                  <a:srgbClr val="FFFFFF"/>
                </a:solidFill>
                <a:latin typeface="Consolas"/>
              </a:defRPr>
            </a:pPr>
            <a:r>
              <a:t>    SUM(oi.quantity * oi.unit_price) AS total_value,</a:t>
            </a:r>
          </a:p>
          <a:p>
            <a:pPr>
              <a:defRPr sz="1400">
                <a:solidFill>
                  <a:srgbClr val="FFFFFF"/>
                </a:solidFill>
                <a:latin typeface="Consolas"/>
              </a:defRPr>
            </a:pPr>
            <a:r>
              <a:t>    MAX(o.order_date) AS latest_order_date,</a:t>
            </a:r>
          </a:p>
          <a:p>
            <a:pPr>
              <a:defRPr sz="1400">
                <a:solidFill>
                  <a:srgbClr val="FFFFFF"/>
                </a:solidFill>
                <a:latin typeface="Consolas"/>
              </a:defRPr>
            </a:pPr>
            <a:r>
              <a:t>    COUNT(DISTINCT o.order_id) AS order_count</a:t>
            </a:r>
          </a:p>
          <a:p>
            <a:pPr>
              <a:defRPr sz="1400">
                <a:solidFill>
                  <a:srgbClr val="FFFFFF"/>
                </a:solidFill>
                <a:latin typeface="Consolas"/>
              </a:defRPr>
            </a:pPr>
            <a:r>
              <a:t>  FROM customers c</a:t>
            </a:r>
          </a:p>
          <a:p>
            <a:pPr>
              <a:defRPr sz="1400">
                <a:solidFill>
                  <a:srgbClr val="FFFFFF"/>
                </a:solidFill>
                <a:latin typeface="Consolas"/>
              </a:defRPr>
            </a:pPr>
            <a:r>
              <a:t>  JOIN orders o ON c.customer_id = o.customer_id</a:t>
            </a:r>
          </a:p>
          <a:p>
            <a:pPr>
              <a:defRPr sz="1400">
                <a:solidFill>
                  <a:srgbClr val="FFFFFF"/>
                </a:solidFill>
                <a:latin typeface="Consolas"/>
              </a:defRPr>
            </a:pPr>
            <a:r>
              <a:t>  JOIN order_items oi ON o.order_id = oi.order_id</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Design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'Design a schema for an e-commerce app'</a:t>
            </a:r>
          </a:p>
          <a:p>
            <a:pPr>
              <a:spcAft>
                <a:spcPts val="1200"/>
              </a:spcAft>
              <a:defRPr sz="1800">
                <a:solidFill>
                  <a:srgbClr val="FFFFFF"/>
                </a:solidFill>
              </a:defRPr>
            </a:pPr>
            <a:r>
              <a:t>  Claude generates tables, relationships, indexes</a:t>
            </a:r>
          </a:p>
          <a:p>
            <a:pPr>
              <a:spcAft>
                <a:spcPts val="1200"/>
              </a:spcAft>
              <a:defRPr sz="1800">
                <a:solidFill>
                  <a:srgbClr val="FFFFFF"/>
                </a:solidFill>
              </a:defRPr>
            </a:pPr>
            <a:r>
              <a:t>  Normalized by default (3NF)</a:t>
            </a:r>
          </a:p>
          <a:p>
            <a:pPr>
              <a:spcAft>
                <a:spcPts val="1200"/>
              </a:spcAft>
              <a:defRPr sz="1800">
                <a:solidFill>
                  <a:srgbClr val="FFFFFF"/>
                </a:solidFill>
              </a:defRPr>
            </a:pPr>
            <a:r>
              <a:t>  Includes foreign keys and constraints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Optimize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'This query is slow — suggest indexes'</a:t>
            </a:r>
          </a:p>
          <a:p>
            <a:pPr>
              <a:spcAft>
                <a:spcPts val="1200"/>
              </a:spcAft>
              <a:defRPr sz="1800">
                <a:solidFill>
                  <a:srgbClr val="FFFFFF"/>
                </a:solidFill>
              </a:defRPr>
            </a:pPr>
            <a:r>
              <a:t>  Denormalization for read-heavy workloads</a:t>
            </a:r>
          </a:p>
          <a:p>
            <a:pPr>
              <a:spcAft>
                <a:spcPts val="1200"/>
              </a:spcAft>
              <a:defRPr sz="1800">
                <a:solidFill>
                  <a:srgbClr val="FFFFFF"/>
                </a:solidFill>
              </a:defRPr>
            </a:pPr>
            <a:r>
              <a:t>  Partitioning strategies for large tables</a:t>
            </a:r>
          </a:p>
          <a:p>
            <a:pPr>
              <a:spcAft>
                <a:spcPts val="1200"/>
              </a:spcAft>
              <a:defRPr sz="1800">
                <a:solidFill>
                  <a:srgbClr val="FFFFFF"/>
                </a:solidFill>
              </a:defRPr>
            </a:pPr>
            <a:r>
              <a:t>  Migration scripts for schema changes</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(slow query)</a:t>
            </a:r>
          </a:p>
          <a:p>
            <a:pPr>
              <a:defRPr sz="1400">
                <a:solidFill>
                  <a:srgbClr val="FFFFFF"/>
                </a:solidFill>
                <a:latin typeface="Consolas"/>
              </a:defRPr>
            </a:pPr>
            <a:r>
              <a:t>SELECT * FROM orders o</a:t>
            </a:r>
          </a:p>
          <a:p>
            <a:pPr>
              <a:defRPr sz="1400">
                <a:solidFill>
                  <a:srgbClr val="FFFFFF"/>
                </a:solidFill>
                <a:latin typeface="Consolas"/>
              </a:defRPr>
            </a:pPr>
            <a:r>
              <a:t>WHERE o.customer_id IN (</a:t>
            </a:r>
          </a:p>
          <a:p>
            <a:pPr>
              <a:defRPr sz="1400">
                <a:solidFill>
                  <a:srgbClr val="FFFFFF"/>
                </a:solidFill>
                <a:latin typeface="Consolas"/>
              </a:defRPr>
            </a:pPr>
            <a:r>
              <a:t>  SELECT customer_id FROM customers WHERE country = 'USA'</a:t>
            </a:r>
          </a:p>
          <a:p>
            <a:pPr>
              <a:defRPr sz="1400">
                <a:solidFill>
                  <a:srgbClr val="FFFFFF"/>
                </a:solidFill>
                <a:latin typeface="Consolas"/>
              </a:defRPr>
            </a:pPr>
            <a:r>
              <a:t>)</a:t>
            </a:r>
          </a:p>
          <a:p>
            <a:pPr>
              <a:defRPr sz="1400">
                <a:solidFill>
                  <a:srgbClr val="FFFFFF"/>
                </a:solidFill>
                <a:latin typeface="Consolas"/>
              </a:defRPr>
            </a:pPr>
            <a:r>
              <a:t>AND o.order_date &gt;= '2025-01-01';</a:t>
            </a:r>
          </a:p>
          <a:p>
            <a:pPr>
              <a:defRPr sz="1400">
                <a:solidFill>
                  <a:srgbClr val="FFFFFF"/>
                </a:solidFill>
                <a:latin typeface="Consolas"/>
              </a:defRPr>
            </a:pPr>
            <a:endParaRPr/>
          </a:p>
          <a:p>
            <a:pPr>
              <a:defRPr sz="1400">
                <a:solidFill>
                  <a:srgbClr val="FFFFFF"/>
                </a:solidFill>
                <a:latin typeface="Consolas"/>
              </a:defRPr>
            </a:pPr>
            <a:r>
              <a:t>-- AFTER (optimized by Claude Code)</a:t>
            </a:r>
          </a:p>
          <a:p>
            <a:pPr>
              <a:defRPr sz="1400">
                <a:solidFill>
                  <a:srgbClr val="FFFFFF"/>
                </a:solidFill>
                <a:latin typeface="Consolas"/>
              </a:defRPr>
            </a:pPr>
            <a:r>
              <a:t>SELECT </a:t>
            </a:r>
          </a:p>
          <a:p>
            <a:pPr>
              <a:defRPr sz="1400">
                <a:solidFill>
                  <a:srgbClr val="FFFFFF"/>
                </a:solidFill>
                <a:latin typeface="Consolas"/>
              </a:defRPr>
            </a:pPr>
            <a:r>
              <a:t>  o.order_id,</a:t>
            </a:r>
          </a:p>
          <a:p>
            <a:pPr>
              <a:defRPr sz="1400">
                <a:solidFill>
                  <a:srgbClr val="FFFFFF"/>
                </a:solidFill>
                <a:latin typeface="Consolas"/>
              </a:defRPr>
            </a:pPr>
            <a:r>
              <a:t>  o.customer_id,</a:t>
            </a:r>
          </a:p>
          <a:p>
            <a:pPr>
              <a:defRPr sz="1400">
                <a:solidFill>
                  <a:srgbClr val="FFFFFF"/>
                </a:solidFill>
                <a:latin typeface="Consolas"/>
              </a:defRPr>
            </a:pPr>
            <a:r>
              <a:t>  o.order_date,</a:t>
            </a:r>
          </a:p>
          <a:p>
            <a:pPr>
              <a:defRPr sz="1400">
                <a:solidFill>
                  <a:srgbClr val="FFFFFF"/>
                </a:solidFill>
                <a:latin typeface="Consolas"/>
              </a:defRPr>
            </a:pPr>
            <a:r>
              <a:t>  o.total_amount</a:t>
            </a:r>
          </a:p>
          <a:p>
            <a:pPr>
              <a:defRPr sz="1400">
                <a:solidFill>
                  <a:srgbClr val="FFFFFF"/>
                </a:solidFill>
                <a:latin typeface="Consolas"/>
              </a:defRPr>
            </a:pPr>
            <a:r>
              <a:t>FROM orders o</a:t>
            </a:r>
          </a:p>
          <a:p>
            <a:pPr>
              <a:defRPr sz="1400">
                <a:solidFill>
                  <a:srgbClr val="FFFFFF"/>
                </a:solidFill>
                <a:latin typeface="Consolas"/>
              </a:defRPr>
            </a:pPr>
            <a:r>
              <a:t>JOIN customers c ON o.customer_id = c.customer_id</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ETL &amp; Data Transformation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Extract &amp; Transform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CSV/JSON/XML parsing scripts</a:t>
            </a:r>
          </a:p>
          <a:p>
            <a:pPr>
              <a:spcAft>
                <a:spcPts val="1200"/>
              </a:spcAft>
              <a:defRPr sz="1800">
                <a:solidFill>
                  <a:srgbClr val="FFFFFF"/>
                </a:solidFill>
              </a:defRPr>
            </a:pPr>
            <a:r>
              <a:t>  Data cleaning and normalization</a:t>
            </a:r>
          </a:p>
          <a:p>
            <a:pPr>
              <a:spcAft>
                <a:spcPts val="1200"/>
              </a:spcAft>
              <a:defRPr sz="1800">
                <a:solidFill>
                  <a:srgbClr val="FFFFFF"/>
                </a:solidFill>
              </a:defRPr>
            </a:pPr>
            <a:r>
              <a:t>  Type conversion and validation</a:t>
            </a:r>
          </a:p>
          <a:p>
            <a:pPr>
              <a:spcAft>
                <a:spcPts val="1200"/>
              </a:spcAft>
              <a:defRPr sz="1800">
                <a:solidFill>
                  <a:srgbClr val="FFFFFF"/>
                </a:solidFill>
              </a:defRPr>
            </a:pPr>
            <a:r>
              <a:t>  Deduplication logic</a:t>
            </a:r>
          </a:p>
          <a:p>
            <a:pPr>
              <a:spcAft>
                <a:spcPts val="1200"/>
              </a:spcAft>
              <a:defRPr sz="1800">
                <a:solidFill>
                  <a:srgbClr val="FFFFFF"/>
                </a:solidFill>
              </a:defRPr>
            </a:pPr>
            <a:r>
              <a:t>  Error handling for malformed records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Load &amp; Validate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Bulk insert with transaction safety</a:t>
            </a:r>
          </a:p>
          <a:p>
            <a:pPr>
              <a:spcAft>
                <a:spcPts val="1200"/>
              </a:spcAft>
              <a:defRPr sz="1800">
                <a:solidFill>
                  <a:srgbClr val="FFFFFF"/>
                </a:solidFill>
              </a:defRPr>
            </a:pPr>
            <a:r>
              <a:t>  Upsert patterns (insert or update)</a:t>
            </a:r>
          </a:p>
          <a:p>
            <a:pPr>
              <a:spcAft>
                <a:spcPts val="1200"/>
              </a:spcAft>
              <a:defRPr sz="1800">
                <a:solidFill>
                  <a:srgbClr val="FFFFFF"/>
                </a:solidFill>
              </a:defRPr>
            </a:pPr>
            <a:r>
              <a:t>  Data quality checks post-load</a:t>
            </a:r>
          </a:p>
          <a:p>
            <a:pPr>
              <a:spcAft>
                <a:spcPts val="1200"/>
              </a:spcAft>
              <a:defRPr sz="1800">
                <a:solidFill>
                  <a:srgbClr val="FFFFFF"/>
                </a:solidFill>
              </a:defRPr>
            </a:pPr>
            <a:r>
              <a:t>  Rollback on validation failure</a:t>
            </a:r>
          </a:p>
          <a:p>
            <a:pPr>
              <a:spcAft>
                <a:spcPts val="1200"/>
              </a:spcAft>
              <a:defRPr sz="1800">
                <a:solidFill>
                  <a:srgbClr val="FFFFFF"/>
                </a:solidFill>
              </a:defRPr>
            </a:pPr>
            <a:r>
              <a:t>  Audit logging for data lineage</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Data Validation &amp; Quality Checks</a:t>
            </a:r>
          </a:p>
        </p:txBody>
      </p:sp>
      <p:sp>
        <p:nvSpPr>
          <p:cNvPr id="3" name="Rounded Rectangle 2"/>
          <p:cNvSpPr/>
          <p:nvPr/>
        </p:nvSpPr>
        <p:spPr>
          <a:xfrm>
            <a:off x="230108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Validation</a:t>
            </a:r>
          </a:p>
          <a:p>
            <a:pPr algn="ctr">
              <a:spcBef>
                <a:spcPts val="800"/>
              </a:spcBef>
              <a:defRPr sz="1300">
                <a:solidFill>
                  <a:srgbClr val="8B95A5"/>
                </a:solidFill>
              </a:defRPr>
            </a:pPr>
            <a:r>
              <a:t>Null checks, type enforcement</a:t>
            </a:r>
            <a:br/>
            <a:r>
              <a:t>Range validation (age 0-150)</a:t>
            </a:r>
            <a:br/>
            <a:r>
              <a:t>Format validation (email, phone)</a:t>
            </a:r>
            <a:br/>
            <a:r>
              <a:t>Referential integrity checks</a:t>
            </a:r>
          </a:p>
        </p:txBody>
      </p:sp>
      <p:sp>
        <p:nvSpPr>
          <p:cNvPr id="7" name="Rounded Rectangle 6"/>
          <p:cNvSpPr/>
          <p:nvPr/>
        </p:nvSpPr>
        <p:spPr>
          <a:xfrm>
            <a:off x="495284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Quality</a:t>
            </a:r>
          </a:p>
          <a:p>
            <a:pPr algn="ctr">
              <a:spcBef>
                <a:spcPts val="800"/>
              </a:spcBef>
              <a:defRPr sz="1300">
                <a:solidFill>
                  <a:srgbClr val="8B95A5"/>
                </a:solidFill>
              </a:defRPr>
            </a:pPr>
            <a:r>
              <a:t>Completeness: % of non-null values</a:t>
            </a:r>
            <a:br/>
            <a:r>
              <a:t>Consistency: cross-field logic checks</a:t>
            </a:r>
            <a:br/>
            <a:r>
              <a:t>Accuracy: pattern detection for outliers</a:t>
            </a:r>
            <a:br/>
            <a:r>
              <a:t>Timeliness: stale data flagging</a:t>
            </a:r>
          </a:p>
        </p:txBody>
      </p:sp>
      <p:sp>
        <p:nvSpPr>
          <p:cNvPr id="11" name="Rounded Rectangle 10"/>
          <p:cNvSpPr/>
          <p:nvPr/>
        </p:nvSpPr>
        <p:spPr>
          <a:xfrm>
            <a:off x="760460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Automation</a:t>
            </a:r>
          </a:p>
          <a:p>
            <a:pPr algn="ctr">
              <a:spcBef>
                <a:spcPts val="800"/>
              </a:spcBef>
              <a:defRPr sz="1300">
                <a:solidFill>
                  <a:srgbClr val="8B95A5"/>
                </a:solidFill>
              </a:defRPr>
            </a:pPr>
            <a:r>
              <a:t>'Build a data quality report for this dataset'</a:t>
            </a:r>
            <a:br/>
            <a:r>
              <a:t>Claude generates validation scripts</a:t>
            </a:r>
            <a:br/>
            <a:r>
              <a:t>Runs checks and reports issues</a:t>
            </a:r>
            <a:br/>
            <a:r>
              <a:t>Suggests fixes for common problems</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2D: Ship It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The leverage: A working prototype beats a 20-page spec.</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 @ mentions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 Context management</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 Slash commands</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26588</Words>
  <Application>Microsoft Office PowerPoint</Application>
  <PresentationFormat>Widescreen</PresentationFormat>
  <Paragraphs>2934</Paragraphs>
  <Slides>117</Slides>
  <Notes>115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2026-03-02T01:59:16Z</dcterms:modified>
  <cp:category/>
</cp:coreProperties>
</file>