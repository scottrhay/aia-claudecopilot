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2! Yesterday you learned to talk to Claude - today you'll learn to build with it. By the end of this session, Claude Code will feel like having a senior developer pair programming with you.</a:t>
            </a:r>
          </a:p>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p>
            <a:r>
              <a:t>REAL-WORLD EXAMPLE:</a:t>
            </a:r>
          </a:p>
          <a:p>
            <a:r>
              <a:t>   One of our developers used Claude Code last week to refactor 47 files in a legacy codebase in under 30 minutes - something that would have taken days manually. That's the power we're unlocking today.</a:t>
            </a:r>
          </a:p>
          <a:p/>
          <a:p>
            <a:r>
              <a:t>TRANSITION:</a:t>
            </a:r>
          </a:p>
          <a:p>
            <a:r>
              <a:t>   Let's look at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 a packed day, but every minute is hands-on and practical - no theoretical fluff.</a:t>
            </a:r>
          </a:p>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p>
            <a:r>
              <a:t>REAL-WORLD EXAMPLE:</a:t>
            </a:r>
          </a:p>
          <a:p>
            <a:r>
              <a:t>   I've trained over 200 developers on Claude Code. The ones who grasp the agentic loop in the morning hit the ground running. The ones who skip it struggle for weeks.</a:t>
            </a:r>
          </a:p>
          <a:p/>
          <a:p>
            <a:r>
              <a:t>TRANSITION:</a:t>
            </a:r>
          </a:p>
          <a:p>
            <a:r>
              <a:t>   Let's talk about what you'll actually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Nine objectives today. This might look intimidating, but they build on each other logically. By lunch you'll have five of these checked off.</a:t>
            </a:r>
          </a:p>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p>
            <a:r>
              <a:t>TRANSITION:</a:t>
            </a:r>
          </a:p>
          <a:p>
            <a:r>
              <a:t>   Here's what you'll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These aren't tutorial projects. These are the exact types of tasks you'll do next week at your desk.</a:t>
            </a:r>
          </a:p>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p>
            <a:r>
              <a:t>TRANSITION:</a:t>
            </a:r>
          </a:p>
          <a:p>
            <a:r>
              <a:t>   Before we dive into installation, let's make sure we're all on the same page about what Claude Code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p>
            <a:r>
              <a:t>ASK THE CLASS:</a:t>
            </a:r>
          </a:p>
          <a:p>
            <a:r>
              <a:t>   "How many hours per week do you spend copy-pasting context into AI tools? What if that went to zero?"</a:t>
            </a:r>
          </a:p>
          <a:p>
            <a:r>
              <a:t>   [PAUSE for 30-60 seconds]</a:t>
            </a:r>
          </a:p>
          <a:p/>
          <a:p>
            <a:r>
              <a:t>REAL-WORLD EXAMPLE:</a:t>
            </a:r>
          </a:p>
          <a:p>
            <a:r>
              <a:t>   A PM creates a folder with competitors.md, analysis-template.md, and CLAUDE.md with instructions. Types 'analyse competitors' — Claude Code does the research automatically using folder context. No copy-pasting.</a:t>
            </a:r>
          </a:p>
          <a:p/>
          <a:p>
            <a:r>
              <a:t>TRANSITION:</a:t>
            </a:r>
          </a:p>
          <a:p>
            <a:r>
              <a:t>   Let's get Claude Code installed so you can experience this shift firsthand.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Before we dive in, let's set expectations. Claude Code is incredibly powerful, but it's not replacing your engineering team. Think of it as letting you validate before consuming engineering resources.</a:t>
            </a:r>
          </a:p>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p>
            <a:r>
              <a:t>ASK THE CLASS:</a:t>
            </a:r>
          </a:p>
          <a:p>
            <a:r>
              <a:t>   "Have you ever had an idea killed in committee that might have survived if you could show a working prototype?"</a:t>
            </a:r>
          </a:p>
          <a:p>
            <a:r>
              <a:t>   [PAUSE for 30-60 seconds]</a:t>
            </a:r>
          </a:p>
          <a:p/>
          <a:p>
            <a:r>
              <a:t>REAL-WORLD EXAMPLE:</a:t>
            </a:r>
          </a:p>
          <a:p>
            <a:r>
              <a:t>   CEO asks 'can we build X?' — PM prototypes in 2 hours with Claude Code — shows CEO working demo — engineering sees clear requirements — estimate drops from 3 weeks to 1 week.</a:t>
            </a:r>
          </a:p>
          <a:p/>
          <a:p>
            <a:r>
              <a:t>TRANSITION:</a:t>
            </a:r>
          </a:p>
          <a:p>
            <a:r>
              <a:t>   Now let's get set up so you can start building prototypes like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Installation is quick, but configuration is where the magic happens. We'll do both.</a:t>
            </a:r>
          </a:p>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p>
            <a:r>
              <a:t>TRANSITION:</a:t>
            </a:r>
          </a:p>
          <a:p>
            <a:r>
              <a:t>   First, let's check if your machine is ready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Everyone pull up a terminal right now and type 'node --version' - I'll wait. If you see a number starting with 18, 20, or 22, you're golden.</a:t>
            </a:r>
          </a:p>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p>
            <a:r>
              <a:t>ASK THE CLASS:</a:t>
            </a:r>
          </a:p>
          <a:p>
            <a:r>
              <a:t>   "Anyone stuck on the Node or Git version check? Speak up now - we'll get you sorted."</a:t>
            </a:r>
          </a:p>
          <a:p>
            <a:r>
              <a:t>   [PAUSE for 30-60 seconds]</a:t>
            </a:r>
          </a:p>
          <a:p/>
          <a:p>
            <a:r>
              <a:t>REAL-WORLD EXAMPLE:</a:t>
            </a:r>
          </a:p>
          <a:p>
            <a:r>
              <a:t>   I've had students try to run Claude Code on Node 16 and wonder why commands fail intermittently. The minimum version exists for a reason - async behavior and module resolution changed significantly in Node 18.</a:t>
            </a:r>
          </a:p>
          <a:p/>
          <a:p>
            <a:r>
              <a:t>TRANSITION:</a:t>
            </a:r>
          </a:p>
          <a:p>
            <a:r>
              <a:t>   Assuming we're all good on requirements, let's install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Three ways to install, but I'm going to tell you which one to use: npm global install. Here's why.</a:t>
            </a:r>
          </a:p>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p>
            <a:r>
              <a:t>ASK THE CLASS:</a:t>
            </a:r>
          </a:p>
          <a:p>
            <a:r>
              <a:t>   "Who's installing right now? Give me a thumbs up in chat when you see a version number."</a:t>
            </a:r>
          </a:p>
          <a:p>
            <a:r>
              <a:t>   [PAUSE for 30-60 seconds]</a:t>
            </a:r>
          </a:p>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p>
            <a:r>
              <a:t>TRANSITION:</a:t>
            </a:r>
          </a:p>
          <a:p>
            <a:r>
              <a:t>   You've got the CLI installed - now let's authenticate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Authentication is a one-time thing, but you need to understand where your API key lives and how Claude Code uses it.</a:t>
            </a:r>
          </a:p>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p>
            <a:r>
              <a:t>ASK THE CLASS:</a:t>
            </a:r>
          </a:p>
          <a:p>
            <a:r>
              <a:t>   "Everyone run 'claude login' and 'claude whoami' right now - I want to see your account email appear. If it fails, you might have firewall or proxy issues."</a:t>
            </a:r>
          </a:p>
          <a:p>
            <a:r>
              <a:t>   [PAUSE for 30-60 seconds]</a:t>
            </a:r>
          </a:p>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p>
            <a:r>
              <a:t>TRANSITION:</a:t>
            </a:r>
          </a:p>
          <a:p>
            <a:r>
              <a:t>   Now that you're authenticated, let's talk about which model to use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Model selection is like choosing between a Honda Civic, a BMW, and a Tesla - they all get you there, but the experience and cost differ wildly.</a:t>
            </a:r>
          </a:p>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p>
            <a:r>
              <a:t>ASK THE CLASS:</a:t>
            </a:r>
          </a:p>
          <a:p>
            <a:r>
              <a:t>   "What kind of tasks do you do most often - quick refactoring and docs, or deep architectural work? That'll guide your default model choice."</a:t>
            </a:r>
          </a:p>
          <a:p>
            <a:r>
              <a:t>   [PAUSE for 30-60 seconds]</a:t>
            </a:r>
          </a:p>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p>
            <a:r>
              <a:t>TRANSITION:</a:t>
            </a:r>
          </a:p>
          <a:p>
            <a:r>
              <a:t>   Let's run your first Claude Code command and see this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Alright, talking time is over - let's actually see Claude Code do something. Everyone follow along on your own machine.</a:t>
            </a:r>
          </a:p>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p>
            <a:r>
              <a:t>REAL-WORLD EXAMPLE:</a:t>
            </a:r>
          </a:p>
          <a:p>
            <a:r>
              <a:t>   This is a trivial example, but the pattern is identical whether you're creating a single hello world script or refactoring 50 files - read, plan, execute, verify. You just saw the entire agentic loop in 10 seconds.</a:t>
            </a:r>
          </a:p>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p>
            <a:r>
              <a:t>TRANSITION:</a:t>
            </a:r>
          </a:p>
          <a:p>
            <a:r>
              <a:t>   That was your first taste - now let's dive deep into how the agentic loop actually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This is the most important section of the entire day. If you understand the agentic loop, everything else will click. If you don't, you'll be fighting the tool constantly.</a:t>
            </a:r>
          </a:p>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p>
            <a:r>
              <a:t>TRANSITION:</a:t>
            </a:r>
          </a:p>
          <a:p>
            <a:r>
              <a:t>   Let's visualize the loop first, then break down each stage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 it is - the five-stage cycle that powers every single action Claude Code takes. This graphic should be burned into your brain by end of day.</a:t>
            </a:r>
          </a:p>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p>
            <a:r>
              <a:t>ASK THE CLASS:</a:t>
            </a:r>
          </a:p>
          <a:p>
            <a:r>
              <a:t>   "When you debug code manually, do you follow a similar loop? Read code, understand it, plan a fix, implement it, test it? Claude Code is doing the exact same thing you do, just faster."</a:t>
            </a:r>
          </a:p>
          <a:p>
            <a:r>
              <a:t>   [PAUSE for 30-60 seconds]</a:t>
            </a:r>
          </a:p>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p>
            <a:r>
              <a:t>TRANSITION:</a:t>
            </a:r>
          </a:p>
          <a:p>
            <a:r>
              <a:t>   Let's break down stage one: 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Read stage is where Claude Code builds its understanding of your project - think of it as the AI reading your entire codebase before touching anything.</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Analysis is where Claude Code gets smart - it's not just seeing your code, it's understanding your code's personality and quirks.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Planning is where Claude Code thinks like a senior engineer - it's not just doing what you asked, it's figuring out the safest, smartest way to do it.</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Execute is where the rubber meets the road - Claude Code stops planning and starts making changes to your actual files.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Verification is Claude Code's quality control - it doesn't just make changes and hope they work, it actively checks that everything is good before calling it done.</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p>
            <a:r>
              <a:t>ASK THE CLASS:</a:t>
            </a:r>
          </a:p>
          <a:p>
            <a:r>
              <a:t>   "Think about the last time you tried to implement a complex feature all at once. How much easier would it have been if you'd broken it into 5 testable steps?"</a:t>
            </a:r>
          </a:p>
          <a:p>
            <a:r>
              <a:t>   [PAUSE for 30-60 seconds]</a:t>
            </a:r>
          </a:p>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Okay, I'm going to run a real task and we're going to pause at each stage so you can see the loop in action. This is not a rehearsed demo - whatever happens, happens.</a:t>
            </a:r>
          </a:p>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p>
            <a:r>
              <a:t>REAL-WORLD EXAMPLE:</a:t>
            </a:r>
          </a:p>
          <a:p>
            <a:r>
              <a:t>   Every single task follows this loop, no matter how simple or complex. The difference is speed - simple tasks complete in one iteration, complex tasks might loop 3-4 times.</a:t>
            </a:r>
          </a:p>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p>
            <a:r>
              <a:t>TRANSITION:</a:t>
            </a:r>
          </a:p>
          <a:p>
            <a:r>
              <a:t>   The loop doesn't always work perfectly - let's talk about what happens when things go wrong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but not magic - it can fail, and when it does, you need to know how to get it back on track. Let's talk about the most common failure modes.</a:t>
            </a:r>
          </a:p>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p>
            <a:r>
              <a:t>TRANSITION:</a:t>
            </a:r>
          </a:p>
          <a:p>
            <a:r>
              <a:t>   Now that you understand the engine, let's talk about how to configure it with CLAUDE.md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CLAUDE.md is the secret weapon of advanced Claude Code users - it's how you train Claude Code to work exactly the way your team works.</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Imagine a new developer joining your team. You'd give them a README, style guide, contribution guidelines, right? CLAUDE.md is all of that, but for Claude Code.</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a minimal but effective CLAUDE.md - it gives Claude Code everything it needs to work like a team member who's been here for months.</a:t>
            </a:r>
          </a:p>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p>
            <a:r>
              <a:t>ASK THE CLASS:</a:t>
            </a:r>
          </a:p>
          <a:p>
            <a:r>
              <a:t>   "What's one convention or rule in your current project that new developers always get wrong initially? That's exactly what should go in CLAUDE.md."</a:t>
            </a:r>
          </a:p>
          <a:p>
            <a:r>
              <a:t>   [PAUSE for 30-60 seconds]</a:t>
            </a:r>
          </a:p>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p>
            <a:r>
              <a:t>TRANSITION:</a:t>
            </a:r>
          </a:p>
          <a:p>
            <a:r>
              <a:t>   Beyond conventions, CLAUDE.md can include team settings and style guides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Team Settings &amp; Style Guides.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Advanced: Model Preferences &amp; Custom Rules.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p>
            <a:r>
              <a:t>ASK THE CLASS:</a:t>
            </a:r>
          </a:p>
          <a:p>
            <a:r>
              <a:t>   "What context do you find yourself repeating to AI tools? That's what belongs in your CLAUDE.md."</a:t>
            </a:r>
          </a:p>
          <a:p>
            <a:r>
              <a:t>   [PAUSE for 30-60 seconds]</a:t>
            </a:r>
          </a:p>
          <a:p/>
          <a:p>
            <a:r>
              <a:t>DEMO:</a:t>
            </a:r>
          </a:p>
          <a:p>
            <a:r>
              <a:t>   Show a PM-focused CLAUDE.md: product context, competitors, templates. Then ask Claude to analyze a competitor — watch it use the context automatically without being told.</a:t>
            </a:r>
          </a:p>
          <a:p/>
          <a:p>
            <a:r>
              <a:t>TRANSITION:</a:t>
            </a:r>
          </a:p>
          <a:p>
            <a:r>
              <a:t>   Let's see how @ mentions let you point Claude at specific files and folders.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CLAUDE.md Best Practices.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p>
            <a:r>
              <a:t>TRANSITION:</a:t>
            </a:r>
          </a:p>
          <a:p>
            <a:r>
              <a:t>   Now let's see how @ mentions let you feed specific context beyond CLAUDE.md.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how folder-based context eliminates copy-pasting entirely.</a:t>
            </a:r>
          </a:p>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p>
            <a:r>
              <a:t>DEMO:</a:t>
            </a:r>
          </a:p>
          <a:p>
            <a:r>
              <a:t>   Pre-create a competitors/ folder with competitors.md (3 real competitors), analysis-template.md (SWOT or similar), and CLAUDE.md with routing instructions. Run the command live. Show the generated output.</a:t>
            </a:r>
          </a:p>
          <a:p/>
          <a:p>
            <a:r>
              <a:t>TRANSITION:</a:t>
            </a:r>
          </a:p>
          <a:p>
            <a:r>
              <a:t>   That's the power of file-based context. Let's dig deeper into how context management works.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Mentions &amp; Context Feeding.</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Mentioning Files.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Folders, URLs, Git Commits.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Building Context: Focused vs Broad.</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Feeding Techniques.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Alright, we've covered installation, the agentic loop, CLAUDE.md, and @ mentions - that's a lot of concepts. Take 15 minutes, grab coffee, stretch your legs.</a:t>
            </a:r>
          </a:p>
          <a:p/>
          <a:p>
            <a:r>
              <a:t>KEY POINTS:</a:t>
            </a:r>
          </a:p>
          <a:p>
            <a:r>
              <a:t>   * When we come back, we're diving into context management and token limits - this is where people often get stuck</a:t>
            </a:r>
          </a:p>
          <a:p/>
          <a:p>
            <a:r>
              <a:t>TRANSITION:</a:t>
            </a:r>
          </a:p>
          <a:p>
            <a:r>
              <a:t>   See you in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Management.</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How Claude Code Reads Your Workspace.</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What's in Context Right Now.</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Token limits are rarely a problem if you understand what burns tokens and how to avoid it. Let's talk about the common culprits and fixes.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uses the exact same syntax as .gitignore - if you know one, you know the other. Let's look at essential patterns.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working on a codebase with 1000+ files, you need strategies beyond .claudeignore.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p>
            <a:r>
              <a:t>TRANSITION:</a:t>
            </a:r>
          </a:p>
          <a:p>
            <a:r>
              <a:t>   Now let's optimize your context management with a hands-on demo.</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 me show you a real scenario - I'm going to optimize context and watch tokens drop.</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Welcome back from lunch! This afternoon is all about power user features. We're starting with slash commands - these are your session control panel.</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There are about 15 slash commands total - you don't need to memorize them all, but knowing these core ones makes you way more effective.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These three commands control your session state - think of them as save, reset, and optimize.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Being able to switch models mid-session is like having three different experts on call - you pick the right one for the job at hand.</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Permissions are your safety net - they control how much autonomy Claude Code has.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Output control commands let you adjust how much or how little Claude Code tells you.</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next-level - you can create your own slash commands that encode your team's common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Alright, I'm going to run through a rapid-fire demo of the most useful commands in one session.</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p>
            <a:r>
              <a:t>ASK THE CLASS:</a:t>
            </a:r>
          </a:p>
          <a:p>
            <a:r>
              <a:t>   "How many times have you asked an AI to do something and it changed files you didn't expect?"</a:t>
            </a:r>
          </a:p>
          <a:p>
            <a:r>
              <a:t>   [PAUSE for 30-60 seconds]</a:t>
            </a:r>
          </a:p>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p>
            <a:r>
              <a:t>TRANSITION:</a:t>
            </a:r>
          </a:p>
          <a:p>
            <a:r>
              <a:t>   Let me show you the difference in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the difference between asking Claude to just DO something versus asking it to PLAN first.</a:t>
            </a:r>
          </a:p>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p>
            <a:r>
              <a:t>DEMO:</a:t>
            </a:r>
          </a:p>
          <a:p>
            <a:r>
              <a:t>   Use sample-project. First attempt: 'Add JWT authentication to this API' without planning. Show the mess. Then /clear, Shift+Tab, same prompt. Show the clean plan. Approve and execute.</a:t>
            </a:r>
          </a:p>
          <a:p/>
          <a:p>
            <a:r>
              <a:t>TRANSITION:</a:t>
            </a:r>
          </a:p>
          <a:p>
            <a:r>
              <a:t>   Plan Mode is your first line of defense. Now let's talk about another pattern that prevents wasted work.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Not everything needs Plan Mode. Here's the rule of thumb: if a task would take a senior engineer more than one focused session to think through, it needs planning. If you can verify the result in 10 seconds, skip it.</a:t>
            </a:r>
          </a:p>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p>
            <a:r>
              <a:t>TRANSITION:</a:t>
            </a:r>
          </a:p>
          <a:p>
            <a:r>
              <a:t>   Now let's talk about another powerful pattern — the Interview Me technique.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p>
            <a:r>
              <a:t>ASK THE CLASS:</a:t>
            </a:r>
          </a:p>
          <a:p>
            <a:r>
              <a:t>   "Think about your last feature build. What questions SHOULD you have answered upfront but discovered the hard way?"</a:t>
            </a:r>
          </a:p>
          <a:p>
            <a:r>
              <a:t>   [PAUSE for 30-60 seconds]</a:t>
            </a:r>
          </a:p>
          <a:p/>
          <a:p>
            <a:r>
              <a:t>DEMO:</a:t>
            </a:r>
          </a:p>
          <a:p>
            <a:r>
              <a:t>   Live: Tell Claude 'I want to add a notification system to this API. Interview me about implementation details.' Show Claude asking 3-4 probing questions. Answer them. Watch Claude generate SPEC.md.</a:t>
            </a:r>
          </a:p>
          <a:p/>
          <a:p>
            <a:r>
              <a:t>TRANSITION:</a:t>
            </a:r>
          </a:p>
          <a:p>
            <a:r>
              <a:t>   Now let's talk about the discipline that makes everything else work — session hygiene.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p>
            <a:r>
              <a:t>ASK THE CLASS:</a:t>
            </a:r>
          </a:p>
          <a:p>
            <a:r>
              <a:t>   "How many of you have had Claude 'forget' what you told it 20 messages ago? That's context degradation."</a:t>
            </a:r>
          </a:p>
          <a:p>
            <a:r>
              <a:t>   [PAUSE for 30-60 seconds]</a:t>
            </a:r>
          </a:p>
          <a:p/>
          <a:p>
            <a:r>
              <a:t>DEMO:</a:t>
            </a:r>
          </a:p>
          <a:p>
            <a:r>
              <a:t>   Do 4 quick unrelated tasks in one session without clearing. Show response quality dropping on task 4. Then /clear, redo task 4, show dramatic quality improvement.</a:t>
            </a:r>
          </a:p>
          <a:p/>
          <a:p>
            <a:r>
              <a:t>TRANSITION:</a:t>
            </a:r>
          </a:p>
          <a:p>
            <a:r>
              <a:t>   Now let's look at the permissions model that keeps your code safe.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p>
            <a:r>
              <a:t>TRANSITION:</a:t>
            </a:r>
          </a:p>
          <a:p>
            <a:r>
              <a:t>   This decomposition discipline applies to everything we'll do today. Now let's set up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which means you need guardrails. This section is about building safe AI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Code's security model is based on trust-but-verify - you configure the level of trust based on risk.</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these as traffic lights - red for stop and review, yellow for caution, green for go fast.</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Allowlists and blocklists are like firewall rules for Claude Code.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isn't just for token optimization - it's a critical security tool that prevents Claude Code from ever seeing sensitive files.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in a regulated industry, enterprise security features ensure compliance.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p>
            <a:r>
              <a:t>TRANSITION:</a:t>
            </a:r>
          </a:p>
          <a:p>
            <a:r>
              <a:t>   Let's configure these permissions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comes from Nate B Jones' 'Second Brain' video - the idea that AI assistants should be cautious by default, not reckless. Claude Code embodies this perfectly.</a:t>
            </a:r>
          </a:p>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Let's configure security boundaries and test them - I want you to see how these controls actually work.</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Quick 15-minute break.</a:t>
            </a:r>
          </a:p>
          <a:p/>
          <a:p>
            <a:r>
              <a:t>KEY POINTS:</a:t>
            </a:r>
          </a:p>
          <a:p>
            <a:r>
              <a:t>   * Git integration next</a:t>
            </a:r>
          </a:p>
          <a:p/>
          <a:p>
            <a:r>
              <a:t>TRANSITION:</a:t>
            </a:r>
          </a:p>
          <a:p>
            <a:r>
              <a:t>   Back in 15</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Git integration is where Claude Code shines.</a:t>
            </a:r>
          </a:p>
          <a:p/>
          <a:p>
            <a:r>
              <a:t>KEY POINTS:</a:t>
            </a:r>
          </a:p>
          <a:p>
            <a:r>
              <a:t>   * Manages entire workflow</a:t>
            </a:r>
          </a:p>
          <a:p/>
          <a:p>
            <a:r>
              <a:t>TRANSITION:</a:t>
            </a:r>
          </a:p>
          <a:p>
            <a:r>
              <a:t>   Auto-commits first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writes better commit messages than most humans.</a:t>
            </a:r>
          </a:p>
          <a:p/>
          <a:p>
            <a:r>
              <a:t>KEY POINTS:</a:t>
            </a:r>
          </a:p>
          <a:p>
            <a:r>
              <a:t>   * Knows what changed and why</a:t>
            </a:r>
          </a:p>
          <a:p>
            <a:r>
              <a:t>   * Follows conventions</a:t>
            </a:r>
          </a:p>
          <a:p>
            <a:r>
              <a:t>   * Saves time</a:t>
            </a:r>
          </a:p>
          <a:p/>
          <a:p>
            <a:r>
              <a:t>REAL-WORLD EXAMPLE:</a:t>
            </a:r>
          </a:p>
          <a:p>
            <a:r>
              <a:t>   Student's commits went from 'fixes' to detailed feat/fix messages.</a:t>
            </a:r>
          </a:p>
          <a:p/>
          <a:p>
            <a:r>
              <a:t>TRANSITION:</a:t>
            </a:r>
          </a:p>
          <a:p>
            <a:r>
              <a:t>   Branch management next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Perfect branch names every time.</a:t>
            </a:r>
          </a:p>
          <a:p/>
          <a:p>
            <a:r>
              <a:t>KEY POINTS:</a:t>
            </a:r>
          </a:p>
          <a:p>
            <a:r>
              <a:t>   * Follows CLAUDE.md rules</a:t>
            </a:r>
          </a:p>
          <a:p>
            <a:r>
              <a:t>   * Consistent naming</a:t>
            </a:r>
          </a:p>
          <a:p>
            <a:r>
              <a:t>   * No mistakes</a:t>
            </a:r>
          </a:p>
          <a:p/>
          <a:p>
            <a:r>
              <a:t>REAL-WORLD EXAMPLE:</a:t>
            </a:r>
          </a:p>
          <a:p>
            <a:r>
              <a:t>   Team went from 60% to 100% naming compliance.</a:t>
            </a:r>
          </a:p>
          <a:p/>
          <a:p>
            <a:r>
              <a:t>TRANSITION:</a:t>
            </a:r>
          </a:p>
          <a:p>
            <a:r>
              <a:t>   Commit messages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Real commit messages from Claude Code.</a:t>
            </a:r>
          </a:p>
          <a:p/>
          <a:p>
            <a:r>
              <a:t>KEY POINTS:</a:t>
            </a:r>
          </a:p>
          <a:p>
            <a:r>
              <a:t>   * Detailed and structured</a:t>
            </a:r>
          </a:p>
          <a:p>
            <a:r>
              <a:t>   * Explains what and why</a:t>
            </a:r>
          </a:p>
          <a:p>
            <a:r>
              <a:t>   * Searchable history</a:t>
            </a:r>
          </a:p>
          <a:p/>
          <a:p>
            <a:r>
              <a:t>REAL-WORLD EXAMPLE:</a:t>
            </a:r>
          </a:p>
          <a:p>
            <a:r>
              <a:t>   Developer found bug fix in seconds by searching 'refactor(database)'.</a:t>
            </a:r>
          </a:p>
          <a:p/>
          <a:p>
            <a:r>
              <a:t>TRANSITION:</a:t>
            </a:r>
          </a:p>
          <a:p>
            <a:r>
              <a:t>   PR creation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PR descriptions in seconds.</a:t>
            </a:r>
          </a:p>
          <a:p/>
          <a:p>
            <a:r>
              <a:t>KEY POINTS:</a:t>
            </a:r>
          </a:p>
          <a:p>
            <a:r>
              <a:t>   * What, why, how, testing</a:t>
            </a:r>
          </a:p>
          <a:p>
            <a:r>
              <a:t>   * Linked issues</a:t>
            </a:r>
          </a:p>
          <a:p>
            <a:r>
              <a:t>   * Checklist included</a:t>
            </a:r>
          </a:p>
          <a:p/>
          <a:p>
            <a:r>
              <a:t>REAL-WORLD EXAMPLE:</a:t>
            </a:r>
          </a:p>
          <a:p>
            <a:r>
              <a:t>   Junior dev's Claude-generated PR was called 'best-documented in months'.</a:t>
            </a:r>
          </a:p>
          <a:p/>
          <a:p>
            <a:r>
              <a:t>TRANSITION:</a:t>
            </a:r>
          </a:p>
          <a:p>
            <a:r>
              <a:t>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Git history analysis made easy.</a:t>
            </a:r>
          </a:p>
          <a:p/>
          <a:p>
            <a:r>
              <a:t>KEY POINTS:</a:t>
            </a:r>
          </a:p>
          <a:p>
            <a:r>
              <a:t>   * Answers 'who/when/why'</a:t>
            </a:r>
          </a:p>
          <a:p>
            <a:r>
              <a:t>   * Identifies patterns</a:t>
            </a:r>
          </a:p>
          <a:p>
            <a:r>
              <a:t>   * Generates changelogs</a:t>
            </a:r>
          </a:p>
          <a:p/>
          <a:p>
            <a:r>
              <a:t>REAL-WORLD EXAMPLE:</a:t>
            </a:r>
          </a:p>
          <a:p>
            <a:r>
              <a:t>   Found bug introduction by asking Claude Code to analyze history.</a:t>
            </a:r>
          </a:p>
          <a:p/>
          <a:p>
            <a:r>
              <a:t>TRANSITION:</a:t>
            </a:r>
          </a:p>
          <a:p>
            <a:r>
              <a:t>   Platform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Both platforms supported.</a:t>
            </a:r>
          </a:p>
          <a:p/>
          <a:p>
            <a:r>
              <a:t>KEY POINTS:</a:t>
            </a:r>
          </a:p>
          <a:p>
            <a:r>
              <a:t>   * Same concepts</a:t>
            </a:r>
          </a:p>
          <a:p>
            <a:r>
              <a:t>   * Syntax varies slightly</a:t>
            </a:r>
          </a:p>
          <a:p>
            <a:r>
              <a:t>   * Choose your platform</a:t>
            </a:r>
          </a:p>
          <a:p/>
          <a:p>
            <a:r>
              <a:t>REAL-WORLD EXAMPLE:</a:t>
            </a:r>
          </a:p>
          <a:p>
            <a:r>
              <a:t>   Team switched GitHub to GitLab, Claude Code config took 5 minutes.</a:t>
            </a:r>
          </a:p>
          <a:p/>
          <a:p>
            <a:r>
              <a:t>TRANSITION:</a:t>
            </a:r>
          </a:p>
          <a:p>
            <a:r>
              <a:t>   Complete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Complete Git workflow automated.</a:t>
            </a:r>
          </a:p>
          <a:p/>
          <a:p>
            <a:r>
              <a:t>KEY POINTS:</a:t>
            </a:r>
          </a:p>
          <a:p>
            <a:r>
              <a:t>   * End-to-end flow</a:t>
            </a:r>
          </a:p>
          <a:p>
            <a:r>
              <a:t>   * Everything connected</a:t>
            </a:r>
          </a:p>
          <a:p>
            <a:r>
              <a:t>   * Production-ready</a:t>
            </a:r>
          </a:p>
          <a:p/>
          <a:p>
            <a:r>
              <a:t>REAL-WORLD EXAMPLE:</a:t>
            </a:r>
          </a:p>
          <a:p>
            <a:r>
              <a:t>   This is the daily workflow.</a:t>
            </a:r>
          </a:p>
          <a:p/>
          <a:p>
            <a:r>
              <a:t>DEMO:</a:t>
            </a:r>
          </a:p>
          <a:p>
            <a:r>
              <a:t>   Live demo: create branch, implement feature, commit, push, create PR. All via Claude Code.</a:t>
            </a:r>
          </a:p>
          <a:p/>
          <a:p>
            <a:r>
              <a:t>TRANSITION:</a:t>
            </a:r>
          </a:p>
          <a:p>
            <a:r>
              <a:t>   File operations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Real workflows you'll use daily.</a:t>
            </a:r>
          </a:p>
          <a:p/>
          <a:p>
            <a:r>
              <a:t>KEY POINTS:</a:t>
            </a:r>
          </a:p>
          <a:p>
            <a:r>
              <a:t>   * Complete toolkit</a:t>
            </a:r>
          </a:p>
          <a:p/>
          <a:p>
            <a:r>
              <a:t>TRANSITION:</a:t>
            </a:r>
          </a:p>
          <a:p>
            <a:r>
              <a:t>   File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Precise file operations.</a:t>
            </a:r>
          </a:p>
          <a:p/>
          <a:p>
            <a:r>
              <a:t>KEY POINTS:</a:t>
            </a:r>
          </a:p>
          <a:p>
            <a:r>
              <a:t>   * Coordinated changes</a:t>
            </a:r>
          </a:p>
          <a:p>
            <a:r>
              <a:t>   * Dependency tracking</a:t>
            </a:r>
          </a:p>
          <a:p>
            <a:r>
              <a:t>   * Verification</a:t>
            </a:r>
          </a:p>
          <a:p/>
          <a:p>
            <a:r>
              <a:t>REAL-WORLD EXAMPLE:</a:t>
            </a:r>
          </a:p>
          <a:p>
            <a:r>
              <a:t>   Renamed function across 30 files flawlessly.</a:t>
            </a:r>
          </a:p>
          <a:p/>
          <a:p>
            <a:r>
              <a:t>TRANSITION:</a:t>
            </a:r>
          </a:p>
          <a:p>
            <a:r>
              <a:t>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Refactoring 10+ files is error-prone manually.</a:t>
            </a:r>
          </a:p>
          <a:p/>
          <a:p>
            <a:r>
              <a:t>KEY POINTS:</a:t>
            </a:r>
          </a:p>
          <a:p>
            <a:r>
              <a:t>   * Claude Code handles precision</a:t>
            </a:r>
          </a:p>
          <a:p>
            <a:r>
              <a:t>   * Updates imports</a:t>
            </a:r>
          </a:p>
          <a:p>
            <a:r>
              <a:t>   * Verifies changes</a:t>
            </a:r>
          </a:p>
          <a:p/>
          <a:p>
            <a:r>
              <a:t>REAL-WORLD EXAMPLE:</a:t>
            </a:r>
          </a:p>
          <a:p>
            <a:r>
              <a:t>   Split large class into 5 modules, updated all callers.</a:t>
            </a:r>
          </a:p>
          <a:p/>
          <a:p>
            <a:r>
              <a:t>TRANSITION:</a:t>
            </a:r>
          </a:p>
          <a:p>
            <a:r>
              <a:t>   Code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Why write boilerplate 100 times?</a:t>
            </a:r>
          </a:p>
          <a:p/>
          <a:p>
            <a:r>
              <a:t>KEY POINTS:</a:t>
            </a:r>
          </a:p>
          <a:p>
            <a:r>
              <a:t>   * CRUD generation</a:t>
            </a:r>
          </a:p>
          <a:p>
            <a:r>
              <a:t>   * API scaffolding</a:t>
            </a:r>
          </a:p>
          <a:p>
            <a:r>
              <a:t>   * Test templates</a:t>
            </a:r>
          </a:p>
          <a:p/>
          <a:p>
            <a:r>
              <a:t>REAL-WORLD EXAMPLE:</a:t>
            </a:r>
          </a:p>
          <a:p>
            <a:r>
              <a:t>   Generated 15 CRUD endpoints in 3 minutes.</a:t>
            </a:r>
          </a:p>
          <a:p/>
          <a:p>
            <a:r>
              <a:t>TRANSITION:</a:t>
            </a:r>
          </a:p>
          <a:p>
            <a:r>
              <a:t>   Debugging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Same debugging process, but faster.</a:t>
            </a:r>
          </a:p>
          <a:p/>
          <a:p>
            <a:r>
              <a:t>KEY POINTS:</a:t>
            </a:r>
          </a:p>
          <a:p>
            <a:r>
              <a:t>   * Systematic approach</a:t>
            </a:r>
          </a:p>
          <a:p>
            <a:r>
              <a:t>   * Tests added</a:t>
            </a:r>
          </a:p>
          <a:p>
            <a:r>
              <a:t>   * Documented</a:t>
            </a:r>
          </a:p>
          <a:p/>
          <a:p>
            <a:r>
              <a:t>REAL-WORLD EXAMPLE:</a:t>
            </a:r>
          </a:p>
          <a:p>
            <a:r>
              <a:t>   Found race condition in 5 minutes after 2 hours stuck.</a:t>
            </a:r>
          </a:p>
          <a:p/>
          <a:p>
            <a:r>
              <a:t>TRANSITION:</a:t>
            </a:r>
          </a:p>
          <a:p>
            <a:r>
              <a:t>   Test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p>
            <a:r>
              <a:t>ASK THE CLASS:</a:t>
            </a:r>
          </a:p>
          <a:p>
            <a:r>
              <a:t>   "Look at your current to-do list. How many items are vague goals vs concrete next actions? Try rephrasing one goal as a next action and see how much clearer it becomes."</a:t>
            </a:r>
          </a:p>
          <a:p>
            <a:r>
              <a:t>   [PAUSE for 30-60 seconds]</a:t>
            </a:r>
          </a:p>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p>
            <a:r>
              <a:t>TRANSITION:</a:t>
            </a:r>
          </a:p>
          <a:p>
            <a:r>
              <a:t>   Next actions are the unit of execution - now let's move to wrapping up the development workflows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tests automatically.</a:t>
            </a:r>
          </a:p>
          <a:p/>
          <a:p>
            <a:r>
              <a:t>KEY POINTS:</a:t>
            </a:r>
          </a:p>
          <a:p>
            <a:r>
              <a:t>   * Multiple test types</a:t>
            </a:r>
          </a:p>
          <a:p>
            <a:r>
              <a:t>   * High coverage</a:t>
            </a:r>
          </a:p>
          <a:p>
            <a:r>
              <a:t>   * Well-named</a:t>
            </a:r>
          </a:p>
          <a:p/>
          <a:p>
            <a:r>
              <a:t>REAL-WORLD EXAMPLE:</a:t>
            </a:r>
          </a:p>
          <a:p>
            <a:r>
              <a:t>   Added feature with full tests, no manual test writing.</a:t>
            </a:r>
          </a:p>
          <a:p/>
          <a:p>
            <a:r>
              <a:t>TRANSITION:</a:t>
            </a:r>
          </a:p>
          <a:p>
            <a:r>
              <a: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p>
            <a:r>
              <a:t>TRANSITION:</a:t>
            </a:r>
          </a:p>
          <a:p>
            <a:r>
              <a:t>   Let's see this verification loop in action during our Git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Documentation generated automatically.</a:t>
            </a:r>
          </a:p>
          <a:p/>
          <a:p>
            <a:r>
              <a:t>KEY POINTS:</a:t>
            </a:r>
          </a:p>
          <a:p>
            <a:r>
              <a:t>   * Multiple doc types</a:t>
            </a:r>
          </a:p>
          <a:p>
            <a:r>
              <a:t>   * Always current</a:t>
            </a:r>
          </a:p>
          <a:p>
            <a:r>
              <a:t>   * Professional quality</a:t>
            </a:r>
          </a:p>
          <a:p/>
          <a:p>
            <a:r>
              <a:t>REAL-WORLD EXAMPLE:</a:t>
            </a:r>
          </a:p>
          <a:p>
            <a:r>
              <a:t>   API docs stayed current because Claude Code updated them with code.</a:t>
            </a:r>
          </a:p>
          <a:p/>
          <a:p>
            <a:r>
              <a:t>TRANSITION:</a:t>
            </a:r>
          </a:p>
          <a:p>
            <a:r>
              <a:t>   Final demo</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Live debugging - real bug, real fix.</a:t>
            </a:r>
          </a:p>
          <a:p/>
          <a:p>
            <a:r>
              <a:t>KEY POINTS:</a:t>
            </a:r>
          </a:p>
          <a:p>
            <a:r>
              <a:t>   * Complete process</a:t>
            </a:r>
          </a:p>
          <a:p>
            <a:r>
              <a:t>   * Real-world scenario</a:t>
            </a:r>
          </a:p>
          <a:p>
            <a:r>
              <a:t>   * Production techniques</a:t>
            </a:r>
          </a:p>
          <a:p/>
          <a:p>
            <a:r>
              <a:t>REAL-WORLD EXAMPLE:</a:t>
            </a:r>
          </a:p>
          <a:p>
            <a:r>
              <a:t>   This is what you'll do Monday.</a:t>
            </a:r>
          </a:p>
          <a:p/>
          <a:p>
            <a:r>
              <a:t>DEMO:</a:t>
            </a:r>
          </a:p>
          <a:p>
            <a:r>
              <a:t>   Run failing test, ask Claude Code to debug, watch it analyze, fix, verify.</a:t>
            </a:r>
          </a:p>
          <a:p/>
          <a:p>
            <a:r>
              <a:t>TRANSITION:</a:t>
            </a:r>
          </a:p>
          <a:p>
            <a:r>
              <a:t>   Final lab</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SQL work is often the most tedious part of development - writing queries, designing schemas, optimizing performance. Claude Code transforms all of that from hours of head-scratching into minutes of guided conversation.</a:t>
            </a:r>
          </a:p>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p>
            <a:r>
              <a:t>TRANSITION:</a:t>
            </a:r>
          </a:p>
          <a:p>
            <a:r>
              <a:t>   Let's start with the most common task: generating SQL queries from natural language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Writing SQL queries is one of Claude Code's strongest capabilities - it understands the intent behind your question and translates it into efficient, correct SQL.</a:t>
            </a:r>
          </a:p>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p>
            <a:r>
              <a:t>TRANSITION:</a:t>
            </a:r>
          </a:p>
          <a:p>
            <a:r>
              <a:t>   Let me show you a real example of complex query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what Claude Code generated from a single natural language prompt - notice how clean and well-structured this query is.</a:t>
            </a:r>
          </a:p>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p>
            <a:r>
              <a:t>TRANSITION:</a:t>
            </a:r>
          </a:p>
          <a:p>
            <a:r>
              <a:t>   Beyond query generation, Claude Code excels at schema design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Schema design is where bad decisions cost you for years - Claude Code acts as a database design reviewer that catches problems before they become production nightmares.</a:t>
            </a:r>
          </a:p>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p>
            <a:r>
              <a:t>TRANSITION:</a:t>
            </a:r>
          </a:p>
          <a:p>
            <a:r>
              <a:t>   Once you have queries, optimization becomes critical</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Query optimization is part science, part art - Claude Code knows both. Look at this transformation from a slow query to a fast one.</a:t>
            </a:r>
          </a:p>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p>
            <a:r>
              <a:t>TRANSITION:</a:t>
            </a:r>
          </a:p>
          <a:p>
            <a:r>
              <a:t>   SQL isn't just queries and schemas - there's also data transformation and ETL work</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ETL work is usually manual, error-prone, and time-consuming - Claude Code automates the entire process from data extraction to transformation to loading, with validation at each step.</a:t>
            </a:r>
          </a:p>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p>
            <a:r>
              <a:t>TRANSITION:</a:t>
            </a:r>
          </a:p>
          <a:p>
            <a:r>
              <a:t>   Different databases have different strengths - Claude Code knows them all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doesn't just know SQL - it knows the nuances and strengths of different database engines and writes queries optimized for each one.</a:t>
            </a:r>
          </a:p>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p>
            <a:r>
              <a:t>TRANSITION:</a:t>
            </a:r>
          </a:p>
          <a:p>
            <a:r>
              <a:t>   Data quality is critical - let's talk about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Data quality issues are expensive - catching them early with validation queries saves hours of debugging and potential data corruption. Claude Code generates comprehensive validation queries automatically.</a:t>
            </a:r>
          </a:p>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p>
            <a:r>
              <a:t>TRANSITION:</a:t>
            </a:r>
          </a:p>
          <a:p>
            <a:r>
              <a:t>   Let me show you a complete end-to-end demo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p>
            <a:r>
              <a:t>TRANSITION:</a:t>
            </a:r>
          </a:p>
          <a:p>
            <a:r>
              <a:t>   That's the SQL and data analysis section - now you'll practice this in Lab 3</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Final lab - complete feature workflow.</a:t>
            </a:r>
          </a:p>
          <a:p/>
          <a:p>
            <a:r>
              <a:t>KEY POINTS:</a:t>
            </a:r>
          </a:p>
          <a:p>
            <a:r>
              <a:t>   * End-to-end workflow</a:t>
            </a:r>
          </a:p>
          <a:p>
            <a:r>
              <a:t>   * Production-ready</a:t>
            </a:r>
          </a:p>
          <a:p/>
          <a:p>
            <a:r>
              <a:t>TRANSITION:</a:t>
            </a:r>
          </a:p>
          <a:p>
            <a:r>
              <a:t>   Wrap-up</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real example of how Claude Code changes the dynamics between PMs and engineering teams.</a:t>
            </a:r>
          </a:p>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p>
            <a:r>
              <a:t>ASK THE CLASS:</a:t>
            </a:r>
          </a:p>
          <a:p>
            <a:r>
              <a:t>   "What's the last feature you spec'd that took weeks of back-and-forth? Could a 2-hour prototype have shortcut that?"</a:t>
            </a:r>
          </a:p>
          <a:p>
            <a:r>
              <a:t>   [PAUSE for 30-60 seconds]</a:t>
            </a:r>
          </a:p>
          <a:p/>
          <a:p>
            <a:r>
              <a:t>TRANSITION:</a:t>
            </a:r>
          </a:p>
          <a:p>
            <a:r>
              <a:t>   Now let's put this into practice. Time for hands-on lab work.</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Eight major capabilities learned today.</a:t>
            </a:r>
          </a:p>
          <a:p/>
          <a:p>
            <a:r>
              <a:t>KEY POINTS:</a:t>
            </a:r>
          </a:p>
          <a:p>
            <a:r>
              <a:t>   * Complete toolkit</a:t>
            </a:r>
          </a:p>
          <a:p>
            <a:r>
              <a:t>   * Production-ready</a:t>
            </a:r>
          </a:p>
          <a:p>
            <a:r>
              <a:t>   * Transform development</a:t>
            </a:r>
          </a:p>
          <a:p/>
          <a:p>
            <a:r>
              <a:t>REAL-WORLD EXAMPLE:</a:t>
            </a:r>
          </a:p>
          <a:p>
            <a:r>
              <a:t>   You're now equipped to use Claude Code professionally.</a:t>
            </a:r>
          </a:p>
          <a:p/>
          <a:p>
            <a:r>
              <a:t>TRANSITION:</a:t>
            </a:r>
          </a:p>
          <a:p>
            <a:r>
              <a:t>   Thank you!</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wrap up, let me save you from the five mistakes I see most often. Each one ties back to an engineering principle we covered today.</a:t>
            </a:r>
          </a:p>
          <a:p/>
          <a:p>
            <a:r>
              <a:t>KEY POINTS:</a:t>
            </a:r>
          </a:p>
          <a:p>
            <a:r>
              <a:t>   * Mistake 1: Spec dump. Don't paste your entire PRD and say 'build this.' Break it into 5 small, verifiable steps. This is Principle #6 — small, frequent, actionable output.</a:t>
            </a:r>
          </a:p>
          <a:p>
            <a:r>
              <a:t>   * Mistake 2: Not using CLAUDE.md. Every session starts cold without it. Invest 15 minutes creating one — it's Principle #10, build for restart.</a:t>
            </a:r>
          </a:p>
          <a:p>
            <a:r>
              <a:t>   * Mistake 3: Ignoring token usage. Use 'ccusage' CLI tool to track costs. A single bloated prompt can cost $5 when a focused one costs $0.50.</a:t>
            </a:r>
          </a:p>
          <a:p>
            <a:r>
              <a:t>   * Mistake 4: Not verifying. Claude is confident even when wrong. Always review output. This is Principle #4 — build trust mechanisms.</a:t>
            </a:r>
          </a:p>
          <a:p>
            <a:r>
              <a:t>   * Mistake 5: Working single-thread. Tomorrow we'll cover parallel agents that process 10 user interviews simultaneously — 5 minutes vs 3 hours.</a:t>
            </a:r>
          </a:p>
          <a:p/>
          <a:p>
            <a:r>
              <a:t>ASK THE CLASS:</a:t>
            </a:r>
          </a:p>
          <a:p>
            <a:r>
              <a:t>   "Which of these mistakes have you already made today? No shame — we all do it. The goal is building habits that prevent them."</a:t>
            </a:r>
          </a:p>
          <a:p>
            <a:r>
              <a:t>   [PAUSE for 30-60 seconds]</a:t>
            </a:r>
          </a:p>
          <a:p/>
          <a:p>
            <a:r>
              <a:t>TRANSITION:</a:t>
            </a:r>
          </a:p>
          <a:p>
            <a:r>
              <a:t>   Let's recap everything we covered and preview tomorrow's advanced topics.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Completed Claude Code Fundamentals!</a:t>
            </a:r>
          </a:p>
          <a:p/>
          <a:p>
            <a:r>
              <a:t>KEY POINTS:</a:t>
            </a:r>
          </a:p>
          <a:p>
            <a:r>
              <a:t>   * Tomorrow: Advanced topics</a:t>
            </a:r>
          </a:p>
          <a:p>
            <a:r>
              <a:t>   * Custom commands, MCP, agent teams</a:t>
            </a:r>
          </a:p>
          <a:p/>
          <a:p>
            <a:r>
              <a:t>TRANSITION:</a:t>
            </a:r>
          </a:p>
          <a:p>
            <a:r>
              <a:t>   See you 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System Requirements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Method 1: Global install via npm (recommended)\nnpm install -g @anthropic-ai/claude-code\n\n# Method 2: Homebrew (macOS/Linux)\nbrew install claude-code\n\n# Method 3: npx (no install, always latest)\nnpx @anthropic-ai/claude-code\n\n# Verify installation\nclaude --version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Step 1: Authenticate with Anthropic\nclaude login\n# Opens browser, you authorize, token is saved locally\n\n# Step 2: Verify authentication\nclaude whoami\n# Shows your account email and plan tier\n\n# Step 3: Set default model (optional)\nclaude config set model claude-sonnet-4\n\n# Step 4: Check all settings\nclaude config list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Model Options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API Keys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pic>
        <p:nvPicPr>
          <p:cNvPr id="4" name="Picture 3" descr="d2-agentic-loop.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1: Read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2: Analyze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3: Plan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4: Execute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5: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Small, Frequent, Actionable Output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Common Failures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Recovery Strategies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pic>
        <p:nvPicPr>
          <p:cNvPr id="3" name="Picture 2" descr="d2-claude-md-structure.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Project: E-Commerce API\n\n## Description\nREST API for online store. FastAPI + PostgreSQL + Redis.\n\n## Code Conventions\n- Python 3.11, PEP 8 style\n- Use type hints for all functions\n- Async/await for all database calls\n- Snake_case for functions, PascalCase for classes\n\n## Testing\n- Write pytest tests for all new endpoints\n- Aim for 80%+ coverage\n- Tests go in tests/ matching source structure\n\n## Tools Available\n- pytest, black, mypy, ruff\n- Database: docker-compose up db</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Prefer Routing Over Organizing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Team Settings &amp; Style Guides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Mentioning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Folders, URLs, Git Commits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How Claude Code Reads Your Workspace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What's in Context Right 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2-context-window.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Fills Context</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How to Minimize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place in project root\n\n# Dependencies\nnode_modules/\nvenv/\n\n# Build outputs\ndist/\nbuild/\n\n# Media\n*.jpg\n*.png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Managing Large Codebases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Session Management: /init, /clear, /compact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Model Control: /model,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Permissions: /permissions, /allowed-tools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Output: /output-format, /verbose, /cost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CLAUDE.md\n\n"custom_commands": {\n  "/test": "Run all tests with pytest -v",\n  "/lint": "Run black, isort, and mypy",\n  "/docs": "Generate API documentation"\n}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The Payment Module Disaster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Model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eye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book</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zap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pic>
        <p:nvPicPr>
          <p:cNvPr id="15" name="Picture 14" descr="d2-permissions-model.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Allowlists and Blocklists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Security\n\n# Environment and secrets\n.env\n*.key\n*.pem\nsecrets/\n\n# Credentials\n.aws/\n.ssh/\n\n# Production\nproduction/\ndeploy/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Enterprise Security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Auto-Commit Workflows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2-git-workflow.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Branch Creation &amp; Management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Examples\n\nfeat(auth): add JWT authentication\n- Implement token generation\n- Add middleware\n\nfix(payments): resolve duplicate charges\n- Check existing transaction\n- Add idempotency key</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Pull Request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Git History Analysis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GitHub</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GitLab</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Reading, Writing, Searching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Edits &amp; Refactoring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Code Generation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Finding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Goals (Bad)</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Next Actions (Good)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Test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Documentation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SQL Query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Prompt: "Find the top 5 customers by total order value in the\n-- last 90 days, including their most recent order date"\n\nWITH customer_orders AS (\n  SELECT \n    c.customer_id,\n    c.first_name,\n    c.last_name,\n    c.email,\n    SUM(oi.quantity * oi.unit_price) AS total_value,\n    MAX(o.order_date) AS latest_order_date,\n    COUNT(DISTINCT o.order_id) AS order_count\n  FROM customers c\n  JOIN orders o ON c.customer_id = o.customer_id\n  JOIN order_items oi ON o.order_id = oi.order_id\n  WHERE o.order_date &gt;= CURRENT_DATE - INTERVAL '90 days'\n  GROUP BY c.customer_id, c.first_name, c.last_name, c.email\n)\nSELECT \n  customer_id,\n  first_name || ' ' || last_name AS customer_name,\n  email,\n  total_value,\n  latest_order_date,\n  order_count\nFROM customer_orders\nORDER BY total_value DESC\nLIMIT 5;</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Claude Code Helps Design</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Anti-Patterns Claude Catches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BEFORE (slow query)\nSELECT * FROM orders o\nWHERE o.customer_id IN (\n  SELECT customer_id FROM customers WHERE country = 'USA'\n)\nAND o.order_date &gt;= '2025-01-01';\n\n-- AFTER (optimized by Claude Code)\nSELECT \n  o.order_id,\n  o.customer_id,\n  o.order_date,\n  o.total_amount\nFROM orders o\nJOIN customers c ON o.customer_id = c.customer_id\nWHERE c.country = 'USA'\n  AND o.order_date &gt;= '2025-01-01';\n\n-- Recommended indexes:\nCREATE INDEX idx_customers_country ON customers(country);\nCREATE INDEX idx_orders_date ON orders(order_date);\nCREATE INDEX idx_orders_customer ON orders(customer_id);\n\n-- EXPLAIN shows 90% reduction in execution time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ETL &amp; Data Transformation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Data Validation &amp; Quality Checks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