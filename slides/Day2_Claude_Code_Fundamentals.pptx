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address the elephant in the room: how does Claude Code compare to Copilot, Cursor, and Amazon Q? They're not the same category of tool.</a:t>
            </a:r>
          </a:p>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p>
            <a:r>
              <a:t>ASK THE CLASS:</a:t>
            </a:r>
          </a:p>
          <a:p>
            <a:r>
              <a:t>   "How many of you use Copilot today? What tasks does it handle well, and where do you hit limits?"</a:t>
            </a:r>
          </a:p>
          <a:p>
            <a:r>
              <a:t>   [PAUSE for 30-60 seconds]</a:t>
            </a:r>
          </a:p>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p>
            <a:r>
              <a:t>TRANSITION:</a:t>
            </a:r>
          </a:p>
          <a:p>
            <a:r>
              <a:t>   Now that you understand what makes Claude Code different, let's explore the memory architecture that powers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p>
            <a:r>
              <a:t>ASK THE CLASS:</a:t>
            </a:r>
          </a:p>
          <a:p>
            <a:r>
              <a:t>   "Think about how you study for an exam. You review notes repeatedly to move them from short-term to long-term memory. How would you do the same for Claude?"</a:t>
            </a:r>
          </a:p>
          <a:p>
            <a:r>
              <a:t>   [PAUSE for 30-60 seconds]</a:t>
            </a:r>
          </a:p>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p>
            <a:r>
              <a:t>TRANSITION:</a:t>
            </a:r>
          </a:p>
          <a:p>
            <a:r>
              <a:t>   With this model in mind, let's get Claude Code installed and see these memory systems in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p>
            <a:r>
              <a:t>TRANSITION:</a:t>
            </a:r>
          </a:p>
          <a:p>
            <a:r>
              <a:t>   Whether you use terminal or desktop, the first step is the same — let's walk through your first command.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p>
            <a:r>
              <a:t>TRANSITION:</a:t>
            </a:r>
          </a:p>
          <a:p>
            <a:r>
              <a:t>   Now let's run our first real command and see Claude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p>
            <a:r>
              <a:t>TRANSITION:</a:t>
            </a:r>
          </a:p>
          <a:p>
            <a:r>
              <a:t>   Now let's see how @ mentions let you feed specific context beyond CLAUDE.md.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p>
            <a:r>
              <a:t>TRANSITION:</a:t>
            </a:r>
          </a:p>
          <a:p>
            <a:r>
              <a:t>   Now let's optimize your context management with a hands-on demo.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p>
            <a:r>
              <a:t>ASK THE CLASS:</a:t>
            </a:r>
          </a:p>
          <a:p>
            <a:r>
              <a:t>   "How many times have you asked an AI to do something and it changed files you didn't expect?"</a:t>
            </a:r>
          </a:p>
          <a:p>
            <a:r>
              <a:t>   [PAUSE for 30-60 seconds]</a:t>
            </a:r>
          </a:p>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p>
            <a:r>
              <a:t>TRANSITION:</a:t>
            </a:r>
          </a:p>
          <a:p>
            <a:r>
              <a:t>   Let me show you the difference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the difference between asking Claude to just DO something versus asking it to PLAN first.</a:t>
            </a:r>
          </a:p>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p>
            <a:r>
              <a:t>DEMO:</a:t>
            </a:r>
          </a:p>
          <a:p>
            <a:r>
              <a:t>   Use sample-project. First attempt: 'Add JWT authentication to this API' without planning. Show the mess. Then /clear, Shift+Tab, same prompt. Show the clean plan. Approve and execute.</a:t>
            </a:r>
          </a:p>
          <a:p/>
          <a:p>
            <a:r>
              <a:t>TRANSITION:</a:t>
            </a:r>
          </a:p>
          <a:p>
            <a:r>
              <a:t>   Plan Mode is your first line of defense. Now let's talk about another pattern that prevents wasted work.</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Not everything needs Plan Mode. Here's the rule of thumb: if a task would take a senior engineer more than one focused session to think through, it needs planning. If you can verify the result in 10 seconds, skip it.</a:t>
            </a:r>
          </a:p>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p>
            <a:r>
              <a:t>TRANSITION:</a:t>
            </a:r>
          </a:p>
          <a:p>
            <a:r>
              <a:t>   Now let's talk about another powerful pattern — the Interview 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p>
            <a:r>
              <a:t>ASK THE CLASS:</a:t>
            </a:r>
          </a:p>
          <a:p>
            <a:r>
              <a:t>   "Think about your last feature build. What questions SHOULD you have answered upfront but discovered the hard way?"</a:t>
            </a:r>
          </a:p>
          <a:p>
            <a:r>
              <a:t>   [PAUSE for 30-60 seconds]</a:t>
            </a:r>
          </a:p>
          <a:p/>
          <a:p>
            <a:r>
              <a:t>DEMO:</a:t>
            </a:r>
          </a:p>
          <a:p>
            <a:r>
              <a:t>   Live: Tell Claude 'I want to add a notification system to this API. Interview me about implementation details.' Show Claude asking 3-4 probing questions. Answer them. Watch Claude generate SPEC.md.</a:t>
            </a:r>
          </a:p>
          <a:p/>
          <a:p>
            <a:r>
              <a:t>TRANSITION:</a:t>
            </a:r>
          </a:p>
          <a:p>
            <a:r>
              <a:t>   Now let's talk about the discipline that makes everything else work — session hygiene.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p>
            <a:r>
              <a:t>ASK THE CLASS:</a:t>
            </a:r>
          </a:p>
          <a:p>
            <a:r>
              <a:t>   "How many of you have had Claude 'forget' what you told it 20 messages ago? That's context degradation."</a:t>
            </a:r>
          </a:p>
          <a:p>
            <a:r>
              <a:t>   [PAUSE for 30-60 seconds]</a:t>
            </a:r>
          </a:p>
          <a:p/>
          <a:p>
            <a:r>
              <a:t>DEMO:</a:t>
            </a:r>
          </a:p>
          <a:p>
            <a:r>
              <a:t>   Do 4 quick unrelated tasks in one session without clearing. Show response quality dropping on task 4. Then /clear, redo task 4, show dramatic quality improvement.</a:t>
            </a:r>
          </a:p>
          <a:p/>
          <a:p>
            <a:r>
              <a:t>TRANSITION:</a:t>
            </a:r>
          </a:p>
          <a:p>
            <a:r>
              <a:t>   Now let's look at the permissions model that keeps your code safe.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p>
            <a:r>
              <a:t>TRANSITION:</a:t>
            </a:r>
          </a:p>
          <a:p>
            <a:r>
              <a:t>   This decomposition discipline applies to everything we'll do today. Now let's set up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p>
            <a:r>
              <a:t>TRANSITION:</a:t>
            </a:r>
          </a:p>
          <a:p>
            <a:r>
              <a:t>   Let's configure these permissions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p>
            <a:r>
              <a:t>TRANSITION:</a:t>
            </a:r>
          </a:p>
          <a:p>
            <a:r>
              <a:t>   Let's see this verification loop in action during our Git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System Requirements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Method 1: Global install via npm (recommended)\nnpm install -g @anthropic-ai/claude-code\n\n# Method 2: Homebrew (macOS/Linux)\nbrew install claude-code\n\n# Method 3: npx (no install, always latest)\nnpx @anthropic-ai/claude-code\n\n# Verify installation\nclaude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5" name="TextBox 4"/>
          <p:cNvSpPr txBox="1"/>
          <p:nvPr/>
        </p:nvSpPr>
        <p:spPr>
          <a:xfrm>
            <a:off x="914400" y="4114800"/>
            <a:ext cx="10362895" cy="457200"/>
          </a:xfrm>
          <a:prstGeom prst="rect">
            <a:avLst/>
          </a:prstGeom>
          <a:noFill/>
        </p:spPr>
        <p:txBody>
          <a:bodyPr wrap="none">
            <a:spAutoFit/>
          </a:bodyPr>
          <a:lstStyle/>
          <a:p>
            <a:pPr algn="ctr">
              <a:defRPr sz="1400" i="1">
                <a:solidFill>
                  <a:srgbClr val="4A5568"/>
                </a:solidFill>
              </a:defRPr>
            </a:pPr>
            <a:r>
              <a:t>Replace with actual screenshot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Step 1: Authenticate with Anthropic\nclaude login\n# Opens browser, you authorize, token is saved locally\n\n# Step 2: Verify authentication\nclaude whoami\n# Shows your account email and plan tier\n\n# Step 3: Set default model (optional)\nclaude config set model claude-sonnet-4\n\n# Step 4: Check all settings\nclaude config list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Model Options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API Keys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1: Read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2: Analyze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3: Plan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4: Execute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5: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Small, Frequent, Actionable Output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Common Failures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Recovery Strategies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Project: E-Commerce API\n\n## Description\nREST API for online store. FastAPI + PostgreSQL + Redis.\n\n## Code Conventions\n- Python 3.11, PEP 8 style\n- Use type hints for all functions\n- Async/await for all database calls\n- Snake_case for functions, PascalCase for classes\n\n## Testing\n- Write pytest tests for all new endpoints\n- Aim for 80%+ coverage\n- Tests go in tests/ matching source structure\n\n## Tools Available\n- pytest, black, mypy, ruff\n- Database: docker-compose up db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Prefer Routing Over Organizing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Team Settings &amp; Style Guides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Mentioning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Folders, URLs, Git Commits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How Claude Code Reads Your Workspace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What's in Context Right 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Fills Context</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How to Minimize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place in project root\n\n# Dependencies\nnode_modules/\nvenv/\n\n# Build outputs\ndist/\nbuild/\n\n# Media\n*.jpg\n*.png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Managing Large Codebases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Management: /init, /clear, /compact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Model Control: /model,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Permissions: /permissions, /allowed-tools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Output: /output-format, /verbose, /cost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CLAUDE.md\n\n"custom_commands": {\n  "/test": "Run all tests with pytest -v",\n  "/lint": "Run black, isort, and mypy",\n  "/docs": "Generate API documentation"\n}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The Payment Module Disaster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Model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Allowlists and Blocklists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Security\n\n# Environment and secrets\n.env\n*.key\n*.pem\nsecrets/\n\n# Credentials\n.aws/\n.ssh/\n\n# Production\nproduction/\ndeploy/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Enterprise Security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Auto-Commit Workflows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Branch Creation &amp; Management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Examples\n\nfeat(auth): add JWT authentication\n- Implement token generation\n- Add middleware\n\nfix(payments): resolve duplicate charges\n- Check existing transaction\n- Add idempotency key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Pull Request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Git History Analysis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GitHub</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GitLab</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Reading, Writing, Searching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Edits &amp; Refactoring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Code Generation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Finding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Goals (Bad)</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Next Actions (Good)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Test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Documentation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SQL Query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Prompt: "Find the top 5 customers by total order value in the\n-- last 90 days, including their most recent order date"\n\nWITH customer_orders AS (\n  SELECT \n    c.customer_id,\n    c.first_name,\n    c.last_name,\n    c.email,\n    SUM(oi.quantity * oi.unit_price) AS total_value,\n    MAX(o.order_date) AS latest_order_date,\n    COUNT(DISTINCT o.order_id) AS order_count\n  FROM customers c\n  JOIN orders o ON c.customer_id = o.customer_id\n  JOIN order_items oi ON o.order_id = oi.order_id\n  WHERE o.order_date &gt;= CURRENT_DATE - INTERVAL '90 days'\n  GROUP BY c.customer_id, c.first_name, c.last_name, c.email\n)\nSELECT \n  customer_id,\n  first_name || ' ' || last_name AS customer_name,\n  email,\n  total_value,\n  latest_order_date,\n  order_count\nFROM customer_orders\nORDER BY total_value DESC\nLIMIT 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Claude Code Helps Design</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Anti-Patterns Claude Catches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(slow query)\nSELECT * FROM orders o\nWHERE o.customer_id IN (\n  SELECT customer_id FROM customers WHERE country = 'USA'\n)\nAND o.order_date &gt;= '2025-01-01';\n\n-- AFTER (optimized by Claude Code)\nSELECT \n  o.order_id,\n  o.customer_id,\n  o.order_date,\n  o.total_amount\nFROM orders o\nJOIN customers c ON o.customer_id = c.customer_id\nWHERE c.country = 'USA'\n  AND o.order_date &gt;= '2025-01-01';\n\n-- Recommended indexes:\nCREATE INDEX idx_customers_country ON customers(country);\nCREATE INDEX idx_orders_date ON orders(order_date);\nCREATE INDEX idx_orders_customer ON orders(customer_id);\n\n-- EXPLAIN shows 90% reduction in execution time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ETL &amp; Data Transformation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Data Validation &amp; Quality Checks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