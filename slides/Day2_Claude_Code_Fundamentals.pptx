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address the elephant in the room: how does Claude Code compare to Copilot, Cursor, and Amazon Q? They're not the same category of tool.</a:t>
            </a:r>
          </a:p>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p>
            <a:r>
              <a:t>ASK THE CLASS:</a:t>
            </a:r>
          </a:p>
          <a:p>
            <a:r>
              <a:t>   "How many of you use Copilot today? What tasks does it handle well, and where do you hit limits?"</a:t>
            </a:r>
          </a:p>
          <a:p>
            <a:r>
              <a:t>   [PAUSE for 30-60 seconds]</a:t>
            </a:r>
          </a:p>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p>
            <a:r>
              <a:t>TRANSITION:</a:t>
            </a:r>
          </a:p>
          <a:p>
            <a:r>
              <a:t>   Now that you understand what makes Claude Code different, let's explore the memory architecture that powers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p>
            <a:r>
              <a:t>TRANSITION:</a:t>
            </a:r>
          </a:p>
          <a:p>
            <a:r>
              <a:t>   Whether you use terminal or desktop, the first step is the same — let's walk through your first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p>
            <a:r>
              <a:t>TRANSITION:</a:t>
            </a:r>
          </a:p>
          <a:p>
            <a:r>
              <a:t>   Now let's run our first real command and see Claude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p>
            <a:r>
              <a:t>TRANSITION:</a:t>
            </a:r>
          </a:p>
          <a:p>
            <a:r>
              <a:t>   So what does a good spec actually look like? Let me show you a framework.</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the same task, two ways. On the left is how most people talk to Claude Code. On the right is how power users talk to Claude Code. The tool is identical. The output quality is completely different.</a:t>
            </a:r>
          </a:p>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p>
            <a:r>
              <a:t>TRANSITION:</a:t>
            </a:r>
          </a:p>
          <a:p>
            <a:r>
              <a:t>   Let me show you a real spec template that works for any Claude Code task.</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the framework. Six questions. If you can answer all six before you talk to Claude Code, your output quality jumps dramatically. If you can't answer them, that's a signal — you're not ready to build yet.</a:t>
            </a:r>
          </a:p>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p>
            <a:r>
              <a:t>ASK THE CLASS:</a:t>
            </a:r>
          </a:p>
          <a:p>
            <a:r>
              <a:t>   "Think about the last task you gave to a junior developer or contractor. Did you answer all 6 questions? What happened with the parts you left ambiguous?"</a:t>
            </a:r>
          </a:p>
          <a:p>
            <a:r>
              <a:t>   [PAUSE for 30-60 seconds]</a:t>
            </a:r>
          </a:p>
          <a:p/>
          <a:p>
            <a:r>
              <a:t>TRANSITION:</a:t>
            </a:r>
          </a:p>
          <a:p>
            <a:r>
              <a:t>   Let's see this in practice with a real spec that drives a Claude Code session.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OPEN WITH:</a:t>
            </a:r>
          </a:p>
          <a:p>
            <a:r>
              <a:t>   Let me show you this live. I'm going to write a spec using the 6-question framework, then give it to Claude Code. Watch the difference in output quality.</a:t>
            </a:r>
          </a:p>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p>
            <a:r>
              <a:t>DEMO:</a:t>
            </a:r>
          </a:p>
          <a:p>
            <a:r>
              <a:t>   If time is tight, show the spec on screen and walk through it verbally rather than live-coding both versions.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Working memory → Context window: Both degrade under load.</a:t>
            </a:r>
          </a:p>
          <a:p>
            <a:pPr>
              <a:spcBef>
                <a:spcPts val="800"/>
              </a:spcBef>
              <a:spcAft>
                <a:spcPts val="800"/>
              </a:spcAft>
              <a:defRPr sz="2200">
                <a:solidFill>
                  <a:srgbClr val="FFFFFF"/>
                </a:solidFill>
              </a:defRPr>
            </a:pPr>
            <a:r>
              <a:t>  Short-term → Session history: When you study, you move important things from short-term to long-term memory through n...</a:t>
            </a:r>
          </a:p>
          <a:p>
            <a:pPr>
              <a:spcBef>
                <a:spcPts val="800"/>
              </a:spcBef>
              <a:spcAft>
                <a:spcPts val="800"/>
              </a:spcAft>
              <a:defRPr sz="2200">
                <a:solidFill>
                  <a:srgbClr val="FFFFFF"/>
                </a:solidFill>
              </a:defRPr>
            </a:pPr>
            <a:r>
              <a:t>  Long-term → CLAUDE.</a:t>
            </a:r>
          </a:p>
          <a:p>
            <a:pPr>
              <a:spcBef>
                <a:spcPts val="800"/>
              </a:spcBef>
              <a:spcAft>
                <a:spcPts val="800"/>
              </a:spcAft>
              <a:defRPr sz="2200">
                <a:solidFill>
                  <a:srgbClr val="FFFFFF"/>
                </a:solidFill>
              </a:defRPr>
            </a:pPr>
            <a:r>
              <a:t>  Muscle memory → Skills / custom commands: Just like you don't consciously think about typing, skills and commands let...</a:t>
            </a:r>
          </a:p>
          <a:p>
            <a:pPr>
              <a:spcBef>
                <a:spcPts val="800"/>
              </a:spcBef>
              <a:spcAft>
                <a:spcPts val="800"/>
              </a:spcAft>
              <a:defRPr sz="2200">
                <a:solidFill>
                  <a:srgbClr val="FFFFFF"/>
                </a:solidFill>
              </a:defRPr>
            </a:pPr>
            <a:r>
              <a:t>  Scott's framing: Context window is short-term memory.</a:t>
            </a:r>
          </a:p>
          <a:p>
            <a:pPr>
              <a:spcBef>
                <a:spcPts val="800"/>
              </a:spcBef>
              <a:spcAft>
                <a:spcPts val="800"/>
              </a:spcAft>
              <a:defRPr sz="2200">
                <a:solidFill>
                  <a:srgbClr val="FFFFFF"/>
                </a:solidFill>
              </a:defRPr>
            </a:pPr>
            <a:r>
              <a:t>  Everything that follows today — CLAUDE.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Required</a:t>
            </a:r>
          </a:p>
          <a:p>
            <a:pPr>
              <a:spcBef>
                <a:spcPts val="800"/>
              </a:spcBef>
              <a:spcAft>
                <a:spcPts val="800"/>
              </a:spcAft>
              <a:defRPr sz="2200">
                <a:solidFill>
                  <a:srgbClr val="FFFFFF"/>
                </a:solidFill>
              </a:defRPr>
            </a:pPr>
            <a:r>
              <a:t>      Node.js 18.0 or higher (check: node --version)</a:t>
            </a:r>
          </a:p>
          <a:p>
            <a:pPr>
              <a:spcBef>
                <a:spcPts val="800"/>
              </a:spcBef>
              <a:spcAft>
                <a:spcPts val="800"/>
              </a:spcAft>
              <a:defRPr sz="2200">
                <a:solidFill>
                  <a:srgbClr val="FFFFFF"/>
                </a:solidFill>
              </a:defRPr>
            </a:pPr>
            <a:r>
              <a:t>      Git 2.20 or higher (check: git --version)</a:t>
            </a:r>
          </a:p>
          <a:p>
            <a:pPr>
              <a:spcBef>
                <a:spcPts val="800"/>
              </a:spcBef>
              <a:spcAft>
                <a:spcPts val="800"/>
              </a:spcAft>
              <a:defRPr sz="2200">
                <a:solidFill>
                  <a:srgbClr val="FFFFFF"/>
                </a:solidFill>
              </a:defRPr>
            </a:pPr>
            <a:r>
              <a:t>      Active internet connection for API calls</a:t>
            </a:r>
          </a:p>
          <a:p>
            <a:pPr>
              <a:spcBef>
                <a:spcPts val="800"/>
              </a:spcBef>
              <a:spcAft>
                <a:spcPts val="800"/>
              </a:spcAft>
              <a:defRPr sz="2200">
                <a:solidFill>
                  <a:srgbClr val="FFFFFF"/>
                </a:solidFill>
              </a:defRPr>
            </a:pPr>
            <a:r>
              <a:t>      Terminal/command line access</a:t>
            </a:r>
          </a:p>
          <a:p>
            <a:pPr>
              <a:spcBef>
                <a:spcPts val="800"/>
              </a:spcBef>
              <a:spcAft>
                <a:spcPts val="800"/>
              </a:spcAft>
              <a:defRPr sz="2200">
                <a:solidFill>
                  <a:srgbClr val="FFFFFF"/>
                </a:solidFill>
              </a:defRPr>
            </a:pPr>
            <a:r>
              <a:t>  Supported Platforms</a:t>
            </a:r>
          </a:p>
          <a:p>
            <a:pPr>
              <a:spcBef>
                <a:spcPts val="800"/>
              </a:spcBef>
              <a:spcAft>
                <a:spcPts val="800"/>
              </a:spcAft>
              <a:defRPr sz="2200">
                <a:solidFill>
                  <a:srgbClr val="FFFFFF"/>
                </a:solidFill>
              </a:defRPr>
            </a:pPr>
            <a:r>
              <a:t>      macOS 10.15+ (native)</a:t>
            </a:r>
          </a:p>
          <a:p>
            <a:pPr>
              <a:spcBef>
                <a:spcPts val="800"/>
              </a:spcBef>
              <a:spcAft>
                <a:spcPts val="800"/>
              </a:spcAft>
              <a:defRPr sz="2200">
                <a:solidFill>
                  <a:srgbClr val="FFFFFF"/>
                </a:solidFill>
              </a:defRPr>
            </a:pPr>
            <a:r>
              <a:t>      Linux (Ubuntu 20.04+, Debian, Fedora)</a:t>
            </a:r>
          </a:p>
          <a:p>
            <a:pPr>
              <a:spcBef>
                <a:spcPts val="800"/>
              </a:spcBef>
              <a:spcAft>
                <a:spcPts val="800"/>
              </a:spcAft>
              <a:defRPr sz="2200">
                <a:solidFill>
                  <a:srgbClr val="FFFFFF"/>
                </a:solidFill>
              </a:defRPr>
            </a:pPr>
            <a:r>
              <a:t>      Windows 10/11 via WSL2 (Windows Subsystem for Linux)</a:t>
            </a:r>
          </a:p>
          <a:p>
            <a:pPr>
              <a:spcBef>
                <a:spcPts val="800"/>
              </a:spcBef>
              <a:spcAft>
                <a:spcPts val="800"/>
              </a:spcAft>
              <a:defRPr sz="2200">
                <a:solidFill>
                  <a:srgbClr val="FFFFFF"/>
                </a:solidFill>
              </a:defRPr>
            </a:pPr>
            <a:r>
              <a:t>  Recommended</a:t>
            </a:r>
          </a:p>
          <a:p>
            <a:pPr>
              <a:spcBef>
                <a:spcPts val="800"/>
              </a:spcBef>
              <a:spcAft>
                <a:spcPts val="800"/>
              </a:spcAft>
              <a:defRPr sz="2200">
                <a:solidFill>
                  <a:srgbClr val="FFFFFF"/>
                </a:solidFill>
              </a:defRPr>
            </a:pPr>
            <a:r>
              <a:t>      VS Code or similar editor with terminal integration</a:t>
            </a:r>
          </a:p>
          <a:p>
            <a:pPr>
              <a:spcBef>
                <a:spcPts val="800"/>
              </a:spcBef>
              <a:spcAft>
                <a:spcPts val="800"/>
              </a:spcAft>
              <a:defRPr sz="2200">
                <a:solidFill>
                  <a:srgbClr val="FFFFFF"/>
                </a:solidFill>
              </a:defRPr>
            </a:pPr>
            <a:r>
              <a:t>      At least 4GB available RAM</a:t>
            </a:r>
          </a:p>
          <a:p>
            <a:pPr>
              <a:spcBef>
                <a:spcPts val="800"/>
              </a:spcBef>
              <a:spcAft>
                <a:spcPts val="800"/>
              </a:spcAft>
              <a:defRPr sz="2200">
                <a:solidFill>
                  <a:srgbClr val="FFFFFF"/>
                </a:solidFill>
              </a:defRPr>
            </a:pPr>
            <a:r>
              <a:t>      Familiarity with command line basics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5" name="TextBox 4"/>
          <p:cNvSpPr txBox="1"/>
          <p:nvPr/>
        </p:nvSpPr>
        <p:spPr>
          <a:xfrm>
            <a:off x="914400" y="4114800"/>
            <a:ext cx="10362895" cy="457200"/>
          </a:xfrm>
          <a:prstGeom prst="rect">
            <a:avLst/>
          </a:prstGeom>
          <a:noFill/>
        </p:spPr>
        <p:txBody>
          <a:bodyPr wrap="none">
            <a:spAutoFit/>
          </a:bodyPr>
          <a:lstStyle/>
          <a:p>
            <a:pPr algn="ctr">
              <a:defRPr sz="1400" i="1">
                <a:solidFill>
                  <a:srgbClr val="4A5568"/>
                </a:solidFill>
              </a:defRPr>
            </a:pPr>
            <a:r>
              <a:t>Replace with actual screenshot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What Claude Code Reads</a:t>
            </a:r>
          </a:p>
          <a:p>
            <a:pPr>
              <a:spcBef>
                <a:spcPts val="800"/>
              </a:spcBef>
              <a:spcAft>
                <a:spcPts val="800"/>
              </a:spcAft>
              <a:defRPr sz="2200">
                <a:solidFill>
                  <a:srgbClr val="FFFFFF"/>
                </a:solidFill>
              </a:defRPr>
            </a:pPr>
            <a:r>
              <a:t>      File tree structure of your workspace</a:t>
            </a:r>
          </a:p>
          <a:p>
            <a:pPr>
              <a:spcBef>
                <a:spcPts val="800"/>
              </a:spcBef>
              <a:spcAft>
                <a:spcPts val="800"/>
              </a:spcAft>
              <a:defRPr sz="2200">
                <a:solidFill>
                  <a:srgbClr val="FFFFFF"/>
                </a:solidFill>
              </a:defRPr>
            </a:pPr>
            <a:r>
              <a:t>      Contents of relevant files (intelligently selected)</a:t>
            </a:r>
          </a:p>
          <a:p>
            <a:pPr>
              <a:spcBef>
                <a:spcPts val="800"/>
              </a:spcBef>
              <a:spcAft>
                <a:spcPts val="800"/>
              </a:spcAft>
              <a:defRPr sz="2200">
                <a:solidFill>
                  <a:srgbClr val="FFFFFF"/>
                </a:solidFill>
              </a:defRPr>
            </a:pPr>
            <a:r>
              <a:t>      Git history and current branch state</a:t>
            </a:r>
          </a:p>
          <a:p>
            <a:pPr>
              <a:spcBef>
                <a:spcPts val="800"/>
              </a:spcBef>
              <a:spcAft>
                <a:spcPts val="800"/>
              </a:spcAft>
              <a:defRPr sz="2200">
                <a:solidFill>
                  <a:srgbClr val="FFFFFF"/>
                </a:solidFill>
              </a:defRPr>
            </a:pPr>
            <a:r>
              <a:t>      CLAUDE.md configuration if present</a:t>
            </a:r>
          </a:p>
          <a:p>
            <a:pPr>
              <a:spcBef>
                <a:spcPts val="800"/>
              </a:spcBef>
              <a:spcAft>
                <a:spcPts val="800"/>
              </a:spcAft>
              <a:defRPr sz="2200">
                <a:solidFill>
                  <a:srgbClr val="FFFFFF"/>
                </a:solidFill>
              </a:defRPr>
            </a:pPr>
            <a:r>
              <a:t>      Your instruction and any @-mentioned files</a:t>
            </a:r>
          </a:p>
          <a:p>
            <a:pPr>
              <a:spcBef>
                <a:spcPts val="800"/>
              </a:spcBef>
              <a:spcAft>
                <a:spcPts val="800"/>
              </a:spcAft>
              <a:defRPr sz="2200">
                <a:solidFill>
                  <a:srgbClr val="FFFFFF"/>
                </a:solidFill>
              </a:defRPr>
            </a:pPr>
            <a:r>
              <a:t>  Context Window</a:t>
            </a:r>
          </a:p>
          <a:p>
            <a:pPr>
              <a:spcBef>
                <a:spcPts val="800"/>
              </a:spcBef>
              <a:spcAft>
                <a:spcPts val="800"/>
              </a:spcAft>
              <a:defRPr sz="2200">
                <a:solidFill>
                  <a:srgbClr val="FFFFFF"/>
                </a:solidFill>
              </a:defRPr>
            </a:pPr>
            <a:r>
              <a:t>      200,000 token context window (roughly 150,000 words)</a:t>
            </a:r>
          </a:p>
          <a:p>
            <a:pPr>
              <a:spcBef>
                <a:spcPts val="800"/>
              </a:spcBef>
              <a:spcAft>
                <a:spcPts val="800"/>
              </a:spcAft>
              <a:defRPr sz="2200">
                <a:solidFill>
                  <a:srgbClr val="FFFFFF"/>
                </a:solidFill>
              </a:defRPr>
            </a:pPr>
            <a:r>
              <a:t>      Can hold dozens of files simultaneously</a:t>
            </a:r>
          </a:p>
          <a:p>
            <a:pPr>
              <a:spcBef>
                <a:spcPts val="800"/>
              </a:spcBef>
              <a:spcAft>
                <a:spcPts val="800"/>
              </a:spcAft>
              <a:defRPr sz="2200">
                <a:solidFill>
                  <a:srgbClr val="FFFFFF"/>
                </a:solidFill>
              </a:defRPr>
            </a:pPr>
            <a:r>
              <a:t>      Prioritizes files based on relevance to your request</a:t>
            </a:r>
          </a:p>
          <a:p>
            <a:pPr>
              <a:spcBef>
                <a:spcPts val="800"/>
              </a:spcBef>
              <a:spcAft>
                <a:spcPts val="800"/>
              </a:spcAft>
              <a:defRPr sz="2200">
                <a:solidFill>
                  <a:srgbClr val="FFFFFF"/>
                </a:solidFill>
              </a:defRPr>
            </a:pPr>
            <a:r>
              <a:t>      Automatically excludes .claudeignore patterns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What Gets Analyzed</a:t>
            </a:r>
          </a:p>
          <a:p>
            <a:pPr>
              <a:spcBef>
                <a:spcPts val="800"/>
              </a:spcBef>
              <a:spcAft>
                <a:spcPts val="800"/>
              </a:spcAft>
              <a:defRPr sz="2200">
                <a:solidFill>
                  <a:srgbClr val="FFFFFF"/>
                </a:solidFill>
              </a:defRPr>
            </a:pPr>
            <a:r>
              <a:t>      Code patterns and conventions (naming, structure, style)</a:t>
            </a:r>
          </a:p>
          <a:p>
            <a:pPr>
              <a:spcBef>
                <a:spcPts val="800"/>
              </a:spcBef>
              <a:spcAft>
                <a:spcPts val="800"/>
              </a:spcAft>
              <a:defRPr sz="2200">
                <a:solidFill>
                  <a:srgbClr val="FFFFFF"/>
                </a:solidFill>
              </a:defRPr>
            </a:pPr>
            <a:r>
              <a:t>      Dependencies between files and modules</a:t>
            </a:r>
          </a:p>
          <a:p>
            <a:pPr>
              <a:spcBef>
                <a:spcPts val="800"/>
              </a:spcBef>
              <a:spcAft>
                <a:spcPts val="800"/>
              </a:spcAft>
              <a:defRPr sz="2200">
                <a:solidFill>
                  <a:srgbClr val="FFFFFF"/>
                </a:solidFill>
              </a:defRPr>
            </a:pPr>
            <a:r>
              <a:t>      Existing test coverage and patterns</a:t>
            </a:r>
          </a:p>
          <a:p>
            <a:pPr>
              <a:spcBef>
                <a:spcPts val="800"/>
              </a:spcBef>
              <a:spcAft>
                <a:spcPts val="800"/>
              </a:spcAft>
              <a:defRPr sz="2200">
                <a:solidFill>
                  <a:srgbClr val="FFFFFF"/>
                </a:solidFill>
              </a:defRPr>
            </a:pPr>
            <a:r>
              <a:t>      Potential impact areas of requested changes</a:t>
            </a:r>
          </a:p>
          <a:p>
            <a:pPr>
              <a:spcBef>
                <a:spcPts val="800"/>
              </a:spcBef>
              <a:spcAft>
                <a:spcPts val="800"/>
              </a:spcAft>
              <a:defRPr sz="2200">
                <a:solidFill>
                  <a:srgbClr val="FFFFFF"/>
                </a:solidFill>
              </a:defRPr>
            </a:pPr>
            <a:r>
              <a:t>      Risk factors (breaking changes, edge cases)</a:t>
            </a:r>
          </a:p>
          <a:p>
            <a:pPr>
              <a:spcBef>
                <a:spcPts val="800"/>
              </a:spcBef>
              <a:spcAft>
                <a:spcPts val="800"/>
              </a:spcAft>
              <a:defRPr sz="2200">
                <a:solidFill>
                  <a:srgbClr val="FFFFFF"/>
                </a:solidFill>
              </a:defRPr>
            </a:pPr>
            <a:r>
              <a:t>  Mental Model Formation</a:t>
            </a:r>
          </a:p>
          <a:p>
            <a:pPr>
              <a:spcBef>
                <a:spcPts val="800"/>
              </a:spcBef>
              <a:spcAft>
                <a:spcPts val="800"/>
              </a:spcAft>
              <a:defRPr sz="2200">
                <a:solidFill>
                  <a:srgbClr val="FFFFFF"/>
                </a:solidFill>
              </a:defRPr>
            </a:pPr>
            <a:r>
              <a:t>      Understanding project architecture</a:t>
            </a:r>
          </a:p>
          <a:p>
            <a:pPr>
              <a:spcBef>
                <a:spcPts val="800"/>
              </a:spcBef>
              <a:spcAft>
                <a:spcPts val="800"/>
              </a:spcAft>
              <a:defRPr sz="2200">
                <a:solidFill>
                  <a:srgbClr val="FFFFFF"/>
                </a:solidFill>
              </a:defRPr>
            </a:pPr>
            <a:r>
              <a:t>      Identifying established patterns to follow</a:t>
            </a:r>
          </a:p>
          <a:p>
            <a:pPr>
              <a:spcBef>
                <a:spcPts val="800"/>
              </a:spcBef>
              <a:spcAft>
                <a:spcPts val="800"/>
              </a:spcAft>
              <a:defRPr sz="2200">
                <a:solidFill>
                  <a:srgbClr val="FFFFFF"/>
                </a:solidFill>
              </a:defRPr>
            </a:pPr>
            <a:r>
              <a:t>      Spotting inconsistencies or anti-patterns</a:t>
            </a:r>
          </a:p>
          <a:p>
            <a:pPr>
              <a:spcBef>
                <a:spcPts val="800"/>
              </a:spcBef>
              <a:spcAft>
                <a:spcPts val="800"/>
              </a:spcAft>
              <a:defRPr sz="2200">
                <a:solidFill>
                  <a:srgbClr val="FFFFFF"/>
                </a:solidFill>
              </a:defRPr>
            </a:pPr>
            <a:r>
              <a:t>      Evaluating multiple approaches to the task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Planning Strategy</a:t>
            </a:r>
          </a:p>
          <a:p>
            <a:pPr>
              <a:spcBef>
                <a:spcPts val="800"/>
              </a:spcBef>
              <a:spcAft>
                <a:spcPts val="800"/>
              </a:spcAft>
              <a:defRPr sz="2200">
                <a:solidFill>
                  <a:srgbClr val="FFFFFF"/>
                </a:solidFill>
              </a:defRPr>
            </a:pPr>
            <a:r>
              <a:t>      Sequence of actions to achieve the goal</a:t>
            </a:r>
          </a:p>
          <a:p>
            <a:pPr>
              <a:spcBef>
                <a:spcPts val="800"/>
              </a:spcBef>
              <a:spcAft>
                <a:spcPts val="800"/>
              </a:spcAft>
              <a:defRPr sz="2200">
                <a:solidFill>
                  <a:srgbClr val="FFFFFF"/>
                </a:solidFill>
              </a:defRPr>
            </a:pPr>
            <a:r>
              <a:t>      Which files to modify and in what order</a:t>
            </a:r>
          </a:p>
          <a:p>
            <a:pPr>
              <a:spcBef>
                <a:spcPts val="800"/>
              </a:spcBef>
              <a:spcAft>
                <a:spcPts val="800"/>
              </a:spcAft>
              <a:defRPr sz="2200">
                <a:solidFill>
                  <a:srgbClr val="FFFFFF"/>
                </a:solidFill>
              </a:defRPr>
            </a:pPr>
            <a:r>
              <a:t>      Which tools to use (read, write, edit, run_command)</a:t>
            </a:r>
          </a:p>
          <a:p>
            <a:pPr>
              <a:spcBef>
                <a:spcPts val="800"/>
              </a:spcBef>
              <a:spcAft>
                <a:spcPts val="800"/>
              </a:spcAft>
              <a:defRPr sz="2200">
                <a:solidFill>
                  <a:srgbClr val="FFFFFF"/>
                </a:solidFill>
              </a:defRPr>
            </a:pPr>
            <a:r>
              <a:t>      Rollback strategy if something fails</a:t>
            </a:r>
          </a:p>
          <a:p>
            <a:pPr>
              <a:spcBef>
                <a:spcPts val="800"/>
              </a:spcBef>
              <a:spcAft>
                <a:spcPts val="800"/>
              </a:spcAft>
              <a:defRPr sz="2200">
                <a:solidFill>
                  <a:srgbClr val="FFFFFF"/>
                </a:solidFill>
              </a:defRPr>
            </a:pPr>
            <a:r>
              <a:t>      Testing and verification steps</a:t>
            </a:r>
          </a:p>
          <a:p>
            <a:pPr>
              <a:spcBef>
                <a:spcPts val="800"/>
              </a:spcBef>
              <a:spcAft>
                <a:spcPts val="800"/>
              </a:spcAft>
              <a:defRPr sz="2200">
                <a:solidFill>
                  <a:srgbClr val="FFFFFF"/>
                </a:solidFill>
              </a:defRPr>
            </a:pPr>
            <a:r>
              <a:t>  Risk Minimization</a:t>
            </a:r>
          </a:p>
          <a:p>
            <a:pPr>
              <a:spcBef>
                <a:spcPts val="800"/>
              </a:spcBef>
              <a:spcAft>
                <a:spcPts val="800"/>
              </a:spcAft>
              <a:defRPr sz="2200">
                <a:solidFill>
                  <a:srgbClr val="FFFFFF"/>
                </a:solidFill>
              </a:defRPr>
            </a:pPr>
            <a:r>
              <a:t>      Start with safest changes first (tests, docs)</a:t>
            </a:r>
          </a:p>
          <a:p>
            <a:pPr>
              <a:spcBef>
                <a:spcPts val="800"/>
              </a:spcBef>
              <a:spcAft>
                <a:spcPts val="800"/>
              </a:spcAft>
              <a:defRPr sz="2200">
                <a:solidFill>
                  <a:srgbClr val="FFFFFF"/>
                </a:solidFill>
              </a:defRPr>
            </a:pPr>
            <a:r>
              <a:t>      Make atomic changes that can be easily reverted</a:t>
            </a:r>
          </a:p>
          <a:p>
            <a:pPr>
              <a:spcBef>
                <a:spcPts val="800"/>
              </a:spcBef>
              <a:spcAft>
                <a:spcPts val="800"/>
              </a:spcAft>
              <a:defRPr sz="2200">
                <a:solidFill>
                  <a:srgbClr val="FFFFFF"/>
                </a:solidFill>
              </a:defRPr>
            </a:pPr>
            <a:r>
              <a:t>      Verify each step before proceeding to next</a:t>
            </a:r>
          </a:p>
          <a:p>
            <a:pPr>
              <a:spcBef>
                <a:spcPts val="800"/>
              </a:spcBef>
              <a:spcAft>
                <a:spcPts val="800"/>
              </a:spcAft>
              <a:defRPr sz="2200">
                <a:solidFill>
                  <a:srgbClr val="FFFFFF"/>
                </a:solidFill>
              </a:defRPr>
            </a:pPr>
            <a:r>
              <a:t>      Preserve existing functionality while adding new features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Available Tools</a:t>
            </a:r>
          </a:p>
          <a:p>
            <a:pPr>
              <a:spcBef>
                <a:spcPts val="800"/>
              </a:spcBef>
              <a:spcAft>
                <a:spcPts val="800"/>
              </a:spcAft>
              <a:defRPr sz="2200">
                <a:solidFill>
                  <a:srgbClr val="FFFFFF"/>
                </a:solidFill>
              </a:defRPr>
            </a:pPr>
            <a:r>
              <a:t>      **read_file**: Read contents of specific files</a:t>
            </a:r>
          </a:p>
          <a:p>
            <a:pPr>
              <a:spcBef>
                <a:spcPts val="800"/>
              </a:spcBef>
              <a:spcAft>
                <a:spcPts val="800"/>
              </a:spcAft>
              <a:defRPr sz="2200">
                <a:solidFill>
                  <a:srgbClr val="FFFFFF"/>
                </a:solidFill>
              </a:defRPr>
            </a:pPr>
            <a:r>
              <a:t>      **write_file**: Create new files with content</a:t>
            </a:r>
          </a:p>
          <a:p>
            <a:pPr>
              <a:spcBef>
                <a:spcPts val="800"/>
              </a:spcBef>
              <a:spcAft>
                <a:spcPts val="800"/>
              </a:spcAft>
              <a:defRPr sz="2200">
                <a:solidFill>
                  <a:srgbClr val="FFFFFF"/>
                </a:solidFill>
              </a:defRPr>
            </a:pPr>
            <a:r>
              <a:t>      **edit_file**: Make precise edits to existing files</a:t>
            </a:r>
          </a:p>
          <a:p>
            <a:pPr>
              <a:spcBef>
                <a:spcPts val="800"/>
              </a:spcBef>
              <a:spcAft>
                <a:spcPts val="800"/>
              </a:spcAft>
              <a:defRPr sz="2200">
                <a:solidFill>
                  <a:srgbClr val="FFFFFF"/>
                </a:solidFill>
              </a:defRPr>
            </a:pPr>
            <a:r>
              <a:t>      **run_command**: Execute shell commands (tests, linters, git)</a:t>
            </a:r>
          </a:p>
          <a:p>
            <a:pPr>
              <a:spcBef>
                <a:spcPts val="800"/>
              </a:spcBef>
              <a:spcAft>
                <a:spcPts val="800"/>
              </a:spcAft>
              <a:defRPr sz="2200">
                <a:solidFill>
                  <a:srgbClr val="FFFFFF"/>
                </a:solidFill>
              </a:defRPr>
            </a:pPr>
            <a:r>
              <a:t>      **list_dir**: Explore directory structure</a:t>
            </a:r>
          </a:p>
          <a:p>
            <a:pPr>
              <a:spcBef>
                <a:spcPts val="800"/>
              </a:spcBef>
              <a:spcAft>
                <a:spcPts val="800"/>
              </a:spcAft>
              <a:defRPr sz="2200">
                <a:solidFill>
                  <a:srgbClr val="FFFFFF"/>
                </a:solidFill>
              </a:defRPr>
            </a:pPr>
            <a:r>
              <a:t>  Execution Characteristics</a:t>
            </a:r>
          </a:p>
          <a:p>
            <a:pPr>
              <a:spcBef>
                <a:spcPts val="800"/>
              </a:spcBef>
              <a:spcAft>
                <a:spcPts val="800"/>
              </a:spcAft>
              <a:defRPr sz="2200">
                <a:solidFill>
                  <a:srgbClr val="FFFFFF"/>
                </a:solidFill>
              </a:defRPr>
            </a:pPr>
            <a:r>
              <a:t>      Precise edits using line numbers or search/replace</a:t>
            </a:r>
          </a:p>
          <a:p>
            <a:pPr>
              <a:spcBef>
                <a:spcPts val="800"/>
              </a:spcBef>
              <a:spcAft>
                <a:spcPts val="800"/>
              </a:spcAft>
              <a:defRPr sz="2200">
                <a:solidFill>
                  <a:srgbClr val="FFFFFF"/>
                </a:solidFill>
              </a:defRPr>
            </a:pPr>
            <a:r>
              <a:t>      Atomic file operations (all-or-nothing writes)</a:t>
            </a:r>
          </a:p>
          <a:p>
            <a:pPr>
              <a:spcBef>
                <a:spcPts val="800"/>
              </a:spcBef>
              <a:spcAft>
                <a:spcPts val="800"/>
              </a:spcAft>
              <a:defRPr sz="2200">
                <a:solidFill>
                  <a:srgbClr val="FFFFFF"/>
                </a:solidFill>
              </a:defRPr>
            </a:pPr>
            <a:r>
              <a:t>      Commands run in your project's context</a:t>
            </a:r>
          </a:p>
          <a:p>
            <a:pPr>
              <a:spcBef>
                <a:spcPts val="800"/>
              </a:spcBef>
              <a:spcAft>
                <a:spcPts val="800"/>
              </a:spcAft>
              <a:defRPr sz="2200">
                <a:solidFill>
                  <a:srgbClr val="FFFFFF"/>
                </a:solidFill>
              </a:defRPr>
            </a:pPr>
            <a:r>
              <a:t>      Real-time feedback from command outputs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Verification Methods</a:t>
            </a:r>
          </a:p>
          <a:p>
            <a:pPr>
              <a:spcBef>
                <a:spcPts val="800"/>
              </a:spcBef>
              <a:spcAft>
                <a:spcPts val="800"/>
              </a:spcAft>
              <a:defRPr sz="2200">
                <a:solidFill>
                  <a:srgbClr val="FFFFFF"/>
                </a:solidFill>
              </a:defRPr>
            </a:pPr>
            <a:r>
              <a:t>      Running linters and formatters (eslint, black, prettier)</a:t>
            </a:r>
          </a:p>
          <a:p>
            <a:pPr>
              <a:spcBef>
                <a:spcPts val="800"/>
              </a:spcBef>
              <a:spcAft>
                <a:spcPts val="800"/>
              </a:spcAft>
              <a:defRPr sz="2200">
                <a:solidFill>
                  <a:srgbClr val="FFFFFF"/>
                </a:solidFill>
              </a:defRPr>
            </a:pPr>
            <a:r>
              <a:t>      Executing test suites (pytest, jest, go test)</a:t>
            </a:r>
          </a:p>
          <a:p>
            <a:pPr>
              <a:spcBef>
                <a:spcPts val="800"/>
              </a:spcBef>
              <a:spcAft>
                <a:spcPts val="800"/>
              </a:spcAft>
              <a:defRPr sz="2200">
                <a:solidFill>
                  <a:srgbClr val="FFFFFF"/>
                </a:solidFill>
              </a:defRPr>
            </a:pPr>
            <a:r>
              <a:t>      Checking command outputs for errors</a:t>
            </a:r>
          </a:p>
          <a:p>
            <a:pPr>
              <a:spcBef>
                <a:spcPts val="800"/>
              </a:spcBef>
              <a:spcAft>
                <a:spcPts val="800"/>
              </a:spcAft>
              <a:defRPr sz="2200">
                <a:solidFill>
                  <a:srgbClr val="FFFFFF"/>
                </a:solidFill>
              </a:defRPr>
            </a:pPr>
            <a:r>
              <a:t>      Validating file syntax (parsing Python, JavaScript, etc.)</a:t>
            </a:r>
          </a:p>
          <a:p>
            <a:pPr>
              <a:spcBef>
                <a:spcPts val="800"/>
              </a:spcBef>
              <a:spcAft>
                <a:spcPts val="800"/>
              </a:spcAft>
              <a:defRPr sz="2200">
                <a:solidFill>
                  <a:srgbClr val="FFFFFF"/>
                </a:solidFill>
              </a:defRPr>
            </a:pPr>
            <a:r>
              <a:t>      Confirming expected side effects occurred</a:t>
            </a:r>
          </a:p>
          <a:p>
            <a:pPr>
              <a:spcBef>
                <a:spcPts val="800"/>
              </a:spcBef>
              <a:spcAft>
                <a:spcPts val="800"/>
              </a:spcAft>
              <a:defRPr sz="2200">
                <a:solidFill>
                  <a:srgbClr val="FFFFFF"/>
                </a:solidFill>
              </a:defRPr>
            </a:pPr>
            <a:r>
              <a:t>  When Verification Fails</a:t>
            </a:r>
          </a:p>
          <a:p>
            <a:pPr>
              <a:spcBef>
                <a:spcPts val="800"/>
              </a:spcBef>
              <a:spcAft>
                <a:spcPts val="800"/>
              </a:spcAft>
              <a:defRPr sz="2200">
                <a:solidFill>
                  <a:srgbClr val="FFFFFF"/>
                </a:solidFill>
              </a:defRPr>
            </a:pPr>
            <a:r>
              <a:t>      Loop back to Read stage with error output</a:t>
            </a:r>
          </a:p>
          <a:p>
            <a:pPr>
              <a:spcBef>
                <a:spcPts val="800"/>
              </a:spcBef>
              <a:spcAft>
                <a:spcPts val="800"/>
              </a:spcAft>
              <a:defRPr sz="2200">
                <a:solidFill>
                  <a:srgbClr val="FFFFFF"/>
                </a:solidFill>
              </a:defRPr>
            </a:pPr>
            <a:r>
              <a:t>      Re-analyze what went wrong</a:t>
            </a:r>
          </a:p>
          <a:p>
            <a:pPr>
              <a:spcBef>
                <a:spcPts val="800"/>
              </a:spcBef>
              <a:spcAft>
                <a:spcPts val="800"/>
              </a:spcAft>
              <a:defRPr sz="2200">
                <a:solidFill>
                  <a:srgbClr val="FFFFFF"/>
                </a:solidFill>
              </a:defRPr>
            </a:pPr>
            <a:r>
              <a:t>      Plan a fix or alternative approach</a:t>
            </a:r>
          </a:p>
          <a:p>
            <a:pPr>
              <a:spcBef>
                <a:spcPts val="800"/>
              </a:spcBef>
              <a:spcAft>
                <a:spcPts val="800"/>
              </a:spcAft>
              <a:defRPr sz="2200">
                <a:solidFill>
                  <a:srgbClr val="FFFFFF"/>
                </a:solidFill>
              </a:defRPr>
            </a:pPr>
            <a:r>
              <a:t>      Execute the fix</a:t>
            </a:r>
          </a:p>
          <a:p>
            <a:pPr>
              <a:spcBef>
                <a:spcPts val="800"/>
              </a:spcBef>
              <a:spcAft>
                <a:spcPts val="800"/>
              </a:spcAft>
              <a:defRPr sz="2200">
                <a:solidFill>
                  <a:srgbClr val="FFFFFF"/>
                </a:solidFill>
              </a:defRPr>
            </a:pPr>
            <a:r>
              <a:t>      Verify again (loop continues until success)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Problem with Big Prompts</a:t>
            </a:r>
          </a:p>
          <a:p>
            <a:pPr>
              <a:spcBef>
                <a:spcPts val="800"/>
              </a:spcBef>
              <a:spcAft>
                <a:spcPts val="800"/>
              </a:spcAft>
              <a:defRPr sz="2200">
                <a:solidFill>
                  <a:srgbClr val="FFFFFF"/>
                </a:solidFill>
              </a:defRPr>
            </a:pPr>
            <a:r>
              <a:t>      One mega-prompt tries to do everything at once</a:t>
            </a:r>
          </a:p>
          <a:p>
            <a:pPr>
              <a:spcBef>
                <a:spcPts val="800"/>
              </a:spcBef>
              <a:spcAft>
                <a:spcPts val="800"/>
              </a:spcAft>
              <a:defRPr sz="2200">
                <a:solidFill>
                  <a:srgbClr val="FFFFFF"/>
                </a:solidFill>
              </a:defRPr>
            </a:pPr>
            <a:r>
              <a:t>      Fails catastrophically in the middle</a:t>
            </a:r>
          </a:p>
          <a:p>
            <a:pPr>
              <a:spcBef>
                <a:spcPts val="800"/>
              </a:spcBef>
              <a:spcAft>
                <a:spcPts val="800"/>
              </a:spcAft>
              <a:defRPr sz="2200">
                <a:solidFill>
                  <a:srgbClr val="FFFFFF"/>
                </a:solidFill>
              </a:defRPr>
            </a:pPr>
            <a:r>
              <a:t>      Hard to debug where it went wrong</a:t>
            </a:r>
          </a:p>
          <a:p>
            <a:pPr>
              <a:spcBef>
                <a:spcPts val="800"/>
              </a:spcBef>
              <a:spcAft>
                <a:spcPts val="800"/>
              </a:spcAft>
              <a:defRPr sz="2200">
                <a:solidFill>
                  <a:srgbClr val="FFFFFF"/>
                </a:solidFill>
              </a:defRPr>
            </a:pPr>
            <a:r>
              <a:t>      Lost progress, start over from scratch</a:t>
            </a:r>
          </a:p>
          <a:p>
            <a:pPr>
              <a:spcBef>
                <a:spcPts val="800"/>
              </a:spcBef>
              <a:spcAft>
                <a:spcPts val="800"/>
              </a:spcAft>
              <a:defRPr sz="2200">
                <a:solidFill>
                  <a:srgbClr val="FFFFFF"/>
                </a:solidFill>
              </a:defRPr>
            </a:pPr>
            <a:r>
              <a:t>  The Power of Small Steps</a:t>
            </a:r>
          </a:p>
          <a:p>
            <a:pPr>
              <a:spcBef>
                <a:spcPts val="800"/>
              </a:spcBef>
              <a:spcAft>
                <a:spcPts val="800"/>
              </a:spcAft>
              <a:defRPr sz="2200">
                <a:solidFill>
                  <a:srgbClr val="FFFFFF"/>
                </a:solidFill>
              </a:defRPr>
            </a:pPr>
            <a:r>
              <a:t>      Break feature into 5 verifiable steps</a:t>
            </a:r>
          </a:p>
          <a:p>
            <a:pPr>
              <a:spcBef>
                <a:spcPts val="800"/>
              </a:spcBef>
              <a:spcAft>
                <a:spcPts val="800"/>
              </a:spcAft>
              <a:defRPr sz="2200">
                <a:solidFill>
                  <a:srgbClr val="FFFFFF"/>
                </a:solidFill>
              </a:defRPr>
            </a:pPr>
            <a:r>
              <a:t>      Each step = concrete, testable output</a:t>
            </a:r>
          </a:p>
          <a:p>
            <a:pPr>
              <a:spcBef>
                <a:spcPts val="800"/>
              </a:spcBef>
              <a:spcAft>
                <a:spcPts val="800"/>
              </a:spcAft>
              <a:defRPr sz="2200">
                <a:solidFill>
                  <a:srgbClr val="FFFFFF"/>
                </a:solidFill>
              </a:defRPr>
            </a:pPr>
            <a:r>
              <a:t>      Failure happens early, easy to fix</a:t>
            </a:r>
          </a:p>
          <a:p>
            <a:pPr>
              <a:spcBef>
                <a:spcPts val="800"/>
              </a:spcBef>
              <a:spcAft>
                <a:spcPts val="800"/>
              </a:spcAft>
              <a:defRPr sz="2200">
                <a:solidFill>
                  <a:srgbClr val="FFFFFF"/>
                </a:solidFill>
              </a:defRPr>
            </a:pPr>
            <a:r>
              <a:t>      Progress is saved at each checkpoint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Over-Organized (Fragile)</a:t>
            </a:r>
          </a:p>
          <a:p>
            <a:pPr>
              <a:spcBef>
                <a:spcPts val="800"/>
              </a:spcBef>
              <a:spcAft>
                <a:spcPts val="800"/>
              </a:spcAft>
              <a:defRPr sz="2200">
                <a:solidFill>
                  <a:srgbClr val="FFFFFF"/>
                </a:solidFill>
              </a:defRPr>
            </a:pPr>
            <a:r>
              <a:t>      Deep folder hierarchies: /src/api/v1/endpoints/user/profile/settings/</a:t>
            </a:r>
          </a:p>
          <a:p>
            <a:pPr>
              <a:spcBef>
                <a:spcPts val="800"/>
              </a:spcBef>
              <a:spcAft>
                <a:spcPts val="800"/>
              </a:spcAft>
              <a:defRPr sz="2200">
                <a:solidFill>
                  <a:srgbClr val="FFFFFF"/>
                </a:solidFill>
              </a:defRPr>
            </a:pPr>
            <a:r>
              <a:t>      Many small files scattered across tree</a:t>
            </a:r>
          </a:p>
          <a:p>
            <a:pPr>
              <a:spcBef>
                <a:spcPts val="800"/>
              </a:spcBef>
              <a:spcAft>
                <a:spcPts val="800"/>
              </a:spcAft>
              <a:defRPr sz="2200">
                <a:solidFill>
                  <a:srgbClr val="FFFFFF"/>
                </a:solidFill>
              </a:defRPr>
            </a:pPr>
            <a:r>
              <a:t>      Hard to navigate, easy to lose context</a:t>
            </a:r>
          </a:p>
          <a:p>
            <a:pPr>
              <a:spcBef>
                <a:spcPts val="800"/>
              </a:spcBef>
              <a:spcAft>
                <a:spcPts val="800"/>
              </a:spcAft>
              <a:defRPr sz="2200">
                <a:solidFill>
                  <a:srgbClr val="FFFFFF"/>
                </a:solidFill>
              </a:defRPr>
            </a:pPr>
            <a:r>
              <a:t>      Refactoring = moving dozens of files</a:t>
            </a:r>
          </a:p>
          <a:p>
            <a:pPr>
              <a:spcBef>
                <a:spcPts val="800"/>
              </a:spcBef>
              <a:spcAft>
                <a:spcPts val="800"/>
              </a:spcAft>
              <a:defRPr sz="2200">
                <a:solidFill>
                  <a:srgbClr val="FFFFFF"/>
                </a:solidFill>
              </a:defRPr>
            </a:pPr>
            <a:r>
              <a:t>  Convention-Routed (Robust)</a:t>
            </a:r>
          </a:p>
          <a:p>
            <a:pPr>
              <a:spcBef>
                <a:spcPts val="800"/>
              </a:spcBef>
              <a:spcAft>
                <a:spcPts val="800"/>
              </a:spcAft>
              <a:defRPr sz="2200">
                <a:solidFill>
                  <a:srgbClr val="FFFFFF"/>
                </a:solidFill>
              </a:defRPr>
            </a:pPr>
            <a:r>
              <a:t>      Flat or shallow structure: /src/endpoints/</a:t>
            </a:r>
          </a:p>
          <a:p>
            <a:pPr>
              <a:spcBef>
                <a:spcPts val="800"/>
              </a:spcBef>
              <a:spcAft>
                <a:spcPts val="800"/>
              </a:spcAft>
              <a:defRPr sz="2200">
                <a:solidFill>
                  <a:srgbClr val="FFFFFF"/>
                </a:solidFill>
              </a:defRPr>
            </a:pPr>
            <a:r>
              <a:t>      File naming encodes purpose: user_profile_api.py, user_settings_api.py</a:t>
            </a:r>
          </a:p>
          <a:p>
            <a:pPr>
              <a:spcBef>
                <a:spcPts val="800"/>
              </a:spcBef>
              <a:spcAft>
                <a:spcPts val="800"/>
              </a:spcAft>
              <a:defRPr sz="2200">
                <a:solidFill>
                  <a:srgbClr val="FFFFFF"/>
                </a:solidFill>
              </a:defRPr>
            </a:pPr>
            <a:r>
              <a:t>      Easy to scan, context clear from names</a:t>
            </a:r>
          </a:p>
          <a:p>
            <a:pPr>
              <a:spcBef>
                <a:spcPts val="800"/>
              </a:spcBef>
              <a:spcAft>
                <a:spcPts val="800"/>
              </a:spcAft>
              <a:defRPr sz="2200">
                <a:solidFill>
                  <a:srgbClr val="FFFFFF"/>
                </a:solidFill>
              </a:defRPr>
            </a:pPr>
            <a:r>
              <a:t>      Refactoring = renaming files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Chunking Strategy</a:t>
            </a:r>
          </a:p>
          <a:p>
            <a:pPr>
              <a:spcBef>
                <a:spcPts val="800"/>
              </a:spcBef>
              <a:spcAft>
                <a:spcPts val="800"/>
              </a:spcAft>
              <a:defRPr sz="2200">
                <a:solidFill>
                  <a:srgbClr val="FFFFFF"/>
                </a:solidFill>
              </a:defRPr>
            </a:pPr>
            <a:r>
              <a:t>      Work on one module at a time</a:t>
            </a:r>
          </a:p>
          <a:p>
            <a:pPr>
              <a:spcBef>
                <a:spcPts val="800"/>
              </a:spcBef>
              <a:spcAft>
                <a:spcPts val="800"/>
              </a:spcAft>
              <a:defRPr sz="2200">
                <a:solidFill>
                  <a:srgbClr val="FFFFFF"/>
                </a:solidFill>
              </a:defRPr>
            </a:pPr>
            <a:r>
              <a:t>      Complete and verify before moving to next</a:t>
            </a:r>
          </a:p>
          <a:p>
            <a:pPr>
              <a:spcBef>
                <a:spcPts val="800"/>
              </a:spcBef>
              <a:spcAft>
                <a:spcPts val="800"/>
              </a:spcAft>
              <a:defRPr sz="2200">
                <a:solidFill>
                  <a:srgbClr val="FFFFFF"/>
                </a:solidFill>
              </a:defRPr>
            </a:pPr>
            <a:r>
              <a:t>  Fresh Sessions</a:t>
            </a:r>
          </a:p>
          <a:p>
            <a:pPr>
              <a:spcBef>
                <a:spcPts val="800"/>
              </a:spcBef>
              <a:spcAft>
                <a:spcPts val="800"/>
              </a:spcAft>
              <a:defRPr sz="2200">
                <a:solidFill>
                  <a:srgbClr val="FFFFFF"/>
                </a:solidFill>
              </a:defRPr>
            </a:pPr>
            <a:r>
              <a:t>      /clear between distinct tasks</a:t>
            </a:r>
          </a:p>
          <a:p>
            <a:pPr>
              <a:spcBef>
                <a:spcPts val="800"/>
              </a:spcBef>
              <a:spcAft>
                <a:spcPts val="800"/>
              </a:spcAft>
              <a:defRPr sz="2200">
                <a:solidFill>
                  <a:srgbClr val="FFFFFF"/>
                </a:solidFill>
              </a:defRPr>
            </a:pPr>
            <a:r>
              <a:t>      Start new session for unrelated work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 Management</a:t>
            </a:r>
          </a:p>
          <a:p>
            <a:pPr>
              <a:spcBef>
                <a:spcPts val="800"/>
              </a:spcBef>
              <a:spcAft>
                <a:spcPts val="800"/>
              </a:spcAft>
              <a:defRPr sz="2200">
                <a:solidFill>
                  <a:srgbClr val="FFFFFF"/>
                </a:solidFill>
              </a:defRPr>
            </a:pPr>
            <a:r>
              <a:t>      /init - Start fresh session</a:t>
            </a:r>
          </a:p>
          <a:p>
            <a:pPr>
              <a:spcBef>
                <a:spcPts val="800"/>
              </a:spcBef>
              <a:spcAft>
                <a:spcPts val="800"/>
              </a:spcAft>
              <a:defRPr sz="2200">
                <a:solidFill>
                  <a:srgbClr val="FFFFFF"/>
                </a:solidFill>
              </a:defRPr>
            </a:pPr>
            <a:r>
              <a:t>      /clear - Clear history</a:t>
            </a:r>
          </a:p>
          <a:p>
            <a:pPr>
              <a:spcBef>
                <a:spcPts val="800"/>
              </a:spcBef>
              <a:spcAft>
                <a:spcPts val="800"/>
              </a:spcAft>
              <a:defRPr sz="2200">
                <a:solidFill>
                  <a:srgbClr val="FFFFFF"/>
                </a:solidFill>
              </a:defRPr>
            </a:pPr>
            <a:r>
              <a:t>      /compact - Summarize conversation</a:t>
            </a:r>
          </a:p>
          <a:p>
            <a:pPr>
              <a:spcBef>
                <a:spcPts val="800"/>
              </a:spcBef>
              <a:spcAft>
                <a:spcPts val="800"/>
              </a:spcAft>
              <a:defRPr sz="2200">
                <a:solidFill>
                  <a:srgbClr val="FFFFFF"/>
                </a:solidFill>
              </a:defRPr>
            </a:pPr>
            <a:r>
              <a:t>  Model &amp; Output</a:t>
            </a:r>
          </a:p>
          <a:p>
            <a:pPr>
              <a:spcBef>
                <a:spcPts val="800"/>
              </a:spcBef>
              <a:spcAft>
                <a:spcPts val="800"/>
              </a:spcAft>
              <a:defRPr sz="2200">
                <a:solidFill>
                  <a:srgbClr val="FFFFFF"/>
                </a:solidFill>
              </a:defRPr>
            </a:pPr>
            <a:r>
              <a:t>      /model - Switch models</a:t>
            </a:r>
          </a:p>
          <a:p>
            <a:pPr>
              <a:spcBef>
                <a:spcPts val="800"/>
              </a:spcBef>
              <a:spcAft>
                <a:spcPts val="800"/>
              </a:spcAft>
              <a:defRPr sz="2200">
                <a:solidFill>
                  <a:srgbClr val="FFFFFF"/>
                </a:solidFill>
              </a:defRPr>
            </a:pPr>
            <a:r>
              <a:t>      /thinking - Toggle reasoning</a:t>
            </a:r>
          </a:p>
          <a:p>
            <a:pPr>
              <a:spcBef>
                <a:spcPts val="800"/>
              </a:spcBef>
              <a:spcAft>
                <a:spcPts val="800"/>
              </a:spcAft>
              <a:defRPr sz="2200">
                <a:solidFill>
                  <a:srgbClr val="FFFFFF"/>
                </a:solidFill>
              </a:defRPr>
            </a:pPr>
            <a:r>
              <a:t>      /cost - Show token usage</a:t>
            </a:r>
          </a:p>
          <a:p>
            <a:pPr>
              <a:spcBef>
                <a:spcPts val="800"/>
              </a:spcBef>
              <a:spcAft>
                <a:spcPts val="800"/>
              </a:spcAft>
              <a:defRPr sz="2200">
                <a:solidFill>
                  <a:srgbClr val="FFFFFF"/>
                </a:solidFill>
              </a:defRPr>
            </a:pPr>
            <a:r>
              <a:t>  Permissions</a:t>
            </a:r>
          </a:p>
          <a:p>
            <a:pPr>
              <a:spcBef>
                <a:spcPts val="800"/>
              </a:spcBef>
              <a:spcAft>
                <a:spcPts val="800"/>
              </a:spcAft>
              <a:defRPr sz="2200">
                <a:solidFill>
                  <a:srgbClr val="FFFFFF"/>
                </a:solidFill>
              </a:defRPr>
            </a:pPr>
            <a:r>
              <a:t>      /permissions - View/change level</a:t>
            </a:r>
          </a:p>
          <a:p>
            <a:pPr>
              <a:spcBef>
                <a:spcPts val="800"/>
              </a:spcBef>
              <a:spcAft>
                <a:spcPts val="800"/>
              </a:spcAft>
              <a:defRPr sz="2200">
                <a:solidFill>
                  <a:srgbClr val="FFFFFF"/>
                </a:solidFill>
              </a:defRPr>
            </a:pPr>
            <a:r>
              <a:t>      /allowed-tools - List enabled tools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/init</a:t>
            </a:r>
          </a:p>
          <a:p>
            <a:pPr>
              <a:spcBef>
                <a:spcPts val="800"/>
              </a:spcBef>
              <a:spcAft>
                <a:spcPts val="800"/>
              </a:spcAft>
              <a:defRPr sz="2200">
                <a:solidFill>
                  <a:srgbClr val="FFFFFF"/>
                </a:solidFill>
              </a:defRPr>
            </a:pPr>
            <a:r>
              <a:t>      Starts completely fresh session</a:t>
            </a:r>
          </a:p>
          <a:p>
            <a:pPr>
              <a:spcBef>
                <a:spcPts val="800"/>
              </a:spcBef>
              <a:spcAft>
                <a:spcPts val="800"/>
              </a:spcAft>
              <a:defRPr sz="2200">
                <a:solidFill>
                  <a:srgbClr val="FFFFFF"/>
                </a:solidFill>
              </a:defRPr>
            </a:pPr>
            <a:r>
              <a:t>      Clears all context and history</a:t>
            </a:r>
          </a:p>
          <a:p>
            <a:pPr>
              <a:spcBef>
                <a:spcPts val="800"/>
              </a:spcBef>
              <a:spcAft>
                <a:spcPts val="800"/>
              </a:spcAft>
              <a:defRPr sz="2200">
                <a:solidFill>
                  <a:srgbClr val="FFFFFF"/>
                </a:solidFill>
              </a:defRPr>
            </a:pPr>
            <a:r>
              <a:t>  /clear</a:t>
            </a:r>
          </a:p>
          <a:p>
            <a:pPr>
              <a:spcBef>
                <a:spcPts val="800"/>
              </a:spcBef>
              <a:spcAft>
                <a:spcPts val="800"/>
              </a:spcAft>
              <a:defRPr sz="2200">
                <a:solidFill>
                  <a:srgbClr val="FFFFFF"/>
                </a:solidFill>
              </a:defRPr>
            </a:pPr>
            <a:r>
              <a:t>      Clears conversation history</a:t>
            </a:r>
          </a:p>
          <a:p>
            <a:pPr>
              <a:spcBef>
                <a:spcPts val="800"/>
              </a:spcBef>
              <a:spcAft>
                <a:spcPts val="800"/>
              </a:spcAft>
              <a:defRPr sz="2200">
                <a:solidFill>
                  <a:srgbClr val="FFFFFF"/>
                </a:solidFill>
              </a:defRPr>
            </a:pPr>
            <a:r>
              <a:t>      Keeps CLAUDE.md and file tree</a:t>
            </a:r>
          </a:p>
          <a:p>
            <a:pPr>
              <a:spcBef>
                <a:spcPts val="800"/>
              </a:spcBef>
              <a:spcAft>
                <a:spcPts val="800"/>
              </a:spcAft>
              <a:defRPr sz="2200">
                <a:solidFill>
                  <a:srgbClr val="FFFFFF"/>
                </a:solidFill>
              </a:defRPr>
            </a:pPr>
            <a:r>
              <a:t>  /compact</a:t>
            </a:r>
          </a:p>
          <a:p>
            <a:pPr>
              <a:spcBef>
                <a:spcPts val="800"/>
              </a:spcBef>
              <a:spcAft>
                <a:spcPts val="800"/>
              </a:spcAft>
              <a:defRPr sz="2200">
                <a:solidFill>
                  <a:srgbClr val="FFFFFF"/>
                </a:solidFill>
              </a:defRPr>
            </a:pPr>
            <a:r>
              <a:t>      Summarizes conversation</a:t>
            </a:r>
          </a:p>
          <a:p>
            <a:pPr>
              <a:spcBef>
                <a:spcPts val="800"/>
              </a:spcBef>
              <a:spcAft>
                <a:spcPts val="800"/>
              </a:spcAft>
              <a:defRPr sz="2200">
                <a:solidFill>
                  <a:srgbClr val="FFFFFF"/>
                </a:solidFill>
              </a:defRPr>
            </a:pPr>
            <a:r>
              <a:t>      Reduces token usage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a:t>
            </a:r>
          </a:p>
          <a:p>
            <a:pPr>
              <a:spcBef>
                <a:spcPts val="800"/>
              </a:spcBef>
              <a:spcAft>
                <a:spcPts val="800"/>
              </a:spcAft>
              <a:defRPr sz="2200">
                <a:solidFill>
                  <a:srgbClr val="FFFFFF"/>
                </a:solidFill>
              </a:defRPr>
            </a:pPr>
            <a:r>
              <a:t>      Switch models mid-session</a:t>
            </a:r>
          </a:p>
          <a:p>
            <a:pPr>
              <a:spcBef>
                <a:spcPts val="800"/>
              </a:spcBef>
              <a:spcAft>
                <a:spcPts val="800"/>
              </a:spcAft>
              <a:defRPr sz="2200">
                <a:solidFill>
                  <a:srgbClr val="FFFFFF"/>
                </a:solidFill>
              </a:defRPr>
            </a:pPr>
            <a:r>
              <a:t>      Each model has different tradeoffs</a:t>
            </a:r>
          </a:p>
          <a:p>
            <a:pPr>
              <a:spcBef>
                <a:spcPts val="800"/>
              </a:spcBef>
              <a:spcAft>
                <a:spcPts val="800"/>
              </a:spcAft>
              <a:defRPr sz="2200">
                <a:solidFill>
                  <a:srgbClr val="FFFFFF"/>
                </a:solidFill>
              </a:defRPr>
            </a:pPr>
            <a:r>
              <a:t>      Change affects current session only</a:t>
            </a:r>
          </a:p>
          <a:p>
            <a:pPr>
              <a:spcBef>
                <a:spcPts val="800"/>
              </a:spcBef>
              <a:spcAft>
                <a:spcPts val="800"/>
              </a:spcAft>
              <a:defRPr sz="2200">
                <a:solidFill>
                  <a:srgbClr val="FFFFFF"/>
                </a:solidFill>
              </a:defRPr>
            </a:pPr>
            <a:r>
              <a:t>  /thinking</a:t>
            </a:r>
          </a:p>
          <a:p>
            <a:pPr>
              <a:spcBef>
                <a:spcPts val="800"/>
              </a:spcBef>
              <a:spcAft>
                <a:spcPts val="800"/>
              </a:spcAft>
              <a:defRPr sz="2200">
                <a:solidFill>
                  <a:srgbClr val="FFFFFF"/>
                </a:solidFill>
              </a:defRPr>
            </a:pPr>
            <a:r>
              <a:t>      Toggles extended reasoning</a:t>
            </a:r>
          </a:p>
          <a:p>
            <a:pPr>
              <a:spcBef>
                <a:spcPts val="800"/>
              </a:spcBef>
              <a:spcAft>
                <a:spcPts val="800"/>
              </a:spcAft>
              <a:defRPr sz="2200">
                <a:solidFill>
                  <a:srgbClr val="FFFFFF"/>
                </a:solidFill>
              </a:defRPr>
            </a:pPr>
            <a:r>
              <a:t>      Shows step-by-step thinking</a:t>
            </a:r>
          </a:p>
          <a:p>
            <a:pPr>
              <a:spcBef>
                <a:spcPts val="800"/>
              </a:spcBef>
              <a:spcAft>
                <a:spcPts val="800"/>
              </a:spcAft>
              <a:defRPr sz="2200">
                <a:solidFill>
                  <a:srgbClr val="FFFFFF"/>
                </a:solidFill>
              </a:defRPr>
            </a:pPr>
            <a:r>
              <a:t>      Useful for debugging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/permissions</a:t>
            </a:r>
          </a:p>
          <a:p>
            <a:pPr>
              <a:spcBef>
                <a:spcPts val="800"/>
              </a:spcBef>
              <a:spcAft>
                <a:spcPts val="800"/>
              </a:spcAft>
              <a:defRPr sz="2200">
                <a:solidFill>
                  <a:srgbClr val="FFFFFF"/>
                </a:solidFill>
              </a:defRPr>
            </a:pPr>
            <a:r>
              <a:t>      View current permission level</a:t>
            </a:r>
          </a:p>
          <a:p>
            <a:pPr>
              <a:spcBef>
                <a:spcPts val="800"/>
              </a:spcBef>
              <a:spcAft>
                <a:spcPts val="800"/>
              </a:spcAft>
              <a:defRPr sz="2200">
                <a:solidFill>
                  <a:srgbClr val="FFFFFF"/>
                </a:solidFill>
              </a:defRPr>
            </a:pPr>
            <a:r>
              <a:t>      Change: /permissions suggest-only</a:t>
            </a:r>
          </a:p>
          <a:p>
            <a:pPr>
              <a:spcBef>
                <a:spcPts val="800"/>
              </a:spcBef>
              <a:spcAft>
                <a:spcPts val="800"/>
              </a:spcAft>
              <a:defRPr sz="2200">
                <a:solidFill>
                  <a:srgbClr val="FFFFFF"/>
                </a:solidFill>
              </a:defRPr>
            </a:pPr>
            <a:r>
              <a:t>      Controls autonomy</a:t>
            </a:r>
          </a:p>
          <a:p>
            <a:pPr>
              <a:spcBef>
                <a:spcPts val="800"/>
              </a:spcBef>
              <a:spcAft>
                <a:spcPts val="800"/>
              </a:spcAft>
              <a:defRPr sz="2200">
                <a:solidFill>
                  <a:srgbClr val="FFFFFF"/>
                </a:solidFill>
              </a:defRPr>
            </a:pPr>
            <a:r>
              <a:t>  /allowed-tools</a:t>
            </a:r>
          </a:p>
          <a:p>
            <a:pPr>
              <a:spcBef>
                <a:spcPts val="800"/>
              </a:spcBef>
              <a:spcAft>
                <a:spcPts val="800"/>
              </a:spcAft>
              <a:defRPr sz="2200">
                <a:solidFill>
                  <a:srgbClr val="FFFFFF"/>
                </a:solidFill>
              </a:defRPr>
            </a:pPr>
            <a:r>
              <a:t>      Shows enabled tools</a:t>
            </a:r>
          </a:p>
          <a:p>
            <a:pPr>
              <a:spcBef>
                <a:spcPts val="800"/>
              </a:spcBef>
              <a:spcAft>
                <a:spcPts val="800"/>
              </a:spcAft>
              <a:defRPr sz="2200">
                <a:solidFill>
                  <a:srgbClr val="FFFFFF"/>
                </a:solidFill>
              </a:defRPr>
            </a:pPr>
            <a:r>
              <a:t>      Useful for debugging restrictions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/output-format</a:t>
            </a:r>
          </a:p>
          <a:p>
            <a:pPr>
              <a:spcBef>
                <a:spcPts val="800"/>
              </a:spcBef>
              <a:spcAft>
                <a:spcPts val="800"/>
              </a:spcAft>
              <a:defRPr sz="2200">
                <a:solidFill>
                  <a:srgbClr val="FFFFFF"/>
                </a:solidFill>
              </a:defRPr>
            </a:pPr>
            <a:r>
              <a:t>      concise - Minimal</a:t>
            </a:r>
          </a:p>
          <a:p>
            <a:pPr>
              <a:spcBef>
                <a:spcPts val="800"/>
              </a:spcBef>
              <a:spcAft>
                <a:spcPts val="800"/>
              </a:spcAft>
              <a:defRPr sz="2200">
                <a:solidFill>
                  <a:srgbClr val="FFFFFF"/>
                </a:solidFill>
              </a:defRPr>
            </a:pPr>
            <a:r>
              <a:t>      verbose - Detailed</a:t>
            </a:r>
          </a:p>
          <a:p>
            <a:pPr>
              <a:spcBef>
                <a:spcPts val="800"/>
              </a:spcBef>
              <a:spcAft>
                <a:spcPts val="800"/>
              </a:spcAft>
              <a:defRPr sz="2200">
                <a:solidFill>
                  <a:srgbClr val="FFFFFF"/>
                </a:solidFill>
              </a:defRPr>
            </a:pPr>
            <a:r>
              <a:t>      diff - Changes only</a:t>
            </a:r>
          </a:p>
          <a:p>
            <a:pPr>
              <a:spcBef>
                <a:spcPts val="800"/>
              </a:spcBef>
              <a:spcAft>
                <a:spcPts val="800"/>
              </a:spcAft>
              <a:defRPr sz="2200">
                <a:solidFill>
                  <a:srgbClr val="FFFFFF"/>
                </a:solidFill>
              </a:defRPr>
            </a:pPr>
            <a:r>
              <a:t>  /verbose</a:t>
            </a:r>
          </a:p>
          <a:p>
            <a:pPr>
              <a:spcBef>
                <a:spcPts val="800"/>
              </a:spcBef>
              <a:spcAft>
                <a:spcPts val="800"/>
              </a:spcAft>
              <a:defRPr sz="2200">
                <a:solidFill>
                  <a:srgbClr val="FFFFFF"/>
                </a:solidFill>
              </a:defRPr>
            </a:pPr>
            <a:r>
              <a:t>      Toggles detailed output</a:t>
            </a:r>
          </a:p>
          <a:p>
            <a:pPr>
              <a:spcBef>
                <a:spcPts val="800"/>
              </a:spcBef>
              <a:spcAft>
                <a:spcPts val="800"/>
              </a:spcAft>
              <a:defRPr sz="2200">
                <a:solidFill>
                  <a:srgbClr val="FFFFFF"/>
                </a:solidFill>
              </a:defRPr>
            </a:pPr>
            <a:r>
              <a:t>      Shows tool calls</a:t>
            </a:r>
          </a:p>
          <a:p>
            <a:pPr>
              <a:spcBef>
                <a:spcPts val="800"/>
              </a:spcBef>
              <a:spcAft>
                <a:spcPts val="800"/>
              </a:spcAft>
              <a:defRPr sz="2200">
                <a:solidFill>
                  <a:srgbClr val="FFFFFF"/>
                </a:solidFill>
              </a:defRPr>
            </a:pPr>
            <a:r>
              <a:t>      Great for learning</a:t>
            </a:r>
          </a:p>
          <a:p>
            <a:pPr>
              <a:spcBef>
                <a:spcPts val="800"/>
              </a:spcBef>
              <a:spcAft>
                <a:spcPts val="800"/>
              </a:spcAft>
              <a:defRPr sz="2200">
                <a:solidFill>
                  <a:srgbClr val="FFFFFF"/>
                </a:solidFill>
              </a:defRPr>
            </a:pPr>
            <a:r>
              <a:t>  /cost</a:t>
            </a:r>
          </a:p>
          <a:p>
            <a:pPr>
              <a:spcBef>
                <a:spcPts val="800"/>
              </a:spcBef>
              <a:spcAft>
                <a:spcPts val="800"/>
              </a:spcAft>
              <a:defRPr sz="2200">
                <a:solidFill>
                  <a:srgbClr val="FFFFFF"/>
                </a:solidFill>
              </a:defRPr>
            </a:pPr>
            <a:r>
              <a:t>      Shows token usage</a:t>
            </a:r>
          </a:p>
          <a:p>
            <a:pPr>
              <a:spcBef>
                <a:spcPts val="800"/>
              </a:spcBef>
              <a:spcAft>
                <a:spcPts val="800"/>
              </a:spcAft>
              <a:defRPr sz="2200">
                <a:solidFill>
                  <a:srgbClr val="FFFFFF"/>
                </a:solidFill>
              </a:defRPr>
            </a:pPr>
            <a:r>
              <a:t>      Estimated API cost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Intent (Most People)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Precise Spec (Power Users)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you type ANY prompt, answer these:</a:t>
            </a:r>
            <a:br/>
            <a:br/>
            <a:r>
              <a:t>1. PROBLEM: What problem am I solving?</a:t>
            </a:r>
            <a:br/>
            <a:r>
              <a:t>   (Not "build X" — why does X need to exist?)</a:t>
            </a:r>
            <a:br/>
            <a:br/>
            <a:r>
              <a:t>2. USERS: Who uses this and what do they need?</a:t>
            </a:r>
            <a:br/>
            <a:r>
              <a:t>   (Scenarios, not features)</a:t>
            </a:r>
            <a:b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Approval-Based Actions</a:t>
            </a:r>
          </a:p>
          <a:p>
            <a:pPr>
              <a:spcBef>
                <a:spcPts val="800"/>
              </a:spcBef>
              <a:spcAft>
                <a:spcPts val="800"/>
              </a:spcAft>
              <a:defRPr sz="2200">
                <a:solidFill>
                  <a:srgbClr val="FFFFFF"/>
                </a:solidFill>
              </a:defRPr>
            </a:pPr>
            <a:r>
              <a:t>      By default, asks before executing</a:t>
            </a:r>
          </a:p>
          <a:p>
            <a:pPr>
              <a:spcBef>
                <a:spcPts val="800"/>
              </a:spcBef>
              <a:spcAft>
                <a:spcPts val="800"/>
              </a:spcAft>
              <a:defRPr sz="2200">
                <a:solidFill>
                  <a:srgbClr val="FFFFFF"/>
                </a:solidFill>
              </a:defRPr>
            </a:pPr>
            <a:r>
              <a:t>      Review diffs before applying</a:t>
            </a:r>
          </a:p>
          <a:p>
            <a:pPr>
              <a:spcBef>
                <a:spcPts val="800"/>
              </a:spcBef>
              <a:spcAft>
                <a:spcPts val="800"/>
              </a:spcAft>
              <a:defRPr sz="2200">
                <a:solidFill>
                  <a:srgbClr val="FFFFFF"/>
                </a:solidFill>
              </a:defRPr>
            </a:pPr>
            <a:r>
              <a:t>      Opt-in to auto-approval</a:t>
            </a:r>
          </a:p>
          <a:p>
            <a:pPr>
              <a:spcBef>
                <a:spcPts val="800"/>
              </a:spcBef>
              <a:spcAft>
                <a:spcPts val="800"/>
              </a:spcAft>
              <a:defRPr sz="2200">
                <a:solidFill>
                  <a:srgbClr val="FFFFFF"/>
                </a:solidFill>
              </a:defRPr>
            </a:pPr>
            <a:r>
              <a:t>  Trust Levels</a:t>
            </a:r>
          </a:p>
          <a:p>
            <a:pPr>
              <a:spcBef>
                <a:spcPts val="800"/>
              </a:spcBef>
              <a:spcAft>
                <a:spcPts val="800"/>
              </a:spcAft>
              <a:defRPr sz="2200">
                <a:solidFill>
                  <a:srgbClr val="FFFFFF"/>
                </a:solidFill>
              </a:defRPr>
            </a:pPr>
            <a:r>
              <a:t>      Suggest Only: Never apply changes</a:t>
            </a:r>
          </a:p>
          <a:p>
            <a:pPr>
              <a:spcBef>
                <a:spcPts val="800"/>
              </a:spcBef>
              <a:spcAft>
                <a:spcPts val="800"/>
              </a:spcAft>
              <a:defRPr sz="2200">
                <a:solidFill>
                  <a:srgbClr val="FFFFFF"/>
                </a:solidFill>
              </a:defRPr>
            </a:pPr>
            <a:r>
              <a:t>      Auto-Approve Read: Read freely, ask before write</a:t>
            </a:r>
          </a:p>
          <a:p>
            <a:pPr>
              <a:spcBef>
                <a:spcPts val="800"/>
              </a:spcBef>
              <a:spcAft>
                <a:spcPts val="800"/>
              </a:spcAft>
              <a:defRPr sz="2200">
                <a:solidFill>
                  <a:srgbClr val="FFFFFF"/>
                </a:solidFill>
              </a:defRPr>
            </a:pPr>
            <a:r>
              <a:t>      Auto-Approve All: Full autonomy</a:t>
            </a:r>
          </a:p>
          <a:p>
            <a:pPr>
              <a:spcBef>
                <a:spcPts val="800"/>
              </a:spcBef>
              <a:spcAft>
                <a:spcPts val="800"/>
              </a:spcAft>
              <a:defRPr sz="2200">
                <a:solidFill>
                  <a:srgbClr val="FFFFFF"/>
                </a:solidFill>
              </a:defRPr>
            </a:pPr>
            <a:r>
              <a:t>  Allowlists &amp; Blocklists</a:t>
            </a:r>
          </a:p>
          <a:p>
            <a:pPr>
              <a:spcBef>
                <a:spcPts val="800"/>
              </a:spcBef>
              <a:spcAft>
                <a:spcPts val="800"/>
              </a:spcAft>
              <a:defRPr sz="2200">
                <a:solidFill>
                  <a:srgbClr val="FFFFFF"/>
                </a:solidFill>
              </a:defRPr>
            </a:pPr>
            <a:r>
              <a:t>      Specify which commands allowed</a:t>
            </a:r>
          </a:p>
          <a:p>
            <a:pPr>
              <a:spcBef>
                <a:spcPts val="800"/>
              </a:spcBef>
              <a:spcAft>
                <a:spcPts val="800"/>
              </a:spcAft>
              <a:defRPr sz="2200">
                <a:solidFill>
                  <a:srgbClr val="FFFFFF"/>
                </a:solidFill>
              </a:defRPr>
            </a:pPr>
            <a:r>
              <a:t>      Block dangerous commands</a:t>
            </a:r>
          </a:p>
          <a:p>
            <a:pPr>
              <a:spcBef>
                <a:spcPts val="800"/>
              </a:spcBef>
              <a:spcAft>
                <a:spcPts val="800"/>
              </a:spcAft>
              <a:defRPr sz="2200">
                <a:solidFill>
                  <a:srgbClr val="FFFFFF"/>
                </a:solidFill>
              </a:defRPr>
            </a:pPr>
            <a:r>
              <a:t>      Configure per-project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Command Allowlists</a:t>
            </a:r>
          </a:p>
          <a:p>
            <a:pPr>
              <a:spcBef>
                <a:spcPts val="800"/>
              </a:spcBef>
              <a:spcAft>
                <a:spcPts val="800"/>
              </a:spcAft>
              <a:defRPr sz="2200">
                <a:solidFill>
                  <a:srgbClr val="FFFFFF"/>
                </a:solidFill>
              </a:defRPr>
            </a:pPr>
            <a:r>
              <a:t>      Specify exactly which commands permitted</a:t>
            </a:r>
          </a:p>
          <a:p>
            <a:pPr>
              <a:spcBef>
                <a:spcPts val="800"/>
              </a:spcBef>
              <a:spcAft>
                <a:spcPts val="800"/>
              </a:spcAft>
              <a:defRPr sz="2200">
                <a:solidFill>
                  <a:srgbClr val="FFFFFF"/>
                </a:solidFill>
              </a:defRPr>
            </a:pPr>
            <a:r>
              <a:t>      Strictest security</a:t>
            </a:r>
          </a:p>
          <a:p>
            <a:pPr>
              <a:spcBef>
                <a:spcPts val="800"/>
              </a:spcBef>
              <a:spcAft>
                <a:spcPts val="800"/>
              </a:spcAft>
              <a:defRPr sz="2200">
                <a:solidFill>
                  <a:srgbClr val="FFFFFF"/>
                </a:solidFill>
              </a:defRPr>
            </a:pPr>
            <a:r>
              <a:t>  Command Blocklists</a:t>
            </a:r>
          </a:p>
          <a:p>
            <a:pPr>
              <a:spcBef>
                <a:spcPts val="800"/>
              </a:spcBef>
              <a:spcAft>
                <a:spcPts val="800"/>
              </a:spcAft>
              <a:defRPr sz="2200">
                <a:solidFill>
                  <a:srgbClr val="FFFFFF"/>
                </a:solidFill>
              </a:defRPr>
            </a:pPr>
            <a:r>
              <a:t>      Block specific dangerous commands</a:t>
            </a:r>
          </a:p>
          <a:p>
            <a:pPr>
              <a:spcBef>
                <a:spcPts val="800"/>
              </a:spcBef>
              <a:spcAft>
                <a:spcPts val="800"/>
              </a:spcAft>
              <a:defRPr sz="2200">
                <a:solidFill>
                  <a:srgbClr val="FFFFFF"/>
                </a:solidFill>
              </a:defRPr>
            </a:pPr>
            <a:r>
              <a:t>      Everything else permitted</a:t>
            </a:r>
          </a:p>
          <a:p>
            <a:pPr>
              <a:spcBef>
                <a:spcPts val="800"/>
              </a:spcBef>
              <a:spcAft>
                <a:spcPts val="800"/>
              </a:spcAft>
              <a:defRPr sz="2200">
                <a:solidFill>
                  <a:srgbClr val="FFFFFF"/>
                </a:solidFill>
              </a:defRPr>
            </a:pPr>
            <a:r>
              <a:t>  File Access Patterns</a:t>
            </a:r>
          </a:p>
          <a:p>
            <a:pPr>
              <a:spcBef>
                <a:spcPts val="800"/>
              </a:spcBef>
              <a:spcAft>
                <a:spcPts val="800"/>
              </a:spcAft>
              <a:defRPr sz="2200">
                <a:solidFill>
                  <a:srgbClr val="FFFFFF"/>
                </a:solidFill>
              </a:defRPr>
            </a:pPr>
            <a:r>
              <a:t>      Block writes to sensitive directories</a:t>
            </a:r>
          </a:p>
          <a:p>
            <a:pPr>
              <a:spcBef>
                <a:spcPts val="800"/>
              </a:spcBef>
              <a:spcAft>
                <a:spcPts val="800"/>
              </a:spcAft>
              <a:defRPr sz="2200">
                <a:solidFill>
                  <a:srgbClr val="FFFFFF"/>
                </a:solidFill>
              </a:defRPr>
            </a:pPr>
            <a:r>
              <a:t>      Allow reads but prevent modifications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Audit Logs</a:t>
            </a:r>
          </a:p>
          <a:p>
            <a:pPr>
              <a:spcBef>
                <a:spcPts val="800"/>
              </a:spcBef>
              <a:spcAft>
                <a:spcPts val="800"/>
              </a:spcAft>
              <a:defRPr sz="2200">
                <a:solidFill>
                  <a:srgbClr val="FFFFFF"/>
                </a:solidFill>
              </a:defRPr>
            </a:pPr>
            <a:r>
              <a:t>      Track every action</a:t>
            </a:r>
          </a:p>
          <a:p>
            <a:pPr>
              <a:spcBef>
                <a:spcPts val="800"/>
              </a:spcBef>
              <a:spcAft>
                <a:spcPts val="800"/>
              </a:spcAft>
              <a:defRPr sz="2200">
                <a:solidFill>
                  <a:srgbClr val="FFFFFF"/>
                </a:solidFill>
              </a:defRPr>
            </a:pPr>
            <a:r>
              <a:t>      Centralized logging</a:t>
            </a:r>
          </a:p>
          <a:p>
            <a:pPr>
              <a:spcBef>
                <a:spcPts val="800"/>
              </a:spcBef>
              <a:spcAft>
                <a:spcPts val="800"/>
              </a:spcAft>
              <a:defRPr sz="2200">
                <a:solidFill>
                  <a:srgbClr val="FFFFFF"/>
                </a:solidFill>
              </a:defRPr>
            </a:pPr>
            <a:r>
              <a:t>      Searchable history</a:t>
            </a:r>
          </a:p>
          <a:p>
            <a:pPr>
              <a:spcBef>
                <a:spcPts val="800"/>
              </a:spcBef>
              <a:spcAft>
                <a:spcPts val="800"/>
              </a:spcAft>
              <a:defRPr sz="2200">
                <a:solidFill>
                  <a:srgbClr val="FFFFFF"/>
                </a:solidFill>
              </a:defRPr>
            </a:pPr>
            <a:r>
              <a:t>  Compliance</a:t>
            </a:r>
          </a:p>
          <a:p>
            <a:pPr>
              <a:spcBef>
                <a:spcPts val="800"/>
              </a:spcBef>
              <a:spcAft>
                <a:spcPts val="800"/>
              </a:spcAft>
              <a:defRPr sz="2200">
                <a:solidFill>
                  <a:srgbClr val="FFFFFF"/>
                </a:solidFill>
              </a:defRPr>
            </a:pPr>
            <a:r>
              <a:t>      SOC 2 Type II</a:t>
            </a:r>
          </a:p>
          <a:p>
            <a:pPr>
              <a:spcBef>
                <a:spcPts val="800"/>
              </a:spcBef>
              <a:spcAft>
                <a:spcPts val="800"/>
              </a:spcAft>
              <a:defRPr sz="2200">
                <a:solidFill>
                  <a:srgbClr val="FFFFFF"/>
                </a:solidFill>
              </a:defRPr>
            </a:pPr>
            <a:r>
              <a:t>      Data residency controls</a:t>
            </a:r>
          </a:p>
          <a:p>
            <a:pPr>
              <a:spcBef>
                <a:spcPts val="800"/>
              </a:spcBef>
              <a:spcAft>
                <a:spcPts val="800"/>
              </a:spcAft>
              <a:defRPr sz="2200">
                <a:solidFill>
                  <a:srgbClr val="FFFFFF"/>
                </a:solidFill>
              </a:defRPr>
            </a:pPr>
            <a:r>
              <a:t>      GDPR compliance</a:t>
            </a:r>
          </a:p>
          <a:p>
            <a:pPr>
              <a:spcBef>
                <a:spcPts val="800"/>
              </a:spcBef>
              <a:spcAft>
                <a:spcPts val="800"/>
              </a:spcAft>
              <a:defRPr sz="2200">
                <a:solidFill>
                  <a:srgbClr val="FFFFFF"/>
                </a:solidFill>
              </a:defRPr>
            </a:pPr>
            <a:r>
              <a:t>  Data Governance</a:t>
            </a:r>
          </a:p>
          <a:p>
            <a:pPr>
              <a:spcBef>
                <a:spcPts val="800"/>
              </a:spcBef>
              <a:spcAft>
                <a:spcPts val="800"/>
              </a:spcAft>
              <a:defRPr sz="2200">
                <a:solidFill>
                  <a:srgbClr val="FFFFFF"/>
                </a:solidFill>
              </a:defRPr>
            </a:pPr>
            <a:r>
              <a:t>      Control what leaves environment</a:t>
            </a:r>
          </a:p>
          <a:p>
            <a:pPr>
              <a:spcBef>
                <a:spcPts val="800"/>
              </a:spcBef>
              <a:spcAft>
                <a:spcPts val="800"/>
              </a:spcAft>
              <a:defRPr sz="2200">
                <a:solidFill>
                  <a:srgbClr val="FFFFFF"/>
                </a:solidFill>
              </a:defRPr>
            </a:pPr>
            <a:r>
              <a:t>      On-premises options</a:t>
            </a:r>
          </a:p>
          <a:p>
            <a:pPr>
              <a:spcBef>
                <a:spcPts val="800"/>
              </a:spcBef>
              <a:spcAft>
                <a:spcPts val="800"/>
              </a:spcAft>
              <a:defRPr sz="2200">
                <a:solidFill>
                  <a:srgbClr val="FFFFFF"/>
                </a:solidFill>
              </a:defRPr>
            </a:pPr>
            <a:r>
              <a:t>      Retention policies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How It Works</a:t>
            </a:r>
          </a:p>
          <a:p>
            <a:pPr>
              <a:spcBef>
                <a:spcPts val="800"/>
              </a:spcBef>
              <a:spcAft>
                <a:spcPts val="800"/>
              </a:spcAft>
              <a:defRPr sz="2200">
                <a:solidFill>
                  <a:srgbClr val="FFFFFF"/>
                </a:solidFill>
              </a:defRPr>
            </a:pPr>
            <a:r>
              <a:t>      Makes changes</a:t>
            </a:r>
          </a:p>
          <a:p>
            <a:pPr>
              <a:spcBef>
                <a:spcPts val="800"/>
              </a:spcBef>
              <a:spcAft>
                <a:spcPts val="800"/>
              </a:spcAft>
              <a:defRPr sz="2200">
                <a:solidFill>
                  <a:srgbClr val="FFFFFF"/>
                </a:solidFill>
              </a:defRPr>
            </a:pPr>
            <a:r>
              <a:t>      Generates commit message</a:t>
            </a:r>
          </a:p>
          <a:p>
            <a:pPr>
              <a:spcBef>
                <a:spcPts val="800"/>
              </a:spcBef>
              <a:spcAft>
                <a:spcPts val="800"/>
              </a:spcAft>
              <a:defRPr sz="2200">
                <a:solidFill>
                  <a:srgbClr val="FFFFFF"/>
                </a:solidFill>
              </a:defRPr>
            </a:pPr>
            <a:r>
              <a:t>      Prompts approval</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Conventional Commits format</a:t>
            </a:r>
          </a:p>
          <a:p>
            <a:pPr>
              <a:spcBef>
                <a:spcPts val="800"/>
              </a:spcBef>
              <a:spcAft>
                <a:spcPts val="800"/>
              </a:spcAft>
              <a:defRPr sz="2200">
                <a:solidFill>
                  <a:srgbClr val="FFFFFF"/>
                </a:solidFill>
              </a:defRPr>
            </a:pPr>
            <a:r>
              <a:t>      Better than manual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Creating</a:t>
            </a:r>
          </a:p>
          <a:p>
            <a:pPr>
              <a:spcBef>
                <a:spcPts val="800"/>
              </a:spcBef>
              <a:spcAft>
                <a:spcPts val="800"/>
              </a:spcAft>
              <a:defRPr sz="2200">
                <a:solidFill>
                  <a:srgbClr val="FFFFFF"/>
                </a:solidFill>
              </a:defRPr>
            </a:pPr>
            <a:r>
              <a:t>      Proper names</a:t>
            </a:r>
          </a:p>
          <a:p>
            <a:pPr>
              <a:spcBef>
                <a:spcPts val="800"/>
              </a:spcBef>
              <a:spcAft>
                <a:spcPts val="800"/>
              </a:spcAft>
              <a:defRPr sz="2200">
                <a:solidFill>
                  <a:srgbClr val="FFFFFF"/>
                </a:solidFill>
              </a:defRPr>
            </a:pPr>
            <a:r>
              <a:t>      Team conventions</a:t>
            </a:r>
          </a:p>
          <a:p>
            <a:pPr>
              <a:spcBef>
                <a:spcPts val="800"/>
              </a:spcBef>
              <a:spcAft>
                <a:spcPts val="800"/>
              </a:spcAft>
              <a:defRPr sz="2200">
                <a:solidFill>
                  <a:srgbClr val="FFFFFF"/>
                </a:solidFill>
              </a:defRPr>
            </a:pPr>
            <a:r>
              <a:t>      Auto checkout</a:t>
            </a:r>
          </a:p>
          <a:p>
            <a:pPr>
              <a:spcBef>
                <a:spcPts val="800"/>
              </a:spcBef>
              <a:spcAft>
                <a:spcPts val="800"/>
              </a:spcAft>
              <a:defRPr sz="2200">
                <a:solidFill>
                  <a:srgbClr val="FFFFFF"/>
                </a:solidFill>
              </a:defRPr>
            </a:pPr>
            <a:r>
              <a:t>  Naming</a:t>
            </a:r>
          </a:p>
          <a:p>
            <a:pPr>
              <a:spcBef>
                <a:spcPts val="800"/>
              </a:spcBef>
              <a:spcAft>
                <a:spcPts val="800"/>
              </a:spcAft>
              <a:defRPr sz="2200">
                <a:solidFill>
                  <a:srgbClr val="FFFFFF"/>
                </a:solidFill>
              </a:defRPr>
            </a:pPr>
            <a:r>
              <a:t>      Configurable</a:t>
            </a:r>
          </a:p>
          <a:p>
            <a:pPr>
              <a:spcBef>
                <a:spcPts val="800"/>
              </a:spcBef>
              <a:spcAft>
                <a:spcPts val="800"/>
              </a:spcAft>
              <a:defRPr sz="2200">
                <a:solidFill>
                  <a:srgbClr val="FFFFFF"/>
                </a:solidFill>
              </a:defRPr>
            </a:pPr>
            <a:r>
              <a:t>      Includes tickets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Description</a:t>
            </a:r>
          </a:p>
          <a:p>
            <a:pPr>
              <a:spcBef>
                <a:spcPts val="800"/>
              </a:spcBef>
              <a:spcAft>
                <a:spcPts val="800"/>
              </a:spcAft>
              <a:defRPr sz="2200">
                <a:solidFill>
                  <a:srgbClr val="FFFFFF"/>
                </a:solidFill>
              </a:defRPr>
            </a:pPr>
            <a:r>
              <a:t>      Title from commits</a:t>
            </a:r>
          </a:p>
          <a:p>
            <a:pPr>
              <a:spcBef>
                <a:spcPts val="800"/>
              </a:spcBef>
              <a:spcAft>
                <a:spcPts val="800"/>
              </a:spcAft>
              <a:defRPr sz="2200">
                <a:solidFill>
                  <a:srgbClr val="FFFFFF"/>
                </a:solidFill>
              </a:defRPr>
            </a:pPr>
            <a:r>
              <a:t>      Summarizes changes</a:t>
            </a:r>
          </a:p>
          <a:p>
            <a:pPr>
              <a:spcBef>
                <a:spcPts val="800"/>
              </a:spcBef>
              <a:spcAft>
                <a:spcPts val="800"/>
              </a:spcAft>
              <a:defRPr sz="2200">
                <a:solidFill>
                  <a:srgbClr val="FFFFFF"/>
                </a:solidFill>
              </a:defRPr>
            </a:pPr>
            <a:r>
              <a:t>      Testing steps</a:t>
            </a:r>
          </a:p>
          <a:p>
            <a:pPr>
              <a:spcBef>
                <a:spcPts val="800"/>
              </a:spcBef>
              <a:spcAft>
                <a:spcPts val="800"/>
              </a:spcAft>
              <a:defRPr sz="2200">
                <a:solidFill>
                  <a:srgbClr val="FFFFFF"/>
                </a:solidFill>
              </a:defRPr>
            </a:pPr>
            <a:r>
              <a:t>  Links</a:t>
            </a:r>
          </a:p>
          <a:p>
            <a:pPr>
              <a:spcBef>
                <a:spcPts val="800"/>
              </a:spcBef>
              <a:spcAft>
                <a:spcPts val="800"/>
              </a:spcAft>
              <a:defRPr sz="2200">
                <a:solidFill>
                  <a:srgbClr val="FFFFFF"/>
                </a:solidFill>
              </a:defRPr>
            </a:pPr>
            <a:r>
              <a:t>      JIRA tickets</a:t>
            </a:r>
          </a:p>
          <a:p>
            <a:pPr>
              <a:spcBef>
                <a:spcPts val="800"/>
              </a:spcBef>
              <a:spcAft>
                <a:spcPts val="800"/>
              </a:spcAft>
              <a:defRPr sz="2200">
                <a:solidFill>
                  <a:srgbClr val="FFFFFF"/>
                </a:solidFill>
              </a:defRPr>
            </a:pPr>
            <a:r>
              <a:t>      GitHub issues</a:t>
            </a:r>
          </a:p>
          <a:p>
            <a:pPr>
              <a:spcBef>
                <a:spcPts val="800"/>
              </a:spcBef>
              <a:spcAft>
                <a:spcPts val="800"/>
              </a:spcAft>
              <a:defRPr sz="2200">
                <a:solidFill>
                  <a:srgbClr val="FFFFFF"/>
                </a:solidFill>
              </a:defRPr>
            </a:pPr>
            <a:r>
              <a:t>      Auto-closes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Blame</a:t>
            </a:r>
          </a:p>
          <a:p>
            <a:pPr>
              <a:spcBef>
                <a:spcPts val="800"/>
              </a:spcBef>
              <a:spcAft>
                <a:spcPts val="800"/>
              </a:spcAft>
              <a:defRPr sz="2200">
                <a:solidFill>
                  <a:srgbClr val="FFFFFF"/>
                </a:solidFill>
              </a:defRPr>
            </a:pPr>
            <a:r>
              <a:t>      Who changed this?</a:t>
            </a:r>
          </a:p>
          <a:p>
            <a:pPr>
              <a:spcBef>
                <a:spcPts val="800"/>
              </a:spcBef>
              <a:spcAft>
                <a:spcPts val="800"/>
              </a:spcAft>
              <a:defRPr sz="2200">
                <a:solidFill>
                  <a:srgbClr val="FFFFFF"/>
                </a:solidFill>
              </a:defRPr>
            </a:pPr>
            <a:r>
              <a:t>      When and why</a:t>
            </a:r>
          </a:p>
          <a:p>
            <a:pPr>
              <a:spcBef>
                <a:spcPts val="800"/>
              </a:spcBef>
              <a:spcAft>
                <a:spcPts val="800"/>
              </a:spcAft>
              <a:defRPr sz="2200">
                <a:solidFill>
                  <a:srgbClr val="FFFFFF"/>
                </a:solidFill>
              </a:defRPr>
            </a:pPr>
            <a:r>
              <a:t>  Logs</a:t>
            </a:r>
          </a:p>
          <a:p>
            <a:pPr>
              <a:spcBef>
                <a:spcPts val="800"/>
              </a:spcBef>
              <a:spcAft>
                <a:spcPts val="800"/>
              </a:spcAft>
              <a:defRPr sz="2200">
                <a:solidFill>
                  <a:srgbClr val="FFFFFF"/>
                </a:solidFill>
              </a:defRPr>
            </a:pPr>
            <a:r>
              <a:t>      Changes over time</a:t>
            </a:r>
          </a:p>
          <a:p>
            <a:pPr>
              <a:spcBef>
                <a:spcPts val="800"/>
              </a:spcBef>
              <a:spcAft>
                <a:spcPts val="800"/>
              </a:spcAft>
              <a:defRPr sz="2200">
                <a:solidFill>
                  <a:srgbClr val="FFFFFF"/>
                </a:solidFill>
              </a:defRPr>
            </a:pPr>
            <a:r>
              <a:t>      Hot spot identification</a:t>
            </a:r>
          </a:p>
          <a:p>
            <a:pPr>
              <a:spcBef>
                <a:spcPts val="800"/>
              </a:spcBef>
              <a:spcAft>
                <a:spcPts val="800"/>
              </a:spcAft>
              <a:defRPr sz="2200">
                <a:solidFill>
                  <a:srgbClr val="FFFFFF"/>
                </a:solidFill>
              </a:defRPr>
            </a:pPr>
            <a:r>
              <a:t>  Tracking</a:t>
            </a:r>
          </a:p>
          <a:p>
            <a:pPr>
              <a:spcBef>
                <a:spcPts val="800"/>
              </a:spcBef>
              <a:spcAft>
                <a:spcPts val="800"/>
              </a:spcAft>
              <a:defRPr sz="2200">
                <a:solidFill>
                  <a:srgbClr val="FFFFFF"/>
                </a:solidFill>
              </a:defRPr>
            </a:pPr>
            <a:r>
              <a:t>      Version diffs</a:t>
            </a:r>
          </a:p>
          <a:p>
            <a:pPr>
              <a:spcBef>
                <a:spcPts val="800"/>
              </a:spcBef>
              <a:spcAft>
                <a:spcPts val="800"/>
              </a:spcAft>
              <a:defRPr sz="2200">
                <a:solidFill>
                  <a:srgbClr val="FFFFFF"/>
                </a:solidFill>
              </a:defRPr>
            </a:pPr>
            <a:r>
              <a:t>      Changelog generation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Core</a:t>
            </a:r>
          </a:p>
          <a:p>
            <a:pPr>
              <a:spcBef>
                <a:spcPts val="800"/>
              </a:spcBef>
              <a:spcAft>
                <a:spcPts val="800"/>
              </a:spcAft>
              <a:defRPr sz="2200">
                <a:solidFill>
                  <a:srgbClr val="FFFFFF"/>
                </a:solidFill>
              </a:defRPr>
            </a:pPr>
            <a:r>
              <a:t>      read_file</a:t>
            </a:r>
          </a:p>
          <a:p>
            <a:pPr>
              <a:spcBef>
                <a:spcPts val="800"/>
              </a:spcBef>
              <a:spcAft>
                <a:spcPts val="800"/>
              </a:spcAft>
              <a:defRPr sz="2200">
                <a:solidFill>
                  <a:srgbClr val="FFFFFF"/>
                </a:solidFill>
              </a:defRPr>
            </a:pPr>
            <a:r>
              <a:t>      write_file</a:t>
            </a:r>
          </a:p>
          <a:p>
            <a:pPr>
              <a:spcBef>
                <a:spcPts val="800"/>
              </a:spcBef>
              <a:spcAft>
                <a:spcPts val="800"/>
              </a:spcAft>
              <a:defRPr sz="2200">
                <a:solidFill>
                  <a:srgbClr val="FFFFFF"/>
                </a:solidFill>
              </a:defRPr>
            </a:pPr>
            <a:r>
              <a:t>      edit_file</a:t>
            </a:r>
          </a:p>
          <a:p>
            <a:pPr>
              <a:spcBef>
                <a:spcPts val="800"/>
              </a:spcBef>
              <a:spcAft>
                <a:spcPts val="800"/>
              </a:spcAft>
              <a:defRPr sz="2200">
                <a:solidFill>
                  <a:srgbClr val="FFFFFF"/>
                </a:solidFill>
              </a:defRPr>
            </a:pPr>
            <a:r>
              <a:t>      search</a:t>
            </a:r>
          </a:p>
          <a:p>
            <a:pPr>
              <a:spcBef>
                <a:spcPts val="800"/>
              </a:spcBef>
              <a:spcAft>
                <a:spcPts val="800"/>
              </a:spcAft>
              <a:defRPr sz="2200">
                <a:solidFill>
                  <a:srgbClr val="FFFFFF"/>
                </a:solidFill>
              </a:defRPr>
            </a:pPr>
            <a:r>
              <a:t>  Intelligent</a:t>
            </a:r>
          </a:p>
          <a:p>
            <a:pPr>
              <a:spcBef>
                <a:spcPts val="800"/>
              </a:spcBef>
              <a:spcAft>
                <a:spcPts val="800"/>
              </a:spcAft>
              <a:defRPr sz="2200">
                <a:solidFill>
                  <a:srgbClr val="FFFFFF"/>
                </a:solidFill>
              </a:defRPr>
            </a:pPr>
            <a:r>
              <a:t>      Line-based</a:t>
            </a:r>
          </a:p>
          <a:p>
            <a:pPr>
              <a:spcBef>
                <a:spcPts val="800"/>
              </a:spcBef>
              <a:spcAft>
                <a:spcPts val="800"/>
              </a:spcAft>
              <a:defRPr sz="2200">
                <a:solidFill>
                  <a:srgbClr val="FFFFFF"/>
                </a:solidFill>
              </a:defRPr>
            </a:pPr>
            <a:r>
              <a:t>      Search-replace</a:t>
            </a:r>
          </a:p>
          <a:p>
            <a:pPr>
              <a:spcBef>
                <a:spcPts val="800"/>
              </a:spcBef>
              <a:spcAft>
                <a:spcPts val="800"/>
              </a:spcAft>
              <a:defRPr sz="2200">
                <a:solidFill>
                  <a:srgbClr val="FFFFFF"/>
                </a:solidFill>
              </a:defRPr>
            </a:pPr>
            <a:r>
              <a:t>      Multi-file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Coordinated</a:t>
            </a:r>
          </a:p>
          <a:p>
            <a:pPr>
              <a:spcBef>
                <a:spcPts val="800"/>
              </a:spcBef>
              <a:spcAft>
                <a:spcPts val="800"/>
              </a:spcAft>
              <a:defRPr sz="2200">
                <a:solidFill>
                  <a:srgbClr val="FFFFFF"/>
                </a:solidFill>
              </a:defRPr>
            </a:pPr>
            <a:r>
              <a:t>      Multiple files together</a:t>
            </a:r>
          </a:p>
          <a:p>
            <a:pPr>
              <a:spcBef>
                <a:spcPts val="800"/>
              </a:spcBef>
              <a:spcAft>
                <a:spcPts val="800"/>
              </a:spcAft>
              <a:defRPr sz="2200">
                <a:solidFill>
                  <a:srgbClr val="FFFFFF"/>
                </a:solidFill>
              </a:defRPr>
            </a:pPr>
            <a:r>
              <a:t>      Maintains consistency</a:t>
            </a:r>
          </a:p>
          <a:p>
            <a:pPr>
              <a:spcBef>
                <a:spcPts val="800"/>
              </a:spcBef>
              <a:spcAft>
                <a:spcPts val="800"/>
              </a:spcAft>
              <a:defRPr sz="2200">
                <a:solidFill>
                  <a:srgbClr val="FFFFFF"/>
                </a:solidFill>
              </a:defRPr>
            </a:pPr>
            <a:r>
              <a:t>      Tracks deps</a:t>
            </a:r>
          </a:p>
          <a:p>
            <a:pPr>
              <a:spcBef>
                <a:spcPts val="800"/>
              </a:spcBef>
              <a:spcAft>
                <a:spcPts val="800"/>
              </a:spcAft>
              <a:defRPr sz="2200">
                <a:solidFill>
                  <a:srgbClr val="FFFFFF"/>
                </a:solidFill>
              </a:defRPr>
            </a:pPr>
            <a:r>
              <a:t>  Patterns</a:t>
            </a:r>
          </a:p>
          <a:p>
            <a:pPr>
              <a:spcBef>
                <a:spcPts val="800"/>
              </a:spcBef>
              <a:spcAft>
                <a:spcPts val="800"/>
              </a:spcAft>
              <a:defRPr sz="2200">
                <a:solidFill>
                  <a:srgbClr val="FFFFFF"/>
                </a:solidFill>
              </a:defRPr>
            </a:pPr>
            <a:r>
              <a:t>      Extract method</a:t>
            </a:r>
          </a:p>
          <a:p>
            <a:pPr>
              <a:spcBef>
                <a:spcPts val="800"/>
              </a:spcBef>
              <a:spcAft>
                <a:spcPts val="800"/>
              </a:spcAft>
              <a:defRPr sz="2200">
                <a:solidFill>
                  <a:srgbClr val="FFFFFF"/>
                </a:solidFill>
              </a:defRPr>
            </a:pPr>
            <a:r>
              <a:t>      Rename</a:t>
            </a:r>
          </a:p>
          <a:p>
            <a:pPr>
              <a:spcBef>
                <a:spcPts val="800"/>
              </a:spcBef>
              <a:spcAft>
                <a:spcPts val="800"/>
              </a:spcAft>
              <a:defRPr sz="2200">
                <a:solidFill>
                  <a:srgbClr val="FFFFFF"/>
                </a:solidFill>
              </a:defRPr>
            </a:pPr>
            <a:r>
              <a:t>      Move code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Boilerplate</a:t>
            </a:r>
          </a:p>
          <a:p>
            <a:pPr>
              <a:spcBef>
                <a:spcPts val="800"/>
              </a:spcBef>
              <a:spcAft>
                <a:spcPts val="800"/>
              </a:spcAft>
              <a:defRPr sz="2200">
                <a:solidFill>
                  <a:srgbClr val="FFFFFF"/>
                </a:solidFill>
              </a:defRPr>
            </a:pPr>
            <a:r>
              <a:t>      CRUD</a:t>
            </a:r>
          </a:p>
          <a:p>
            <a:pPr>
              <a:spcBef>
                <a:spcPts val="800"/>
              </a:spcBef>
              <a:spcAft>
                <a:spcPts val="800"/>
              </a:spcAft>
              <a:defRPr sz="2200">
                <a:solidFill>
                  <a:srgbClr val="FFFFFF"/>
                </a:solidFill>
              </a:defRPr>
            </a:pPr>
            <a:r>
              <a:t>      API endpoints</a:t>
            </a:r>
          </a:p>
          <a:p>
            <a:pPr>
              <a:spcBef>
                <a:spcPts val="800"/>
              </a:spcBef>
              <a:spcAft>
                <a:spcPts val="800"/>
              </a:spcAft>
              <a:defRPr sz="2200">
                <a:solidFill>
                  <a:srgbClr val="FFFFFF"/>
                </a:solidFill>
              </a:defRPr>
            </a:pPr>
            <a:r>
              <a:t>      Models</a:t>
            </a:r>
          </a:p>
          <a:p>
            <a:pPr>
              <a:spcBef>
                <a:spcPts val="800"/>
              </a:spcBef>
              <a:spcAft>
                <a:spcPts val="800"/>
              </a:spcAft>
              <a:defRPr sz="2200">
                <a:solidFill>
                  <a:srgbClr val="FFFFFF"/>
                </a:solidFill>
              </a:defRPr>
            </a:pPr>
            <a:r>
              <a:t>      Tests</a:t>
            </a:r>
          </a:p>
          <a:p>
            <a:pPr>
              <a:spcBef>
                <a:spcPts val="800"/>
              </a:spcBef>
              <a:spcAft>
                <a:spcPts val="800"/>
              </a:spcAft>
              <a:defRPr sz="2200">
                <a:solidFill>
                  <a:srgbClr val="FFFFFF"/>
                </a:solidFill>
              </a:defRPr>
            </a:pPr>
            <a:r>
              <a:t>  Migrations</a:t>
            </a:r>
          </a:p>
          <a:p>
            <a:pPr>
              <a:spcBef>
                <a:spcPts val="800"/>
              </a:spcBef>
              <a:spcAft>
                <a:spcPts val="800"/>
              </a:spcAft>
              <a:defRPr sz="2200">
                <a:solidFill>
                  <a:srgbClr val="FFFFFF"/>
                </a:solidFill>
              </a:defRPr>
            </a:pPr>
            <a:r>
              <a:t>      Schema changes</a:t>
            </a:r>
          </a:p>
          <a:p>
            <a:pPr>
              <a:spcBef>
                <a:spcPts val="800"/>
              </a:spcBef>
              <a:spcAft>
                <a:spcPts val="800"/>
              </a:spcAft>
              <a:defRPr sz="2200">
                <a:solidFill>
                  <a:srgbClr val="FFFFFF"/>
                </a:solidFill>
              </a:defRPr>
            </a:pPr>
            <a:r>
              <a:t>      Data transforms</a:t>
            </a:r>
          </a:p>
          <a:p>
            <a:pPr>
              <a:spcBef>
                <a:spcPts val="800"/>
              </a:spcBef>
              <a:spcAft>
                <a:spcPts val="800"/>
              </a:spcAft>
              <a:defRPr sz="2200">
                <a:solidFill>
                  <a:srgbClr val="FFFFFF"/>
                </a:solidFill>
              </a:defRPr>
            </a:pPr>
            <a:r>
              <a:t>      Rollbacks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Types</a:t>
            </a:r>
          </a:p>
          <a:p>
            <a:pPr>
              <a:spcBef>
                <a:spcPts val="800"/>
              </a:spcBef>
              <a:spcAft>
                <a:spcPts val="800"/>
              </a:spcAft>
              <a:defRPr sz="2200">
                <a:solidFill>
                  <a:srgbClr val="FFFFFF"/>
                </a:solidFill>
              </a:defRPr>
            </a:pPr>
            <a:r>
              <a:t>      Unit</a:t>
            </a:r>
          </a:p>
          <a:p>
            <a:pPr>
              <a:spcBef>
                <a:spcPts val="800"/>
              </a:spcBef>
              <a:spcAft>
                <a:spcPts val="800"/>
              </a:spcAft>
              <a:defRPr sz="2200">
                <a:solidFill>
                  <a:srgbClr val="FFFFFF"/>
                </a:solidFill>
              </a:defRPr>
            </a:pPr>
            <a:r>
              <a:t>      Integration</a:t>
            </a:r>
          </a:p>
          <a:p>
            <a:pPr>
              <a:spcBef>
                <a:spcPts val="800"/>
              </a:spcBef>
              <a:spcAft>
                <a:spcPts val="800"/>
              </a:spcAft>
              <a:defRPr sz="2200">
                <a:solidFill>
                  <a:srgbClr val="FFFFFF"/>
                </a:solidFill>
              </a:defRPr>
            </a:pPr>
            <a:r>
              <a:t>      Edge cases</a:t>
            </a:r>
          </a:p>
          <a:p>
            <a:pPr>
              <a:spcBef>
                <a:spcPts val="800"/>
              </a:spcBef>
              <a:spcAft>
                <a:spcPts val="800"/>
              </a:spcAft>
              <a:defRPr sz="2200">
                <a:solidFill>
                  <a:srgbClr val="FFFFFF"/>
                </a:solidFill>
              </a:defRPr>
            </a:pPr>
            <a:r>
              <a:t>      Mocks</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80%+ coverage</a:t>
            </a:r>
          </a:p>
          <a:p>
            <a:pPr>
              <a:spcBef>
                <a:spcPts val="800"/>
              </a:spcBef>
              <a:spcAft>
                <a:spcPts val="800"/>
              </a:spcAft>
              <a:defRPr sz="2200">
                <a:solidFill>
                  <a:srgbClr val="FFFFFF"/>
                </a:solidFill>
              </a:defRPr>
            </a:pPr>
            <a:r>
              <a:t>      Happy/sad paths</a:t>
            </a:r>
          </a:p>
          <a:p>
            <a:pPr>
              <a:spcBef>
                <a:spcPts val="800"/>
              </a:spcBef>
              <a:spcAft>
                <a:spcPts val="800"/>
              </a:spcAft>
              <a:defRPr sz="2200">
                <a:solidFill>
                  <a:srgbClr val="FFFFFF"/>
                </a:solidFill>
              </a:defRPr>
            </a:pPr>
            <a:r>
              <a:t>      Readable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Types</a:t>
            </a:r>
          </a:p>
          <a:p>
            <a:pPr>
              <a:spcBef>
                <a:spcPts val="800"/>
              </a:spcBef>
              <a:spcAft>
                <a:spcPts val="800"/>
              </a:spcAft>
              <a:defRPr sz="2200">
                <a:solidFill>
                  <a:srgbClr val="FFFFFF"/>
                </a:solidFill>
              </a:defRPr>
            </a:pPr>
            <a:r>
              <a:t>      READMEs</a:t>
            </a:r>
          </a:p>
          <a:p>
            <a:pPr>
              <a:spcBef>
                <a:spcPts val="800"/>
              </a:spcBef>
              <a:spcAft>
                <a:spcPts val="800"/>
              </a:spcAft>
              <a:defRPr sz="2200">
                <a:solidFill>
                  <a:srgbClr val="FFFFFF"/>
                </a:solidFill>
              </a:defRPr>
            </a:pPr>
            <a:r>
              <a:t>      API docs</a:t>
            </a:r>
          </a:p>
          <a:p>
            <a:pPr>
              <a:spcBef>
                <a:spcPts val="800"/>
              </a:spcBef>
              <a:spcAft>
                <a:spcPts val="800"/>
              </a:spcAft>
              <a:defRPr sz="2200">
                <a:solidFill>
                  <a:srgbClr val="FFFFFF"/>
                </a:solidFill>
              </a:defRPr>
            </a:pPr>
            <a:r>
              <a:t>      Comments</a:t>
            </a:r>
          </a:p>
          <a:p>
            <a:pPr>
              <a:spcBef>
                <a:spcPts val="800"/>
              </a:spcBef>
              <a:spcAft>
                <a:spcPts val="800"/>
              </a:spcAft>
              <a:defRPr sz="2200">
                <a:solidFill>
                  <a:srgbClr val="FFFFFF"/>
                </a:solidFill>
              </a:defRPr>
            </a:pPr>
            <a:r>
              <a:t>      Architecture</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Clear</a:t>
            </a:r>
          </a:p>
          <a:p>
            <a:pPr>
              <a:spcBef>
                <a:spcPts val="800"/>
              </a:spcBef>
              <a:spcAft>
                <a:spcPts val="800"/>
              </a:spcAft>
              <a:defRPr sz="2200">
                <a:solidFill>
                  <a:srgbClr val="FFFFFF"/>
                </a:solidFill>
              </a:defRPr>
            </a:pPr>
            <a:r>
              <a:t>      Examples</a:t>
            </a:r>
          </a:p>
          <a:p>
            <a:pPr>
              <a:spcBef>
                <a:spcPts val="800"/>
              </a:spcBef>
              <a:spcAft>
                <a:spcPts val="800"/>
              </a:spcAft>
              <a:defRPr sz="2200">
                <a:solidFill>
                  <a:srgbClr val="FFFFFF"/>
                </a:solidFill>
              </a:defRPr>
            </a:pPr>
            <a:r>
              <a:t>      Up-to-date</a:t>
            </a:r>
          </a:p>
          <a:p>
            <a:pPr>
              <a:spcBef>
                <a:spcPts val="800"/>
              </a:spcBef>
              <a:spcAft>
                <a:spcPts val="800"/>
              </a:spcAft>
              <a:defRPr sz="2200">
                <a:solidFill>
                  <a:srgbClr val="FFFFFF"/>
                </a:solidFill>
              </a:defRPr>
            </a:pPr>
            <a:r>
              <a:t>      Formatted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Natural Language to SQL</a:t>
            </a:r>
          </a:p>
          <a:p>
            <a:pPr>
              <a:spcBef>
                <a:spcPts val="800"/>
              </a:spcBef>
              <a:spcAft>
                <a:spcPts val="800"/>
              </a:spcAft>
              <a:defRPr sz="2200">
                <a:solidFill>
                  <a:srgbClr val="FFFFFF"/>
                </a:solidFill>
              </a:defRPr>
            </a:pPr>
            <a:r>
              <a:t>      Describe what you want in plain English - Claude Code writes the query</a:t>
            </a:r>
          </a:p>
          <a:p>
            <a:pPr>
              <a:spcBef>
                <a:spcPts val="800"/>
              </a:spcBef>
              <a:spcAft>
                <a:spcPts val="800"/>
              </a:spcAft>
              <a:defRPr sz="2200">
                <a:solidFill>
                  <a:srgbClr val="FFFFFF"/>
                </a:solidFill>
              </a:defRPr>
            </a:pPr>
            <a:r>
              <a:t>      Simple SELECT with WHERE clauses</a:t>
            </a:r>
          </a:p>
          <a:p>
            <a:pPr>
              <a:spcBef>
                <a:spcPts val="800"/>
              </a:spcBef>
              <a:spcAft>
                <a:spcPts val="800"/>
              </a:spcAft>
              <a:defRPr sz="2200">
                <a:solidFill>
                  <a:srgbClr val="FFFFFF"/>
                </a:solidFill>
              </a:defRPr>
            </a:pPr>
            <a:r>
              <a:t>      Complex multi-table JOINs with proper relationships</a:t>
            </a:r>
          </a:p>
          <a:p>
            <a:pPr>
              <a:spcBef>
                <a:spcPts val="800"/>
              </a:spcBef>
              <a:spcAft>
                <a:spcPts val="800"/>
              </a:spcAft>
              <a:defRPr sz="2200">
                <a:solidFill>
                  <a:srgbClr val="FFFFFF"/>
                </a:solidFill>
              </a:defRPr>
            </a:pPr>
            <a:r>
              <a:t>      Subqueries and correlated subqueries</a:t>
            </a:r>
          </a:p>
          <a:p>
            <a:pPr>
              <a:spcBef>
                <a:spcPts val="800"/>
              </a:spcBef>
              <a:spcAft>
                <a:spcPts val="800"/>
              </a:spcAft>
              <a:defRPr sz="2200">
                <a:solidFill>
                  <a:srgbClr val="FFFFFF"/>
                </a:solidFill>
              </a:defRPr>
            </a:pPr>
            <a:r>
              <a:t>      Common Table Expressions (CTEs) for readability</a:t>
            </a:r>
          </a:p>
          <a:p>
            <a:pPr>
              <a:spcBef>
                <a:spcPts val="800"/>
              </a:spcBef>
              <a:spcAft>
                <a:spcPts val="800"/>
              </a:spcAft>
              <a:defRPr sz="2200">
                <a:solidFill>
                  <a:srgbClr val="FFFFFF"/>
                </a:solidFill>
              </a:defRPr>
            </a:pPr>
            <a:r>
              <a:t>      Window functions for analytics (ROW_NUMBER, RANK, running totals)</a:t>
            </a:r>
          </a:p>
          <a:p>
            <a:pPr>
              <a:spcBef>
                <a:spcPts val="800"/>
              </a:spcBef>
              <a:spcAft>
                <a:spcPts val="800"/>
              </a:spcAft>
              <a:defRPr sz="2200">
                <a:solidFill>
                  <a:srgbClr val="FFFFFF"/>
                </a:solidFill>
              </a:defRPr>
            </a:pPr>
            <a:r>
              <a:t>  Database-Aware</a:t>
            </a:r>
          </a:p>
          <a:p>
            <a:pPr>
              <a:spcBef>
                <a:spcPts val="800"/>
              </a:spcBef>
              <a:spcAft>
                <a:spcPts val="800"/>
              </a:spcAft>
              <a:defRPr sz="2200">
                <a:solidFill>
                  <a:srgbClr val="FFFFFF"/>
                </a:solidFill>
              </a:defRPr>
            </a:pPr>
            <a:r>
              <a:t>      Adapts syntax to your database engine (PostgreSQL, MySQL, SQLite)</a:t>
            </a:r>
          </a:p>
          <a:p>
            <a:pPr>
              <a:spcBef>
                <a:spcPts val="800"/>
              </a:spcBef>
              <a:spcAft>
                <a:spcPts val="800"/>
              </a:spcAft>
              <a:defRPr sz="2200">
                <a:solidFill>
                  <a:srgbClr val="FFFFFF"/>
                </a:solidFill>
              </a:defRPr>
            </a:pPr>
            <a:r>
              <a:t>      Uses database-specific features when beneficial (JSONB in Postgres, stored procedures in MySQL)</a:t>
            </a:r>
          </a:p>
          <a:p>
            <a:pPr>
              <a:spcBef>
                <a:spcPts val="800"/>
              </a:spcBef>
              <a:spcAft>
                <a:spcPts val="800"/>
              </a:spcAft>
              <a:defRPr sz="2200">
                <a:solidFill>
                  <a:srgbClr val="FFFFFF"/>
                </a:solidFill>
              </a:defRPr>
            </a:pPr>
            <a:r>
              <a:t>      Includes appropriate indexes and constraints in recommendations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Transformation Tasks</a:t>
            </a:r>
          </a:p>
          <a:p>
            <a:pPr>
              <a:spcBef>
                <a:spcPts val="800"/>
              </a:spcBef>
              <a:spcAft>
                <a:spcPts val="800"/>
              </a:spcAft>
              <a:defRPr sz="2200">
                <a:solidFill>
                  <a:srgbClr val="FFFFFF"/>
                </a:solidFill>
              </a:defRPr>
            </a:pPr>
            <a:r>
              <a:t>      **Data Migration Scripts**: Moving data between schemas or databases</a:t>
            </a:r>
          </a:p>
          <a:p>
            <a:pPr>
              <a:spcBef>
                <a:spcPts val="800"/>
              </a:spcBef>
              <a:spcAft>
                <a:spcPts val="800"/>
              </a:spcAft>
              <a:defRPr sz="2200">
                <a:solidFill>
                  <a:srgbClr val="FFFFFF"/>
                </a:solidFill>
              </a:defRPr>
            </a:pPr>
            <a:r>
              <a:t>      **Format Conversions**: CSV to SQL, JSON to relational, XML to tables</a:t>
            </a:r>
          </a:p>
          <a:p>
            <a:pPr>
              <a:spcBef>
                <a:spcPts val="800"/>
              </a:spcBef>
              <a:spcAft>
                <a:spcPts val="800"/>
              </a:spcAft>
              <a:defRPr sz="2200">
                <a:solidFill>
                  <a:srgbClr val="FFFFFF"/>
                </a:solidFill>
              </a:defRPr>
            </a:pPr>
            <a:r>
              <a:t>      **Cleanup &amp; Deduplication**: Removing duplicates, fixing inconsistent data</a:t>
            </a:r>
          </a:p>
          <a:p>
            <a:pPr>
              <a:spcBef>
                <a:spcPts val="800"/>
              </a:spcBef>
              <a:spcAft>
                <a:spcPts val="800"/>
              </a:spcAft>
              <a:defRPr sz="2200">
                <a:solidFill>
                  <a:srgbClr val="FFFFFF"/>
                </a:solidFill>
              </a:defRPr>
            </a:pPr>
            <a:r>
              <a:t>      **Multi-Step Transformations**: Complex pipelines with intermediate staging tables</a:t>
            </a:r>
          </a:p>
          <a:p>
            <a:pPr>
              <a:spcBef>
                <a:spcPts val="800"/>
              </a:spcBef>
              <a:spcAft>
                <a:spcPts val="800"/>
              </a:spcAft>
              <a:defRPr sz="2200">
                <a:solidFill>
                  <a:srgbClr val="FFFFFF"/>
                </a:solidFill>
              </a:defRPr>
            </a:pPr>
            <a:r>
              <a:t>      **Type Conversions**: String dates to TIMESTAMP, comma-separated to arrays</a:t>
            </a:r>
          </a:p>
          <a:p>
            <a:pPr>
              <a:spcBef>
                <a:spcPts val="800"/>
              </a:spcBef>
              <a:spcAft>
                <a:spcPts val="800"/>
              </a:spcAft>
              <a:defRPr sz="2200">
                <a:solidFill>
                  <a:srgbClr val="FFFFFF"/>
                </a:solidFill>
              </a:defRPr>
            </a:pPr>
            <a:r>
              <a:t>      **Validation During Transform**: Ensuring data quality during migration</a:t>
            </a:r>
          </a:p>
          <a:p>
            <a:pPr>
              <a:spcBef>
                <a:spcPts val="800"/>
              </a:spcBef>
              <a:spcAft>
                <a:spcPts val="800"/>
              </a:spcAft>
              <a:defRPr sz="2200">
                <a:solidFill>
                  <a:srgbClr val="FFFFFF"/>
                </a:solidFill>
              </a:defRPr>
            </a:pPr>
            <a:r>
              <a:t>  Claude Code Generates</a:t>
            </a:r>
          </a:p>
          <a:p>
            <a:pPr>
              <a:spcBef>
                <a:spcPts val="800"/>
              </a:spcBef>
              <a:spcAft>
                <a:spcPts val="800"/>
              </a:spcAft>
              <a:defRPr sz="2200">
                <a:solidFill>
                  <a:srgbClr val="FFFFFF"/>
                </a:solidFill>
              </a:defRPr>
            </a:pPr>
            <a:r>
              <a:t>      Complete migration scripts with rollback capability</a:t>
            </a:r>
          </a:p>
          <a:p>
            <a:pPr>
              <a:spcBef>
                <a:spcPts val="800"/>
              </a:spcBef>
              <a:spcAft>
                <a:spcPts val="800"/>
              </a:spcAft>
              <a:defRPr sz="2200">
                <a:solidFill>
                  <a:srgbClr val="FFFFFF"/>
                </a:solidFill>
              </a:defRPr>
            </a:pPr>
            <a:r>
              <a:t>      Idempotent transformations (safe to run multiple times)</a:t>
            </a:r>
          </a:p>
          <a:p>
            <a:pPr>
              <a:spcBef>
                <a:spcPts val="800"/>
              </a:spcBef>
              <a:spcAft>
                <a:spcPts val="800"/>
              </a:spcAft>
              <a:defRPr sz="2200">
                <a:solidFill>
                  <a:srgbClr val="FFFFFF"/>
                </a:solidFill>
              </a:defRPr>
            </a:pPr>
            <a:r>
              <a:t>      Validation queries to verify data integrity</a:t>
            </a:r>
          </a:p>
          <a:p>
            <a:pPr>
              <a:spcBef>
                <a:spcPts val="800"/>
              </a:spcBef>
              <a:spcAft>
                <a:spcPts val="800"/>
              </a:spcAft>
              <a:defRPr sz="2200">
                <a:solidFill>
                  <a:srgbClr val="FFFFFF"/>
                </a:solidFill>
              </a:defRPr>
            </a:pPr>
            <a:r>
              <a:t>      Performance-optimized bulk operations</a:t>
            </a:r>
          </a:p>
          <a:p>
            <a:pPr>
              <a:spcBef>
                <a:spcPts val="800"/>
              </a:spcBef>
              <a:spcAft>
                <a:spcPts val="800"/>
              </a:spcAft>
              <a:defRPr sz="2200">
                <a:solidFill>
                  <a:srgbClr val="FFFFFF"/>
                </a:solidFill>
              </a:defRPr>
            </a:pPr>
            <a:r>
              <a:t>      Clear comments explaining each transformation step</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Validation Types</a:t>
            </a:r>
          </a:p>
          <a:p>
            <a:pPr>
              <a:spcBef>
                <a:spcPts val="800"/>
              </a:spcBef>
              <a:spcAft>
                <a:spcPts val="800"/>
              </a:spcAft>
              <a:defRPr sz="2200">
                <a:solidFill>
                  <a:srgbClr val="FFFFFF"/>
                </a:solidFill>
              </a:defRPr>
            </a:pPr>
            <a:r>
              <a:t>      **Constraint Generation**: Claude Code writes CHECK, NOT NULL, UNIQUE constraints based on business rules</a:t>
            </a:r>
          </a:p>
          <a:p>
            <a:pPr>
              <a:spcBef>
                <a:spcPts val="800"/>
              </a:spcBef>
              <a:spcAft>
                <a:spcPts val="800"/>
              </a:spcAft>
              <a:defRPr sz="2200">
                <a:solidFill>
                  <a:srgbClr val="FFFFFF"/>
                </a:solidFill>
              </a:defRPr>
            </a:pPr>
            <a:r>
              <a:t>      **Data Profiling Queries**: Statistical summaries (counts, min/max, nulls, distinct values)</a:t>
            </a:r>
          </a:p>
          <a:p>
            <a:pPr>
              <a:spcBef>
                <a:spcPts val="800"/>
              </a:spcBef>
              <a:spcAft>
                <a:spcPts val="800"/>
              </a:spcAft>
              <a:defRPr sz="2200">
                <a:solidFill>
                  <a:srgbClr val="FFFFFF"/>
                </a:solidFill>
              </a:defRPr>
            </a:pPr>
            <a:r>
              <a:t>      **Anomaly Detection SQL**: Finding outliers, unexpected patterns, inconsistencies</a:t>
            </a:r>
          </a:p>
          <a:p>
            <a:pPr>
              <a:spcBef>
                <a:spcPts val="800"/>
              </a:spcBef>
              <a:spcAft>
                <a:spcPts val="800"/>
              </a:spcAft>
              <a:defRPr sz="2200">
                <a:solidFill>
                  <a:srgbClr val="FFFFFF"/>
                </a:solidFill>
              </a:defRPr>
            </a:pPr>
            <a:r>
              <a:t>      **Referential Integrity Checks**: Finding orphaned records, missing foreign key references</a:t>
            </a:r>
          </a:p>
          <a:p>
            <a:pPr>
              <a:spcBef>
                <a:spcPts val="800"/>
              </a:spcBef>
              <a:spcAft>
                <a:spcPts val="800"/>
              </a:spcAft>
              <a:defRPr sz="2200">
                <a:solidFill>
                  <a:srgbClr val="FFFFFF"/>
                </a:solidFill>
              </a:defRPr>
            </a:pPr>
            <a:r>
              <a:t>      **Duplicate Detection**: Identifying exact and fuzzy duplicates</a:t>
            </a:r>
          </a:p>
          <a:p>
            <a:pPr>
              <a:spcBef>
                <a:spcPts val="800"/>
              </a:spcBef>
              <a:spcAft>
                <a:spcPts val="800"/>
              </a:spcAft>
              <a:defRPr sz="2200">
                <a:solidFill>
                  <a:srgbClr val="FFFFFF"/>
                </a:solidFill>
              </a:defRPr>
            </a:pPr>
            <a:r>
              <a:t>      **Format Validation**: Email addresses, phone numbers, dates in correct format</a:t>
            </a:r>
          </a:p>
          <a:p>
            <a:pPr>
              <a:spcBef>
                <a:spcPts val="800"/>
              </a:spcBef>
              <a:spcAft>
                <a:spcPts val="800"/>
              </a:spcAft>
              <a:defRPr sz="2200">
                <a:solidFill>
                  <a:srgbClr val="FFFFFF"/>
                </a:solidFill>
              </a:defRPr>
            </a:pPr>
            <a:r>
              <a:t>  Quality Assurance</a:t>
            </a:r>
          </a:p>
          <a:p>
            <a:pPr>
              <a:spcBef>
                <a:spcPts val="800"/>
              </a:spcBef>
              <a:spcAft>
                <a:spcPts val="800"/>
              </a:spcAft>
              <a:defRPr sz="2200">
                <a:solidFill>
                  <a:srgbClr val="FFFFFF"/>
                </a:solidFill>
              </a:defRPr>
            </a:pPr>
            <a:r>
              <a:t>      Pre-deployment validation queries to catch issues before production</a:t>
            </a:r>
          </a:p>
          <a:p>
            <a:pPr>
              <a:spcBef>
                <a:spcPts val="800"/>
              </a:spcBef>
              <a:spcAft>
                <a:spcPts val="800"/>
              </a:spcAft>
              <a:defRPr sz="2200">
                <a:solidFill>
                  <a:srgbClr val="FFFFFF"/>
                </a:solidFill>
              </a:defRPr>
            </a:pPr>
            <a:r>
              <a:t>      Ongoing monitoring queries to detect data corruption</a:t>
            </a:r>
          </a:p>
          <a:p>
            <a:pPr>
              <a:spcBef>
                <a:spcPts val="800"/>
              </a:spcBef>
              <a:spcAft>
                <a:spcPts val="800"/>
              </a:spcAft>
              <a:defRPr sz="2200">
                <a:solidFill>
                  <a:srgbClr val="FFFFFF"/>
                </a:solidFill>
              </a:defRPr>
            </a:pPr>
            <a:r>
              <a:t>      Post-migration validation to ensure data was transferred correctly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