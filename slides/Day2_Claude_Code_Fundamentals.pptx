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Required</a:t>
            </a:r>
          </a:p>
          <a:p>
            <a:pPr>
              <a:spcBef>
                <a:spcPts val="800"/>
              </a:spcBef>
              <a:spcAft>
                <a:spcPts val="800"/>
              </a:spcAft>
              <a:defRPr sz="2200">
                <a:solidFill>
                  <a:srgbClr val="FFFFFF"/>
                </a:solidFill>
              </a:defRPr>
            </a:pPr>
            <a:r>
              <a:t>      Node.js 18.0 or higher (check: node --version)</a:t>
            </a:r>
          </a:p>
          <a:p>
            <a:pPr>
              <a:spcBef>
                <a:spcPts val="800"/>
              </a:spcBef>
              <a:spcAft>
                <a:spcPts val="800"/>
              </a:spcAft>
              <a:defRPr sz="2200">
                <a:solidFill>
                  <a:srgbClr val="FFFFFF"/>
                </a:solidFill>
              </a:defRPr>
            </a:pPr>
            <a:r>
              <a:t>      Git 2.20 or higher (check: git --version)</a:t>
            </a:r>
          </a:p>
          <a:p>
            <a:pPr>
              <a:spcBef>
                <a:spcPts val="800"/>
              </a:spcBef>
              <a:spcAft>
                <a:spcPts val="800"/>
              </a:spcAft>
              <a:defRPr sz="2200">
                <a:solidFill>
                  <a:srgbClr val="FFFFFF"/>
                </a:solidFill>
              </a:defRPr>
            </a:pPr>
            <a:r>
              <a:t>      Active internet connection for API calls</a:t>
            </a:r>
          </a:p>
          <a:p>
            <a:pPr>
              <a:spcBef>
                <a:spcPts val="800"/>
              </a:spcBef>
              <a:spcAft>
                <a:spcPts val="800"/>
              </a:spcAft>
              <a:defRPr sz="2200">
                <a:solidFill>
                  <a:srgbClr val="FFFFFF"/>
                </a:solidFill>
              </a:defRPr>
            </a:pPr>
            <a:r>
              <a:t>      Terminal/command line access</a:t>
            </a:r>
          </a:p>
          <a:p>
            <a:pPr>
              <a:spcBef>
                <a:spcPts val="800"/>
              </a:spcBef>
              <a:spcAft>
                <a:spcPts val="800"/>
              </a:spcAft>
              <a:defRPr sz="2200">
                <a:solidFill>
                  <a:srgbClr val="FFFFFF"/>
                </a:solidFill>
              </a:defRPr>
            </a:pPr>
            <a:r>
              <a:t>  Supported Platforms</a:t>
            </a:r>
          </a:p>
          <a:p>
            <a:pPr>
              <a:spcBef>
                <a:spcPts val="800"/>
              </a:spcBef>
              <a:spcAft>
                <a:spcPts val="800"/>
              </a:spcAft>
              <a:defRPr sz="2200">
                <a:solidFill>
                  <a:srgbClr val="FFFFFF"/>
                </a:solidFill>
              </a:defRPr>
            </a:pPr>
            <a:r>
              <a:t>      macOS 10.15+ (native)</a:t>
            </a:r>
          </a:p>
          <a:p>
            <a:pPr>
              <a:spcBef>
                <a:spcPts val="800"/>
              </a:spcBef>
              <a:spcAft>
                <a:spcPts val="800"/>
              </a:spcAft>
              <a:defRPr sz="2200">
                <a:solidFill>
                  <a:srgbClr val="FFFFFF"/>
                </a:solidFill>
              </a:defRPr>
            </a:pPr>
            <a:r>
              <a:t>      Linux (Ubuntu 20.04+, Debian, Fedora)</a:t>
            </a:r>
          </a:p>
          <a:p>
            <a:pPr>
              <a:spcBef>
                <a:spcPts val="800"/>
              </a:spcBef>
              <a:spcAft>
                <a:spcPts val="800"/>
              </a:spcAft>
              <a:defRPr sz="2200">
                <a:solidFill>
                  <a:srgbClr val="FFFFFF"/>
                </a:solidFill>
              </a:defRPr>
            </a:pPr>
            <a:r>
              <a:t>      Windows 10/11 via WSL2 (Windows Subsystem for Linux)</a:t>
            </a:r>
          </a:p>
          <a:p>
            <a:pPr>
              <a:spcBef>
                <a:spcPts val="800"/>
              </a:spcBef>
              <a:spcAft>
                <a:spcPts val="800"/>
              </a:spcAft>
              <a:defRPr sz="2200">
                <a:solidFill>
                  <a:srgbClr val="FFFFFF"/>
                </a:solidFill>
              </a:defRPr>
            </a:pPr>
            <a:r>
              <a:t>  Recommended</a:t>
            </a:r>
          </a:p>
          <a:p>
            <a:pPr>
              <a:spcBef>
                <a:spcPts val="800"/>
              </a:spcBef>
              <a:spcAft>
                <a:spcPts val="800"/>
              </a:spcAft>
              <a:defRPr sz="2200">
                <a:solidFill>
                  <a:srgbClr val="FFFFFF"/>
                </a:solidFill>
              </a:defRPr>
            </a:pPr>
            <a:r>
              <a:t>      VS Code or similar editor with terminal integration</a:t>
            </a:r>
          </a:p>
          <a:p>
            <a:pPr>
              <a:spcBef>
                <a:spcPts val="800"/>
              </a:spcBef>
              <a:spcAft>
                <a:spcPts val="800"/>
              </a:spcAft>
              <a:defRPr sz="2200">
                <a:solidFill>
                  <a:srgbClr val="FFFFFF"/>
                </a:solidFill>
              </a:defRPr>
            </a:pPr>
            <a:r>
              <a:t>      At least 4GB available RAM</a:t>
            </a:r>
          </a:p>
          <a:p>
            <a:pPr>
              <a:spcBef>
                <a:spcPts val="800"/>
              </a:spcBef>
              <a:spcAft>
                <a:spcPts val="800"/>
              </a:spcAft>
              <a:defRPr sz="2200">
                <a:solidFill>
                  <a:srgbClr val="FFFFFF"/>
                </a:solidFill>
              </a:defRPr>
            </a:pPr>
            <a:r>
              <a:t>      Familiarity with command line basics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Claude Code Reads</a:t>
            </a:r>
          </a:p>
          <a:p>
            <a:pPr>
              <a:spcBef>
                <a:spcPts val="800"/>
              </a:spcBef>
              <a:spcAft>
                <a:spcPts val="800"/>
              </a:spcAft>
              <a:defRPr sz="2200">
                <a:solidFill>
                  <a:srgbClr val="FFFFFF"/>
                </a:solidFill>
              </a:defRPr>
            </a:pPr>
            <a:r>
              <a:t>      File tree structure of your workspace</a:t>
            </a:r>
          </a:p>
          <a:p>
            <a:pPr>
              <a:spcBef>
                <a:spcPts val="800"/>
              </a:spcBef>
              <a:spcAft>
                <a:spcPts val="800"/>
              </a:spcAft>
              <a:defRPr sz="2200">
                <a:solidFill>
                  <a:srgbClr val="FFFFFF"/>
                </a:solidFill>
              </a:defRPr>
            </a:pPr>
            <a:r>
              <a:t>      Contents of relevant files (intelligently selected)</a:t>
            </a:r>
          </a:p>
          <a:p>
            <a:pPr>
              <a:spcBef>
                <a:spcPts val="800"/>
              </a:spcBef>
              <a:spcAft>
                <a:spcPts val="800"/>
              </a:spcAft>
              <a:defRPr sz="2200">
                <a:solidFill>
                  <a:srgbClr val="FFFFFF"/>
                </a:solidFill>
              </a:defRPr>
            </a:pPr>
            <a:r>
              <a:t>      Git history and current branch state</a:t>
            </a:r>
          </a:p>
          <a:p>
            <a:pPr>
              <a:spcBef>
                <a:spcPts val="800"/>
              </a:spcBef>
              <a:spcAft>
                <a:spcPts val="800"/>
              </a:spcAft>
              <a:defRPr sz="2200">
                <a:solidFill>
                  <a:srgbClr val="FFFFFF"/>
                </a:solidFill>
              </a:defRPr>
            </a:pPr>
            <a:r>
              <a:t>      CLAUDE.md configuration if present</a:t>
            </a:r>
          </a:p>
          <a:p>
            <a:pPr>
              <a:spcBef>
                <a:spcPts val="800"/>
              </a:spcBef>
              <a:spcAft>
                <a:spcPts val="800"/>
              </a:spcAft>
              <a:defRPr sz="2200">
                <a:solidFill>
                  <a:srgbClr val="FFFFFF"/>
                </a:solidFill>
              </a:defRPr>
            </a:pPr>
            <a:r>
              <a:t>      Your instruction and any @-mentioned files</a:t>
            </a:r>
          </a:p>
          <a:p>
            <a:pPr>
              <a:spcBef>
                <a:spcPts val="800"/>
              </a:spcBef>
              <a:spcAft>
                <a:spcPts val="800"/>
              </a:spcAft>
              <a:defRPr sz="2200">
                <a:solidFill>
                  <a:srgbClr val="FFFFFF"/>
                </a:solidFill>
              </a:defRPr>
            </a:pPr>
            <a:r>
              <a:t>  Context Window</a:t>
            </a:r>
          </a:p>
          <a:p>
            <a:pPr>
              <a:spcBef>
                <a:spcPts val="800"/>
              </a:spcBef>
              <a:spcAft>
                <a:spcPts val="800"/>
              </a:spcAft>
              <a:defRPr sz="2200">
                <a:solidFill>
                  <a:srgbClr val="FFFFFF"/>
                </a:solidFill>
              </a:defRPr>
            </a:pPr>
            <a:r>
              <a:t>      200,000 token context window (roughly 150,000 words)</a:t>
            </a:r>
          </a:p>
          <a:p>
            <a:pPr>
              <a:spcBef>
                <a:spcPts val="800"/>
              </a:spcBef>
              <a:spcAft>
                <a:spcPts val="800"/>
              </a:spcAft>
              <a:defRPr sz="2200">
                <a:solidFill>
                  <a:srgbClr val="FFFFFF"/>
                </a:solidFill>
              </a:defRPr>
            </a:pPr>
            <a:r>
              <a:t>      Can hold dozens of files simultaneously</a:t>
            </a:r>
          </a:p>
          <a:p>
            <a:pPr>
              <a:spcBef>
                <a:spcPts val="800"/>
              </a:spcBef>
              <a:spcAft>
                <a:spcPts val="800"/>
              </a:spcAft>
              <a:defRPr sz="2200">
                <a:solidFill>
                  <a:srgbClr val="FFFFFF"/>
                </a:solidFill>
              </a:defRPr>
            </a:pPr>
            <a:r>
              <a:t>      Prioritizes files based on relevance to your request</a:t>
            </a:r>
          </a:p>
          <a:p>
            <a:pPr>
              <a:spcBef>
                <a:spcPts val="800"/>
              </a:spcBef>
              <a:spcAft>
                <a:spcPts val="800"/>
              </a:spcAft>
              <a:defRPr sz="2200">
                <a:solidFill>
                  <a:srgbClr val="FFFFFF"/>
                </a:solidFill>
              </a:defRPr>
            </a:pPr>
            <a:r>
              <a:t>      Automatically excludes .claudeignore patterns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What Gets Analyzed</a:t>
            </a:r>
          </a:p>
          <a:p>
            <a:pPr>
              <a:spcBef>
                <a:spcPts val="800"/>
              </a:spcBef>
              <a:spcAft>
                <a:spcPts val="800"/>
              </a:spcAft>
              <a:defRPr sz="2200">
                <a:solidFill>
                  <a:srgbClr val="FFFFFF"/>
                </a:solidFill>
              </a:defRPr>
            </a:pPr>
            <a:r>
              <a:t>      Code patterns and conventions (naming, structure, style)</a:t>
            </a:r>
          </a:p>
          <a:p>
            <a:pPr>
              <a:spcBef>
                <a:spcPts val="800"/>
              </a:spcBef>
              <a:spcAft>
                <a:spcPts val="800"/>
              </a:spcAft>
              <a:defRPr sz="2200">
                <a:solidFill>
                  <a:srgbClr val="FFFFFF"/>
                </a:solidFill>
              </a:defRPr>
            </a:pPr>
            <a:r>
              <a:t>      Dependencies between files and modules</a:t>
            </a:r>
          </a:p>
          <a:p>
            <a:pPr>
              <a:spcBef>
                <a:spcPts val="800"/>
              </a:spcBef>
              <a:spcAft>
                <a:spcPts val="800"/>
              </a:spcAft>
              <a:defRPr sz="2200">
                <a:solidFill>
                  <a:srgbClr val="FFFFFF"/>
                </a:solidFill>
              </a:defRPr>
            </a:pPr>
            <a:r>
              <a:t>      Existing test coverage and patterns</a:t>
            </a:r>
          </a:p>
          <a:p>
            <a:pPr>
              <a:spcBef>
                <a:spcPts val="800"/>
              </a:spcBef>
              <a:spcAft>
                <a:spcPts val="800"/>
              </a:spcAft>
              <a:defRPr sz="2200">
                <a:solidFill>
                  <a:srgbClr val="FFFFFF"/>
                </a:solidFill>
              </a:defRPr>
            </a:pPr>
            <a:r>
              <a:t>      Potential impact areas of requested changes</a:t>
            </a:r>
          </a:p>
          <a:p>
            <a:pPr>
              <a:spcBef>
                <a:spcPts val="800"/>
              </a:spcBef>
              <a:spcAft>
                <a:spcPts val="800"/>
              </a:spcAft>
              <a:defRPr sz="2200">
                <a:solidFill>
                  <a:srgbClr val="FFFFFF"/>
                </a:solidFill>
              </a:defRPr>
            </a:pPr>
            <a:r>
              <a:t>      Risk factors (breaking changes, edge cases)</a:t>
            </a:r>
          </a:p>
          <a:p>
            <a:pPr>
              <a:spcBef>
                <a:spcPts val="800"/>
              </a:spcBef>
              <a:spcAft>
                <a:spcPts val="800"/>
              </a:spcAft>
              <a:defRPr sz="2200">
                <a:solidFill>
                  <a:srgbClr val="FFFFFF"/>
                </a:solidFill>
              </a:defRPr>
            </a:pPr>
            <a:r>
              <a:t>  Mental Model Formation</a:t>
            </a:r>
          </a:p>
          <a:p>
            <a:pPr>
              <a:spcBef>
                <a:spcPts val="800"/>
              </a:spcBef>
              <a:spcAft>
                <a:spcPts val="800"/>
              </a:spcAft>
              <a:defRPr sz="2200">
                <a:solidFill>
                  <a:srgbClr val="FFFFFF"/>
                </a:solidFill>
              </a:defRPr>
            </a:pPr>
            <a:r>
              <a:t>      Understanding project architecture</a:t>
            </a:r>
          </a:p>
          <a:p>
            <a:pPr>
              <a:spcBef>
                <a:spcPts val="800"/>
              </a:spcBef>
              <a:spcAft>
                <a:spcPts val="800"/>
              </a:spcAft>
              <a:defRPr sz="2200">
                <a:solidFill>
                  <a:srgbClr val="FFFFFF"/>
                </a:solidFill>
              </a:defRPr>
            </a:pPr>
            <a:r>
              <a:t>      Identifying established patterns to follow</a:t>
            </a:r>
          </a:p>
          <a:p>
            <a:pPr>
              <a:spcBef>
                <a:spcPts val="800"/>
              </a:spcBef>
              <a:spcAft>
                <a:spcPts val="800"/>
              </a:spcAft>
              <a:defRPr sz="2200">
                <a:solidFill>
                  <a:srgbClr val="FFFFFF"/>
                </a:solidFill>
              </a:defRPr>
            </a:pPr>
            <a:r>
              <a:t>      Spotting inconsistencies or anti-patterns</a:t>
            </a:r>
          </a:p>
          <a:p>
            <a:pPr>
              <a:spcBef>
                <a:spcPts val="800"/>
              </a:spcBef>
              <a:spcAft>
                <a:spcPts val="800"/>
              </a:spcAft>
              <a:defRPr sz="2200">
                <a:solidFill>
                  <a:srgbClr val="FFFFFF"/>
                </a:solidFill>
              </a:defRPr>
            </a:pPr>
            <a:r>
              <a:t>      Evaluating multiple approaches to the task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Planning Strategy</a:t>
            </a:r>
          </a:p>
          <a:p>
            <a:pPr>
              <a:spcBef>
                <a:spcPts val="800"/>
              </a:spcBef>
              <a:spcAft>
                <a:spcPts val="800"/>
              </a:spcAft>
              <a:defRPr sz="2200">
                <a:solidFill>
                  <a:srgbClr val="FFFFFF"/>
                </a:solidFill>
              </a:defRPr>
            </a:pPr>
            <a:r>
              <a:t>      Sequence of actions to achieve the goal</a:t>
            </a:r>
          </a:p>
          <a:p>
            <a:pPr>
              <a:spcBef>
                <a:spcPts val="800"/>
              </a:spcBef>
              <a:spcAft>
                <a:spcPts val="800"/>
              </a:spcAft>
              <a:defRPr sz="2200">
                <a:solidFill>
                  <a:srgbClr val="FFFFFF"/>
                </a:solidFill>
              </a:defRPr>
            </a:pPr>
            <a:r>
              <a:t>      Which files to modify and in what order</a:t>
            </a:r>
          </a:p>
          <a:p>
            <a:pPr>
              <a:spcBef>
                <a:spcPts val="800"/>
              </a:spcBef>
              <a:spcAft>
                <a:spcPts val="800"/>
              </a:spcAft>
              <a:defRPr sz="2200">
                <a:solidFill>
                  <a:srgbClr val="FFFFFF"/>
                </a:solidFill>
              </a:defRPr>
            </a:pPr>
            <a:r>
              <a:t>      Which tools to use (read, write, edit, run_command)</a:t>
            </a:r>
          </a:p>
          <a:p>
            <a:pPr>
              <a:spcBef>
                <a:spcPts val="800"/>
              </a:spcBef>
              <a:spcAft>
                <a:spcPts val="800"/>
              </a:spcAft>
              <a:defRPr sz="2200">
                <a:solidFill>
                  <a:srgbClr val="FFFFFF"/>
                </a:solidFill>
              </a:defRPr>
            </a:pPr>
            <a:r>
              <a:t>      Rollback strategy if something fails</a:t>
            </a:r>
          </a:p>
          <a:p>
            <a:pPr>
              <a:spcBef>
                <a:spcPts val="800"/>
              </a:spcBef>
              <a:spcAft>
                <a:spcPts val="800"/>
              </a:spcAft>
              <a:defRPr sz="2200">
                <a:solidFill>
                  <a:srgbClr val="FFFFFF"/>
                </a:solidFill>
              </a:defRPr>
            </a:pPr>
            <a:r>
              <a:t>      Testing and verification steps</a:t>
            </a:r>
          </a:p>
          <a:p>
            <a:pPr>
              <a:spcBef>
                <a:spcPts val="800"/>
              </a:spcBef>
              <a:spcAft>
                <a:spcPts val="800"/>
              </a:spcAft>
              <a:defRPr sz="2200">
                <a:solidFill>
                  <a:srgbClr val="FFFFFF"/>
                </a:solidFill>
              </a:defRPr>
            </a:pPr>
            <a:r>
              <a:t>  Risk Minimization</a:t>
            </a:r>
          </a:p>
          <a:p>
            <a:pPr>
              <a:spcBef>
                <a:spcPts val="800"/>
              </a:spcBef>
              <a:spcAft>
                <a:spcPts val="800"/>
              </a:spcAft>
              <a:defRPr sz="2200">
                <a:solidFill>
                  <a:srgbClr val="FFFFFF"/>
                </a:solidFill>
              </a:defRPr>
            </a:pPr>
            <a:r>
              <a:t>      Start with safest changes first (tests, docs)</a:t>
            </a:r>
          </a:p>
          <a:p>
            <a:pPr>
              <a:spcBef>
                <a:spcPts val="800"/>
              </a:spcBef>
              <a:spcAft>
                <a:spcPts val="800"/>
              </a:spcAft>
              <a:defRPr sz="2200">
                <a:solidFill>
                  <a:srgbClr val="FFFFFF"/>
                </a:solidFill>
              </a:defRPr>
            </a:pPr>
            <a:r>
              <a:t>      Make atomic changes that can be easily reverted</a:t>
            </a:r>
          </a:p>
          <a:p>
            <a:pPr>
              <a:spcBef>
                <a:spcPts val="800"/>
              </a:spcBef>
              <a:spcAft>
                <a:spcPts val="800"/>
              </a:spcAft>
              <a:defRPr sz="2200">
                <a:solidFill>
                  <a:srgbClr val="FFFFFF"/>
                </a:solidFill>
              </a:defRPr>
            </a:pPr>
            <a:r>
              <a:t>      Verify each step before proceeding to next</a:t>
            </a:r>
          </a:p>
          <a:p>
            <a:pPr>
              <a:spcBef>
                <a:spcPts val="800"/>
              </a:spcBef>
              <a:spcAft>
                <a:spcPts val="800"/>
              </a:spcAft>
              <a:defRPr sz="2200">
                <a:solidFill>
                  <a:srgbClr val="FFFFFF"/>
                </a:solidFill>
              </a:defRPr>
            </a:pPr>
            <a:r>
              <a:t>      Preserve existing functionality while adding new features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Available Tools</a:t>
            </a:r>
          </a:p>
          <a:p>
            <a:pPr>
              <a:spcBef>
                <a:spcPts val="800"/>
              </a:spcBef>
              <a:spcAft>
                <a:spcPts val="800"/>
              </a:spcAft>
              <a:defRPr sz="2200">
                <a:solidFill>
                  <a:srgbClr val="FFFFFF"/>
                </a:solidFill>
              </a:defRPr>
            </a:pPr>
            <a:r>
              <a:t>      **read_file**: Read contents of specific files</a:t>
            </a:r>
          </a:p>
          <a:p>
            <a:pPr>
              <a:spcBef>
                <a:spcPts val="800"/>
              </a:spcBef>
              <a:spcAft>
                <a:spcPts val="800"/>
              </a:spcAft>
              <a:defRPr sz="2200">
                <a:solidFill>
                  <a:srgbClr val="FFFFFF"/>
                </a:solidFill>
              </a:defRPr>
            </a:pPr>
            <a:r>
              <a:t>      **write_file**: Create new files with content</a:t>
            </a:r>
          </a:p>
          <a:p>
            <a:pPr>
              <a:spcBef>
                <a:spcPts val="800"/>
              </a:spcBef>
              <a:spcAft>
                <a:spcPts val="800"/>
              </a:spcAft>
              <a:defRPr sz="2200">
                <a:solidFill>
                  <a:srgbClr val="FFFFFF"/>
                </a:solidFill>
              </a:defRPr>
            </a:pPr>
            <a:r>
              <a:t>      **edit_file**: Make precise edits to existing files</a:t>
            </a:r>
          </a:p>
          <a:p>
            <a:pPr>
              <a:spcBef>
                <a:spcPts val="800"/>
              </a:spcBef>
              <a:spcAft>
                <a:spcPts val="800"/>
              </a:spcAft>
              <a:defRPr sz="2200">
                <a:solidFill>
                  <a:srgbClr val="FFFFFF"/>
                </a:solidFill>
              </a:defRPr>
            </a:pPr>
            <a:r>
              <a:t>      **run_command**: Execute shell commands (tests, linters, git)</a:t>
            </a:r>
          </a:p>
          <a:p>
            <a:pPr>
              <a:spcBef>
                <a:spcPts val="800"/>
              </a:spcBef>
              <a:spcAft>
                <a:spcPts val="800"/>
              </a:spcAft>
              <a:defRPr sz="2200">
                <a:solidFill>
                  <a:srgbClr val="FFFFFF"/>
                </a:solidFill>
              </a:defRPr>
            </a:pPr>
            <a:r>
              <a:t>      **list_dir**: Explore directory structure</a:t>
            </a:r>
          </a:p>
          <a:p>
            <a:pPr>
              <a:spcBef>
                <a:spcPts val="800"/>
              </a:spcBef>
              <a:spcAft>
                <a:spcPts val="800"/>
              </a:spcAft>
              <a:defRPr sz="2200">
                <a:solidFill>
                  <a:srgbClr val="FFFFFF"/>
                </a:solidFill>
              </a:defRPr>
            </a:pPr>
            <a:r>
              <a:t>  Execution Characteristics</a:t>
            </a:r>
          </a:p>
          <a:p>
            <a:pPr>
              <a:spcBef>
                <a:spcPts val="800"/>
              </a:spcBef>
              <a:spcAft>
                <a:spcPts val="800"/>
              </a:spcAft>
              <a:defRPr sz="2200">
                <a:solidFill>
                  <a:srgbClr val="FFFFFF"/>
                </a:solidFill>
              </a:defRPr>
            </a:pPr>
            <a:r>
              <a:t>      Precise edits using line numbers or search/replace</a:t>
            </a:r>
          </a:p>
          <a:p>
            <a:pPr>
              <a:spcBef>
                <a:spcPts val="800"/>
              </a:spcBef>
              <a:spcAft>
                <a:spcPts val="800"/>
              </a:spcAft>
              <a:defRPr sz="2200">
                <a:solidFill>
                  <a:srgbClr val="FFFFFF"/>
                </a:solidFill>
              </a:defRPr>
            </a:pPr>
            <a:r>
              <a:t>      Atomic file operations (all-or-nothing writes)</a:t>
            </a:r>
          </a:p>
          <a:p>
            <a:pPr>
              <a:spcBef>
                <a:spcPts val="800"/>
              </a:spcBef>
              <a:spcAft>
                <a:spcPts val="800"/>
              </a:spcAft>
              <a:defRPr sz="2200">
                <a:solidFill>
                  <a:srgbClr val="FFFFFF"/>
                </a:solidFill>
              </a:defRPr>
            </a:pPr>
            <a:r>
              <a:t>      Commands run in your project's context</a:t>
            </a:r>
          </a:p>
          <a:p>
            <a:pPr>
              <a:spcBef>
                <a:spcPts val="800"/>
              </a:spcBef>
              <a:spcAft>
                <a:spcPts val="800"/>
              </a:spcAft>
              <a:defRPr sz="2200">
                <a:solidFill>
                  <a:srgbClr val="FFFFFF"/>
                </a:solidFill>
              </a:defRPr>
            </a:pPr>
            <a:r>
              <a:t>      Real-time feedback from command 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Verification Methods</a:t>
            </a:r>
          </a:p>
          <a:p>
            <a:pPr>
              <a:spcBef>
                <a:spcPts val="800"/>
              </a:spcBef>
              <a:spcAft>
                <a:spcPts val="800"/>
              </a:spcAft>
              <a:defRPr sz="2200">
                <a:solidFill>
                  <a:srgbClr val="FFFFFF"/>
                </a:solidFill>
              </a:defRPr>
            </a:pPr>
            <a:r>
              <a:t>      Running linters and formatters (eslint, black, prettier)</a:t>
            </a:r>
          </a:p>
          <a:p>
            <a:pPr>
              <a:spcBef>
                <a:spcPts val="800"/>
              </a:spcBef>
              <a:spcAft>
                <a:spcPts val="800"/>
              </a:spcAft>
              <a:defRPr sz="2200">
                <a:solidFill>
                  <a:srgbClr val="FFFFFF"/>
                </a:solidFill>
              </a:defRPr>
            </a:pPr>
            <a:r>
              <a:t>      Executing test suites (pytest, jest, go test)</a:t>
            </a:r>
          </a:p>
          <a:p>
            <a:pPr>
              <a:spcBef>
                <a:spcPts val="800"/>
              </a:spcBef>
              <a:spcAft>
                <a:spcPts val="800"/>
              </a:spcAft>
              <a:defRPr sz="2200">
                <a:solidFill>
                  <a:srgbClr val="FFFFFF"/>
                </a:solidFill>
              </a:defRPr>
            </a:pPr>
            <a:r>
              <a:t>      Checking command outputs for errors</a:t>
            </a:r>
          </a:p>
          <a:p>
            <a:pPr>
              <a:spcBef>
                <a:spcPts val="800"/>
              </a:spcBef>
              <a:spcAft>
                <a:spcPts val="800"/>
              </a:spcAft>
              <a:defRPr sz="2200">
                <a:solidFill>
                  <a:srgbClr val="FFFFFF"/>
                </a:solidFill>
              </a:defRPr>
            </a:pPr>
            <a:r>
              <a:t>      Validating file syntax (parsing Python, JavaScript, etc.)</a:t>
            </a:r>
          </a:p>
          <a:p>
            <a:pPr>
              <a:spcBef>
                <a:spcPts val="800"/>
              </a:spcBef>
              <a:spcAft>
                <a:spcPts val="800"/>
              </a:spcAft>
              <a:defRPr sz="2200">
                <a:solidFill>
                  <a:srgbClr val="FFFFFF"/>
                </a:solidFill>
              </a:defRPr>
            </a:pPr>
            <a:r>
              <a:t>      Confirming expected side effects occurred</a:t>
            </a:r>
          </a:p>
          <a:p>
            <a:pPr>
              <a:spcBef>
                <a:spcPts val="800"/>
              </a:spcBef>
              <a:spcAft>
                <a:spcPts val="800"/>
              </a:spcAft>
              <a:defRPr sz="2200">
                <a:solidFill>
                  <a:srgbClr val="FFFFFF"/>
                </a:solidFill>
              </a:defRPr>
            </a:pPr>
            <a:r>
              <a:t>  When Verification Fails</a:t>
            </a:r>
          </a:p>
          <a:p>
            <a:pPr>
              <a:spcBef>
                <a:spcPts val="800"/>
              </a:spcBef>
              <a:spcAft>
                <a:spcPts val="800"/>
              </a:spcAft>
              <a:defRPr sz="2200">
                <a:solidFill>
                  <a:srgbClr val="FFFFFF"/>
                </a:solidFill>
              </a:defRPr>
            </a:pPr>
            <a:r>
              <a:t>      Loop back to Read stage with error output</a:t>
            </a:r>
          </a:p>
          <a:p>
            <a:pPr>
              <a:spcBef>
                <a:spcPts val="800"/>
              </a:spcBef>
              <a:spcAft>
                <a:spcPts val="800"/>
              </a:spcAft>
              <a:defRPr sz="2200">
                <a:solidFill>
                  <a:srgbClr val="FFFFFF"/>
                </a:solidFill>
              </a:defRPr>
            </a:pPr>
            <a:r>
              <a:t>      Re-analyze what went wrong</a:t>
            </a:r>
          </a:p>
          <a:p>
            <a:pPr>
              <a:spcBef>
                <a:spcPts val="800"/>
              </a:spcBef>
              <a:spcAft>
                <a:spcPts val="800"/>
              </a:spcAft>
              <a:defRPr sz="2200">
                <a:solidFill>
                  <a:srgbClr val="FFFFFF"/>
                </a:solidFill>
              </a:defRPr>
            </a:pPr>
            <a:r>
              <a:t>      Plan a fix or alternative approach</a:t>
            </a:r>
          </a:p>
          <a:p>
            <a:pPr>
              <a:spcBef>
                <a:spcPts val="800"/>
              </a:spcBef>
              <a:spcAft>
                <a:spcPts val="800"/>
              </a:spcAft>
              <a:defRPr sz="2200">
                <a:solidFill>
                  <a:srgbClr val="FFFFFF"/>
                </a:solidFill>
              </a:defRPr>
            </a:pPr>
            <a:r>
              <a:t>      Execute the fix</a:t>
            </a:r>
          </a:p>
          <a:p>
            <a:pPr>
              <a:spcBef>
                <a:spcPts val="800"/>
              </a:spcBef>
              <a:spcAft>
                <a:spcPts val="800"/>
              </a:spcAft>
              <a:defRPr sz="2200">
                <a:solidFill>
                  <a:srgbClr val="FFFFFF"/>
                </a:solidFill>
              </a:defRPr>
            </a:pPr>
            <a:r>
              <a:t>      Verify again (loop continues until success)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Problem with Big Prompts</a:t>
            </a:r>
          </a:p>
          <a:p>
            <a:pPr>
              <a:spcBef>
                <a:spcPts val="800"/>
              </a:spcBef>
              <a:spcAft>
                <a:spcPts val="800"/>
              </a:spcAft>
              <a:defRPr sz="2200">
                <a:solidFill>
                  <a:srgbClr val="FFFFFF"/>
                </a:solidFill>
              </a:defRPr>
            </a:pPr>
            <a:r>
              <a:t>      One mega-prompt tries to do everything at once</a:t>
            </a:r>
          </a:p>
          <a:p>
            <a:pPr>
              <a:spcBef>
                <a:spcPts val="800"/>
              </a:spcBef>
              <a:spcAft>
                <a:spcPts val="800"/>
              </a:spcAft>
              <a:defRPr sz="2200">
                <a:solidFill>
                  <a:srgbClr val="FFFFFF"/>
                </a:solidFill>
              </a:defRPr>
            </a:pPr>
            <a:r>
              <a:t>      Fails catastrophically in the middle</a:t>
            </a:r>
          </a:p>
          <a:p>
            <a:pPr>
              <a:spcBef>
                <a:spcPts val="800"/>
              </a:spcBef>
              <a:spcAft>
                <a:spcPts val="800"/>
              </a:spcAft>
              <a:defRPr sz="2200">
                <a:solidFill>
                  <a:srgbClr val="FFFFFF"/>
                </a:solidFill>
              </a:defRPr>
            </a:pPr>
            <a:r>
              <a:t>      Hard to debug where it went wrong</a:t>
            </a:r>
          </a:p>
          <a:p>
            <a:pPr>
              <a:spcBef>
                <a:spcPts val="800"/>
              </a:spcBef>
              <a:spcAft>
                <a:spcPts val="800"/>
              </a:spcAft>
              <a:defRPr sz="2200">
                <a:solidFill>
                  <a:srgbClr val="FFFFFF"/>
                </a:solidFill>
              </a:defRPr>
            </a:pPr>
            <a:r>
              <a:t>      Lost progress, start over from scratch</a:t>
            </a:r>
          </a:p>
          <a:p>
            <a:pPr>
              <a:spcBef>
                <a:spcPts val="800"/>
              </a:spcBef>
              <a:spcAft>
                <a:spcPts val="800"/>
              </a:spcAft>
              <a:defRPr sz="2200">
                <a:solidFill>
                  <a:srgbClr val="FFFFFF"/>
                </a:solidFill>
              </a:defRPr>
            </a:pPr>
            <a:r>
              <a:t>  The Power of Small Steps</a:t>
            </a:r>
          </a:p>
          <a:p>
            <a:pPr>
              <a:spcBef>
                <a:spcPts val="800"/>
              </a:spcBef>
              <a:spcAft>
                <a:spcPts val="800"/>
              </a:spcAft>
              <a:defRPr sz="2200">
                <a:solidFill>
                  <a:srgbClr val="FFFFFF"/>
                </a:solidFill>
              </a:defRPr>
            </a:pPr>
            <a:r>
              <a:t>      Break feature into 5 verifiable steps</a:t>
            </a:r>
          </a:p>
          <a:p>
            <a:pPr>
              <a:spcBef>
                <a:spcPts val="800"/>
              </a:spcBef>
              <a:spcAft>
                <a:spcPts val="800"/>
              </a:spcAft>
              <a:defRPr sz="2200">
                <a:solidFill>
                  <a:srgbClr val="FFFFFF"/>
                </a:solidFill>
              </a:defRPr>
            </a:pPr>
            <a:r>
              <a:t>      Each step = concrete, testable output</a:t>
            </a:r>
          </a:p>
          <a:p>
            <a:pPr>
              <a:spcBef>
                <a:spcPts val="800"/>
              </a:spcBef>
              <a:spcAft>
                <a:spcPts val="800"/>
              </a:spcAft>
              <a:defRPr sz="2200">
                <a:solidFill>
                  <a:srgbClr val="FFFFFF"/>
                </a:solidFill>
              </a:defRPr>
            </a:pPr>
            <a:r>
              <a:t>      Failure happens early, easy to fix</a:t>
            </a:r>
          </a:p>
          <a:p>
            <a:pPr>
              <a:spcBef>
                <a:spcPts val="800"/>
              </a:spcBef>
              <a:spcAft>
                <a:spcPts val="800"/>
              </a:spcAft>
              <a:defRPr sz="2200">
                <a:solidFill>
                  <a:srgbClr val="FFFFFF"/>
                </a:solidFill>
              </a:defRPr>
            </a:pPr>
            <a:r>
              <a:t>      Progress is saved at each checkpoint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Over-Organized (Fragile)</a:t>
            </a:r>
          </a:p>
          <a:p>
            <a:pPr>
              <a:spcBef>
                <a:spcPts val="800"/>
              </a:spcBef>
              <a:spcAft>
                <a:spcPts val="800"/>
              </a:spcAft>
              <a:defRPr sz="2200">
                <a:solidFill>
                  <a:srgbClr val="FFFFFF"/>
                </a:solidFill>
              </a:defRPr>
            </a:pPr>
            <a:r>
              <a:t>      Deep folder hierarchies: /src/api/v1/endpoints/user/profile/settings/</a:t>
            </a:r>
          </a:p>
          <a:p>
            <a:pPr>
              <a:spcBef>
                <a:spcPts val="800"/>
              </a:spcBef>
              <a:spcAft>
                <a:spcPts val="800"/>
              </a:spcAft>
              <a:defRPr sz="2200">
                <a:solidFill>
                  <a:srgbClr val="FFFFFF"/>
                </a:solidFill>
              </a:defRPr>
            </a:pPr>
            <a:r>
              <a:t>      Many small files scattered across tree</a:t>
            </a:r>
          </a:p>
          <a:p>
            <a:pPr>
              <a:spcBef>
                <a:spcPts val="800"/>
              </a:spcBef>
              <a:spcAft>
                <a:spcPts val="800"/>
              </a:spcAft>
              <a:defRPr sz="2200">
                <a:solidFill>
                  <a:srgbClr val="FFFFFF"/>
                </a:solidFill>
              </a:defRPr>
            </a:pPr>
            <a:r>
              <a:t>      Hard to navigate, easy to lose context</a:t>
            </a:r>
          </a:p>
          <a:p>
            <a:pPr>
              <a:spcBef>
                <a:spcPts val="800"/>
              </a:spcBef>
              <a:spcAft>
                <a:spcPts val="800"/>
              </a:spcAft>
              <a:defRPr sz="2200">
                <a:solidFill>
                  <a:srgbClr val="FFFFFF"/>
                </a:solidFill>
              </a:defRPr>
            </a:pPr>
            <a:r>
              <a:t>      Refactoring = moving dozens of files</a:t>
            </a:r>
          </a:p>
          <a:p>
            <a:pPr>
              <a:spcBef>
                <a:spcPts val="800"/>
              </a:spcBef>
              <a:spcAft>
                <a:spcPts val="800"/>
              </a:spcAft>
              <a:defRPr sz="2200">
                <a:solidFill>
                  <a:srgbClr val="FFFFFF"/>
                </a:solidFill>
              </a:defRPr>
            </a:pPr>
            <a:r>
              <a:t>  Convention-Routed (Robust)</a:t>
            </a:r>
          </a:p>
          <a:p>
            <a:pPr>
              <a:spcBef>
                <a:spcPts val="800"/>
              </a:spcBef>
              <a:spcAft>
                <a:spcPts val="800"/>
              </a:spcAft>
              <a:defRPr sz="2200">
                <a:solidFill>
                  <a:srgbClr val="FFFFFF"/>
                </a:solidFill>
              </a:defRPr>
            </a:pPr>
            <a:r>
              <a:t>      Flat or shallow structure: /src/endpoints/</a:t>
            </a:r>
          </a:p>
          <a:p>
            <a:pPr>
              <a:spcBef>
                <a:spcPts val="800"/>
              </a:spcBef>
              <a:spcAft>
                <a:spcPts val="800"/>
              </a:spcAft>
              <a:defRPr sz="2200">
                <a:solidFill>
                  <a:srgbClr val="FFFFFF"/>
                </a:solidFill>
              </a:defRPr>
            </a:pPr>
            <a:r>
              <a:t>      File naming encodes purpose: user_profile_api.py, user_settings_api.py</a:t>
            </a:r>
          </a:p>
          <a:p>
            <a:pPr>
              <a:spcBef>
                <a:spcPts val="800"/>
              </a:spcBef>
              <a:spcAft>
                <a:spcPts val="800"/>
              </a:spcAft>
              <a:defRPr sz="2200">
                <a:solidFill>
                  <a:srgbClr val="FFFFFF"/>
                </a:solidFill>
              </a:defRPr>
            </a:pPr>
            <a:r>
              <a:t>      Easy to scan, context clear from names</a:t>
            </a:r>
          </a:p>
          <a:p>
            <a:pPr>
              <a:spcBef>
                <a:spcPts val="800"/>
              </a:spcBef>
              <a:spcAft>
                <a:spcPts val="800"/>
              </a:spcAft>
              <a:defRPr sz="2200">
                <a:solidFill>
                  <a:srgbClr val="FFFFFF"/>
                </a:solidFill>
              </a:defRPr>
            </a:pPr>
            <a:r>
              <a:t>      Refactoring = renaming files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Topic</a:t>
            </a:r>
          </a:p>
          <a:p>
            <a:pPr>
              <a:spcBef>
                <a:spcPts val="800"/>
              </a:spcBef>
              <a:spcAft>
                <a:spcPts val="800"/>
              </a:spcAft>
              <a:defRPr sz="2200">
                <a:solidFill>
                  <a:srgbClr val="FFFFFF"/>
                </a:solidFill>
              </a:defRPr>
            </a:pPr>
            <a:r>
              <a:t>      Point 1</a:t>
            </a:r>
          </a:p>
          <a:p>
            <a:pPr>
              <a:spcBef>
                <a:spcPts val="800"/>
              </a:spcBef>
              <a:spcAft>
                <a:spcPts val="800"/>
              </a:spcAft>
              <a:defRPr sz="2200">
                <a:solidFill>
                  <a:srgbClr val="FFFFFF"/>
                </a:solidFill>
              </a:defRPr>
            </a:pPr>
            <a:r>
              <a:t>      Point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Chunking Strategy</a:t>
            </a:r>
          </a:p>
          <a:p>
            <a:pPr>
              <a:spcBef>
                <a:spcPts val="800"/>
              </a:spcBef>
              <a:spcAft>
                <a:spcPts val="800"/>
              </a:spcAft>
              <a:defRPr sz="2200">
                <a:solidFill>
                  <a:srgbClr val="FFFFFF"/>
                </a:solidFill>
              </a:defRPr>
            </a:pPr>
            <a:r>
              <a:t>      Work on one module at a time</a:t>
            </a:r>
          </a:p>
          <a:p>
            <a:pPr>
              <a:spcBef>
                <a:spcPts val="800"/>
              </a:spcBef>
              <a:spcAft>
                <a:spcPts val="800"/>
              </a:spcAft>
              <a:defRPr sz="2200">
                <a:solidFill>
                  <a:srgbClr val="FFFFFF"/>
                </a:solidFill>
              </a:defRPr>
            </a:pPr>
            <a:r>
              <a:t>      Complete and verify before moving to next</a:t>
            </a:r>
          </a:p>
          <a:p>
            <a:pPr>
              <a:spcBef>
                <a:spcPts val="800"/>
              </a:spcBef>
              <a:spcAft>
                <a:spcPts val="800"/>
              </a:spcAft>
              <a:defRPr sz="2200">
                <a:solidFill>
                  <a:srgbClr val="FFFFFF"/>
                </a:solidFill>
              </a:defRPr>
            </a:pPr>
            <a:r>
              <a:t>  Fresh Sessions</a:t>
            </a:r>
          </a:p>
          <a:p>
            <a:pPr>
              <a:spcBef>
                <a:spcPts val="800"/>
              </a:spcBef>
              <a:spcAft>
                <a:spcPts val="800"/>
              </a:spcAft>
              <a:defRPr sz="2200">
                <a:solidFill>
                  <a:srgbClr val="FFFFFF"/>
                </a:solidFill>
              </a:defRPr>
            </a:pPr>
            <a:r>
              <a:t>      /clear between distinct tasks</a:t>
            </a:r>
          </a:p>
          <a:p>
            <a:pPr>
              <a:spcBef>
                <a:spcPts val="800"/>
              </a:spcBef>
              <a:spcAft>
                <a:spcPts val="800"/>
              </a:spcAft>
              <a:defRPr sz="2200">
                <a:solidFill>
                  <a:srgbClr val="FFFFFF"/>
                </a:solidFill>
              </a:defRPr>
            </a:pPr>
            <a:r>
              <a:t>      Start new session for unrelated work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 Management</a:t>
            </a:r>
          </a:p>
          <a:p>
            <a:pPr>
              <a:spcBef>
                <a:spcPts val="800"/>
              </a:spcBef>
              <a:spcAft>
                <a:spcPts val="800"/>
              </a:spcAft>
              <a:defRPr sz="2200">
                <a:solidFill>
                  <a:srgbClr val="FFFFFF"/>
                </a:solidFill>
              </a:defRPr>
            </a:pPr>
            <a:r>
              <a:t>      /init - Start fresh session</a:t>
            </a:r>
          </a:p>
          <a:p>
            <a:pPr>
              <a:spcBef>
                <a:spcPts val="800"/>
              </a:spcBef>
              <a:spcAft>
                <a:spcPts val="800"/>
              </a:spcAft>
              <a:defRPr sz="2200">
                <a:solidFill>
                  <a:srgbClr val="FFFFFF"/>
                </a:solidFill>
              </a:defRPr>
            </a:pPr>
            <a:r>
              <a:t>      /clear - Clear history</a:t>
            </a:r>
          </a:p>
          <a:p>
            <a:pPr>
              <a:spcBef>
                <a:spcPts val="800"/>
              </a:spcBef>
              <a:spcAft>
                <a:spcPts val="800"/>
              </a:spcAft>
              <a:defRPr sz="2200">
                <a:solidFill>
                  <a:srgbClr val="FFFFFF"/>
                </a:solidFill>
              </a:defRPr>
            </a:pPr>
            <a:r>
              <a:t>      /compact - Summarize conversation</a:t>
            </a:r>
          </a:p>
          <a:p>
            <a:pPr>
              <a:spcBef>
                <a:spcPts val="800"/>
              </a:spcBef>
              <a:spcAft>
                <a:spcPts val="800"/>
              </a:spcAft>
              <a:defRPr sz="2200">
                <a:solidFill>
                  <a:srgbClr val="FFFFFF"/>
                </a:solidFill>
              </a:defRPr>
            </a:pPr>
            <a:r>
              <a:t>  Model &amp; Output</a:t>
            </a:r>
          </a:p>
          <a:p>
            <a:pPr>
              <a:spcBef>
                <a:spcPts val="800"/>
              </a:spcBef>
              <a:spcAft>
                <a:spcPts val="800"/>
              </a:spcAft>
              <a:defRPr sz="2200">
                <a:solidFill>
                  <a:srgbClr val="FFFFFF"/>
                </a:solidFill>
              </a:defRPr>
            </a:pPr>
            <a:r>
              <a:t>      /model - Switch models</a:t>
            </a:r>
          </a:p>
          <a:p>
            <a:pPr>
              <a:spcBef>
                <a:spcPts val="800"/>
              </a:spcBef>
              <a:spcAft>
                <a:spcPts val="800"/>
              </a:spcAft>
              <a:defRPr sz="2200">
                <a:solidFill>
                  <a:srgbClr val="FFFFFF"/>
                </a:solidFill>
              </a:defRPr>
            </a:pPr>
            <a:r>
              <a:t>      /thinking - Toggle reasoning</a:t>
            </a:r>
          </a:p>
          <a:p>
            <a:pPr>
              <a:spcBef>
                <a:spcPts val="800"/>
              </a:spcBef>
              <a:spcAft>
                <a:spcPts val="800"/>
              </a:spcAft>
              <a:defRPr sz="2200">
                <a:solidFill>
                  <a:srgbClr val="FFFFFF"/>
                </a:solidFill>
              </a:defRPr>
            </a:pPr>
            <a:r>
              <a:t>      /cost - Show token usage</a:t>
            </a:r>
          </a:p>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/permissions - View/change level</a:t>
            </a:r>
          </a:p>
          <a:p>
            <a:pPr>
              <a:spcBef>
                <a:spcPts val="800"/>
              </a:spcBef>
              <a:spcAft>
                <a:spcPts val="800"/>
              </a:spcAft>
              <a:defRPr sz="2200">
                <a:solidFill>
                  <a:srgbClr val="FFFFFF"/>
                </a:solidFill>
              </a:defRPr>
            </a:pPr>
            <a:r>
              <a:t>      /allowed-tools - List enabled tools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/init</a:t>
            </a:r>
          </a:p>
          <a:p>
            <a:pPr>
              <a:spcBef>
                <a:spcPts val="800"/>
              </a:spcBef>
              <a:spcAft>
                <a:spcPts val="800"/>
              </a:spcAft>
              <a:defRPr sz="2200">
                <a:solidFill>
                  <a:srgbClr val="FFFFFF"/>
                </a:solidFill>
              </a:defRPr>
            </a:pPr>
            <a:r>
              <a:t>      Starts completely fresh session</a:t>
            </a:r>
          </a:p>
          <a:p>
            <a:pPr>
              <a:spcBef>
                <a:spcPts val="800"/>
              </a:spcBef>
              <a:spcAft>
                <a:spcPts val="800"/>
              </a:spcAft>
              <a:defRPr sz="2200">
                <a:solidFill>
                  <a:srgbClr val="FFFFFF"/>
                </a:solidFill>
              </a:defRPr>
            </a:pPr>
            <a:r>
              <a:t>      Clears all context and history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Clears conversation history</a:t>
            </a:r>
          </a:p>
          <a:p>
            <a:pPr>
              <a:spcBef>
                <a:spcPts val="800"/>
              </a:spcBef>
              <a:spcAft>
                <a:spcPts val="800"/>
              </a:spcAft>
              <a:defRPr sz="2200">
                <a:solidFill>
                  <a:srgbClr val="FFFFFF"/>
                </a:solidFill>
              </a:defRPr>
            </a:pPr>
            <a:r>
              <a:t>      Keeps CLAUDE.md and file tree</a:t>
            </a:r>
          </a:p>
          <a:p>
            <a:pPr>
              <a:spcBef>
                <a:spcPts val="800"/>
              </a:spcBef>
              <a:spcAft>
                <a:spcPts val="800"/>
              </a:spcAft>
              <a:defRPr sz="2200">
                <a:solidFill>
                  <a:srgbClr val="FFFFFF"/>
                </a:solidFill>
              </a:defRPr>
            </a:pPr>
            <a:r>
              <a:t>  /compact</a:t>
            </a:r>
          </a:p>
          <a:p>
            <a:pPr>
              <a:spcBef>
                <a:spcPts val="800"/>
              </a:spcBef>
              <a:spcAft>
                <a:spcPts val="800"/>
              </a:spcAft>
              <a:defRPr sz="2200">
                <a:solidFill>
                  <a:srgbClr val="FFFFFF"/>
                </a:solidFill>
              </a:defRPr>
            </a:pPr>
            <a:r>
              <a:t>      Summarizes conversation</a:t>
            </a:r>
          </a:p>
          <a:p>
            <a:pPr>
              <a:spcBef>
                <a:spcPts val="800"/>
              </a:spcBef>
              <a:spcAft>
                <a:spcPts val="800"/>
              </a:spcAft>
              <a:defRPr sz="2200">
                <a:solidFill>
                  <a:srgbClr val="FFFFFF"/>
                </a:solidFill>
              </a:defRPr>
            </a:pPr>
            <a:r>
              <a:t>      Reduces token usage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a:t>
            </a:r>
          </a:p>
          <a:p>
            <a:pPr>
              <a:spcBef>
                <a:spcPts val="800"/>
              </a:spcBef>
              <a:spcAft>
                <a:spcPts val="800"/>
              </a:spcAft>
              <a:defRPr sz="2200">
                <a:solidFill>
                  <a:srgbClr val="FFFFFF"/>
                </a:solidFill>
              </a:defRPr>
            </a:pPr>
            <a:r>
              <a:t>      Switch models mid-session</a:t>
            </a:r>
          </a:p>
          <a:p>
            <a:pPr>
              <a:spcBef>
                <a:spcPts val="800"/>
              </a:spcBef>
              <a:spcAft>
                <a:spcPts val="800"/>
              </a:spcAft>
              <a:defRPr sz="2200">
                <a:solidFill>
                  <a:srgbClr val="FFFFFF"/>
                </a:solidFill>
              </a:defRPr>
            </a:pPr>
            <a:r>
              <a:t>      Each model has different tradeoffs</a:t>
            </a:r>
          </a:p>
          <a:p>
            <a:pPr>
              <a:spcBef>
                <a:spcPts val="800"/>
              </a:spcBef>
              <a:spcAft>
                <a:spcPts val="800"/>
              </a:spcAft>
              <a:defRPr sz="2200">
                <a:solidFill>
                  <a:srgbClr val="FFFFFF"/>
                </a:solidFill>
              </a:defRPr>
            </a:pPr>
            <a:r>
              <a:t>      Change affects current session only</a:t>
            </a:r>
          </a:p>
          <a:p>
            <a:pPr>
              <a:spcBef>
                <a:spcPts val="800"/>
              </a:spcBef>
              <a:spcAft>
                <a:spcPts val="800"/>
              </a:spcAft>
              <a:defRPr sz="2200">
                <a:solidFill>
                  <a:srgbClr val="FFFFFF"/>
                </a:solidFill>
              </a:defRPr>
            </a:pPr>
            <a:r>
              <a:t>  /thinking</a:t>
            </a:r>
          </a:p>
          <a:p>
            <a:pPr>
              <a:spcBef>
                <a:spcPts val="800"/>
              </a:spcBef>
              <a:spcAft>
                <a:spcPts val="800"/>
              </a:spcAft>
              <a:defRPr sz="2200">
                <a:solidFill>
                  <a:srgbClr val="FFFFFF"/>
                </a:solidFill>
              </a:defRPr>
            </a:pPr>
            <a:r>
              <a:t>      Toggles extended reasoning</a:t>
            </a:r>
          </a:p>
          <a:p>
            <a:pPr>
              <a:spcBef>
                <a:spcPts val="800"/>
              </a:spcBef>
              <a:spcAft>
                <a:spcPts val="800"/>
              </a:spcAft>
              <a:defRPr sz="2200">
                <a:solidFill>
                  <a:srgbClr val="FFFFFF"/>
                </a:solidFill>
              </a:defRPr>
            </a:pPr>
            <a:r>
              <a:t>      Shows step-by-step thinking</a:t>
            </a:r>
          </a:p>
          <a:p>
            <a:pPr>
              <a:spcBef>
                <a:spcPts val="800"/>
              </a:spcBef>
              <a:spcAft>
                <a:spcPts val="800"/>
              </a:spcAft>
              <a:defRPr sz="2200">
                <a:solidFill>
                  <a:srgbClr val="FFFFFF"/>
                </a:solidFill>
              </a:defRPr>
            </a:pPr>
            <a:r>
              <a:t>      Useful for debugging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/permissions</a:t>
            </a:r>
          </a:p>
          <a:p>
            <a:pPr>
              <a:spcBef>
                <a:spcPts val="800"/>
              </a:spcBef>
              <a:spcAft>
                <a:spcPts val="800"/>
              </a:spcAft>
              <a:defRPr sz="2200">
                <a:solidFill>
                  <a:srgbClr val="FFFFFF"/>
                </a:solidFill>
              </a:defRPr>
            </a:pPr>
            <a:r>
              <a:t>      View current permission level</a:t>
            </a:r>
          </a:p>
          <a:p>
            <a:pPr>
              <a:spcBef>
                <a:spcPts val="800"/>
              </a:spcBef>
              <a:spcAft>
                <a:spcPts val="800"/>
              </a:spcAft>
              <a:defRPr sz="2200">
                <a:solidFill>
                  <a:srgbClr val="FFFFFF"/>
                </a:solidFill>
              </a:defRPr>
            </a:pPr>
            <a:r>
              <a:t>      Change: /permissions suggest-only</a:t>
            </a:r>
          </a:p>
          <a:p>
            <a:pPr>
              <a:spcBef>
                <a:spcPts val="800"/>
              </a:spcBef>
              <a:spcAft>
                <a:spcPts val="800"/>
              </a:spcAft>
              <a:defRPr sz="2200">
                <a:solidFill>
                  <a:srgbClr val="FFFFFF"/>
                </a:solidFill>
              </a:defRPr>
            </a:pPr>
            <a:r>
              <a:t>      Controls autonomy</a:t>
            </a:r>
          </a:p>
          <a:p>
            <a:pPr>
              <a:spcBef>
                <a:spcPts val="800"/>
              </a:spcBef>
              <a:spcAft>
                <a:spcPts val="800"/>
              </a:spcAft>
              <a:defRPr sz="2200">
                <a:solidFill>
                  <a:srgbClr val="FFFFFF"/>
                </a:solidFill>
              </a:defRPr>
            </a:pPr>
            <a:r>
              <a:t>  /allowed-tools</a:t>
            </a:r>
          </a:p>
          <a:p>
            <a:pPr>
              <a:spcBef>
                <a:spcPts val="800"/>
              </a:spcBef>
              <a:spcAft>
                <a:spcPts val="800"/>
              </a:spcAft>
              <a:defRPr sz="2200">
                <a:solidFill>
                  <a:srgbClr val="FFFFFF"/>
                </a:solidFill>
              </a:defRPr>
            </a:pPr>
            <a:r>
              <a:t>      Shows enabled tools</a:t>
            </a:r>
          </a:p>
          <a:p>
            <a:pPr>
              <a:spcBef>
                <a:spcPts val="800"/>
              </a:spcBef>
              <a:spcAft>
                <a:spcPts val="800"/>
              </a:spcAft>
              <a:defRPr sz="2200">
                <a:solidFill>
                  <a:srgbClr val="FFFFFF"/>
                </a:solidFill>
              </a:defRPr>
            </a:pPr>
            <a:r>
              <a:t>      Useful for debugging restrictions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/output-format</a:t>
            </a:r>
          </a:p>
          <a:p>
            <a:pPr>
              <a:spcBef>
                <a:spcPts val="800"/>
              </a:spcBef>
              <a:spcAft>
                <a:spcPts val="800"/>
              </a:spcAft>
              <a:defRPr sz="2200">
                <a:solidFill>
                  <a:srgbClr val="FFFFFF"/>
                </a:solidFill>
              </a:defRPr>
            </a:pPr>
            <a:r>
              <a:t>      concise - Minimal</a:t>
            </a:r>
          </a:p>
          <a:p>
            <a:pPr>
              <a:spcBef>
                <a:spcPts val="800"/>
              </a:spcBef>
              <a:spcAft>
                <a:spcPts val="800"/>
              </a:spcAft>
              <a:defRPr sz="2200">
                <a:solidFill>
                  <a:srgbClr val="FFFFFF"/>
                </a:solidFill>
              </a:defRPr>
            </a:pPr>
            <a:r>
              <a:t>      verbose - Detailed</a:t>
            </a:r>
          </a:p>
          <a:p>
            <a:pPr>
              <a:spcBef>
                <a:spcPts val="800"/>
              </a:spcBef>
              <a:spcAft>
                <a:spcPts val="800"/>
              </a:spcAft>
              <a:defRPr sz="2200">
                <a:solidFill>
                  <a:srgbClr val="FFFFFF"/>
                </a:solidFill>
              </a:defRPr>
            </a:pPr>
            <a:r>
              <a:t>      diff - Changes only</a:t>
            </a:r>
          </a:p>
          <a:p>
            <a:pPr>
              <a:spcBef>
                <a:spcPts val="800"/>
              </a:spcBef>
              <a:spcAft>
                <a:spcPts val="800"/>
              </a:spcAft>
              <a:defRPr sz="2200">
                <a:solidFill>
                  <a:srgbClr val="FFFFFF"/>
                </a:solidFill>
              </a:defRPr>
            </a:pPr>
            <a:r>
              <a:t>  /verbose</a:t>
            </a:r>
          </a:p>
          <a:p>
            <a:pPr>
              <a:spcBef>
                <a:spcPts val="800"/>
              </a:spcBef>
              <a:spcAft>
                <a:spcPts val="800"/>
              </a:spcAft>
              <a:defRPr sz="2200">
                <a:solidFill>
                  <a:srgbClr val="FFFFFF"/>
                </a:solidFill>
              </a:defRPr>
            </a:pPr>
            <a:r>
              <a:t>      Toggles detailed output</a:t>
            </a:r>
          </a:p>
          <a:p>
            <a:pPr>
              <a:spcBef>
                <a:spcPts val="800"/>
              </a:spcBef>
              <a:spcAft>
                <a:spcPts val="800"/>
              </a:spcAft>
              <a:defRPr sz="2200">
                <a:solidFill>
                  <a:srgbClr val="FFFFFF"/>
                </a:solidFill>
              </a:defRPr>
            </a:pPr>
            <a:r>
              <a:t>      Shows tool calls</a:t>
            </a:r>
          </a:p>
          <a:p>
            <a:pPr>
              <a:spcBef>
                <a:spcPts val="800"/>
              </a:spcBef>
              <a:spcAft>
                <a:spcPts val="800"/>
              </a:spcAft>
              <a:defRPr sz="2200">
                <a:solidFill>
                  <a:srgbClr val="FFFFFF"/>
                </a:solidFill>
              </a:defRPr>
            </a:pPr>
            <a:r>
              <a:t>      Great for learning</a:t>
            </a:r>
          </a:p>
          <a:p>
            <a:pPr>
              <a:spcBef>
                <a:spcPts val="800"/>
              </a:spcBef>
              <a:spcAft>
                <a:spcPts val="800"/>
              </a:spcAft>
              <a:defRPr sz="2200">
                <a:solidFill>
                  <a:srgbClr val="FFFFFF"/>
                </a:solidFill>
              </a:defRPr>
            </a:pPr>
            <a:r>
              <a:t>  /cost</a:t>
            </a:r>
          </a:p>
          <a:p>
            <a:pPr>
              <a:spcBef>
                <a:spcPts val="800"/>
              </a:spcBef>
              <a:spcAft>
                <a:spcPts val="800"/>
              </a:spcAft>
              <a:defRPr sz="2200">
                <a:solidFill>
                  <a:srgbClr val="FFFFFF"/>
                </a:solidFill>
              </a:defRPr>
            </a:pPr>
            <a:r>
              <a:t>      Shows token usage</a:t>
            </a:r>
          </a:p>
          <a:p>
            <a:pPr>
              <a:spcBef>
                <a:spcPts val="800"/>
              </a:spcBef>
              <a:spcAft>
                <a:spcPts val="800"/>
              </a:spcAft>
              <a:defRPr sz="2200">
                <a:solidFill>
                  <a:srgbClr val="FFFFFF"/>
                </a:solidFill>
              </a:defRPr>
            </a:pPr>
            <a:r>
              <a:t>      Estimated API cost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Approval-Based Actions</a:t>
            </a:r>
          </a:p>
          <a:p>
            <a:pPr>
              <a:spcBef>
                <a:spcPts val="800"/>
              </a:spcBef>
              <a:spcAft>
                <a:spcPts val="800"/>
              </a:spcAft>
              <a:defRPr sz="2200">
                <a:solidFill>
                  <a:srgbClr val="FFFFFF"/>
                </a:solidFill>
              </a:defRPr>
            </a:pPr>
            <a:r>
              <a:t>      By default, asks before executing</a:t>
            </a:r>
          </a:p>
          <a:p>
            <a:pPr>
              <a:spcBef>
                <a:spcPts val="800"/>
              </a:spcBef>
              <a:spcAft>
                <a:spcPts val="800"/>
              </a:spcAft>
              <a:defRPr sz="2200">
                <a:solidFill>
                  <a:srgbClr val="FFFFFF"/>
                </a:solidFill>
              </a:defRPr>
            </a:pPr>
            <a:r>
              <a:t>      Review diffs before applying</a:t>
            </a:r>
          </a:p>
          <a:p>
            <a:pPr>
              <a:spcBef>
                <a:spcPts val="800"/>
              </a:spcBef>
              <a:spcAft>
                <a:spcPts val="800"/>
              </a:spcAft>
              <a:defRPr sz="2200">
                <a:solidFill>
                  <a:srgbClr val="FFFFFF"/>
                </a:solidFill>
              </a:defRPr>
            </a:pPr>
            <a:r>
              <a:t>      Opt-in to auto-approval</a:t>
            </a:r>
          </a:p>
          <a:p>
            <a:pPr>
              <a:spcBef>
                <a:spcPts val="800"/>
              </a:spcBef>
              <a:spcAft>
                <a:spcPts val="800"/>
              </a:spcAft>
              <a:defRPr sz="2200">
                <a:solidFill>
                  <a:srgbClr val="FFFFFF"/>
                </a:solidFill>
              </a:defRPr>
            </a:pPr>
            <a:r>
              <a:t>  Trust Levels</a:t>
            </a:r>
          </a:p>
          <a:p>
            <a:pPr>
              <a:spcBef>
                <a:spcPts val="800"/>
              </a:spcBef>
              <a:spcAft>
                <a:spcPts val="800"/>
              </a:spcAft>
              <a:defRPr sz="2200">
                <a:solidFill>
                  <a:srgbClr val="FFFFFF"/>
                </a:solidFill>
              </a:defRPr>
            </a:pPr>
            <a:r>
              <a:t>      Suggest Only: Never apply changes</a:t>
            </a:r>
          </a:p>
          <a:p>
            <a:pPr>
              <a:spcBef>
                <a:spcPts val="800"/>
              </a:spcBef>
              <a:spcAft>
                <a:spcPts val="800"/>
              </a:spcAft>
              <a:defRPr sz="2200">
                <a:solidFill>
                  <a:srgbClr val="FFFFFF"/>
                </a:solidFill>
              </a:defRPr>
            </a:pPr>
            <a:r>
              <a:t>      Auto-Approve Read: Read freely, ask before write</a:t>
            </a:r>
          </a:p>
          <a:p>
            <a:pPr>
              <a:spcBef>
                <a:spcPts val="800"/>
              </a:spcBef>
              <a:spcAft>
                <a:spcPts val="800"/>
              </a:spcAft>
              <a:defRPr sz="2200">
                <a:solidFill>
                  <a:srgbClr val="FFFFFF"/>
                </a:solidFill>
              </a:defRPr>
            </a:pPr>
            <a:r>
              <a:t>      Auto-Approve All: Full autonomy</a:t>
            </a:r>
          </a:p>
          <a:p>
            <a:pPr>
              <a:spcBef>
                <a:spcPts val="800"/>
              </a:spcBef>
              <a:spcAft>
                <a:spcPts val="800"/>
              </a:spcAft>
              <a:defRPr sz="2200">
                <a:solidFill>
                  <a:srgbClr val="FFFFFF"/>
                </a:solidFill>
              </a:defRPr>
            </a:pPr>
            <a:r>
              <a:t>  Allowlists &amp; Blocklists</a:t>
            </a:r>
          </a:p>
          <a:p>
            <a:pPr>
              <a:spcBef>
                <a:spcPts val="800"/>
              </a:spcBef>
              <a:spcAft>
                <a:spcPts val="800"/>
              </a:spcAft>
              <a:defRPr sz="2200">
                <a:solidFill>
                  <a:srgbClr val="FFFFFF"/>
                </a:solidFill>
              </a:defRPr>
            </a:pPr>
            <a:r>
              <a:t>      Specify which commands allowed</a:t>
            </a:r>
          </a:p>
          <a:p>
            <a:pPr>
              <a:spcBef>
                <a:spcPts val="800"/>
              </a:spcBef>
              <a:spcAft>
                <a:spcPts val="800"/>
              </a:spcAft>
              <a:defRPr sz="2200">
                <a:solidFill>
                  <a:srgbClr val="FFFFFF"/>
                </a:solidFill>
              </a:defRPr>
            </a:pPr>
            <a:r>
              <a:t>      Block dangerous commands</a:t>
            </a:r>
          </a:p>
          <a:p>
            <a:pPr>
              <a:spcBef>
                <a:spcPts val="800"/>
              </a:spcBef>
              <a:spcAft>
                <a:spcPts val="800"/>
              </a:spcAft>
              <a:defRPr sz="2200">
                <a:solidFill>
                  <a:srgbClr val="FFFFFF"/>
                </a:solidFill>
              </a:defRPr>
            </a:pPr>
            <a:r>
              <a:t>      Configure per-project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Command Allowlists</a:t>
            </a:r>
          </a:p>
          <a:p>
            <a:pPr>
              <a:spcBef>
                <a:spcPts val="800"/>
              </a:spcBef>
              <a:spcAft>
                <a:spcPts val="800"/>
              </a:spcAft>
              <a:defRPr sz="2200">
                <a:solidFill>
                  <a:srgbClr val="FFFFFF"/>
                </a:solidFill>
              </a:defRPr>
            </a:pPr>
            <a:r>
              <a:t>      Specify exactly which commands permitted</a:t>
            </a:r>
          </a:p>
          <a:p>
            <a:pPr>
              <a:spcBef>
                <a:spcPts val="800"/>
              </a:spcBef>
              <a:spcAft>
                <a:spcPts val="800"/>
              </a:spcAft>
              <a:defRPr sz="2200">
                <a:solidFill>
                  <a:srgbClr val="FFFFFF"/>
                </a:solidFill>
              </a:defRPr>
            </a:pPr>
            <a:r>
              <a:t>      Strictest security</a:t>
            </a:r>
          </a:p>
          <a:p>
            <a:pPr>
              <a:spcBef>
                <a:spcPts val="800"/>
              </a:spcBef>
              <a:spcAft>
                <a:spcPts val="800"/>
              </a:spcAft>
              <a:defRPr sz="2200">
                <a:solidFill>
                  <a:srgbClr val="FFFFFF"/>
                </a:solidFill>
              </a:defRPr>
            </a:pPr>
            <a:r>
              <a:t>  Command Blocklists</a:t>
            </a:r>
          </a:p>
          <a:p>
            <a:pPr>
              <a:spcBef>
                <a:spcPts val="800"/>
              </a:spcBef>
              <a:spcAft>
                <a:spcPts val="800"/>
              </a:spcAft>
              <a:defRPr sz="2200">
                <a:solidFill>
                  <a:srgbClr val="FFFFFF"/>
                </a:solidFill>
              </a:defRPr>
            </a:pPr>
            <a:r>
              <a:t>      Block specific dangerous commands</a:t>
            </a:r>
          </a:p>
          <a:p>
            <a:pPr>
              <a:spcBef>
                <a:spcPts val="800"/>
              </a:spcBef>
              <a:spcAft>
                <a:spcPts val="800"/>
              </a:spcAft>
              <a:defRPr sz="2200">
                <a:solidFill>
                  <a:srgbClr val="FFFFFF"/>
                </a:solidFill>
              </a:defRPr>
            </a:pPr>
            <a:r>
              <a:t>      Everything else permitted</a:t>
            </a:r>
          </a:p>
          <a:p>
            <a:pPr>
              <a:spcBef>
                <a:spcPts val="800"/>
              </a:spcBef>
              <a:spcAft>
                <a:spcPts val="800"/>
              </a:spcAft>
              <a:defRPr sz="2200">
                <a:solidFill>
                  <a:srgbClr val="FFFFFF"/>
                </a:solidFill>
              </a:defRPr>
            </a:pPr>
            <a:r>
              <a:t>  File Access Patterns</a:t>
            </a:r>
          </a:p>
          <a:p>
            <a:pPr>
              <a:spcBef>
                <a:spcPts val="800"/>
              </a:spcBef>
              <a:spcAft>
                <a:spcPts val="800"/>
              </a:spcAft>
              <a:defRPr sz="2200">
                <a:solidFill>
                  <a:srgbClr val="FFFFFF"/>
                </a:solidFill>
              </a:defRPr>
            </a:pPr>
            <a:r>
              <a:t>      Block writes to sensitive directories</a:t>
            </a:r>
          </a:p>
          <a:p>
            <a:pPr>
              <a:spcBef>
                <a:spcPts val="800"/>
              </a:spcBef>
              <a:spcAft>
                <a:spcPts val="800"/>
              </a:spcAft>
              <a:defRPr sz="2200">
                <a:solidFill>
                  <a:srgbClr val="FFFFFF"/>
                </a:solidFill>
              </a:defRPr>
            </a:pPr>
            <a:r>
              <a:t>      Allow reads but prevent modifications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Audit Logs</a:t>
            </a:r>
          </a:p>
          <a:p>
            <a:pPr>
              <a:spcBef>
                <a:spcPts val="800"/>
              </a:spcBef>
              <a:spcAft>
                <a:spcPts val="800"/>
              </a:spcAft>
              <a:defRPr sz="2200">
                <a:solidFill>
                  <a:srgbClr val="FFFFFF"/>
                </a:solidFill>
              </a:defRPr>
            </a:pPr>
            <a:r>
              <a:t>      Track every action</a:t>
            </a:r>
          </a:p>
          <a:p>
            <a:pPr>
              <a:spcBef>
                <a:spcPts val="800"/>
              </a:spcBef>
              <a:spcAft>
                <a:spcPts val="800"/>
              </a:spcAft>
              <a:defRPr sz="2200">
                <a:solidFill>
                  <a:srgbClr val="FFFFFF"/>
                </a:solidFill>
              </a:defRPr>
            </a:pPr>
            <a:r>
              <a:t>      Centralized logging</a:t>
            </a:r>
          </a:p>
          <a:p>
            <a:pPr>
              <a:spcBef>
                <a:spcPts val="800"/>
              </a:spcBef>
              <a:spcAft>
                <a:spcPts val="800"/>
              </a:spcAft>
              <a:defRPr sz="2200">
                <a:solidFill>
                  <a:srgbClr val="FFFFFF"/>
                </a:solidFill>
              </a:defRPr>
            </a:pPr>
            <a:r>
              <a:t>      Searchable history</a:t>
            </a:r>
          </a:p>
          <a:p>
            <a:pPr>
              <a:spcBef>
                <a:spcPts val="800"/>
              </a:spcBef>
              <a:spcAft>
                <a:spcPts val="800"/>
              </a:spcAft>
              <a:defRPr sz="2200">
                <a:solidFill>
                  <a:srgbClr val="FFFFFF"/>
                </a:solidFill>
              </a:defRPr>
            </a:pPr>
            <a:r>
              <a:t>  Compliance</a:t>
            </a:r>
          </a:p>
          <a:p>
            <a:pPr>
              <a:spcBef>
                <a:spcPts val="800"/>
              </a:spcBef>
              <a:spcAft>
                <a:spcPts val="800"/>
              </a:spcAft>
              <a:defRPr sz="2200">
                <a:solidFill>
                  <a:srgbClr val="FFFFFF"/>
                </a:solidFill>
              </a:defRPr>
            </a:pPr>
            <a:r>
              <a:t>      SOC 2 Type II</a:t>
            </a:r>
          </a:p>
          <a:p>
            <a:pPr>
              <a:spcBef>
                <a:spcPts val="800"/>
              </a:spcBef>
              <a:spcAft>
                <a:spcPts val="800"/>
              </a:spcAft>
              <a:defRPr sz="2200">
                <a:solidFill>
                  <a:srgbClr val="FFFFFF"/>
                </a:solidFill>
              </a:defRPr>
            </a:pPr>
            <a:r>
              <a:t>      Data residency controls</a:t>
            </a:r>
          </a:p>
          <a:p>
            <a:pPr>
              <a:spcBef>
                <a:spcPts val="800"/>
              </a:spcBef>
              <a:spcAft>
                <a:spcPts val="800"/>
              </a:spcAft>
              <a:defRPr sz="2200">
                <a:solidFill>
                  <a:srgbClr val="FFFFFF"/>
                </a:solidFill>
              </a:defRPr>
            </a:pPr>
            <a:r>
              <a:t>      GDPR compliance</a:t>
            </a:r>
          </a:p>
          <a:p>
            <a:pPr>
              <a:spcBef>
                <a:spcPts val="800"/>
              </a:spcBef>
              <a:spcAft>
                <a:spcPts val="800"/>
              </a:spcAft>
              <a:defRPr sz="2200">
                <a:solidFill>
                  <a:srgbClr val="FFFFFF"/>
                </a:solidFill>
              </a:defRPr>
            </a:pPr>
            <a:r>
              <a:t>  Data Governance</a:t>
            </a:r>
          </a:p>
          <a:p>
            <a:pPr>
              <a:spcBef>
                <a:spcPts val="800"/>
              </a:spcBef>
              <a:spcAft>
                <a:spcPts val="800"/>
              </a:spcAft>
              <a:defRPr sz="2200">
                <a:solidFill>
                  <a:srgbClr val="FFFFFF"/>
                </a:solidFill>
              </a:defRPr>
            </a:pPr>
            <a:r>
              <a:t>      Control what leaves environment</a:t>
            </a:r>
          </a:p>
          <a:p>
            <a:pPr>
              <a:spcBef>
                <a:spcPts val="800"/>
              </a:spcBef>
              <a:spcAft>
                <a:spcPts val="800"/>
              </a:spcAft>
              <a:defRPr sz="2200">
                <a:solidFill>
                  <a:srgbClr val="FFFFFF"/>
                </a:solidFill>
              </a:defRPr>
            </a:pPr>
            <a:r>
              <a:t>      On-premises options</a:t>
            </a:r>
          </a:p>
          <a:p>
            <a:pPr>
              <a:spcBef>
                <a:spcPts val="800"/>
              </a:spcBef>
              <a:spcAft>
                <a:spcPts val="800"/>
              </a:spcAft>
              <a:defRPr sz="2200">
                <a:solidFill>
                  <a:srgbClr val="FFFFFF"/>
                </a:solidFill>
              </a:defRPr>
            </a:pPr>
            <a:r>
              <a:t>      Retention policies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How It Works</a:t>
            </a:r>
          </a:p>
          <a:p>
            <a:pPr>
              <a:spcBef>
                <a:spcPts val="800"/>
              </a:spcBef>
              <a:spcAft>
                <a:spcPts val="800"/>
              </a:spcAft>
              <a:defRPr sz="2200">
                <a:solidFill>
                  <a:srgbClr val="FFFFFF"/>
                </a:solidFill>
              </a:defRPr>
            </a:pPr>
            <a:r>
              <a:t>      Makes changes</a:t>
            </a:r>
          </a:p>
          <a:p>
            <a:pPr>
              <a:spcBef>
                <a:spcPts val="800"/>
              </a:spcBef>
              <a:spcAft>
                <a:spcPts val="800"/>
              </a:spcAft>
              <a:defRPr sz="2200">
                <a:solidFill>
                  <a:srgbClr val="FFFFFF"/>
                </a:solidFill>
              </a:defRPr>
            </a:pPr>
            <a:r>
              <a:t>      Generates commit message</a:t>
            </a:r>
          </a:p>
          <a:p>
            <a:pPr>
              <a:spcBef>
                <a:spcPts val="800"/>
              </a:spcBef>
              <a:spcAft>
                <a:spcPts val="800"/>
              </a:spcAft>
              <a:defRPr sz="2200">
                <a:solidFill>
                  <a:srgbClr val="FFFFFF"/>
                </a:solidFill>
              </a:defRPr>
            </a:pPr>
            <a:r>
              <a:t>      Prompts approval</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Conventional Commits format</a:t>
            </a:r>
          </a:p>
          <a:p>
            <a:pPr>
              <a:spcBef>
                <a:spcPts val="800"/>
              </a:spcBef>
              <a:spcAft>
                <a:spcPts val="800"/>
              </a:spcAft>
              <a:defRPr sz="2200">
                <a:solidFill>
                  <a:srgbClr val="FFFFFF"/>
                </a:solidFill>
              </a:defRPr>
            </a:pPr>
            <a:r>
              <a:t>      Better than manual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Creating</a:t>
            </a:r>
          </a:p>
          <a:p>
            <a:pPr>
              <a:spcBef>
                <a:spcPts val="800"/>
              </a:spcBef>
              <a:spcAft>
                <a:spcPts val="800"/>
              </a:spcAft>
              <a:defRPr sz="2200">
                <a:solidFill>
                  <a:srgbClr val="FFFFFF"/>
                </a:solidFill>
              </a:defRPr>
            </a:pPr>
            <a:r>
              <a:t>      Proper names</a:t>
            </a:r>
          </a:p>
          <a:p>
            <a:pPr>
              <a:spcBef>
                <a:spcPts val="800"/>
              </a:spcBef>
              <a:spcAft>
                <a:spcPts val="800"/>
              </a:spcAft>
              <a:defRPr sz="2200">
                <a:solidFill>
                  <a:srgbClr val="FFFFFF"/>
                </a:solidFill>
              </a:defRPr>
            </a:pPr>
            <a:r>
              <a:t>      Team conventions</a:t>
            </a:r>
          </a:p>
          <a:p>
            <a:pPr>
              <a:spcBef>
                <a:spcPts val="800"/>
              </a:spcBef>
              <a:spcAft>
                <a:spcPts val="800"/>
              </a:spcAft>
              <a:defRPr sz="2200">
                <a:solidFill>
                  <a:srgbClr val="FFFFFF"/>
                </a:solidFill>
              </a:defRPr>
            </a:pPr>
            <a:r>
              <a:t>      Auto checkout</a:t>
            </a:r>
          </a:p>
          <a:p>
            <a:pPr>
              <a:spcBef>
                <a:spcPts val="800"/>
              </a:spcBef>
              <a:spcAft>
                <a:spcPts val="800"/>
              </a:spcAft>
              <a:defRPr sz="2200">
                <a:solidFill>
                  <a:srgbClr val="FFFFFF"/>
                </a:solidFill>
              </a:defRPr>
            </a:pPr>
            <a:r>
              <a:t>  Naming</a:t>
            </a:r>
          </a:p>
          <a:p>
            <a:pPr>
              <a:spcBef>
                <a:spcPts val="800"/>
              </a:spcBef>
              <a:spcAft>
                <a:spcPts val="800"/>
              </a:spcAft>
              <a:defRPr sz="2200">
                <a:solidFill>
                  <a:srgbClr val="FFFFFF"/>
                </a:solidFill>
              </a:defRPr>
            </a:pPr>
            <a:r>
              <a:t>      Configurable</a:t>
            </a:r>
          </a:p>
          <a:p>
            <a:pPr>
              <a:spcBef>
                <a:spcPts val="800"/>
              </a:spcBef>
              <a:spcAft>
                <a:spcPts val="800"/>
              </a:spcAft>
              <a:defRPr sz="2200">
                <a:solidFill>
                  <a:srgbClr val="FFFFFF"/>
                </a:solidFill>
              </a:defRPr>
            </a:pPr>
            <a:r>
              <a:t>      Includes tickets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Description</a:t>
            </a:r>
          </a:p>
          <a:p>
            <a:pPr>
              <a:spcBef>
                <a:spcPts val="800"/>
              </a:spcBef>
              <a:spcAft>
                <a:spcPts val="800"/>
              </a:spcAft>
              <a:defRPr sz="2200">
                <a:solidFill>
                  <a:srgbClr val="FFFFFF"/>
                </a:solidFill>
              </a:defRPr>
            </a:pPr>
            <a:r>
              <a:t>      Title from commits</a:t>
            </a:r>
          </a:p>
          <a:p>
            <a:pPr>
              <a:spcBef>
                <a:spcPts val="800"/>
              </a:spcBef>
              <a:spcAft>
                <a:spcPts val="800"/>
              </a:spcAft>
              <a:defRPr sz="2200">
                <a:solidFill>
                  <a:srgbClr val="FFFFFF"/>
                </a:solidFill>
              </a:defRPr>
            </a:pPr>
            <a:r>
              <a:t>      Summarizes changes</a:t>
            </a:r>
          </a:p>
          <a:p>
            <a:pPr>
              <a:spcBef>
                <a:spcPts val="800"/>
              </a:spcBef>
              <a:spcAft>
                <a:spcPts val="800"/>
              </a:spcAft>
              <a:defRPr sz="2200">
                <a:solidFill>
                  <a:srgbClr val="FFFFFF"/>
                </a:solidFill>
              </a:defRPr>
            </a:pPr>
            <a:r>
              <a:t>      Testing steps</a:t>
            </a:r>
          </a:p>
          <a:p>
            <a:pPr>
              <a:spcBef>
                <a:spcPts val="800"/>
              </a:spcBef>
              <a:spcAft>
                <a:spcPts val="800"/>
              </a:spcAft>
              <a:defRPr sz="2200">
                <a:solidFill>
                  <a:srgbClr val="FFFFFF"/>
                </a:solidFill>
              </a:defRPr>
            </a:pPr>
            <a:r>
              <a:t>  Links</a:t>
            </a:r>
          </a:p>
          <a:p>
            <a:pPr>
              <a:spcBef>
                <a:spcPts val="800"/>
              </a:spcBef>
              <a:spcAft>
                <a:spcPts val="800"/>
              </a:spcAft>
              <a:defRPr sz="2200">
                <a:solidFill>
                  <a:srgbClr val="FFFFFF"/>
                </a:solidFill>
              </a:defRPr>
            </a:pPr>
            <a:r>
              <a:t>      JIRA tickets</a:t>
            </a:r>
          </a:p>
          <a:p>
            <a:pPr>
              <a:spcBef>
                <a:spcPts val="800"/>
              </a:spcBef>
              <a:spcAft>
                <a:spcPts val="800"/>
              </a:spcAft>
              <a:defRPr sz="2200">
                <a:solidFill>
                  <a:srgbClr val="FFFFFF"/>
                </a:solidFill>
              </a:defRPr>
            </a:pPr>
            <a:r>
              <a:t>      GitHub issues</a:t>
            </a:r>
          </a:p>
          <a:p>
            <a:pPr>
              <a:spcBef>
                <a:spcPts val="800"/>
              </a:spcBef>
              <a:spcAft>
                <a:spcPts val="800"/>
              </a:spcAft>
              <a:defRPr sz="2200">
                <a:solidFill>
                  <a:srgbClr val="FFFFFF"/>
                </a:solidFill>
              </a:defRPr>
            </a:pPr>
            <a:r>
              <a:t>      Auto-closes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Blame</a:t>
            </a:r>
          </a:p>
          <a:p>
            <a:pPr>
              <a:spcBef>
                <a:spcPts val="800"/>
              </a:spcBef>
              <a:spcAft>
                <a:spcPts val="800"/>
              </a:spcAft>
              <a:defRPr sz="2200">
                <a:solidFill>
                  <a:srgbClr val="FFFFFF"/>
                </a:solidFill>
              </a:defRPr>
            </a:pPr>
            <a:r>
              <a:t>      Who changed this?</a:t>
            </a:r>
          </a:p>
          <a:p>
            <a:pPr>
              <a:spcBef>
                <a:spcPts val="800"/>
              </a:spcBef>
              <a:spcAft>
                <a:spcPts val="800"/>
              </a:spcAft>
              <a:defRPr sz="2200">
                <a:solidFill>
                  <a:srgbClr val="FFFFFF"/>
                </a:solidFill>
              </a:defRPr>
            </a:pPr>
            <a:r>
              <a:t>      When and why</a:t>
            </a:r>
          </a:p>
          <a:p>
            <a:pPr>
              <a:spcBef>
                <a:spcPts val="800"/>
              </a:spcBef>
              <a:spcAft>
                <a:spcPts val="800"/>
              </a:spcAft>
              <a:defRPr sz="2200">
                <a:solidFill>
                  <a:srgbClr val="FFFFFF"/>
                </a:solidFill>
              </a:defRPr>
            </a:pPr>
            <a:r>
              <a:t>  Logs</a:t>
            </a:r>
          </a:p>
          <a:p>
            <a:pPr>
              <a:spcBef>
                <a:spcPts val="800"/>
              </a:spcBef>
              <a:spcAft>
                <a:spcPts val="800"/>
              </a:spcAft>
              <a:defRPr sz="2200">
                <a:solidFill>
                  <a:srgbClr val="FFFFFF"/>
                </a:solidFill>
              </a:defRPr>
            </a:pPr>
            <a:r>
              <a:t>      Changes over time</a:t>
            </a:r>
          </a:p>
          <a:p>
            <a:pPr>
              <a:spcBef>
                <a:spcPts val="800"/>
              </a:spcBef>
              <a:spcAft>
                <a:spcPts val="800"/>
              </a:spcAft>
              <a:defRPr sz="2200">
                <a:solidFill>
                  <a:srgbClr val="FFFFFF"/>
                </a:solidFill>
              </a:defRPr>
            </a:pPr>
            <a:r>
              <a:t>      Hot spot identification</a:t>
            </a:r>
          </a:p>
          <a:p>
            <a:pPr>
              <a:spcBef>
                <a:spcPts val="800"/>
              </a:spcBef>
              <a:spcAft>
                <a:spcPts val="800"/>
              </a:spcAft>
              <a:defRPr sz="2200">
                <a:solidFill>
                  <a:srgbClr val="FFFFFF"/>
                </a:solidFill>
              </a:defRPr>
            </a:pPr>
            <a:r>
              <a:t>  Tracking</a:t>
            </a:r>
          </a:p>
          <a:p>
            <a:pPr>
              <a:spcBef>
                <a:spcPts val="800"/>
              </a:spcBef>
              <a:spcAft>
                <a:spcPts val="800"/>
              </a:spcAft>
              <a:defRPr sz="2200">
                <a:solidFill>
                  <a:srgbClr val="FFFFFF"/>
                </a:solidFill>
              </a:defRPr>
            </a:pPr>
            <a:r>
              <a:t>      Version diffs</a:t>
            </a:r>
          </a:p>
          <a:p>
            <a:pPr>
              <a:spcBef>
                <a:spcPts val="800"/>
              </a:spcBef>
              <a:spcAft>
                <a:spcPts val="800"/>
              </a:spcAft>
              <a:defRPr sz="2200">
                <a:solidFill>
                  <a:srgbClr val="FFFFFF"/>
                </a:solidFill>
              </a:defRPr>
            </a:pPr>
            <a:r>
              <a:t>      Changelog generation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Core</a:t>
            </a:r>
          </a:p>
          <a:p>
            <a:pPr>
              <a:spcBef>
                <a:spcPts val="800"/>
              </a:spcBef>
              <a:spcAft>
                <a:spcPts val="800"/>
              </a:spcAft>
              <a:defRPr sz="2200">
                <a:solidFill>
                  <a:srgbClr val="FFFFFF"/>
                </a:solidFill>
              </a:defRPr>
            </a:pPr>
            <a:r>
              <a:t>      read_file</a:t>
            </a:r>
          </a:p>
          <a:p>
            <a:pPr>
              <a:spcBef>
                <a:spcPts val="800"/>
              </a:spcBef>
              <a:spcAft>
                <a:spcPts val="800"/>
              </a:spcAft>
              <a:defRPr sz="2200">
                <a:solidFill>
                  <a:srgbClr val="FFFFFF"/>
                </a:solidFill>
              </a:defRPr>
            </a:pPr>
            <a:r>
              <a:t>      write_file</a:t>
            </a:r>
          </a:p>
          <a:p>
            <a:pPr>
              <a:spcBef>
                <a:spcPts val="800"/>
              </a:spcBef>
              <a:spcAft>
                <a:spcPts val="800"/>
              </a:spcAft>
              <a:defRPr sz="2200">
                <a:solidFill>
                  <a:srgbClr val="FFFFFF"/>
                </a:solidFill>
              </a:defRPr>
            </a:pPr>
            <a:r>
              <a:t>      edit_file</a:t>
            </a:r>
          </a:p>
          <a:p>
            <a:pPr>
              <a:spcBef>
                <a:spcPts val="800"/>
              </a:spcBef>
              <a:spcAft>
                <a:spcPts val="800"/>
              </a:spcAft>
              <a:defRPr sz="2200">
                <a:solidFill>
                  <a:srgbClr val="FFFFFF"/>
                </a:solidFill>
              </a:defRPr>
            </a:pPr>
            <a:r>
              <a:t>      search</a:t>
            </a:r>
          </a:p>
          <a:p>
            <a:pPr>
              <a:spcBef>
                <a:spcPts val="800"/>
              </a:spcBef>
              <a:spcAft>
                <a:spcPts val="800"/>
              </a:spcAft>
              <a:defRPr sz="2200">
                <a:solidFill>
                  <a:srgbClr val="FFFFFF"/>
                </a:solidFill>
              </a:defRPr>
            </a:pPr>
            <a:r>
              <a:t>  Intelligent</a:t>
            </a:r>
          </a:p>
          <a:p>
            <a:pPr>
              <a:spcBef>
                <a:spcPts val="800"/>
              </a:spcBef>
              <a:spcAft>
                <a:spcPts val="800"/>
              </a:spcAft>
              <a:defRPr sz="2200">
                <a:solidFill>
                  <a:srgbClr val="FFFFFF"/>
                </a:solidFill>
              </a:defRPr>
            </a:pPr>
            <a:r>
              <a:t>      Line-based</a:t>
            </a:r>
          </a:p>
          <a:p>
            <a:pPr>
              <a:spcBef>
                <a:spcPts val="800"/>
              </a:spcBef>
              <a:spcAft>
                <a:spcPts val="800"/>
              </a:spcAft>
              <a:defRPr sz="2200">
                <a:solidFill>
                  <a:srgbClr val="FFFFFF"/>
                </a:solidFill>
              </a:defRPr>
            </a:pPr>
            <a:r>
              <a:t>      Search-replace</a:t>
            </a:r>
          </a:p>
          <a:p>
            <a:pPr>
              <a:spcBef>
                <a:spcPts val="800"/>
              </a:spcBef>
              <a:spcAft>
                <a:spcPts val="800"/>
              </a:spcAft>
              <a:defRPr sz="2200">
                <a:solidFill>
                  <a:srgbClr val="FFFFFF"/>
                </a:solidFill>
              </a:defRPr>
            </a:pPr>
            <a:r>
              <a:t>      Multi-file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Coordinated</a:t>
            </a:r>
          </a:p>
          <a:p>
            <a:pPr>
              <a:spcBef>
                <a:spcPts val="800"/>
              </a:spcBef>
              <a:spcAft>
                <a:spcPts val="800"/>
              </a:spcAft>
              <a:defRPr sz="2200">
                <a:solidFill>
                  <a:srgbClr val="FFFFFF"/>
                </a:solidFill>
              </a:defRPr>
            </a:pPr>
            <a:r>
              <a:t>      Multiple files together</a:t>
            </a:r>
          </a:p>
          <a:p>
            <a:pPr>
              <a:spcBef>
                <a:spcPts val="800"/>
              </a:spcBef>
              <a:spcAft>
                <a:spcPts val="800"/>
              </a:spcAft>
              <a:defRPr sz="2200">
                <a:solidFill>
                  <a:srgbClr val="FFFFFF"/>
                </a:solidFill>
              </a:defRPr>
            </a:pPr>
            <a:r>
              <a:t>      Maintains consistency</a:t>
            </a:r>
          </a:p>
          <a:p>
            <a:pPr>
              <a:spcBef>
                <a:spcPts val="800"/>
              </a:spcBef>
              <a:spcAft>
                <a:spcPts val="800"/>
              </a:spcAft>
              <a:defRPr sz="2200">
                <a:solidFill>
                  <a:srgbClr val="FFFFFF"/>
                </a:solidFill>
              </a:defRPr>
            </a:pPr>
            <a:r>
              <a:t>      Tracks deps</a:t>
            </a:r>
          </a:p>
          <a:p>
            <a:pPr>
              <a:spcBef>
                <a:spcPts val="800"/>
              </a:spcBef>
              <a:spcAft>
                <a:spcPts val="800"/>
              </a:spcAft>
              <a:defRPr sz="2200">
                <a:solidFill>
                  <a:srgbClr val="FFFFFF"/>
                </a:solidFill>
              </a:defRPr>
            </a:pPr>
            <a:r>
              <a:t>  Patterns</a:t>
            </a:r>
          </a:p>
          <a:p>
            <a:pPr>
              <a:spcBef>
                <a:spcPts val="800"/>
              </a:spcBef>
              <a:spcAft>
                <a:spcPts val="800"/>
              </a:spcAft>
              <a:defRPr sz="2200">
                <a:solidFill>
                  <a:srgbClr val="FFFFFF"/>
                </a:solidFill>
              </a:defRPr>
            </a:pPr>
            <a:r>
              <a:t>      Extract method</a:t>
            </a:r>
          </a:p>
          <a:p>
            <a:pPr>
              <a:spcBef>
                <a:spcPts val="800"/>
              </a:spcBef>
              <a:spcAft>
                <a:spcPts val="800"/>
              </a:spcAft>
              <a:defRPr sz="2200">
                <a:solidFill>
                  <a:srgbClr val="FFFFFF"/>
                </a:solidFill>
              </a:defRPr>
            </a:pPr>
            <a:r>
              <a:t>      Rename</a:t>
            </a:r>
          </a:p>
          <a:p>
            <a:pPr>
              <a:spcBef>
                <a:spcPts val="800"/>
              </a:spcBef>
              <a:spcAft>
                <a:spcPts val="800"/>
              </a:spcAft>
              <a:defRPr sz="2200">
                <a:solidFill>
                  <a:srgbClr val="FFFFFF"/>
                </a:solidFill>
              </a:defRPr>
            </a:pPr>
            <a:r>
              <a:t>      Move code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Boilerplate</a:t>
            </a:r>
          </a:p>
          <a:p>
            <a:pPr>
              <a:spcBef>
                <a:spcPts val="800"/>
              </a:spcBef>
              <a:spcAft>
                <a:spcPts val="800"/>
              </a:spcAft>
              <a:defRPr sz="2200">
                <a:solidFill>
                  <a:srgbClr val="FFFFFF"/>
                </a:solidFill>
              </a:defRPr>
            </a:pPr>
            <a:r>
              <a:t>      CRUD</a:t>
            </a:r>
          </a:p>
          <a:p>
            <a:pPr>
              <a:spcBef>
                <a:spcPts val="800"/>
              </a:spcBef>
              <a:spcAft>
                <a:spcPts val="800"/>
              </a:spcAft>
              <a:defRPr sz="2200">
                <a:solidFill>
                  <a:srgbClr val="FFFFFF"/>
                </a:solidFill>
              </a:defRPr>
            </a:pPr>
            <a:r>
              <a:t>      API endpoints</a:t>
            </a:r>
          </a:p>
          <a:p>
            <a:pPr>
              <a:spcBef>
                <a:spcPts val="800"/>
              </a:spcBef>
              <a:spcAft>
                <a:spcPts val="800"/>
              </a:spcAft>
              <a:defRPr sz="2200">
                <a:solidFill>
                  <a:srgbClr val="FFFFFF"/>
                </a:solidFill>
              </a:defRPr>
            </a:pPr>
            <a:r>
              <a:t>      Models</a:t>
            </a:r>
          </a:p>
          <a:p>
            <a:pPr>
              <a:spcBef>
                <a:spcPts val="800"/>
              </a:spcBef>
              <a:spcAft>
                <a:spcPts val="800"/>
              </a:spcAft>
              <a:defRPr sz="2200">
                <a:solidFill>
                  <a:srgbClr val="FFFFFF"/>
                </a:solidFill>
              </a:defRPr>
            </a:pPr>
            <a:r>
              <a:t>      Tests</a:t>
            </a:r>
          </a:p>
          <a:p>
            <a:pPr>
              <a:spcBef>
                <a:spcPts val="800"/>
              </a:spcBef>
              <a:spcAft>
                <a:spcPts val="800"/>
              </a:spcAft>
              <a:defRPr sz="2200">
                <a:solidFill>
                  <a:srgbClr val="FFFFFF"/>
                </a:solidFill>
              </a:defRPr>
            </a:pPr>
            <a:r>
              <a:t>  Migrations</a:t>
            </a:r>
          </a:p>
          <a:p>
            <a:pPr>
              <a:spcBef>
                <a:spcPts val="800"/>
              </a:spcBef>
              <a:spcAft>
                <a:spcPts val="800"/>
              </a:spcAft>
              <a:defRPr sz="2200">
                <a:solidFill>
                  <a:srgbClr val="FFFFFF"/>
                </a:solidFill>
              </a:defRPr>
            </a:pPr>
            <a:r>
              <a:t>      Schema changes</a:t>
            </a:r>
          </a:p>
          <a:p>
            <a:pPr>
              <a:spcBef>
                <a:spcPts val="800"/>
              </a:spcBef>
              <a:spcAft>
                <a:spcPts val="800"/>
              </a:spcAft>
              <a:defRPr sz="2200">
                <a:solidFill>
                  <a:srgbClr val="FFFFFF"/>
                </a:solidFill>
              </a:defRPr>
            </a:pPr>
            <a:r>
              <a:t>      Data transforms</a:t>
            </a:r>
          </a:p>
          <a:p>
            <a:pPr>
              <a:spcBef>
                <a:spcPts val="800"/>
              </a:spcBef>
              <a:spcAft>
                <a:spcPts val="800"/>
              </a:spcAft>
              <a:defRPr sz="2200">
                <a:solidFill>
                  <a:srgbClr val="FFFFFF"/>
                </a:solidFill>
              </a:defRPr>
            </a:pPr>
            <a:r>
              <a:t>      Rollbacks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Unit</a:t>
            </a:r>
          </a:p>
          <a:p>
            <a:pPr>
              <a:spcBef>
                <a:spcPts val="800"/>
              </a:spcBef>
              <a:spcAft>
                <a:spcPts val="800"/>
              </a:spcAft>
              <a:defRPr sz="2200">
                <a:solidFill>
                  <a:srgbClr val="FFFFFF"/>
                </a:solidFill>
              </a:defRPr>
            </a:pPr>
            <a:r>
              <a:t>      Integration</a:t>
            </a:r>
          </a:p>
          <a:p>
            <a:pPr>
              <a:spcBef>
                <a:spcPts val="800"/>
              </a:spcBef>
              <a:spcAft>
                <a:spcPts val="800"/>
              </a:spcAft>
              <a:defRPr sz="2200">
                <a:solidFill>
                  <a:srgbClr val="FFFFFF"/>
                </a:solidFill>
              </a:defRPr>
            </a:pPr>
            <a:r>
              <a:t>      Edge cases</a:t>
            </a:r>
          </a:p>
          <a:p>
            <a:pPr>
              <a:spcBef>
                <a:spcPts val="800"/>
              </a:spcBef>
              <a:spcAft>
                <a:spcPts val="800"/>
              </a:spcAft>
              <a:defRPr sz="2200">
                <a:solidFill>
                  <a:srgbClr val="FFFFFF"/>
                </a:solidFill>
              </a:defRPr>
            </a:pPr>
            <a:r>
              <a:t>      Mocks</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80%+ coverage</a:t>
            </a:r>
          </a:p>
          <a:p>
            <a:pPr>
              <a:spcBef>
                <a:spcPts val="800"/>
              </a:spcBef>
              <a:spcAft>
                <a:spcPts val="800"/>
              </a:spcAft>
              <a:defRPr sz="2200">
                <a:solidFill>
                  <a:srgbClr val="FFFFFF"/>
                </a:solidFill>
              </a:defRPr>
            </a:pPr>
            <a:r>
              <a:t>      Happy/sad paths</a:t>
            </a:r>
          </a:p>
          <a:p>
            <a:pPr>
              <a:spcBef>
                <a:spcPts val="800"/>
              </a:spcBef>
              <a:spcAft>
                <a:spcPts val="800"/>
              </a:spcAft>
              <a:defRPr sz="2200">
                <a:solidFill>
                  <a:srgbClr val="FFFFFF"/>
                </a:solidFill>
              </a:defRPr>
            </a:pPr>
            <a:r>
              <a:t>      Readable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Types</a:t>
            </a:r>
          </a:p>
          <a:p>
            <a:pPr>
              <a:spcBef>
                <a:spcPts val="800"/>
              </a:spcBef>
              <a:spcAft>
                <a:spcPts val="800"/>
              </a:spcAft>
              <a:defRPr sz="2200">
                <a:solidFill>
                  <a:srgbClr val="FFFFFF"/>
                </a:solidFill>
              </a:defRPr>
            </a:pPr>
            <a:r>
              <a:t>      READMEs</a:t>
            </a:r>
          </a:p>
          <a:p>
            <a:pPr>
              <a:spcBef>
                <a:spcPts val="800"/>
              </a:spcBef>
              <a:spcAft>
                <a:spcPts val="800"/>
              </a:spcAft>
              <a:defRPr sz="2200">
                <a:solidFill>
                  <a:srgbClr val="FFFFFF"/>
                </a:solidFill>
              </a:defRPr>
            </a:pPr>
            <a:r>
              <a:t>      API docs</a:t>
            </a:r>
          </a:p>
          <a:p>
            <a:pPr>
              <a:spcBef>
                <a:spcPts val="800"/>
              </a:spcBef>
              <a:spcAft>
                <a:spcPts val="800"/>
              </a:spcAft>
              <a:defRPr sz="2200">
                <a:solidFill>
                  <a:srgbClr val="FFFFFF"/>
                </a:solidFill>
              </a:defRPr>
            </a:pPr>
            <a:r>
              <a:t>      Comments</a:t>
            </a:r>
          </a:p>
          <a:p>
            <a:pPr>
              <a:spcBef>
                <a:spcPts val="800"/>
              </a:spcBef>
              <a:spcAft>
                <a:spcPts val="800"/>
              </a:spcAft>
              <a:defRPr sz="2200">
                <a:solidFill>
                  <a:srgbClr val="FFFFFF"/>
                </a:solidFill>
              </a:defRPr>
            </a:pPr>
            <a:r>
              <a:t>      Architecture</a:t>
            </a:r>
          </a:p>
          <a:p>
            <a:pPr>
              <a:spcBef>
                <a:spcPts val="800"/>
              </a:spcBef>
              <a:spcAft>
                <a:spcPts val="800"/>
              </a:spcAft>
              <a:defRPr sz="2200">
                <a:solidFill>
                  <a:srgbClr val="FFFFFF"/>
                </a:solidFill>
              </a:defRPr>
            </a:pPr>
            <a:r>
              <a:t>  Quality</a:t>
            </a:r>
          </a:p>
          <a:p>
            <a:pPr>
              <a:spcBef>
                <a:spcPts val="800"/>
              </a:spcBef>
              <a:spcAft>
                <a:spcPts val="800"/>
              </a:spcAft>
              <a:defRPr sz="2200">
                <a:solidFill>
                  <a:srgbClr val="FFFFFF"/>
                </a:solidFill>
              </a:defRPr>
            </a:pPr>
            <a:r>
              <a:t>      Clear</a:t>
            </a:r>
          </a:p>
          <a:p>
            <a:pPr>
              <a:spcBef>
                <a:spcPts val="800"/>
              </a:spcBef>
              <a:spcAft>
                <a:spcPts val="800"/>
              </a:spcAft>
              <a:defRPr sz="2200">
                <a:solidFill>
                  <a:srgbClr val="FFFFFF"/>
                </a:solidFill>
              </a:defRPr>
            </a:pPr>
            <a:r>
              <a:t>      Examples</a:t>
            </a:r>
          </a:p>
          <a:p>
            <a:pPr>
              <a:spcBef>
                <a:spcPts val="800"/>
              </a:spcBef>
              <a:spcAft>
                <a:spcPts val="800"/>
              </a:spcAft>
              <a:defRPr sz="2200">
                <a:solidFill>
                  <a:srgbClr val="FFFFFF"/>
                </a:solidFill>
              </a:defRPr>
            </a:pPr>
            <a:r>
              <a:t>      Up-to-date</a:t>
            </a:r>
          </a:p>
          <a:p>
            <a:pPr>
              <a:spcBef>
                <a:spcPts val="800"/>
              </a:spcBef>
              <a:spcAft>
                <a:spcPts val="800"/>
              </a:spcAft>
              <a:defRPr sz="2200">
                <a:solidFill>
                  <a:srgbClr val="FFFFFF"/>
                </a:solidFill>
              </a:defRPr>
            </a:pPr>
            <a:r>
              <a:t>      Formatted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Natural Language to SQL</a:t>
            </a:r>
          </a:p>
          <a:p>
            <a:pPr>
              <a:spcBef>
                <a:spcPts val="800"/>
              </a:spcBef>
              <a:spcAft>
                <a:spcPts val="800"/>
              </a:spcAft>
              <a:defRPr sz="2200">
                <a:solidFill>
                  <a:srgbClr val="FFFFFF"/>
                </a:solidFill>
              </a:defRPr>
            </a:pPr>
            <a:r>
              <a:t>      Describe what you want in plain English - Claude Code writes the query</a:t>
            </a:r>
          </a:p>
          <a:p>
            <a:pPr>
              <a:spcBef>
                <a:spcPts val="800"/>
              </a:spcBef>
              <a:spcAft>
                <a:spcPts val="800"/>
              </a:spcAft>
              <a:defRPr sz="2200">
                <a:solidFill>
                  <a:srgbClr val="FFFFFF"/>
                </a:solidFill>
              </a:defRPr>
            </a:pPr>
            <a:r>
              <a:t>      Simple SELECT with WHERE clauses</a:t>
            </a:r>
          </a:p>
          <a:p>
            <a:pPr>
              <a:spcBef>
                <a:spcPts val="800"/>
              </a:spcBef>
              <a:spcAft>
                <a:spcPts val="800"/>
              </a:spcAft>
              <a:defRPr sz="2200">
                <a:solidFill>
                  <a:srgbClr val="FFFFFF"/>
                </a:solidFill>
              </a:defRPr>
            </a:pPr>
            <a:r>
              <a:t>      Complex multi-table JOINs with proper relationships</a:t>
            </a:r>
          </a:p>
          <a:p>
            <a:pPr>
              <a:spcBef>
                <a:spcPts val="800"/>
              </a:spcBef>
              <a:spcAft>
                <a:spcPts val="800"/>
              </a:spcAft>
              <a:defRPr sz="2200">
                <a:solidFill>
                  <a:srgbClr val="FFFFFF"/>
                </a:solidFill>
              </a:defRPr>
            </a:pPr>
            <a:r>
              <a:t>      Subqueries and correlated subqueries</a:t>
            </a:r>
          </a:p>
          <a:p>
            <a:pPr>
              <a:spcBef>
                <a:spcPts val="800"/>
              </a:spcBef>
              <a:spcAft>
                <a:spcPts val="800"/>
              </a:spcAft>
              <a:defRPr sz="2200">
                <a:solidFill>
                  <a:srgbClr val="FFFFFF"/>
                </a:solidFill>
              </a:defRPr>
            </a:pPr>
            <a:r>
              <a:t>      Common Table Expressions (CTEs) for readability</a:t>
            </a:r>
          </a:p>
          <a:p>
            <a:pPr>
              <a:spcBef>
                <a:spcPts val="800"/>
              </a:spcBef>
              <a:spcAft>
                <a:spcPts val="800"/>
              </a:spcAft>
              <a:defRPr sz="2200">
                <a:solidFill>
                  <a:srgbClr val="FFFFFF"/>
                </a:solidFill>
              </a:defRPr>
            </a:pPr>
            <a:r>
              <a:t>      Window functions for analytics (ROW_NUMBER, RANK, running totals)</a:t>
            </a:r>
          </a:p>
          <a:p>
            <a:pPr>
              <a:spcBef>
                <a:spcPts val="800"/>
              </a:spcBef>
              <a:spcAft>
                <a:spcPts val="800"/>
              </a:spcAft>
              <a:defRPr sz="2200">
                <a:solidFill>
                  <a:srgbClr val="FFFFFF"/>
                </a:solidFill>
              </a:defRPr>
            </a:pPr>
            <a:r>
              <a:t>  Database-Aware</a:t>
            </a:r>
          </a:p>
          <a:p>
            <a:pPr>
              <a:spcBef>
                <a:spcPts val="800"/>
              </a:spcBef>
              <a:spcAft>
                <a:spcPts val="800"/>
              </a:spcAft>
              <a:defRPr sz="2200">
                <a:solidFill>
                  <a:srgbClr val="FFFFFF"/>
                </a:solidFill>
              </a:defRPr>
            </a:pPr>
            <a:r>
              <a:t>      Adapts syntax to your database engine (PostgreSQL, MySQL, SQLite)</a:t>
            </a:r>
          </a:p>
          <a:p>
            <a:pPr>
              <a:spcBef>
                <a:spcPts val="800"/>
              </a:spcBef>
              <a:spcAft>
                <a:spcPts val="800"/>
              </a:spcAft>
              <a:defRPr sz="2200">
                <a:solidFill>
                  <a:srgbClr val="FFFFFF"/>
                </a:solidFill>
              </a:defRPr>
            </a:pPr>
            <a:r>
              <a:t>      Uses database-specific features when beneficial (JSONB in Postgres, stored procedures in MySQL)</a:t>
            </a:r>
          </a:p>
          <a:p>
            <a:pPr>
              <a:spcBef>
                <a:spcPts val="800"/>
              </a:spcBef>
              <a:spcAft>
                <a:spcPts val="800"/>
              </a:spcAft>
              <a:defRPr sz="2200">
                <a:solidFill>
                  <a:srgbClr val="FFFFFF"/>
                </a:solidFill>
              </a:defRPr>
            </a:pPr>
            <a:r>
              <a:t>      Includes appropriate indexes and constraints in recommendations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Transformation Tasks</a:t>
            </a:r>
          </a:p>
          <a:p>
            <a:pPr>
              <a:spcBef>
                <a:spcPts val="800"/>
              </a:spcBef>
              <a:spcAft>
                <a:spcPts val="800"/>
              </a:spcAft>
              <a:defRPr sz="2200">
                <a:solidFill>
                  <a:srgbClr val="FFFFFF"/>
                </a:solidFill>
              </a:defRPr>
            </a:pPr>
            <a:r>
              <a:t>      **Data Migration Scripts**: Moving data between schemas or databases</a:t>
            </a:r>
          </a:p>
          <a:p>
            <a:pPr>
              <a:spcBef>
                <a:spcPts val="800"/>
              </a:spcBef>
              <a:spcAft>
                <a:spcPts val="800"/>
              </a:spcAft>
              <a:defRPr sz="2200">
                <a:solidFill>
                  <a:srgbClr val="FFFFFF"/>
                </a:solidFill>
              </a:defRPr>
            </a:pPr>
            <a:r>
              <a:t>      **Format Conversions**: CSV to SQL, JSON to relational, XML to tables</a:t>
            </a:r>
          </a:p>
          <a:p>
            <a:pPr>
              <a:spcBef>
                <a:spcPts val="800"/>
              </a:spcBef>
              <a:spcAft>
                <a:spcPts val="800"/>
              </a:spcAft>
              <a:defRPr sz="2200">
                <a:solidFill>
                  <a:srgbClr val="FFFFFF"/>
                </a:solidFill>
              </a:defRPr>
            </a:pPr>
            <a:r>
              <a:t>      **Cleanup &amp; Deduplication**: Removing duplicates, fixing inconsistent data</a:t>
            </a:r>
          </a:p>
          <a:p>
            <a:pPr>
              <a:spcBef>
                <a:spcPts val="800"/>
              </a:spcBef>
              <a:spcAft>
                <a:spcPts val="800"/>
              </a:spcAft>
              <a:defRPr sz="2200">
                <a:solidFill>
                  <a:srgbClr val="FFFFFF"/>
                </a:solidFill>
              </a:defRPr>
            </a:pPr>
            <a:r>
              <a:t>      **Multi-Step Transformations**: Complex pipelines with intermediate staging tables</a:t>
            </a:r>
          </a:p>
          <a:p>
            <a:pPr>
              <a:spcBef>
                <a:spcPts val="800"/>
              </a:spcBef>
              <a:spcAft>
                <a:spcPts val="800"/>
              </a:spcAft>
              <a:defRPr sz="2200">
                <a:solidFill>
                  <a:srgbClr val="FFFFFF"/>
                </a:solidFill>
              </a:defRPr>
            </a:pPr>
            <a:r>
              <a:t>      **Type Conversions**: String dates to TIMESTAMP, comma-separated to arrays</a:t>
            </a:r>
          </a:p>
          <a:p>
            <a:pPr>
              <a:spcBef>
                <a:spcPts val="800"/>
              </a:spcBef>
              <a:spcAft>
                <a:spcPts val="800"/>
              </a:spcAft>
              <a:defRPr sz="2200">
                <a:solidFill>
                  <a:srgbClr val="FFFFFF"/>
                </a:solidFill>
              </a:defRPr>
            </a:pPr>
            <a:r>
              <a:t>      **Validation During Transform**: Ensuring data quality during migration</a:t>
            </a:r>
          </a:p>
          <a:p>
            <a:pPr>
              <a:spcBef>
                <a:spcPts val="800"/>
              </a:spcBef>
              <a:spcAft>
                <a:spcPts val="800"/>
              </a:spcAft>
              <a:defRPr sz="2200">
                <a:solidFill>
                  <a:srgbClr val="FFFFFF"/>
                </a:solidFill>
              </a:defRPr>
            </a:pPr>
            <a:r>
              <a:t>  Claude Code Generates</a:t>
            </a:r>
          </a:p>
          <a:p>
            <a:pPr>
              <a:spcBef>
                <a:spcPts val="800"/>
              </a:spcBef>
              <a:spcAft>
                <a:spcPts val="800"/>
              </a:spcAft>
              <a:defRPr sz="2200">
                <a:solidFill>
                  <a:srgbClr val="FFFFFF"/>
                </a:solidFill>
              </a:defRPr>
            </a:pPr>
            <a:r>
              <a:t>      Complete migration scripts with rollback capability</a:t>
            </a:r>
          </a:p>
          <a:p>
            <a:pPr>
              <a:spcBef>
                <a:spcPts val="800"/>
              </a:spcBef>
              <a:spcAft>
                <a:spcPts val="800"/>
              </a:spcAft>
              <a:defRPr sz="2200">
                <a:solidFill>
                  <a:srgbClr val="FFFFFF"/>
                </a:solidFill>
              </a:defRPr>
            </a:pPr>
            <a:r>
              <a:t>      Idempotent transformations (safe to run multiple times)</a:t>
            </a:r>
          </a:p>
          <a:p>
            <a:pPr>
              <a:spcBef>
                <a:spcPts val="800"/>
              </a:spcBef>
              <a:spcAft>
                <a:spcPts val="800"/>
              </a:spcAft>
              <a:defRPr sz="2200">
                <a:solidFill>
                  <a:srgbClr val="FFFFFF"/>
                </a:solidFill>
              </a:defRPr>
            </a:pPr>
            <a:r>
              <a:t>      Validation queries to verify data integrity</a:t>
            </a:r>
          </a:p>
          <a:p>
            <a:pPr>
              <a:spcBef>
                <a:spcPts val="800"/>
              </a:spcBef>
              <a:spcAft>
                <a:spcPts val="800"/>
              </a:spcAft>
              <a:defRPr sz="2200">
                <a:solidFill>
                  <a:srgbClr val="FFFFFF"/>
                </a:solidFill>
              </a:defRPr>
            </a:pPr>
            <a:r>
              <a:t>      Performance-optimized bulk operations</a:t>
            </a:r>
          </a:p>
          <a:p>
            <a:pPr>
              <a:spcBef>
                <a:spcPts val="800"/>
              </a:spcBef>
              <a:spcAft>
                <a:spcPts val="800"/>
              </a:spcAft>
              <a:defRPr sz="2200">
                <a:solidFill>
                  <a:srgbClr val="FFFFFF"/>
                </a:solidFill>
              </a:defRPr>
            </a:pPr>
            <a:r>
              <a:t>      Clear comments explaining each transformation step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Validation Types</a:t>
            </a:r>
          </a:p>
          <a:p>
            <a:pPr>
              <a:spcBef>
                <a:spcPts val="800"/>
              </a:spcBef>
              <a:spcAft>
                <a:spcPts val="800"/>
              </a:spcAft>
              <a:defRPr sz="2200">
                <a:solidFill>
                  <a:srgbClr val="FFFFFF"/>
                </a:solidFill>
              </a:defRPr>
            </a:pPr>
            <a:r>
              <a:t>      **Constraint Generation**: Claude Code writes CHECK, NOT NULL, UNIQUE constraints based on business rules</a:t>
            </a:r>
          </a:p>
          <a:p>
            <a:pPr>
              <a:spcBef>
                <a:spcPts val="800"/>
              </a:spcBef>
              <a:spcAft>
                <a:spcPts val="800"/>
              </a:spcAft>
              <a:defRPr sz="2200">
                <a:solidFill>
                  <a:srgbClr val="FFFFFF"/>
                </a:solidFill>
              </a:defRPr>
            </a:pPr>
            <a:r>
              <a:t>      **Data Profiling Queries**: Statistical summaries (counts, min/max, nulls, distinct values)</a:t>
            </a:r>
          </a:p>
          <a:p>
            <a:pPr>
              <a:spcBef>
                <a:spcPts val="800"/>
              </a:spcBef>
              <a:spcAft>
                <a:spcPts val="800"/>
              </a:spcAft>
              <a:defRPr sz="2200">
                <a:solidFill>
                  <a:srgbClr val="FFFFFF"/>
                </a:solidFill>
              </a:defRPr>
            </a:pPr>
            <a:r>
              <a:t>      **Anomaly Detection SQL**: Finding outliers, unexpected patterns, inconsistencies</a:t>
            </a:r>
          </a:p>
          <a:p>
            <a:pPr>
              <a:spcBef>
                <a:spcPts val="800"/>
              </a:spcBef>
              <a:spcAft>
                <a:spcPts val="800"/>
              </a:spcAft>
              <a:defRPr sz="2200">
                <a:solidFill>
                  <a:srgbClr val="FFFFFF"/>
                </a:solidFill>
              </a:defRPr>
            </a:pPr>
            <a:r>
              <a:t>      **Referential Integrity Checks**: Finding orphaned records, missing foreign key references</a:t>
            </a:r>
          </a:p>
          <a:p>
            <a:pPr>
              <a:spcBef>
                <a:spcPts val="800"/>
              </a:spcBef>
              <a:spcAft>
                <a:spcPts val="800"/>
              </a:spcAft>
              <a:defRPr sz="2200">
                <a:solidFill>
                  <a:srgbClr val="FFFFFF"/>
                </a:solidFill>
              </a:defRPr>
            </a:pPr>
            <a:r>
              <a:t>      **Duplicate Detection**: Identifying exact and fuzzy duplicates</a:t>
            </a:r>
          </a:p>
          <a:p>
            <a:pPr>
              <a:spcBef>
                <a:spcPts val="800"/>
              </a:spcBef>
              <a:spcAft>
                <a:spcPts val="800"/>
              </a:spcAft>
              <a:defRPr sz="2200">
                <a:solidFill>
                  <a:srgbClr val="FFFFFF"/>
                </a:solidFill>
              </a:defRPr>
            </a:pPr>
            <a:r>
              <a:t>      **Format Validation**: Email addresses, phone numbers, dates in correct format</a:t>
            </a:r>
          </a:p>
          <a:p>
            <a:pPr>
              <a:spcBef>
                <a:spcPts val="800"/>
              </a:spcBef>
              <a:spcAft>
                <a:spcPts val="800"/>
              </a:spcAft>
              <a:defRPr sz="2200">
                <a:solidFill>
                  <a:srgbClr val="FFFFFF"/>
                </a:solidFill>
              </a:defRPr>
            </a:pPr>
            <a:r>
              <a:t>  Quality Assurance</a:t>
            </a:r>
          </a:p>
          <a:p>
            <a:pPr>
              <a:spcBef>
                <a:spcPts val="800"/>
              </a:spcBef>
              <a:spcAft>
                <a:spcPts val="800"/>
              </a:spcAft>
              <a:defRPr sz="2200">
                <a:solidFill>
                  <a:srgbClr val="FFFFFF"/>
                </a:solidFill>
              </a:defRPr>
            </a:pPr>
            <a:r>
              <a:t>      Pre-deployment validation queries to catch issues before production</a:t>
            </a:r>
          </a:p>
          <a:p>
            <a:pPr>
              <a:spcBef>
                <a:spcPts val="800"/>
              </a:spcBef>
              <a:spcAft>
                <a:spcPts val="800"/>
              </a:spcAft>
              <a:defRPr sz="2200">
                <a:solidFill>
                  <a:srgbClr val="FFFFFF"/>
                </a:solidFill>
              </a:defRPr>
            </a:pPr>
            <a:r>
              <a:t>      Ongoing monitoring queries to detect data corruption</a:t>
            </a:r>
          </a:p>
          <a:p>
            <a:pPr>
              <a:spcBef>
                <a:spcPts val="800"/>
              </a:spcBef>
              <a:spcAft>
                <a:spcPts val="800"/>
              </a:spcAft>
              <a:defRPr sz="2200">
                <a:solidFill>
                  <a:srgbClr val="FFFFFF"/>
                </a:solidFill>
              </a:defRPr>
            </a:pPr>
            <a:r>
              <a:t>      Post-migration validation to ensure data was transferred correctly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