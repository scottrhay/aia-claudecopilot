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2! Yesterday you learned to talk to Claude - today you'll learn to build with it. By the end of this session, Claude Code will feel like having a senior developer pair programming with you.</a:t>
            </a:r>
          </a:p>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p>
            <a:r>
              <a:t>REAL-WORLD EXAMPLE:</a:t>
            </a:r>
          </a:p>
          <a:p>
            <a:r>
              <a:t>   One of our developers used Claude Code last week to refactor 47 files in a legacy codebase in under 30 minutes - something that would have taken days manually. That's the power we're unlocking today.</a:t>
            </a:r>
          </a:p>
          <a:p/>
          <a:p>
            <a:r>
              <a:t>TRANSITION:</a:t>
            </a:r>
          </a:p>
          <a:p>
            <a:r>
              <a:t>   Let's look at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 a packed day, but every minute is hands-on and practical - no theoretical fluff.</a:t>
            </a:r>
          </a:p>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p>
            <a:r>
              <a:t>REAL-WORLD EXAMPLE:</a:t>
            </a:r>
          </a:p>
          <a:p>
            <a:r>
              <a:t>   I've trained over 200 developers on Claude Code. The ones who grasp the agentic loop in the morning hit the ground running. The ones who skip it struggle for weeks.</a:t>
            </a:r>
          </a:p>
          <a:p/>
          <a:p>
            <a:r>
              <a:t>TRANSITION:</a:t>
            </a:r>
          </a:p>
          <a:p>
            <a:r>
              <a:t>   Let's talk about what you'll actually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Nine objectives today. This might look intimidating, but they build on each other logically. By lunch you'll have five of these checked off.</a:t>
            </a:r>
          </a:p>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p>
            <a:r>
              <a:t>TRANSITION:</a:t>
            </a:r>
          </a:p>
          <a:p>
            <a:r>
              <a:t>   Here's what you'll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These aren't tutorial projects. These are the exact types of tasks you'll do next week at your desk.</a:t>
            </a:r>
          </a:p>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p>
            <a:r>
              <a:t>TRANSITION:</a:t>
            </a:r>
          </a:p>
          <a:p>
            <a:r>
              <a:t>   Before we dive into installation, let's make sure we're all on the same page about what Claude Code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p>
            <a:r>
              <a:t>ASK THE CLASS:</a:t>
            </a:r>
          </a:p>
          <a:p>
            <a:r>
              <a:t>   "How many hours per week do you spend copy-pasting context into AI tools? What if that went to zero?"</a:t>
            </a:r>
          </a:p>
          <a:p>
            <a:r>
              <a:t>   [PAUSE for 30-60 seconds]</a:t>
            </a:r>
          </a:p>
          <a:p/>
          <a:p>
            <a:r>
              <a:t>REAL-WORLD EXAMPLE:</a:t>
            </a:r>
          </a:p>
          <a:p>
            <a:r>
              <a:t>   A PM creates a folder with competitors.md, analysis-template.md, and CLAUDE.md with instructions. Types 'analyse competitors' — Claude Code does the research automatically using folder context. No copy-pasting.</a:t>
            </a:r>
          </a:p>
          <a:p/>
          <a:p>
            <a:r>
              <a:t>TRANSITION:</a:t>
            </a:r>
          </a:p>
          <a:p>
            <a:r>
              <a:t>   Let's get Claude Code installed so you can experience this shift firsthand.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Before we dive in, let's set expectations. Claude Code is incredibly powerful, but it's not replacing your engineering team. Think of it as letting you validate before consuming engineering resources.</a:t>
            </a:r>
          </a:p>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p>
            <a:r>
              <a:t>ASK THE CLASS:</a:t>
            </a:r>
          </a:p>
          <a:p>
            <a:r>
              <a:t>   "Have you ever had an idea killed in committee that might have survived if you could show a working prototype?"</a:t>
            </a:r>
          </a:p>
          <a:p>
            <a:r>
              <a:t>   [PAUSE for 30-60 seconds]</a:t>
            </a:r>
          </a:p>
          <a:p/>
          <a:p>
            <a:r>
              <a:t>REAL-WORLD EXAMPLE:</a:t>
            </a:r>
          </a:p>
          <a:p>
            <a:r>
              <a:t>   CEO asks 'can we build X?' — PM prototypes in 2 hours with Claude Code — shows CEO working demo — engineering sees clear requirements — estimate drops from 3 weeks to 1 week.</a:t>
            </a:r>
          </a:p>
          <a:p/>
          <a:p>
            <a:r>
              <a:t>TRANSITION:</a:t>
            </a:r>
          </a:p>
          <a:p>
            <a:r>
              <a:t>   Now let's get set up so you can start building prototypes like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address the elephant in the room: how does Claude Code compare to Copilot, Cursor, and Amazon Q? They're not the same category of tool.</a:t>
            </a:r>
          </a:p>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p>
            <a:r>
              <a:t>ASK THE CLASS:</a:t>
            </a:r>
          </a:p>
          <a:p>
            <a:r>
              <a:t>   "How many of you use Copilot today? What tasks does it handle well, and where do you hit limits?"</a:t>
            </a:r>
          </a:p>
          <a:p>
            <a:r>
              <a:t>   [PAUSE for 30-60 seconds]</a:t>
            </a:r>
          </a:p>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p>
            <a:r>
              <a:t>TRANSITION:</a:t>
            </a:r>
          </a:p>
          <a:p>
            <a:r>
              <a:t>   Now that you understand what makes Claude Code different, let's explore the memory architecture that powers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p>
            <a:r>
              <a:t>ASK THE CLASS:</a:t>
            </a:r>
          </a:p>
          <a:p>
            <a:r>
              <a:t>   "Think about how you study for an exam. You review notes repeatedly to move them from short-term to long-term memory. How would you do the same for Claude?"</a:t>
            </a:r>
          </a:p>
          <a:p>
            <a:r>
              <a:t>   [PAUSE for 30-60 seconds]</a:t>
            </a:r>
          </a:p>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p>
            <a:r>
              <a:t>TRANSITION:</a:t>
            </a:r>
          </a:p>
          <a:p>
            <a:r>
              <a:t>   With this model in mind, let's get Claude Code installed and see these memory systems in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Installation is quick, but configuration is where the magic happens. We'll do both.</a:t>
            </a:r>
          </a:p>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p>
            <a:r>
              <a:t>TRANSITION:</a:t>
            </a:r>
          </a:p>
          <a:p>
            <a:r>
              <a:t>   First, let's check if your machine is ready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Everyone pull up a terminal right now and type 'node --version' - I'll wait. If you see a number starting with 18, 20, or 22, you're golden.</a:t>
            </a:r>
          </a:p>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p>
            <a:r>
              <a:t>ASK THE CLASS:</a:t>
            </a:r>
          </a:p>
          <a:p>
            <a:r>
              <a:t>   "Anyone stuck on the Node or Git version check? Speak up now - we'll get you sorted."</a:t>
            </a:r>
          </a:p>
          <a:p>
            <a:r>
              <a:t>   [PAUSE for 30-60 seconds]</a:t>
            </a:r>
          </a:p>
          <a:p/>
          <a:p>
            <a:r>
              <a:t>REAL-WORLD EXAMPLE:</a:t>
            </a:r>
          </a:p>
          <a:p>
            <a:r>
              <a:t>   I've had students try to run Claude Code on Node 16 and wonder why commands fail intermittently. The minimum version exists for a reason - async behavior and module resolution changed significantly in Node 18.</a:t>
            </a:r>
          </a:p>
          <a:p/>
          <a:p>
            <a:r>
              <a:t>TRANSITION:</a:t>
            </a:r>
          </a:p>
          <a:p>
            <a:r>
              <a:t>   Assuming we're all good on requirements, let's install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Three ways to install, but I'm going to tell you which one to use: npm global install. Here's why.</a:t>
            </a:r>
          </a:p>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p>
            <a:r>
              <a:t>ASK THE CLASS:</a:t>
            </a:r>
          </a:p>
          <a:p>
            <a:r>
              <a:t>   "Who's installing right now? Give me a thumbs up in chat when you see a version number."</a:t>
            </a:r>
          </a:p>
          <a:p>
            <a:r>
              <a:t>   [PAUSE for 30-60 seconds]</a:t>
            </a:r>
          </a:p>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p>
            <a:r>
              <a:t>TRANSITION:</a:t>
            </a:r>
          </a:p>
          <a:p>
            <a:r>
              <a:t>   You've got the CLI installed - now let's authenticate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p>
            <a:r>
              <a:t>TRANSITION:</a:t>
            </a:r>
          </a:p>
          <a:p>
            <a:r>
              <a:t>   Whether you use terminal or desktop, the first step is the same — let's walk through your first command.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p>
            <a:r>
              <a:t>TRANSITION:</a:t>
            </a:r>
          </a:p>
          <a:p>
            <a:r>
              <a:t>   Now let's run our first real command and see Claude Code in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Authentication is a one-time thing, but you need to understand where your API key lives and how Claude Code uses it.</a:t>
            </a:r>
          </a:p>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p>
            <a:r>
              <a:t>ASK THE CLASS:</a:t>
            </a:r>
          </a:p>
          <a:p>
            <a:r>
              <a:t>   "Everyone run 'claude login' and 'claude whoami' right now - I want to see your account email appear. If it fails, you might have firewall or proxy issues."</a:t>
            </a:r>
          </a:p>
          <a:p>
            <a:r>
              <a:t>   [PAUSE for 30-60 seconds]</a:t>
            </a:r>
          </a:p>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p>
            <a:r>
              <a:t>TRANSITION:</a:t>
            </a:r>
          </a:p>
          <a:p>
            <a:r>
              <a:t>   Now that you're authenticated, let's talk about which model to 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Model selection is like choosing between a Honda Civic, a BMW, and a Tesla - they all get you there, but the experience and cost differ wildly.</a:t>
            </a:r>
          </a:p>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p>
            <a:r>
              <a:t>ASK THE CLASS:</a:t>
            </a:r>
          </a:p>
          <a:p>
            <a:r>
              <a:t>   "What kind of tasks do you do most often - quick refactoring and docs, or deep architectural work? That'll guide your default model choice."</a:t>
            </a:r>
          </a:p>
          <a:p>
            <a:r>
              <a:t>   [PAUSE for 30-60 seconds]</a:t>
            </a:r>
          </a:p>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p>
            <a:r>
              <a:t>TRANSITION:</a:t>
            </a:r>
          </a:p>
          <a:p>
            <a:r>
              <a:t>   Let's run your first Claude Code command and see this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Alright, talking time is over - let's actually see Claude Code do something. Everyone follow along on your own machine.</a:t>
            </a:r>
          </a:p>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p>
            <a:r>
              <a:t>REAL-WORLD EXAMPLE:</a:t>
            </a:r>
          </a:p>
          <a:p>
            <a:r>
              <a:t>   This is a trivial example, but the pattern is identical whether you're creating a single hello world script or refactoring 50 files - read, plan, execute, verify. You just saw the entire agentic loop in 10 seconds.</a:t>
            </a:r>
          </a:p>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p>
            <a:r>
              <a:t>TRANSITION:</a:t>
            </a:r>
          </a:p>
          <a:p>
            <a:r>
              <a:t>   That was your first taste - now let's dive deep into how the agentic loop actually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This is the most important section of the entire day. If you understand the agentic loop, everything else will click. If you don't, you'll be fighting the tool constantly.</a:t>
            </a:r>
          </a:p>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p>
            <a:r>
              <a:t>TRANSITION:</a:t>
            </a:r>
          </a:p>
          <a:p>
            <a:r>
              <a:t>   Let's visualize the loop first, then break down each stage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 it is - the five-stage cycle that powers every single action Claude Code takes. This graphic should be burned into your brain by end of day.</a:t>
            </a:r>
          </a:p>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p>
            <a:r>
              <a:t>ASK THE CLASS:</a:t>
            </a:r>
          </a:p>
          <a:p>
            <a:r>
              <a:t>   "When you debug code manually, do you follow a similar loop? Read code, understand it, plan a fix, implement it, test it? Claude Code is doing the exact same thing you do, just faster."</a:t>
            </a:r>
          </a:p>
          <a:p>
            <a:r>
              <a:t>   [PAUSE for 30-60 seconds]</a:t>
            </a:r>
          </a:p>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p>
            <a:r>
              <a:t>TRANSITION:</a:t>
            </a:r>
          </a:p>
          <a:p>
            <a:r>
              <a:t>   Let's break down stage one: Read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Read stage is where Claude Code builds its understanding of your project - think of it as the AI reading your entire codebase before touching anything.</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Analysis is where Claude Code gets smart - it's not just seeing your code, it's understanding your code's personality and quirks.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Planning is where Claude Code thinks like a senior engineer - it's not just doing what you asked, it's figuring out the safest, smartest way to do it.</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Execute is where the rubber meets the road - Claude Code stops planning and starts making changes to your actual files.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Verification is Claude Code's quality control - it doesn't just make changes and hope they work, it actively checks that everything is good before calling it done.</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p>
            <a:r>
              <a:t>ASK THE CLASS:</a:t>
            </a:r>
          </a:p>
          <a:p>
            <a:r>
              <a:t>   "Think about the last time you tried to implement a complex feature all at once. How much easier would it have been if you'd broken it into 5 testable steps?"</a:t>
            </a:r>
          </a:p>
          <a:p>
            <a:r>
              <a:t>   [PAUSE for 30-60 seconds]</a:t>
            </a:r>
          </a:p>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Okay, I'm going to run a real task and we're going to pause at each stage so you can see the loop in action. This is not a rehearsed demo - whatever happens, happens.</a:t>
            </a:r>
          </a:p>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p>
            <a:r>
              <a:t>REAL-WORLD EXAMPLE:</a:t>
            </a:r>
          </a:p>
          <a:p>
            <a:r>
              <a:t>   Every single task follows this loop, no matter how simple or complex. The difference is speed - simple tasks complete in one iteration, complex tasks might loop 3-4 times.</a:t>
            </a:r>
          </a:p>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p>
            <a:r>
              <a:t>TRANSITION:</a:t>
            </a:r>
          </a:p>
          <a:p>
            <a:r>
              <a:t>   The loop doesn't always work perfectly - let's talk about what happens when things go wrong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but not magic - it can fail, and when it does, you need to know how to get it back on track. Let's talk about the most common failure modes.</a:t>
            </a:r>
          </a:p>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p>
            <a:r>
              <a:t>TRANSITION:</a:t>
            </a:r>
          </a:p>
          <a:p>
            <a:r>
              <a:t>   Now that you understand the engine, let's talk about how to configure it with CLAUDE.md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CLAUDE.md is the secret weapon of advanced Claude Code users - it's how you train Claude Code to work exactly the way your team works.</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Imagine a new developer joining your team. You'd give them a README, style guide, contribution guidelines, right? CLAUDE.md is all of that, but for Claude Code.</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a minimal but effective CLAUDE.md - it gives Claude Code everything it needs to work like a team member who's been here for months.</a:t>
            </a:r>
          </a:p>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p>
            <a:r>
              <a:t>ASK THE CLASS:</a:t>
            </a:r>
          </a:p>
          <a:p>
            <a:r>
              <a:t>   "What's one convention or rule in your current project that new developers always get wrong initially? That's exactly what should go in CLAUDE.md."</a:t>
            </a:r>
          </a:p>
          <a:p>
            <a:r>
              <a:t>   [PAUSE for 30-60 seconds]</a:t>
            </a:r>
          </a:p>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p>
            <a:r>
              <a:t>TRANSITION:</a:t>
            </a:r>
          </a:p>
          <a:p>
            <a:r>
              <a:t>   Beyond conventions, CLAUDE.md can include team settings and style guides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Team Settings &amp; Style Guides.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Advanced: Model Preferences &amp; Custom Rules.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p>
            <a:r>
              <a:t>ASK THE CLASS:</a:t>
            </a:r>
          </a:p>
          <a:p>
            <a:r>
              <a:t>   "What context do you find yourself repeating to AI tools? That's what belongs in your CLAUDE.md."</a:t>
            </a:r>
          </a:p>
          <a:p>
            <a:r>
              <a:t>   [PAUSE for 30-60 seconds]</a:t>
            </a:r>
          </a:p>
          <a:p/>
          <a:p>
            <a:r>
              <a:t>DEMO:</a:t>
            </a:r>
          </a:p>
          <a:p>
            <a:r>
              <a:t>   Show a PM-focused CLAUDE.md: product context, competitors, templates. Then ask Claude to analyze a competitor — watch it use the context automatically without being told.</a:t>
            </a:r>
          </a:p>
          <a:p/>
          <a:p>
            <a:r>
              <a:t>TRANSITION:</a:t>
            </a:r>
          </a:p>
          <a:p>
            <a:r>
              <a:t>   Let's see how @ mentions let you point Claude at specific files and folders.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CLAUDE.md Best Practices.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p>
            <a:r>
              <a:t>TRANSITION:</a:t>
            </a:r>
          </a:p>
          <a:p>
            <a:r>
              <a:t>   Now let's see how @ mentions let you feed specific context beyond CLAUDE.md.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Your CLAUDE.md doesn't just define project context — it controls Claude's behavior. There are 12 tested behavior templates you can paste in right now. I've grouped them into three working styles.</a:t>
            </a:r>
          </a:p>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p>
            <a:r>
              <a:t>ASK THE CLASS:</a:t>
            </a:r>
          </a:p>
          <a:p>
            <a:r>
              <a:t>   "Which working style matches you — fast and autonomous, or careful and controlled? Why?"</a:t>
            </a:r>
          </a:p>
          <a:p>
            <a:r>
              <a:t>   [PAUSE for 30-60 seconds]</a:t>
            </a:r>
          </a:p>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how folder-based context eliminates copy-pasting entirely.</a:t>
            </a:r>
          </a:p>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p>
            <a:r>
              <a:t>DEMO:</a:t>
            </a:r>
          </a:p>
          <a:p>
            <a:r>
              <a:t>   Pre-create a competitors/ folder with competitors.md (3 real competitors), analysis-template.md (SWOT or similar), and CLAUDE.md with routing instructions. Run the command live. Show the generated output.</a:t>
            </a:r>
          </a:p>
          <a:p/>
          <a:p>
            <a:r>
              <a:t>TRANSITION:</a:t>
            </a:r>
          </a:p>
          <a:p>
            <a:r>
              <a:t>   That's the power of file-based context. Let's dig deeper into how context management works.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Mentions &amp; Context Feeding.</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Mentioning Files.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Folders, URLs, Git Commits.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Building Context: Focused vs Broad.</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Feeding Techniques.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Alright, we've covered installation, the agentic loop, CLAUDE.md, and @ mentions - that's a lot of concepts. Take 15 minutes, grab coffee, stretch your legs.</a:t>
            </a:r>
          </a:p>
          <a:p/>
          <a:p>
            <a:r>
              <a:t>KEY POINTS:</a:t>
            </a:r>
          </a:p>
          <a:p>
            <a:r>
              <a:t>   * When we come back, we're diving into context management and token limits - this is where people often get stuck</a:t>
            </a:r>
          </a:p>
          <a:p/>
          <a:p>
            <a:r>
              <a:t>TRANSITION:</a:t>
            </a:r>
          </a:p>
          <a:p>
            <a:r>
              <a:t>   See you in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Management.</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How Claude Code Reads Your Workspace.</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What's in Context Right Now.</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Token limits are rarely a problem if you understand what burns tokens and how to avoid it. Let's talk about the common culprits and fixes.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uses the exact same syntax as .gitignore - if you know one, you know the other. Let's look at essential patterns.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working on a codebase with 1000+ files, you need strategies beyond .claudeignore.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p>
            <a:r>
              <a:t>TRANSITION:</a:t>
            </a:r>
          </a:p>
          <a:p>
            <a:r>
              <a:t>   Now let's optimize your context management with a hands-on demo.</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 me show you a real scenario - I'm going to optimize context and watch tokens drop.</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Welcome back from lunch! This afternoon is all about power user features. We're starting with slash commands - these are your session control panel.</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There are about 15 slash commands total - you don't need to memorize them all, but knowing these core ones makes you way more effective.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These three commands control your session state - think of them as save, reset, and optimize.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Being able to switch models mid-session is like having three different experts on call - you pick the right one for the job at hand.</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Permissions are your safety net - they control how much autonomy Claude Code has.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Output control commands let you adjust how much or how little Claude Code tells you.</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next-level - you can create your own slash commands that encode your team's common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Alright, I'm going to run through a rapid-fire demo of the most useful commands in one session.</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p>
            <a:r>
              <a:t>ASK THE CLASS:</a:t>
            </a:r>
          </a:p>
          <a:p>
            <a:r>
              <a:t>   "How many times have you asked an AI to do something and it changed files you didn't expect?"</a:t>
            </a:r>
          </a:p>
          <a:p>
            <a:r>
              <a:t>   [PAUSE for 30-60 seconds]</a:t>
            </a:r>
          </a:p>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p>
            <a:r>
              <a:t>TRANSITION:</a:t>
            </a:r>
          </a:p>
          <a:p>
            <a:r>
              <a:t>   Let me show you the difference in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the difference between asking Claude to just DO something versus asking it to PLAN first.</a:t>
            </a:r>
          </a:p>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p>
            <a:r>
              <a:t>DEMO:</a:t>
            </a:r>
          </a:p>
          <a:p>
            <a:r>
              <a:t>   Use sample-project. First attempt: 'Add JWT authentication to this API' without planning. Show the mess. Then /clear, Shift+Tab, same prompt. Show the clean plan. Approve and execute.</a:t>
            </a:r>
          </a:p>
          <a:p/>
          <a:p>
            <a:r>
              <a:t>TRANSITION:</a:t>
            </a:r>
          </a:p>
          <a:p>
            <a:r>
              <a:t>   Plan Mode is your first line of defense. Now let's talk about another pattern that prevents wasted work.</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Not everything needs Plan Mode. Here's the rule of thumb: if a task would take a senior engineer more than one focused session to think through, it needs planning. If you can verify the result in 10 seconds, skip it.</a:t>
            </a:r>
          </a:p>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p>
            <a:r>
              <a:t>TRANSITION:</a:t>
            </a:r>
          </a:p>
          <a:p>
            <a:r>
              <a:t>   Now let's talk about another powerful pattern — the Interview Me technique.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p>
            <a:r>
              <a:t>ASK THE CLASS:</a:t>
            </a:r>
          </a:p>
          <a:p>
            <a:r>
              <a:t>   "Think about your last feature build. What questions SHOULD you have answered upfront but discovered the hard way?"</a:t>
            </a:r>
          </a:p>
          <a:p>
            <a:r>
              <a:t>   [PAUSE for 30-60 seconds]</a:t>
            </a:r>
          </a:p>
          <a:p/>
          <a:p>
            <a:r>
              <a:t>DEMO:</a:t>
            </a:r>
          </a:p>
          <a:p>
            <a:r>
              <a:t>   Live: Tell Claude 'I want to add a notification system to this API. Interview me about implementation details.' Show Claude asking 3-4 probing questions. Answer them. Watch Claude generate SPEC.md.</a:t>
            </a:r>
          </a:p>
          <a:p/>
          <a:p>
            <a:r>
              <a:t>TRANSITION:</a:t>
            </a:r>
          </a:p>
          <a:p>
            <a:r>
              <a:t>   Now let's talk about the discipline that makes everything else work — session hygiene.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p>
            <a:r>
              <a:t>TRANSITION:</a:t>
            </a:r>
          </a:p>
          <a:p>
            <a:r>
              <a:t>   So what does a good spec actually look like? Let me show you a framework.</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the same task, two ways. On the left is how most people talk to Claude Code. On the right is how power users talk to Claude Code. The tool is identical. The output quality is completely different.</a:t>
            </a:r>
          </a:p>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p>
            <a:r>
              <a:t>TRANSITION:</a:t>
            </a:r>
          </a:p>
          <a:p>
            <a:r>
              <a:t>   Let me show you a real spec template that works for any Claude Code task.</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the framework. Six questions. If you can answer all six before you talk to Claude Code, your output quality jumps dramatically. If you can't answer them, that's a signal — you're not ready to build yet.</a:t>
            </a:r>
          </a:p>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p>
            <a:r>
              <a:t>ASK THE CLASS:</a:t>
            </a:r>
          </a:p>
          <a:p>
            <a:r>
              <a:t>   "Think about the last task you gave to a junior developer or contractor. Did you answer all 6 questions? What happened with the parts you left ambiguous?"</a:t>
            </a:r>
          </a:p>
          <a:p>
            <a:r>
              <a:t>   [PAUSE for 30-60 seconds]</a:t>
            </a:r>
          </a:p>
          <a:p/>
          <a:p>
            <a:r>
              <a:t>TRANSITION:</a:t>
            </a:r>
          </a:p>
          <a:p>
            <a:r>
              <a:t>   Let's see this in practice with a real spec that drives a Claude Code session.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OPEN WITH:</a:t>
            </a:r>
          </a:p>
          <a:p>
            <a:r>
              <a:t>   Let me show you this live. I'm going to write a spec using the 6-question framework, then give it to Claude Code. Watch the difference in output quality.</a:t>
            </a:r>
          </a:p>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p>
            <a:r>
              <a:t>DEMO:</a:t>
            </a:r>
          </a:p>
          <a:p>
            <a:r>
              <a:t>   If time is tight, show the spec on screen and walk through it verbally rather than live-coding both versions.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p>
            <a:r>
              <a:t>ASK THE CLASS:</a:t>
            </a:r>
          </a:p>
          <a:p>
            <a:r>
              <a:t>   "How many of you have had Claude 'forget' what you told it 20 messages ago? That's context degradation."</a:t>
            </a:r>
          </a:p>
          <a:p>
            <a:r>
              <a:t>   [PAUSE for 30-60 seconds]</a:t>
            </a:r>
          </a:p>
          <a:p/>
          <a:p>
            <a:r>
              <a:t>DEMO:</a:t>
            </a:r>
          </a:p>
          <a:p>
            <a:r>
              <a:t>   Do 4 quick unrelated tasks in one session without clearing. Show response quality dropping on task 4. Then /clear, redo task 4, show dramatic quality improvement.</a:t>
            </a:r>
          </a:p>
          <a:p/>
          <a:p>
            <a:r>
              <a:t>TRANSITION:</a:t>
            </a:r>
          </a:p>
          <a:p>
            <a:r>
              <a:t>   Now let's look at the permissions model that keeps your code safe.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p>
            <a:r>
              <a:t>TRANSITION:</a:t>
            </a:r>
          </a:p>
          <a:p>
            <a:r>
              <a:t>   This decomposition discipline applies to everything we'll do today. Now let's set up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which means you need guardrails. This section is about building safe AI workflows.</a:t>
            </a:r>
          </a:p>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Code's security model is based on trust-but-verify - you configure the level of trust based on risk.</a:t>
            </a:r>
          </a:p>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these as traffic lights - red for stop and review, yellow for caution, green for go fast.</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Allowlists and blocklists are like firewall rules for Claude Code.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isn't just for token optimization - it's a critical security tool that prevents Claude Code from ever seeing sensitive files.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in a regulated industry, enterprise security features ensure compliance.</a:t>
            </a:r>
          </a:p>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p>
            <a:r>
              <a:t>TRANSITION:</a:t>
            </a:r>
          </a:p>
          <a:p>
            <a:r>
              <a:t>   Let's configure these permissions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comes from Nate B Jones' 'Second Brain' video - the idea that AI assistants should be cautious by default, not reckless. Claude Code embodies this perfectly.</a:t>
            </a:r>
          </a:p>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Let's configure security boundaries and test them - I want you to see how these controls actually work.</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Quick 15-minute break.</a:t>
            </a:r>
          </a:p>
          <a:p/>
          <a:p>
            <a:r>
              <a:t>KEY POINTS:</a:t>
            </a:r>
          </a:p>
          <a:p>
            <a:r>
              <a:t>   * Git integration next</a:t>
            </a:r>
          </a:p>
          <a:p/>
          <a:p>
            <a:r>
              <a:t>TRANSITION:</a:t>
            </a:r>
          </a:p>
          <a:p>
            <a:r>
              <a:t>   Back in 15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Git integration is where Claude Code shines.</a:t>
            </a:r>
          </a:p>
          <a:p/>
          <a:p>
            <a:r>
              <a:t>KEY POINTS:</a:t>
            </a:r>
          </a:p>
          <a:p>
            <a:r>
              <a:t>   * Manages entire workflow</a:t>
            </a:r>
          </a:p>
          <a:p/>
          <a:p>
            <a:r>
              <a:t>TRANSITION:</a:t>
            </a:r>
          </a:p>
          <a:p>
            <a:r>
              <a:t>   Auto-commits first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writes better commit messages than most humans.</a:t>
            </a:r>
          </a:p>
          <a:p/>
          <a:p>
            <a:r>
              <a:t>KEY POINTS:</a:t>
            </a:r>
          </a:p>
          <a:p>
            <a:r>
              <a:t>   * Knows what changed and why</a:t>
            </a:r>
          </a:p>
          <a:p>
            <a:r>
              <a:t>   * Follows conventions</a:t>
            </a:r>
          </a:p>
          <a:p>
            <a:r>
              <a:t>   * Saves time</a:t>
            </a:r>
          </a:p>
          <a:p/>
          <a:p>
            <a:r>
              <a:t>REAL-WORLD EXAMPLE:</a:t>
            </a:r>
          </a:p>
          <a:p>
            <a:r>
              <a:t>   Student's commits went from 'fixes' to detailed feat/fix messages.</a:t>
            </a:r>
          </a:p>
          <a:p/>
          <a:p>
            <a:r>
              <a:t>TRANSITION:</a:t>
            </a:r>
          </a:p>
          <a:p>
            <a:r>
              <a:t>   Branch management next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Perfect branch names every time.</a:t>
            </a:r>
          </a:p>
          <a:p/>
          <a:p>
            <a:r>
              <a:t>KEY POINTS:</a:t>
            </a:r>
          </a:p>
          <a:p>
            <a:r>
              <a:t>   * Follows CLAUDE.md rules</a:t>
            </a:r>
          </a:p>
          <a:p>
            <a:r>
              <a:t>   * Consistent naming</a:t>
            </a:r>
          </a:p>
          <a:p>
            <a:r>
              <a:t>   * No mistakes</a:t>
            </a:r>
          </a:p>
          <a:p/>
          <a:p>
            <a:r>
              <a:t>REAL-WORLD EXAMPLE:</a:t>
            </a:r>
          </a:p>
          <a:p>
            <a:r>
              <a:t>   Team went from 60% to 100% naming compliance.</a:t>
            </a:r>
          </a:p>
          <a:p/>
          <a:p>
            <a:r>
              <a:t>TRANSITION:</a:t>
            </a:r>
          </a:p>
          <a:p>
            <a:r>
              <a:t>   Commit messages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Real commit messages from Claude Code.</a:t>
            </a:r>
          </a:p>
          <a:p/>
          <a:p>
            <a:r>
              <a:t>KEY POINTS:</a:t>
            </a:r>
          </a:p>
          <a:p>
            <a:r>
              <a:t>   * Detailed and structured</a:t>
            </a:r>
          </a:p>
          <a:p>
            <a:r>
              <a:t>   * Explains what and why</a:t>
            </a:r>
          </a:p>
          <a:p>
            <a:r>
              <a:t>   * Searchable history</a:t>
            </a:r>
          </a:p>
          <a:p/>
          <a:p>
            <a:r>
              <a:t>REAL-WORLD EXAMPLE:</a:t>
            </a:r>
          </a:p>
          <a:p>
            <a:r>
              <a:t>   Developer found bug fix in seconds by searching 'refactor(database)'.</a:t>
            </a:r>
          </a:p>
          <a:p/>
          <a:p>
            <a:r>
              <a:t>TRANSITION:</a:t>
            </a:r>
          </a:p>
          <a:p>
            <a:r>
              <a:t>   PR creation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PR descriptions in seconds.</a:t>
            </a:r>
          </a:p>
          <a:p/>
          <a:p>
            <a:r>
              <a:t>KEY POINTS:</a:t>
            </a:r>
          </a:p>
          <a:p>
            <a:r>
              <a:t>   * What, why, how, testing</a:t>
            </a:r>
          </a:p>
          <a:p>
            <a:r>
              <a:t>   * Linked issues</a:t>
            </a:r>
          </a:p>
          <a:p>
            <a:r>
              <a:t>   * Checklist included</a:t>
            </a:r>
          </a:p>
          <a:p/>
          <a:p>
            <a:r>
              <a:t>REAL-WORLD EXAMPLE:</a:t>
            </a:r>
          </a:p>
          <a:p>
            <a:r>
              <a:t>   Junior dev's Claude-generated PR was called 'best-documented in months'.</a:t>
            </a:r>
          </a:p>
          <a:p/>
          <a:p>
            <a:r>
              <a:t>TRANSITION:</a:t>
            </a:r>
          </a:p>
          <a:p>
            <a:r>
              <a:t>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Git history analysis made easy.</a:t>
            </a:r>
          </a:p>
          <a:p/>
          <a:p>
            <a:r>
              <a:t>KEY POINTS:</a:t>
            </a:r>
          </a:p>
          <a:p>
            <a:r>
              <a:t>   * Answers 'who/when/why'</a:t>
            </a:r>
          </a:p>
          <a:p>
            <a:r>
              <a:t>   * Identifies patterns</a:t>
            </a:r>
          </a:p>
          <a:p>
            <a:r>
              <a:t>   * Generates changelogs</a:t>
            </a:r>
          </a:p>
          <a:p/>
          <a:p>
            <a:r>
              <a:t>REAL-WORLD EXAMPLE:</a:t>
            </a:r>
          </a:p>
          <a:p>
            <a:r>
              <a:t>   Found bug introduction by asking Claude Code to analyze history.</a:t>
            </a:r>
          </a:p>
          <a:p/>
          <a:p>
            <a:r>
              <a:t>TRANSITION:</a:t>
            </a:r>
          </a:p>
          <a:p>
            <a:r>
              <a:t>   Platform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Both platforms supported.</a:t>
            </a:r>
          </a:p>
          <a:p/>
          <a:p>
            <a:r>
              <a:t>KEY POINTS:</a:t>
            </a:r>
          </a:p>
          <a:p>
            <a:r>
              <a:t>   * Same concepts</a:t>
            </a:r>
          </a:p>
          <a:p>
            <a:r>
              <a:t>   * Syntax varies slightly</a:t>
            </a:r>
          </a:p>
          <a:p>
            <a:r>
              <a:t>   * Choose your platform</a:t>
            </a:r>
          </a:p>
          <a:p/>
          <a:p>
            <a:r>
              <a:t>REAL-WORLD EXAMPLE:</a:t>
            </a:r>
          </a:p>
          <a:p>
            <a:r>
              <a:t>   Team switched GitHub to GitLab, Claude Code config took 5 minutes.</a:t>
            </a:r>
          </a:p>
          <a:p/>
          <a:p>
            <a:r>
              <a:t>TRANSITION:</a:t>
            </a:r>
          </a:p>
          <a:p>
            <a:r>
              <a:t>   Complete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Complete Git workflow automated.</a:t>
            </a:r>
          </a:p>
          <a:p/>
          <a:p>
            <a:r>
              <a:t>KEY POINTS:</a:t>
            </a:r>
          </a:p>
          <a:p>
            <a:r>
              <a:t>   * End-to-end flow</a:t>
            </a:r>
          </a:p>
          <a:p>
            <a:r>
              <a:t>   * Everything connected</a:t>
            </a:r>
          </a:p>
          <a:p>
            <a:r>
              <a:t>   * Production-ready</a:t>
            </a:r>
          </a:p>
          <a:p/>
          <a:p>
            <a:r>
              <a:t>REAL-WORLD EXAMPLE:</a:t>
            </a:r>
          </a:p>
          <a:p>
            <a:r>
              <a:t>   This is the daily workflow.</a:t>
            </a:r>
          </a:p>
          <a:p/>
          <a:p>
            <a:r>
              <a:t>DEMO:</a:t>
            </a:r>
          </a:p>
          <a:p>
            <a:r>
              <a:t>   Live demo: create branch, implement feature, commit, push, create PR. All via Claude Code.</a:t>
            </a:r>
          </a:p>
          <a:p/>
          <a:p>
            <a:r>
              <a:t>TRANSITION:</a:t>
            </a:r>
          </a:p>
          <a:p>
            <a:r>
              <a:t>   File operations section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Real workflows you'll use daily.</a:t>
            </a:r>
          </a:p>
          <a:p/>
          <a:p>
            <a:r>
              <a:t>KEY POINTS:</a:t>
            </a:r>
          </a:p>
          <a:p>
            <a:r>
              <a:t>   * Complete toolkit</a:t>
            </a:r>
          </a:p>
          <a:p/>
          <a:p>
            <a:r>
              <a:t>TRANSITION:</a:t>
            </a:r>
          </a:p>
          <a:p>
            <a:r>
              <a:t>   File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Precise file operations.</a:t>
            </a:r>
          </a:p>
          <a:p/>
          <a:p>
            <a:r>
              <a:t>KEY POINTS:</a:t>
            </a:r>
          </a:p>
          <a:p>
            <a:r>
              <a:t>   * Coordinated changes</a:t>
            </a:r>
          </a:p>
          <a:p>
            <a:r>
              <a:t>   * Dependency tracking</a:t>
            </a:r>
          </a:p>
          <a:p>
            <a:r>
              <a:t>   * Verification</a:t>
            </a:r>
          </a:p>
          <a:p/>
          <a:p>
            <a:r>
              <a:t>REAL-WORLD EXAMPLE:</a:t>
            </a:r>
          </a:p>
          <a:p>
            <a:r>
              <a:t>   Renamed function across 30 files flawlessly.</a:t>
            </a:r>
          </a:p>
          <a:p/>
          <a:p>
            <a:r>
              <a:t>TRANSITION:</a:t>
            </a:r>
          </a:p>
          <a:p>
            <a:r>
              <a:t>   Refactoring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Refactoring 10+ files is error-prone manually.</a:t>
            </a:r>
          </a:p>
          <a:p/>
          <a:p>
            <a:r>
              <a:t>KEY POINTS:</a:t>
            </a:r>
          </a:p>
          <a:p>
            <a:r>
              <a:t>   * Claude Code handles precision</a:t>
            </a:r>
          </a:p>
          <a:p>
            <a:r>
              <a:t>   * Updates imports</a:t>
            </a:r>
          </a:p>
          <a:p>
            <a:r>
              <a:t>   * Verifies changes</a:t>
            </a:r>
          </a:p>
          <a:p/>
          <a:p>
            <a:r>
              <a:t>REAL-WORLD EXAMPLE:</a:t>
            </a:r>
          </a:p>
          <a:p>
            <a:r>
              <a:t>   Split large class into 5 modules, updated all callers.</a:t>
            </a:r>
          </a:p>
          <a:p/>
          <a:p>
            <a:r>
              <a:t>TRANSITION:</a:t>
            </a:r>
          </a:p>
          <a:p>
            <a:r>
              <a:t>   Code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Why write boilerplate 100 times?</a:t>
            </a:r>
          </a:p>
          <a:p/>
          <a:p>
            <a:r>
              <a:t>KEY POINTS:</a:t>
            </a:r>
          </a:p>
          <a:p>
            <a:r>
              <a:t>   * CRUD generation</a:t>
            </a:r>
          </a:p>
          <a:p>
            <a:r>
              <a:t>   * API scaffolding</a:t>
            </a:r>
          </a:p>
          <a:p>
            <a:r>
              <a:t>   * Test templates</a:t>
            </a:r>
          </a:p>
          <a:p/>
          <a:p>
            <a:r>
              <a:t>REAL-WORLD EXAMPLE:</a:t>
            </a:r>
          </a:p>
          <a:p>
            <a:r>
              <a:t>   Generated 15 CRUD endpoints in 3 minutes.</a:t>
            </a:r>
          </a:p>
          <a:p/>
          <a:p>
            <a:r>
              <a:t>TRANSITION:</a:t>
            </a:r>
          </a:p>
          <a:p>
            <a:r>
              <a:t>   Debugging</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Same debugging process, but faster.</a:t>
            </a:r>
          </a:p>
          <a:p/>
          <a:p>
            <a:r>
              <a:t>KEY POINTS:</a:t>
            </a:r>
          </a:p>
          <a:p>
            <a:r>
              <a:t>   * Systematic approach</a:t>
            </a:r>
          </a:p>
          <a:p>
            <a:r>
              <a:t>   * Tests added</a:t>
            </a:r>
          </a:p>
          <a:p>
            <a:r>
              <a:t>   * Documented</a:t>
            </a:r>
          </a:p>
          <a:p/>
          <a:p>
            <a:r>
              <a:t>REAL-WORLD EXAMPLE:</a:t>
            </a:r>
          </a:p>
          <a:p>
            <a:r>
              <a:t>   Found race condition in 5 minutes after 2 hours stuck.</a:t>
            </a:r>
          </a:p>
          <a:p/>
          <a:p>
            <a:r>
              <a:t>TRANSITION:</a:t>
            </a:r>
          </a:p>
          <a:p>
            <a:r>
              <a:t>   Test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p>
            <a:r>
              <a:t>ASK THE CLASS:</a:t>
            </a:r>
          </a:p>
          <a:p>
            <a:r>
              <a:t>   "Look at your current to-do list. How many items are vague goals vs concrete next actions? Try rephrasing one goal as a next action and see how much clearer it becomes."</a:t>
            </a:r>
          </a:p>
          <a:p>
            <a:r>
              <a:t>   [PAUSE for 30-60 seconds]</a:t>
            </a:r>
          </a:p>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p>
            <a:r>
              <a:t>TRANSITION:</a:t>
            </a:r>
          </a:p>
          <a:p>
            <a:r>
              <a:t>   Next actions are the unit of execution - now let's move to wrapping up the development workflows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tests automatically.</a:t>
            </a:r>
          </a:p>
          <a:p/>
          <a:p>
            <a:r>
              <a:t>KEY POINTS:</a:t>
            </a:r>
          </a:p>
          <a:p>
            <a:r>
              <a:t>   * Multiple test types</a:t>
            </a:r>
          </a:p>
          <a:p>
            <a:r>
              <a:t>   * High coverage</a:t>
            </a:r>
          </a:p>
          <a:p>
            <a:r>
              <a:t>   * Well-named</a:t>
            </a:r>
          </a:p>
          <a:p/>
          <a:p>
            <a:r>
              <a:t>REAL-WORLD EXAMPLE:</a:t>
            </a:r>
          </a:p>
          <a:p>
            <a:r>
              <a:t>   Added feature with full tests, no manual test writing.</a:t>
            </a:r>
          </a:p>
          <a:p/>
          <a:p>
            <a:r>
              <a:t>TRANSITION:</a:t>
            </a:r>
          </a:p>
          <a:p>
            <a:r>
              <a: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p>
            <a:r>
              <a:t>TRANSITION:</a:t>
            </a:r>
          </a:p>
          <a:p>
            <a:r>
              <a:t>   Let's see this verification loop in action during our Git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Documentation generated automatically.</a:t>
            </a:r>
          </a:p>
          <a:p/>
          <a:p>
            <a:r>
              <a:t>KEY POINTS:</a:t>
            </a:r>
          </a:p>
          <a:p>
            <a:r>
              <a:t>   * Multiple doc types</a:t>
            </a:r>
          </a:p>
          <a:p>
            <a:r>
              <a:t>   * Always current</a:t>
            </a:r>
          </a:p>
          <a:p>
            <a:r>
              <a:t>   * Professional quality</a:t>
            </a:r>
          </a:p>
          <a:p/>
          <a:p>
            <a:r>
              <a:t>REAL-WORLD EXAMPLE:</a:t>
            </a:r>
          </a:p>
          <a:p>
            <a:r>
              <a:t>   API docs stayed current because Claude Code updated them with code.</a:t>
            </a:r>
          </a:p>
          <a:p/>
          <a:p>
            <a:r>
              <a:t>TRANSITION:</a:t>
            </a:r>
          </a:p>
          <a:p>
            <a:r>
              <a:t>   Final demo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Live debugging - real bug, real fix.</a:t>
            </a:r>
          </a:p>
          <a:p/>
          <a:p>
            <a:r>
              <a:t>KEY POINTS:</a:t>
            </a:r>
          </a:p>
          <a:p>
            <a:r>
              <a:t>   * Complete process</a:t>
            </a:r>
          </a:p>
          <a:p>
            <a:r>
              <a:t>   * Real-world scenario</a:t>
            </a:r>
          </a:p>
          <a:p>
            <a:r>
              <a:t>   * Production techniques</a:t>
            </a:r>
          </a:p>
          <a:p/>
          <a:p>
            <a:r>
              <a:t>REAL-WORLD EXAMPLE:</a:t>
            </a:r>
          </a:p>
          <a:p>
            <a:r>
              <a:t>   This is what you'll do Monday.</a:t>
            </a:r>
          </a:p>
          <a:p/>
          <a:p>
            <a:r>
              <a:t>DEMO:</a:t>
            </a:r>
          </a:p>
          <a:p>
            <a:r>
              <a:t>   Run failing test, ask Claude Code to debug, watch it analyze, fix, verify.</a:t>
            </a:r>
          </a:p>
          <a:p/>
          <a:p>
            <a:r>
              <a:t>TRANSITION:</a:t>
            </a:r>
          </a:p>
          <a:p>
            <a:r>
              <a:t>   Final lab</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SQL work is often the most tedious part of development - writing queries, designing schemas, optimizing performance. Claude Code transforms all of that from hours of head-scratching into minutes of guided conversation.</a:t>
            </a:r>
          </a:p>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p>
            <a:r>
              <a:t>TRANSITION:</a:t>
            </a:r>
          </a:p>
          <a:p>
            <a:r>
              <a:t>   Let's start with the most common task: generating SQL queries from natural language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Writing SQL queries is one of Claude Code's strongest capabilities - it understands the intent behind your question and translates it into efficient, correct SQL.</a:t>
            </a:r>
          </a:p>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p>
            <a:r>
              <a:t>TRANSITION:</a:t>
            </a:r>
          </a:p>
          <a:p>
            <a:r>
              <a:t>   Let me show you a real example of complex query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what Claude Code generated from a single natural language prompt - notice how clean and well-structured this query is.</a:t>
            </a:r>
          </a:p>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p>
            <a:r>
              <a:t>TRANSITION:</a:t>
            </a:r>
          </a:p>
          <a:p>
            <a:r>
              <a:t>   Beyond query generation, Claude Code excels at schema design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Schema design is where bad decisions cost you for years - Claude Code acts as a database design reviewer that catches problems before they become production nightmares.</a:t>
            </a:r>
          </a:p>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p>
            <a:r>
              <a:t>TRANSITION:</a:t>
            </a:r>
          </a:p>
          <a:p>
            <a:r>
              <a:t>   Once you have queries, optimization becomes critical</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Query optimization is part science, part art - Claude Code knows both. Look at this transformation from a slow query to a fast one.</a:t>
            </a:r>
          </a:p>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p>
            <a:r>
              <a:t>TRANSITION:</a:t>
            </a:r>
          </a:p>
          <a:p>
            <a:r>
              <a:t>   SQL isn't just queries and schemas - there's also data transformation and ETL work</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ETL work is usually manual, error-prone, and time-consuming - Claude Code automates the entire process from data extraction to transformation to loading, with validation at each step.</a:t>
            </a:r>
          </a:p>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p>
            <a:r>
              <a:t>TRANSITION:</a:t>
            </a:r>
          </a:p>
          <a:p>
            <a:r>
              <a:t>   Different databases have different strengths - Claude Code knows them all</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doesn't just know SQL - it knows the nuances and strengths of different database engines and writes queries optimized for each one.</a:t>
            </a:r>
          </a:p>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p>
            <a:r>
              <a:t>TRANSITION:</a:t>
            </a:r>
          </a:p>
          <a:p>
            <a:r>
              <a:t>   Data quality is critical - let's talk about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Data quality issues are expensive - catching them early with validation queries saves hours of debugging and potential data corruption. Claude Code generates comprehensive validation queries automatically.</a:t>
            </a:r>
          </a:p>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p>
            <a:r>
              <a:t>TRANSITION:</a:t>
            </a:r>
          </a:p>
          <a:p>
            <a:r>
              <a:t>   Let me show you a complete end-to-end demo</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p>
            <a:r>
              <a:t>TRANSITION:</a:t>
            </a:r>
          </a:p>
          <a:p>
            <a:r>
              <a:t>   That's the SQL and data analysis section - now you'll practice this in Lab 3</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Final lab - complete feature workflow.</a:t>
            </a:r>
          </a:p>
          <a:p/>
          <a:p>
            <a:r>
              <a:t>KEY POINTS:</a:t>
            </a:r>
          </a:p>
          <a:p>
            <a:r>
              <a:t>   * End-to-end workflow</a:t>
            </a:r>
          </a:p>
          <a:p>
            <a:r>
              <a:t>   * Production-ready</a:t>
            </a:r>
          </a:p>
          <a:p/>
          <a:p>
            <a:r>
              <a:t>TRANSITION:</a:t>
            </a:r>
          </a:p>
          <a:p>
            <a:r>
              <a:t>   Wrap-up</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real example of how Claude Code changes the dynamics between PMs and engineering teams.</a:t>
            </a:r>
          </a:p>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p>
            <a:r>
              <a:t>ASK THE CLASS:</a:t>
            </a:r>
          </a:p>
          <a:p>
            <a:r>
              <a:t>   "What's the last feature you spec'd that took weeks of back-and-forth? Could a 2-hour prototype have shortcut that?"</a:t>
            </a:r>
          </a:p>
          <a:p>
            <a:r>
              <a:t>   [PAUSE for 30-60 seconds]</a:t>
            </a:r>
          </a:p>
          <a:p/>
          <a:p>
            <a:r>
              <a:t>TRANSITION:</a:t>
            </a:r>
          </a:p>
          <a:p>
            <a:r>
              <a:t>   Now let's put this into practice. Time for hands-on lab work.</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Eight major capabilities learned today.</a:t>
            </a:r>
          </a:p>
          <a:p/>
          <a:p>
            <a:r>
              <a:t>KEY POINTS:</a:t>
            </a:r>
          </a:p>
          <a:p>
            <a:r>
              <a:t>   * Complete toolkit</a:t>
            </a:r>
          </a:p>
          <a:p>
            <a:r>
              <a:t>   * Production-ready</a:t>
            </a:r>
          </a:p>
          <a:p>
            <a:r>
              <a:t>   * Transform development</a:t>
            </a:r>
          </a:p>
          <a:p/>
          <a:p>
            <a:r>
              <a:t>REAL-WORLD EXAMPLE:</a:t>
            </a:r>
          </a:p>
          <a:p>
            <a:r>
              <a:t>   You're now equipped to use Claude Code professionally.</a:t>
            </a:r>
          </a:p>
          <a:p/>
          <a:p>
            <a:r>
              <a:t>TRANSITION:</a:t>
            </a:r>
          </a:p>
          <a:p>
            <a:r>
              <a:t>   Thank you!</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wrap up, let me save you from the five mistakes I see most often. Each one ties back to an engineering principle we covered today.</a:t>
            </a:r>
          </a:p>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p>
            <a:r>
              <a:t>ASK THE CLASS:</a:t>
            </a:r>
          </a:p>
          <a:p>
            <a:r>
              <a:t>   "Which of these mistakes have you already made today? No shame — we all do it. The goal is building habits that prevent them."</a:t>
            </a:r>
          </a:p>
          <a:p>
            <a:r>
              <a:t>   [PAUSE for 30-60 seconds]</a:t>
            </a:r>
          </a:p>
          <a:p/>
          <a:p>
            <a:r>
              <a:t>TRANSITION:</a:t>
            </a:r>
          </a:p>
          <a:p>
            <a:r>
              <a:t>   Let's recap everything we covered and preview tomorrow's advanced topics.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Completed Claude Code Fundamentals!</a:t>
            </a:r>
          </a:p>
          <a:p/>
          <a:p>
            <a:r>
              <a:t>KEY POINTS:</a:t>
            </a:r>
          </a:p>
          <a:p>
            <a:r>
              <a:t>   * Tomorrow: Advanced topics</a:t>
            </a:r>
          </a:p>
          <a:p>
            <a:r>
              <a:t>   * Custom commands, MCP, agent teams</a:t>
            </a:r>
          </a:p>
          <a:p/>
          <a:p>
            <a:r>
              <a:t>TRANSITION:</a:t>
            </a:r>
          </a:p>
          <a:p>
            <a:r>
              <a:t>   See you tomorrow!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Working memory → Context window: Both degrade under load.</a:t>
            </a:r>
          </a:p>
          <a:p>
            <a:pPr>
              <a:spcBef>
                <a:spcPts val="800"/>
              </a:spcBef>
              <a:spcAft>
                <a:spcPts val="800"/>
              </a:spcAft>
              <a:defRPr sz="2200">
                <a:solidFill>
                  <a:srgbClr val="FFFFFF"/>
                </a:solidFill>
              </a:defRPr>
            </a:pPr>
            <a:r>
              <a:t>  Short-term → Session history: When you study, you move important things from short-term to long-term memory through n...</a:t>
            </a:r>
          </a:p>
          <a:p>
            <a:pPr>
              <a:spcBef>
                <a:spcPts val="800"/>
              </a:spcBef>
              <a:spcAft>
                <a:spcPts val="800"/>
              </a:spcAft>
              <a:defRPr sz="2200">
                <a:solidFill>
                  <a:srgbClr val="FFFFFF"/>
                </a:solidFill>
              </a:defRPr>
            </a:pPr>
            <a:r>
              <a:t>  Long-term → CLAUDE.</a:t>
            </a:r>
          </a:p>
          <a:p>
            <a:pPr>
              <a:spcBef>
                <a:spcPts val="800"/>
              </a:spcBef>
              <a:spcAft>
                <a:spcPts val="800"/>
              </a:spcAft>
              <a:defRPr sz="2200">
                <a:solidFill>
                  <a:srgbClr val="FFFFFF"/>
                </a:solidFill>
              </a:defRPr>
            </a:pPr>
            <a:r>
              <a:t>  Muscle memory → Skills / custom commands: Just like you don't consciously think about typing, skills and commands let...</a:t>
            </a:r>
          </a:p>
          <a:p>
            <a:pPr>
              <a:spcBef>
                <a:spcPts val="800"/>
              </a:spcBef>
              <a:spcAft>
                <a:spcPts val="800"/>
              </a:spcAft>
              <a:defRPr sz="2200">
                <a:solidFill>
                  <a:srgbClr val="FFFFFF"/>
                </a:solidFill>
              </a:defRPr>
            </a:pPr>
            <a:r>
              <a:t>  Scott's framing: Context window is short-term memory.</a:t>
            </a:r>
          </a:p>
          <a:p>
            <a:pPr>
              <a:spcBef>
                <a:spcPts val="800"/>
              </a:spcBef>
              <a:spcAft>
                <a:spcPts val="800"/>
              </a:spcAft>
              <a:defRPr sz="2200">
                <a:solidFill>
                  <a:srgbClr val="FFFFFF"/>
                </a:solidFill>
              </a:defRPr>
            </a:pPr>
            <a:r>
              <a:t>  Everything that follows today — CLAUDE.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System Requirements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Required</a:t>
            </a:r>
          </a:p>
          <a:p>
            <a:pPr>
              <a:spcBef>
                <a:spcPts val="800"/>
              </a:spcBef>
              <a:spcAft>
                <a:spcPts val="800"/>
              </a:spcAft>
              <a:defRPr sz="2200">
                <a:solidFill>
                  <a:srgbClr val="FFFFFF"/>
                </a:solidFill>
              </a:defRPr>
            </a:pPr>
            <a:r>
              <a:t>      Node.js 18.0 or higher (check: node --version)</a:t>
            </a:r>
          </a:p>
          <a:p>
            <a:pPr>
              <a:spcBef>
                <a:spcPts val="800"/>
              </a:spcBef>
              <a:spcAft>
                <a:spcPts val="800"/>
              </a:spcAft>
              <a:defRPr sz="2200">
                <a:solidFill>
                  <a:srgbClr val="FFFFFF"/>
                </a:solidFill>
              </a:defRPr>
            </a:pPr>
            <a:r>
              <a:t>      Git 2.20 or higher (check: git --version)</a:t>
            </a:r>
          </a:p>
          <a:p>
            <a:pPr>
              <a:spcBef>
                <a:spcPts val="800"/>
              </a:spcBef>
              <a:spcAft>
                <a:spcPts val="800"/>
              </a:spcAft>
              <a:defRPr sz="2200">
                <a:solidFill>
                  <a:srgbClr val="FFFFFF"/>
                </a:solidFill>
              </a:defRPr>
            </a:pPr>
            <a:r>
              <a:t>      Active internet connection for API calls</a:t>
            </a:r>
          </a:p>
          <a:p>
            <a:pPr>
              <a:spcBef>
                <a:spcPts val="800"/>
              </a:spcBef>
              <a:spcAft>
                <a:spcPts val="800"/>
              </a:spcAft>
              <a:defRPr sz="2200">
                <a:solidFill>
                  <a:srgbClr val="FFFFFF"/>
                </a:solidFill>
              </a:defRPr>
            </a:pPr>
            <a:r>
              <a:t>      Terminal/command line access</a:t>
            </a:r>
          </a:p>
          <a:p>
            <a:pPr>
              <a:spcBef>
                <a:spcPts val="800"/>
              </a:spcBef>
              <a:spcAft>
                <a:spcPts val="800"/>
              </a:spcAft>
              <a:defRPr sz="2200">
                <a:solidFill>
                  <a:srgbClr val="FFFFFF"/>
                </a:solidFill>
              </a:defRPr>
            </a:pPr>
            <a:r>
              <a:t>  Supported Platforms</a:t>
            </a:r>
          </a:p>
          <a:p>
            <a:pPr>
              <a:spcBef>
                <a:spcPts val="800"/>
              </a:spcBef>
              <a:spcAft>
                <a:spcPts val="800"/>
              </a:spcAft>
              <a:defRPr sz="2200">
                <a:solidFill>
                  <a:srgbClr val="FFFFFF"/>
                </a:solidFill>
              </a:defRPr>
            </a:pPr>
            <a:r>
              <a:t>      macOS 10.15+ (native)</a:t>
            </a:r>
          </a:p>
          <a:p>
            <a:pPr>
              <a:spcBef>
                <a:spcPts val="800"/>
              </a:spcBef>
              <a:spcAft>
                <a:spcPts val="800"/>
              </a:spcAft>
              <a:defRPr sz="2200">
                <a:solidFill>
                  <a:srgbClr val="FFFFFF"/>
                </a:solidFill>
              </a:defRPr>
            </a:pPr>
            <a:r>
              <a:t>      Linux (Ubuntu 20.04+, Debian, Fedora)</a:t>
            </a:r>
          </a:p>
          <a:p>
            <a:pPr>
              <a:spcBef>
                <a:spcPts val="800"/>
              </a:spcBef>
              <a:spcAft>
                <a:spcPts val="800"/>
              </a:spcAft>
              <a:defRPr sz="2200">
                <a:solidFill>
                  <a:srgbClr val="FFFFFF"/>
                </a:solidFill>
              </a:defRPr>
            </a:pPr>
            <a:r>
              <a:t>      Windows 10/11 via WSL2 (Windows Subsystem for Linux)</a:t>
            </a:r>
          </a:p>
          <a:p>
            <a:pPr>
              <a:spcBef>
                <a:spcPts val="800"/>
              </a:spcBef>
              <a:spcAft>
                <a:spcPts val="800"/>
              </a:spcAft>
              <a:defRPr sz="2200">
                <a:solidFill>
                  <a:srgbClr val="FFFFFF"/>
                </a:solidFill>
              </a:defRPr>
            </a:pPr>
            <a:r>
              <a:t>  Recommended</a:t>
            </a:r>
          </a:p>
          <a:p>
            <a:pPr>
              <a:spcBef>
                <a:spcPts val="800"/>
              </a:spcBef>
              <a:spcAft>
                <a:spcPts val="800"/>
              </a:spcAft>
              <a:defRPr sz="2200">
                <a:solidFill>
                  <a:srgbClr val="FFFFFF"/>
                </a:solidFill>
              </a:defRPr>
            </a:pPr>
            <a:r>
              <a:t>      VS Code or similar editor with terminal integration</a:t>
            </a:r>
          </a:p>
          <a:p>
            <a:pPr>
              <a:spcBef>
                <a:spcPts val="800"/>
              </a:spcBef>
              <a:spcAft>
                <a:spcPts val="800"/>
              </a:spcAft>
              <a:defRPr sz="2200">
                <a:solidFill>
                  <a:srgbClr val="FFFFFF"/>
                </a:solidFill>
              </a:defRPr>
            </a:pPr>
            <a:r>
              <a:t>      At least 4GB available RAM</a:t>
            </a:r>
          </a:p>
          <a:p>
            <a:pPr>
              <a:spcBef>
                <a:spcPts val="800"/>
              </a:spcBef>
              <a:spcAft>
                <a:spcPts val="800"/>
              </a:spcAft>
              <a:defRPr sz="2200">
                <a:solidFill>
                  <a:srgbClr val="FFFFFF"/>
                </a:solidFill>
              </a:defRPr>
            </a:pPr>
            <a:r>
              <a:t>      Familiarity with command line basics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Method 1: Global install via npm (recommended)\nnpm install -g @anthropic-ai/claude-code\n\n# Method 2: Homebrew (macOS/Linux)\nbrew install claude-code\n\n# Method 3: npx (no install, always latest)\nnpx @anthropic-ai/claude-code\n\n# Verify installation\nclaude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5" name="TextBox 4"/>
          <p:cNvSpPr txBox="1"/>
          <p:nvPr/>
        </p:nvSpPr>
        <p:spPr>
          <a:xfrm>
            <a:off x="914400" y="4114800"/>
            <a:ext cx="10362895" cy="457200"/>
          </a:xfrm>
          <a:prstGeom prst="rect">
            <a:avLst/>
          </a:prstGeom>
          <a:noFill/>
        </p:spPr>
        <p:txBody>
          <a:bodyPr wrap="none">
            <a:spAutoFit/>
          </a:bodyPr>
          <a:lstStyle/>
          <a:p>
            <a:pPr algn="ctr">
              <a:defRPr sz="1400" i="1">
                <a:solidFill>
                  <a:srgbClr val="4A5568"/>
                </a:solidFill>
              </a:defRPr>
            </a:pPr>
            <a:r>
              <a:t>Replace with actual screenshot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Step 1: Authenticate with Anthropic\nclaude login\n# Opens browser, you authorize, token is saved locally\n\n# Step 2: Verify authentication\nclaude whoami\n# Shows your account email and plan tier\n\n# Step 3: Set default model (optional)\nclaude config set model claude-sonnet-4\n\n# Step 4: Check all settings\nclaude config list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Model Options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API Keys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1: Read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What Claude Code Reads</a:t>
            </a:r>
          </a:p>
          <a:p>
            <a:pPr>
              <a:spcBef>
                <a:spcPts val="800"/>
              </a:spcBef>
              <a:spcAft>
                <a:spcPts val="800"/>
              </a:spcAft>
              <a:defRPr sz="2200">
                <a:solidFill>
                  <a:srgbClr val="FFFFFF"/>
                </a:solidFill>
              </a:defRPr>
            </a:pPr>
            <a:r>
              <a:t>      File tree structure of your workspace</a:t>
            </a:r>
          </a:p>
          <a:p>
            <a:pPr>
              <a:spcBef>
                <a:spcPts val="800"/>
              </a:spcBef>
              <a:spcAft>
                <a:spcPts val="800"/>
              </a:spcAft>
              <a:defRPr sz="2200">
                <a:solidFill>
                  <a:srgbClr val="FFFFFF"/>
                </a:solidFill>
              </a:defRPr>
            </a:pPr>
            <a:r>
              <a:t>      Contents of relevant files (intelligently selected)</a:t>
            </a:r>
          </a:p>
          <a:p>
            <a:pPr>
              <a:spcBef>
                <a:spcPts val="800"/>
              </a:spcBef>
              <a:spcAft>
                <a:spcPts val="800"/>
              </a:spcAft>
              <a:defRPr sz="2200">
                <a:solidFill>
                  <a:srgbClr val="FFFFFF"/>
                </a:solidFill>
              </a:defRPr>
            </a:pPr>
            <a:r>
              <a:t>      Git history and current branch state</a:t>
            </a:r>
          </a:p>
          <a:p>
            <a:pPr>
              <a:spcBef>
                <a:spcPts val="800"/>
              </a:spcBef>
              <a:spcAft>
                <a:spcPts val="800"/>
              </a:spcAft>
              <a:defRPr sz="2200">
                <a:solidFill>
                  <a:srgbClr val="FFFFFF"/>
                </a:solidFill>
              </a:defRPr>
            </a:pPr>
            <a:r>
              <a:t>      CLAUDE.md configuration if present</a:t>
            </a:r>
          </a:p>
          <a:p>
            <a:pPr>
              <a:spcBef>
                <a:spcPts val="800"/>
              </a:spcBef>
              <a:spcAft>
                <a:spcPts val="800"/>
              </a:spcAft>
              <a:defRPr sz="2200">
                <a:solidFill>
                  <a:srgbClr val="FFFFFF"/>
                </a:solidFill>
              </a:defRPr>
            </a:pPr>
            <a:r>
              <a:t>      Your instruction and any @-mentioned files</a:t>
            </a:r>
          </a:p>
          <a:p>
            <a:pPr>
              <a:spcBef>
                <a:spcPts val="800"/>
              </a:spcBef>
              <a:spcAft>
                <a:spcPts val="800"/>
              </a:spcAft>
              <a:defRPr sz="2200">
                <a:solidFill>
                  <a:srgbClr val="FFFFFF"/>
                </a:solidFill>
              </a:defRPr>
            </a:pPr>
            <a:r>
              <a:t>  Context Window</a:t>
            </a:r>
          </a:p>
          <a:p>
            <a:pPr>
              <a:spcBef>
                <a:spcPts val="800"/>
              </a:spcBef>
              <a:spcAft>
                <a:spcPts val="800"/>
              </a:spcAft>
              <a:defRPr sz="2200">
                <a:solidFill>
                  <a:srgbClr val="FFFFFF"/>
                </a:solidFill>
              </a:defRPr>
            </a:pPr>
            <a:r>
              <a:t>      200,000 token context window (roughly 150,000 words)</a:t>
            </a:r>
          </a:p>
          <a:p>
            <a:pPr>
              <a:spcBef>
                <a:spcPts val="800"/>
              </a:spcBef>
              <a:spcAft>
                <a:spcPts val="800"/>
              </a:spcAft>
              <a:defRPr sz="2200">
                <a:solidFill>
                  <a:srgbClr val="FFFFFF"/>
                </a:solidFill>
              </a:defRPr>
            </a:pPr>
            <a:r>
              <a:t>      Can hold dozens of files simultaneously</a:t>
            </a:r>
          </a:p>
          <a:p>
            <a:pPr>
              <a:spcBef>
                <a:spcPts val="800"/>
              </a:spcBef>
              <a:spcAft>
                <a:spcPts val="800"/>
              </a:spcAft>
              <a:defRPr sz="2200">
                <a:solidFill>
                  <a:srgbClr val="FFFFFF"/>
                </a:solidFill>
              </a:defRPr>
            </a:pPr>
            <a:r>
              <a:t>      Prioritizes files based on relevance to your request</a:t>
            </a:r>
          </a:p>
          <a:p>
            <a:pPr>
              <a:spcBef>
                <a:spcPts val="800"/>
              </a:spcBef>
              <a:spcAft>
                <a:spcPts val="800"/>
              </a:spcAft>
              <a:defRPr sz="2200">
                <a:solidFill>
                  <a:srgbClr val="FFFFFF"/>
                </a:solidFill>
              </a:defRPr>
            </a:pPr>
            <a:r>
              <a:t>      Automatically excludes .claudeignore patterns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2: Analyze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What Gets Analyzed</a:t>
            </a:r>
          </a:p>
          <a:p>
            <a:pPr>
              <a:spcBef>
                <a:spcPts val="800"/>
              </a:spcBef>
              <a:spcAft>
                <a:spcPts val="800"/>
              </a:spcAft>
              <a:defRPr sz="2200">
                <a:solidFill>
                  <a:srgbClr val="FFFFFF"/>
                </a:solidFill>
              </a:defRPr>
            </a:pPr>
            <a:r>
              <a:t>      Code patterns and conventions (naming, structure, style)</a:t>
            </a:r>
          </a:p>
          <a:p>
            <a:pPr>
              <a:spcBef>
                <a:spcPts val="800"/>
              </a:spcBef>
              <a:spcAft>
                <a:spcPts val="800"/>
              </a:spcAft>
              <a:defRPr sz="2200">
                <a:solidFill>
                  <a:srgbClr val="FFFFFF"/>
                </a:solidFill>
              </a:defRPr>
            </a:pPr>
            <a:r>
              <a:t>      Dependencies between files and modules</a:t>
            </a:r>
          </a:p>
          <a:p>
            <a:pPr>
              <a:spcBef>
                <a:spcPts val="800"/>
              </a:spcBef>
              <a:spcAft>
                <a:spcPts val="800"/>
              </a:spcAft>
              <a:defRPr sz="2200">
                <a:solidFill>
                  <a:srgbClr val="FFFFFF"/>
                </a:solidFill>
              </a:defRPr>
            </a:pPr>
            <a:r>
              <a:t>      Existing test coverage and patterns</a:t>
            </a:r>
          </a:p>
          <a:p>
            <a:pPr>
              <a:spcBef>
                <a:spcPts val="800"/>
              </a:spcBef>
              <a:spcAft>
                <a:spcPts val="800"/>
              </a:spcAft>
              <a:defRPr sz="2200">
                <a:solidFill>
                  <a:srgbClr val="FFFFFF"/>
                </a:solidFill>
              </a:defRPr>
            </a:pPr>
            <a:r>
              <a:t>      Potential impact areas of requested changes</a:t>
            </a:r>
          </a:p>
          <a:p>
            <a:pPr>
              <a:spcBef>
                <a:spcPts val="800"/>
              </a:spcBef>
              <a:spcAft>
                <a:spcPts val="800"/>
              </a:spcAft>
              <a:defRPr sz="2200">
                <a:solidFill>
                  <a:srgbClr val="FFFFFF"/>
                </a:solidFill>
              </a:defRPr>
            </a:pPr>
            <a:r>
              <a:t>      Risk factors (breaking changes, edge cases)</a:t>
            </a:r>
          </a:p>
          <a:p>
            <a:pPr>
              <a:spcBef>
                <a:spcPts val="800"/>
              </a:spcBef>
              <a:spcAft>
                <a:spcPts val="800"/>
              </a:spcAft>
              <a:defRPr sz="2200">
                <a:solidFill>
                  <a:srgbClr val="FFFFFF"/>
                </a:solidFill>
              </a:defRPr>
            </a:pPr>
            <a:r>
              <a:t>  Mental Model Formation</a:t>
            </a:r>
          </a:p>
          <a:p>
            <a:pPr>
              <a:spcBef>
                <a:spcPts val="800"/>
              </a:spcBef>
              <a:spcAft>
                <a:spcPts val="800"/>
              </a:spcAft>
              <a:defRPr sz="2200">
                <a:solidFill>
                  <a:srgbClr val="FFFFFF"/>
                </a:solidFill>
              </a:defRPr>
            </a:pPr>
            <a:r>
              <a:t>      Understanding project architecture</a:t>
            </a:r>
          </a:p>
          <a:p>
            <a:pPr>
              <a:spcBef>
                <a:spcPts val="800"/>
              </a:spcBef>
              <a:spcAft>
                <a:spcPts val="800"/>
              </a:spcAft>
              <a:defRPr sz="2200">
                <a:solidFill>
                  <a:srgbClr val="FFFFFF"/>
                </a:solidFill>
              </a:defRPr>
            </a:pPr>
            <a:r>
              <a:t>      Identifying established patterns to follow</a:t>
            </a:r>
          </a:p>
          <a:p>
            <a:pPr>
              <a:spcBef>
                <a:spcPts val="800"/>
              </a:spcBef>
              <a:spcAft>
                <a:spcPts val="800"/>
              </a:spcAft>
              <a:defRPr sz="2200">
                <a:solidFill>
                  <a:srgbClr val="FFFFFF"/>
                </a:solidFill>
              </a:defRPr>
            </a:pPr>
            <a:r>
              <a:t>      Spotting inconsistencies or anti-patterns</a:t>
            </a:r>
          </a:p>
          <a:p>
            <a:pPr>
              <a:spcBef>
                <a:spcPts val="800"/>
              </a:spcBef>
              <a:spcAft>
                <a:spcPts val="800"/>
              </a:spcAft>
              <a:defRPr sz="2200">
                <a:solidFill>
                  <a:srgbClr val="FFFFFF"/>
                </a:solidFill>
              </a:defRPr>
            </a:pPr>
            <a:r>
              <a:t>      Evaluating multiple approaches to the task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3: Plan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Planning Strategy</a:t>
            </a:r>
          </a:p>
          <a:p>
            <a:pPr>
              <a:spcBef>
                <a:spcPts val="800"/>
              </a:spcBef>
              <a:spcAft>
                <a:spcPts val="800"/>
              </a:spcAft>
              <a:defRPr sz="2200">
                <a:solidFill>
                  <a:srgbClr val="FFFFFF"/>
                </a:solidFill>
              </a:defRPr>
            </a:pPr>
            <a:r>
              <a:t>      Sequence of actions to achieve the goal</a:t>
            </a:r>
          </a:p>
          <a:p>
            <a:pPr>
              <a:spcBef>
                <a:spcPts val="800"/>
              </a:spcBef>
              <a:spcAft>
                <a:spcPts val="800"/>
              </a:spcAft>
              <a:defRPr sz="2200">
                <a:solidFill>
                  <a:srgbClr val="FFFFFF"/>
                </a:solidFill>
              </a:defRPr>
            </a:pPr>
            <a:r>
              <a:t>      Which files to modify and in what order</a:t>
            </a:r>
          </a:p>
          <a:p>
            <a:pPr>
              <a:spcBef>
                <a:spcPts val="800"/>
              </a:spcBef>
              <a:spcAft>
                <a:spcPts val="800"/>
              </a:spcAft>
              <a:defRPr sz="2200">
                <a:solidFill>
                  <a:srgbClr val="FFFFFF"/>
                </a:solidFill>
              </a:defRPr>
            </a:pPr>
            <a:r>
              <a:t>      Which tools to use (read, write, edit, run_command)</a:t>
            </a:r>
          </a:p>
          <a:p>
            <a:pPr>
              <a:spcBef>
                <a:spcPts val="800"/>
              </a:spcBef>
              <a:spcAft>
                <a:spcPts val="800"/>
              </a:spcAft>
              <a:defRPr sz="2200">
                <a:solidFill>
                  <a:srgbClr val="FFFFFF"/>
                </a:solidFill>
              </a:defRPr>
            </a:pPr>
            <a:r>
              <a:t>      Rollback strategy if something fails</a:t>
            </a:r>
          </a:p>
          <a:p>
            <a:pPr>
              <a:spcBef>
                <a:spcPts val="800"/>
              </a:spcBef>
              <a:spcAft>
                <a:spcPts val="800"/>
              </a:spcAft>
              <a:defRPr sz="2200">
                <a:solidFill>
                  <a:srgbClr val="FFFFFF"/>
                </a:solidFill>
              </a:defRPr>
            </a:pPr>
            <a:r>
              <a:t>      Testing and verification steps</a:t>
            </a:r>
          </a:p>
          <a:p>
            <a:pPr>
              <a:spcBef>
                <a:spcPts val="800"/>
              </a:spcBef>
              <a:spcAft>
                <a:spcPts val="800"/>
              </a:spcAft>
              <a:defRPr sz="2200">
                <a:solidFill>
                  <a:srgbClr val="FFFFFF"/>
                </a:solidFill>
              </a:defRPr>
            </a:pPr>
            <a:r>
              <a:t>  Risk Minimization</a:t>
            </a:r>
          </a:p>
          <a:p>
            <a:pPr>
              <a:spcBef>
                <a:spcPts val="800"/>
              </a:spcBef>
              <a:spcAft>
                <a:spcPts val="800"/>
              </a:spcAft>
              <a:defRPr sz="2200">
                <a:solidFill>
                  <a:srgbClr val="FFFFFF"/>
                </a:solidFill>
              </a:defRPr>
            </a:pPr>
            <a:r>
              <a:t>      Start with safest changes first (tests, docs)</a:t>
            </a:r>
          </a:p>
          <a:p>
            <a:pPr>
              <a:spcBef>
                <a:spcPts val="800"/>
              </a:spcBef>
              <a:spcAft>
                <a:spcPts val="800"/>
              </a:spcAft>
              <a:defRPr sz="2200">
                <a:solidFill>
                  <a:srgbClr val="FFFFFF"/>
                </a:solidFill>
              </a:defRPr>
            </a:pPr>
            <a:r>
              <a:t>      Make atomic changes that can be easily reverted</a:t>
            </a:r>
          </a:p>
          <a:p>
            <a:pPr>
              <a:spcBef>
                <a:spcPts val="800"/>
              </a:spcBef>
              <a:spcAft>
                <a:spcPts val="800"/>
              </a:spcAft>
              <a:defRPr sz="2200">
                <a:solidFill>
                  <a:srgbClr val="FFFFFF"/>
                </a:solidFill>
              </a:defRPr>
            </a:pPr>
            <a:r>
              <a:t>      Verify each step before proceeding to next</a:t>
            </a:r>
          </a:p>
          <a:p>
            <a:pPr>
              <a:spcBef>
                <a:spcPts val="800"/>
              </a:spcBef>
              <a:spcAft>
                <a:spcPts val="800"/>
              </a:spcAft>
              <a:defRPr sz="2200">
                <a:solidFill>
                  <a:srgbClr val="FFFFFF"/>
                </a:solidFill>
              </a:defRPr>
            </a:pPr>
            <a:r>
              <a:t>      Preserve existing functionality while adding new features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4: Execute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Available Tools</a:t>
            </a:r>
          </a:p>
          <a:p>
            <a:pPr>
              <a:spcBef>
                <a:spcPts val="800"/>
              </a:spcBef>
              <a:spcAft>
                <a:spcPts val="800"/>
              </a:spcAft>
              <a:defRPr sz="2200">
                <a:solidFill>
                  <a:srgbClr val="FFFFFF"/>
                </a:solidFill>
              </a:defRPr>
            </a:pPr>
            <a:r>
              <a:t>      **read_file**: Read contents of specific files</a:t>
            </a:r>
          </a:p>
          <a:p>
            <a:pPr>
              <a:spcBef>
                <a:spcPts val="800"/>
              </a:spcBef>
              <a:spcAft>
                <a:spcPts val="800"/>
              </a:spcAft>
              <a:defRPr sz="2200">
                <a:solidFill>
                  <a:srgbClr val="FFFFFF"/>
                </a:solidFill>
              </a:defRPr>
            </a:pPr>
            <a:r>
              <a:t>      **write_file**: Create new files with content</a:t>
            </a:r>
          </a:p>
          <a:p>
            <a:pPr>
              <a:spcBef>
                <a:spcPts val="800"/>
              </a:spcBef>
              <a:spcAft>
                <a:spcPts val="800"/>
              </a:spcAft>
              <a:defRPr sz="2200">
                <a:solidFill>
                  <a:srgbClr val="FFFFFF"/>
                </a:solidFill>
              </a:defRPr>
            </a:pPr>
            <a:r>
              <a:t>      **edit_file**: Make precise edits to existing files</a:t>
            </a:r>
          </a:p>
          <a:p>
            <a:pPr>
              <a:spcBef>
                <a:spcPts val="800"/>
              </a:spcBef>
              <a:spcAft>
                <a:spcPts val="800"/>
              </a:spcAft>
              <a:defRPr sz="2200">
                <a:solidFill>
                  <a:srgbClr val="FFFFFF"/>
                </a:solidFill>
              </a:defRPr>
            </a:pPr>
            <a:r>
              <a:t>      **run_command**: Execute shell commands (tests, linters, git)</a:t>
            </a:r>
          </a:p>
          <a:p>
            <a:pPr>
              <a:spcBef>
                <a:spcPts val="800"/>
              </a:spcBef>
              <a:spcAft>
                <a:spcPts val="800"/>
              </a:spcAft>
              <a:defRPr sz="2200">
                <a:solidFill>
                  <a:srgbClr val="FFFFFF"/>
                </a:solidFill>
              </a:defRPr>
            </a:pPr>
            <a:r>
              <a:t>      **list_dir**: Explore directory structure</a:t>
            </a:r>
          </a:p>
          <a:p>
            <a:pPr>
              <a:spcBef>
                <a:spcPts val="800"/>
              </a:spcBef>
              <a:spcAft>
                <a:spcPts val="800"/>
              </a:spcAft>
              <a:defRPr sz="2200">
                <a:solidFill>
                  <a:srgbClr val="FFFFFF"/>
                </a:solidFill>
              </a:defRPr>
            </a:pPr>
            <a:r>
              <a:t>  Execution Characteristics</a:t>
            </a:r>
          </a:p>
          <a:p>
            <a:pPr>
              <a:spcBef>
                <a:spcPts val="800"/>
              </a:spcBef>
              <a:spcAft>
                <a:spcPts val="800"/>
              </a:spcAft>
              <a:defRPr sz="2200">
                <a:solidFill>
                  <a:srgbClr val="FFFFFF"/>
                </a:solidFill>
              </a:defRPr>
            </a:pPr>
            <a:r>
              <a:t>      Precise edits using line numbers or search/replace</a:t>
            </a:r>
          </a:p>
          <a:p>
            <a:pPr>
              <a:spcBef>
                <a:spcPts val="800"/>
              </a:spcBef>
              <a:spcAft>
                <a:spcPts val="800"/>
              </a:spcAft>
              <a:defRPr sz="2200">
                <a:solidFill>
                  <a:srgbClr val="FFFFFF"/>
                </a:solidFill>
              </a:defRPr>
            </a:pPr>
            <a:r>
              <a:t>      Atomic file operations (all-or-nothing writes)</a:t>
            </a:r>
          </a:p>
          <a:p>
            <a:pPr>
              <a:spcBef>
                <a:spcPts val="800"/>
              </a:spcBef>
              <a:spcAft>
                <a:spcPts val="800"/>
              </a:spcAft>
              <a:defRPr sz="2200">
                <a:solidFill>
                  <a:srgbClr val="FFFFFF"/>
                </a:solidFill>
              </a:defRPr>
            </a:pPr>
            <a:r>
              <a:t>      Commands run in your project's context</a:t>
            </a:r>
          </a:p>
          <a:p>
            <a:pPr>
              <a:spcBef>
                <a:spcPts val="800"/>
              </a:spcBef>
              <a:spcAft>
                <a:spcPts val="800"/>
              </a:spcAft>
              <a:defRPr sz="2200">
                <a:solidFill>
                  <a:srgbClr val="FFFFFF"/>
                </a:solidFill>
              </a:defRPr>
            </a:pPr>
            <a:r>
              <a:t>      Real-time feedback from command outputs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5: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Verification Methods</a:t>
            </a:r>
          </a:p>
          <a:p>
            <a:pPr>
              <a:spcBef>
                <a:spcPts val="800"/>
              </a:spcBef>
              <a:spcAft>
                <a:spcPts val="800"/>
              </a:spcAft>
              <a:defRPr sz="2200">
                <a:solidFill>
                  <a:srgbClr val="FFFFFF"/>
                </a:solidFill>
              </a:defRPr>
            </a:pPr>
            <a:r>
              <a:t>      Running linters and formatters (eslint, black, prettier)</a:t>
            </a:r>
          </a:p>
          <a:p>
            <a:pPr>
              <a:spcBef>
                <a:spcPts val="800"/>
              </a:spcBef>
              <a:spcAft>
                <a:spcPts val="800"/>
              </a:spcAft>
              <a:defRPr sz="2200">
                <a:solidFill>
                  <a:srgbClr val="FFFFFF"/>
                </a:solidFill>
              </a:defRPr>
            </a:pPr>
            <a:r>
              <a:t>      Executing test suites (pytest, jest, go test)</a:t>
            </a:r>
          </a:p>
          <a:p>
            <a:pPr>
              <a:spcBef>
                <a:spcPts val="800"/>
              </a:spcBef>
              <a:spcAft>
                <a:spcPts val="800"/>
              </a:spcAft>
              <a:defRPr sz="2200">
                <a:solidFill>
                  <a:srgbClr val="FFFFFF"/>
                </a:solidFill>
              </a:defRPr>
            </a:pPr>
            <a:r>
              <a:t>      Checking command outputs for errors</a:t>
            </a:r>
          </a:p>
          <a:p>
            <a:pPr>
              <a:spcBef>
                <a:spcPts val="800"/>
              </a:spcBef>
              <a:spcAft>
                <a:spcPts val="800"/>
              </a:spcAft>
              <a:defRPr sz="2200">
                <a:solidFill>
                  <a:srgbClr val="FFFFFF"/>
                </a:solidFill>
              </a:defRPr>
            </a:pPr>
            <a:r>
              <a:t>      Validating file syntax (parsing Python, JavaScript, etc.)</a:t>
            </a:r>
          </a:p>
          <a:p>
            <a:pPr>
              <a:spcBef>
                <a:spcPts val="800"/>
              </a:spcBef>
              <a:spcAft>
                <a:spcPts val="800"/>
              </a:spcAft>
              <a:defRPr sz="2200">
                <a:solidFill>
                  <a:srgbClr val="FFFFFF"/>
                </a:solidFill>
              </a:defRPr>
            </a:pPr>
            <a:r>
              <a:t>      Confirming expected side effects occurred</a:t>
            </a:r>
          </a:p>
          <a:p>
            <a:pPr>
              <a:spcBef>
                <a:spcPts val="800"/>
              </a:spcBef>
              <a:spcAft>
                <a:spcPts val="800"/>
              </a:spcAft>
              <a:defRPr sz="2200">
                <a:solidFill>
                  <a:srgbClr val="FFFFFF"/>
                </a:solidFill>
              </a:defRPr>
            </a:pPr>
            <a:r>
              <a:t>  When Verification Fails</a:t>
            </a:r>
          </a:p>
          <a:p>
            <a:pPr>
              <a:spcBef>
                <a:spcPts val="800"/>
              </a:spcBef>
              <a:spcAft>
                <a:spcPts val="800"/>
              </a:spcAft>
              <a:defRPr sz="2200">
                <a:solidFill>
                  <a:srgbClr val="FFFFFF"/>
                </a:solidFill>
              </a:defRPr>
            </a:pPr>
            <a:r>
              <a:t>      Loop back to Read stage with error output</a:t>
            </a:r>
          </a:p>
          <a:p>
            <a:pPr>
              <a:spcBef>
                <a:spcPts val="800"/>
              </a:spcBef>
              <a:spcAft>
                <a:spcPts val="800"/>
              </a:spcAft>
              <a:defRPr sz="2200">
                <a:solidFill>
                  <a:srgbClr val="FFFFFF"/>
                </a:solidFill>
              </a:defRPr>
            </a:pPr>
            <a:r>
              <a:t>      Re-analyze what went wrong</a:t>
            </a:r>
          </a:p>
          <a:p>
            <a:pPr>
              <a:spcBef>
                <a:spcPts val="800"/>
              </a:spcBef>
              <a:spcAft>
                <a:spcPts val="800"/>
              </a:spcAft>
              <a:defRPr sz="2200">
                <a:solidFill>
                  <a:srgbClr val="FFFFFF"/>
                </a:solidFill>
              </a:defRPr>
            </a:pPr>
            <a:r>
              <a:t>      Plan a fix or alternative approach</a:t>
            </a:r>
          </a:p>
          <a:p>
            <a:pPr>
              <a:spcBef>
                <a:spcPts val="800"/>
              </a:spcBef>
              <a:spcAft>
                <a:spcPts val="800"/>
              </a:spcAft>
              <a:defRPr sz="2200">
                <a:solidFill>
                  <a:srgbClr val="FFFFFF"/>
                </a:solidFill>
              </a:defRPr>
            </a:pPr>
            <a:r>
              <a:t>      Execute the fix</a:t>
            </a:r>
          </a:p>
          <a:p>
            <a:pPr>
              <a:spcBef>
                <a:spcPts val="800"/>
              </a:spcBef>
              <a:spcAft>
                <a:spcPts val="800"/>
              </a:spcAft>
              <a:defRPr sz="2200">
                <a:solidFill>
                  <a:srgbClr val="FFFFFF"/>
                </a:solidFill>
              </a:defRPr>
            </a:pPr>
            <a:r>
              <a:t>      Verify again (loop continues until success)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Small, Frequent, Actionable Output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Problem with Big Prompts</a:t>
            </a:r>
          </a:p>
          <a:p>
            <a:pPr>
              <a:spcBef>
                <a:spcPts val="800"/>
              </a:spcBef>
              <a:spcAft>
                <a:spcPts val="800"/>
              </a:spcAft>
              <a:defRPr sz="2200">
                <a:solidFill>
                  <a:srgbClr val="FFFFFF"/>
                </a:solidFill>
              </a:defRPr>
            </a:pPr>
            <a:r>
              <a:t>      One mega-prompt tries to do everything at once</a:t>
            </a:r>
          </a:p>
          <a:p>
            <a:pPr>
              <a:spcBef>
                <a:spcPts val="800"/>
              </a:spcBef>
              <a:spcAft>
                <a:spcPts val="800"/>
              </a:spcAft>
              <a:defRPr sz="2200">
                <a:solidFill>
                  <a:srgbClr val="FFFFFF"/>
                </a:solidFill>
              </a:defRPr>
            </a:pPr>
            <a:r>
              <a:t>      Fails catastrophically in the middle</a:t>
            </a:r>
          </a:p>
          <a:p>
            <a:pPr>
              <a:spcBef>
                <a:spcPts val="800"/>
              </a:spcBef>
              <a:spcAft>
                <a:spcPts val="800"/>
              </a:spcAft>
              <a:defRPr sz="2200">
                <a:solidFill>
                  <a:srgbClr val="FFFFFF"/>
                </a:solidFill>
              </a:defRPr>
            </a:pPr>
            <a:r>
              <a:t>      Hard to debug where it went wrong</a:t>
            </a:r>
          </a:p>
          <a:p>
            <a:pPr>
              <a:spcBef>
                <a:spcPts val="800"/>
              </a:spcBef>
              <a:spcAft>
                <a:spcPts val="800"/>
              </a:spcAft>
              <a:defRPr sz="2200">
                <a:solidFill>
                  <a:srgbClr val="FFFFFF"/>
                </a:solidFill>
              </a:defRPr>
            </a:pPr>
            <a:r>
              <a:t>      Lost progress, start over from scratch</a:t>
            </a:r>
          </a:p>
          <a:p>
            <a:pPr>
              <a:spcBef>
                <a:spcPts val="800"/>
              </a:spcBef>
              <a:spcAft>
                <a:spcPts val="800"/>
              </a:spcAft>
              <a:defRPr sz="2200">
                <a:solidFill>
                  <a:srgbClr val="FFFFFF"/>
                </a:solidFill>
              </a:defRPr>
            </a:pPr>
            <a:r>
              <a:t>  The Power of Small Steps</a:t>
            </a:r>
          </a:p>
          <a:p>
            <a:pPr>
              <a:spcBef>
                <a:spcPts val="800"/>
              </a:spcBef>
              <a:spcAft>
                <a:spcPts val="800"/>
              </a:spcAft>
              <a:defRPr sz="2200">
                <a:solidFill>
                  <a:srgbClr val="FFFFFF"/>
                </a:solidFill>
              </a:defRPr>
            </a:pPr>
            <a:r>
              <a:t>      Break feature into 5 verifiable steps</a:t>
            </a:r>
          </a:p>
          <a:p>
            <a:pPr>
              <a:spcBef>
                <a:spcPts val="800"/>
              </a:spcBef>
              <a:spcAft>
                <a:spcPts val="800"/>
              </a:spcAft>
              <a:defRPr sz="2200">
                <a:solidFill>
                  <a:srgbClr val="FFFFFF"/>
                </a:solidFill>
              </a:defRPr>
            </a:pPr>
            <a:r>
              <a:t>      Each step = concrete, testable output</a:t>
            </a:r>
          </a:p>
          <a:p>
            <a:pPr>
              <a:spcBef>
                <a:spcPts val="800"/>
              </a:spcBef>
              <a:spcAft>
                <a:spcPts val="800"/>
              </a:spcAft>
              <a:defRPr sz="2200">
                <a:solidFill>
                  <a:srgbClr val="FFFFFF"/>
                </a:solidFill>
              </a:defRPr>
            </a:pPr>
            <a:r>
              <a:t>      Failure happens early, easy to fix</a:t>
            </a:r>
          </a:p>
          <a:p>
            <a:pPr>
              <a:spcBef>
                <a:spcPts val="800"/>
              </a:spcBef>
              <a:spcAft>
                <a:spcPts val="800"/>
              </a:spcAft>
              <a:defRPr sz="2200">
                <a:solidFill>
                  <a:srgbClr val="FFFFFF"/>
                </a:solidFill>
              </a:defRPr>
            </a:pPr>
            <a:r>
              <a:t>      Progress is saved at each checkpoint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Common Failures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Recovery Strategies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Project: E-Commerce API\n\n## Description\nREST API for online store. FastAPI + PostgreSQL + Redis.\n\n## Code Conventions\n- Python 3.11, PEP 8 style\n- Use type hints for all functions\n- Async/await for all database calls\n- Snake_case for functions, PascalCase for classes\n\n## Testing\n- Write pytest tests for all new endpoints\n- Aim for 80%+ coverage\n- Tests go in tests/ matching source structure\n\n## Tools Available\n- pytest, black, mypy, ruff\n- Database: docker-compose up db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Prefer Routing Over Organizing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Over-Organized (Fragile)</a:t>
            </a:r>
          </a:p>
          <a:p>
            <a:pPr>
              <a:spcBef>
                <a:spcPts val="800"/>
              </a:spcBef>
              <a:spcAft>
                <a:spcPts val="800"/>
              </a:spcAft>
              <a:defRPr sz="2200">
                <a:solidFill>
                  <a:srgbClr val="FFFFFF"/>
                </a:solidFill>
              </a:defRPr>
            </a:pPr>
            <a:r>
              <a:t>      Deep folder hierarchies: /src/api/v1/endpoints/user/profile/settings/</a:t>
            </a:r>
          </a:p>
          <a:p>
            <a:pPr>
              <a:spcBef>
                <a:spcPts val="800"/>
              </a:spcBef>
              <a:spcAft>
                <a:spcPts val="800"/>
              </a:spcAft>
              <a:defRPr sz="2200">
                <a:solidFill>
                  <a:srgbClr val="FFFFFF"/>
                </a:solidFill>
              </a:defRPr>
            </a:pPr>
            <a:r>
              <a:t>      Many small files scattered across tree</a:t>
            </a:r>
          </a:p>
          <a:p>
            <a:pPr>
              <a:spcBef>
                <a:spcPts val="800"/>
              </a:spcBef>
              <a:spcAft>
                <a:spcPts val="800"/>
              </a:spcAft>
              <a:defRPr sz="2200">
                <a:solidFill>
                  <a:srgbClr val="FFFFFF"/>
                </a:solidFill>
              </a:defRPr>
            </a:pPr>
            <a:r>
              <a:t>      Hard to navigate, easy to lose context</a:t>
            </a:r>
          </a:p>
          <a:p>
            <a:pPr>
              <a:spcBef>
                <a:spcPts val="800"/>
              </a:spcBef>
              <a:spcAft>
                <a:spcPts val="800"/>
              </a:spcAft>
              <a:defRPr sz="2200">
                <a:solidFill>
                  <a:srgbClr val="FFFFFF"/>
                </a:solidFill>
              </a:defRPr>
            </a:pPr>
            <a:r>
              <a:t>      Refactoring = moving dozens of files</a:t>
            </a:r>
          </a:p>
          <a:p>
            <a:pPr>
              <a:spcBef>
                <a:spcPts val="800"/>
              </a:spcBef>
              <a:spcAft>
                <a:spcPts val="800"/>
              </a:spcAft>
              <a:defRPr sz="2200">
                <a:solidFill>
                  <a:srgbClr val="FFFFFF"/>
                </a:solidFill>
              </a:defRPr>
            </a:pPr>
            <a:r>
              <a:t>  Convention-Routed (Robust)</a:t>
            </a:r>
          </a:p>
          <a:p>
            <a:pPr>
              <a:spcBef>
                <a:spcPts val="800"/>
              </a:spcBef>
              <a:spcAft>
                <a:spcPts val="800"/>
              </a:spcAft>
              <a:defRPr sz="2200">
                <a:solidFill>
                  <a:srgbClr val="FFFFFF"/>
                </a:solidFill>
              </a:defRPr>
            </a:pPr>
            <a:r>
              <a:t>      Flat or shallow structure: /src/endpoints/</a:t>
            </a:r>
          </a:p>
          <a:p>
            <a:pPr>
              <a:spcBef>
                <a:spcPts val="800"/>
              </a:spcBef>
              <a:spcAft>
                <a:spcPts val="800"/>
              </a:spcAft>
              <a:defRPr sz="2200">
                <a:solidFill>
                  <a:srgbClr val="FFFFFF"/>
                </a:solidFill>
              </a:defRPr>
            </a:pPr>
            <a:r>
              <a:t>      File naming encodes purpose: user_profile_api.py, user_settings_api.py</a:t>
            </a:r>
          </a:p>
          <a:p>
            <a:pPr>
              <a:spcBef>
                <a:spcPts val="800"/>
              </a:spcBef>
              <a:spcAft>
                <a:spcPts val="800"/>
              </a:spcAft>
              <a:defRPr sz="2200">
                <a:solidFill>
                  <a:srgbClr val="FFFFFF"/>
                </a:solidFill>
              </a:defRPr>
            </a:pPr>
            <a:r>
              <a:t>      Easy to scan, context clear from names</a:t>
            </a:r>
          </a:p>
          <a:p>
            <a:pPr>
              <a:spcBef>
                <a:spcPts val="800"/>
              </a:spcBef>
              <a:spcAft>
                <a:spcPts val="800"/>
              </a:spcAft>
              <a:defRPr sz="2200">
                <a:solidFill>
                  <a:srgbClr val="FFFFFF"/>
                </a:solidFill>
              </a:defRPr>
            </a:pPr>
            <a:r>
              <a:t>      Refactoring = renaming files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Team Settings &amp; Style Guides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Mentioning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Folders, URLs, Git Commits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How Claude Code Reads Your Workspace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What's in Context Right 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Fills Context</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How to Minimize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place in project root\n\n# Dependencies\nnode_modules/\nvenv/\n\n# Build outputs\ndist/\nbuild/\n\n# Media\n*.jpg\n*.png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Managing Large Codebases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Chunking Strategy</a:t>
            </a:r>
          </a:p>
          <a:p>
            <a:pPr>
              <a:spcBef>
                <a:spcPts val="800"/>
              </a:spcBef>
              <a:spcAft>
                <a:spcPts val="800"/>
              </a:spcAft>
              <a:defRPr sz="2200">
                <a:solidFill>
                  <a:srgbClr val="FFFFFF"/>
                </a:solidFill>
              </a:defRPr>
            </a:pPr>
            <a:r>
              <a:t>      Work on one module at a time</a:t>
            </a:r>
          </a:p>
          <a:p>
            <a:pPr>
              <a:spcBef>
                <a:spcPts val="800"/>
              </a:spcBef>
              <a:spcAft>
                <a:spcPts val="800"/>
              </a:spcAft>
              <a:defRPr sz="2200">
                <a:solidFill>
                  <a:srgbClr val="FFFFFF"/>
                </a:solidFill>
              </a:defRPr>
            </a:pPr>
            <a:r>
              <a:t>      Complete and verify before moving to next</a:t>
            </a:r>
          </a:p>
          <a:p>
            <a:pPr>
              <a:spcBef>
                <a:spcPts val="800"/>
              </a:spcBef>
              <a:spcAft>
                <a:spcPts val="800"/>
              </a:spcAft>
              <a:defRPr sz="2200">
                <a:solidFill>
                  <a:srgbClr val="FFFFFF"/>
                </a:solidFill>
              </a:defRPr>
            </a:pPr>
            <a:r>
              <a:t>  Fresh Sessions</a:t>
            </a:r>
          </a:p>
          <a:p>
            <a:pPr>
              <a:spcBef>
                <a:spcPts val="800"/>
              </a:spcBef>
              <a:spcAft>
                <a:spcPts val="800"/>
              </a:spcAft>
              <a:defRPr sz="2200">
                <a:solidFill>
                  <a:srgbClr val="FFFFFF"/>
                </a:solidFill>
              </a:defRPr>
            </a:pPr>
            <a:r>
              <a:t>      /clear between distinct tasks</a:t>
            </a:r>
          </a:p>
          <a:p>
            <a:pPr>
              <a:spcBef>
                <a:spcPts val="800"/>
              </a:spcBef>
              <a:spcAft>
                <a:spcPts val="800"/>
              </a:spcAft>
              <a:defRPr sz="2200">
                <a:solidFill>
                  <a:srgbClr val="FFFFFF"/>
                </a:solidFill>
              </a:defRPr>
            </a:pPr>
            <a:r>
              <a:t>      Start new session for unrelated work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 Management</a:t>
            </a:r>
          </a:p>
          <a:p>
            <a:pPr>
              <a:spcBef>
                <a:spcPts val="800"/>
              </a:spcBef>
              <a:spcAft>
                <a:spcPts val="800"/>
              </a:spcAft>
              <a:defRPr sz="2200">
                <a:solidFill>
                  <a:srgbClr val="FFFFFF"/>
                </a:solidFill>
              </a:defRPr>
            </a:pPr>
            <a:r>
              <a:t>      /init - Start fresh session</a:t>
            </a:r>
          </a:p>
          <a:p>
            <a:pPr>
              <a:spcBef>
                <a:spcPts val="800"/>
              </a:spcBef>
              <a:spcAft>
                <a:spcPts val="800"/>
              </a:spcAft>
              <a:defRPr sz="2200">
                <a:solidFill>
                  <a:srgbClr val="FFFFFF"/>
                </a:solidFill>
              </a:defRPr>
            </a:pPr>
            <a:r>
              <a:t>      /clear - Clear history</a:t>
            </a:r>
          </a:p>
          <a:p>
            <a:pPr>
              <a:spcBef>
                <a:spcPts val="800"/>
              </a:spcBef>
              <a:spcAft>
                <a:spcPts val="800"/>
              </a:spcAft>
              <a:defRPr sz="2200">
                <a:solidFill>
                  <a:srgbClr val="FFFFFF"/>
                </a:solidFill>
              </a:defRPr>
            </a:pPr>
            <a:r>
              <a:t>      /compact - Summarize conversation</a:t>
            </a:r>
          </a:p>
          <a:p>
            <a:pPr>
              <a:spcBef>
                <a:spcPts val="800"/>
              </a:spcBef>
              <a:spcAft>
                <a:spcPts val="800"/>
              </a:spcAft>
              <a:defRPr sz="2200">
                <a:solidFill>
                  <a:srgbClr val="FFFFFF"/>
                </a:solidFill>
              </a:defRPr>
            </a:pPr>
            <a:r>
              <a:t>  Model &amp; Output</a:t>
            </a:r>
          </a:p>
          <a:p>
            <a:pPr>
              <a:spcBef>
                <a:spcPts val="800"/>
              </a:spcBef>
              <a:spcAft>
                <a:spcPts val="800"/>
              </a:spcAft>
              <a:defRPr sz="2200">
                <a:solidFill>
                  <a:srgbClr val="FFFFFF"/>
                </a:solidFill>
              </a:defRPr>
            </a:pPr>
            <a:r>
              <a:t>      /model - Switch models</a:t>
            </a:r>
          </a:p>
          <a:p>
            <a:pPr>
              <a:spcBef>
                <a:spcPts val="800"/>
              </a:spcBef>
              <a:spcAft>
                <a:spcPts val="800"/>
              </a:spcAft>
              <a:defRPr sz="2200">
                <a:solidFill>
                  <a:srgbClr val="FFFFFF"/>
                </a:solidFill>
              </a:defRPr>
            </a:pPr>
            <a:r>
              <a:t>      /thinking - Toggle reasoning</a:t>
            </a:r>
          </a:p>
          <a:p>
            <a:pPr>
              <a:spcBef>
                <a:spcPts val="800"/>
              </a:spcBef>
              <a:spcAft>
                <a:spcPts val="800"/>
              </a:spcAft>
              <a:defRPr sz="2200">
                <a:solidFill>
                  <a:srgbClr val="FFFFFF"/>
                </a:solidFill>
              </a:defRPr>
            </a:pPr>
            <a:r>
              <a:t>      /cost - Show token usage</a:t>
            </a:r>
          </a:p>
          <a:p>
            <a:pPr>
              <a:spcBef>
                <a:spcPts val="800"/>
              </a:spcBef>
              <a:spcAft>
                <a:spcPts val="800"/>
              </a:spcAft>
              <a:defRPr sz="2200">
                <a:solidFill>
                  <a:srgbClr val="FFFFFF"/>
                </a:solidFill>
              </a:defRPr>
            </a:pPr>
            <a:r>
              <a:t>  Permissions</a:t>
            </a:r>
          </a:p>
          <a:p>
            <a:pPr>
              <a:spcBef>
                <a:spcPts val="800"/>
              </a:spcBef>
              <a:spcAft>
                <a:spcPts val="800"/>
              </a:spcAft>
              <a:defRPr sz="2200">
                <a:solidFill>
                  <a:srgbClr val="FFFFFF"/>
                </a:solidFill>
              </a:defRPr>
            </a:pPr>
            <a:r>
              <a:t>      /permissions - View/change level</a:t>
            </a:r>
          </a:p>
          <a:p>
            <a:pPr>
              <a:spcBef>
                <a:spcPts val="800"/>
              </a:spcBef>
              <a:spcAft>
                <a:spcPts val="800"/>
              </a:spcAft>
              <a:defRPr sz="2200">
                <a:solidFill>
                  <a:srgbClr val="FFFFFF"/>
                </a:solidFill>
              </a:defRPr>
            </a:pPr>
            <a:r>
              <a:t>      /allowed-tools - List enabled tools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Session Management: /init, /clear, /compact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/init</a:t>
            </a:r>
          </a:p>
          <a:p>
            <a:pPr>
              <a:spcBef>
                <a:spcPts val="800"/>
              </a:spcBef>
              <a:spcAft>
                <a:spcPts val="800"/>
              </a:spcAft>
              <a:defRPr sz="2200">
                <a:solidFill>
                  <a:srgbClr val="FFFFFF"/>
                </a:solidFill>
              </a:defRPr>
            </a:pPr>
            <a:r>
              <a:t>      Starts completely fresh session</a:t>
            </a:r>
          </a:p>
          <a:p>
            <a:pPr>
              <a:spcBef>
                <a:spcPts val="800"/>
              </a:spcBef>
              <a:spcAft>
                <a:spcPts val="800"/>
              </a:spcAft>
              <a:defRPr sz="2200">
                <a:solidFill>
                  <a:srgbClr val="FFFFFF"/>
                </a:solidFill>
              </a:defRPr>
            </a:pPr>
            <a:r>
              <a:t>      Clears all context and history</a:t>
            </a:r>
          </a:p>
          <a:p>
            <a:pPr>
              <a:spcBef>
                <a:spcPts val="800"/>
              </a:spcBef>
              <a:spcAft>
                <a:spcPts val="800"/>
              </a:spcAft>
              <a:defRPr sz="2200">
                <a:solidFill>
                  <a:srgbClr val="FFFFFF"/>
                </a:solidFill>
              </a:defRPr>
            </a:pPr>
            <a:r>
              <a:t>  /clear</a:t>
            </a:r>
          </a:p>
          <a:p>
            <a:pPr>
              <a:spcBef>
                <a:spcPts val="800"/>
              </a:spcBef>
              <a:spcAft>
                <a:spcPts val="800"/>
              </a:spcAft>
              <a:defRPr sz="2200">
                <a:solidFill>
                  <a:srgbClr val="FFFFFF"/>
                </a:solidFill>
              </a:defRPr>
            </a:pPr>
            <a:r>
              <a:t>      Clears conversation history</a:t>
            </a:r>
          </a:p>
          <a:p>
            <a:pPr>
              <a:spcBef>
                <a:spcPts val="800"/>
              </a:spcBef>
              <a:spcAft>
                <a:spcPts val="800"/>
              </a:spcAft>
              <a:defRPr sz="2200">
                <a:solidFill>
                  <a:srgbClr val="FFFFFF"/>
                </a:solidFill>
              </a:defRPr>
            </a:pPr>
            <a:r>
              <a:t>      Keeps CLAUDE.md and file tree</a:t>
            </a:r>
          </a:p>
          <a:p>
            <a:pPr>
              <a:spcBef>
                <a:spcPts val="800"/>
              </a:spcBef>
              <a:spcAft>
                <a:spcPts val="800"/>
              </a:spcAft>
              <a:defRPr sz="2200">
                <a:solidFill>
                  <a:srgbClr val="FFFFFF"/>
                </a:solidFill>
              </a:defRPr>
            </a:pPr>
            <a:r>
              <a:t>  /compact</a:t>
            </a:r>
          </a:p>
          <a:p>
            <a:pPr>
              <a:spcBef>
                <a:spcPts val="800"/>
              </a:spcBef>
              <a:spcAft>
                <a:spcPts val="800"/>
              </a:spcAft>
              <a:defRPr sz="2200">
                <a:solidFill>
                  <a:srgbClr val="FFFFFF"/>
                </a:solidFill>
              </a:defRPr>
            </a:pPr>
            <a:r>
              <a:t>      Summarizes conversation</a:t>
            </a:r>
          </a:p>
          <a:p>
            <a:pPr>
              <a:spcBef>
                <a:spcPts val="800"/>
              </a:spcBef>
              <a:spcAft>
                <a:spcPts val="800"/>
              </a:spcAft>
              <a:defRPr sz="2200">
                <a:solidFill>
                  <a:srgbClr val="FFFFFF"/>
                </a:solidFill>
              </a:defRPr>
            </a:pPr>
            <a:r>
              <a:t>      Reduces token usage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Model Control: /model,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a:t>
            </a:r>
          </a:p>
          <a:p>
            <a:pPr>
              <a:spcBef>
                <a:spcPts val="800"/>
              </a:spcBef>
              <a:spcAft>
                <a:spcPts val="800"/>
              </a:spcAft>
              <a:defRPr sz="2200">
                <a:solidFill>
                  <a:srgbClr val="FFFFFF"/>
                </a:solidFill>
              </a:defRPr>
            </a:pPr>
            <a:r>
              <a:t>      Switch models mid-session</a:t>
            </a:r>
          </a:p>
          <a:p>
            <a:pPr>
              <a:spcBef>
                <a:spcPts val="800"/>
              </a:spcBef>
              <a:spcAft>
                <a:spcPts val="800"/>
              </a:spcAft>
              <a:defRPr sz="2200">
                <a:solidFill>
                  <a:srgbClr val="FFFFFF"/>
                </a:solidFill>
              </a:defRPr>
            </a:pPr>
            <a:r>
              <a:t>      Each model has different tradeoffs</a:t>
            </a:r>
          </a:p>
          <a:p>
            <a:pPr>
              <a:spcBef>
                <a:spcPts val="800"/>
              </a:spcBef>
              <a:spcAft>
                <a:spcPts val="800"/>
              </a:spcAft>
              <a:defRPr sz="2200">
                <a:solidFill>
                  <a:srgbClr val="FFFFFF"/>
                </a:solidFill>
              </a:defRPr>
            </a:pPr>
            <a:r>
              <a:t>      Change affects current session only</a:t>
            </a:r>
          </a:p>
          <a:p>
            <a:pPr>
              <a:spcBef>
                <a:spcPts val="800"/>
              </a:spcBef>
              <a:spcAft>
                <a:spcPts val="800"/>
              </a:spcAft>
              <a:defRPr sz="2200">
                <a:solidFill>
                  <a:srgbClr val="FFFFFF"/>
                </a:solidFill>
              </a:defRPr>
            </a:pPr>
            <a:r>
              <a:t>  /thinking</a:t>
            </a:r>
          </a:p>
          <a:p>
            <a:pPr>
              <a:spcBef>
                <a:spcPts val="800"/>
              </a:spcBef>
              <a:spcAft>
                <a:spcPts val="800"/>
              </a:spcAft>
              <a:defRPr sz="2200">
                <a:solidFill>
                  <a:srgbClr val="FFFFFF"/>
                </a:solidFill>
              </a:defRPr>
            </a:pPr>
            <a:r>
              <a:t>      Toggles extended reasoning</a:t>
            </a:r>
          </a:p>
          <a:p>
            <a:pPr>
              <a:spcBef>
                <a:spcPts val="800"/>
              </a:spcBef>
              <a:spcAft>
                <a:spcPts val="800"/>
              </a:spcAft>
              <a:defRPr sz="2200">
                <a:solidFill>
                  <a:srgbClr val="FFFFFF"/>
                </a:solidFill>
              </a:defRPr>
            </a:pPr>
            <a:r>
              <a:t>      Shows step-by-step thinking</a:t>
            </a:r>
          </a:p>
          <a:p>
            <a:pPr>
              <a:spcBef>
                <a:spcPts val="800"/>
              </a:spcBef>
              <a:spcAft>
                <a:spcPts val="800"/>
              </a:spcAft>
              <a:defRPr sz="2200">
                <a:solidFill>
                  <a:srgbClr val="FFFFFF"/>
                </a:solidFill>
              </a:defRPr>
            </a:pPr>
            <a:r>
              <a:t>      Useful for debugging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Permissions: /permissions, /allowed-tools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/permissions</a:t>
            </a:r>
          </a:p>
          <a:p>
            <a:pPr>
              <a:spcBef>
                <a:spcPts val="800"/>
              </a:spcBef>
              <a:spcAft>
                <a:spcPts val="800"/>
              </a:spcAft>
              <a:defRPr sz="2200">
                <a:solidFill>
                  <a:srgbClr val="FFFFFF"/>
                </a:solidFill>
              </a:defRPr>
            </a:pPr>
            <a:r>
              <a:t>      View current permission level</a:t>
            </a:r>
          </a:p>
          <a:p>
            <a:pPr>
              <a:spcBef>
                <a:spcPts val="800"/>
              </a:spcBef>
              <a:spcAft>
                <a:spcPts val="800"/>
              </a:spcAft>
              <a:defRPr sz="2200">
                <a:solidFill>
                  <a:srgbClr val="FFFFFF"/>
                </a:solidFill>
              </a:defRPr>
            </a:pPr>
            <a:r>
              <a:t>      Change: /permissions suggest-only</a:t>
            </a:r>
          </a:p>
          <a:p>
            <a:pPr>
              <a:spcBef>
                <a:spcPts val="800"/>
              </a:spcBef>
              <a:spcAft>
                <a:spcPts val="800"/>
              </a:spcAft>
              <a:defRPr sz="2200">
                <a:solidFill>
                  <a:srgbClr val="FFFFFF"/>
                </a:solidFill>
              </a:defRPr>
            </a:pPr>
            <a:r>
              <a:t>      Controls autonomy</a:t>
            </a:r>
          </a:p>
          <a:p>
            <a:pPr>
              <a:spcBef>
                <a:spcPts val="800"/>
              </a:spcBef>
              <a:spcAft>
                <a:spcPts val="800"/>
              </a:spcAft>
              <a:defRPr sz="2200">
                <a:solidFill>
                  <a:srgbClr val="FFFFFF"/>
                </a:solidFill>
              </a:defRPr>
            </a:pPr>
            <a:r>
              <a:t>  /allowed-tools</a:t>
            </a:r>
          </a:p>
          <a:p>
            <a:pPr>
              <a:spcBef>
                <a:spcPts val="800"/>
              </a:spcBef>
              <a:spcAft>
                <a:spcPts val="800"/>
              </a:spcAft>
              <a:defRPr sz="2200">
                <a:solidFill>
                  <a:srgbClr val="FFFFFF"/>
                </a:solidFill>
              </a:defRPr>
            </a:pPr>
            <a:r>
              <a:t>      Shows enabled tools</a:t>
            </a:r>
          </a:p>
          <a:p>
            <a:pPr>
              <a:spcBef>
                <a:spcPts val="800"/>
              </a:spcBef>
              <a:spcAft>
                <a:spcPts val="800"/>
              </a:spcAft>
              <a:defRPr sz="2200">
                <a:solidFill>
                  <a:srgbClr val="FFFFFF"/>
                </a:solidFill>
              </a:defRPr>
            </a:pPr>
            <a:r>
              <a:t>      Useful for debugging restrictions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Output: /output-format, /verbose, /cost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/output-format</a:t>
            </a:r>
          </a:p>
          <a:p>
            <a:pPr>
              <a:spcBef>
                <a:spcPts val="800"/>
              </a:spcBef>
              <a:spcAft>
                <a:spcPts val="800"/>
              </a:spcAft>
              <a:defRPr sz="2200">
                <a:solidFill>
                  <a:srgbClr val="FFFFFF"/>
                </a:solidFill>
              </a:defRPr>
            </a:pPr>
            <a:r>
              <a:t>      concise - Minimal</a:t>
            </a:r>
          </a:p>
          <a:p>
            <a:pPr>
              <a:spcBef>
                <a:spcPts val="800"/>
              </a:spcBef>
              <a:spcAft>
                <a:spcPts val="800"/>
              </a:spcAft>
              <a:defRPr sz="2200">
                <a:solidFill>
                  <a:srgbClr val="FFFFFF"/>
                </a:solidFill>
              </a:defRPr>
            </a:pPr>
            <a:r>
              <a:t>      verbose - Detailed</a:t>
            </a:r>
          </a:p>
          <a:p>
            <a:pPr>
              <a:spcBef>
                <a:spcPts val="800"/>
              </a:spcBef>
              <a:spcAft>
                <a:spcPts val="800"/>
              </a:spcAft>
              <a:defRPr sz="2200">
                <a:solidFill>
                  <a:srgbClr val="FFFFFF"/>
                </a:solidFill>
              </a:defRPr>
            </a:pPr>
            <a:r>
              <a:t>      diff - Changes only</a:t>
            </a:r>
          </a:p>
          <a:p>
            <a:pPr>
              <a:spcBef>
                <a:spcPts val="800"/>
              </a:spcBef>
              <a:spcAft>
                <a:spcPts val="800"/>
              </a:spcAft>
              <a:defRPr sz="2200">
                <a:solidFill>
                  <a:srgbClr val="FFFFFF"/>
                </a:solidFill>
              </a:defRPr>
            </a:pPr>
            <a:r>
              <a:t>  /verbose</a:t>
            </a:r>
          </a:p>
          <a:p>
            <a:pPr>
              <a:spcBef>
                <a:spcPts val="800"/>
              </a:spcBef>
              <a:spcAft>
                <a:spcPts val="800"/>
              </a:spcAft>
              <a:defRPr sz="2200">
                <a:solidFill>
                  <a:srgbClr val="FFFFFF"/>
                </a:solidFill>
              </a:defRPr>
            </a:pPr>
            <a:r>
              <a:t>      Toggles detailed output</a:t>
            </a:r>
          </a:p>
          <a:p>
            <a:pPr>
              <a:spcBef>
                <a:spcPts val="800"/>
              </a:spcBef>
              <a:spcAft>
                <a:spcPts val="800"/>
              </a:spcAft>
              <a:defRPr sz="2200">
                <a:solidFill>
                  <a:srgbClr val="FFFFFF"/>
                </a:solidFill>
              </a:defRPr>
            </a:pPr>
            <a:r>
              <a:t>      Shows tool calls</a:t>
            </a:r>
          </a:p>
          <a:p>
            <a:pPr>
              <a:spcBef>
                <a:spcPts val="800"/>
              </a:spcBef>
              <a:spcAft>
                <a:spcPts val="800"/>
              </a:spcAft>
              <a:defRPr sz="2200">
                <a:solidFill>
                  <a:srgbClr val="FFFFFF"/>
                </a:solidFill>
              </a:defRPr>
            </a:pPr>
            <a:r>
              <a:t>      Great for learning</a:t>
            </a:r>
          </a:p>
          <a:p>
            <a:pPr>
              <a:spcBef>
                <a:spcPts val="800"/>
              </a:spcBef>
              <a:spcAft>
                <a:spcPts val="800"/>
              </a:spcAft>
              <a:defRPr sz="2200">
                <a:solidFill>
                  <a:srgbClr val="FFFFFF"/>
                </a:solidFill>
              </a:defRPr>
            </a:pPr>
            <a:r>
              <a:t>  /cost</a:t>
            </a:r>
          </a:p>
          <a:p>
            <a:pPr>
              <a:spcBef>
                <a:spcPts val="800"/>
              </a:spcBef>
              <a:spcAft>
                <a:spcPts val="800"/>
              </a:spcAft>
              <a:defRPr sz="2200">
                <a:solidFill>
                  <a:srgbClr val="FFFFFF"/>
                </a:solidFill>
              </a:defRPr>
            </a:pPr>
            <a:r>
              <a:t>      Shows token usage</a:t>
            </a:r>
          </a:p>
          <a:p>
            <a:pPr>
              <a:spcBef>
                <a:spcPts val="800"/>
              </a:spcBef>
              <a:spcAft>
                <a:spcPts val="800"/>
              </a:spcAft>
              <a:defRPr sz="2200">
                <a:solidFill>
                  <a:srgbClr val="FFFFFF"/>
                </a:solidFill>
              </a:defRPr>
            </a:pPr>
            <a:r>
              <a:t>      Estimated API cost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CLAUDE.md\n\n"custom_commands": {\n  "/test": "Run all tests with pytest -v",\n  "/lint": "Run black, isort, and mypy",\n  "/docs": "Generate API documentation"\n}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Intent (Most People)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Precise Spec (Power Users)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Before you type ANY prompt, answer these:</a:t>
            </a:r>
            <a:br/>
            <a:br/>
            <a:r>
              <a:t>1. PROBLEM: What problem am I solving?</a:t>
            </a:r>
            <a:br/>
            <a:r>
              <a:t>   (Not "build X" — why does X need to exist?)</a:t>
            </a:r>
            <a:br/>
            <a:br/>
            <a:r>
              <a:t>2. USERS: Who uses this and what do they need?</a:t>
            </a:r>
            <a:br/>
            <a:r>
              <a:t>   (Scenarios, not features)</a:t>
            </a:r>
            <a:b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The Payment Module Disaster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Model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Approval-Based Actions</a:t>
            </a:r>
          </a:p>
          <a:p>
            <a:pPr>
              <a:spcBef>
                <a:spcPts val="800"/>
              </a:spcBef>
              <a:spcAft>
                <a:spcPts val="800"/>
              </a:spcAft>
              <a:defRPr sz="2200">
                <a:solidFill>
                  <a:srgbClr val="FFFFFF"/>
                </a:solidFill>
              </a:defRPr>
            </a:pPr>
            <a:r>
              <a:t>      By default, asks before executing</a:t>
            </a:r>
          </a:p>
          <a:p>
            <a:pPr>
              <a:spcBef>
                <a:spcPts val="800"/>
              </a:spcBef>
              <a:spcAft>
                <a:spcPts val="800"/>
              </a:spcAft>
              <a:defRPr sz="2200">
                <a:solidFill>
                  <a:srgbClr val="FFFFFF"/>
                </a:solidFill>
              </a:defRPr>
            </a:pPr>
            <a:r>
              <a:t>      Review diffs before applying</a:t>
            </a:r>
          </a:p>
          <a:p>
            <a:pPr>
              <a:spcBef>
                <a:spcPts val="800"/>
              </a:spcBef>
              <a:spcAft>
                <a:spcPts val="800"/>
              </a:spcAft>
              <a:defRPr sz="2200">
                <a:solidFill>
                  <a:srgbClr val="FFFFFF"/>
                </a:solidFill>
              </a:defRPr>
            </a:pPr>
            <a:r>
              <a:t>      Opt-in to auto-approval</a:t>
            </a:r>
          </a:p>
          <a:p>
            <a:pPr>
              <a:spcBef>
                <a:spcPts val="800"/>
              </a:spcBef>
              <a:spcAft>
                <a:spcPts val="800"/>
              </a:spcAft>
              <a:defRPr sz="2200">
                <a:solidFill>
                  <a:srgbClr val="FFFFFF"/>
                </a:solidFill>
              </a:defRPr>
            </a:pPr>
            <a:r>
              <a:t>  Trust Levels</a:t>
            </a:r>
          </a:p>
          <a:p>
            <a:pPr>
              <a:spcBef>
                <a:spcPts val="800"/>
              </a:spcBef>
              <a:spcAft>
                <a:spcPts val="800"/>
              </a:spcAft>
              <a:defRPr sz="2200">
                <a:solidFill>
                  <a:srgbClr val="FFFFFF"/>
                </a:solidFill>
              </a:defRPr>
            </a:pPr>
            <a:r>
              <a:t>      Suggest Only: Never apply changes</a:t>
            </a:r>
          </a:p>
          <a:p>
            <a:pPr>
              <a:spcBef>
                <a:spcPts val="800"/>
              </a:spcBef>
              <a:spcAft>
                <a:spcPts val="800"/>
              </a:spcAft>
              <a:defRPr sz="2200">
                <a:solidFill>
                  <a:srgbClr val="FFFFFF"/>
                </a:solidFill>
              </a:defRPr>
            </a:pPr>
            <a:r>
              <a:t>      Auto-Approve Read: Read freely, ask before write</a:t>
            </a:r>
          </a:p>
          <a:p>
            <a:pPr>
              <a:spcBef>
                <a:spcPts val="800"/>
              </a:spcBef>
              <a:spcAft>
                <a:spcPts val="800"/>
              </a:spcAft>
              <a:defRPr sz="2200">
                <a:solidFill>
                  <a:srgbClr val="FFFFFF"/>
                </a:solidFill>
              </a:defRPr>
            </a:pPr>
            <a:r>
              <a:t>      Auto-Approve All: Full autonomy</a:t>
            </a:r>
          </a:p>
          <a:p>
            <a:pPr>
              <a:spcBef>
                <a:spcPts val="800"/>
              </a:spcBef>
              <a:spcAft>
                <a:spcPts val="800"/>
              </a:spcAft>
              <a:defRPr sz="2200">
                <a:solidFill>
                  <a:srgbClr val="FFFFFF"/>
                </a:solidFill>
              </a:defRPr>
            </a:pPr>
            <a:r>
              <a:t>  Allowlists &amp; Blocklists</a:t>
            </a:r>
          </a:p>
          <a:p>
            <a:pPr>
              <a:spcBef>
                <a:spcPts val="800"/>
              </a:spcBef>
              <a:spcAft>
                <a:spcPts val="800"/>
              </a:spcAft>
              <a:defRPr sz="2200">
                <a:solidFill>
                  <a:srgbClr val="FFFFFF"/>
                </a:solidFill>
              </a:defRPr>
            </a:pPr>
            <a:r>
              <a:t>      Specify which commands allowed</a:t>
            </a:r>
          </a:p>
          <a:p>
            <a:pPr>
              <a:spcBef>
                <a:spcPts val="800"/>
              </a:spcBef>
              <a:spcAft>
                <a:spcPts val="800"/>
              </a:spcAft>
              <a:defRPr sz="2200">
                <a:solidFill>
                  <a:srgbClr val="FFFFFF"/>
                </a:solidFill>
              </a:defRPr>
            </a:pPr>
            <a:r>
              <a:t>      Block dangerous commands</a:t>
            </a:r>
          </a:p>
          <a:p>
            <a:pPr>
              <a:spcBef>
                <a:spcPts val="800"/>
              </a:spcBef>
              <a:spcAft>
                <a:spcPts val="800"/>
              </a:spcAft>
              <a:defRPr sz="2200">
                <a:solidFill>
                  <a:srgbClr val="FFFFFF"/>
                </a:solidFill>
              </a:defRPr>
            </a:pPr>
            <a:r>
              <a:t>      Configure per-project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eye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book</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zap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Allowlists and Blocklists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Command Allowlists</a:t>
            </a:r>
          </a:p>
          <a:p>
            <a:pPr>
              <a:spcBef>
                <a:spcPts val="800"/>
              </a:spcBef>
              <a:spcAft>
                <a:spcPts val="800"/>
              </a:spcAft>
              <a:defRPr sz="2200">
                <a:solidFill>
                  <a:srgbClr val="FFFFFF"/>
                </a:solidFill>
              </a:defRPr>
            </a:pPr>
            <a:r>
              <a:t>      Specify exactly which commands permitted</a:t>
            </a:r>
          </a:p>
          <a:p>
            <a:pPr>
              <a:spcBef>
                <a:spcPts val="800"/>
              </a:spcBef>
              <a:spcAft>
                <a:spcPts val="800"/>
              </a:spcAft>
              <a:defRPr sz="2200">
                <a:solidFill>
                  <a:srgbClr val="FFFFFF"/>
                </a:solidFill>
              </a:defRPr>
            </a:pPr>
            <a:r>
              <a:t>      Strictest security</a:t>
            </a:r>
          </a:p>
          <a:p>
            <a:pPr>
              <a:spcBef>
                <a:spcPts val="800"/>
              </a:spcBef>
              <a:spcAft>
                <a:spcPts val="800"/>
              </a:spcAft>
              <a:defRPr sz="2200">
                <a:solidFill>
                  <a:srgbClr val="FFFFFF"/>
                </a:solidFill>
              </a:defRPr>
            </a:pPr>
            <a:r>
              <a:t>  Command Blocklists</a:t>
            </a:r>
          </a:p>
          <a:p>
            <a:pPr>
              <a:spcBef>
                <a:spcPts val="800"/>
              </a:spcBef>
              <a:spcAft>
                <a:spcPts val="800"/>
              </a:spcAft>
              <a:defRPr sz="2200">
                <a:solidFill>
                  <a:srgbClr val="FFFFFF"/>
                </a:solidFill>
              </a:defRPr>
            </a:pPr>
            <a:r>
              <a:t>      Block specific dangerous commands</a:t>
            </a:r>
          </a:p>
          <a:p>
            <a:pPr>
              <a:spcBef>
                <a:spcPts val="800"/>
              </a:spcBef>
              <a:spcAft>
                <a:spcPts val="800"/>
              </a:spcAft>
              <a:defRPr sz="2200">
                <a:solidFill>
                  <a:srgbClr val="FFFFFF"/>
                </a:solidFill>
              </a:defRPr>
            </a:pPr>
            <a:r>
              <a:t>      Everything else permitted</a:t>
            </a:r>
          </a:p>
          <a:p>
            <a:pPr>
              <a:spcBef>
                <a:spcPts val="800"/>
              </a:spcBef>
              <a:spcAft>
                <a:spcPts val="800"/>
              </a:spcAft>
              <a:defRPr sz="2200">
                <a:solidFill>
                  <a:srgbClr val="FFFFFF"/>
                </a:solidFill>
              </a:defRPr>
            </a:pPr>
            <a:r>
              <a:t>  File Access Patterns</a:t>
            </a:r>
          </a:p>
          <a:p>
            <a:pPr>
              <a:spcBef>
                <a:spcPts val="800"/>
              </a:spcBef>
              <a:spcAft>
                <a:spcPts val="800"/>
              </a:spcAft>
              <a:defRPr sz="2200">
                <a:solidFill>
                  <a:srgbClr val="FFFFFF"/>
                </a:solidFill>
              </a:defRPr>
            </a:pPr>
            <a:r>
              <a:t>      Block writes to sensitive directories</a:t>
            </a:r>
          </a:p>
          <a:p>
            <a:pPr>
              <a:spcBef>
                <a:spcPts val="800"/>
              </a:spcBef>
              <a:spcAft>
                <a:spcPts val="800"/>
              </a:spcAft>
              <a:defRPr sz="2200">
                <a:solidFill>
                  <a:srgbClr val="FFFFFF"/>
                </a:solidFill>
              </a:defRPr>
            </a:pPr>
            <a:r>
              <a:t>      Allow reads but prevent modifications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Security\n\n# Environment and secrets\n.env\n*.key\n*.pem\nsecrets/\n\n# Credentials\n.aws/\n.ssh/\n\n# Production\nproduction/\ndeploy/</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Enterprise Security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Audit Logs</a:t>
            </a:r>
          </a:p>
          <a:p>
            <a:pPr>
              <a:spcBef>
                <a:spcPts val="800"/>
              </a:spcBef>
              <a:spcAft>
                <a:spcPts val="800"/>
              </a:spcAft>
              <a:defRPr sz="2200">
                <a:solidFill>
                  <a:srgbClr val="FFFFFF"/>
                </a:solidFill>
              </a:defRPr>
            </a:pPr>
            <a:r>
              <a:t>      Track every action</a:t>
            </a:r>
          </a:p>
          <a:p>
            <a:pPr>
              <a:spcBef>
                <a:spcPts val="800"/>
              </a:spcBef>
              <a:spcAft>
                <a:spcPts val="800"/>
              </a:spcAft>
              <a:defRPr sz="2200">
                <a:solidFill>
                  <a:srgbClr val="FFFFFF"/>
                </a:solidFill>
              </a:defRPr>
            </a:pPr>
            <a:r>
              <a:t>      Centralized logging</a:t>
            </a:r>
          </a:p>
          <a:p>
            <a:pPr>
              <a:spcBef>
                <a:spcPts val="800"/>
              </a:spcBef>
              <a:spcAft>
                <a:spcPts val="800"/>
              </a:spcAft>
              <a:defRPr sz="2200">
                <a:solidFill>
                  <a:srgbClr val="FFFFFF"/>
                </a:solidFill>
              </a:defRPr>
            </a:pPr>
            <a:r>
              <a:t>      Searchable history</a:t>
            </a:r>
          </a:p>
          <a:p>
            <a:pPr>
              <a:spcBef>
                <a:spcPts val="800"/>
              </a:spcBef>
              <a:spcAft>
                <a:spcPts val="800"/>
              </a:spcAft>
              <a:defRPr sz="2200">
                <a:solidFill>
                  <a:srgbClr val="FFFFFF"/>
                </a:solidFill>
              </a:defRPr>
            </a:pPr>
            <a:r>
              <a:t>  Compliance</a:t>
            </a:r>
          </a:p>
          <a:p>
            <a:pPr>
              <a:spcBef>
                <a:spcPts val="800"/>
              </a:spcBef>
              <a:spcAft>
                <a:spcPts val="800"/>
              </a:spcAft>
              <a:defRPr sz="2200">
                <a:solidFill>
                  <a:srgbClr val="FFFFFF"/>
                </a:solidFill>
              </a:defRPr>
            </a:pPr>
            <a:r>
              <a:t>      SOC 2 Type II</a:t>
            </a:r>
          </a:p>
          <a:p>
            <a:pPr>
              <a:spcBef>
                <a:spcPts val="800"/>
              </a:spcBef>
              <a:spcAft>
                <a:spcPts val="800"/>
              </a:spcAft>
              <a:defRPr sz="2200">
                <a:solidFill>
                  <a:srgbClr val="FFFFFF"/>
                </a:solidFill>
              </a:defRPr>
            </a:pPr>
            <a:r>
              <a:t>      Data residency controls</a:t>
            </a:r>
          </a:p>
          <a:p>
            <a:pPr>
              <a:spcBef>
                <a:spcPts val="800"/>
              </a:spcBef>
              <a:spcAft>
                <a:spcPts val="800"/>
              </a:spcAft>
              <a:defRPr sz="2200">
                <a:solidFill>
                  <a:srgbClr val="FFFFFF"/>
                </a:solidFill>
              </a:defRPr>
            </a:pPr>
            <a:r>
              <a:t>      GDPR compliance</a:t>
            </a:r>
          </a:p>
          <a:p>
            <a:pPr>
              <a:spcBef>
                <a:spcPts val="800"/>
              </a:spcBef>
              <a:spcAft>
                <a:spcPts val="800"/>
              </a:spcAft>
              <a:defRPr sz="2200">
                <a:solidFill>
                  <a:srgbClr val="FFFFFF"/>
                </a:solidFill>
              </a:defRPr>
            </a:pPr>
            <a:r>
              <a:t>  Data Governance</a:t>
            </a:r>
          </a:p>
          <a:p>
            <a:pPr>
              <a:spcBef>
                <a:spcPts val="800"/>
              </a:spcBef>
              <a:spcAft>
                <a:spcPts val="800"/>
              </a:spcAft>
              <a:defRPr sz="2200">
                <a:solidFill>
                  <a:srgbClr val="FFFFFF"/>
                </a:solidFill>
              </a:defRPr>
            </a:pPr>
            <a:r>
              <a:t>      Control what leaves environment</a:t>
            </a:r>
          </a:p>
          <a:p>
            <a:pPr>
              <a:spcBef>
                <a:spcPts val="800"/>
              </a:spcBef>
              <a:spcAft>
                <a:spcPts val="800"/>
              </a:spcAft>
              <a:defRPr sz="2200">
                <a:solidFill>
                  <a:srgbClr val="FFFFFF"/>
                </a:solidFill>
              </a:defRPr>
            </a:pPr>
            <a:r>
              <a:t>      On-premises options</a:t>
            </a:r>
          </a:p>
          <a:p>
            <a:pPr>
              <a:spcBef>
                <a:spcPts val="800"/>
              </a:spcBef>
              <a:spcAft>
                <a:spcPts val="800"/>
              </a:spcAft>
              <a:defRPr sz="2200">
                <a:solidFill>
                  <a:srgbClr val="FFFFFF"/>
                </a:solidFill>
              </a:defRPr>
            </a:pPr>
            <a:r>
              <a:t>      Retention policies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Auto-Commit Workflows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How It Works</a:t>
            </a:r>
          </a:p>
          <a:p>
            <a:pPr>
              <a:spcBef>
                <a:spcPts val="800"/>
              </a:spcBef>
              <a:spcAft>
                <a:spcPts val="800"/>
              </a:spcAft>
              <a:defRPr sz="2200">
                <a:solidFill>
                  <a:srgbClr val="FFFFFF"/>
                </a:solidFill>
              </a:defRPr>
            </a:pPr>
            <a:r>
              <a:t>      Makes changes</a:t>
            </a:r>
          </a:p>
          <a:p>
            <a:pPr>
              <a:spcBef>
                <a:spcPts val="800"/>
              </a:spcBef>
              <a:spcAft>
                <a:spcPts val="800"/>
              </a:spcAft>
              <a:defRPr sz="2200">
                <a:solidFill>
                  <a:srgbClr val="FFFFFF"/>
                </a:solidFill>
              </a:defRPr>
            </a:pPr>
            <a:r>
              <a:t>      Generates commit message</a:t>
            </a:r>
          </a:p>
          <a:p>
            <a:pPr>
              <a:spcBef>
                <a:spcPts val="800"/>
              </a:spcBef>
              <a:spcAft>
                <a:spcPts val="800"/>
              </a:spcAft>
              <a:defRPr sz="2200">
                <a:solidFill>
                  <a:srgbClr val="FFFFFF"/>
                </a:solidFill>
              </a:defRPr>
            </a:pPr>
            <a:r>
              <a:t>      Prompts approval</a:t>
            </a:r>
          </a:p>
          <a:p>
            <a:pPr>
              <a:spcBef>
                <a:spcPts val="800"/>
              </a:spcBef>
              <a:spcAft>
                <a:spcPts val="800"/>
              </a:spcAft>
              <a:defRPr sz="2200">
                <a:solidFill>
                  <a:srgbClr val="FFFFFF"/>
                </a:solidFill>
              </a:defRPr>
            </a:pPr>
            <a:r>
              <a:t>  Quality</a:t>
            </a:r>
          </a:p>
          <a:p>
            <a:pPr>
              <a:spcBef>
                <a:spcPts val="800"/>
              </a:spcBef>
              <a:spcAft>
                <a:spcPts val="800"/>
              </a:spcAft>
              <a:defRPr sz="2200">
                <a:solidFill>
                  <a:srgbClr val="FFFFFF"/>
                </a:solidFill>
              </a:defRPr>
            </a:pPr>
            <a:r>
              <a:t>      Conventional Commits format</a:t>
            </a:r>
          </a:p>
          <a:p>
            <a:pPr>
              <a:spcBef>
                <a:spcPts val="800"/>
              </a:spcBef>
              <a:spcAft>
                <a:spcPts val="800"/>
              </a:spcAft>
              <a:defRPr sz="2200">
                <a:solidFill>
                  <a:srgbClr val="FFFFFF"/>
                </a:solidFill>
              </a:defRPr>
            </a:pPr>
            <a:r>
              <a:t>      Better than manual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Branch Creation &amp; Management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Creating</a:t>
            </a:r>
          </a:p>
          <a:p>
            <a:pPr>
              <a:spcBef>
                <a:spcPts val="800"/>
              </a:spcBef>
              <a:spcAft>
                <a:spcPts val="800"/>
              </a:spcAft>
              <a:defRPr sz="2200">
                <a:solidFill>
                  <a:srgbClr val="FFFFFF"/>
                </a:solidFill>
              </a:defRPr>
            </a:pPr>
            <a:r>
              <a:t>      Proper names</a:t>
            </a:r>
          </a:p>
          <a:p>
            <a:pPr>
              <a:spcBef>
                <a:spcPts val="800"/>
              </a:spcBef>
              <a:spcAft>
                <a:spcPts val="800"/>
              </a:spcAft>
              <a:defRPr sz="2200">
                <a:solidFill>
                  <a:srgbClr val="FFFFFF"/>
                </a:solidFill>
              </a:defRPr>
            </a:pPr>
            <a:r>
              <a:t>      Team conventions</a:t>
            </a:r>
          </a:p>
          <a:p>
            <a:pPr>
              <a:spcBef>
                <a:spcPts val="800"/>
              </a:spcBef>
              <a:spcAft>
                <a:spcPts val="800"/>
              </a:spcAft>
              <a:defRPr sz="2200">
                <a:solidFill>
                  <a:srgbClr val="FFFFFF"/>
                </a:solidFill>
              </a:defRPr>
            </a:pPr>
            <a:r>
              <a:t>      Auto checkout</a:t>
            </a:r>
          </a:p>
          <a:p>
            <a:pPr>
              <a:spcBef>
                <a:spcPts val="800"/>
              </a:spcBef>
              <a:spcAft>
                <a:spcPts val="800"/>
              </a:spcAft>
              <a:defRPr sz="2200">
                <a:solidFill>
                  <a:srgbClr val="FFFFFF"/>
                </a:solidFill>
              </a:defRPr>
            </a:pPr>
            <a:r>
              <a:t>  Naming</a:t>
            </a:r>
          </a:p>
          <a:p>
            <a:pPr>
              <a:spcBef>
                <a:spcPts val="800"/>
              </a:spcBef>
              <a:spcAft>
                <a:spcPts val="800"/>
              </a:spcAft>
              <a:defRPr sz="2200">
                <a:solidFill>
                  <a:srgbClr val="FFFFFF"/>
                </a:solidFill>
              </a:defRPr>
            </a:pPr>
            <a:r>
              <a:t>      Configurable</a:t>
            </a:r>
          </a:p>
          <a:p>
            <a:pPr>
              <a:spcBef>
                <a:spcPts val="800"/>
              </a:spcBef>
              <a:spcAft>
                <a:spcPts val="800"/>
              </a:spcAft>
              <a:defRPr sz="2200">
                <a:solidFill>
                  <a:srgbClr val="FFFFFF"/>
                </a:solidFill>
              </a:defRPr>
            </a:pPr>
            <a:r>
              <a:t>      Includes tickets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Examples\n\nfeat(auth): add JWT authentication\n- Implement token generation\n- Add middleware\n\nfix(payments): resolve duplicate charges\n- Check existing transaction\n- Add idempotency key</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Pull Request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Description</a:t>
            </a:r>
          </a:p>
          <a:p>
            <a:pPr>
              <a:spcBef>
                <a:spcPts val="800"/>
              </a:spcBef>
              <a:spcAft>
                <a:spcPts val="800"/>
              </a:spcAft>
              <a:defRPr sz="2200">
                <a:solidFill>
                  <a:srgbClr val="FFFFFF"/>
                </a:solidFill>
              </a:defRPr>
            </a:pPr>
            <a:r>
              <a:t>      Title from commits</a:t>
            </a:r>
          </a:p>
          <a:p>
            <a:pPr>
              <a:spcBef>
                <a:spcPts val="800"/>
              </a:spcBef>
              <a:spcAft>
                <a:spcPts val="800"/>
              </a:spcAft>
              <a:defRPr sz="2200">
                <a:solidFill>
                  <a:srgbClr val="FFFFFF"/>
                </a:solidFill>
              </a:defRPr>
            </a:pPr>
            <a:r>
              <a:t>      Summarizes changes</a:t>
            </a:r>
          </a:p>
          <a:p>
            <a:pPr>
              <a:spcBef>
                <a:spcPts val="800"/>
              </a:spcBef>
              <a:spcAft>
                <a:spcPts val="800"/>
              </a:spcAft>
              <a:defRPr sz="2200">
                <a:solidFill>
                  <a:srgbClr val="FFFFFF"/>
                </a:solidFill>
              </a:defRPr>
            </a:pPr>
            <a:r>
              <a:t>      Testing steps</a:t>
            </a:r>
          </a:p>
          <a:p>
            <a:pPr>
              <a:spcBef>
                <a:spcPts val="800"/>
              </a:spcBef>
              <a:spcAft>
                <a:spcPts val="800"/>
              </a:spcAft>
              <a:defRPr sz="2200">
                <a:solidFill>
                  <a:srgbClr val="FFFFFF"/>
                </a:solidFill>
              </a:defRPr>
            </a:pPr>
            <a:r>
              <a:t>  Links</a:t>
            </a:r>
          </a:p>
          <a:p>
            <a:pPr>
              <a:spcBef>
                <a:spcPts val="800"/>
              </a:spcBef>
              <a:spcAft>
                <a:spcPts val="800"/>
              </a:spcAft>
              <a:defRPr sz="2200">
                <a:solidFill>
                  <a:srgbClr val="FFFFFF"/>
                </a:solidFill>
              </a:defRPr>
            </a:pPr>
            <a:r>
              <a:t>      JIRA tickets</a:t>
            </a:r>
          </a:p>
          <a:p>
            <a:pPr>
              <a:spcBef>
                <a:spcPts val="800"/>
              </a:spcBef>
              <a:spcAft>
                <a:spcPts val="800"/>
              </a:spcAft>
              <a:defRPr sz="2200">
                <a:solidFill>
                  <a:srgbClr val="FFFFFF"/>
                </a:solidFill>
              </a:defRPr>
            </a:pPr>
            <a:r>
              <a:t>      GitHub issues</a:t>
            </a:r>
          </a:p>
          <a:p>
            <a:pPr>
              <a:spcBef>
                <a:spcPts val="800"/>
              </a:spcBef>
              <a:spcAft>
                <a:spcPts val="800"/>
              </a:spcAft>
              <a:defRPr sz="2200">
                <a:solidFill>
                  <a:srgbClr val="FFFFFF"/>
                </a:solidFill>
              </a:defRPr>
            </a:pPr>
            <a:r>
              <a:t>      Auto-closes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Git History Analysis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Blame</a:t>
            </a:r>
          </a:p>
          <a:p>
            <a:pPr>
              <a:spcBef>
                <a:spcPts val="800"/>
              </a:spcBef>
              <a:spcAft>
                <a:spcPts val="800"/>
              </a:spcAft>
              <a:defRPr sz="2200">
                <a:solidFill>
                  <a:srgbClr val="FFFFFF"/>
                </a:solidFill>
              </a:defRPr>
            </a:pPr>
            <a:r>
              <a:t>      Who changed this?</a:t>
            </a:r>
          </a:p>
          <a:p>
            <a:pPr>
              <a:spcBef>
                <a:spcPts val="800"/>
              </a:spcBef>
              <a:spcAft>
                <a:spcPts val="800"/>
              </a:spcAft>
              <a:defRPr sz="2200">
                <a:solidFill>
                  <a:srgbClr val="FFFFFF"/>
                </a:solidFill>
              </a:defRPr>
            </a:pPr>
            <a:r>
              <a:t>      When and why</a:t>
            </a:r>
          </a:p>
          <a:p>
            <a:pPr>
              <a:spcBef>
                <a:spcPts val="800"/>
              </a:spcBef>
              <a:spcAft>
                <a:spcPts val="800"/>
              </a:spcAft>
              <a:defRPr sz="2200">
                <a:solidFill>
                  <a:srgbClr val="FFFFFF"/>
                </a:solidFill>
              </a:defRPr>
            </a:pPr>
            <a:r>
              <a:t>  Logs</a:t>
            </a:r>
          </a:p>
          <a:p>
            <a:pPr>
              <a:spcBef>
                <a:spcPts val="800"/>
              </a:spcBef>
              <a:spcAft>
                <a:spcPts val="800"/>
              </a:spcAft>
              <a:defRPr sz="2200">
                <a:solidFill>
                  <a:srgbClr val="FFFFFF"/>
                </a:solidFill>
              </a:defRPr>
            </a:pPr>
            <a:r>
              <a:t>      Changes over time</a:t>
            </a:r>
          </a:p>
          <a:p>
            <a:pPr>
              <a:spcBef>
                <a:spcPts val="800"/>
              </a:spcBef>
              <a:spcAft>
                <a:spcPts val="800"/>
              </a:spcAft>
              <a:defRPr sz="2200">
                <a:solidFill>
                  <a:srgbClr val="FFFFFF"/>
                </a:solidFill>
              </a:defRPr>
            </a:pPr>
            <a:r>
              <a:t>      Hot spot identification</a:t>
            </a:r>
          </a:p>
          <a:p>
            <a:pPr>
              <a:spcBef>
                <a:spcPts val="800"/>
              </a:spcBef>
              <a:spcAft>
                <a:spcPts val="800"/>
              </a:spcAft>
              <a:defRPr sz="2200">
                <a:solidFill>
                  <a:srgbClr val="FFFFFF"/>
                </a:solidFill>
              </a:defRPr>
            </a:pPr>
            <a:r>
              <a:t>  Tracking</a:t>
            </a:r>
          </a:p>
          <a:p>
            <a:pPr>
              <a:spcBef>
                <a:spcPts val="800"/>
              </a:spcBef>
              <a:spcAft>
                <a:spcPts val="800"/>
              </a:spcAft>
              <a:defRPr sz="2200">
                <a:solidFill>
                  <a:srgbClr val="FFFFFF"/>
                </a:solidFill>
              </a:defRPr>
            </a:pPr>
            <a:r>
              <a:t>      Version diffs</a:t>
            </a:r>
          </a:p>
          <a:p>
            <a:pPr>
              <a:spcBef>
                <a:spcPts val="800"/>
              </a:spcBef>
              <a:spcAft>
                <a:spcPts val="800"/>
              </a:spcAft>
              <a:defRPr sz="2200">
                <a:solidFill>
                  <a:srgbClr val="FFFFFF"/>
                </a:solidFill>
              </a:defRPr>
            </a:pPr>
            <a:r>
              <a:t>      Changelog generation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GitHub</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GitLab</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Reading, Writing, Searching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Core</a:t>
            </a:r>
          </a:p>
          <a:p>
            <a:pPr>
              <a:spcBef>
                <a:spcPts val="800"/>
              </a:spcBef>
              <a:spcAft>
                <a:spcPts val="800"/>
              </a:spcAft>
              <a:defRPr sz="2200">
                <a:solidFill>
                  <a:srgbClr val="FFFFFF"/>
                </a:solidFill>
              </a:defRPr>
            </a:pPr>
            <a:r>
              <a:t>      read_file</a:t>
            </a:r>
          </a:p>
          <a:p>
            <a:pPr>
              <a:spcBef>
                <a:spcPts val="800"/>
              </a:spcBef>
              <a:spcAft>
                <a:spcPts val="800"/>
              </a:spcAft>
              <a:defRPr sz="2200">
                <a:solidFill>
                  <a:srgbClr val="FFFFFF"/>
                </a:solidFill>
              </a:defRPr>
            </a:pPr>
            <a:r>
              <a:t>      write_file</a:t>
            </a:r>
          </a:p>
          <a:p>
            <a:pPr>
              <a:spcBef>
                <a:spcPts val="800"/>
              </a:spcBef>
              <a:spcAft>
                <a:spcPts val="800"/>
              </a:spcAft>
              <a:defRPr sz="2200">
                <a:solidFill>
                  <a:srgbClr val="FFFFFF"/>
                </a:solidFill>
              </a:defRPr>
            </a:pPr>
            <a:r>
              <a:t>      edit_file</a:t>
            </a:r>
          </a:p>
          <a:p>
            <a:pPr>
              <a:spcBef>
                <a:spcPts val="800"/>
              </a:spcBef>
              <a:spcAft>
                <a:spcPts val="800"/>
              </a:spcAft>
              <a:defRPr sz="2200">
                <a:solidFill>
                  <a:srgbClr val="FFFFFF"/>
                </a:solidFill>
              </a:defRPr>
            </a:pPr>
            <a:r>
              <a:t>      search</a:t>
            </a:r>
          </a:p>
          <a:p>
            <a:pPr>
              <a:spcBef>
                <a:spcPts val="800"/>
              </a:spcBef>
              <a:spcAft>
                <a:spcPts val="800"/>
              </a:spcAft>
              <a:defRPr sz="2200">
                <a:solidFill>
                  <a:srgbClr val="FFFFFF"/>
                </a:solidFill>
              </a:defRPr>
            </a:pPr>
            <a:r>
              <a:t>  Intelligent</a:t>
            </a:r>
          </a:p>
          <a:p>
            <a:pPr>
              <a:spcBef>
                <a:spcPts val="800"/>
              </a:spcBef>
              <a:spcAft>
                <a:spcPts val="800"/>
              </a:spcAft>
              <a:defRPr sz="2200">
                <a:solidFill>
                  <a:srgbClr val="FFFFFF"/>
                </a:solidFill>
              </a:defRPr>
            </a:pPr>
            <a:r>
              <a:t>      Line-based</a:t>
            </a:r>
          </a:p>
          <a:p>
            <a:pPr>
              <a:spcBef>
                <a:spcPts val="800"/>
              </a:spcBef>
              <a:spcAft>
                <a:spcPts val="800"/>
              </a:spcAft>
              <a:defRPr sz="2200">
                <a:solidFill>
                  <a:srgbClr val="FFFFFF"/>
                </a:solidFill>
              </a:defRPr>
            </a:pPr>
            <a:r>
              <a:t>      Search-replace</a:t>
            </a:r>
          </a:p>
          <a:p>
            <a:pPr>
              <a:spcBef>
                <a:spcPts val="800"/>
              </a:spcBef>
              <a:spcAft>
                <a:spcPts val="800"/>
              </a:spcAft>
              <a:defRPr sz="2200">
                <a:solidFill>
                  <a:srgbClr val="FFFFFF"/>
                </a:solidFill>
              </a:defRPr>
            </a:pPr>
            <a:r>
              <a:t>      Multi-file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Edits &amp; Refactoring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Coordinated</a:t>
            </a:r>
          </a:p>
          <a:p>
            <a:pPr>
              <a:spcBef>
                <a:spcPts val="800"/>
              </a:spcBef>
              <a:spcAft>
                <a:spcPts val="800"/>
              </a:spcAft>
              <a:defRPr sz="2200">
                <a:solidFill>
                  <a:srgbClr val="FFFFFF"/>
                </a:solidFill>
              </a:defRPr>
            </a:pPr>
            <a:r>
              <a:t>      Multiple files together</a:t>
            </a:r>
          </a:p>
          <a:p>
            <a:pPr>
              <a:spcBef>
                <a:spcPts val="800"/>
              </a:spcBef>
              <a:spcAft>
                <a:spcPts val="800"/>
              </a:spcAft>
              <a:defRPr sz="2200">
                <a:solidFill>
                  <a:srgbClr val="FFFFFF"/>
                </a:solidFill>
              </a:defRPr>
            </a:pPr>
            <a:r>
              <a:t>      Maintains consistency</a:t>
            </a:r>
          </a:p>
          <a:p>
            <a:pPr>
              <a:spcBef>
                <a:spcPts val="800"/>
              </a:spcBef>
              <a:spcAft>
                <a:spcPts val="800"/>
              </a:spcAft>
              <a:defRPr sz="2200">
                <a:solidFill>
                  <a:srgbClr val="FFFFFF"/>
                </a:solidFill>
              </a:defRPr>
            </a:pPr>
            <a:r>
              <a:t>      Tracks deps</a:t>
            </a:r>
          </a:p>
          <a:p>
            <a:pPr>
              <a:spcBef>
                <a:spcPts val="800"/>
              </a:spcBef>
              <a:spcAft>
                <a:spcPts val="800"/>
              </a:spcAft>
              <a:defRPr sz="2200">
                <a:solidFill>
                  <a:srgbClr val="FFFFFF"/>
                </a:solidFill>
              </a:defRPr>
            </a:pPr>
            <a:r>
              <a:t>  Patterns</a:t>
            </a:r>
          </a:p>
          <a:p>
            <a:pPr>
              <a:spcBef>
                <a:spcPts val="800"/>
              </a:spcBef>
              <a:spcAft>
                <a:spcPts val="800"/>
              </a:spcAft>
              <a:defRPr sz="2200">
                <a:solidFill>
                  <a:srgbClr val="FFFFFF"/>
                </a:solidFill>
              </a:defRPr>
            </a:pPr>
            <a:r>
              <a:t>      Extract method</a:t>
            </a:r>
          </a:p>
          <a:p>
            <a:pPr>
              <a:spcBef>
                <a:spcPts val="800"/>
              </a:spcBef>
              <a:spcAft>
                <a:spcPts val="800"/>
              </a:spcAft>
              <a:defRPr sz="2200">
                <a:solidFill>
                  <a:srgbClr val="FFFFFF"/>
                </a:solidFill>
              </a:defRPr>
            </a:pPr>
            <a:r>
              <a:t>      Rename</a:t>
            </a:r>
          </a:p>
          <a:p>
            <a:pPr>
              <a:spcBef>
                <a:spcPts val="800"/>
              </a:spcBef>
              <a:spcAft>
                <a:spcPts val="800"/>
              </a:spcAft>
              <a:defRPr sz="2200">
                <a:solidFill>
                  <a:srgbClr val="FFFFFF"/>
                </a:solidFill>
              </a:defRPr>
            </a:pPr>
            <a:r>
              <a:t>      Move code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Code Generation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Boilerplate</a:t>
            </a:r>
          </a:p>
          <a:p>
            <a:pPr>
              <a:spcBef>
                <a:spcPts val="800"/>
              </a:spcBef>
              <a:spcAft>
                <a:spcPts val="800"/>
              </a:spcAft>
              <a:defRPr sz="2200">
                <a:solidFill>
                  <a:srgbClr val="FFFFFF"/>
                </a:solidFill>
              </a:defRPr>
            </a:pPr>
            <a:r>
              <a:t>      CRUD</a:t>
            </a:r>
          </a:p>
          <a:p>
            <a:pPr>
              <a:spcBef>
                <a:spcPts val="800"/>
              </a:spcBef>
              <a:spcAft>
                <a:spcPts val="800"/>
              </a:spcAft>
              <a:defRPr sz="2200">
                <a:solidFill>
                  <a:srgbClr val="FFFFFF"/>
                </a:solidFill>
              </a:defRPr>
            </a:pPr>
            <a:r>
              <a:t>      API endpoints</a:t>
            </a:r>
          </a:p>
          <a:p>
            <a:pPr>
              <a:spcBef>
                <a:spcPts val="800"/>
              </a:spcBef>
              <a:spcAft>
                <a:spcPts val="800"/>
              </a:spcAft>
              <a:defRPr sz="2200">
                <a:solidFill>
                  <a:srgbClr val="FFFFFF"/>
                </a:solidFill>
              </a:defRPr>
            </a:pPr>
            <a:r>
              <a:t>      Models</a:t>
            </a:r>
          </a:p>
          <a:p>
            <a:pPr>
              <a:spcBef>
                <a:spcPts val="800"/>
              </a:spcBef>
              <a:spcAft>
                <a:spcPts val="800"/>
              </a:spcAft>
              <a:defRPr sz="2200">
                <a:solidFill>
                  <a:srgbClr val="FFFFFF"/>
                </a:solidFill>
              </a:defRPr>
            </a:pPr>
            <a:r>
              <a:t>      Tests</a:t>
            </a:r>
          </a:p>
          <a:p>
            <a:pPr>
              <a:spcBef>
                <a:spcPts val="800"/>
              </a:spcBef>
              <a:spcAft>
                <a:spcPts val="800"/>
              </a:spcAft>
              <a:defRPr sz="2200">
                <a:solidFill>
                  <a:srgbClr val="FFFFFF"/>
                </a:solidFill>
              </a:defRPr>
            </a:pPr>
            <a:r>
              <a:t>  Migrations</a:t>
            </a:r>
          </a:p>
          <a:p>
            <a:pPr>
              <a:spcBef>
                <a:spcPts val="800"/>
              </a:spcBef>
              <a:spcAft>
                <a:spcPts val="800"/>
              </a:spcAft>
              <a:defRPr sz="2200">
                <a:solidFill>
                  <a:srgbClr val="FFFFFF"/>
                </a:solidFill>
              </a:defRPr>
            </a:pPr>
            <a:r>
              <a:t>      Schema changes</a:t>
            </a:r>
          </a:p>
          <a:p>
            <a:pPr>
              <a:spcBef>
                <a:spcPts val="800"/>
              </a:spcBef>
              <a:spcAft>
                <a:spcPts val="800"/>
              </a:spcAft>
              <a:defRPr sz="2200">
                <a:solidFill>
                  <a:srgbClr val="FFFFFF"/>
                </a:solidFill>
              </a:defRPr>
            </a:pPr>
            <a:r>
              <a:t>      Data transforms</a:t>
            </a:r>
          </a:p>
          <a:p>
            <a:pPr>
              <a:spcBef>
                <a:spcPts val="800"/>
              </a:spcBef>
              <a:spcAft>
                <a:spcPts val="800"/>
              </a:spcAft>
              <a:defRPr sz="2200">
                <a:solidFill>
                  <a:srgbClr val="FFFFFF"/>
                </a:solidFill>
              </a:defRPr>
            </a:pPr>
            <a:r>
              <a:t>      Rollbacks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Finding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Fixing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Goals (Bad)</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Next Actions (Good)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Test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Types</a:t>
            </a:r>
          </a:p>
          <a:p>
            <a:pPr>
              <a:spcBef>
                <a:spcPts val="800"/>
              </a:spcBef>
              <a:spcAft>
                <a:spcPts val="800"/>
              </a:spcAft>
              <a:defRPr sz="2200">
                <a:solidFill>
                  <a:srgbClr val="FFFFFF"/>
                </a:solidFill>
              </a:defRPr>
            </a:pPr>
            <a:r>
              <a:t>      Unit</a:t>
            </a:r>
          </a:p>
          <a:p>
            <a:pPr>
              <a:spcBef>
                <a:spcPts val="800"/>
              </a:spcBef>
              <a:spcAft>
                <a:spcPts val="800"/>
              </a:spcAft>
              <a:defRPr sz="2200">
                <a:solidFill>
                  <a:srgbClr val="FFFFFF"/>
                </a:solidFill>
              </a:defRPr>
            </a:pPr>
            <a:r>
              <a:t>      Integration</a:t>
            </a:r>
          </a:p>
          <a:p>
            <a:pPr>
              <a:spcBef>
                <a:spcPts val="800"/>
              </a:spcBef>
              <a:spcAft>
                <a:spcPts val="800"/>
              </a:spcAft>
              <a:defRPr sz="2200">
                <a:solidFill>
                  <a:srgbClr val="FFFFFF"/>
                </a:solidFill>
              </a:defRPr>
            </a:pPr>
            <a:r>
              <a:t>      Edge cases</a:t>
            </a:r>
          </a:p>
          <a:p>
            <a:pPr>
              <a:spcBef>
                <a:spcPts val="800"/>
              </a:spcBef>
              <a:spcAft>
                <a:spcPts val="800"/>
              </a:spcAft>
              <a:defRPr sz="2200">
                <a:solidFill>
                  <a:srgbClr val="FFFFFF"/>
                </a:solidFill>
              </a:defRPr>
            </a:pPr>
            <a:r>
              <a:t>      Mocks</a:t>
            </a:r>
          </a:p>
          <a:p>
            <a:pPr>
              <a:spcBef>
                <a:spcPts val="800"/>
              </a:spcBef>
              <a:spcAft>
                <a:spcPts val="800"/>
              </a:spcAft>
              <a:defRPr sz="2200">
                <a:solidFill>
                  <a:srgbClr val="FFFFFF"/>
                </a:solidFill>
              </a:defRPr>
            </a:pPr>
            <a:r>
              <a:t>  Quality</a:t>
            </a:r>
          </a:p>
          <a:p>
            <a:pPr>
              <a:spcBef>
                <a:spcPts val="800"/>
              </a:spcBef>
              <a:spcAft>
                <a:spcPts val="800"/>
              </a:spcAft>
              <a:defRPr sz="2200">
                <a:solidFill>
                  <a:srgbClr val="FFFFFF"/>
                </a:solidFill>
              </a:defRPr>
            </a:pPr>
            <a:r>
              <a:t>      80%+ coverage</a:t>
            </a:r>
          </a:p>
          <a:p>
            <a:pPr>
              <a:spcBef>
                <a:spcPts val="800"/>
              </a:spcBef>
              <a:spcAft>
                <a:spcPts val="800"/>
              </a:spcAft>
              <a:defRPr sz="2200">
                <a:solidFill>
                  <a:srgbClr val="FFFFFF"/>
                </a:solidFill>
              </a:defRPr>
            </a:pPr>
            <a:r>
              <a:t>      Happy/sad paths</a:t>
            </a:r>
          </a:p>
          <a:p>
            <a:pPr>
              <a:spcBef>
                <a:spcPts val="800"/>
              </a:spcBef>
              <a:spcAft>
                <a:spcPts val="800"/>
              </a:spcAft>
              <a:defRPr sz="2200">
                <a:solidFill>
                  <a:srgbClr val="FFFFFF"/>
                </a:solidFill>
              </a:defRPr>
            </a:pPr>
            <a:r>
              <a:t>      Readable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Documentation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Types</a:t>
            </a:r>
          </a:p>
          <a:p>
            <a:pPr>
              <a:spcBef>
                <a:spcPts val="800"/>
              </a:spcBef>
              <a:spcAft>
                <a:spcPts val="800"/>
              </a:spcAft>
              <a:defRPr sz="2200">
                <a:solidFill>
                  <a:srgbClr val="FFFFFF"/>
                </a:solidFill>
              </a:defRPr>
            </a:pPr>
            <a:r>
              <a:t>      READMEs</a:t>
            </a:r>
          </a:p>
          <a:p>
            <a:pPr>
              <a:spcBef>
                <a:spcPts val="800"/>
              </a:spcBef>
              <a:spcAft>
                <a:spcPts val="800"/>
              </a:spcAft>
              <a:defRPr sz="2200">
                <a:solidFill>
                  <a:srgbClr val="FFFFFF"/>
                </a:solidFill>
              </a:defRPr>
            </a:pPr>
            <a:r>
              <a:t>      API docs</a:t>
            </a:r>
          </a:p>
          <a:p>
            <a:pPr>
              <a:spcBef>
                <a:spcPts val="800"/>
              </a:spcBef>
              <a:spcAft>
                <a:spcPts val="800"/>
              </a:spcAft>
              <a:defRPr sz="2200">
                <a:solidFill>
                  <a:srgbClr val="FFFFFF"/>
                </a:solidFill>
              </a:defRPr>
            </a:pPr>
            <a:r>
              <a:t>      Comments</a:t>
            </a:r>
          </a:p>
          <a:p>
            <a:pPr>
              <a:spcBef>
                <a:spcPts val="800"/>
              </a:spcBef>
              <a:spcAft>
                <a:spcPts val="800"/>
              </a:spcAft>
              <a:defRPr sz="2200">
                <a:solidFill>
                  <a:srgbClr val="FFFFFF"/>
                </a:solidFill>
              </a:defRPr>
            </a:pPr>
            <a:r>
              <a:t>      Architecture</a:t>
            </a:r>
          </a:p>
          <a:p>
            <a:pPr>
              <a:spcBef>
                <a:spcPts val="800"/>
              </a:spcBef>
              <a:spcAft>
                <a:spcPts val="800"/>
              </a:spcAft>
              <a:defRPr sz="2200">
                <a:solidFill>
                  <a:srgbClr val="FFFFFF"/>
                </a:solidFill>
              </a:defRPr>
            </a:pPr>
            <a:r>
              <a:t>  Quality</a:t>
            </a:r>
          </a:p>
          <a:p>
            <a:pPr>
              <a:spcBef>
                <a:spcPts val="800"/>
              </a:spcBef>
              <a:spcAft>
                <a:spcPts val="800"/>
              </a:spcAft>
              <a:defRPr sz="2200">
                <a:solidFill>
                  <a:srgbClr val="FFFFFF"/>
                </a:solidFill>
              </a:defRPr>
            </a:pPr>
            <a:r>
              <a:t>      Clear</a:t>
            </a:r>
          </a:p>
          <a:p>
            <a:pPr>
              <a:spcBef>
                <a:spcPts val="800"/>
              </a:spcBef>
              <a:spcAft>
                <a:spcPts val="800"/>
              </a:spcAft>
              <a:defRPr sz="2200">
                <a:solidFill>
                  <a:srgbClr val="FFFFFF"/>
                </a:solidFill>
              </a:defRPr>
            </a:pPr>
            <a:r>
              <a:t>      Examples</a:t>
            </a:r>
          </a:p>
          <a:p>
            <a:pPr>
              <a:spcBef>
                <a:spcPts val="800"/>
              </a:spcBef>
              <a:spcAft>
                <a:spcPts val="800"/>
              </a:spcAft>
              <a:defRPr sz="2200">
                <a:solidFill>
                  <a:srgbClr val="FFFFFF"/>
                </a:solidFill>
              </a:defRPr>
            </a:pPr>
            <a:r>
              <a:t>      Up-to-date</a:t>
            </a:r>
          </a:p>
          <a:p>
            <a:pPr>
              <a:spcBef>
                <a:spcPts val="800"/>
              </a:spcBef>
              <a:spcAft>
                <a:spcPts val="800"/>
              </a:spcAft>
              <a:defRPr sz="2200">
                <a:solidFill>
                  <a:srgbClr val="FFFFFF"/>
                </a:solidFill>
              </a:defRPr>
            </a:pPr>
            <a:r>
              <a:t>      Formatted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SQL Query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Natural Language to SQL</a:t>
            </a:r>
          </a:p>
          <a:p>
            <a:pPr>
              <a:spcBef>
                <a:spcPts val="800"/>
              </a:spcBef>
              <a:spcAft>
                <a:spcPts val="800"/>
              </a:spcAft>
              <a:defRPr sz="2200">
                <a:solidFill>
                  <a:srgbClr val="FFFFFF"/>
                </a:solidFill>
              </a:defRPr>
            </a:pPr>
            <a:r>
              <a:t>      Describe what you want in plain English - Claude Code writes the query</a:t>
            </a:r>
          </a:p>
          <a:p>
            <a:pPr>
              <a:spcBef>
                <a:spcPts val="800"/>
              </a:spcBef>
              <a:spcAft>
                <a:spcPts val="800"/>
              </a:spcAft>
              <a:defRPr sz="2200">
                <a:solidFill>
                  <a:srgbClr val="FFFFFF"/>
                </a:solidFill>
              </a:defRPr>
            </a:pPr>
            <a:r>
              <a:t>      Simple SELECT with WHERE clauses</a:t>
            </a:r>
          </a:p>
          <a:p>
            <a:pPr>
              <a:spcBef>
                <a:spcPts val="800"/>
              </a:spcBef>
              <a:spcAft>
                <a:spcPts val="800"/>
              </a:spcAft>
              <a:defRPr sz="2200">
                <a:solidFill>
                  <a:srgbClr val="FFFFFF"/>
                </a:solidFill>
              </a:defRPr>
            </a:pPr>
            <a:r>
              <a:t>      Complex multi-table JOINs with proper relationships</a:t>
            </a:r>
          </a:p>
          <a:p>
            <a:pPr>
              <a:spcBef>
                <a:spcPts val="800"/>
              </a:spcBef>
              <a:spcAft>
                <a:spcPts val="800"/>
              </a:spcAft>
              <a:defRPr sz="2200">
                <a:solidFill>
                  <a:srgbClr val="FFFFFF"/>
                </a:solidFill>
              </a:defRPr>
            </a:pPr>
            <a:r>
              <a:t>      Subqueries and correlated subqueries</a:t>
            </a:r>
          </a:p>
          <a:p>
            <a:pPr>
              <a:spcBef>
                <a:spcPts val="800"/>
              </a:spcBef>
              <a:spcAft>
                <a:spcPts val="800"/>
              </a:spcAft>
              <a:defRPr sz="2200">
                <a:solidFill>
                  <a:srgbClr val="FFFFFF"/>
                </a:solidFill>
              </a:defRPr>
            </a:pPr>
            <a:r>
              <a:t>      Common Table Expressions (CTEs) for readability</a:t>
            </a:r>
          </a:p>
          <a:p>
            <a:pPr>
              <a:spcBef>
                <a:spcPts val="800"/>
              </a:spcBef>
              <a:spcAft>
                <a:spcPts val="800"/>
              </a:spcAft>
              <a:defRPr sz="2200">
                <a:solidFill>
                  <a:srgbClr val="FFFFFF"/>
                </a:solidFill>
              </a:defRPr>
            </a:pPr>
            <a:r>
              <a:t>      Window functions for analytics (ROW_NUMBER, RANK, running totals)</a:t>
            </a:r>
          </a:p>
          <a:p>
            <a:pPr>
              <a:spcBef>
                <a:spcPts val="800"/>
              </a:spcBef>
              <a:spcAft>
                <a:spcPts val="800"/>
              </a:spcAft>
              <a:defRPr sz="2200">
                <a:solidFill>
                  <a:srgbClr val="FFFFFF"/>
                </a:solidFill>
              </a:defRPr>
            </a:pPr>
            <a:r>
              <a:t>  Database-Aware</a:t>
            </a:r>
          </a:p>
          <a:p>
            <a:pPr>
              <a:spcBef>
                <a:spcPts val="800"/>
              </a:spcBef>
              <a:spcAft>
                <a:spcPts val="800"/>
              </a:spcAft>
              <a:defRPr sz="2200">
                <a:solidFill>
                  <a:srgbClr val="FFFFFF"/>
                </a:solidFill>
              </a:defRPr>
            </a:pPr>
            <a:r>
              <a:t>      Adapts syntax to your database engine (PostgreSQL, MySQL, SQLite)</a:t>
            </a:r>
          </a:p>
          <a:p>
            <a:pPr>
              <a:spcBef>
                <a:spcPts val="800"/>
              </a:spcBef>
              <a:spcAft>
                <a:spcPts val="800"/>
              </a:spcAft>
              <a:defRPr sz="2200">
                <a:solidFill>
                  <a:srgbClr val="FFFFFF"/>
                </a:solidFill>
              </a:defRPr>
            </a:pPr>
            <a:r>
              <a:t>      Uses database-specific features when beneficial (JSONB in Postgres, stored procedures in MySQL)</a:t>
            </a:r>
          </a:p>
          <a:p>
            <a:pPr>
              <a:spcBef>
                <a:spcPts val="800"/>
              </a:spcBef>
              <a:spcAft>
                <a:spcPts val="800"/>
              </a:spcAft>
              <a:defRPr sz="2200">
                <a:solidFill>
                  <a:srgbClr val="FFFFFF"/>
                </a:solidFill>
              </a:defRPr>
            </a:pPr>
            <a:r>
              <a:t>      Includes appropriate indexes and constraints in recommendations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Prompt: "Find the top 5 customers by total order value in the\n-- last 90 days, including their most recent order date"\n\nWITH customer_orders AS (\n  SELECT \n    c.customer_id,\n    c.first_name,\n    c.last_name,\n    c.email,\n    SUM(oi.quantity * oi.unit_price) AS total_value,\n    MAX(o.order_date) AS latest_order_date,\n    COUNT(DISTINCT o.order_id) AS order_count\n  FROM customers c\n  JOIN orders o ON c.customer_id = o.customer_id\n  JOIN order_items oi ON o.order_id = oi.order_id\n  WHERE o.order_date &gt;= CURRENT_DATE - INTERVAL '90 days'\n  GROUP BY c.customer_id, c.first_name, c.last_name, c.email\n)\nSELECT \n  customer_id,\n  first_name || ' ' || last_name AS customer_name,\n  email,\n  total_value,\n  latest_order_date,\n  order_count\nFROM customer_orders\nORDER BY total_value DESC\nLIMIT 5;</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Claude Code Helps Design</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Anti-Patterns Claude Catches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BEFORE (slow query)\nSELECT * FROM orders o\nWHERE o.customer_id IN (\n  SELECT customer_id FROM customers WHERE country = 'USA'\n)\nAND o.order_date &gt;= '2025-01-01';\n\n-- AFTER (optimized by Claude Code)\nSELECT \n  o.order_id,\n  o.customer_id,\n  o.order_date,\n  o.total_amount\nFROM orders o\nJOIN customers c ON o.customer_id = c.customer_id\nWHERE c.country = 'USA'\n  AND o.order_date &gt;= '2025-01-01';\n\n-- Recommended indexes:\nCREATE INDEX idx_customers_country ON customers(country);\nCREATE INDEX idx_orders_date ON orders(order_date);\nCREATE INDEX idx_orders_customer ON orders(customer_id);\n\n-- EXPLAIN shows 90% reduction in execution time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ETL &amp; Data Transformation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Transformation Tasks</a:t>
            </a:r>
          </a:p>
          <a:p>
            <a:pPr>
              <a:spcBef>
                <a:spcPts val="800"/>
              </a:spcBef>
              <a:spcAft>
                <a:spcPts val="800"/>
              </a:spcAft>
              <a:defRPr sz="2200">
                <a:solidFill>
                  <a:srgbClr val="FFFFFF"/>
                </a:solidFill>
              </a:defRPr>
            </a:pPr>
            <a:r>
              <a:t>      **Data Migration Scripts**: Moving data between schemas or databases</a:t>
            </a:r>
          </a:p>
          <a:p>
            <a:pPr>
              <a:spcBef>
                <a:spcPts val="800"/>
              </a:spcBef>
              <a:spcAft>
                <a:spcPts val="800"/>
              </a:spcAft>
              <a:defRPr sz="2200">
                <a:solidFill>
                  <a:srgbClr val="FFFFFF"/>
                </a:solidFill>
              </a:defRPr>
            </a:pPr>
            <a:r>
              <a:t>      **Format Conversions**: CSV to SQL, JSON to relational, XML to tables</a:t>
            </a:r>
          </a:p>
          <a:p>
            <a:pPr>
              <a:spcBef>
                <a:spcPts val="800"/>
              </a:spcBef>
              <a:spcAft>
                <a:spcPts val="800"/>
              </a:spcAft>
              <a:defRPr sz="2200">
                <a:solidFill>
                  <a:srgbClr val="FFFFFF"/>
                </a:solidFill>
              </a:defRPr>
            </a:pPr>
            <a:r>
              <a:t>      **Cleanup &amp; Deduplication**: Removing duplicates, fixing inconsistent data</a:t>
            </a:r>
          </a:p>
          <a:p>
            <a:pPr>
              <a:spcBef>
                <a:spcPts val="800"/>
              </a:spcBef>
              <a:spcAft>
                <a:spcPts val="800"/>
              </a:spcAft>
              <a:defRPr sz="2200">
                <a:solidFill>
                  <a:srgbClr val="FFFFFF"/>
                </a:solidFill>
              </a:defRPr>
            </a:pPr>
            <a:r>
              <a:t>      **Multi-Step Transformations**: Complex pipelines with intermediate staging tables</a:t>
            </a:r>
          </a:p>
          <a:p>
            <a:pPr>
              <a:spcBef>
                <a:spcPts val="800"/>
              </a:spcBef>
              <a:spcAft>
                <a:spcPts val="800"/>
              </a:spcAft>
              <a:defRPr sz="2200">
                <a:solidFill>
                  <a:srgbClr val="FFFFFF"/>
                </a:solidFill>
              </a:defRPr>
            </a:pPr>
            <a:r>
              <a:t>      **Type Conversions**: String dates to TIMESTAMP, comma-separated to arrays</a:t>
            </a:r>
          </a:p>
          <a:p>
            <a:pPr>
              <a:spcBef>
                <a:spcPts val="800"/>
              </a:spcBef>
              <a:spcAft>
                <a:spcPts val="800"/>
              </a:spcAft>
              <a:defRPr sz="2200">
                <a:solidFill>
                  <a:srgbClr val="FFFFFF"/>
                </a:solidFill>
              </a:defRPr>
            </a:pPr>
            <a:r>
              <a:t>      **Validation During Transform**: Ensuring data quality during migration</a:t>
            </a:r>
          </a:p>
          <a:p>
            <a:pPr>
              <a:spcBef>
                <a:spcPts val="800"/>
              </a:spcBef>
              <a:spcAft>
                <a:spcPts val="800"/>
              </a:spcAft>
              <a:defRPr sz="2200">
                <a:solidFill>
                  <a:srgbClr val="FFFFFF"/>
                </a:solidFill>
              </a:defRPr>
            </a:pPr>
            <a:r>
              <a:t>  Claude Code Generates</a:t>
            </a:r>
          </a:p>
          <a:p>
            <a:pPr>
              <a:spcBef>
                <a:spcPts val="800"/>
              </a:spcBef>
              <a:spcAft>
                <a:spcPts val="800"/>
              </a:spcAft>
              <a:defRPr sz="2200">
                <a:solidFill>
                  <a:srgbClr val="FFFFFF"/>
                </a:solidFill>
              </a:defRPr>
            </a:pPr>
            <a:r>
              <a:t>      Complete migration scripts with rollback capability</a:t>
            </a:r>
          </a:p>
          <a:p>
            <a:pPr>
              <a:spcBef>
                <a:spcPts val="800"/>
              </a:spcBef>
              <a:spcAft>
                <a:spcPts val="800"/>
              </a:spcAft>
              <a:defRPr sz="2200">
                <a:solidFill>
                  <a:srgbClr val="FFFFFF"/>
                </a:solidFill>
              </a:defRPr>
            </a:pPr>
            <a:r>
              <a:t>      Idempotent transformations (safe to run multiple times)</a:t>
            </a:r>
          </a:p>
          <a:p>
            <a:pPr>
              <a:spcBef>
                <a:spcPts val="800"/>
              </a:spcBef>
              <a:spcAft>
                <a:spcPts val="800"/>
              </a:spcAft>
              <a:defRPr sz="2200">
                <a:solidFill>
                  <a:srgbClr val="FFFFFF"/>
                </a:solidFill>
              </a:defRPr>
            </a:pPr>
            <a:r>
              <a:t>      Validation queries to verify data integrity</a:t>
            </a:r>
          </a:p>
          <a:p>
            <a:pPr>
              <a:spcBef>
                <a:spcPts val="800"/>
              </a:spcBef>
              <a:spcAft>
                <a:spcPts val="800"/>
              </a:spcAft>
              <a:defRPr sz="2200">
                <a:solidFill>
                  <a:srgbClr val="FFFFFF"/>
                </a:solidFill>
              </a:defRPr>
            </a:pPr>
            <a:r>
              <a:t>      Performance-optimized bulk operations</a:t>
            </a:r>
          </a:p>
          <a:p>
            <a:pPr>
              <a:spcBef>
                <a:spcPts val="800"/>
              </a:spcBef>
              <a:spcAft>
                <a:spcPts val="800"/>
              </a:spcAft>
              <a:defRPr sz="2200">
                <a:solidFill>
                  <a:srgbClr val="FFFFFF"/>
                </a:solidFill>
              </a:defRPr>
            </a:pPr>
            <a:r>
              <a:t>      Clear comments explaining each transformation step</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Data Validation &amp; Quality Checks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Validation Types</a:t>
            </a:r>
          </a:p>
          <a:p>
            <a:pPr>
              <a:spcBef>
                <a:spcPts val="800"/>
              </a:spcBef>
              <a:spcAft>
                <a:spcPts val="800"/>
              </a:spcAft>
              <a:defRPr sz="2200">
                <a:solidFill>
                  <a:srgbClr val="FFFFFF"/>
                </a:solidFill>
              </a:defRPr>
            </a:pPr>
            <a:r>
              <a:t>      **Constraint Generation**: Claude Code writes CHECK, NOT NULL, UNIQUE constraints based on business rules</a:t>
            </a:r>
          </a:p>
          <a:p>
            <a:pPr>
              <a:spcBef>
                <a:spcPts val="800"/>
              </a:spcBef>
              <a:spcAft>
                <a:spcPts val="800"/>
              </a:spcAft>
              <a:defRPr sz="2200">
                <a:solidFill>
                  <a:srgbClr val="FFFFFF"/>
                </a:solidFill>
              </a:defRPr>
            </a:pPr>
            <a:r>
              <a:t>      **Data Profiling Queries**: Statistical summaries (counts, min/max, nulls, distinct values)</a:t>
            </a:r>
          </a:p>
          <a:p>
            <a:pPr>
              <a:spcBef>
                <a:spcPts val="800"/>
              </a:spcBef>
              <a:spcAft>
                <a:spcPts val="800"/>
              </a:spcAft>
              <a:defRPr sz="2200">
                <a:solidFill>
                  <a:srgbClr val="FFFFFF"/>
                </a:solidFill>
              </a:defRPr>
            </a:pPr>
            <a:r>
              <a:t>      **Anomaly Detection SQL**: Finding outliers, unexpected patterns, inconsistencies</a:t>
            </a:r>
          </a:p>
          <a:p>
            <a:pPr>
              <a:spcBef>
                <a:spcPts val="800"/>
              </a:spcBef>
              <a:spcAft>
                <a:spcPts val="800"/>
              </a:spcAft>
              <a:defRPr sz="2200">
                <a:solidFill>
                  <a:srgbClr val="FFFFFF"/>
                </a:solidFill>
              </a:defRPr>
            </a:pPr>
            <a:r>
              <a:t>      **Referential Integrity Checks**: Finding orphaned records, missing foreign key references</a:t>
            </a:r>
          </a:p>
          <a:p>
            <a:pPr>
              <a:spcBef>
                <a:spcPts val="800"/>
              </a:spcBef>
              <a:spcAft>
                <a:spcPts val="800"/>
              </a:spcAft>
              <a:defRPr sz="2200">
                <a:solidFill>
                  <a:srgbClr val="FFFFFF"/>
                </a:solidFill>
              </a:defRPr>
            </a:pPr>
            <a:r>
              <a:t>      **Duplicate Detection**: Identifying exact and fuzzy duplicates</a:t>
            </a:r>
          </a:p>
          <a:p>
            <a:pPr>
              <a:spcBef>
                <a:spcPts val="800"/>
              </a:spcBef>
              <a:spcAft>
                <a:spcPts val="800"/>
              </a:spcAft>
              <a:defRPr sz="2200">
                <a:solidFill>
                  <a:srgbClr val="FFFFFF"/>
                </a:solidFill>
              </a:defRPr>
            </a:pPr>
            <a:r>
              <a:t>      **Format Validation**: Email addresses, phone numbers, dates in correct format</a:t>
            </a:r>
          </a:p>
          <a:p>
            <a:pPr>
              <a:spcBef>
                <a:spcPts val="800"/>
              </a:spcBef>
              <a:spcAft>
                <a:spcPts val="800"/>
              </a:spcAft>
              <a:defRPr sz="2200">
                <a:solidFill>
                  <a:srgbClr val="FFFFFF"/>
                </a:solidFill>
              </a:defRPr>
            </a:pPr>
            <a:r>
              <a:t>  Quality Assurance</a:t>
            </a:r>
          </a:p>
          <a:p>
            <a:pPr>
              <a:spcBef>
                <a:spcPts val="800"/>
              </a:spcBef>
              <a:spcAft>
                <a:spcPts val="800"/>
              </a:spcAft>
              <a:defRPr sz="2200">
                <a:solidFill>
                  <a:srgbClr val="FFFFFF"/>
                </a:solidFill>
              </a:defRPr>
            </a:pPr>
            <a:r>
              <a:t>      Pre-deployment validation queries to catch issues before production</a:t>
            </a:r>
          </a:p>
          <a:p>
            <a:pPr>
              <a:spcBef>
                <a:spcPts val="800"/>
              </a:spcBef>
              <a:spcAft>
                <a:spcPts val="800"/>
              </a:spcAft>
              <a:defRPr sz="2200">
                <a:solidFill>
                  <a:srgbClr val="FFFFFF"/>
                </a:solidFill>
              </a:defRPr>
            </a:pPr>
            <a:r>
              <a:t>      Ongoing monitoring queries to detect data corruption</a:t>
            </a:r>
          </a:p>
          <a:p>
            <a:pPr>
              <a:spcBef>
                <a:spcPts val="800"/>
              </a:spcBef>
              <a:spcAft>
                <a:spcPts val="800"/>
              </a:spcAft>
              <a:defRPr sz="2200">
                <a:solidFill>
                  <a:srgbClr val="FFFFFF"/>
                </a:solidFill>
              </a:defRPr>
            </a:pPr>
            <a:r>
              <a:t>      Post-migration validation to ensure data was transferred correctly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