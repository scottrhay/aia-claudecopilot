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  <p:sldId id="299" r:id="rId51"/>
    <p:sldId id="300" r:id="rId52"/>
    <p:sldId id="301" r:id="rId53"/>
    <p:sldId id="302" r:id="rId54"/>
    <p:sldId id="303" r:id="rId55"/>
    <p:sldId id="304" r:id="rId56"/>
    <p:sldId id="305" r:id="rId57"/>
    <p:sldId id="306" r:id="rId5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Relationship Id="rId48" Type="http://schemas.openxmlformats.org/officeDocument/2006/relationships/slide" Target="slides/slide41.xml"/><Relationship Id="rId49" Type="http://schemas.openxmlformats.org/officeDocument/2006/relationships/slide" Target="slides/slide42.xml"/><Relationship Id="rId50" Type="http://schemas.openxmlformats.org/officeDocument/2006/relationships/slide" Target="slides/slide43.xml"/><Relationship Id="rId51" Type="http://schemas.openxmlformats.org/officeDocument/2006/relationships/slide" Target="slides/slide44.xml"/><Relationship Id="rId52" Type="http://schemas.openxmlformats.org/officeDocument/2006/relationships/slide" Target="slides/slide45.xml"/><Relationship Id="rId53" Type="http://schemas.openxmlformats.org/officeDocument/2006/relationships/slide" Target="slides/slide46.xml"/><Relationship Id="rId54" Type="http://schemas.openxmlformats.org/officeDocument/2006/relationships/slide" Target="slides/slide47.xml"/><Relationship Id="rId55" Type="http://schemas.openxmlformats.org/officeDocument/2006/relationships/slide" Target="slides/slide48.xml"/><Relationship Id="rId56" Type="http://schemas.openxmlformats.org/officeDocument/2006/relationships/slide" Target="slides/slide49.xml"/><Relationship Id="rId57" Type="http://schemas.openxmlformats.org/officeDocument/2006/relationships/slide" Target="slides/slide50.xml"/><Relationship Id="rId58" Type="http://schemas.openxmlformats.org/officeDocument/2006/relationships/slide" Target="slides/slide5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4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_rels/notesSlide4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7.xml"/></Relationships>
</file>

<file path=ppt/notesSlides/_rels/notesSlide4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8.xml"/></Relationships>
</file>

<file path=ppt/notesSlides/_rels/notesSlide4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9.xml"/></Relationships>
</file>

<file path=ppt/notesSlides/_rels/notesSlide5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0.xml"/></Relationships>
</file>

<file path=ppt/notesSlides/_rels/notesSlide5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TIME: 2 minutes</a:t>
            </a:r>
          </a:p>
          <a:p/>
          <a:p>
            <a:r>
              <a:t>KEY POINTS:</a:t>
            </a:r>
          </a:p>
          <a:p>
            <a:r>
              <a:t>   * Welcome! Today you'll learn practical skills to use AI assistants in your daily work</a:t>
            </a:r>
          </a:p>
          <a:p>
            <a:r>
              <a:t>   * Say: 'This is a hands-on session. You'll practice as we go.'</a:t>
            </a:r>
          </a:p>
          <a:p>
            <a:r>
              <a:t>   * By the end, you'll be getting better results from both Claude and Copilot</a:t>
            </a:r>
          </a:p>
          <a:p/>
          <a:p>
            <a:r>
              <a:t>ASK THE CLASS:</a:t>
            </a:r>
          </a:p>
          <a:p>
            <a:r>
              <a:t>   "Quick show of hands - who has used Claude before? Who has used Microsoft Copilot? Who has used both?"</a:t>
            </a:r>
          </a:p>
          <a:p>
            <a:r>
              <a:t>   [PAUSE for 30-60 seconds]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TIME: 1 minute</a:t>
            </a:r>
          </a:p>
          <a:p/>
          <a:p>
            <a:r>
              <a:t>KEY POINTS:</a:t>
            </a:r>
          </a:p>
          <a:p>
            <a:r>
              <a:t>   * Acknowledge: Mix of Claude and Copilot users in the room</a:t>
            </a:r>
          </a:p>
          <a:p>
            <a:r>
              <a:t>   * Promise: 'You'll leave with skills you can use immediately'</a:t>
            </a:r>
          </a:p>
          <a:p>
            <a:r>
              <a:t>   * Let's start by understanding why we have two AI assistants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TIME: 1 minute</a:t>
            </a:r>
          </a:p>
          <a:p/>
          <a:p>
            <a:r>
              <a:t>KEY POINTS:</a:t>
            </a:r>
          </a:p>
          <a:p>
            <a:r>
              <a:t>   * You might wonder - why not just use one?</a:t>
            </a:r>
          </a:p>
          <a:p>
            <a:r>
              <a:t>   * The answer is they're good at different things</a:t>
            </a:r>
          </a:p>
          <a:p>
            <a:r>
              <a:t>   * Using both = maximum productivity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TIME: 3 minutes</a:t>
            </a:r>
          </a:p>
          <a:p/>
          <a:p>
            <a:r>
              <a:t>KEY POINTS:</a:t>
            </a:r>
          </a:p>
          <a:p>
            <a:r>
              <a:t>   * Claude excels at: Long-form writing, complex analysis, reasoning through problems</a:t>
            </a:r>
          </a:p>
          <a:p>
            <a:r>
              <a:t>   * Copilot excels at: Working inside Word, Excel, Outlook - where your data already lives</a:t>
            </a:r>
          </a:p>
          <a:p>
            <a:r>
              <a:t>   * EMPHASIZE: Neither is 'better' - they're different</a:t>
            </a:r>
          </a:p>
          <a:p/>
          <a:p>
            <a:r>
              <a:t>ASK THE CLASS:</a:t>
            </a:r>
          </a:p>
          <a:p>
            <a:r>
              <a:t>   "What tasks take up most of your workday? Writing? Analysis? Emails?"</a:t>
            </a:r>
          </a:p>
          <a:p>
            <a:r>
              <a:t>   [PAUSE for 30-60 seconds]</a:t>
            </a:r>
          </a:p>
          <a:p/>
          <a:p>
            <a:r>
              <a:t>REAL-WORLD EXAMPLE:</a:t>
            </a:r>
          </a:p>
          <a:p>
            <a:r>
              <a:t>   Finance teams often use Copilot for quick Excel formulas, Claude for complex financial analysis and reports.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TIME: 1 minute</a:t>
            </a:r>
          </a:p>
          <a:p/>
          <a:p>
            <a:r>
              <a:t>KEY POINTS:</a:t>
            </a:r>
          </a:p>
          <a:p>
            <a:r>
              <a:t>   * Claude: Go to it for deep work, big projects, complex analysis</a:t>
            </a:r>
          </a:p>
          <a:p>
            <a:r>
              <a:t>   * Copilot: Always there in your Office apps, quick help as you work</a:t>
            </a:r>
          </a:p>
          <a:p>
            <a:r>
              <a:t>   * The smart move: Use the right tool for each task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TIME: 2 minutes</a:t>
            </a:r>
          </a:p>
          <a:p/>
          <a:p>
            <a:r>
              <a:t>KEY POINTS:</a:t>
            </a:r>
          </a:p>
          <a:p>
            <a:r>
              <a:t>   * Prompting first: These skills apply to BOTH tools</a:t>
            </a:r>
          </a:p>
          <a:p>
            <a:r>
              <a:t>   * Then hands-on practice with each</a:t>
            </a:r>
          </a:p>
          <a:p>
            <a:r>
              <a:t>   * Interrupt anytime with questions</a:t>
            </a:r>
          </a:p>
          <a:p/>
          <a:p>
            <a:r>
              <a:t>ASK THE CLASS:</a:t>
            </a:r>
          </a:p>
          <a:p>
            <a:r>
              <a:t>   "Any topics you're specifically hoping to learn today?"</a:t>
            </a:r>
          </a:p>
          <a:p>
            <a:r>
              <a:t>   [PAUSE for 30-60 seconds]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TIME: 1 minute</a:t>
            </a:r>
          </a:p>
          <a:p/>
          <a:p>
            <a:r>
              <a:t>KEY POINTS:</a:t>
            </a:r>
          </a:p>
          <a:p>
            <a:r>
              <a:t>   * This section is the most important thing you'll learn today</a:t>
            </a:r>
          </a:p>
          <a:p>
            <a:r>
              <a:t>   * Good prompts = good results. Bad prompts = frustration.</a:t>
            </a:r>
          </a:p>
          <a:p>
            <a:r>
              <a:t>   * These skills work for Claude, Copilot, ChatGPT - any AI</a:t>
            </a:r>
          </a:p>
          <a:p/>
          <a:p>
            <a:r>
              <a:t>ASK THE CLASS:</a:t>
            </a:r>
          </a:p>
          <a:p>
            <a:r>
              <a:t>   "Has anyone been frustrated by AI giving unhelpful responses? That's usually a prompt problem."</a:t>
            </a:r>
          </a:p>
          <a:p>
            <a:r>
              <a:t>   [PAUSE for 30-60 seconds]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TIME: 2 minutes</a:t>
            </a:r>
          </a:p>
          <a:p/>
          <a:p>
            <a:r>
              <a:t>KEY POINTS:</a:t>
            </a:r>
          </a:p>
          <a:p>
            <a:r>
              <a:t>   * AI doesn't read minds - it reads your exact words</a:t>
            </a:r>
          </a:p>
          <a:p>
            <a:r>
              <a:t>   * Think: Delegating to a smart but literal assistant</a:t>
            </a:r>
          </a:p>
          <a:p>
            <a:r>
              <a:t>   * Quality in = Quality out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TIME: 2 minutes</a:t>
            </a:r>
          </a:p>
          <a:p/>
          <a:p>
            <a:r>
              <a:t>KEY POINTS:</a:t>
            </a:r>
          </a:p>
          <a:p>
            <a:r>
              <a:t>   * AI takes you LITERALLY</a:t>
            </a:r>
          </a:p>
          <a:p>
            <a:r>
              <a:t>   * Vague request = vague response</a:t>
            </a:r>
          </a:p>
          <a:p>
            <a:r>
              <a:t>   * The specific version gets a usable result</a:t>
            </a:r>
          </a:p>
          <a:p/>
          <a:p>
            <a:r>
              <a:t>REAL-WORLD EXAMPLE:</a:t>
            </a:r>
          </a:p>
          <a:p>
            <a:r>
              <a:t>   A finance analyst asked Claude 'analyze this data' - got generic response. Asked 'identify the three largest budget variances and explain possible causes' - got exactly what she needed.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TIME: 1 minute</a:t>
            </a:r>
          </a:p>
          <a:p/>
          <a:p>
            <a:r>
              <a:t>KEY POINTS:</a:t>
            </a:r>
          </a:p>
          <a:p>
            <a:r>
              <a:t>   * GOLDEN is your formula for writing prompts that work</a:t>
            </a:r>
          </a:p>
          <a:p>
            <a:r>
              <a:t>   * It stands for six elements</a:t>
            </a:r>
          </a:p>
          <a:p>
            <a:r>
              <a:t>   * You don't need all six every time - G and O are essential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TIME: 2 minutes</a:t>
            </a:r>
          </a:p>
          <a:p/>
          <a:p>
            <a:r>
              <a:t>KEY POINTS:</a:t>
            </a:r>
          </a:p>
          <a:p>
            <a:r>
              <a:t>   * Goal: WHY are you asking? What outcome do you need?</a:t>
            </a:r>
          </a:p>
          <a:p>
            <a:r>
              <a:t>   * Output: What format? Bullets? Paragraph? Table?</a:t>
            </a:r>
          </a:p>
          <a:p>
            <a:r>
              <a:t>   * These two are essential for every prompt</a:t>
            </a:r>
          </a:p>
          <a:p/>
          <a:p>
            <a:r>
              <a:t>ASK THE CLASS:</a:t>
            </a:r>
          </a:p>
          <a:p>
            <a:r>
              <a:t>   "Which of these elements do you usually include when asking AI for something?"</a:t>
            </a:r>
          </a:p>
          <a:p>
            <a:r>
              <a:t>   [PAUSE for 30-60 seconds]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TIME: 2 minutes</a:t>
            </a:r>
          </a:p>
          <a:p/>
          <a:p>
            <a:r>
              <a:t>KEY POINTS:</a:t>
            </a:r>
          </a:p>
          <a:p>
            <a:r>
              <a:t>   * Length: How long or short should it be?</a:t>
            </a:r>
          </a:p>
          <a:p>
            <a:r>
              <a:t>   * Details: Specific information to include</a:t>
            </a:r>
          </a:p>
          <a:p>
            <a:r>
              <a:t>   * Examples: Show what good looks like</a:t>
            </a:r>
          </a:p>
          <a:p>
            <a:r>
              <a:t>   * No-gos: What to avoid</a:t>
            </a:r>
          </a:p>
          <a:p/>
          <a:p>
            <a:r>
              <a:t>REAL-WORLD EXAMPLE:</a:t>
            </a:r>
          </a:p>
          <a:p>
            <a:r>
              <a:t>   A CEO's executive assistant uses GOLDEN for every Claude request. She says it cut her revision rounds in half.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TIME: 3 minutes</a:t>
            </a:r>
          </a:p>
          <a:p/>
          <a:p>
            <a:r>
              <a:t>KEY POINTS:</a:t>
            </a:r>
          </a:p>
          <a:p>
            <a:r>
              <a:t>   * DEMO: Show this prompt to Claude vs 'Write about Q4 results'</a:t>
            </a:r>
          </a:p>
          <a:p>
            <a:r>
              <a:t>   * The detailed prompt saves time on revisions</a:t>
            </a:r>
          </a:p>
          <a:p>
            <a:r>
              <a:t>   * You're giving Claude the same context you'd give a colleague</a:t>
            </a:r>
          </a:p>
          <a:p/>
          <a:p>
            <a:r>
              <a:t>ASK THE CLASS:</a:t>
            </a:r>
          </a:p>
          <a:p>
            <a:r>
              <a:t>   "Which version would you rather receive if delegating this to a team member?"</a:t>
            </a:r>
          </a:p>
          <a:p>
            <a:r>
              <a:t>   [PAUSE for 30-60 seconds]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TIME: 1 minute</a:t>
            </a:r>
          </a:p>
          <a:p/>
          <a:p>
            <a:r>
              <a:t>KEY POINTS:</a:t>
            </a:r>
          </a:p>
          <a:p>
            <a:r>
              <a:t>   * GOLDEN is comprehensive. GSCE is for quick tasks.</a:t>
            </a:r>
          </a:p>
          <a:p>
            <a:r>
              <a:t>   * Simpler than GOLDEN - four elements</a:t>
            </a:r>
          </a:p>
          <a:p>
            <a:r>
              <a:t>   * Great for: Quick emails, simple summaries, short tasks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TIME: 2 minutes</a:t>
            </a:r>
          </a:p>
          <a:p/>
          <a:p>
            <a:r>
              <a:t>KEY POINTS:</a:t>
            </a:r>
          </a:p>
          <a:p>
            <a:r>
              <a:t>   * Goal: What outcome do you need?</a:t>
            </a:r>
          </a:p>
          <a:p>
            <a:r>
              <a:t>   * Steps: Break down the task</a:t>
            </a:r>
          </a:p>
          <a:p>
            <a:r>
              <a:t>   * Context: Background information</a:t>
            </a:r>
          </a:p>
          <a:p>
            <a:r>
              <a:t>   * Expectations: Quality criteria</a:t>
            </a:r>
          </a:p>
          <a:p/>
          <a:p>
            <a:r>
              <a:t>ASK THE CLASS:</a:t>
            </a:r>
          </a:p>
          <a:p>
            <a:r>
              <a:t>   "For your day-to-day tasks, would GSCE be enough most of the time?"</a:t>
            </a:r>
          </a:p>
          <a:p>
            <a:r>
              <a:t>   [PAUSE for 30-60 seconds]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TIME: 1 minute</a:t>
            </a:r>
          </a:p>
          <a:p/>
          <a:p>
            <a:r>
              <a:t>KEY POINTS:</a:t>
            </a:r>
          </a:p>
          <a:p>
            <a:r>
              <a:t>   * Everyone makes these mistakes. I've made all of them.</a:t>
            </a:r>
          </a:p>
          <a:p>
            <a:r>
              <a:t>   * Let's learn to avoid them.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TIME: 3 minutes</a:t>
            </a:r>
          </a:p>
          <a:p/>
          <a:p>
            <a:r>
              <a:t>KEY POINTS:</a:t>
            </a:r>
          </a:p>
          <a:p>
            <a:r>
              <a:t>   * Too vague: 'Help me' gives AI nothing to work with</a:t>
            </a:r>
          </a:p>
          <a:p>
            <a:r>
              <a:t>   * Too long: Put the ask first, context second</a:t>
            </a:r>
          </a:p>
          <a:p>
            <a:r>
              <a:t>   * One-shot: Your first response is a draft - iterate!</a:t>
            </a:r>
          </a:p>
          <a:p/>
          <a:p>
            <a:r>
              <a:t>ASK THE CLASS:</a:t>
            </a:r>
          </a:p>
          <a:p>
            <a:r>
              <a:t>   "Which of these mistakes have you made? Don't be shy - we all have."</a:t>
            </a:r>
          </a:p>
          <a:p>
            <a:r>
              <a:t>   [PAUSE for 30-60 seconds]</a:t>
            </a:r>
          </a:p>
          <a:p/>
          <a:p>
            <a:r>
              <a:t>REAL-WORLD EXAMPLE:</a:t>
            </a:r>
          </a:p>
          <a:p>
            <a:r>
              <a:t>   A VP spent 20 minutes writing background before asking Claude for help. Claude got confused. Lesson: Ask first, explain second.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TIME: 2 minutes</a:t>
            </a:r>
          </a:p>
          <a:p/>
          <a:p>
            <a:r>
              <a:t>KEY POINTS:</a:t>
            </a:r>
          </a:p>
          <a:p>
            <a:r>
              <a:t>   * Conversation is iterative - just like editing with a colleague</a:t>
            </a:r>
          </a:p>
          <a:p>
            <a:r>
              <a:t>   * Don't start over - build on what you have</a:t>
            </a:r>
          </a:p>
          <a:p>
            <a:r>
              <a:t>   * AI remembers context - use that</a:t>
            </a:r>
          </a:p>
          <a:p/>
          <a:p>
            <a:r>
              <a:t>ASK THE CLASS:</a:t>
            </a:r>
          </a:p>
          <a:p>
            <a:r>
              <a:t>   "When you work with a colleague on a document, do you accept the first draft? Same applies to AI."</a:t>
            </a:r>
          </a:p>
          <a:p>
            <a:r>
              <a:t>   [PAUSE for 30-60 seconds]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TIME: 2 minutes</a:t>
            </a:r>
          </a:p>
          <a:p/>
          <a:p>
            <a:r>
              <a:t>KEY POINTS:</a:t>
            </a:r>
          </a:p>
          <a:p>
            <a:r>
              <a:t>   * Step 1: Your prompt - be specific using GOLDEN or GSCE</a:t>
            </a:r>
          </a:p>
          <a:p>
            <a:r>
              <a:t>   * Step 2: AI responds - read it, assess it</a:t>
            </a:r>
          </a:p>
          <a:p>
            <a:r>
              <a:t>   * Step 3: Give feedback - 'make it shorter', 'add more detail'</a:t>
            </a:r>
          </a:p>
          <a:p>
            <a:r>
              <a:t>   * Step 4: Repeat until done</a:t>
            </a:r>
          </a:p>
          <a:p/>
          <a:p>
            <a:r>
              <a:t>REAL-WORLD EXAMPLE:</a:t>
            </a:r>
          </a:p>
          <a:p>
            <a:r>
              <a:t>   A marketing manager gets Claude's first draft, then says 'add more data' &gt; 'make it snappier' &gt; 'cut by 30%'. Three iterations, great result.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TIME: 2 minutes</a:t>
            </a:r>
          </a:p>
          <a:p/>
          <a:p>
            <a:r>
              <a:t>KEY POINTS:</a:t>
            </a:r>
          </a:p>
          <a:p>
            <a:r>
              <a:t>   * Tags separate different parts of your prompt</a:t>
            </a:r>
          </a:p>
          <a:p>
            <a:r>
              <a:t>   * AI understands: 'This is the task, this is the data, this is the format'</a:t>
            </a:r>
          </a:p>
          <a:p>
            <a:r>
              <a:t>   * Especially useful when you have lots of information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TIME: 2 minutes</a:t>
            </a:r>
          </a:p>
          <a:p/>
          <a:p>
            <a:r>
              <a:t>KEY POINTS:</a:t>
            </a:r>
          </a:p>
          <a:p>
            <a:r>
              <a:t>   * Data analysts use this pattern when asking Claude to analyze spreadsheet data</a:t>
            </a:r>
          </a:p>
          <a:p>
            <a:r>
              <a:t>   * Clear structure = clear analysis</a:t>
            </a:r>
          </a:p>
          <a:p>
            <a:r>
              <a:t>   * Anyone can use angle brackets to organize prompts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TIME: 2 minutes</a:t>
            </a:r>
          </a:p>
          <a:p/>
          <a:p>
            <a:r>
              <a:t>KEY POINTS:</a:t>
            </a:r>
          </a:p>
          <a:p>
            <a:r>
              <a:t>   * The answer is obvious, right?</a:t>
            </a:r>
          </a:p>
          <a:p>
            <a:r>
              <a:t>   * But how often do we send prompts like A, C, or D?</a:t>
            </a:r>
          </a:p>
          <a:p>
            <a:r>
              <a:t>   * Being specific takes 10 seconds longer but saves 10 minutes of revisions</a:t>
            </a:r>
          </a:p>
          <a:p/>
          <a:p>
            <a:r>
              <a:t>ASK THE CLASS:</a:t>
            </a:r>
          </a:p>
          <a:p>
            <a:r>
              <a:t>   "What would you add to option B to make it even better?"</a:t>
            </a:r>
          </a:p>
          <a:p>
            <a:r>
              <a:t>   [PAUSE for 30-60 seconds]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TIME: 1 minute</a:t>
            </a:r>
          </a:p>
          <a:p/>
          <a:p>
            <a:r>
              <a:t>KEY POINTS:</a:t>
            </a:r>
          </a:p>
          <a:p>
            <a:r>
              <a:t>   * Time to practice! Open claude.ai in your browser</a:t>
            </a:r>
          </a:p>
          <a:p>
            <a:r>
              <a:t>   * We're going to use the prompting skills we just learned</a:t>
            </a:r>
          </a:p>
          <a:p>
            <a:r>
              <a:t>   * Make sure everyone can access claude.ai</a:t>
            </a:r>
          </a:p>
          <a:p/>
          <a:p>
            <a:r>
              <a:t>ASK THE CLASS:</a:t>
            </a:r>
          </a:p>
          <a:p>
            <a:r>
              <a:t>   "Everyone able to get to claude.ai?"</a:t>
            </a:r>
          </a:p>
          <a:p>
            <a:r>
              <a:t>   [PAUSE for 30-60 seconds]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TIME: 1 minute</a:t>
            </a:r>
          </a:p>
          <a:p/>
          <a:p>
            <a:r>
              <a:t>KEY POINTS:</a:t>
            </a:r>
          </a:p>
          <a:p>
            <a:r>
              <a:t>   * Claude excels at thinking through complex problems</a:t>
            </a:r>
          </a:p>
          <a:p>
            <a:r>
              <a:t>   * We'll walk through the interface first</a:t>
            </a:r>
          </a:p>
          <a:p>
            <a:r>
              <a:t>   * Then you'll try exercises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TIME: 3 minutes</a:t>
            </a:r>
          </a:p>
          <a:p/>
          <a:p>
            <a:r>
              <a:t>KEY POINTS:</a:t>
            </a:r>
          </a:p>
          <a:p>
            <a:r>
              <a:t>   * DEMO: Show chat history, how to start new chats</a:t>
            </a:r>
          </a:p>
          <a:p>
            <a:r>
              <a:t>   * Show: Where Projects are accessed</a:t>
            </a:r>
          </a:p>
          <a:p>
            <a:r>
              <a:t>   * Show: Artifacts panel (if visible)</a:t>
            </a:r>
          </a:p>
          <a:p/>
          <a:p>
            <a:r>
              <a:t>ASK THE CLASS:</a:t>
            </a:r>
          </a:p>
          <a:p>
            <a:r>
              <a:t>   "Can everyone see the chat area and the sidebar?"</a:t>
            </a:r>
          </a:p>
          <a:p>
            <a:r>
              <a:t>   [PAUSE for 30-60 seconds]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TIME: 2 minutes</a:t>
            </a:r>
          </a:p>
          <a:p/>
          <a:p>
            <a:r>
              <a:t>KEY POINTS:</a:t>
            </a:r>
          </a:p>
          <a:p>
            <a:r>
              <a:t>   * Chat: Your conversation with Claude</a:t>
            </a:r>
          </a:p>
          <a:p>
            <a:r>
              <a:t>   * Projects: Save context for ongoing work</a:t>
            </a:r>
          </a:p>
          <a:p>
            <a:r>
              <a:t>   * Artifacts: Rich outputs - documents, diagrams, code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TIME: 3 minutes</a:t>
            </a:r>
          </a:p>
          <a:p/>
          <a:p>
            <a:r>
              <a:t>KEY POINTS:</a:t>
            </a:r>
          </a:p>
          <a:p>
            <a:r>
              <a:t>   * DEMO: Upload a sample PDF or doc</a:t>
            </a:r>
          </a:p>
          <a:p>
            <a:r>
              <a:t>   * Ask: 'What are the key findings in this document?'</a:t>
            </a:r>
          </a:p>
          <a:p>
            <a:r>
              <a:t>   * Show how Claude references specific parts of the file</a:t>
            </a:r>
          </a:p>
          <a:p/>
          <a:p>
            <a:r>
              <a:t>ASK THE CLASS:</a:t>
            </a:r>
          </a:p>
          <a:p>
            <a:r>
              <a:t>   "What types of documents would you want Claude to analyze?"</a:t>
            </a:r>
          </a:p>
          <a:p>
            <a:r>
              <a:t>   [PAUSE for 30-60 seconds]</a:t>
            </a:r>
          </a:p>
          <a:p/>
          <a:p>
            <a:r>
              <a:t>REAL-WORLD EXAMPLE:</a:t>
            </a:r>
          </a:p>
          <a:p>
            <a:r>
              <a:t>   Legal teams upload contracts and ask 'What are the termination clauses?' Instant analysis.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TIME: 2 minutes</a:t>
            </a:r>
          </a:p>
          <a:p/>
          <a:p>
            <a:r>
              <a:t>KEY POINTS:</a:t>
            </a:r>
          </a:p>
          <a:p>
            <a:r>
              <a:t>   * DEMO: Ask Claude to create a simple chart or formatted document</a:t>
            </a:r>
          </a:p>
          <a:p>
            <a:r>
              <a:t>   * Show the artifact panel on the right</a:t>
            </a:r>
          </a:p>
          <a:p>
            <a:r>
              <a:t>   * Show: Download and copy options</a:t>
            </a:r>
          </a:p>
          <a:p/>
          <a:p>
            <a:r>
              <a:t>ASK THE CLASS:</a:t>
            </a:r>
          </a:p>
          <a:p>
            <a:r>
              <a:t>   "What would you want Claude to generate as an artifact?"</a:t>
            </a:r>
          </a:p>
          <a:p>
            <a:r>
              <a:t>   [PAUSE for 30-60 seconds]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TIME: 3 minutes</a:t>
            </a:r>
          </a:p>
          <a:p/>
          <a:p>
            <a:r>
              <a:t>KEY POINTS:</a:t>
            </a:r>
          </a:p>
          <a:p>
            <a:r>
              <a:t>   * Show how the artifact appears in the right panel</a:t>
            </a:r>
          </a:p>
          <a:p>
            <a:r>
              <a:t>   * Demonstrate editing and downloading</a:t>
            </a:r>
          </a:p>
          <a:p>
            <a:r>
              <a:t>   * Point out that artifacts can be iterated on</a:t>
            </a:r>
          </a:p>
          <a:p/>
          <a:p>
            <a:r>
              <a:t>DEMO:</a:t>
            </a:r>
          </a:p>
          <a:p>
            <a:r>
              <a:t>   Ask Claude: 'Create a comparison table of Q1 vs Q2 sales with columns for revenue, units, and growth percentage. Use sample data.'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TIME: 3 minutes</a:t>
            </a:r>
          </a:p>
          <a:p/>
          <a:p>
            <a:r>
              <a:t>KEY POINTS:</a:t>
            </a:r>
          </a:p>
          <a:p>
            <a:r>
              <a:t>   * Projects are for recurring tasks</a:t>
            </a:r>
          </a:p>
          <a:p>
            <a:r>
              <a:t>   * Think: Teaching Claude about YOUR work once, then it remembers</a:t>
            </a:r>
          </a:p>
          <a:p>
            <a:r>
              <a:t>   * DEMO: Create a simple project with instructions</a:t>
            </a:r>
          </a:p>
          <a:p/>
          <a:p>
            <a:r>
              <a:t>ASK THE CLASS:</a:t>
            </a:r>
          </a:p>
          <a:p>
            <a:r>
              <a:t>   "What recurring task would benefit from having Claude pre-configured?"</a:t>
            </a:r>
          </a:p>
          <a:p>
            <a:r>
              <a:t>   [PAUSE for 30-60 seconds]</a:t>
            </a:r>
          </a:p>
          <a:p/>
          <a:p>
            <a:r>
              <a:t>REAL-WORLD EXAMPLE:</a:t>
            </a:r>
          </a:p>
          <a:p>
            <a:r>
              <a:t>   A finance team has a 'Budget Analysis' project with all their templates and conventions.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TIME: 1 minute</a:t>
            </a:r>
          </a:p>
          <a:p/>
          <a:p>
            <a:r>
              <a:t>KEY POINTS:</a:t>
            </a:r>
          </a:p>
          <a:p>
            <a:r>
              <a:t>   * Your turn! Let's practice what we've learned.</a:t>
            </a:r>
          </a:p>
          <a:p>
            <a:r>
              <a:t>   * You'll have 7 minutes to try this exercise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TIME: 7 minutes</a:t>
            </a:r>
          </a:p>
          <a:p/>
          <a:p>
            <a:r>
              <a:t>KEY POINTS:</a:t>
            </a:r>
          </a:p>
          <a:p>
            <a:r>
              <a:t>   * Give participants 5-7 minutes to try</a:t>
            </a:r>
          </a:p>
          <a:p>
            <a:r>
              <a:t>   * Walk around and help as needed</a:t>
            </a:r>
          </a:p>
          <a:p>
            <a:r>
              <a:t>   * Encourage: Try iterating - 'make the questions more direct'</a:t>
            </a:r>
          </a:p>
          <a:p/>
          <a:p>
            <a:r>
              <a:t>ASK THE CLASS:</a:t>
            </a:r>
          </a:p>
          <a:p>
            <a:r>
              <a:t>   "After trying it - what worked well? What would you do differently?"</a:t>
            </a:r>
          </a:p>
          <a:p>
            <a:r>
              <a:t>   [PAUSE for 30-60 seconds]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TIME: 1 minute</a:t>
            </a:r>
          </a:p>
          <a:p/>
          <a:p>
            <a:r>
              <a:t>KEY POINTS:</a:t>
            </a:r>
          </a:p>
          <a:p>
            <a:r>
              <a:t>   * Now let's see Copilot in action</a:t>
            </a:r>
          </a:p>
          <a:p>
            <a:r>
              <a:t>   * Different approach: AI is INSIDE your Microsoft apps</a:t>
            </a:r>
          </a:p>
          <a:p>
            <a:r>
              <a:t>   * Same prompting skills apply</a:t>
            </a:r>
          </a:p>
          <a:p/>
          <a:p>
            <a:r>
              <a:t>ASK THE CLASS:</a:t>
            </a:r>
          </a:p>
          <a:p>
            <a:r>
              <a:t>   "Who has already seen Copilot appear in their Office apps?"</a:t>
            </a:r>
          </a:p>
          <a:p>
            <a:r>
              <a:t>   [PAUSE for 30-60 seconds]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TIME: 1 minute</a:t>
            </a:r>
          </a:p>
          <a:p/>
          <a:p>
            <a:r>
              <a:t>KEY POINTS:</a:t>
            </a:r>
          </a:p>
          <a:p>
            <a:r>
              <a:t>   * Copilot is embedded in Word, Excel, Outlook, etc.</a:t>
            </a:r>
          </a:p>
          <a:p>
            <a:r>
              <a:t>   * It has access to YOUR M365 data</a:t>
            </a:r>
          </a:p>
          <a:p>
            <a:r>
              <a:t>   * Different experience than Claude, but same prompting skills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TIME: 2 minutes</a:t>
            </a:r>
          </a:p>
          <a:p/>
          <a:p>
            <a:r>
              <a:t>KEY POINTS:</a:t>
            </a:r>
          </a:p>
          <a:p>
            <a:r>
              <a:t>   * Copilot Chat: copilot.microsoft.com or in Teams</a:t>
            </a:r>
          </a:p>
          <a:p>
            <a:r>
              <a:t>   * In Office apps: Look for the Copilot icon in the ribbon</a:t>
            </a:r>
          </a:p>
          <a:p>
            <a:r>
              <a:t>   * Each app has slightly different features</a:t>
            </a:r>
          </a:p>
          <a:p/>
          <a:p>
            <a:r>
              <a:t>ASK THE CLASS:</a:t>
            </a:r>
          </a:p>
          <a:p>
            <a:r>
              <a:t>   "Have you noticed the Copilot icons in your Office apps?"</a:t>
            </a:r>
          </a:p>
          <a:p>
            <a:r>
              <a:t>   [PAUSE for 30-60 seconds]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TIME: 2 minutes</a:t>
            </a:r>
          </a:p>
          <a:p/>
          <a:p>
            <a:r>
              <a:t>KEY POINTS:</a:t>
            </a:r>
          </a:p>
          <a:p>
            <a:r>
              <a:t>   * DEMO: Show Copilot Chat in browser</a:t>
            </a:r>
          </a:p>
          <a:p>
            <a:r>
              <a:t>   * DEMO: Show Copilot icon in Word ribbon</a:t>
            </a:r>
          </a:p>
          <a:p>
            <a:r>
              <a:t>   * Key insight: It searches your emails, files, Teams - everything in M365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TIME: 3 minutes</a:t>
            </a:r>
          </a:p>
          <a:p/>
          <a:p>
            <a:r>
              <a:t>KEY POINTS:</a:t>
            </a:r>
          </a:p>
          <a:p>
            <a:r>
              <a:t>   * Copilot Chat can search your Microsoft 365 data</a:t>
            </a:r>
          </a:p>
          <a:p>
            <a:r>
              <a:t>   * Find the latest sales report and summarize the key metrics</a:t>
            </a:r>
          </a:p>
          <a:p>
            <a:r>
              <a:t>   * What emails have I received from [name] about [topic]?</a:t>
            </a:r>
          </a:p>
          <a:p/>
          <a:p>
            <a:r>
              <a:t>REAL-WORLD EXAMPLE:</a:t>
            </a:r>
          </a:p>
          <a:p>
            <a:r>
              <a:t>   After vacation, people ask 'What important emails did I miss while I was out?' Instant catch-up.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TIME: 4 minutes</a:t>
            </a:r>
          </a:p>
          <a:p/>
          <a:p>
            <a:r>
              <a:t>KEY POINTS:</a:t>
            </a:r>
          </a:p>
          <a:p>
            <a:r>
              <a:t>   * Draft new documents from prompts</a:t>
            </a:r>
          </a:p>
          <a:p>
            <a:r>
              <a:t>   * Rewrite selected text</a:t>
            </a:r>
          </a:p>
          <a:p>
            <a:r>
              <a:t>   * Change tone: formal, casual, professional</a:t>
            </a:r>
          </a:p>
          <a:p/>
          <a:p>
            <a:r>
              <a:t>ASK THE CLASS:</a:t>
            </a:r>
          </a:p>
          <a:p>
            <a:r>
              <a:t>   "What documents do you write repeatedly that could benefit from this?"</a:t>
            </a:r>
          </a:p>
          <a:p>
            <a:r>
              <a:t>   [PAUSE for 30-60 seconds]</a:t>
            </a:r>
          </a:p>
          <a:p/>
          <a:p>
            <a:r>
              <a:t>DEMO:</a:t>
            </a:r>
          </a:p>
          <a:p>
            <a:r>
              <a:t>   Open Word, click Copilot, draft something. Then select text and show rewrite options and tone changing.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TIME: 3 minutes</a:t>
            </a:r>
          </a:p>
          <a:p/>
          <a:p>
            <a:r>
              <a:t>KEY POINTS:</a:t>
            </a:r>
          </a:p>
          <a:p>
            <a:r>
              <a:t>   * DEMO: Show Copilot in Outlook if possible</a:t>
            </a:r>
          </a:p>
          <a:p>
            <a:r>
              <a:t>   * Thread summary is huge: Long back-and-forth &gt; instant summary</a:t>
            </a:r>
          </a:p>
          <a:p>
            <a:r>
              <a:t>   * Draft replies: Give it the gist, it writes professionally</a:t>
            </a:r>
          </a:p>
          <a:p/>
          <a:p>
            <a:r>
              <a:t>ASK THE CLASS:</a:t>
            </a:r>
          </a:p>
          <a:p>
            <a:r>
              <a:t>   "How much time do you spend on email each day? What if you could cut that?"</a:t>
            </a:r>
          </a:p>
          <a:p>
            <a:r>
              <a:t>   [PAUSE for 30-60 seconds]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TIME: 1 minute</a:t>
            </a:r>
          </a:p>
          <a:p/>
          <a:p>
            <a:r>
              <a:t>KEY POINTS:</a:t>
            </a:r>
          </a:p>
          <a:p>
            <a:r>
              <a:t>   * After vacation: Copilot summarizes so you don't have to read everything</a:t>
            </a:r>
          </a:p>
          <a:p>
            <a:r>
              <a:t>   * Focus on what matters, delegate the rest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TIME: 2 minutes</a:t>
            </a:r>
          </a:p>
          <a:p/>
          <a:p>
            <a:r>
              <a:t>KEY POINTS:</a:t>
            </a:r>
          </a:p>
          <a:p>
            <a:r>
              <a:t>   * Create presentations from prompts</a:t>
            </a:r>
          </a:p>
          <a:p>
            <a:r>
              <a:t>   * Generate slides from Word documents</a:t>
            </a:r>
          </a:p>
          <a:p>
            <a:r>
              <a:t>   * Pro tip: Write in Word first, then convert to slides</a:t>
            </a:r>
          </a:p>
          <a:p/>
          <a:p>
            <a:r>
              <a:t>ASK THE CLASS:</a:t>
            </a:r>
          </a:p>
          <a:p>
            <a:r>
              <a:t>   "How long does it usually take you to create a presentation? What if it took 5 minutes?"</a:t>
            </a:r>
          </a:p>
          <a:p>
            <a:r>
              <a:t>   [PAUSE for 30-60 seconds]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TIME: 1 minute</a:t>
            </a:r>
          </a:p>
          <a:p/>
          <a:p>
            <a:r>
              <a:t>KEY POINTS:</a:t>
            </a:r>
          </a:p>
          <a:p>
            <a:r>
              <a:t>   * Your turn! Let's see Copilot work with YOUR data.</a:t>
            </a:r>
          </a:p>
          <a:p>
            <a:r>
              <a:t>   * You'll have 5 minutes to explore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TIME: 5 minutes</a:t>
            </a:r>
          </a:p>
          <a:p/>
          <a:p>
            <a:r>
              <a:t>KEY POINTS:</a:t>
            </a:r>
          </a:p>
          <a:p>
            <a:r>
              <a:t>   * Walk around and help</a:t>
            </a:r>
          </a:p>
          <a:p>
            <a:r>
              <a:t>   * Remind: Same prompting skills apply - be specific</a:t>
            </a:r>
          </a:p>
          <a:p>
            <a:r>
              <a:t>   * Many people discover files they forgot existed</a:t>
            </a:r>
          </a:p>
          <a:p/>
          <a:p>
            <a:r>
              <a:t>ASK THE CLASS:</a:t>
            </a:r>
          </a:p>
          <a:p>
            <a:r>
              <a:t>   "What did Copilot find that you didn't expect? What was useful?"</a:t>
            </a:r>
          </a:p>
          <a:p>
            <a:r>
              <a:t>   [PAUSE for 30-60 seconds]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TIME: 1 minute</a:t>
            </a:r>
          </a:p>
          <a:p/>
          <a:p>
            <a:r>
              <a:t>KEY POINTS:</a:t>
            </a:r>
          </a:p>
          <a:p>
            <a:r>
              <a:t>   * Here's your cheat sheet for deciding which tool to use</a:t>
            </a:r>
          </a:p>
          <a:p>
            <a:r>
              <a:t>   * The right tool depends on the task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TIME: 2 minutes</a:t>
            </a:r>
          </a:p>
          <a:p/>
          <a:p>
            <a:r>
              <a:t>KEY POINTS:</a:t>
            </a:r>
          </a:p>
          <a:p>
            <a:r>
              <a:t>   * This is the key takeaway</a:t>
            </a:r>
          </a:p>
          <a:p>
            <a:r>
              <a:t>   * Many people use both daily</a:t>
            </a:r>
          </a:p>
          <a:p>
            <a:r>
              <a:t>   * Claude for deep work, Copilot for quick tasks</a:t>
            </a:r>
          </a:p>
          <a:p/>
          <a:p>
            <a:r>
              <a:t>ASK THE CLASS:</a:t>
            </a:r>
          </a:p>
          <a:p>
            <a:r>
              <a:t>   "Based on your work, which do you think you'll use more?"</a:t>
            </a:r>
          </a:p>
          <a:p>
            <a:r>
              <a:t>   [PAUSE for 30-60 seconds]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TIME: 1 minute</a:t>
            </a:r>
          </a:p>
          <a:p/>
          <a:p>
            <a:r>
              <a:t>KEY POINTS:</a:t>
            </a:r>
          </a:p>
          <a:p>
            <a:r>
              <a:t>   * Knowledge workers typically use Copilot for quick tasks, Claude for big projects</a:t>
            </a:r>
          </a:p>
          <a:p>
            <a:r>
              <a:t>   * Don't pick one - use both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TIME: 1 minute</a:t>
            </a:r>
          </a:p>
          <a:p/>
          <a:p>
            <a:r>
              <a:t>KEY POINTS:</a:t>
            </a:r>
          </a:p>
          <a:p>
            <a:r>
              <a:t>   * Let's recap what you learned today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TIME: 2 minutes</a:t>
            </a:r>
          </a:p>
          <a:p/>
          <a:p>
            <a:r>
              <a:t>KEY POINTS:</a:t>
            </a:r>
          </a:p>
          <a:p>
            <a:r>
              <a:t>   * Prompting skills: The foundation for both tools</a:t>
            </a:r>
          </a:p>
          <a:p>
            <a:r>
              <a:t>   * Claude: Your thinking partner for complex work</a:t>
            </a:r>
          </a:p>
          <a:p>
            <a:r>
              <a:t>   * Copilot: Your assistant embedded in Office</a:t>
            </a:r>
          </a:p>
          <a:p>
            <a:r>
              <a:t>   * Both: More powerful together</a:t>
            </a:r>
          </a:p>
          <a:p/>
          <a:p>
            <a:r>
              <a:t>ASK THE CLASS:</a:t>
            </a:r>
          </a:p>
          <a:p>
            <a:r>
              <a:t>   "What's one thing you're going to try this afternoon?"</a:t>
            </a:r>
          </a:p>
          <a:p>
            <a:r>
              <a:t>   [PAUSE for 30-60 seconds]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TIME: 1 minute</a:t>
            </a:r>
          </a:p>
          <a:p/>
          <a:p>
            <a:r>
              <a:t>KEY POINTS:</a:t>
            </a:r>
          </a:p>
          <a:p>
            <a:r>
              <a:t>   * Try Claude for your next report</a:t>
            </a:r>
          </a:p>
          <a:p>
            <a:r>
              <a:t>   * Use Copilot in Word tomorrow</a:t>
            </a:r>
          </a:p>
          <a:p>
            <a:r>
              <a:t>   * Practice with GOLDEN framework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TIME: 1 minute</a:t>
            </a:r>
          </a:p>
          <a:p/>
          <a:p>
            <a:r>
              <a:t>KEY POINTS:</a:t>
            </a:r>
          </a:p>
          <a:p>
            <a:r>
              <a:t>   * The handout has the prompting frameworks</a:t>
            </a:r>
          </a:p>
          <a:p>
            <a:r>
              <a:t>   * IT can help with any access issues</a:t>
            </a:r>
          </a:p>
          <a:p>
            <a:r>
              <a:t>   * Practice is the best way to improve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TIME: 5 minutes</a:t>
            </a:r>
          </a:p>
          <a:p/>
          <a:p>
            <a:r>
              <a:t>KEY POINTS:</a:t>
            </a:r>
          </a:p>
          <a:p>
            <a:r>
              <a:t>   * Floor is open for any questions</a:t>
            </a:r>
          </a:p>
          <a:p>
            <a:r>
              <a:t>   * Common question: 'Which is better?' - Different tools, different strengths</a:t>
            </a:r>
          </a:p>
          <a:p>
            <a:r>
              <a:t>   * Common question: 'Will this replace my job?' - No, it makes you more productive</a:t>
            </a:r>
          </a:p>
          <a:p/>
          <a:p>
            <a:r>
              <a:t>ASK THE CLASS:</a:t>
            </a:r>
          </a:p>
          <a:p>
            <a:r>
              <a:t>   "Any questions?"</a:t>
            </a:r>
          </a:p>
          <a:p>
            <a:r>
              <a:t>   [PAUSE for 30-60 seconds]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3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4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5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6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8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9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0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1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2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3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4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5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6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8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9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0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127729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0" b="1">
                <a:solidFill>
                  <a:srgbClr val="00D4AA"/>
                </a:solidFill>
              </a:defRPr>
            </a:pPr>
            <a:r>
              <a:t>AI Assistants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4754880"/>
            <a:ext cx="12191695" cy="36576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286000"/>
            <a:ext cx="1072865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200" b="1">
                <a:solidFill>
                  <a:srgbClr val="FFFFFF"/>
                </a:solidFill>
              </a:defRPr>
            </a:pPr>
            <a:r>
              <a:t>Claude &amp; Microsoft 365 Copilot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840480"/>
            <a:ext cx="10362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>
                <a:solidFill>
                  <a:srgbClr val="8B95A5"/>
                </a:solidFill>
              </a:defRPr>
            </a:pPr>
            <a:r>
              <a:t>Two powerful AI assistants. Different strengths. Better together.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127729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0" b="1">
                <a:solidFill>
                  <a:srgbClr val="00D4AA"/>
                </a:solidFill>
              </a:defRPr>
            </a:pPr>
            <a:r>
              <a:t>Why Two?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4754880"/>
            <a:ext cx="12191695" cy="36576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Different Tools, Different Strengths</a:t>
            </a:r>
          </a:p>
        </p:txBody>
      </p:sp>
      <p:sp>
        <p:nvSpPr>
          <p:cNvPr id="3" name="Rectangle 2"/>
          <p:cNvSpPr/>
          <p:nvPr/>
        </p:nvSpPr>
        <p:spPr>
          <a:xfrm>
            <a:off x="6077559" y="1371600"/>
            <a:ext cx="36576" cy="457200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463040"/>
            <a:ext cx="5364327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E86B4A"/>
                </a:solidFill>
              </a:defRPr>
            </a:pPr>
            <a:r>
              <a:t>Claude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286000"/>
            <a:ext cx="5364327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FFFFFF"/>
                </a:solidFill>
              </a:defRPr>
            </a:pPr>
            <a:r>
              <a:t>  Deep reasoning &amp; analysis</a:t>
            </a:r>
          </a:p>
          <a:p>
            <a:pPr>
              <a:spcAft>
                <a:spcPts val="1200"/>
              </a:spcAft>
              <a:defRPr sz="1800">
                <a:solidFill>
                  <a:srgbClr val="FFFFFF"/>
                </a:solidFill>
              </a:defRPr>
            </a:pPr>
            <a:r>
              <a:t>  Long-form writing</a:t>
            </a:r>
          </a:p>
          <a:p>
            <a:pPr>
              <a:spcAft>
                <a:spcPts val="1200"/>
              </a:spcAft>
              <a:defRPr sz="1800">
                <a:solidFill>
                  <a:srgbClr val="FFFFFF"/>
                </a:solidFill>
              </a:defRPr>
            </a:pPr>
            <a:r>
              <a:t>  File uploads (PDF, docs)</a:t>
            </a:r>
          </a:p>
          <a:p>
            <a:pPr>
              <a:spcAft>
                <a:spcPts val="1200"/>
              </a:spcAft>
              <a:defRPr sz="1800">
                <a:solidFill>
                  <a:srgbClr val="FFFFFF"/>
                </a:solidFill>
              </a:defRPr>
            </a:pPr>
            <a:r>
              <a:t>  Complex problem solving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70167" y="1463040"/>
            <a:ext cx="5364327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0078D4"/>
                </a:solidFill>
              </a:defRPr>
            </a:pPr>
            <a:r>
              <a:t>M365 Copilot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70167" y="2286000"/>
            <a:ext cx="5364327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FFFFFF"/>
                </a:solidFill>
              </a:defRPr>
            </a:pPr>
            <a:r>
              <a:t>  Office app integration</a:t>
            </a:r>
          </a:p>
          <a:p>
            <a:pPr>
              <a:spcAft>
                <a:spcPts val="1200"/>
              </a:spcAft>
              <a:defRPr sz="1800">
                <a:solidFill>
                  <a:srgbClr val="FFFFFF"/>
                </a:solidFill>
              </a:defRPr>
            </a:pPr>
            <a:r>
              <a:t>  Search your M365 data</a:t>
            </a:r>
          </a:p>
          <a:p>
            <a:pPr>
              <a:spcAft>
                <a:spcPts val="1200"/>
              </a:spcAft>
              <a:defRPr sz="1800">
                <a:solidFill>
                  <a:srgbClr val="FFFFFF"/>
                </a:solidFill>
              </a:defRPr>
            </a:pPr>
            <a:r>
              <a:t>  Quick in-context edits</a:t>
            </a:r>
          </a:p>
          <a:p>
            <a:pPr>
              <a:spcAft>
                <a:spcPts val="1200"/>
              </a:spcAft>
              <a:defRPr sz="1800">
                <a:solidFill>
                  <a:srgbClr val="FFFFFF"/>
                </a:solidFill>
              </a:defRPr>
            </a:pPr>
            <a:r>
              <a:t>  Meeting summaries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286000"/>
            <a:ext cx="1072865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200" b="1">
                <a:solidFill>
                  <a:srgbClr val="FFFFFF"/>
                </a:solidFill>
              </a:defRPr>
            </a:pPr>
            <a:r>
              <a:t>Think of it like this...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840480"/>
            <a:ext cx="10362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>
                <a:solidFill>
                  <a:srgbClr val="8B95A5"/>
                </a:solidFill>
              </a:defRPr>
            </a:pPr>
            <a:r>
              <a:t>Claude = Specialist consultant. Copilot = Assistant embedded everywhere.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73152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Today's Journey</a:t>
            </a:r>
          </a:p>
        </p:txBody>
      </p:sp>
      <p:sp>
        <p:nvSpPr>
          <p:cNvPr id="3" name="Rectangle 2"/>
          <p:cNvSpPr/>
          <p:nvPr/>
        </p:nvSpPr>
        <p:spPr>
          <a:xfrm>
            <a:off x="1280160" y="3273552"/>
            <a:ext cx="7772171" cy="36576"/>
          </a:xfrm>
          <a:prstGeom prst="rect">
            <a:avLst/>
          </a:prstGeom>
          <a:solidFill>
            <a:srgbClr val="2D3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14400" y="2926080"/>
            <a:ext cx="731520" cy="731520"/>
          </a:xfrm>
          <a:prstGeom prst="ellipse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3063240"/>
            <a:ext cx="731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0B0F1A"/>
                </a:solidFill>
              </a:defRPr>
            </a:pPr>
            <a: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840480"/>
            <a:ext cx="1645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Learn</a:t>
            </a:r>
          </a:p>
        </p:txBody>
      </p:sp>
      <p:sp>
        <p:nvSpPr>
          <p:cNvPr id="7" name="Oval 6"/>
          <p:cNvSpPr/>
          <p:nvPr/>
        </p:nvSpPr>
        <p:spPr>
          <a:xfrm>
            <a:off x="3505123" y="2926080"/>
            <a:ext cx="731520" cy="731520"/>
          </a:xfrm>
          <a:prstGeom prst="ellipse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505123" y="3063240"/>
            <a:ext cx="731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0B0F1A"/>
                </a:solidFill>
              </a:defRPr>
            </a:pPr>
            <a: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047923" y="3840480"/>
            <a:ext cx="1645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Practice</a:t>
            </a:r>
          </a:p>
        </p:txBody>
      </p:sp>
      <p:sp>
        <p:nvSpPr>
          <p:cNvPr id="10" name="Oval 9"/>
          <p:cNvSpPr/>
          <p:nvPr/>
        </p:nvSpPr>
        <p:spPr>
          <a:xfrm>
            <a:off x="6095847" y="2926080"/>
            <a:ext cx="731520" cy="731520"/>
          </a:xfrm>
          <a:prstGeom prst="ellipse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095847" y="3063240"/>
            <a:ext cx="731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0B0F1A"/>
                </a:solidFill>
              </a:defRPr>
            </a:pPr>
            <a: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38647" y="3840480"/>
            <a:ext cx="1645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Practice</a:t>
            </a:r>
          </a:p>
        </p:txBody>
      </p:sp>
      <p:sp>
        <p:nvSpPr>
          <p:cNvPr id="13" name="Oval 12"/>
          <p:cNvSpPr/>
          <p:nvPr/>
        </p:nvSpPr>
        <p:spPr>
          <a:xfrm>
            <a:off x="8686571" y="2926080"/>
            <a:ext cx="731520" cy="731520"/>
          </a:xfrm>
          <a:prstGeom prst="ellipse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571" y="3063240"/>
            <a:ext cx="731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0B0F1A"/>
                </a:solidFill>
              </a:defRPr>
            </a:pPr>
            <a: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371" y="3840480"/>
            <a:ext cx="1645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Apply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127729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0" b="1">
                <a:solidFill>
                  <a:srgbClr val="00D4AA"/>
                </a:solidFill>
              </a:defRPr>
            </a:pPr>
            <a:r>
              <a:t>Prompting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4754880"/>
            <a:ext cx="12191695" cy="36576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286000"/>
            <a:ext cx="1072865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200" b="1">
                <a:solidFill>
                  <a:srgbClr val="FFFFFF"/>
                </a:solidFill>
              </a:defRPr>
            </a:pPr>
            <a:r>
              <a:t>A prompt is your instruction to AI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840480"/>
            <a:ext cx="10362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>
                <a:solidFill>
                  <a:srgbClr val="8B95A5"/>
                </a:solidFill>
              </a:defRPr>
            </a:pPr>
            <a:r>
              <a:t>The better you describe what you want, the better the output.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Vague vs Specific</a:t>
            </a:r>
          </a:p>
        </p:txBody>
      </p:sp>
      <p:sp>
        <p:nvSpPr>
          <p:cNvPr id="3" name="Rectangle 2"/>
          <p:cNvSpPr/>
          <p:nvPr/>
        </p:nvSpPr>
        <p:spPr>
          <a:xfrm>
            <a:off x="6077559" y="1371600"/>
            <a:ext cx="36576" cy="457200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463040"/>
            <a:ext cx="5364327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E86B4A"/>
                </a:solidFill>
              </a:defRPr>
            </a:pPr>
            <a:r>
              <a:t>Vague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286000"/>
            <a:ext cx="5364327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FFFFFF"/>
                </a:solidFill>
              </a:defRPr>
            </a:pPr>
            <a:r>
              <a:t>  Write something about sales</a:t>
            </a:r>
          </a:p>
          <a:p>
            <a:pPr>
              <a:spcAft>
                <a:spcPts val="1200"/>
              </a:spcAft>
              <a:defRPr sz="1800">
                <a:solidFill>
                  <a:srgbClr val="FFFFFF"/>
                </a:solidFill>
              </a:defRPr>
            </a:pPr>
            <a:r>
              <a:t>  Help me with this</a:t>
            </a:r>
          </a:p>
          <a:p>
            <a:pPr>
              <a:spcAft>
                <a:spcPts val="1200"/>
              </a:spcAft>
              <a:defRPr sz="1800">
                <a:solidFill>
                  <a:srgbClr val="FFFFFF"/>
                </a:solidFill>
              </a:defRPr>
            </a:pPr>
            <a:r>
              <a:t>  Analyze the data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70167" y="1463040"/>
            <a:ext cx="5364327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00D4AA"/>
                </a:solidFill>
              </a:defRPr>
            </a:pPr>
            <a:r>
              <a:t>Specific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70167" y="2286000"/>
            <a:ext cx="5364327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FFFFFF"/>
                </a:solidFill>
              </a:defRPr>
            </a:pPr>
            <a:r>
              <a:t>  Write a 200-word Q4 summary</a:t>
            </a:r>
          </a:p>
          <a:p>
            <a:pPr>
              <a:spcAft>
                <a:spcPts val="1200"/>
              </a:spcAft>
              <a:defRPr sz="1800">
                <a:solidFill>
                  <a:srgbClr val="FFFFFF"/>
                </a:solidFill>
              </a:defRPr>
            </a:pPr>
            <a:r>
              <a:t>  Identify the 3 key variances</a:t>
            </a:r>
          </a:p>
          <a:p>
            <a:pPr>
              <a:spcAft>
                <a:spcPts val="1200"/>
              </a:spcAft>
              <a:defRPr sz="1800">
                <a:solidFill>
                  <a:srgbClr val="FFFFFF"/>
                </a:solidFill>
              </a:defRPr>
            </a:pPr>
            <a:r>
              <a:t>  Compare YoY and explain trends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127729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0" b="1">
                <a:solidFill>
                  <a:srgbClr val="00D4AA"/>
                </a:solidFill>
              </a:defRPr>
            </a:pPr>
            <a:r>
              <a:t>GOLDEN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4754880"/>
            <a:ext cx="12191695" cy="36576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73152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Start with these two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626967" y="2286000"/>
            <a:ext cx="2286000" cy="2743200"/>
          </a:xfrm>
          <a:prstGeom prst="roundRect">
            <a:avLst/>
          </a:prstGeom>
          <a:solidFill>
            <a:srgbClr val="141A26"/>
          </a:solidFill>
          <a:ln w="25400">
            <a:solidFill>
              <a:srgbClr val="00D4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4312767" y="2743200"/>
            <a:ext cx="914400" cy="914400"/>
          </a:xfrm>
          <a:prstGeom prst="ellipse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312767" y="2880360"/>
            <a:ext cx="9144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0B0F1A"/>
                </a:solidFill>
              </a:defRPr>
            </a:pPr>
            <a:r>
              <a:t>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718407" y="3931920"/>
            <a:ext cx="2103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Goal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78727" y="2286000"/>
            <a:ext cx="2286000" cy="2743200"/>
          </a:xfrm>
          <a:prstGeom prst="roundRect">
            <a:avLst/>
          </a:prstGeom>
          <a:solidFill>
            <a:srgbClr val="141A26"/>
          </a:solidFill>
          <a:ln w="25400">
            <a:solidFill>
              <a:srgbClr val="00D4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6964527" y="2743200"/>
            <a:ext cx="914400" cy="914400"/>
          </a:xfrm>
          <a:prstGeom prst="ellipse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964527" y="2880360"/>
            <a:ext cx="9144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0B0F1A"/>
                </a:solidFill>
              </a:defRPr>
            </a:pPr>
            <a:r>
              <a:t>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70167" y="3931920"/>
            <a:ext cx="2103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Output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73152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Add as needed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75207" y="2286000"/>
            <a:ext cx="2286000" cy="2743200"/>
          </a:xfrm>
          <a:prstGeom prst="roundRect">
            <a:avLst/>
          </a:prstGeom>
          <a:solidFill>
            <a:srgbClr val="141A26"/>
          </a:solidFill>
          <a:ln w="25400">
            <a:solidFill>
              <a:srgbClr val="8B95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661007" y="2743200"/>
            <a:ext cx="914400" cy="914400"/>
          </a:xfrm>
          <a:prstGeom prst="ellipse">
            <a:avLst/>
          </a:prstGeom>
          <a:solidFill>
            <a:srgbClr val="8B95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661007" y="2880360"/>
            <a:ext cx="9144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0B0F1A"/>
                </a:solidFill>
              </a:defRPr>
            </a:pPr>
            <a:r>
              <a:t>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6647" y="3931920"/>
            <a:ext cx="2103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Length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26967" y="2286000"/>
            <a:ext cx="2286000" cy="2743200"/>
          </a:xfrm>
          <a:prstGeom prst="roundRect">
            <a:avLst/>
          </a:prstGeom>
          <a:solidFill>
            <a:srgbClr val="141A26"/>
          </a:solidFill>
          <a:ln w="25400">
            <a:solidFill>
              <a:srgbClr val="8B95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4312767" y="2743200"/>
            <a:ext cx="914400" cy="914400"/>
          </a:xfrm>
          <a:prstGeom prst="ellipse">
            <a:avLst/>
          </a:prstGeom>
          <a:solidFill>
            <a:srgbClr val="8B95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312767" y="2880360"/>
            <a:ext cx="9144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0B0F1A"/>
                </a:solidFill>
              </a:defRPr>
            </a:pPr>
            <a:r>
              <a:t>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18407" y="3931920"/>
            <a:ext cx="2103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Details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78727" y="2286000"/>
            <a:ext cx="2286000" cy="2743200"/>
          </a:xfrm>
          <a:prstGeom prst="roundRect">
            <a:avLst/>
          </a:prstGeom>
          <a:solidFill>
            <a:srgbClr val="141A26"/>
          </a:solidFill>
          <a:ln w="25400">
            <a:solidFill>
              <a:srgbClr val="8B95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964527" y="2743200"/>
            <a:ext cx="914400" cy="914400"/>
          </a:xfrm>
          <a:prstGeom prst="ellipse">
            <a:avLst/>
          </a:prstGeom>
          <a:solidFill>
            <a:srgbClr val="8B95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964527" y="2880360"/>
            <a:ext cx="9144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0B0F1A"/>
                </a:solidFill>
              </a:defRPr>
            </a:pPr>
            <a:r>
              <a:t>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70167" y="3931920"/>
            <a:ext cx="2103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Examples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930487" y="2286000"/>
            <a:ext cx="2286000" cy="2743200"/>
          </a:xfrm>
          <a:prstGeom prst="roundRect">
            <a:avLst/>
          </a:prstGeom>
          <a:solidFill>
            <a:srgbClr val="141A26"/>
          </a:solidFill>
          <a:ln w="25400">
            <a:solidFill>
              <a:srgbClr val="8B95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9616287" y="2743200"/>
            <a:ext cx="914400" cy="914400"/>
          </a:xfrm>
          <a:prstGeom prst="ellipse">
            <a:avLst/>
          </a:prstGeom>
          <a:solidFill>
            <a:srgbClr val="8B95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616287" y="2880360"/>
            <a:ext cx="9144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0B0F1A"/>
                </a:solidFill>
              </a:defRPr>
            </a:pPr>
            <a:r>
              <a:t>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021927" y="3931920"/>
            <a:ext cx="2103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No-gos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GOLDEN in Action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14400" y="1645920"/>
            <a:ext cx="10362895" cy="4114800"/>
          </a:xfrm>
          <a:prstGeom prst="round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78308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00D4AA"/>
                </a:solidFill>
              </a:defRPr>
            </a:pPr>
            <a:r>
              <a:t>PROMPT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194560"/>
            <a:ext cx="9997135" cy="3291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FFFFF"/>
                </a:solidFill>
                <a:latin typeface="Consolas"/>
              </a:defRPr>
            </a:pPr>
            <a:r>
              <a:t>Goal: Create a Q4 summary for the board</a:t>
            </a:r>
            <a:br/>
            <a:r>
              <a:t>Output: Executive summary with bullet points</a:t>
            </a:r>
            <a:br/>
            <a:r>
              <a:t>Length: One page maximum</a:t>
            </a:r>
            <a:br/>
            <a:r>
              <a:t>Details: Include revenue, profit margin, YoY</a:t>
            </a:r>
            <a:br/>
            <a:r>
              <a:t>No-gos: No raw data tables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286000"/>
            <a:ext cx="1072865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200" b="1">
                <a:solidFill>
                  <a:srgbClr val="FFFFFF"/>
                </a:solidFill>
              </a:defRPr>
            </a:pPr>
            <a:r>
              <a:t>GSCE: The Quick Version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840480"/>
            <a:ext cx="10362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>
                <a:solidFill>
                  <a:srgbClr val="8B95A5"/>
                </a:solidFill>
              </a:defRPr>
            </a:pPr>
            <a:r>
              <a:t>Goal &gt; Steps &gt; Context &gt; Expectations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73152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GSCE Framework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75207" y="2286000"/>
            <a:ext cx="2286000" cy="2743200"/>
          </a:xfrm>
          <a:prstGeom prst="roundRect">
            <a:avLst/>
          </a:prstGeom>
          <a:solidFill>
            <a:srgbClr val="141A26"/>
          </a:solidFill>
          <a:ln w="25400">
            <a:solidFill>
              <a:srgbClr val="00D4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661007" y="2743200"/>
            <a:ext cx="914400" cy="914400"/>
          </a:xfrm>
          <a:prstGeom prst="ellipse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661007" y="2880360"/>
            <a:ext cx="9144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0B0F1A"/>
                </a:solidFill>
              </a:defRPr>
            </a:pPr>
            <a:r>
              <a:t>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6647" y="3931920"/>
            <a:ext cx="2103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Goal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26967" y="2286000"/>
            <a:ext cx="2286000" cy="2743200"/>
          </a:xfrm>
          <a:prstGeom prst="roundRect">
            <a:avLst/>
          </a:prstGeom>
          <a:solidFill>
            <a:srgbClr val="141A26"/>
          </a:solidFill>
          <a:ln w="25400">
            <a:solidFill>
              <a:srgbClr val="00D4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4312767" y="2743200"/>
            <a:ext cx="914400" cy="914400"/>
          </a:xfrm>
          <a:prstGeom prst="ellipse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312767" y="2880360"/>
            <a:ext cx="9144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0B0F1A"/>
                </a:solidFill>
              </a:defRPr>
            </a:pPr>
            <a:r>
              <a:t>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18407" y="3931920"/>
            <a:ext cx="2103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Steps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78727" y="2286000"/>
            <a:ext cx="2286000" cy="2743200"/>
          </a:xfrm>
          <a:prstGeom prst="roundRect">
            <a:avLst/>
          </a:prstGeom>
          <a:solidFill>
            <a:srgbClr val="141A26"/>
          </a:solidFill>
          <a:ln w="25400">
            <a:solidFill>
              <a:srgbClr val="00D4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964527" y="2743200"/>
            <a:ext cx="914400" cy="914400"/>
          </a:xfrm>
          <a:prstGeom prst="ellipse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964527" y="2880360"/>
            <a:ext cx="9144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0B0F1A"/>
                </a:solidFill>
              </a:defRPr>
            </a:pPr>
            <a:r>
              <a:t>C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70167" y="3931920"/>
            <a:ext cx="2103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Context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930487" y="2286000"/>
            <a:ext cx="2286000" cy="2743200"/>
          </a:xfrm>
          <a:prstGeom prst="roundRect">
            <a:avLst/>
          </a:prstGeom>
          <a:solidFill>
            <a:srgbClr val="141A26"/>
          </a:solidFill>
          <a:ln w="25400">
            <a:solidFill>
              <a:srgbClr val="00D4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9616287" y="2743200"/>
            <a:ext cx="914400" cy="914400"/>
          </a:xfrm>
          <a:prstGeom prst="ellipse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616287" y="2880360"/>
            <a:ext cx="9144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0B0F1A"/>
                </a:solidFill>
              </a:defRPr>
            </a:pPr>
            <a:r>
              <a:t>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021927" y="3931920"/>
            <a:ext cx="2103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Expect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127729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0" b="1">
                <a:solidFill>
                  <a:srgbClr val="F59E0B"/>
                </a:solidFill>
              </a:defRPr>
            </a:pPr>
            <a:r>
              <a:t>Mistakes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4754880"/>
            <a:ext cx="12191695" cy="36576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7295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Five Prompting Pitfalls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234440"/>
            <a:ext cx="1828800" cy="36576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463040"/>
            <a:ext cx="1127729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2200">
                <a:solidFill>
                  <a:srgbClr val="FFFFFF"/>
                </a:solidFill>
              </a:defRPr>
            </a:pPr>
            <a:r>
              <a:t>  Too vague: 'Help me with this'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200">
                <a:solidFill>
                  <a:srgbClr val="FFFFFF"/>
                </a:solidFill>
              </a:defRPr>
            </a:pPr>
            <a:r>
              <a:t>  Too long: 5 paragraphs before the ask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200">
                <a:solidFill>
                  <a:srgbClr val="FFFFFF"/>
                </a:solidFill>
              </a:defRPr>
            </a:pPr>
            <a:r>
              <a:t>  No format specified: AI picks randomly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200">
                <a:solidFill>
                  <a:srgbClr val="FFFFFF"/>
                </a:solidFill>
              </a:defRPr>
            </a:pPr>
            <a:r>
              <a:t>  Assuming context: AI doesn't know what you know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200">
                <a:solidFill>
                  <a:srgbClr val="FFFFFF"/>
                </a:solidFill>
              </a:defRPr>
            </a:pPr>
            <a:r>
              <a:t>  One-shot: Not iterating on results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286000"/>
            <a:ext cx="1072865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200" b="1">
                <a:solidFill>
                  <a:srgbClr val="FFFFFF"/>
                </a:solidFill>
              </a:defRPr>
            </a:pPr>
            <a:r>
              <a:t>The first response is a draft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840480"/>
            <a:ext cx="10362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>
                <a:solidFill>
                  <a:srgbClr val="8B95A5"/>
                </a:solidFill>
              </a:defRPr>
            </a:pPr>
            <a:r>
              <a:t>Iterate. Refine. Build on what you have.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The Iteration Loop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626967" y="1371600"/>
            <a:ext cx="822960" cy="822960"/>
          </a:xfrm>
          <a:prstGeom prst="roundRect">
            <a:avLst/>
          </a:prstGeom>
          <a:solidFill>
            <a:srgbClr val="141A26"/>
          </a:solidFill>
          <a:ln w="25400">
            <a:solidFill>
              <a:srgbClr val="00D4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4289907" y="1211580"/>
            <a:ext cx="320040" cy="320040"/>
          </a:xfrm>
          <a:prstGeom prst="ellipse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289907" y="1229868"/>
            <a:ext cx="320040" cy="28346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0B0F1A"/>
                </a:solidFill>
              </a:defRPr>
            </a:pPr>
            <a: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26967" y="1554480"/>
            <a:ext cx="8229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00D4AA"/>
                </a:solidFill>
              </a:defRPr>
            </a:pPr>
            <a:r>
              <a:t>P</a:t>
            </a:r>
          </a:p>
        </p:txBody>
      </p:sp>
      <p:sp>
        <p:nvSpPr>
          <p:cNvPr id="7" name="Right Arrow 6"/>
          <p:cNvSpPr/>
          <p:nvPr/>
        </p:nvSpPr>
        <p:spPr>
          <a:xfrm>
            <a:off x="4541367" y="1645920"/>
            <a:ext cx="365760" cy="274320"/>
          </a:xfrm>
          <a:prstGeom prst="rightArrow">
            <a:avLst/>
          </a:prstGeom>
          <a:solidFill>
            <a:srgbClr val="8B95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998567" y="1371600"/>
            <a:ext cx="822960" cy="822960"/>
          </a:xfrm>
          <a:prstGeom prst="roundRect">
            <a:avLst/>
          </a:prstGeom>
          <a:solidFill>
            <a:srgbClr val="141A26"/>
          </a:solidFill>
          <a:ln w="25400">
            <a:solidFill>
              <a:srgbClr val="00D4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5661507" y="1211580"/>
            <a:ext cx="320040" cy="320040"/>
          </a:xfrm>
          <a:prstGeom prst="ellipse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661507" y="1229868"/>
            <a:ext cx="320040" cy="28346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0B0F1A"/>
                </a:solidFill>
              </a:defRPr>
            </a:pPr>
            <a: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998567" y="1554480"/>
            <a:ext cx="8229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00D4AA"/>
                </a:solidFill>
              </a:defRPr>
            </a:pPr>
            <a:r>
              <a:t>R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5912967" y="1645920"/>
            <a:ext cx="365760" cy="274320"/>
          </a:xfrm>
          <a:prstGeom prst="rightArrow">
            <a:avLst/>
          </a:prstGeom>
          <a:solidFill>
            <a:srgbClr val="8B95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370167" y="1371600"/>
            <a:ext cx="822960" cy="822960"/>
          </a:xfrm>
          <a:prstGeom prst="roundRect">
            <a:avLst/>
          </a:prstGeom>
          <a:solidFill>
            <a:srgbClr val="141A26"/>
          </a:solidFill>
          <a:ln w="25400">
            <a:solidFill>
              <a:srgbClr val="00D4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7033107" y="1211580"/>
            <a:ext cx="320040" cy="320040"/>
          </a:xfrm>
          <a:prstGeom prst="ellipse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033107" y="1229868"/>
            <a:ext cx="320040" cy="28346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0B0F1A"/>
                </a:solidFill>
              </a:defRPr>
            </a:pPr>
            <a: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70167" y="1554480"/>
            <a:ext cx="8229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00D4AA"/>
                </a:solidFill>
              </a:defRPr>
            </a:pPr>
            <a:r>
              <a:t>F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7284567" y="1645920"/>
            <a:ext cx="365760" cy="274320"/>
          </a:xfrm>
          <a:prstGeom prst="rightArrow">
            <a:avLst/>
          </a:prstGeom>
          <a:solidFill>
            <a:srgbClr val="8B95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7741767" y="1371600"/>
            <a:ext cx="822960" cy="822960"/>
          </a:xfrm>
          <a:prstGeom prst="roundRect">
            <a:avLst/>
          </a:prstGeom>
          <a:solidFill>
            <a:srgbClr val="141A26"/>
          </a:solidFill>
          <a:ln w="25400">
            <a:solidFill>
              <a:srgbClr val="00D4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8404707" y="1211580"/>
            <a:ext cx="320040" cy="320040"/>
          </a:xfrm>
          <a:prstGeom prst="ellipse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404707" y="1229868"/>
            <a:ext cx="320040" cy="28346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0B0F1A"/>
                </a:solidFill>
              </a:defRPr>
            </a:pPr>
            <a: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41767" y="1554480"/>
            <a:ext cx="8229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00D4AA"/>
                </a:solidFill>
              </a:defRPr>
            </a:pPr>
            <a:r>
              <a:t>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71600" y="2743200"/>
            <a:ext cx="457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D4AA"/>
                </a:solidFill>
              </a:defRPr>
            </a:pPr>
            <a:r>
              <a:t>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828800" y="2743200"/>
            <a:ext cx="899129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FFFFFF"/>
                </a:solidFill>
              </a:defRPr>
            </a:pPr>
            <a:r>
              <a:t>Your prompt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0" y="3383280"/>
            <a:ext cx="457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D4AA"/>
                </a:solidFill>
              </a:defRPr>
            </a:pPr>
            <a:r>
              <a:t>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828800" y="3383280"/>
            <a:ext cx="899129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FFFFFF"/>
                </a:solidFill>
              </a:defRPr>
            </a:pPr>
            <a:r>
              <a:t>AI responds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371600" y="4023360"/>
            <a:ext cx="457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D4AA"/>
                </a:solidFill>
              </a:defRPr>
            </a:pPr>
            <a:r>
              <a:t>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828800" y="4023360"/>
            <a:ext cx="899129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FFFFFF"/>
                </a:solidFill>
              </a:defRPr>
            </a:pPr>
            <a:r>
              <a:t>Give feedback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71600" y="4663440"/>
            <a:ext cx="457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D4AA"/>
                </a:solidFill>
              </a:defRPr>
            </a:pPr>
            <a: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828800" y="4663440"/>
            <a:ext cx="899129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FFFFFF"/>
                </a:solidFill>
              </a:defRPr>
            </a:pPr>
            <a:r>
              <a:t>Done!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914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0">
                <a:solidFill>
                  <a:srgbClr val="00D4AA"/>
                </a:solidFill>
              </a:defRPr>
            </a:pPr>
            <a:r>
              <a:t>"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2286000"/>
            <a:ext cx="944849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i="1">
                <a:solidFill>
                  <a:srgbClr val="FFFFFF"/>
                </a:solidFill>
              </a:defRPr>
            </a:pPr>
            <a:r>
              <a:t>Use XML tags to organize complex prompts. It's like putting things in labeled folders.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XML Tags Example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14400" y="1645920"/>
            <a:ext cx="10362895" cy="4114800"/>
          </a:xfrm>
          <a:prstGeom prst="round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78308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00D4AA"/>
                </a:solidFill>
              </a:defRPr>
            </a:pPr>
            <a:r>
              <a:t>PROMPT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194560"/>
            <a:ext cx="9997135" cy="3291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FFFFF"/>
                </a:solidFill>
                <a:latin typeface="Consolas"/>
              </a:defRPr>
            </a:pPr>
            <a:r>
              <a:t>&lt;task&gt;Analyze this sales data&lt;/task&gt;</a:t>
            </a:r>
            <a:br/>
            <a:br/>
            <a:r>
              <a:t>&lt;data&gt;</a:t>
            </a:r>
            <a:br/>
            <a:r>
              <a:t>Q1: $1.2M | Q2: $1.4M</a:t>
            </a:r>
            <a:br/>
            <a:r>
              <a:t>Q3: $1.1M | Q4: $1.8M</a:t>
            </a:r>
            <a:br/>
            <a:r>
              <a:t>&lt;/data&gt;</a:t>
            </a:r>
            <a:br/>
            <a:br/>
            <a:r>
              <a:t>&lt;output_format&gt;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B0F1A"/>
                </a:solidFill>
              </a:defRPr>
            </a:pPr>
            <a:r>
              <a:t>Knowledge Check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127729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Which prompt is more likely to get a useful response?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560320"/>
            <a:ext cx="11277295" cy="731520"/>
          </a:xfrm>
          <a:prstGeom prst="roundRect">
            <a:avLst/>
          </a:prstGeom>
          <a:solidFill>
            <a:srgbClr val="141A26"/>
          </a:solidFill>
          <a:ln>
            <a:solidFill>
              <a:srgbClr val="1F2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40080" y="2697480"/>
            <a:ext cx="457200" cy="457200"/>
          </a:xfrm>
          <a:prstGeom prst="ellipse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2743200"/>
            <a:ext cx="45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0B0F1A"/>
                </a:solidFill>
              </a:defRPr>
            </a:pPr>
            <a:r>
              <a:t>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80160" y="2724912"/>
            <a:ext cx="1036289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FFFFFF"/>
                </a:solidFill>
              </a:defRPr>
            </a:pPr>
            <a:r>
              <a:t>A) 'Write about sales'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429000"/>
            <a:ext cx="11277295" cy="731520"/>
          </a:xfrm>
          <a:prstGeom prst="roundRect">
            <a:avLst/>
          </a:prstGeom>
          <a:solidFill>
            <a:srgbClr val="141A26"/>
          </a:solidFill>
          <a:ln>
            <a:solidFill>
              <a:srgbClr val="1F2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640080" y="3566160"/>
            <a:ext cx="457200" cy="457200"/>
          </a:xfrm>
          <a:prstGeom prst="ellipse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3611880"/>
            <a:ext cx="45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0B0F1A"/>
                </a:solidFill>
              </a:defRPr>
            </a:pPr>
            <a:r>
              <a:t>B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80160" y="3593592"/>
            <a:ext cx="1036289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FFFFFF"/>
                </a:solidFill>
              </a:defRPr>
            </a:pPr>
            <a:r>
              <a:t>B) 'Create a 3-paragraph sales summary for the board, focusing on Q4 growth'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4297680"/>
            <a:ext cx="11277295" cy="731520"/>
          </a:xfrm>
          <a:prstGeom prst="roundRect">
            <a:avLst/>
          </a:prstGeom>
          <a:solidFill>
            <a:srgbClr val="141A26"/>
          </a:solidFill>
          <a:ln>
            <a:solidFill>
              <a:srgbClr val="1F2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0080" y="4434840"/>
            <a:ext cx="457200" cy="457200"/>
          </a:xfrm>
          <a:prstGeom prst="ellipse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4480560"/>
            <a:ext cx="45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0B0F1A"/>
                </a:solidFill>
              </a:defRPr>
            </a:pPr>
            <a:r>
              <a:t>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80160" y="4462272"/>
            <a:ext cx="1036289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FFFFFF"/>
                </a:solidFill>
              </a:defRPr>
            </a:pPr>
            <a:r>
              <a:t>C) 'Help me with work stuff'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5166360"/>
            <a:ext cx="11277295" cy="731520"/>
          </a:xfrm>
          <a:prstGeom prst="roundRect">
            <a:avLst/>
          </a:prstGeom>
          <a:solidFill>
            <a:srgbClr val="141A26"/>
          </a:solidFill>
          <a:ln>
            <a:solidFill>
              <a:srgbClr val="1F2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40080" y="5303520"/>
            <a:ext cx="457200" cy="457200"/>
          </a:xfrm>
          <a:prstGeom prst="ellipse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5349240"/>
            <a:ext cx="45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0B0F1A"/>
                </a:solidFill>
              </a:defRPr>
            </a:pPr>
            <a:r>
              <a:t>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80160" y="5330952"/>
            <a:ext cx="1036289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FFFFFF"/>
                </a:solidFill>
              </a:defRPr>
            </a:pPr>
            <a:r>
              <a:t>D) 'Sales report please'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127729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0" b="1">
                <a:solidFill>
                  <a:srgbClr val="E86B4A"/>
                </a:solidFill>
              </a:defRPr>
            </a:pPr>
            <a:r>
              <a:t>Claude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4754880"/>
            <a:ext cx="12191695" cy="36576"/>
          </a:xfrm>
          <a:prstGeom prst="rect">
            <a:avLst/>
          </a:prstGeom>
          <a:solidFill>
            <a:srgbClr val="E86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286000"/>
            <a:ext cx="1072865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200" b="1">
                <a:solidFill>
                  <a:srgbClr val="FFFFFF"/>
                </a:solidFill>
              </a:defRPr>
            </a:pPr>
            <a:r>
              <a:t>Your AI Thinking Partner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840480"/>
            <a:ext cx="10362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>
                <a:solidFill>
                  <a:srgbClr val="8B95A5"/>
                </a:solidFill>
              </a:defRPr>
            </a:pPr>
            <a:r>
              <a:t>Deep reasoning. Analysis. Writing. Problem-solving.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7295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Claude Interface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14400" y="1280160"/>
            <a:ext cx="10362895" cy="4754880"/>
          </a:xfrm>
          <a:prstGeom prst="roundRect">
            <a:avLst/>
          </a:prstGeom>
          <a:solidFill>
            <a:srgbClr val="141A26"/>
          </a:solidFill>
          <a:ln w="25400">
            <a:solidFill>
              <a:srgbClr val="00D4AA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3200400"/>
            <a:ext cx="103628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8B95A5"/>
                </a:solidFill>
              </a:defRPr>
            </a:pPr>
            <a:r>
              <a:t>[Claude.ai Interface]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114800"/>
            <a:ext cx="103628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i="1">
                <a:solidFill>
                  <a:srgbClr val="4A5568"/>
                </a:solidFill>
              </a:defRPr>
            </a:pPr>
            <a:r>
              <a:t>Replace with actual screenshot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73152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Key Claude Features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2301087" y="2286000"/>
            <a:ext cx="2286000" cy="2743200"/>
          </a:xfrm>
          <a:prstGeom prst="roundRect">
            <a:avLst/>
          </a:prstGeom>
          <a:solidFill>
            <a:srgbClr val="141A26"/>
          </a:solidFill>
          <a:ln w="25400">
            <a:solidFill>
              <a:srgbClr val="E86B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2986887" y="2743200"/>
            <a:ext cx="914400" cy="914400"/>
          </a:xfrm>
          <a:prstGeom prst="ellipse">
            <a:avLst/>
          </a:prstGeom>
          <a:solidFill>
            <a:srgbClr val="E86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986887" y="2880360"/>
            <a:ext cx="9144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0B0F1A"/>
                </a:solidFill>
              </a:defRPr>
            </a:pPr>
            <a:r>
              <a:t>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392527" y="3931920"/>
            <a:ext cx="2103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Chat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952847" y="2286000"/>
            <a:ext cx="2286000" cy="2743200"/>
          </a:xfrm>
          <a:prstGeom prst="roundRect">
            <a:avLst/>
          </a:prstGeom>
          <a:solidFill>
            <a:srgbClr val="141A26"/>
          </a:solidFill>
          <a:ln w="25400">
            <a:solidFill>
              <a:srgbClr val="E86B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5638647" y="2743200"/>
            <a:ext cx="914400" cy="914400"/>
          </a:xfrm>
          <a:prstGeom prst="ellipse">
            <a:avLst/>
          </a:prstGeom>
          <a:solidFill>
            <a:srgbClr val="E86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638647" y="2880360"/>
            <a:ext cx="9144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0B0F1A"/>
                </a:solidFill>
              </a:defRPr>
            </a:pPr>
            <a:r>
              <a:t>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44287" y="3931920"/>
            <a:ext cx="2103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Projects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604607" y="2286000"/>
            <a:ext cx="2286000" cy="2743200"/>
          </a:xfrm>
          <a:prstGeom prst="roundRect">
            <a:avLst/>
          </a:prstGeom>
          <a:solidFill>
            <a:srgbClr val="141A26"/>
          </a:solidFill>
          <a:ln w="25400">
            <a:solidFill>
              <a:srgbClr val="E86B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290407" y="2743200"/>
            <a:ext cx="914400" cy="914400"/>
          </a:xfrm>
          <a:prstGeom prst="ellipse">
            <a:avLst/>
          </a:prstGeom>
          <a:solidFill>
            <a:srgbClr val="E86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90407" y="2880360"/>
            <a:ext cx="9144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0B0F1A"/>
                </a:solidFill>
              </a:defRPr>
            </a:pPr>
            <a:r>
              <a:t>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96047" y="3931920"/>
            <a:ext cx="2103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Artifacts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Working with Files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626967" y="1371600"/>
            <a:ext cx="822960" cy="822960"/>
          </a:xfrm>
          <a:prstGeom prst="roundRect">
            <a:avLst/>
          </a:prstGeom>
          <a:solidFill>
            <a:srgbClr val="141A26"/>
          </a:solidFill>
          <a:ln w="25400">
            <a:solidFill>
              <a:srgbClr val="00D4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4289907" y="1211580"/>
            <a:ext cx="320040" cy="320040"/>
          </a:xfrm>
          <a:prstGeom prst="ellipse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289907" y="1229868"/>
            <a:ext cx="320040" cy="28346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0B0F1A"/>
                </a:solidFill>
              </a:defRPr>
            </a:pPr>
            <a: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26967" y="1554480"/>
            <a:ext cx="8229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00D4AA"/>
                </a:solidFill>
              </a:defRPr>
            </a:pPr>
            <a:r>
              <a:t>U</a:t>
            </a:r>
          </a:p>
        </p:txBody>
      </p:sp>
      <p:sp>
        <p:nvSpPr>
          <p:cNvPr id="7" name="Right Arrow 6"/>
          <p:cNvSpPr/>
          <p:nvPr/>
        </p:nvSpPr>
        <p:spPr>
          <a:xfrm>
            <a:off x="4541367" y="1645920"/>
            <a:ext cx="365760" cy="274320"/>
          </a:xfrm>
          <a:prstGeom prst="rightArrow">
            <a:avLst/>
          </a:prstGeom>
          <a:solidFill>
            <a:srgbClr val="8B95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998567" y="1371600"/>
            <a:ext cx="822960" cy="822960"/>
          </a:xfrm>
          <a:prstGeom prst="roundRect">
            <a:avLst/>
          </a:prstGeom>
          <a:solidFill>
            <a:srgbClr val="141A26"/>
          </a:solidFill>
          <a:ln w="25400">
            <a:solidFill>
              <a:srgbClr val="00D4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5661507" y="1211580"/>
            <a:ext cx="320040" cy="320040"/>
          </a:xfrm>
          <a:prstGeom prst="ellipse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661507" y="1229868"/>
            <a:ext cx="320040" cy="28346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0B0F1A"/>
                </a:solidFill>
              </a:defRPr>
            </a:pPr>
            <a: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998567" y="1554480"/>
            <a:ext cx="8229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00D4AA"/>
                </a:solidFill>
              </a:defRPr>
            </a:pPr>
            <a:r>
              <a:t>R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5912967" y="1645920"/>
            <a:ext cx="365760" cy="274320"/>
          </a:xfrm>
          <a:prstGeom prst="rightArrow">
            <a:avLst/>
          </a:prstGeom>
          <a:solidFill>
            <a:srgbClr val="8B95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370167" y="1371600"/>
            <a:ext cx="822960" cy="822960"/>
          </a:xfrm>
          <a:prstGeom prst="roundRect">
            <a:avLst/>
          </a:prstGeom>
          <a:solidFill>
            <a:srgbClr val="141A26"/>
          </a:solidFill>
          <a:ln w="25400">
            <a:solidFill>
              <a:srgbClr val="00D4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7033107" y="1211580"/>
            <a:ext cx="320040" cy="320040"/>
          </a:xfrm>
          <a:prstGeom prst="ellipse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033107" y="1229868"/>
            <a:ext cx="320040" cy="28346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0B0F1A"/>
                </a:solidFill>
              </a:defRPr>
            </a:pPr>
            <a: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70167" y="1554480"/>
            <a:ext cx="8229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00D4AA"/>
                </a:solidFill>
              </a:defRPr>
            </a:pPr>
            <a:r>
              <a:t>Q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7284567" y="1645920"/>
            <a:ext cx="365760" cy="274320"/>
          </a:xfrm>
          <a:prstGeom prst="rightArrow">
            <a:avLst/>
          </a:prstGeom>
          <a:solidFill>
            <a:srgbClr val="8B95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7741767" y="1371600"/>
            <a:ext cx="822960" cy="822960"/>
          </a:xfrm>
          <a:prstGeom prst="roundRect">
            <a:avLst/>
          </a:prstGeom>
          <a:solidFill>
            <a:srgbClr val="141A26"/>
          </a:solidFill>
          <a:ln w="25400">
            <a:solidFill>
              <a:srgbClr val="00D4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8404707" y="1211580"/>
            <a:ext cx="320040" cy="320040"/>
          </a:xfrm>
          <a:prstGeom prst="ellipse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404707" y="1229868"/>
            <a:ext cx="320040" cy="28346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0B0F1A"/>
                </a:solidFill>
              </a:defRPr>
            </a:pPr>
            <a: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41767" y="1554480"/>
            <a:ext cx="8229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00D4AA"/>
                </a:solidFill>
              </a:defRPr>
            </a:pPr>
            <a:r>
              <a:t>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71600" y="2743200"/>
            <a:ext cx="457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D4AA"/>
                </a:solidFill>
              </a:defRPr>
            </a:pPr>
            <a:r>
              <a:t>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828800" y="2743200"/>
            <a:ext cx="899129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FFFFFF"/>
                </a:solidFill>
              </a:defRPr>
            </a:pPr>
            <a:r>
              <a:t>Upload file (PDF, Word, Excel)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0" y="3383280"/>
            <a:ext cx="457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D4AA"/>
                </a:solidFill>
              </a:defRPr>
            </a:pPr>
            <a:r>
              <a:t>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828800" y="3383280"/>
            <a:ext cx="899129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FFFFFF"/>
                </a:solidFill>
              </a:defRPr>
            </a:pPr>
            <a:r>
              <a:t>Claude reads the content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371600" y="4023360"/>
            <a:ext cx="457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D4AA"/>
                </a:solidFill>
              </a:defRPr>
            </a:pPr>
            <a:r>
              <a:t>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828800" y="4023360"/>
            <a:ext cx="899129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FFFFFF"/>
                </a:solidFill>
              </a:defRPr>
            </a:pPr>
            <a:r>
              <a:t>Ask questions about it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71600" y="4663440"/>
            <a:ext cx="457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D4AA"/>
                </a:solidFill>
              </a:defRPr>
            </a:pPr>
            <a: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828800" y="4663440"/>
            <a:ext cx="899129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FFFFFF"/>
                </a:solidFill>
              </a:defRPr>
            </a:pPr>
            <a:r>
              <a:t>Get insights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286000"/>
            <a:ext cx="1072865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200" b="1">
                <a:solidFill>
                  <a:srgbClr val="FFFFFF"/>
                </a:solidFill>
              </a:defRPr>
            </a:pPr>
            <a:r>
              <a:t>Artifacts: More Than Text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840480"/>
            <a:ext cx="10362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>
                <a:solidFill>
                  <a:srgbClr val="8B95A5"/>
                </a:solidFill>
              </a:defRPr>
            </a:pPr>
            <a:r>
              <a:t>Documents. Diagrams. Charts. Even simple apps.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0"/>
            <a:ext cx="112772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600" b="1">
                <a:solidFill>
                  <a:srgbClr val="00D4AA"/>
                </a:solidFill>
              </a:defRPr>
            </a:pPr>
            <a:r>
              <a:t>DEMO</a:t>
            </a:r>
          </a:p>
        </p:txBody>
      </p:sp>
      <p:sp>
        <p:nvSpPr>
          <p:cNvPr id="3" name="Rectangle 2"/>
          <p:cNvSpPr/>
          <p:nvPr/>
        </p:nvSpPr>
        <p:spPr>
          <a:xfrm>
            <a:off x="4724247" y="3474720"/>
            <a:ext cx="2743200" cy="54864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840480"/>
            <a:ext cx="112772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Creating an Artifact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846320"/>
            <a:ext cx="103628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>
                <a:solidFill>
                  <a:srgbClr val="8B95A5"/>
                </a:solidFill>
              </a:defRPr>
            </a:pPr>
            <a:r>
              <a:t>Watch Claude generate a formatted document in real-time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Projects: Persistent Context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14400" y="1645920"/>
            <a:ext cx="10362895" cy="4114800"/>
          </a:xfrm>
          <a:prstGeom prst="round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78308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00D4AA"/>
                </a:solidFill>
              </a:defRPr>
            </a:pPr>
            <a:r>
              <a:t>PROJECT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194560"/>
            <a:ext cx="9997135" cy="3291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FFFFF"/>
                </a:solidFill>
                <a:latin typeface="Consolas"/>
              </a:defRPr>
            </a:pPr>
            <a:r>
              <a:t>Project: Monthly Reports</a:t>
            </a:r>
            <a:br/>
            <a:br/>
            <a:r>
              <a:t>Instructions:</a:t>
            </a:r>
            <a:br/>
            <a:r>
              <a:t>- Use fiscal year (April-March)</a:t>
            </a:r>
            <a:br/>
            <a:r>
              <a:t>- Include executive summary first</a:t>
            </a:r>
            <a:br/>
            <a:r>
              <a:t>- Use formal tone for board</a:t>
            </a:r>
            <a:br/>
            <a:r>
              <a:t>- Reference our KPI definitions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127729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0" b="1">
                <a:solidFill>
                  <a:srgbClr val="00D4AA"/>
                </a:solidFill>
              </a:defRPr>
            </a:pPr>
            <a:r>
              <a:t>LAB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4754880"/>
            <a:ext cx="12191695" cy="36576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365760"/>
            <a:ext cx="1097280" cy="457200"/>
          </a:xfrm>
          <a:prstGeom prst="round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29768"/>
            <a:ext cx="1097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0B0F1A"/>
                </a:solidFill>
              </a:defRPr>
            </a:pPr>
            <a:r>
              <a:t>LAB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362895" y="365760"/>
            <a:ext cx="1371600" cy="457200"/>
          </a:xfrm>
          <a:prstGeom prst="roundRect">
            <a:avLst/>
          </a:prstGeom>
          <a:solidFill>
            <a:srgbClr val="141A26"/>
          </a:solidFill>
          <a:ln>
            <a:solidFill>
              <a:srgbClr val="00D4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362895" y="429768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00D4AA"/>
                </a:solidFill>
              </a:defRPr>
            </a:pPr>
            <a:r>
              <a:t>7 minutes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0584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Exercise: Claude Prompt Practice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737360"/>
            <a:ext cx="2743200" cy="36576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457200" y="2011680"/>
            <a:ext cx="457200" cy="457200"/>
          </a:xfrm>
          <a:prstGeom prst="ellipse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2084832"/>
            <a:ext cx="45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0B0F1A"/>
                </a:solidFill>
              </a:defRPr>
            </a:pPr>
            <a: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2084832"/>
            <a:ext cx="106372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FFFFFF"/>
                </a:solidFill>
              </a:defRPr>
            </a:pPr>
            <a:r>
              <a:t>Open claude.ai</a:t>
            </a:r>
          </a:p>
        </p:txBody>
      </p:sp>
      <p:sp>
        <p:nvSpPr>
          <p:cNvPr id="11" name="Oval 10"/>
          <p:cNvSpPr/>
          <p:nvPr/>
        </p:nvSpPr>
        <p:spPr>
          <a:xfrm>
            <a:off x="457200" y="2788920"/>
            <a:ext cx="457200" cy="457200"/>
          </a:xfrm>
          <a:prstGeom prst="ellipse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2862072"/>
            <a:ext cx="45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0B0F1A"/>
                </a:solidFill>
              </a:defRPr>
            </a:pPr>
            <a: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2862072"/>
            <a:ext cx="106372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FFFFFF"/>
                </a:solidFill>
              </a:defRPr>
            </a:pPr>
            <a:r>
              <a:t>Use GOLDEN: Goal + Output + Length</a:t>
            </a:r>
          </a:p>
        </p:txBody>
      </p:sp>
      <p:sp>
        <p:nvSpPr>
          <p:cNvPr id="14" name="Oval 13"/>
          <p:cNvSpPr/>
          <p:nvPr/>
        </p:nvSpPr>
        <p:spPr>
          <a:xfrm>
            <a:off x="457200" y="3566160"/>
            <a:ext cx="457200" cy="457200"/>
          </a:xfrm>
          <a:prstGeom prst="ellipse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3639312"/>
            <a:ext cx="45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0B0F1A"/>
                </a:solidFill>
              </a:defRPr>
            </a:pPr>
            <a: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" y="3639312"/>
            <a:ext cx="106372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FFFFFF"/>
                </a:solidFill>
              </a:defRPr>
            </a:pPr>
            <a:r>
              <a:t>Prompt: 'Analyze a meeting agenda, identify 3 key discussion points'</a:t>
            </a:r>
          </a:p>
        </p:txBody>
      </p:sp>
      <p:sp>
        <p:nvSpPr>
          <p:cNvPr id="17" name="Oval 16"/>
          <p:cNvSpPr/>
          <p:nvPr/>
        </p:nvSpPr>
        <p:spPr>
          <a:xfrm>
            <a:off x="457200" y="4343400"/>
            <a:ext cx="457200" cy="457200"/>
          </a:xfrm>
          <a:prstGeom prst="ellipse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" y="4416552"/>
            <a:ext cx="45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0B0F1A"/>
                </a:solidFill>
              </a:defRPr>
            </a:pPr>
            <a: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" y="4416552"/>
            <a:ext cx="106372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FFFFFF"/>
                </a:solidFill>
              </a:defRPr>
            </a:pPr>
            <a:r>
              <a:t>Iterate: Ask for changes to the response</a:t>
            </a:r>
          </a:p>
        </p:txBody>
      </p:sp>
      <p:sp>
        <p:nvSpPr>
          <p:cNvPr id="20" name="Oval 19"/>
          <p:cNvSpPr/>
          <p:nvPr/>
        </p:nvSpPr>
        <p:spPr>
          <a:xfrm>
            <a:off x="457200" y="5120640"/>
            <a:ext cx="457200" cy="457200"/>
          </a:xfrm>
          <a:prstGeom prst="ellipse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" y="5193792"/>
            <a:ext cx="45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0B0F1A"/>
                </a:solidFill>
              </a:defRPr>
            </a:pPr>
            <a: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97280" y="5193792"/>
            <a:ext cx="106372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FFFFFF"/>
                </a:solidFill>
              </a:defRPr>
            </a:pPr>
            <a:r>
              <a:t>Try uploading a file if you have one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127729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0" b="1">
                <a:solidFill>
                  <a:srgbClr val="0078D4"/>
                </a:solidFill>
              </a:defRPr>
            </a:pPr>
            <a:r>
              <a:t>Copilot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4754880"/>
            <a:ext cx="12191695" cy="36576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286000"/>
            <a:ext cx="1072865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200" b="1">
                <a:solidFill>
                  <a:srgbClr val="FFFFFF"/>
                </a:solidFill>
              </a:defRPr>
            </a:pPr>
            <a:r>
              <a:t>AI Built Into Your Workflow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840480"/>
            <a:ext cx="10362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>
                <a:solidFill>
                  <a:srgbClr val="8B95A5"/>
                </a:solidFill>
              </a:defRPr>
            </a:pPr>
            <a:r>
              <a:t>Copilot lives where your work happens: Word, Excel, Outlook, Teams.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73152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Where to Find Copilot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75207" y="2286000"/>
            <a:ext cx="2286000" cy="2743200"/>
          </a:xfrm>
          <a:prstGeom prst="roundRect">
            <a:avLst/>
          </a:prstGeom>
          <a:solidFill>
            <a:srgbClr val="141A26"/>
          </a:solidFill>
          <a:ln w="25400">
            <a:solidFill>
              <a:srgbClr val="007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661007" y="2743200"/>
            <a:ext cx="914400" cy="914400"/>
          </a:xfrm>
          <a:prstGeom prst="ellipse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661007" y="2880360"/>
            <a:ext cx="9144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0B0F1A"/>
                </a:solidFill>
              </a:defRPr>
            </a:pPr>
            <a:r>
              <a:t>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6647" y="3931920"/>
            <a:ext cx="2103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Chat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26967" y="2286000"/>
            <a:ext cx="2286000" cy="2743200"/>
          </a:xfrm>
          <a:prstGeom prst="roundRect">
            <a:avLst/>
          </a:prstGeom>
          <a:solidFill>
            <a:srgbClr val="141A26"/>
          </a:solidFill>
          <a:ln w="25400">
            <a:solidFill>
              <a:srgbClr val="007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4312767" y="2743200"/>
            <a:ext cx="914400" cy="914400"/>
          </a:xfrm>
          <a:prstGeom prst="ellipse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312767" y="2880360"/>
            <a:ext cx="9144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0B0F1A"/>
                </a:solidFill>
              </a:defRPr>
            </a:pPr>
            <a:r>
              <a:t>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18407" y="3931920"/>
            <a:ext cx="2103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Word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78727" y="2286000"/>
            <a:ext cx="2286000" cy="2743200"/>
          </a:xfrm>
          <a:prstGeom prst="roundRect">
            <a:avLst/>
          </a:prstGeom>
          <a:solidFill>
            <a:srgbClr val="141A26"/>
          </a:solidFill>
          <a:ln w="25400">
            <a:solidFill>
              <a:srgbClr val="007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964527" y="2743200"/>
            <a:ext cx="914400" cy="914400"/>
          </a:xfrm>
          <a:prstGeom prst="ellipse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964527" y="2880360"/>
            <a:ext cx="9144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0B0F1A"/>
                </a:solidFill>
              </a:defRPr>
            </a:pPr>
            <a:r>
              <a:t>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70167" y="3931920"/>
            <a:ext cx="2103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Excel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930487" y="2286000"/>
            <a:ext cx="2286000" cy="2743200"/>
          </a:xfrm>
          <a:prstGeom prst="roundRect">
            <a:avLst/>
          </a:prstGeom>
          <a:solidFill>
            <a:srgbClr val="141A26"/>
          </a:solidFill>
          <a:ln w="25400">
            <a:solidFill>
              <a:srgbClr val="007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9616287" y="2743200"/>
            <a:ext cx="914400" cy="914400"/>
          </a:xfrm>
          <a:prstGeom prst="ellipse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616287" y="2880360"/>
            <a:ext cx="9144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0B0F1A"/>
                </a:solidFill>
              </a:defRPr>
            </a:pPr>
            <a:r>
              <a:t>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021927" y="3931920"/>
            <a:ext cx="2103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Outlook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7295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Copilot Interface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14400" y="1280160"/>
            <a:ext cx="10362895" cy="4754880"/>
          </a:xfrm>
          <a:prstGeom prst="roundRect">
            <a:avLst/>
          </a:prstGeom>
          <a:solidFill>
            <a:srgbClr val="141A26"/>
          </a:solidFill>
          <a:ln w="25400">
            <a:solidFill>
              <a:srgbClr val="00D4AA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3200400"/>
            <a:ext cx="103628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8B95A5"/>
                </a:solidFill>
              </a:defRPr>
            </a:pPr>
            <a:r>
              <a:t>[Microsoft 365 Copilot]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114800"/>
            <a:ext cx="103628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i="1">
                <a:solidFill>
                  <a:srgbClr val="4A5568"/>
                </a:solidFill>
              </a:defRPr>
            </a:pPr>
            <a:r>
              <a:t>Replace with actual screenshot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Copilot Chat: Search Your Data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626967" y="1371600"/>
            <a:ext cx="822960" cy="822960"/>
          </a:xfrm>
          <a:prstGeom prst="roundRect">
            <a:avLst/>
          </a:prstGeom>
          <a:solidFill>
            <a:srgbClr val="141A26"/>
          </a:solidFill>
          <a:ln w="25400">
            <a:solidFill>
              <a:srgbClr val="00D4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4289907" y="1211580"/>
            <a:ext cx="320040" cy="320040"/>
          </a:xfrm>
          <a:prstGeom prst="ellipse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289907" y="1229868"/>
            <a:ext cx="320040" cy="28346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0B0F1A"/>
                </a:solidFill>
              </a:defRPr>
            </a:pPr>
            <a: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26967" y="1554480"/>
            <a:ext cx="8229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00D4AA"/>
                </a:solidFill>
              </a:defRPr>
            </a:pPr>
            <a:r>
              <a:t>Q</a:t>
            </a:r>
          </a:p>
        </p:txBody>
      </p:sp>
      <p:sp>
        <p:nvSpPr>
          <p:cNvPr id="7" name="Right Arrow 6"/>
          <p:cNvSpPr/>
          <p:nvPr/>
        </p:nvSpPr>
        <p:spPr>
          <a:xfrm>
            <a:off x="4541367" y="1645920"/>
            <a:ext cx="365760" cy="274320"/>
          </a:xfrm>
          <a:prstGeom prst="rightArrow">
            <a:avLst/>
          </a:prstGeom>
          <a:solidFill>
            <a:srgbClr val="8B95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998567" y="1371600"/>
            <a:ext cx="822960" cy="822960"/>
          </a:xfrm>
          <a:prstGeom prst="roundRect">
            <a:avLst/>
          </a:prstGeom>
          <a:solidFill>
            <a:srgbClr val="141A26"/>
          </a:solidFill>
          <a:ln w="25400">
            <a:solidFill>
              <a:srgbClr val="00D4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5661507" y="1211580"/>
            <a:ext cx="320040" cy="320040"/>
          </a:xfrm>
          <a:prstGeom prst="ellipse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661507" y="1229868"/>
            <a:ext cx="320040" cy="28346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0B0F1A"/>
                </a:solidFill>
              </a:defRPr>
            </a:pPr>
            <a: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998567" y="1554480"/>
            <a:ext cx="8229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00D4AA"/>
                </a:solidFill>
              </a:defRPr>
            </a:pPr>
            <a:r>
              <a:t>S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5912967" y="1645920"/>
            <a:ext cx="365760" cy="274320"/>
          </a:xfrm>
          <a:prstGeom prst="rightArrow">
            <a:avLst/>
          </a:prstGeom>
          <a:solidFill>
            <a:srgbClr val="8B95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370167" y="1371600"/>
            <a:ext cx="822960" cy="822960"/>
          </a:xfrm>
          <a:prstGeom prst="roundRect">
            <a:avLst/>
          </a:prstGeom>
          <a:solidFill>
            <a:srgbClr val="141A26"/>
          </a:solidFill>
          <a:ln w="25400">
            <a:solidFill>
              <a:srgbClr val="00D4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7033107" y="1211580"/>
            <a:ext cx="320040" cy="320040"/>
          </a:xfrm>
          <a:prstGeom prst="ellipse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033107" y="1229868"/>
            <a:ext cx="320040" cy="28346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0B0F1A"/>
                </a:solidFill>
              </a:defRPr>
            </a:pPr>
            <a: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70167" y="1554480"/>
            <a:ext cx="8229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00D4AA"/>
                </a:solidFill>
              </a:defRPr>
            </a:pPr>
            <a:r>
              <a:t>F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7284567" y="1645920"/>
            <a:ext cx="365760" cy="274320"/>
          </a:xfrm>
          <a:prstGeom prst="rightArrow">
            <a:avLst/>
          </a:prstGeom>
          <a:solidFill>
            <a:srgbClr val="8B95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7741767" y="1371600"/>
            <a:ext cx="822960" cy="822960"/>
          </a:xfrm>
          <a:prstGeom prst="roundRect">
            <a:avLst/>
          </a:prstGeom>
          <a:solidFill>
            <a:srgbClr val="141A26"/>
          </a:solidFill>
          <a:ln w="25400">
            <a:solidFill>
              <a:srgbClr val="00D4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8404707" y="1211580"/>
            <a:ext cx="320040" cy="320040"/>
          </a:xfrm>
          <a:prstGeom prst="ellipse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404707" y="1229868"/>
            <a:ext cx="320040" cy="28346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0B0F1A"/>
                </a:solidFill>
              </a:defRPr>
            </a:pPr>
            <a: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41767" y="1554480"/>
            <a:ext cx="8229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00D4AA"/>
                </a:solidFill>
              </a:defRPr>
            </a:pPr>
            <a:r>
              <a:t>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71600" y="2743200"/>
            <a:ext cx="457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D4AA"/>
                </a:solidFill>
              </a:defRPr>
            </a:pPr>
            <a:r>
              <a:t>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828800" y="2743200"/>
            <a:ext cx="899129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FFFFFF"/>
                </a:solidFill>
              </a:defRPr>
            </a:pPr>
            <a:r>
              <a:t>Ask a question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0" y="3383280"/>
            <a:ext cx="457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D4AA"/>
                </a:solidFill>
              </a:defRPr>
            </a:pPr>
            <a:r>
              <a:t>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828800" y="3383280"/>
            <a:ext cx="899129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FFFFFF"/>
                </a:solidFill>
              </a:defRPr>
            </a:pPr>
            <a:r>
              <a:t>Copilot searches M365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371600" y="4023360"/>
            <a:ext cx="457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D4AA"/>
                </a:solidFill>
              </a:defRPr>
            </a:pPr>
            <a:r>
              <a:t>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828800" y="4023360"/>
            <a:ext cx="899129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FFFFFF"/>
                </a:solidFill>
              </a:defRPr>
            </a:pPr>
            <a:r>
              <a:t>Finds relevant files/emails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71600" y="4663440"/>
            <a:ext cx="457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D4AA"/>
                </a:solidFill>
              </a:defRPr>
            </a:pPr>
            <a: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828800" y="4663440"/>
            <a:ext cx="899129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FFFFFF"/>
                </a:solidFill>
              </a:defRPr>
            </a:pPr>
            <a:r>
              <a:t>Answers with context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0"/>
            <a:ext cx="112772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600" b="1">
                <a:solidFill>
                  <a:srgbClr val="00D4AA"/>
                </a:solidFill>
              </a:defRPr>
            </a:pPr>
            <a:r>
              <a:t>DEMO</a:t>
            </a:r>
          </a:p>
        </p:txBody>
      </p:sp>
      <p:sp>
        <p:nvSpPr>
          <p:cNvPr id="3" name="Rectangle 2"/>
          <p:cNvSpPr/>
          <p:nvPr/>
        </p:nvSpPr>
        <p:spPr>
          <a:xfrm>
            <a:off x="4724247" y="3474720"/>
            <a:ext cx="2743200" cy="54864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840480"/>
            <a:ext cx="112772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Copilot in Word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846320"/>
            <a:ext cx="103628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>
                <a:solidFill>
                  <a:srgbClr val="8B95A5"/>
                </a:solidFill>
              </a:defRPr>
            </a:pPr>
            <a:r>
              <a:t>Draft, rewrite, summarize, change tone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Copilot in Outlook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14400" y="1645920"/>
            <a:ext cx="10362895" cy="4114800"/>
          </a:xfrm>
          <a:prstGeom prst="round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78308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00D4AA"/>
                </a:solidFill>
              </a:defRPr>
            </a:pPr>
            <a:r>
              <a:t>PROMPTS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194560"/>
            <a:ext cx="9997135" cy="3291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FFFFF"/>
                </a:solidFill>
                <a:latin typeface="Consolas"/>
              </a:defRPr>
            </a:pPr>
            <a:r>
              <a:t>Draft a polite reply declining</a:t>
            </a:r>
            <a:br/>
            <a:r>
              <a:t>this meeting due to a conflict</a:t>
            </a:r>
            <a:br/>
            <a:br/>
            <a:r>
              <a:t>Summarize this thread</a:t>
            </a:r>
            <a:br/>
            <a:br/>
            <a:r>
              <a:t>What action items are in this email?</a:t>
            </a:r>
            <a:br/>
            <a:br/>
            <a:r>
              <a:t>Draft a follow-up asking for status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286000"/>
            <a:ext cx="1072865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200" b="1">
                <a:solidFill>
                  <a:srgbClr val="FFFFFF"/>
                </a:solidFill>
              </a:defRPr>
            </a:pPr>
            <a:r>
              <a:t>Email Triage in Seconds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840480"/>
            <a:ext cx="10362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>
                <a:solidFill>
                  <a:srgbClr val="8B95A5"/>
                </a:solidFill>
              </a:defRPr>
            </a:pPr>
            <a:r>
              <a:t>'Summarize all threads that need my response' - instant inbox triage.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73152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Copilot in PowerPoint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2301087" y="2286000"/>
            <a:ext cx="2286000" cy="2743200"/>
          </a:xfrm>
          <a:prstGeom prst="roundRect">
            <a:avLst/>
          </a:prstGeom>
          <a:solidFill>
            <a:srgbClr val="141A26"/>
          </a:solidFill>
          <a:ln w="25400">
            <a:solidFill>
              <a:srgbClr val="007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2986887" y="2743200"/>
            <a:ext cx="914400" cy="914400"/>
          </a:xfrm>
          <a:prstGeom prst="ellipse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986887" y="2880360"/>
            <a:ext cx="9144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0B0F1A"/>
                </a:solidFill>
              </a:defRPr>
            </a:pPr>
            <a:r>
              <a:t>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392527" y="3931920"/>
            <a:ext cx="2103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Create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952847" y="2286000"/>
            <a:ext cx="2286000" cy="2743200"/>
          </a:xfrm>
          <a:prstGeom prst="roundRect">
            <a:avLst/>
          </a:prstGeom>
          <a:solidFill>
            <a:srgbClr val="141A26"/>
          </a:solidFill>
          <a:ln w="25400">
            <a:solidFill>
              <a:srgbClr val="007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5638647" y="2743200"/>
            <a:ext cx="914400" cy="914400"/>
          </a:xfrm>
          <a:prstGeom prst="ellipse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638647" y="2880360"/>
            <a:ext cx="9144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0B0F1A"/>
                </a:solidFill>
              </a:defRPr>
            </a:pPr>
            <a:r>
              <a:t>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44287" y="3931920"/>
            <a:ext cx="2103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Generate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604607" y="2286000"/>
            <a:ext cx="2286000" cy="2743200"/>
          </a:xfrm>
          <a:prstGeom prst="roundRect">
            <a:avLst/>
          </a:prstGeom>
          <a:solidFill>
            <a:srgbClr val="141A26"/>
          </a:solidFill>
          <a:ln w="25400">
            <a:solidFill>
              <a:srgbClr val="007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290407" y="2743200"/>
            <a:ext cx="914400" cy="914400"/>
          </a:xfrm>
          <a:prstGeom prst="ellipse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90407" y="2880360"/>
            <a:ext cx="9144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0B0F1A"/>
                </a:solidFill>
              </a:defRPr>
            </a:pPr>
            <a:r>
              <a:t>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96047" y="3931920"/>
            <a:ext cx="2103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Reorganize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127729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0" b="1">
                <a:solidFill>
                  <a:srgbClr val="00D4AA"/>
                </a:solidFill>
              </a:defRPr>
            </a:pPr>
            <a:r>
              <a:t>LAB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4754880"/>
            <a:ext cx="12191695" cy="36576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365760"/>
            <a:ext cx="1097280" cy="457200"/>
          </a:xfrm>
          <a:prstGeom prst="round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29768"/>
            <a:ext cx="1097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0B0F1A"/>
                </a:solidFill>
              </a:defRPr>
            </a:pPr>
            <a:r>
              <a:t>LAB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362895" y="365760"/>
            <a:ext cx="1371600" cy="457200"/>
          </a:xfrm>
          <a:prstGeom prst="roundRect">
            <a:avLst/>
          </a:prstGeom>
          <a:solidFill>
            <a:srgbClr val="141A26"/>
          </a:solidFill>
          <a:ln>
            <a:solidFill>
              <a:srgbClr val="00D4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362895" y="429768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00D4AA"/>
                </a:solidFill>
              </a:defRPr>
            </a:pPr>
            <a:r>
              <a:t>5 minutes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0584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Exercise: Try Copilot Now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737360"/>
            <a:ext cx="2743200" cy="36576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457200" y="2011680"/>
            <a:ext cx="457200" cy="457200"/>
          </a:xfrm>
          <a:prstGeom prst="ellipse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2084832"/>
            <a:ext cx="45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0B0F1A"/>
                </a:solidFill>
              </a:defRPr>
            </a:pPr>
            <a: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2084832"/>
            <a:ext cx="106372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FFFFFF"/>
                </a:solidFill>
              </a:defRPr>
            </a:pPr>
            <a:r>
              <a:t>Open copilot.microsoft.com</a:t>
            </a:r>
          </a:p>
        </p:txBody>
      </p:sp>
      <p:sp>
        <p:nvSpPr>
          <p:cNvPr id="11" name="Oval 10"/>
          <p:cNvSpPr/>
          <p:nvPr/>
        </p:nvSpPr>
        <p:spPr>
          <a:xfrm>
            <a:off x="457200" y="2788920"/>
            <a:ext cx="457200" cy="457200"/>
          </a:xfrm>
          <a:prstGeom prst="ellipse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2862072"/>
            <a:ext cx="45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0B0F1A"/>
                </a:solidFill>
              </a:defRPr>
            </a:pPr>
            <a: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2862072"/>
            <a:ext cx="106372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FFFFFF"/>
                </a:solidFill>
              </a:defRPr>
            </a:pPr>
            <a:r>
              <a:t>Try: 'What meetings do I have this week?'</a:t>
            </a:r>
          </a:p>
        </p:txBody>
      </p:sp>
      <p:sp>
        <p:nvSpPr>
          <p:cNvPr id="14" name="Oval 13"/>
          <p:cNvSpPr/>
          <p:nvPr/>
        </p:nvSpPr>
        <p:spPr>
          <a:xfrm>
            <a:off x="457200" y="3566160"/>
            <a:ext cx="457200" cy="457200"/>
          </a:xfrm>
          <a:prstGeom prst="ellipse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3639312"/>
            <a:ext cx="45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0B0F1A"/>
                </a:solidFill>
              </a:defRPr>
            </a:pPr>
            <a: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" y="3639312"/>
            <a:ext cx="106372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FFFFFF"/>
                </a:solidFill>
              </a:defRPr>
            </a:pPr>
            <a:r>
              <a:t>Or: 'Summarize recent emails from [name]'</a:t>
            </a:r>
          </a:p>
        </p:txBody>
      </p:sp>
      <p:sp>
        <p:nvSpPr>
          <p:cNvPr id="17" name="Oval 16"/>
          <p:cNvSpPr/>
          <p:nvPr/>
        </p:nvSpPr>
        <p:spPr>
          <a:xfrm>
            <a:off x="457200" y="4343400"/>
            <a:ext cx="457200" cy="457200"/>
          </a:xfrm>
          <a:prstGeom prst="ellipse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" y="4416552"/>
            <a:ext cx="45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0B0F1A"/>
                </a:solidFill>
              </a:defRPr>
            </a:pPr>
            <a: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" y="4416552"/>
            <a:ext cx="106372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FFFFFF"/>
                </a:solidFill>
              </a:defRPr>
            </a:pPr>
            <a:r>
              <a:t>Alternative: Open Word and use Copilot to draft something</a:t>
            </a:r>
          </a:p>
        </p:txBody>
      </p:sp>
      <p:sp>
        <p:nvSpPr>
          <p:cNvPr id="20" name="Oval 19"/>
          <p:cNvSpPr/>
          <p:nvPr/>
        </p:nvSpPr>
        <p:spPr>
          <a:xfrm>
            <a:off x="457200" y="5120640"/>
            <a:ext cx="457200" cy="457200"/>
          </a:xfrm>
          <a:prstGeom prst="ellipse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" y="5193792"/>
            <a:ext cx="45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0B0F1A"/>
                </a:solidFill>
              </a:defRPr>
            </a:pPr>
            <a: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97280" y="5193792"/>
            <a:ext cx="106372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FFFFFF"/>
                </a:solidFill>
              </a:defRPr>
            </a:pPr>
            <a:r>
              <a:t>Iterate: 'Make it shorter'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127729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0" b="1">
                <a:solidFill>
                  <a:srgbClr val="00D4AA"/>
                </a:solidFill>
              </a:defRPr>
            </a:pPr>
            <a:r>
              <a:t>Which?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4754880"/>
            <a:ext cx="12191695" cy="36576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Quick Reference</a:t>
            </a:r>
          </a:p>
        </p:txBody>
      </p:sp>
      <p:sp>
        <p:nvSpPr>
          <p:cNvPr id="3" name="Rectangle 2"/>
          <p:cNvSpPr/>
          <p:nvPr/>
        </p:nvSpPr>
        <p:spPr>
          <a:xfrm>
            <a:off x="6077559" y="1371600"/>
            <a:ext cx="36576" cy="457200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463040"/>
            <a:ext cx="5364327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E86B4A"/>
                </a:solidFill>
              </a:defRPr>
            </a:pPr>
            <a:r>
              <a:t>Use Claude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286000"/>
            <a:ext cx="5364327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FFFFFF"/>
                </a:solidFill>
              </a:defRPr>
            </a:pPr>
            <a:r>
              <a:t>  Deep document analysis</a:t>
            </a:r>
          </a:p>
          <a:p>
            <a:pPr>
              <a:spcAft>
                <a:spcPts val="1200"/>
              </a:spcAft>
              <a:defRPr sz="1800">
                <a:solidFill>
                  <a:srgbClr val="FFFFFF"/>
                </a:solidFill>
              </a:defRPr>
            </a:pPr>
            <a:r>
              <a:t>  Long-form writing</a:t>
            </a:r>
          </a:p>
          <a:p>
            <a:pPr>
              <a:spcAft>
                <a:spcPts val="1200"/>
              </a:spcAft>
              <a:defRPr sz="1800">
                <a:solidFill>
                  <a:srgbClr val="FFFFFF"/>
                </a:solidFill>
              </a:defRPr>
            </a:pPr>
            <a:r>
              <a:t>  Complex reasoning</a:t>
            </a:r>
          </a:p>
          <a:p>
            <a:pPr>
              <a:spcAft>
                <a:spcPts val="1200"/>
              </a:spcAft>
              <a:defRPr sz="1800">
                <a:solidFill>
                  <a:srgbClr val="FFFFFF"/>
                </a:solidFill>
              </a:defRPr>
            </a:pPr>
            <a:r>
              <a:t>  File analysis (PDFs, docs)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70167" y="1463040"/>
            <a:ext cx="5364327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0078D4"/>
                </a:solidFill>
              </a:defRPr>
            </a:pPr>
            <a:r>
              <a:t>Use Copilot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70167" y="2286000"/>
            <a:ext cx="5364327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FFFFFF"/>
                </a:solidFill>
              </a:defRPr>
            </a:pPr>
            <a:r>
              <a:t>  Search M365 data</a:t>
            </a:r>
          </a:p>
          <a:p>
            <a:pPr>
              <a:spcAft>
                <a:spcPts val="1200"/>
              </a:spcAft>
              <a:defRPr sz="1800">
                <a:solidFill>
                  <a:srgbClr val="FFFFFF"/>
                </a:solidFill>
              </a:defRPr>
            </a:pPr>
            <a:r>
              <a:t>  Quick Office edits</a:t>
            </a:r>
          </a:p>
          <a:p>
            <a:pPr>
              <a:spcAft>
                <a:spcPts val="1200"/>
              </a:spcAft>
              <a:defRPr sz="1800">
                <a:solidFill>
                  <a:srgbClr val="FFFFFF"/>
                </a:solidFill>
              </a:defRPr>
            </a:pPr>
            <a:r>
              <a:t>  Meeting summaries</a:t>
            </a:r>
          </a:p>
          <a:p>
            <a:pPr>
              <a:spcAft>
                <a:spcPts val="1200"/>
              </a:spcAft>
              <a:defRPr sz="1800">
                <a:solidFill>
                  <a:srgbClr val="FFFFFF"/>
                </a:solidFill>
              </a:defRPr>
            </a:pPr>
            <a:r>
              <a:t>  Email drafts &amp; replies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286000"/>
            <a:ext cx="1072865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200" b="1">
                <a:solidFill>
                  <a:srgbClr val="FFFFFF"/>
                </a:solidFill>
              </a:defRPr>
            </a:pPr>
            <a:r>
              <a:t>Using both is the power move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840480"/>
            <a:ext cx="10362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>
                <a:solidFill>
                  <a:srgbClr val="8B95A5"/>
                </a:solidFill>
              </a:defRPr>
            </a:pPr>
            <a:r>
              <a:t>Claude for thinking. Copilot for doing. Both for productivity.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127729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0" b="1">
                <a:solidFill>
                  <a:srgbClr val="00D4AA"/>
                </a:solidFill>
              </a:defRPr>
            </a:pPr>
            <a:r>
              <a:t>Takeaways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4754880"/>
            <a:ext cx="12191695" cy="36576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188720"/>
            <a:ext cx="91440" cy="502920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1277295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What You Learned</a:t>
            </a:r>
          </a:p>
        </p:txBody>
      </p:sp>
      <p:sp>
        <p:nvSpPr>
          <p:cNvPr id="4" name="Oval 3"/>
          <p:cNvSpPr/>
          <p:nvPr/>
        </p:nvSpPr>
        <p:spPr>
          <a:xfrm>
            <a:off x="457200" y="1371600"/>
            <a:ext cx="411480" cy="411480"/>
          </a:xfrm>
          <a:prstGeom prst="ellipse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417320"/>
            <a:ext cx="411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0B0F1A"/>
                </a:solidFill>
              </a:defRPr>
            </a:pPr>
            <a:r>
              <a:t>v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141732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>
                <a:solidFill>
                  <a:srgbClr val="FFFFFF"/>
                </a:solidFill>
              </a:defRPr>
            </a:pPr>
            <a:r>
              <a:t>GOLDEN and GSCE frameworks for better prompts</a:t>
            </a:r>
          </a:p>
        </p:txBody>
      </p:sp>
      <p:sp>
        <p:nvSpPr>
          <p:cNvPr id="7" name="Oval 6"/>
          <p:cNvSpPr/>
          <p:nvPr/>
        </p:nvSpPr>
        <p:spPr>
          <a:xfrm>
            <a:off x="457200" y="2194560"/>
            <a:ext cx="411480" cy="411480"/>
          </a:xfrm>
          <a:prstGeom prst="ellipse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240280"/>
            <a:ext cx="411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0B0F1A"/>
                </a:solidFill>
              </a:defRPr>
            </a:pPr>
            <a:r>
              <a:t>v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224028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>
                <a:solidFill>
                  <a:srgbClr val="FFFFFF"/>
                </a:solidFill>
              </a:defRPr>
            </a:pPr>
            <a:r>
              <a:t>Claude: Deep reasoning, analysis, writing</a:t>
            </a:r>
          </a:p>
        </p:txBody>
      </p:sp>
      <p:sp>
        <p:nvSpPr>
          <p:cNvPr id="10" name="Oval 9"/>
          <p:cNvSpPr/>
          <p:nvPr/>
        </p:nvSpPr>
        <p:spPr>
          <a:xfrm>
            <a:off x="457200" y="3017520"/>
            <a:ext cx="411480" cy="411480"/>
          </a:xfrm>
          <a:prstGeom prst="ellipse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3063240"/>
            <a:ext cx="411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0B0F1A"/>
                </a:solidFill>
              </a:defRPr>
            </a:pPr>
            <a:r>
              <a:t>v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306324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>
                <a:solidFill>
                  <a:srgbClr val="FFFFFF"/>
                </a:solidFill>
              </a:defRPr>
            </a:pPr>
            <a:r>
              <a:t>Copilot: Office integration, your M365 data</a:t>
            </a:r>
          </a:p>
        </p:txBody>
      </p:sp>
      <p:sp>
        <p:nvSpPr>
          <p:cNvPr id="13" name="Oval 12"/>
          <p:cNvSpPr/>
          <p:nvPr/>
        </p:nvSpPr>
        <p:spPr>
          <a:xfrm>
            <a:off x="457200" y="3840480"/>
            <a:ext cx="411480" cy="411480"/>
          </a:xfrm>
          <a:prstGeom prst="ellipse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3886200"/>
            <a:ext cx="411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0B0F1A"/>
                </a:solidFill>
              </a:defRPr>
            </a:pPr>
            <a:r>
              <a:t>v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38862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>
                <a:solidFill>
                  <a:srgbClr val="FFFFFF"/>
                </a:solidFill>
              </a:defRPr>
            </a:pPr>
            <a:r>
              <a:t>Iterate: First response is just a starting point</a:t>
            </a:r>
          </a:p>
        </p:txBody>
      </p:sp>
      <p:sp>
        <p:nvSpPr>
          <p:cNvPr id="16" name="Oval 15"/>
          <p:cNvSpPr/>
          <p:nvPr/>
        </p:nvSpPr>
        <p:spPr>
          <a:xfrm>
            <a:off x="457200" y="4663440"/>
            <a:ext cx="411480" cy="411480"/>
          </a:xfrm>
          <a:prstGeom prst="ellipse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4709160"/>
            <a:ext cx="411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0B0F1A"/>
                </a:solidFill>
              </a:defRPr>
            </a:pPr>
            <a:r>
              <a:t>v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5840" y="470916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>
                <a:solidFill>
                  <a:srgbClr val="FFFFFF"/>
                </a:solidFill>
              </a:defRPr>
            </a:pPr>
            <a:r>
              <a:t>Use the right tool for each task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73152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Your Next Steps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2301087" y="2286000"/>
            <a:ext cx="2286000" cy="2743200"/>
          </a:xfrm>
          <a:prstGeom prst="roundRect">
            <a:avLst/>
          </a:prstGeom>
          <a:solidFill>
            <a:srgbClr val="141A26"/>
          </a:solidFill>
          <a:ln w="25400">
            <a:solidFill>
              <a:srgbClr val="E86B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2986887" y="2743200"/>
            <a:ext cx="914400" cy="914400"/>
          </a:xfrm>
          <a:prstGeom prst="ellipse">
            <a:avLst/>
          </a:prstGeom>
          <a:solidFill>
            <a:srgbClr val="E86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986887" y="2880360"/>
            <a:ext cx="9144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0B0F1A"/>
                </a:solidFill>
              </a:defRPr>
            </a:pPr>
            <a: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392527" y="3931920"/>
            <a:ext cx="2103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Try Claude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952847" y="2286000"/>
            <a:ext cx="2286000" cy="2743200"/>
          </a:xfrm>
          <a:prstGeom prst="roundRect">
            <a:avLst/>
          </a:prstGeom>
          <a:solidFill>
            <a:srgbClr val="141A26"/>
          </a:solidFill>
          <a:ln w="25400">
            <a:solidFill>
              <a:srgbClr val="007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5638647" y="2743200"/>
            <a:ext cx="914400" cy="914400"/>
          </a:xfrm>
          <a:prstGeom prst="ellipse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638647" y="2880360"/>
            <a:ext cx="9144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0B0F1A"/>
                </a:solidFill>
              </a:defRPr>
            </a:pPr>
            <a: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44287" y="3931920"/>
            <a:ext cx="2103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Use Copilot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604607" y="2286000"/>
            <a:ext cx="2286000" cy="2743200"/>
          </a:xfrm>
          <a:prstGeom prst="roundRect">
            <a:avLst/>
          </a:prstGeom>
          <a:solidFill>
            <a:srgbClr val="141A26"/>
          </a:solidFill>
          <a:ln w="25400">
            <a:solidFill>
              <a:srgbClr val="00D4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290407" y="2743200"/>
            <a:ext cx="914400" cy="914400"/>
          </a:xfrm>
          <a:prstGeom prst="ellipse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90407" y="2880360"/>
            <a:ext cx="9144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0B0F1A"/>
                </a:solidFill>
              </a:defRPr>
            </a:pPr>
            <a: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96047" y="3931920"/>
            <a:ext cx="2103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Iterate!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7295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Resources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234440"/>
            <a:ext cx="1828800" cy="36576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463040"/>
            <a:ext cx="1127729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2200">
                <a:solidFill>
                  <a:srgbClr val="FFFFFF"/>
                </a:solidFill>
              </a:defRPr>
            </a:pPr>
            <a:r>
              <a:t>  Claude: claude.ai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200">
                <a:solidFill>
                  <a:srgbClr val="FFFFFF"/>
                </a:solidFill>
              </a:defRPr>
            </a:pPr>
            <a:r>
              <a:t>  Copilot: copilot.microsoft.com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200">
                <a:solidFill>
                  <a:srgbClr val="FFFFFF"/>
                </a:solidFill>
              </a:defRPr>
            </a:pPr>
            <a:r>
              <a:t>  Prompting Guide: See handout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200">
                <a:solidFill>
                  <a:srgbClr val="FFFFFF"/>
                </a:solidFill>
              </a:defRPr>
            </a:pPr>
            <a:r>
              <a:t>  Internal Support: Your IT channel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127729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0" b="1">
                <a:solidFill>
                  <a:srgbClr val="00D4AA"/>
                </a:solidFill>
              </a:defRPr>
            </a:pPr>
            <a:r>
              <a:t>Q&amp;A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4754880"/>
            <a:ext cx="12191695" cy="36576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