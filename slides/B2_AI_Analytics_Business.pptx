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</a:t>
            </a:r>
          </a:p>
          <a:p/>
          <a:p>
            <a:r>
              <a:t>OPEN WITH:</a:t>
            </a:r>
          </a:p>
          <a:p>
            <a:r>
              <a:t>   This session focuses on DATA - how to analyze, visualize, and make decisions with AI</a:t>
            </a:r>
          </a:p>
          <a:p/>
          <a:p>
            <a:r>
              <a:t>KEY POINTS:</a:t>
            </a:r>
          </a:p>
          <a:p>
            <a:r>
              <a:t>   * Finance and Operations focus</a:t>
            </a:r>
          </a:p>
          <a:p>
            <a:r>
              <a:t>   * 90 minutes, demo-heavy</a:t>
            </a:r>
          </a:p>
          <a:p>
            <a:r>
              <a:t>   * You'll leave with workflows you can use Monday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KEY POINTS:</a:t>
            </a:r>
          </a:p>
          <a:p>
            <a:r>
              <a:t>   * Building on AI Essentials session</a:t>
            </a:r>
          </a:p>
          <a:p>
            <a:r>
              <a:t>   * Going deeper into data analysis</a:t>
            </a:r>
          </a:p>
          <a:p>
            <a:r>
              <a:t>   * Practical, not theoretical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KEY POINTS:</a:t>
            </a:r>
          </a:p>
          <a:p>
            <a:r>
              <a:t>   * Heavy on demos and hands-on</a:t>
            </a:r>
          </a:p>
          <a:p>
            <a:r>
              <a:t>   * Interrupt with questions anytime</a:t>
            </a:r>
          </a:p>
          <a:p>
            <a:r>
              <a:t>   * 90 minutes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KEY POINTS:</a:t>
            </a:r>
          </a:p>
          <a:p>
            <a:r>
              <a:t>   * Unlike Claude web: Sees your actual spreadsheet</a:t>
            </a:r>
          </a:p>
          <a:p>
            <a:r>
              <a:t>   * Great for in-context help</a:t>
            </a:r>
          </a:p>
          <a:p>
            <a:r>
              <a:t>   * Requires Claude Enterprise license</a:t>
            </a:r>
          </a:p>
          <a:p/>
          <a:p>
            <a:r>
              <a:t>DEMO:</a:t>
            </a:r>
          </a:p>
          <a:p>
            <a:r>
              <a:t>   Show the add-in installed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KEY POINTS:</a:t>
            </a:r>
          </a:p>
          <a:p>
            <a:r>
              <a:t>   * One-time setup</a:t>
            </a:r>
          </a:p>
          <a:p>
            <a:r>
              <a:t>   * Then always available</a:t>
            </a:r>
          </a:p>
          <a:p>
            <a:r>
              <a:t>   * Keyboard shortcut: Ctrl+Alt+C</a:t>
            </a:r>
          </a:p>
          <a:p/>
          <a:p>
            <a:r>
              <a:t>DEMO:</a:t>
            </a:r>
          </a:p>
          <a:p>
            <a:r>
              <a:t>   Show installation 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Claude explains formulas, not just writes them</a:t>
            </a:r>
          </a:p>
          <a:p>
            <a:r>
              <a:t>   * Great for learning and debugging</a:t>
            </a:r>
          </a:p>
          <a:p>
            <a:r>
              <a:t>   * Handles complex nested formulas</a:t>
            </a:r>
          </a:p>
          <a:p/>
          <a:p>
            <a:r>
              <a:t>DEMO:</a:t>
            </a:r>
          </a:p>
          <a:p>
            <a:r>
              <a:t>   Ask for a formula: 'Write a formula to calculate YoY growth'. Show it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Claude sees selected ranges</a:t>
            </a:r>
          </a:p>
          <a:p>
            <a:r>
              <a:t>   * Suggests insights you might miss</a:t>
            </a:r>
          </a:p>
          <a:p>
            <a:r>
              <a:t>   * Great for exploratory analysis</a:t>
            </a:r>
          </a:p>
          <a:p/>
          <a:p>
            <a:r>
              <a:t>DEMO:</a:t>
            </a:r>
          </a:p>
          <a:p>
            <a:r>
              <a:t>   Select data, ask 'What trends do you see in columns B-D?'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Powerful for finance teams</a:t>
            </a:r>
          </a:p>
          <a:p>
            <a:r>
              <a:t>   * NOT a substitute for judgment</a:t>
            </a:r>
          </a:p>
          <a:p>
            <a:r>
              <a:t>   * Best practice: Verify with second pair of eyes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KEY POINTS:</a:t>
            </a:r>
          </a:p>
          <a:p>
            <a:r>
              <a:t>   * Both useful, different strengths</a:t>
            </a:r>
          </a:p>
          <a:p>
            <a:r>
              <a:t>   * Copilot = native, fast, visual</a:t>
            </a:r>
          </a:p>
          <a:p>
            <a:r>
              <a:t>   * Claude = reasoning, explanation</a:t>
            </a:r>
          </a:p>
          <a:p>
            <a:r>
              <a:t>   * Use both depending on task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KEY POINTS:</a:t>
            </a:r>
          </a:p>
          <a:p>
            <a:r>
              <a:t>   * Key requirement: Table format</a:t>
            </a:r>
          </a:p>
          <a:p>
            <a:r>
              <a:t>   * Without Table, Copilot won't work well</a:t>
            </a:r>
          </a:p>
          <a:p>
            <a:r>
              <a:t>   * Convert data first, then ask Copilot</a:t>
            </a:r>
          </a:p>
          <a:p/>
          <a:p>
            <a:r>
              <a:t>DEMO:</a:t>
            </a:r>
          </a:p>
          <a:p>
            <a:r>
              <a:t>   Open Excel, show Copilot button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Copilot writes AND inserts the formula</a:t>
            </a:r>
          </a:p>
          <a:p>
            <a:r>
              <a:t>   * Can add multiple columns at once</a:t>
            </a:r>
          </a:p>
          <a:p>
            <a:r>
              <a:t>   * Natural language to formulas</a:t>
            </a:r>
          </a:p>
          <a:p/>
          <a:p>
            <a:r>
              <a:t>DEMO:</a:t>
            </a:r>
          </a:p>
          <a:p>
            <a:r>
              <a:t>   Ask Copilot to add a calculated column: 'Add a column for profit margin'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Copilot suggests layout and creates it</a:t>
            </a:r>
          </a:p>
          <a:p>
            <a:r>
              <a:t>   * Huge time saver for complex pivots</a:t>
            </a:r>
          </a:p>
          <a:p>
            <a:r>
              <a:t>   * Can refine after creation</a:t>
            </a:r>
          </a:p>
          <a:p/>
          <a:p>
            <a:r>
              <a:t>DEMO:</a:t>
            </a:r>
          </a:p>
          <a:p>
            <a:r>
              <a:t>   Create a PivotTable: 'Create a PivotTable showing sales by region and quarter'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Copilot picks appropriate chart type</a:t>
            </a:r>
          </a:p>
          <a:p>
            <a:r>
              <a:t>   * You can refine: 'Make it a line chart instead'</a:t>
            </a:r>
          </a:p>
          <a:p>
            <a:r>
              <a:t>   * Creates chart in one command</a:t>
            </a:r>
          </a:p>
          <a:p/>
          <a:p>
            <a:r>
              <a:t>DEMO:</a:t>
            </a:r>
          </a:p>
          <a:p>
            <a:r>
              <a:t>   Create chart: 'Visualize sales by region as a pie chart'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We'll demo all three</a:t>
            </a:r>
          </a:p>
          <a:p>
            <a:r>
              <a:t>   * Same dataset, different approaches</a:t>
            </a:r>
          </a:p>
          <a:p>
            <a:r>
              <a:t>   * You'll see strengths of each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Deep reasoning about data</a:t>
            </a:r>
          </a:p>
          <a:p>
            <a:r>
              <a:t>   * Complex multi-step analysis</a:t>
            </a:r>
          </a:p>
          <a:p>
            <a:r>
              <a:t>   * Clear explanations</a:t>
            </a:r>
          </a:p>
          <a:p/>
          <a:p>
            <a:r>
              <a:t>DEMO:</a:t>
            </a:r>
          </a:p>
          <a:p>
            <a:r>
              <a:t>   Upload sample Excel, ask 'What patterns do you see?'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Claude's reasoning is visible</a:t>
            </a:r>
          </a:p>
          <a:p>
            <a:r>
              <a:t>   * Asks clarifying questions if needed</a:t>
            </a:r>
          </a:p>
          <a:p>
            <a:r>
              <a:t>   * Multi-step analysis capability</a:t>
            </a:r>
          </a:p>
          <a:p/>
          <a:p>
            <a:r>
              <a:t>DEMO:</a:t>
            </a:r>
          </a:p>
          <a:p>
            <a:r>
              <a:t>   Walk through: 'I've uploaded Q4 sales. Identify top 3 trends, flag concerning patterns, suggest 3 questions CFO might ask'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Access to M365 data</a:t>
            </a:r>
          </a:p>
          <a:p>
            <a:r>
              <a:t>   * Can reference multiple files</a:t>
            </a:r>
          </a:p>
          <a:p>
            <a:r>
              <a:t>   * Integrates with ecosystem</a:t>
            </a:r>
          </a:p>
          <a:p/>
          <a:p>
            <a:r>
              <a:t>DEMO:</a:t>
            </a:r>
          </a:p>
          <a:p>
            <a:r>
              <a:t>   Attach file from OneDrive, ask about the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Show how Copilot references the file</a:t>
            </a:r>
          </a:p>
          <a:p>
            <a:r>
              <a:t>   * Can search for files: 'Find our latest budget'</a:t>
            </a:r>
          </a:p>
          <a:p>
            <a:r>
              <a:t>   * Fast, integrated workflow</a:t>
            </a:r>
          </a:p>
          <a:p/>
          <a:p>
            <a:r>
              <a:t>DEMO:</a:t>
            </a:r>
          </a:p>
          <a:p>
            <a:r>
              <a:t>   Using attached sales report: 'What were total sales by region? Which product grew fastest? Compare to previous quarter.'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Newest, most powerful option</a:t>
            </a:r>
          </a:p>
          <a:p>
            <a:r>
              <a:t>   * Goes beyond simple Q&amp;A</a:t>
            </a:r>
          </a:p>
          <a:p>
            <a:r>
              <a:t>   * Actually computes and visualizes</a:t>
            </a:r>
          </a:p>
          <a:p>
            <a:r>
              <a:t>   * Think: Data scientist in a chat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You describe what you want</a:t>
            </a:r>
          </a:p>
          <a:p>
            <a:r>
              <a:t>   * Agent writes code, runs it, shows results</a:t>
            </a:r>
          </a:p>
          <a:p>
            <a:r>
              <a:t>   * Powerful but newer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8 min</a:t>
            </a:r>
          </a:p>
          <a:p/>
          <a:p>
            <a:r>
              <a:t>KEY POINTS:</a:t>
            </a:r>
          </a:p>
          <a:p>
            <a:r>
              <a:t>   * Show code being generated and run</a:t>
            </a:r>
          </a:p>
          <a:p>
            <a:r>
              <a:t>   * Show visualization output</a:t>
            </a:r>
          </a:p>
          <a:p>
            <a:r>
              <a:t>   * This is most advanced capability</a:t>
            </a:r>
          </a:p>
          <a:p/>
          <a:p>
            <a:r>
              <a:t>DEMO:</a:t>
            </a:r>
          </a:p>
          <a:p>
            <a:r>
              <a:t>   Upload data: 1) 'Analyze trends' 2) 'Create visualization of monthly revenue' 3) 'Run correlation analysis' 4) 'Forecast next quarter'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No single best tool</a:t>
            </a:r>
          </a:p>
          <a:p>
            <a:r>
              <a:t>   * Match tool to task</a:t>
            </a:r>
          </a:p>
          <a:p>
            <a:r>
              <a:t>   * Power users use all three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Real Finance workflow</a:t>
            </a:r>
          </a:p>
          <a:p>
            <a:r>
              <a:t>   * AI does heavy lifting</a:t>
            </a:r>
          </a:p>
          <a:p>
            <a:r>
              <a:t>   * You validate and present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Operations needs visibility</a:t>
            </a:r>
          </a:p>
          <a:p>
            <a:r>
              <a:t>   * AI finds patterns faster than manual review</a:t>
            </a:r>
          </a:p>
          <a:p>
            <a:r>
              <a:t>   * Combine tools for complete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AI as thought partner for decisions</a:t>
            </a:r>
          </a:p>
          <a:p>
            <a:r>
              <a:t>   * Not making decision FOR you</a:t>
            </a:r>
          </a:p>
          <a:p>
            <a:r>
              <a:t>   * Helping you think through it completely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KEY POINTS:</a:t>
            </a:r>
          </a:p>
          <a:p>
            <a:r>
              <a:t>   * Many tools, each with strengths</a:t>
            </a:r>
          </a:p>
          <a:p>
            <a:r>
              <a:t>   * Start with one, add others as needed</a:t>
            </a:r>
          </a:p>
          <a:p>
            <a:r>
              <a:t>   * Practice makes perfect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</a:t>
            </a:r>
          </a:p>
          <a:p/>
          <a:p>
            <a:r>
              <a:t>KEY POINTS:</a:t>
            </a:r>
          </a:p>
          <a:p>
            <a:r>
              <a:t>   * This is in your handout</a:t>
            </a:r>
          </a:p>
          <a:p>
            <a:r>
              <a:t>   * Reference when choosing tools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KEY POINTS:</a:t>
            </a:r>
          </a:p>
          <a:p>
            <a:r>
              <a:t>   * Open for questions</a:t>
            </a:r>
          </a:p>
          <a:p>
            <a:r>
              <a:t>   * Encourage trying workflows</a:t>
            </a:r>
          </a:p>
          <a:p>
            <a:r>
              <a:t>   * Thank everyone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78D4"/>
                </a:solidFill>
              </a:defRPr>
            </a:pPr>
            <a:r>
              <a:t>Data Analysis with AI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>
                <a:solidFill>
                  <a:srgbClr val="8B95A5"/>
                </a:solidFill>
              </a:defRPr>
            </a:pPr>
            <a:r>
              <a:t>- © 2026 AIA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What You'll Learn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Analyze data using AI assistants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Three approaches: Claude, Copilot, and Analyst Agent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When to use which tool for data tasks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Practical workflows for Finance &amp; Ops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Today's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280160" y="3273552"/>
            <a:ext cx="8290316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Claude for Excel (15 min)</a:t>
            </a:r>
          </a:p>
        </p:txBody>
      </p:sp>
      <p:sp>
        <p:nvSpPr>
          <p:cNvPr id="7" name="Oval 6"/>
          <p:cNvSpPr/>
          <p:nvPr/>
        </p:nvSpPr>
        <p:spPr>
          <a:xfrm>
            <a:off x="2986979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86979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9779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M365 Copilot in Excel (15 min)</a:t>
            </a:r>
          </a:p>
        </p:txBody>
      </p:sp>
      <p:sp>
        <p:nvSpPr>
          <p:cNvPr id="10" name="Oval 9"/>
          <p:cNvSpPr/>
          <p:nvPr/>
        </p:nvSpPr>
        <p:spPr>
          <a:xfrm>
            <a:off x="5059558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59558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2358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Chat-based analysis (40 min)</a:t>
            </a:r>
          </a:p>
        </p:txBody>
      </p:sp>
      <p:sp>
        <p:nvSpPr>
          <p:cNvPr id="13" name="Oval 12"/>
          <p:cNvSpPr/>
          <p:nvPr/>
        </p:nvSpPr>
        <p:spPr>
          <a:xfrm>
            <a:off x="7132137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137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4937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Real workflows (10 min)</a:t>
            </a:r>
          </a:p>
        </p:txBody>
      </p:sp>
      <p:sp>
        <p:nvSpPr>
          <p:cNvPr id="16" name="Oval 15"/>
          <p:cNvSpPr/>
          <p:nvPr/>
        </p:nvSpPr>
        <p:spPr>
          <a:xfrm>
            <a:off x="9204716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4716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516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Q&amp;A (5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Claude for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AI-Powered Spreadsheet Analysis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is Claude for Excel?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Sidebar in your spreadsheet that understands your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Installing Claude for Excel</a:t>
            </a:r>
          </a:p>
        </p:txBody>
      </p:sp>
      <p:sp>
        <p:nvSpPr>
          <p:cNvPr id="3" name="Rectangle 2"/>
          <p:cNvSpPr/>
          <p:nvPr/>
        </p:nvSpPr>
        <p:spPr>
          <a:xfrm>
            <a:off x="1280160" y="3273552"/>
            <a:ext cx="8290316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Open Excel</a:t>
            </a:r>
          </a:p>
        </p:txBody>
      </p:sp>
      <p:sp>
        <p:nvSpPr>
          <p:cNvPr id="7" name="Oval 6"/>
          <p:cNvSpPr/>
          <p:nvPr/>
        </p:nvSpPr>
        <p:spPr>
          <a:xfrm>
            <a:off x="2986979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86979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9779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Insert &gt; Get Add-ins</a:t>
            </a:r>
          </a:p>
        </p:txBody>
      </p:sp>
      <p:sp>
        <p:nvSpPr>
          <p:cNvPr id="10" name="Oval 9"/>
          <p:cNvSpPr/>
          <p:nvPr/>
        </p:nvSpPr>
        <p:spPr>
          <a:xfrm>
            <a:off x="5059558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59558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2358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Search 'Claude for Excel'</a:t>
            </a:r>
          </a:p>
        </p:txBody>
      </p:sp>
      <p:sp>
        <p:nvSpPr>
          <p:cNvPr id="13" name="Oval 12"/>
          <p:cNvSpPr/>
          <p:nvPr/>
        </p:nvSpPr>
        <p:spPr>
          <a:xfrm>
            <a:off x="7132137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137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4937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Click Add</a:t>
            </a:r>
          </a:p>
        </p:txBody>
      </p:sp>
      <p:sp>
        <p:nvSpPr>
          <p:cNvPr id="16" name="Oval 15"/>
          <p:cNvSpPr/>
          <p:nvPr/>
        </p:nvSpPr>
        <p:spPr>
          <a:xfrm>
            <a:off x="9204716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4716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516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Sign in with Claude account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Formula Assistance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Write, debug, and explain formulas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Data Analysis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Find patterns and suggest insights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Financial Modeling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'Help me build a DCF model with these projections'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'What assumptions am I missing in this forecast?'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'Check my NPV formulas for errors'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'Explain this IRR calculation in plain English'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CAUTION: Always verify formulas - Claude helps, you validate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Copilot in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Microsoft's Native AI for Spreadsheets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Copilot vs Claude in Excel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Copilot in 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Provider: Microsoft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Native Excel integration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for: PivotTables, charts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Strength: Quick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Claude for Excel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Provider: Anthropic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Sidebar view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for: Explanations, formulas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Strength: Complex reasoning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Accessing Copilot in Excel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Click Copilot button in ribbon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Or keyboard shortcut: Alt+C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Sidebar opens on right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IMPORTANT: Data must be in Table format (Ctrl+T)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Copilot Formula Suggestions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Natural language to Excel formulas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PivotTables with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Create complex PivotTables in seconds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Charts and Visualizations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AI-generated visualizations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Three Approaches to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Claude Chat, Copilot Chat, and Analyst Agent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Overview of Three Approaches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Claude Chat</a:t>
            </a:r>
            <a:br/>
            <a:r>
              <a:t>Deep analysis, complex reasoning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Copilot Chat</a:t>
            </a:r>
            <a:br/>
            <a:r>
              <a:t>Quick queries, M365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Analyst Agent</a:t>
            </a:r>
            <a:br/>
            <a:r>
              <a:t>Advanced viz, Python, o3-mini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Approach 1: Claude Chat + File Upload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1280160" y="3273552"/>
            <a:ext cx="7772171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Go to claude.ai</a:t>
            </a:r>
          </a:p>
        </p:txBody>
      </p:sp>
      <p:sp>
        <p:nvSpPr>
          <p:cNvPr id="7" name="Oval 6"/>
          <p:cNvSpPr/>
          <p:nvPr/>
        </p:nvSpPr>
        <p:spPr>
          <a:xfrm>
            <a:off x="3505123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05123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7923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Upload CSV/Excel/PDF</a:t>
            </a:r>
          </a:p>
        </p:txBody>
      </p:sp>
      <p:sp>
        <p:nvSpPr>
          <p:cNvPr id="10" name="Oval 9"/>
          <p:cNvSpPr/>
          <p:nvPr/>
        </p:nvSpPr>
        <p:spPr>
          <a:xfrm>
            <a:off x="6095847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5847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8647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Ask questions about data</a:t>
            </a:r>
          </a:p>
        </p:txBody>
      </p:sp>
      <p:sp>
        <p:nvSpPr>
          <p:cNvPr id="13" name="Oval 12"/>
          <p:cNvSpPr/>
          <p:nvPr/>
        </p:nvSpPr>
        <p:spPr>
          <a:xfrm>
            <a:off x="8686571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571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371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Claude analyzes and responds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Claude Chat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Deep data analysis with reasoning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Approach 2: Copilot Chat + Attachments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1280160" y="3273552"/>
            <a:ext cx="7772171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Go to copilot.microsoft.com</a:t>
            </a:r>
          </a:p>
        </p:txBody>
      </p:sp>
      <p:sp>
        <p:nvSpPr>
          <p:cNvPr id="7" name="Oval 6"/>
          <p:cNvSpPr/>
          <p:nvPr/>
        </p:nvSpPr>
        <p:spPr>
          <a:xfrm>
            <a:off x="3505123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05123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7923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Click attachment icon</a:t>
            </a:r>
          </a:p>
        </p:txBody>
      </p:sp>
      <p:sp>
        <p:nvSpPr>
          <p:cNvPr id="10" name="Oval 9"/>
          <p:cNvSpPr/>
          <p:nvPr/>
        </p:nvSpPr>
        <p:spPr>
          <a:xfrm>
            <a:off x="6095847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5847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8647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Select file from OneDrive/SharePoint</a:t>
            </a:r>
          </a:p>
        </p:txBody>
      </p:sp>
      <p:sp>
        <p:nvSpPr>
          <p:cNvPr id="13" name="Oval 12"/>
          <p:cNvSpPr/>
          <p:nvPr/>
        </p:nvSpPr>
        <p:spPr>
          <a:xfrm>
            <a:off x="8686571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571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371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Ask questions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Copilot Chat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Quick analysis with M365 integration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Approach 3: M365 Analyst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Advanced data analysis with Python and o3-mini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Analyst Agent Capabilities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Upload Excel, CSV files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Natural language to Python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Statistical analysis (regression, correlation)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Charts and visualizations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Data cleaning and transformation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Analyst Agent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Python-powered data analysis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When to Use Which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Quick summary → Copilot Chat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Deep reasoning/explanation → Claude Chat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Visualizations → Analyst Agent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Statistical analysis → Analyst Agent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Access M365 files → Copilot Chat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Complex multi-step logic → Claude Chat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Real Workflow Examples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Finance: Budget Variance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41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04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4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5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75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75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7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47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7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4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98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18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18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70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27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90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0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Upload budget vs actual to Claude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'Identify 5 largest variances'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Follow up: 'Explain possible causes'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Request: 'Draft summary for CFO'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Optional: Use Analyst Agent for viz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Operations: Supply Chain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26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289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89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26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541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98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1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1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8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129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0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33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33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84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41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4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4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1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Upload supplier data to Copilot Chat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'Which suppliers had most delays?'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'Trend over last 6 months?'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Use Analyst Agent: 'Chart on-time delivery'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Decision Support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1. Upload relevant data to Claude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2. Describe the decision you're facing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3. Ask: 'What factors should I consider?'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4. Ask: 'What are the risks of each option?'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5. Ask: 'What data am I missing?'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Claude for Excel: Formula help, in-context analysis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Copilot in Excel: PivotTables, charts, native integration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Claude Chat: Deep analysis with file upload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Copilot Chat: Quick queries, M365 data access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Analyst Agent: Advanced viz, Python, statistics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Tool Selection Cheat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Quick summary? → Copilot Chat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Deep reasoning? → Claude Chat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Need visualization? → Analyst Agent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Working in Excel? → Claude for Excel or Copilot in Excel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Need M365 data? → Copilot Chat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Try these workflows this week!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>
                <a:solidFill>
                  <a:srgbClr val="8B95A5"/>
                </a:solidFill>
              </a:defRPr>
            </a:pPr>
            <a:r>
              <a:t>- © 2026 AIA 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