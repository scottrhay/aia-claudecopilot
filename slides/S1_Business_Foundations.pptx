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Welcome to Session One of your Claude Enterprise training. Over the next four hours, you're going to go from curious about AI to confidently using it for real business work. This isn't a tech demo — it's a hands-on working session where you'll leave with skills you can use tomorrow morning.</a:t>
            </a:r>
          </a:p>
          <a:p/>
          <a:p>
            <a:r>
              <a:t>KEY POINTS:</a:t>
            </a:r>
          </a:p>
          <a:p>
            <a:r>
              <a:t>   * This session is designed for business professionals — no coding, no technical background required</a:t>
            </a:r>
          </a:p>
          <a:p>
            <a:r>
              <a:t>   * We'll cover four major areas: navigating Claude Enterprise, structured prompting, everyday workflows, and output refinement</a:t>
            </a:r>
          </a:p>
          <a:p>
            <a:r>
              <a:t>   * Everything is hands-on — you'll practice each technique as we go</a:t>
            </a:r>
          </a:p>
          <a:p>
            <a:r>
              <a:t>   * By the end, you'll have a personal toolkit of prompts and workflows tailored to your role</a:t>
            </a:r>
          </a:p>
          <a:p/>
          <a:p>
            <a:r>
              <a:t>REAL-WORLD EXAMPLE:</a:t>
            </a:r>
          </a:p>
          <a:p>
            <a:r>
              <a:t>   Last month, a marketing director took this same session and within a week had cut her weekly report preparation time from six hours to ninety minutes. That's the kind of transformation we're after today.</a:t>
            </a:r>
          </a:p>
          <a:p/>
          <a:p>
            <a:r>
              <a:t>TRANSITION:</a:t>
            </a:r>
          </a:p>
          <a:p>
            <a:r>
              <a:t>   Let's look at what we're covering in our four hours together.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Here's our roadmap for the next four hours. Notice that every section has hands-on components built right in — this is a working session, not a lecture.</a:t>
            </a:r>
          </a:p>
          <a:p/>
          <a:p>
            <a:r>
              <a:t>KEY POINTS:</a:t>
            </a:r>
          </a:p>
          <a:p>
            <a:r>
              <a:t>   * First half builds your foundation — understanding the platform and the art of prompting</a:t>
            </a:r>
          </a:p>
          <a:p>
            <a:r>
              <a:t>   * Second half is all application — real workflows, polished outputs, and a full hands-on lab</a:t>
            </a:r>
          </a:p>
          <a:p>
            <a:r>
              <a:t>   * Two breaks keep the energy up — we're covering a lot of ground</a:t>
            </a:r>
          </a:p>
          <a:p>
            <a:r>
              <a:t>   * The Applied Lab at the end ties everything together with your actual business scenarios</a:t>
            </a:r>
          </a:p>
          <a:p/>
          <a:p>
            <a:r>
              <a:t>REAL-WORLD EXAMPLE:</a:t>
            </a:r>
          </a:p>
          <a:p>
            <a:r>
              <a:t>   Teams that follow this structure report the highest retention. The pattern is learn, practice, apply — and then repeat. By the end of today you'll have practiced every technique at least once.</a:t>
            </a:r>
          </a:p>
          <a:p/>
          <a:p>
            <a:r>
              <a:t>TRANSITION:</a:t>
            </a:r>
          </a:p>
          <a:p>
            <a:r>
              <a:t>   Before we dive in, let's align on what you'll be able to do after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Eight objectives. By lunch, every one of these will be something you've actually done, not just heard about. Let me walk through them quickly so you know where we're headed.</a:t>
            </a:r>
          </a:p>
          <a:p/>
          <a:p>
            <a:r>
              <a:t>KEY POINTS:</a:t>
            </a:r>
          </a:p>
          <a:p>
            <a:r>
              <a:t>   * Objectives one and two are foundational — knowing the platform and knowing how to talk to it effectively</a:t>
            </a:r>
          </a:p>
          <a:p>
            <a:r>
              <a:t>   * Objectives three and four are about immediate productivity — the things you'll use every single day</a:t>
            </a:r>
          </a:p>
          <a:p>
            <a:r>
              <a:t>   * Objectives five through seven are power-user skills that multiply your effectiveness</a:t>
            </a:r>
          </a:p>
          <a:p>
            <a:r>
              <a:t>   * Objective eight is the polish layer — making AI output indistinguishable from your best manual work</a:t>
            </a:r>
          </a:p>
          <a:p/>
          <a:p>
            <a:r>
              <a:t>ASK THE CLASS:</a:t>
            </a:r>
          </a:p>
          <a:p>
            <a:r>
              <a:t>   "Quick question for the room — how many of you have already tried Claude or another AI tool for work? And how many felt the output was good enough to send as-is? That gap between 'okay output' and 'professional output' is exactly what we're closing today."</a:t>
            </a:r>
          </a:p>
          <a:p>
            <a:r>
              <a:t>   [PAUSE for 30-60 seconds]</a:t>
            </a:r>
          </a:p>
          <a:p/>
          <a:p>
            <a:r>
              <a:t>REAL-WORLD EXAMPLE:</a:t>
            </a:r>
          </a:p>
          <a:p>
            <a:r>
              <a:t>   A finance team we trained went from getting generic summaries to producing board-ready executive briefings in a single prompt. The difference was technique, not the tool.</a:t>
            </a:r>
          </a:p>
          <a:p/>
          <a:p>
            <a:r>
              <a:t>TRANSITION:</a:t>
            </a:r>
          </a:p>
          <a:p>
            <a:r>
              <a:t>   Let's start by getting comfortable with the platform itself.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Our first section is all about getting comfortable with Claude Enterprise — the workspace, the features, and the enterprise-grade capabilities your organization has invested in.</a:t>
            </a:r>
          </a:p>
          <a:p/>
          <a:p>
            <a:r>
              <a:t>KEY POINTS:</a:t>
            </a:r>
          </a:p>
          <a:p>
            <a:r>
              <a:t>   * We'll tour the interface so nothing feels unfamiliar</a:t>
            </a:r>
          </a:p>
          <a:p>
            <a:r>
              <a:t>   * You'll learn about Projects — the single most important organizational feature</a:t>
            </a:r>
          </a:p>
          <a:p>
            <a:r>
              <a:t>   * We'll cover file handling, artifacts, and enterprise security considerations</a:t>
            </a:r>
          </a:p>
          <a:p/>
          <a:p>
            <a:r>
              <a:t>TRANSITION:</a:t>
            </a:r>
          </a:p>
          <a:p>
            <a:r>
              <a:t>   Let's start with the big picture of what Claude Enterprise gives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Before we click around the interface, let's understand why your organization chose Claude Enterprise over the free version or competitors. It comes down to three pillars: security, collaboration, and capability.</a:t>
            </a:r>
          </a:p>
          <a:p/>
          <a:p>
            <a:r>
              <a:t>KEY POINTS:</a:t>
            </a:r>
          </a:p>
          <a:p>
            <a:r>
              <a:t>   * Security first — and this is non-negotiable for enterprise. Your conversations and data are never used to train Anthropic's models. This is a contractual guarantee, not just a setting.</a:t>
            </a:r>
          </a:p>
          <a:p>
            <a:r>
              <a:t>   * SOC 2 Type II means independent auditors have verified Anthropic's security practices — this matters for compliance teams</a:t>
            </a:r>
          </a:p>
          <a:p>
            <a:r>
              <a:t>   * Team collaboration through shared Projects means institutional knowledge doesn't live in one person's head</a:t>
            </a:r>
          </a:p>
          <a:p>
            <a:r>
              <a:t>   * The extended context window — 500K tokens — means you can work with entire documents, not just snippets</a:t>
            </a:r>
          </a:p>
          <a:p/>
          <a:p>
            <a:r>
              <a:t>ASK THE CLASS:</a:t>
            </a:r>
          </a:p>
          <a:p>
            <a:r>
              <a:t>   "For those of you in regulated industries — what was the biggest concern your compliance team had about AI tools? I'll bet data privacy was at the top of the list."</a:t>
            </a:r>
          </a:p>
          <a:p>
            <a:r>
              <a:t>   [PAUSE for 30-60 seconds]</a:t>
            </a:r>
          </a:p>
          <a:p/>
          <a:p>
            <a:r>
              <a:t>REAL-WORLD EXAMPLE:</a:t>
            </a:r>
          </a:p>
          <a:p>
            <a:r>
              <a:t>   A healthcare organization we worked with couldn't use consumer AI tools due to HIPAA concerns. Claude Enterprise's data handling policies and SOC 2 certification cleared their legal review in two weeks — something that had stalled for months with other vendors.</a:t>
            </a:r>
          </a:p>
          <a:p/>
          <a:p>
            <a:r>
              <a:t>TRANSITION:</a:t>
            </a:r>
          </a:p>
          <a:p>
            <a:r>
              <a:t>   Now let's actually open Claude Enterprise and walk through the interface.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a:t>
            </a:r>
          </a:p>
          <a:p/>
          <a:p>
            <a:r>
              <a:t>OPEN WITH:</a:t>
            </a:r>
          </a:p>
          <a:p>
            <a:r>
              <a:t>   Let me share my screen and walk you through the interface. I want everyone to follow along on your own screens so this becomes muscle memory.</a:t>
            </a:r>
          </a:p>
          <a:p/>
          <a:p>
            <a:r>
              <a:t>KEY POINTS:</a:t>
            </a:r>
          </a:p>
          <a:p>
            <a:r>
              <a:t>   * The sidebar is your command center — conversations on the left, organized by recency</a:t>
            </a:r>
          </a:p>
          <a:p>
            <a:r>
              <a:t>   * Projects are the killer feature we'll dive deep on in a moment — think of them as persistent workspaces</a:t>
            </a:r>
          </a:p>
          <a:p>
            <a:r>
              <a:t>   * The input area supports text, file uploads, and even images — we'll use all of these today</a:t>
            </a:r>
          </a:p>
          <a:p>
            <a:r>
              <a:t>   * Model selector lets you choose between Claude models — for business work, the default is almost always the right choice</a:t>
            </a:r>
          </a:p>
          <a:p>
            <a:r>
              <a:t>   * Artifacts appear on the right side — these are reusable outputs like documents, tables, and code that persist beyond the conversation</a:t>
            </a:r>
          </a:p>
          <a:p/>
          <a:p>
            <a:r>
              <a:t>REAL-WORLD EXAMPLE:</a:t>
            </a:r>
          </a:p>
          <a:p>
            <a:r>
              <a:t>   I've seen people use Claude for months without discovering the artifact panel. That's like using Excel without knowing about formulas — you're missing the most powerful part of the tool.</a:t>
            </a:r>
          </a:p>
          <a:p/>
          <a:p>
            <a:r>
              <a:t>DEMO:</a:t>
            </a:r>
          </a:p>
          <a:p>
            <a:r>
              <a:t>   Share screen. Open claude.ai and log in. Walk through sidebar slowly — click into a conversation, show how to star it, show the search. Create a new conversation. Type a simple question to show the response area. Click into the artifact panel. Show model selector. Take 8 minutes, let people follow along.</a:t>
            </a:r>
          </a:p>
          <a:p/>
          <a:p>
            <a:r>
              <a:t>TRANSITION:</a:t>
            </a:r>
          </a:p>
          <a:p>
            <a:r>
              <a:t>   Now let's look at the feature that changes everything for team productivity — Projects.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Projects are the single biggest productivity multiplier in Claude Enterprise. If you take away one thing from this section, let it be this: use Projects for everything recurring.</a:t>
            </a:r>
          </a:p>
          <a:p/>
          <a:p>
            <a:r>
              <a:t>KEY POINTS:</a:t>
            </a:r>
          </a:p>
          <a:p>
            <a:r>
              <a:t>   * Without Projects, every conversation is a blank slate. You're constantly re-explaining who you are, what your company does, what format you want</a:t>
            </a:r>
          </a:p>
          <a:p>
            <a:r>
              <a:t>   * With Projects, you set that context once and every conversation within the Project inherits it automatically</a:t>
            </a:r>
          </a:p>
          <a:p>
            <a:r>
              <a:t>   * Think of a Project as giving Claude a permanent briefing document — it reads it before every conversation</a:t>
            </a:r>
          </a:p>
          <a:p>
            <a:r>
              <a:t>   * You can upload style guides, templates, org charts, product specs — anything Claude needs to produce relevant output</a:t>
            </a:r>
          </a:p>
          <a:p>
            <a:r>
              <a:t>   * Teams can share Projects, so the entire marketing team gets the same brand voice without individual setup</a:t>
            </a:r>
          </a:p>
          <a:p/>
          <a:p>
            <a:r>
              <a:t>ASK THE CLASS:</a:t>
            </a:r>
          </a:p>
          <a:p>
            <a:r>
              <a:t>   "Think about a task you do repeatedly — weekly reports, email drafts, meeting summaries. How much time do you spend giving Claude context each time? What if that dropped to zero?"</a:t>
            </a:r>
          </a:p>
          <a:p>
            <a:r>
              <a:t>   [PAUSE for 30-60 seconds]</a:t>
            </a:r>
          </a:p>
          <a:p/>
          <a:p>
            <a:r>
              <a:t>REAL-WORLD EXAMPLE:</a:t>
            </a:r>
          </a:p>
          <a:p>
            <a:r>
              <a:t>   A product marketing team created a Project with their brand guidelines, competitor positioning, and product specs. New team members produce on-brand content from day one because the Project context does the heavy lifting.</a:t>
            </a:r>
          </a:p>
          <a:p/>
          <a:p>
            <a:r>
              <a:t>TRANSITION:</a:t>
            </a:r>
          </a:p>
          <a:p>
            <a:r>
              <a:t>   Let me show you how to create and configure a Project.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a:t>
            </a:r>
          </a:p>
          <a:p/>
          <a:p>
            <a:r>
              <a:t>OPEN WITH:</a:t>
            </a:r>
          </a:p>
          <a:p>
            <a:r>
              <a:t>   Let's build a Project together. I'll create one for a common business scenario — quarterly reporting — and show you how the context transforms the output quality.</a:t>
            </a:r>
          </a:p>
          <a:p/>
          <a:p>
            <a:r>
              <a:t>KEY POINTS:</a:t>
            </a:r>
          </a:p>
          <a:p>
            <a:r>
              <a:t>   * Step one: Create the Project and give it a clear, descriptive name — this helps you and your team find it later</a:t>
            </a:r>
          </a:p>
          <a:p>
            <a:r>
              <a:t>   * Custom instructions are the secret weapon — this is where you tell Claude your role, your audience, your preferred format, and any rules to follow</a:t>
            </a:r>
          </a:p>
          <a:p>
            <a:r>
              <a:t>   * Upload documents that Claude should reference — style guides, previous reports, org structure, anything relevant</a:t>
            </a:r>
          </a:p>
          <a:p>
            <a:r>
              <a:t>   * Now watch what happens when I start a conversation in this Project versus outside it — the difference in output quality is dramatic</a:t>
            </a:r>
          </a:p>
          <a:p/>
          <a:p>
            <a:r>
              <a:t>REAL-WORLD EXAMPLE:</a:t>
            </a:r>
          </a:p>
          <a:p>
            <a:r>
              <a:t>   A VP of Sales created a Project with their CRM export format, sales methodology terminology, and reporting template. Now every weekly pipeline review is formatted exactly how their CEO expects it — no reformatting needed.</a:t>
            </a:r>
          </a:p>
          <a:p/>
          <a:p>
            <a:r>
              <a:t>DEMO:</a:t>
            </a:r>
          </a:p>
          <a:p>
            <a:r>
              <a:t>   Create a new Project called 'Quarterly Business Reports'. Add custom instructions: 'You are helping a senior business analyst prepare quarterly reports for the executive team. Use professional tone, include data-driven insights, format with clear headers and bullet points. Always include an executive summary.' Upload a sample style guide or template. Start a conversation asking for a Q4 summary outline. Then open a new conversation outside the Project with the same prompt — show the quality difference.</a:t>
            </a:r>
          </a:p>
          <a:p/>
          <a:p>
            <a:r>
              <a:t>TRANSITION:</a:t>
            </a:r>
          </a:p>
          <a:p>
            <a:r>
              <a:t>   Let's talk about getting your files and data into Claude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One of the most underused features of Claude Enterprise is file uploads. Most people type everything manually when they could just drop in a document and say 'summarize this' or 'find the key risks in this contract.'</a:t>
            </a:r>
          </a:p>
          <a:p/>
          <a:p>
            <a:r>
              <a:t>KEY POINTS:</a:t>
            </a:r>
          </a:p>
          <a:p>
            <a:r>
              <a:t>   * Claude can read PDFs, Word docs, PowerPoint decks, spreadsheets, images — almost anything you work with daily</a:t>
            </a:r>
          </a:p>
          <a:p>
            <a:r>
              <a:t>   * The key insight: uploading a file gives Claude the complete document, not just what you remember to copy-paste</a:t>
            </a:r>
          </a:p>
          <a:p>
            <a:r>
              <a:t>   * For recurring documents, upload them to a Project so they're always available without re-uploading</a:t>
            </a:r>
          </a:p>
          <a:p>
            <a:r>
              <a:t>   * For one-time analysis, upload directly to the conversation — it's faster and keeps your Projects clean</a:t>
            </a:r>
          </a:p>
          <a:p>
            <a:r>
              <a:t>   * Pro tip: descriptive file names matter. 'Q4-sales-report-2025.pdf' gives Claude more context than 'report.pdf'</a:t>
            </a:r>
          </a:p>
          <a:p/>
          <a:p>
            <a:r>
              <a:t>ASK THE CLASS:</a:t>
            </a:r>
          </a:p>
          <a:p>
            <a:r>
              <a:t>   "How many of you have tried to paste a long document into a chat and had it cut off or lose formatting? File upload solves that completely."</a:t>
            </a:r>
          </a:p>
          <a:p>
            <a:r>
              <a:t>   [PAUSE for 30-60 seconds]</a:t>
            </a:r>
          </a:p>
          <a:p/>
          <a:p>
            <a:r>
              <a:t>REAL-WORLD EXAMPLE:</a:t>
            </a:r>
          </a:p>
          <a:p>
            <a:r>
              <a:t>   A legal team uploads their standard contract template to a Project. When reviewing a vendor's contract, they upload the vendor version and ask Claude to compare it against their standard terms. It flags every deviation in seconds — a task that used to take a paralegal two hours.</a:t>
            </a:r>
          </a:p>
          <a:p/>
          <a:p>
            <a:r>
              <a:t>TRANSITION:</a:t>
            </a:r>
          </a:p>
          <a:p>
            <a:r>
              <a:t>   Let's talk about one more powerful feature before our first break — artifacts.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Artifacts are Claude's way of creating polished, standalone content that lives outside the conversation flow. Think of them as Claude's deliverables — things you can actually use, edit, and share.</a:t>
            </a:r>
          </a:p>
          <a:p/>
          <a:p>
            <a:r>
              <a:t>KEY POINTS:</a:t>
            </a:r>
          </a:p>
          <a:p>
            <a:r>
              <a:t>   * When Claude creates something substantial — a report, a table, a document — it appears as an artifact in the right panel</a:t>
            </a:r>
          </a:p>
          <a:p>
            <a:r>
              <a:t>   * You can ask Claude to modify an artifact iteratively: 'make the executive summary shorter' or 'add a column for year-over-year change'</a:t>
            </a:r>
          </a:p>
          <a:p>
            <a:r>
              <a:t>   * Artifacts can be copied directly into your documents, emails, or presentations</a:t>
            </a:r>
          </a:p>
          <a:p>
            <a:r>
              <a:t>   * The key mental model: conversation is the discussion, artifacts are the deliverables</a:t>
            </a:r>
          </a:p>
          <a:p>
            <a:r>
              <a:t>   * Pro tip: ask Claude to 'create this as an artifact' if it's giving you content inline that you want to work with more</a:t>
            </a:r>
          </a:p>
          <a:p/>
          <a:p>
            <a:r>
              <a:t>REAL-WORLD EXAMPLE:</a:t>
            </a:r>
          </a:p>
          <a:p>
            <a:r>
              <a:t>   A strategy consultant uses artifacts to build client deliverables. She starts with 'create a SWOT analysis artifact for Company X' then iterates — 'add market size data to opportunities' and 'format this for a board presentation.' The artifact evolves through the conversation into a polished deliverable.</a:t>
            </a:r>
          </a:p>
          <a:p/>
          <a:p>
            <a:r>
              <a:t>TRANSITION:</a:t>
            </a:r>
          </a:p>
          <a:p>
            <a:r>
              <a:t>   Before we move to the art of prompting, let's cover some important enterprise considerations.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Before we get into the fun stuff, let's talk about the responsible use of AI in your organization. This isn't about limiting what you can do — it's about doing it wisely so you build trust and maintain credibility.</a:t>
            </a:r>
          </a:p>
          <a:p/>
          <a:p>
            <a:r>
              <a:t>KEY POINTS:</a:t>
            </a:r>
          </a:p>
          <a:p>
            <a:r>
              <a:t>   * First rule: know your organization's AI usage policy. If you don't have one, ask. If it doesn't exist, help create one.</a:t>
            </a:r>
          </a:p>
          <a:p>
            <a:r>
              <a:t>   * Claude Enterprise has strong data protections, but you still need to exercise judgment about what you upload — especially in regulated industries</a:t>
            </a:r>
          </a:p>
          <a:p>
            <a:r>
              <a:t>   * The biggest risk isn't a data breach — it's sending AI-generated content that contains a factual error to a client or executive. Always review.</a:t>
            </a:r>
          </a:p>
          <a:p>
            <a:r>
              <a:t>   * Claude is a tool, not an oracle. It can produce confident-sounding text that's factually wrong. Your expertise is the quality filter.</a:t>
            </a:r>
          </a:p>
          <a:p>
            <a:r>
              <a:t>   * Pro tip: when Claude generates numbers or statistics, verify them independently. When it cites sources, check those sources exist.</a:t>
            </a:r>
          </a:p>
          <a:p/>
          <a:p>
            <a:r>
              <a:t>ASK THE CLASS:</a:t>
            </a:r>
          </a:p>
          <a:p>
            <a:r>
              <a:t>   "Has anyone encountered a situation where AI-generated content contained an error that could have been embarrassing or costly? What happened?"</a:t>
            </a:r>
          </a:p>
          <a:p>
            <a:r>
              <a:t>   [PAUSE for 30-60 seconds]</a:t>
            </a:r>
          </a:p>
          <a:p/>
          <a:p>
            <a:r>
              <a:t>REAL-WORLD EXAMPLE:</a:t>
            </a:r>
          </a:p>
          <a:p>
            <a:r>
              <a:t>   A consulting firm almost sent a client proposal with a market size figure that was three years outdated — Claude had generated a plausible number from its training data. The analyst caught it in review. Now their workflow includes a mandatory fact-check step for any externally-facing numbers.</a:t>
            </a:r>
          </a:p>
          <a:p/>
          <a:p>
            <a:r>
              <a:t>TRANSITION:</a:t>
            </a:r>
          </a:p>
          <a:p>
            <a:r>
              <a:t>   Great foundation. Let's take the conversation from navigating the tool to mastering how we communicate with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This is the section that separates casual AI users from power users. The difference between a mediocre output and an exceptional one is almost always the prompt — not the model.</a:t>
            </a:r>
          </a:p>
          <a:p/>
          <a:p>
            <a:r>
              <a:t>KEY POINTS:</a:t>
            </a:r>
          </a:p>
          <a:p>
            <a:r>
              <a:t>   * We'll learn the GOLDEN framework — a structured approach to prompting that works for any business scenario</a:t>
            </a:r>
          </a:p>
          <a:p>
            <a:r>
              <a:t>   * You'll practice writing prompts that produce usable output on the first try</a:t>
            </a:r>
          </a:p>
          <a:p>
            <a:r>
              <a:t>   * We'll cover output formatting so you get exactly the structure you need</a:t>
            </a:r>
          </a:p>
          <a:p/>
          <a:p>
            <a:r>
              <a:t>TRANSITION:</a:t>
            </a:r>
          </a:p>
          <a:p>
            <a:r>
              <a:t>   Let's start with why most prompts fail.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Here's the uncomfortable truth. Most people type a vague request, get a vague response, and conclude that AI isn't that useful. The problem was never the AI — it was the prompt. Thirty seconds of structured thinking before you type can transform the output from 'meh' to 'send it.'</a:t>
            </a:r>
          </a:p>
          <a:p/>
          <a:p>
            <a:r>
              <a:t>KEY POINTS:</a:t>
            </a:r>
          </a:p>
          <a:p>
            <a:r>
              <a:t>   * The prompt gap is the distance between what you asked for and what you actually needed</a:t>
            </a:r>
          </a:p>
          <a:p>
            <a:r>
              <a:t>   * Vague prompts get vague responses — 'write me a report' produces generic content</a:t>
            </a:r>
          </a:p>
          <a:p>
            <a:r>
              <a:t>   * Specific prompts get specific responses — 'write a one-page executive summary of Q4 sales for the CFO, highlighting the three biggest wins and two areas of concern, using our standard bullet-point format' produces something usable</a:t>
            </a:r>
          </a:p>
          <a:p>
            <a:r>
              <a:t>   * The investment is tiny — thirty seconds of structured thinking — but the return is enormous</a:t>
            </a:r>
          </a:p>
          <a:p>
            <a:r>
              <a:t>   * Today we're going to close that gap with a framework you can use every single time</a:t>
            </a:r>
          </a:p>
          <a:p/>
          <a:p>
            <a:r>
              <a:t>REAL-WORLD EXAMPLE:</a:t>
            </a:r>
          </a:p>
          <a:p>
            <a:r>
              <a:t>   Same person, same Claude, same topic. Prompt one: 'Help me with my presentation.' Result: generic outline. Prompt two: 'Create a 10-slide executive summary for the board on our Q4 product launches, focusing on revenue impact and customer adoption metrics, in a problem-solution-results format.' Result: a deck outline the VP presented as-is.</a:t>
            </a:r>
          </a:p>
          <a:p/>
          <a:p>
            <a:r>
              <a:t>TRANSITION:</a:t>
            </a:r>
          </a:p>
          <a:p>
            <a:r>
              <a:t>   Let me give you the framework that makes this easy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OPEN WITH:</a:t>
            </a:r>
          </a:p>
          <a:p>
            <a:r>
              <a:t>   GOLDEN. Six letters, six elements, and they work for literally any business prompt. I'm going to walk through each one and then we'll practice using it together. Once you internalize this framework, you'll never write a vague prompt again.</a:t>
            </a:r>
          </a:p>
          <a:p/>
          <a:p>
            <a:r>
              <a:t>KEY POINTS:</a:t>
            </a:r>
          </a:p>
          <a:p>
            <a:r>
              <a:t>   * G for Goal: Start with what you're trying to accomplish. Not 'help me with email' but 'draft a follow-up email to a client who hasn't responded to our proposal in two weeks.'</a:t>
            </a:r>
          </a:p>
          <a:p>
            <a:r>
              <a:t>   * O for Output: Tell Claude what format you want. A table? Bullet points? A narrative paragraph? An email draft? If you don't specify, Claude guesses — and it often guesses wrong.</a:t>
            </a:r>
          </a:p>
          <a:p>
            <a:r>
              <a:t>   * L for Length: Be explicit. 'Keep it under 200 words' or 'one page maximum' or 'three bullet points.' Without a length constraint, Claude tends to produce long, thorough responses when you might need something concise.</a:t>
            </a:r>
          </a:p>
          <a:p>
            <a:r>
              <a:t>   * D for Details: Include the specifics. Names, dates, numbers, constraints, requirements — anything Claude needs to produce accurate, relevant content.</a:t>
            </a:r>
          </a:p>
          <a:p>
            <a:r>
              <a:t>   * E for Examples: If you have a previous report that hit the mark, share it. Say 'follow this format' or 'use a similar tone to this example.' Examples are worth a thousand words of instruction.</a:t>
            </a:r>
          </a:p>
          <a:p>
            <a:r>
              <a:t>   * N for Nuance: Who's the audience? What tone? What should be emphasized or avoided? 'Write this for the CFO who cares about margins' produces very different content than 'write this for the marketing team who cares about engagement.'</a:t>
            </a:r>
          </a:p>
          <a:p/>
          <a:p>
            <a:r>
              <a:t>ASK THE CLASS:</a:t>
            </a:r>
          </a:p>
          <a:p>
            <a:r>
              <a:t>   "Think about the last time you used an AI tool and were disappointed with the result. Which of these six elements were missing from your prompt?"</a:t>
            </a:r>
          </a:p>
          <a:p>
            <a:r>
              <a:t>   [PAUSE for 30-60 seconds]</a:t>
            </a:r>
          </a:p>
          <a:p/>
          <a:p>
            <a:r>
              <a:t>REAL-WORLD EXAMPLE:</a:t>
            </a:r>
          </a:p>
          <a:p>
            <a:r>
              <a:t>   Without GOLDEN: 'Write a summary of our project status.' With GOLDEN: 'Goal: Update the steering committee on Project Atlas. Output: One-page executive brief. Length: 400 words max. Details: Include timeline status (we're 2 weeks behind), budget utilization (87%), and the three open risks. Example: Follow the format from last month's brief I'm attaching. Nuance: The CEO will be in this meeting — lead with impact, not excuses.' Night and day difference.</a:t>
            </a:r>
          </a:p>
          <a:p/>
          <a:p>
            <a:r>
              <a:t>TRANSITION:</a:t>
            </a:r>
          </a:p>
          <a:p>
            <a:r>
              <a:t>   Let's practice this framework right now.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a:t>
            </a:r>
          </a:p>
          <a:p/>
          <a:p>
            <a:r>
              <a:t>OPEN WITH:</a:t>
            </a:r>
          </a:p>
          <a:p>
            <a:r>
              <a:t>   Let me show you the GOLDEN framework in real time. I'll start with a terrible prompt and then transform it step by step. Watch what happens to the output quality.</a:t>
            </a:r>
          </a:p>
          <a:p/>
          <a:p>
            <a:r>
              <a:t>KEY POINTS:</a:t>
            </a:r>
          </a:p>
          <a:p>
            <a:r>
              <a:t>   * First, I'll type the prompt most people would use: 'Write a project update.' Watch how generic the response is.</a:t>
            </a:r>
          </a:p>
          <a:p>
            <a:r>
              <a:t>   * Now let's add Goal: 'Update the VP of Operations on the warehouse automation project.'</a:t>
            </a:r>
          </a:p>
          <a:p>
            <a:r>
              <a:t>   * Add Output: 'Format as an executive brief with sections for status, risks, and next steps.'</a:t>
            </a:r>
          </a:p>
          <a:p>
            <a:r>
              <a:t>   * Add Length: 'Keep it under one page, approximately 350 words.'</a:t>
            </a:r>
          </a:p>
          <a:p>
            <a:r>
              <a:t>   * Add Details: 'We're in Phase 2 of 4, two weeks behind due to vendor delays, budget is on track at 62% utilized.'</a:t>
            </a:r>
          </a:p>
          <a:p>
            <a:r>
              <a:t>   * Add Nuance: 'The VP is data-driven and time-pressed. Lead with metrics, not narrative.'</a:t>
            </a:r>
          </a:p>
          <a:p>
            <a:r>
              <a:t>   * Watch the transformation — same tool, radically different output</a:t>
            </a:r>
          </a:p>
          <a:p/>
          <a:p>
            <a:r>
              <a:t>REAL-WORLD EXAMPLE:</a:t>
            </a:r>
          </a:p>
          <a:p>
            <a:r>
              <a:t>   This exact demonstration converted a skeptical CFO in our last training. He said 'I tried ChatGPT and it was useless.' Turns out he was using one-line prompts. After seeing the GOLDEN framework, he called it 'the most useful thirty minutes of training I've had this year.'</a:t>
            </a:r>
          </a:p>
          <a:p/>
          <a:p>
            <a:r>
              <a:t>DEMO:</a:t>
            </a:r>
          </a:p>
          <a:p>
            <a:r>
              <a:t>   Open Claude in the browser. First prompt: 'Write a project update.' Show the result — it'll be generic. Then type the full GOLDEN prompt. Show the result side by side. Highlight specific improvements: specificity, format, length, tone. Let participants see the dramatic difference in real time.</a:t>
            </a:r>
          </a:p>
          <a:p/>
          <a:p>
            <a:r>
              <a:t>TRANSITION:</a:t>
            </a:r>
          </a:p>
          <a:p>
            <a:r>
              <a:t>   Now let's look at some additional prompting techniques that pair beautifully with GOLDEN.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GOLDEN is your foundation. These two techniques are your power-ups. Role assignment and chain of thought each add a layer of quality that stacks on top of the GOLDEN framework.</a:t>
            </a:r>
          </a:p>
          <a:p/>
          <a:p>
            <a:r>
              <a:t>KEY POINTS:</a:t>
            </a:r>
          </a:p>
          <a:p>
            <a:r>
              <a:t>   * Role assignment tells Claude what perspective to take. 'Act as a senior financial analyst' produces different language, different depth, and different focus than 'act as a marketing coordinator.'</a:t>
            </a:r>
          </a:p>
          <a:p>
            <a:r>
              <a:t>   * The role isn't just a label — it shapes the entire output. A CFO role will emphasize margins and risk. A CMO role will emphasize engagement and brand.</a:t>
            </a:r>
          </a:p>
          <a:p>
            <a:r>
              <a:t>   * Chain of thought asks Claude to show its work. Instead of jumping to an answer, it walks through the analysis step by step.</a:t>
            </a:r>
          </a:p>
          <a:p>
            <a:r>
              <a:t>   * Why does this matter? Because step-by-step reasoning catches errors. If Claude's logic is wrong at step three, you can redirect before it compounds.</a:t>
            </a:r>
          </a:p>
          <a:p>
            <a:r>
              <a:t>   * These techniques combine beautifully: 'Act as a senior strategy consultant. Think through this step by step. [GOLDEN prompt]' — this produces consultant-grade analysis.</a:t>
            </a:r>
          </a:p>
          <a:p/>
          <a:p>
            <a:r>
              <a:t>ASK THE CLASS:</a:t>
            </a:r>
          </a:p>
          <a:p>
            <a:r>
              <a:t>   "What role would be most useful for your daily work? Think about whose expertise you'd love to have on-demand — that's the role you assign Claude."</a:t>
            </a:r>
          </a:p>
          <a:p>
            <a:r>
              <a:t>   [PAUSE for 30-60 seconds]</a:t>
            </a:r>
          </a:p>
          <a:p/>
          <a:p>
            <a:r>
              <a:t>REAL-WORLD EXAMPLE:</a:t>
            </a:r>
          </a:p>
          <a:p>
            <a:r>
              <a:t>   A product manager asked Claude to 'analyze this feature request.' Got a generic summary. Then asked Claude to 'act as a senior product strategist at a Fortune 500 company and analyze this feature request, considering market positioning, engineering effort, and revenue impact.' Got a three-page analysis the CPO used in the next planning meeting.</a:t>
            </a:r>
          </a:p>
          <a:p/>
          <a:p>
            <a:r>
              <a:t>TRANSITION:</a:t>
            </a:r>
          </a:p>
          <a:p>
            <a:r>
              <a:t>   Let's look at how to control the format and structure of Claude's output.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Format is content. A brilliant analysis buried in a wall of text is useless. The same analysis in a clean table with clear headers gets read, shared, and acted upon. Controlling Claude's output format is one of the highest-leverage skills you'll learn today.</a:t>
            </a:r>
          </a:p>
          <a:p/>
          <a:p>
            <a:r>
              <a:t>KEY POINTS:</a:t>
            </a:r>
          </a:p>
          <a:p>
            <a:r>
              <a:t>   * The number one complaint from new users: 'Claude gives me too much text.' The fix is simple — tell Claude exactly what format you want.</a:t>
            </a:r>
          </a:p>
          <a:p>
            <a:r>
              <a:t>   * Tables are your best friend for comparisons, data summaries, and decision matrices</a:t>
            </a:r>
          </a:p>
          <a:p>
            <a:r>
              <a:t>   * Headers and sections make long outputs scannable — executives read headers first, details second</a:t>
            </a:r>
          </a:p>
          <a:p>
            <a:r>
              <a:t>   * The magic phrase: 'Format this as a [specific deliverable type]' — memo, executive brief, one-pager, email draft, slide outline</a:t>
            </a:r>
          </a:p>
          <a:p>
            <a:r>
              <a:t>   * Pro tip: if you like a particular format, save it as part of your Project instructions so every conversation produces it automatically</a:t>
            </a:r>
          </a:p>
          <a:p/>
          <a:p>
            <a:r>
              <a:t>REAL-WORLD EXAMPLE:</a:t>
            </a:r>
          </a:p>
          <a:p>
            <a:r>
              <a:t>   An operations manager asked Claude to 'compare our three vendor options.' Got four paragraphs of prose. Then asked Claude to 'create a comparison table with columns for vendor name, price, implementation timeline, support level, and our team's rating.' Got a clean, shareable table that went directly into the decision memo.</a:t>
            </a:r>
          </a:p>
          <a:p/>
          <a:p>
            <a:r>
              <a:t>TRANSITION:</a:t>
            </a:r>
          </a:p>
          <a:p>
            <a:r>
              <a:t>   Let's put all these prompting techniques together with some practice.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Let me give you three prompt templates that cover probably sixty percent of daily business AI usage. These are battle-tested — save them, customize them, and use them starting tomorrow.</a:t>
            </a:r>
          </a:p>
          <a:p/>
          <a:p>
            <a:r>
              <a:t>KEY POINTS:</a:t>
            </a:r>
          </a:p>
          <a:p>
            <a:r>
              <a:t>   * The meeting prep prompt turns Claude into your personal chief of staff. Ten minutes before any meeting, drop in the context and get a briefing document.</a:t>
            </a:r>
          </a:p>
          <a:p>
            <a:r>
              <a:t>   * The email draft prompt eliminates the blank-page problem. You provide the parameters, Claude provides the draft, you refine and send.</a:t>
            </a:r>
          </a:p>
          <a:p>
            <a:r>
              <a:t>   * The decision analysis prompt is incredibly powerful for procurement, strategy, and resource allocation decisions</a:t>
            </a:r>
          </a:p>
          <a:p>
            <a:r>
              <a:t>   * Notice that each template follows the GOLDEN framework — goal, output, length, details, and nuance are all embedded</a:t>
            </a:r>
          </a:p>
          <a:p>
            <a:r>
              <a:t>   * Pro tip: put your most-used templates in your Project instructions and just reference them by name: 'Use the meeting prep template for my 2pm with the CFO'</a:t>
            </a:r>
          </a:p>
          <a:p/>
          <a:p>
            <a:r>
              <a:t>ASK THE CLASS:</a:t>
            </a:r>
          </a:p>
          <a:p>
            <a:r>
              <a:t>   "Which of these three templates would save you the most time this week? Raise your hand for meeting prep, email drafts, or decision analysis."</a:t>
            </a:r>
          </a:p>
          <a:p>
            <a:r>
              <a:t>   [PAUSE for 30-60 seconds]</a:t>
            </a:r>
          </a:p>
          <a:p/>
          <a:p>
            <a:r>
              <a:t>REAL-WORLD EXAMPLE:</a:t>
            </a:r>
          </a:p>
          <a:p>
            <a:r>
              <a:t>   A director of business development uses the meeting prep template before every client meeting. He says it's like having a junior analyst who studied the client overnight. His meeting prep time dropped from 45 minutes to 10 minutes per meeting.</a:t>
            </a:r>
          </a:p>
          <a:p/>
          <a:p>
            <a:r>
              <a:t>TRANSITION:</a:t>
            </a:r>
          </a:p>
          <a:p>
            <a:r>
              <a:t>   Alright, great foundation on prompting. Let's take a quick break to recharge before we dive into everyday workflows.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Great work so far. You've toured the platform, learned the GOLDEN framework, and picked up prompting power moves. Take fifteen minutes, grab a coffee, and when we come back, we'll put these skills to work on real business workflows.</a:t>
            </a:r>
          </a:p>
          <a:p/>
          <a:p>
            <a:r>
              <a:t>KEY POINTS:</a:t>
            </a:r>
          </a:p>
          <a:p>
            <a:r>
              <a:t>   * When we return, we're shifting from how to prompt to what to prompt for — everyday business workflows</a:t>
            </a:r>
          </a:p>
          <a:p>
            <a:r>
              <a:t>   * Think about a task you do regularly that takes more time than it should — we'll tackle it in the next section</a:t>
            </a:r>
          </a:p>
          <a:p/>
          <a:p>
            <a:r>
              <a:t>TRANSITION:</a:t>
            </a:r>
          </a:p>
          <a:p>
            <a:r>
              <a:t>   See you in fifteen minutes.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Welcome back. This section is where theory meets practice. We're going to walk through the most common business workflows that Claude accelerates — writing, summarization, drafting, and planning.</a:t>
            </a:r>
          </a:p>
          <a:p/>
          <a:p>
            <a:r>
              <a:t>KEY POINTS:</a:t>
            </a:r>
          </a:p>
          <a:p>
            <a:r>
              <a:t>   * Each workflow includes a live demonstration and time for you to try it yourself</a:t>
            </a:r>
          </a:p>
          <a:p>
            <a:r>
              <a:t>   * These are the tasks that eat hours of your week — let's reclaim that time</a:t>
            </a:r>
          </a:p>
          <a:p>
            <a:r>
              <a:t>   * Everything builds on the GOLDEN framework you just learned</a:t>
            </a:r>
          </a:p>
          <a:p/>
          <a:p>
            <a:r>
              <a:t>TRANSITION:</a:t>
            </a:r>
          </a:p>
          <a:p>
            <a:r>
              <a:t>   Let's start with the workflow nearly everyone does daily — business writing.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Let's address the elephant in the room. Some of you are thinking: 'If I use AI to write, is it really my work?' Yes. Absolutely yes. Claude doesn't replace your thinking, your judgment, or your voice. It removes the friction between having an idea and getting it on the page. Just like spell-check doesn't make you a worse writer, AI-assisted drafting doesn't diminish your expertise.</a:t>
            </a:r>
          </a:p>
          <a:p/>
          <a:p>
            <a:r>
              <a:t>KEY POINTS:</a:t>
            </a:r>
          </a:p>
          <a:p>
            <a:r>
              <a:t>   * Claude handles the blank-page problem — starting is always the hardest part</a:t>
            </a:r>
          </a:p>
          <a:p>
            <a:r>
              <a:t>   * You bring the ideas, the strategy, the judgment. Claude brings speed and structure.</a:t>
            </a:r>
          </a:p>
          <a:p>
            <a:r>
              <a:t>   * The best AI-assisted writers edit and refine aggressively — the first draft is a starting point, not a final product</a:t>
            </a:r>
          </a:p>
          <a:p>
            <a:r>
              <a:t>   * Your expertise is in knowing what to say. Claude helps you say it faster and clearer.</a:t>
            </a:r>
          </a:p>
          <a:p/>
          <a:p>
            <a:r>
              <a:t>REAL-WORLD EXAMPLE:</a:t>
            </a:r>
          </a:p>
          <a:p>
            <a:r>
              <a:t>   A VP of Marketing told me she used to spend Sunday evenings drafting the Monday all-hands update. Now she spends fifteen minutes with Claude on Monday morning and the quality is better because she's editing from a draft instead of staring at a blank screen.</a:t>
            </a:r>
          </a:p>
          <a:p/>
          <a:p>
            <a:r>
              <a:t>TRANSITION:</a:t>
            </a:r>
          </a:p>
          <a:p>
            <a:r>
              <a:t>   Let's see business writing in action.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a:t>
            </a:r>
          </a:p>
          <a:p/>
          <a:p>
            <a:r>
              <a:t>OPEN WITH:</a:t>
            </a:r>
          </a:p>
          <a:p>
            <a:r>
              <a:t>   Watch this workflow. I'm going to take messy meeting notes and turn them into a polished executive update in about three minutes. This is the workflow you'll use most often.</a:t>
            </a:r>
          </a:p>
          <a:p/>
          <a:p>
            <a:r>
              <a:t>KEY POINTS:</a:t>
            </a:r>
          </a:p>
          <a:p>
            <a:r>
              <a:t>   * I'm starting with real meeting notes — bullet points, sentence fragments, half-thoughts. Exactly what you'd scribble during a meeting.</a:t>
            </a:r>
          </a:p>
          <a:p>
            <a:r>
              <a:t>   * My prompt uses GOLDEN: Goal is an executive update, Output is a one-page memo, Length is 400 words, Details include the key decisions and action items, Nuance is that the audience is the C-suite.</a:t>
            </a:r>
          </a:p>
          <a:p>
            <a:r>
              <a:t>   * First draft comes back — it's good but not perfect. That's expected and fine.</a:t>
            </a:r>
          </a:p>
          <a:p>
            <a:r>
              <a:t>   * Now I iterate: 'Strengthen the opening paragraph to lead with the revenue impact' and 'Add a section on next steps with owners and dates.'</a:t>
            </a:r>
          </a:p>
          <a:p>
            <a:r>
              <a:t>   * Two iterations and I have a document I'd be proud to send to the CEO.</a:t>
            </a:r>
          </a:p>
          <a:p/>
          <a:p>
            <a:r>
              <a:t>REAL-WORLD EXAMPLE:</a:t>
            </a:r>
          </a:p>
          <a:p>
            <a:r>
              <a:t>   An executive assistant uses this exact workflow to prepare the CEO's weekly update. She takes notes from five different meetings, drops them into Claude with a consistent template, and produces a polished brief in ten minutes. Previously, this took her two hours every Friday.</a:t>
            </a:r>
          </a:p>
          <a:p/>
          <a:p>
            <a:r>
              <a:t>DEMO:</a:t>
            </a:r>
          </a:p>
          <a:p>
            <a:r>
              <a:t>   Paste in messy meeting notes (prepare these in advance — bullet points about a fictional product launch meeting). Use GOLDEN framework prompt. Show first draft. Then iterate twice with specific feedback. Show the final polished version. Emphasize total time: about 3 minutes from notes to finished memo.</a:t>
            </a:r>
          </a:p>
          <a:p/>
          <a:p>
            <a:r>
              <a:t>TRANSITION:</a:t>
            </a:r>
          </a:p>
          <a:p>
            <a:r>
              <a:t>   Now let's look at the flip side — when you have too much information and need to distill it down.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OPEN WITH:</a:t>
            </a:r>
          </a:p>
          <a:p>
            <a:r>
              <a:t>   Summarization is the killer app for busy professionals. You have a forty-page report and ten minutes before a meeting. Claude reads the whole thing and gives you exactly the summary you need for your specific audience.</a:t>
            </a:r>
          </a:p>
          <a:p/>
          <a:p>
            <a:r>
              <a:t>KEY POINTS:</a:t>
            </a:r>
          </a:p>
          <a:p>
            <a:r>
              <a:t>   * Not all summaries are the same — and this is where most people go wrong. Saying 'summarize this' gives you a generic overview. Specifying the type of summary gives you something actionable.</a:t>
            </a:r>
          </a:p>
          <a:p>
            <a:r>
              <a:t>   * Executive summaries emphasize decisions and impact. Technical summaries emphasize methodology and detail. Action-item summaries emphasize accountability.</a:t>
            </a:r>
          </a:p>
          <a:p>
            <a:r>
              <a:t>   * The prompt pattern is simple: upload the document, specify the summary type, define the length, and call out what matters most to your audience</a:t>
            </a:r>
          </a:p>
          <a:p>
            <a:r>
              <a:t>   * Length control is critical. 'Summarize this report' might give you three pages. 'Give me the three most important findings in one paragraph' gives you exactly what you need.</a:t>
            </a:r>
          </a:p>
          <a:p>
            <a:r>
              <a:t>   * Pro tip: for recurring reports, create a Project with your preferred summary format so every report gets summarized consistently</a:t>
            </a:r>
          </a:p>
          <a:p/>
          <a:p>
            <a:r>
              <a:t>ASK THE CLASS:</a:t>
            </a:r>
          </a:p>
          <a:p>
            <a:r>
              <a:t>   "How many reports or documents do you receive each week that you don't have time to fully read? What if you could get a tailored summary of each one in thirty seconds?"</a:t>
            </a:r>
          </a:p>
          <a:p>
            <a:r>
              <a:t>   [PAUSE for 30-60 seconds]</a:t>
            </a:r>
          </a:p>
          <a:p/>
          <a:p>
            <a:r>
              <a:t>REAL-WORLD EXAMPLE:</a:t>
            </a:r>
          </a:p>
          <a:p>
            <a:r>
              <a:t>   A product manager receives competitor analysis reports that are typically fifty-plus pages. She uploads them to Claude and asks for a 'competitive threat summary focusing on features that overlap with our roadmap, in a comparison table format.' What used to take two hours of reading now takes five minutes.</a:t>
            </a:r>
          </a:p>
          <a:p/>
          <a:p>
            <a:r>
              <a:t>TRANSITION:</a:t>
            </a:r>
          </a:p>
          <a:p>
            <a:r>
              <a:t>   Let's move from condensing information to creating structured content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Beyond free-form writing and summarization, Claude excels at structured drafting — creating documents that follow a specific format — and planning tasks that require organizing many moving pieces.</a:t>
            </a:r>
          </a:p>
          <a:p/>
          <a:p>
            <a:r>
              <a:t>KEY POINTS:</a:t>
            </a:r>
          </a:p>
          <a:p>
            <a:r>
              <a:t>   * Structured drafting is about producing documents that follow a template or required format. Upload your template, tell Claude to follow it, and get a draft that matches your organization's standards.</a:t>
            </a:r>
          </a:p>
          <a:p>
            <a:r>
              <a:t>   * This is incredibly valuable for proposals, RFP responses, and SOPs — documents where format compliance matters as much as content quality</a:t>
            </a:r>
          </a:p>
          <a:p>
            <a:r>
              <a:t>   * For planning, Claude is like having a project coordinator who never forgets a detail. Give it the parameters and it produces comprehensive plans with milestones, dependencies, and owners.</a:t>
            </a:r>
          </a:p>
          <a:p>
            <a:r>
              <a:t>   * The key technique: provide examples of good outputs. Upload a previous proposal that was approved, a past project plan that worked, or an OKR template from your organization.</a:t>
            </a:r>
          </a:p>
          <a:p>
            <a:r>
              <a:t>   * Claude will match the format and structure while filling in new content — this is where Projects really shine, because your templates are always available</a:t>
            </a:r>
          </a:p>
          <a:p/>
          <a:p>
            <a:r>
              <a:t>REAL-WORLD EXAMPLE:</a:t>
            </a:r>
          </a:p>
          <a:p>
            <a:r>
              <a:t>   A consulting firm responds to RFPs that require exact section formatting. They upload the RFP requirements and their previous winning proposals to a Project. Claude drafts responses matching the required format in hours instead of days. Win rate increased because they could respond to more RFPs without sacrificing quality.</a:t>
            </a:r>
          </a:p>
          <a:p/>
          <a:p>
            <a:r>
              <a:t>TRANSITION:</a:t>
            </a:r>
          </a:p>
          <a:p>
            <a:r>
              <a:t>   Let's now focus on what separates good output from great output — refinement.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We've covered how to get good output from Claude. Now let's make it great. This section is about the refinement techniques that turn AI-assisted drafts into polished, professional deliverables that feel like your best work.</a:t>
            </a:r>
          </a:p>
          <a:p/>
          <a:p>
            <a:r>
              <a:t>KEY POINTS:</a:t>
            </a:r>
          </a:p>
          <a:p>
            <a:r>
              <a:t>   * Tone control — matching the voice to the audience and context</a:t>
            </a:r>
          </a:p>
          <a:p>
            <a:r>
              <a:t>   * Audience targeting — the same content, reshaped for different readers</a:t>
            </a:r>
          </a:p>
          <a:p>
            <a:r>
              <a:t>   * Iterative refinement — the art of giving effective feedback to Claude</a:t>
            </a:r>
          </a:p>
          <a:p/>
          <a:p>
            <a:r>
              <a:t>TRANSITION:</a:t>
            </a:r>
          </a:p>
          <a:p>
            <a:r>
              <a:t>   Let's start with tone — the invisible quality that makes or breaks professional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Tone is the difference between an email that gets a response and one that gets ignored. Between a report that builds confidence and one that creates doubt. Claude can match any tone you need — but you have to ask for it specifically.</a:t>
            </a:r>
          </a:p>
          <a:p/>
          <a:p>
            <a:r>
              <a:t>KEY POINTS:</a:t>
            </a:r>
          </a:p>
          <a:p>
            <a:r>
              <a:t>   * Executive tone is concise, decisive, and metric-driven. Executives don't read — they scan. Lead with the number, then explain it.</a:t>
            </a:r>
          </a:p>
          <a:p>
            <a:r>
              <a:t>   * Collaborative tone is inclusive and exploratory. Use this for team communications, brainstorming sessions, and cross-functional projects where buy-in matters.</a:t>
            </a:r>
          </a:p>
          <a:p>
            <a:r>
              <a:t>   * Client-facing tone balances professionalism with warmth. You want to sound confident and capable without being stiff or salesy.</a:t>
            </a:r>
          </a:p>
          <a:p>
            <a:r>
              <a:t>   * The technique: include tone instructions in your prompt. 'Write this in an executive tone — concise, metric-driven, action-oriented.' or 'Use a collaborative tone — inclusive language, shared ownership, open to input.'</a:t>
            </a:r>
          </a:p>
          <a:p>
            <a:r>
              <a:t>   * Pro tip: put your default tone in your Project instructions. If eighty percent of your work is executive-facing, set that as the default and override when needed.</a:t>
            </a:r>
          </a:p>
          <a:p/>
          <a:p>
            <a:r>
              <a:t>ASK THE CLASS:</a:t>
            </a:r>
          </a:p>
          <a:p>
            <a:r>
              <a:t>   "Think about the last important email you sent. What tone were you going for? Did you nail it? Tone is hard to get right manually — it's one of Claude's hidden strengths."</a:t>
            </a:r>
          </a:p>
          <a:p>
            <a:r>
              <a:t>   [PAUSE for 30-60 seconds]</a:t>
            </a:r>
          </a:p>
          <a:p/>
          <a:p>
            <a:r>
              <a:t>REAL-WORLD EXAMPLE:</a:t>
            </a:r>
          </a:p>
          <a:p>
            <a:r>
              <a:t>   A change management lead needed to communicate a restructuring to three audiences: executives (impact and timeline), managers (team changes and support resources), and individual contributors (what changes for them and what doesn't). Same information, three completely different tones. Claude produced all three drafts in fifteen minutes.</a:t>
            </a:r>
          </a:p>
          <a:p/>
          <a:p>
            <a:r>
              <a:t>TRANSITION:</a:t>
            </a:r>
          </a:p>
          <a:p>
            <a:r>
              <a:t>   Now let's look at reshaping content for completely different audiences.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OPEN WITH:</a:t>
            </a:r>
          </a:p>
          <a:p>
            <a:r>
              <a:t>   This is one of my favorite demonstrations because it shows something that would take most people an hour to do manually. Same source content, three different audiences, three completely different documents — all in about two minutes.</a:t>
            </a:r>
          </a:p>
          <a:p/>
          <a:p>
            <a:r>
              <a:t>KEY POINTS:</a:t>
            </a:r>
          </a:p>
          <a:p>
            <a:r>
              <a:t>   * I'm starting with a project status update — raw facts about timeline, budget, risks, and milestones.</a:t>
            </a:r>
          </a:p>
          <a:p>
            <a:r>
              <a:t>   * Version one for the C-suite: short, metric-driven, focused on business impact and decisions needed</a:t>
            </a:r>
          </a:p>
          <a:p>
            <a:r>
              <a:t>   * Version two for the project team: detailed, task-oriented, focused on what's next and who's responsible</a:t>
            </a:r>
          </a:p>
          <a:p>
            <a:r>
              <a:t>   * Version three for the client: professional, confidence-inspiring, focused on progress and value delivered</a:t>
            </a:r>
          </a:p>
          <a:p>
            <a:r>
              <a:t>   * Notice how the same facts get completely different emphasis, language, and structure depending on the audience</a:t>
            </a:r>
          </a:p>
          <a:p/>
          <a:p>
            <a:r>
              <a:t>REAL-WORLD EXAMPLE:</a:t>
            </a:r>
          </a:p>
          <a:p>
            <a:r>
              <a:t>   A program manager at a tech company uses this workflow every Friday. One source document becomes three stakeholder updates — saving her an hour per week and ensuring message consistency across audiences.</a:t>
            </a:r>
          </a:p>
          <a:p/>
          <a:p>
            <a:r>
              <a:t>DEMO:</a:t>
            </a:r>
          </a:p>
          <a:p>
            <a:r>
              <a:t>   Prepare a brief project update with raw facts (timeline, budget, milestones, risks). Paste it into Claude three times with different audience specifications. Show all three outputs. Highlight how the same risk gets framed as 'a critical blocker requiring immediate decision' for executives, 'an issue the team is actively mitigating' for the project team, and 'an area we're proactively managing to ensure delivery' for the client.</a:t>
            </a:r>
          </a:p>
          <a:p/>
          <a:p>
            <a:r>
              <a:t>TRANSITION:</a:t>
            </a:r>
          </a:p>
          <a:p>
            <a:r>
              <a:t>   The final piece of the refinement puzzle is knowing how to iterate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OPEN WITH:</a:t>
            </a:r>
          </a:p>
          <a:p>
            <a:r>
              <a:t>   Here's where most people struggle. They get a draft from Claude, it's not perfect, and they either accept it as-is or give up. The magic is in the middle — effective iteration. Knowing how to give Claude feedback that actually improves the output.</a:t>
            </a:r>
          </a:p>
          <a:p/>
          <a:p>
            <a:r>
              <a:t>KEY POINTS:</a:t>
            </a:r>
          </a:p>
          <a:p>
            <a:r>
              <a:t>   * The number one mistake: vague feedback. 'Make it better' tells Claude nothing. 'Make the executive summary shorter and lead with the revenue impact' tells Claude exactly what to change.</a:t>
            </a:r>
          </a:p>
          <a:p>
            <a:r>
              <a:t>   * Think of it like giving feedback to a junior colleague. You wouldn't say 'make this better.' You'd say 'the opening is too long, the data in section two needs a source, and the recommendation should be bolder.'</a:t>
            </a:r>
          </a:p>
          <a:p>
            <a:r>
              <a:t>   * The refinement loop is three passes maximum. First pass gets substance right. Second pass gets presentation right. Third pass is final polish.</a:t>
            </a:r>
          </a:p>
          <a:p>
            <a:r>
              <a:t>   * If you need more than three passes, your original prompt was missing something. Go back and rewrite the prompt rather than endlessly iterating.</a:t>
            </a:r>
          </a:p>
          <a:p>
            <a:r>
              <a:t>   * Pro tip: save your most effective refinement prompts. If you always end up saying 'make it more concise and add metrics' — build that into your original prompt next time.</a:t>
            </a:r>
          </a:p>
          <a:p/>
          <a:p>
            <a:r>
              <a:t>ASK THE CLASS:</a:t>
            </a:r>
          </a:p>
          <a:p>
            <a:r>
              <a:t>   "When you edit your own writing, what's the most common change you make? Too long? Wrong tone? Missing data? That's the feedback you should give Claude proactively."</a:t>
            </a:r>
          </a:p>
          <a:p>
            <a:r>
              <a:t>   [PAUSE for 30-60 seconds]</a:t>
            </a:r>
          </a:p>
          <a:p/>
          <a:p>
            <a:r>
              <a:t>REAL-WORLD EXAMPLE:</a:t>
            </a:r>
          </a:p>
          <a:p>
            <a:r>
              <a:t>   A sales director drafts proposals with Claude. His refinement workflow is consistent: first pass for content accuracy, second pass with 'make it more confident and remove hedging language,' third pass with 'add a compelling opening paragraph and a clear call to action.' Three iterations, five minutes, and the proposal is ready to send.</a:t>
            </a:r>
          </a:p>
          <a:p/>
          <a:p>
            <a:r>
              <a:t>TRANSITION:</a:t>
            </a:r>
          </a:p>
          <a:p>
            <a:r>
              <a:t>   Let's talk about some advanced techniques for getting exactly the output you need.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Two advanced techniques that will elevate your prompting immediately. Multi-step workflows for complex tasks, and constraint-based prompting for focused, relevant output.</a:t>
            </a:r>
          </a:p>
          <a:p/>
          <a:p>
            <a:r>
              <a:t>KEY POINTS:</a:t>
            </a:r>
          </a:p>
          <a:p>
            <a:r>
              <a:t>   * Multi-step workflows break complex requests into sequential stages. Instead of 'analyze this data and write a report,' try 'Step one: identify the three most significant trends. Step two: explain the business impact of each. Step three: draft a recommendation for each trend.'</a:t>
            </a:r>
          </a:p>
          <a:p>
            <a:r>
              <a:t>   * This works because Claude can focus on one task at a time, and each step's output becomes context for the next</a:t>
            </a:r>
          </a:p>
          <a:p>
            <a:r>
              <a:t>   * Constraint-based prompting is about what to leave out. Claude's default is to be thorough and comprehensive — which often means too long and too broad.</a:t>
            </a:r>
          </a:p>
          <a:p>
            <a:r>
              <a:t>   * Adding constraints like 'no jargon,' 'top three only,' or 'focus only on Q4 data' produces tighter, more usable output</a:t>
            </a:r>
          </a:p>
          <a:p>
            <a:r>
              <a:t>   * The combination is powerful: multi-step for complex tasks, constraints at each step for focused output</a:t>
            </a:r>
          </a:p>
          <a:p/>
          <a:p>
            <a:r>
              <a:t>REAL-WORLD EXAMPLE:</a:t>
            </a:r>
          </a:p>
          <a:p>
            <a:r>
              <a:t>   A strategy analyst uses multi-step for quarterly reviews: 'Step 1: Summarize each business unit's performance in one paragraph. Step 2: Rank them by revenue growth. Step 3: For the bottom two, identify the primary driver of underperformance. Step 4: Draft a 30-day action plan for each.' Four steps, one conversation, executive-ready output.</a:t>
            </a:r>
          </a:p>
          <a:p/>
          <a:p>
            <a:r>
              <a:t>TRANSITION:</a:t>
            </a:r>
          </a:p>
          <a:p>
            <a:r>
              <a:t>   Let's take a short break and then dive into the hands-on lab where you'll apply everything you've learned.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Quick ten-minute break. When we come back, it's all hands-on — the Applied Lab is where everything comes together.</a:t>
            </a:r>
          </a:p>
          <a:p/>
          <a:p>
            <a:r>
              <a:t>KEY POINTS:</a:t>
            </a:r>
          </a:p>
          <a:p>
            <a:r>
              <a:t>   * Think about a real business scenario you want to work on during the lab — a report, an email, a plan, an analysis</a:t>
            </a:r>
          </a:p>
          <a:p>
            <a:r>
              <a:t>   * The more real your scenario, the more valuable the lab will be for you</a:t>
            </a:r>
          </a:p>
          <a:p/>
          <a:p>
            <a:r>
              <a:t>TRANSITION:</a:t>
            </a:r>
          </a:p>
          <a:p>
            <a:r>
              <a:t>   Back in ten.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This is the most important part of the session. Everything we've covered — the platform, the GOLDEN framework, prompting techniques, workflows, refinement — comes together right now. You're going to work on a real business scenario and produce a real deliverable.</a:t>
            </a:r>
          </a:p>
          <a:p/>
          <a:p>
            <a:r>
              <a:t>KEY POINTS:</a:t>
            </a:r>
          </a:p>
          <a:p>
            <a:r>
              <a:t>   * You'll choose a scenario that matches your role and daily work</a:t>
            </a:r>
          </a:p>
          <a:p>
            <a:r>
              <a:t>   * You'll apply every technique we've covered: GOLDEN, role assignment, formatting, iteration</a:t>
            </a:r>
          </a:p>
          <a:p>
            <a:r>
              <a:t>   * At the end, you'll have a polished deliverable you can actually use at work tomorrow</a:t>
            </a:r>
          </a:p>
          <a:p/>
          <a:p>
            <a:r>
              <a:t>TRANSITION:</a:t>
            </a:r>
          </a:p>
          <a:p>
            <a:r>
              <a:t>   Here's how the lab works.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min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Here are five scenario options. Scenarios A through D are pre-defined if you want structure. Scenario E is the power move — bring something real from your actual work and use this lab time to knock it out. The people who get the most value from this lab are always the ones who work on something real.</a:t>
            </a:r>
          </a:p>
          <a:p/>
          <a:p>
            <a:r>
              <a:t>KEY POINTS:</a:t>
            </a:r>
          </a:p>
          <a:p>
            <a:r>
              <a:t>   * Scenario A tests executive summarization and concise, impactful writing — great for anyone who reports to leadership</a:t>
            </a:r>
          </a:p>
          <a:p>
            <a:r>
              <a:t>   * Scenario B tests analysis, comparison, and structured output — great for anyone in procurement or strategy</a:t>
            </a:r>
          </a:p>
          <a:p>
            <a:r>
              <a:t>   * Scenario C tests audience targeting and tone control — great for anyone in communications or change management</a:t>
            </a:r>
          </a:p>
          <a:p>
            <a:r>
              <a:t>   * Scenario D tests planning and strategic thinking — great for managers and team leads</a:t>
            </a:r>
          </a:p>
          <a:p>
            <a:r>
              <a:t>   * Scenario E is the real deal — if you have a report due Friday, a presentation to prepare, or a plan to draft, do it now with support</a:t>
            </a:r>
          </a:p>
          <a:p>
            <a:r>
              <a:t>   * I'll be walking around to help. Don't hesitate to call me over if you're stuck on a prompt or want feedback on your output.</a:t>
            </a:r>
          </a:p>
          <a:p/>
          <a:p>
            <a:r>
              <a:t>REAL-WORLD EXAMPLE:</a:t>
            </a:r>
          </a:p>
          <a:p>
            <a:r>
              <a:t>   In our last session, a participant chose Scenario E and used the lab time to draft an actual board presentation that was due the following week. She said it was the most productive 45 minutes of her month.</a:t>
            </a:r>
          </a:p>
          <a:p/>
          <a:p>
            <a:r>
              <a:t>TRANSITION:</a:t>
            </a:r>
          </a:p>
          <a:p>
            <a:r>
              <a:t>   Take five minutes to choose your scenario, then dive in. I'll set a timer.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A few tips before you dive in. These come from watching hundreds of people go through this lab — the difference between a productive lab and a frustrating one usually comes down to these practices.</a:t>
            </a:r>
          </a:p>
          <a:p/>
          <a:p>
            <a:r>
              <a:t>KEY POINTS:</a:t>
            </a:r>
          </a:p>
          <a:p>
            <a:r>
              <a:t>   * Project first — always. Even if it takes three minutes to set up, the output quality improvement is worth it.</a:t>
            </a:r>
          </a:p>
          <a:p>
            <a:r>
              <a:t>   * Plan your prompt before typing. The thirty seconds you spend thinking about GOLDEN saves five minutes of re-prompting.</a:t>
            </a:r>
          </a:p>
          <a:p>
            <a:r>
              <a:t>   * Iterate at least twice. Your first output will be good. Your third version will be great.</a:t>
            </a:r>
          </a:p>
          <a:p>
            <a:r>
              <a:t>   * Save everything. Your prompts, your Project instructions, your best outputs — these become your personal AI toolkit.</a:t>
            </a:r>
          </a:p>
          <a:p/>
          <a:p>
            <a:r>
              <a:t>TRANSITION:</a:t>
            </a:r>
          </a:p>
          <a:p>
            <a:r>
              <a:t>   Alright, start your timers. Forty-five minutes on the clock. Go!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Welcome back from the lab. I hope you're feeling the difference between casual AI use and structured, intentional prompting. Let's wrap up by reviewing what you've accomplished and setting you up for continued success.</a:t>
            </a:r>
          </a:p>
          <a:p/>
          <a:p>
            <a:r>
              <a:t>KEY POINTS:</a:t>
            </a:r>
          </a:p>
          <a:p>
            <a:r>
              <a:t>   * We'll review the key takeaways from today</a:t>
            </a:r>
          </a:p>
          <a:p>
            <a:r>
              <a:t>   * I'll share resources for continued learning</a:t>
            </a:r>
          </a:p>
          <a:p>
            <a:r>
              <a:t>   * We'll preview what's coming in Session 2</a:t>
            </a:r>
          </a:p>
          <a:p/>
          <a:p>
            <a:r>
              <a:t>TRANSITION:</a:t>
            </a:r>
          </a:p>
          <a:p>
            <a:r>
              <a:t>   Let's recap what you've learned.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Look at this list. Four hours ago, some of you had never used Claude Enterprise. Now you've navigated the platform, built Projects, applied a structured prompting framework, practiced real business workflows, and produced a polished deliverable. That's a massive leap in a single session.</a:t>
            </a:r>
          </a:p>
          <a:p/>
          <a:p>
            <a:r>
              <a:t>KEY POINTS:</a:t>
            </a:r>
          </a:p>
          <a:p>
            <a:r>
              <a:t>   * You didn't just learn about these techniques — you practiced every single one of them</a:t>
            </a:r>
          </a:p>
          <a:p>
            <a:r>
              <a:t>   * The GOLDEN framework alone will transform your daily AI interactions</a:t>
            </a:r>
          </a:p>
          <a:p>
            <a:r>
              <a:t>   * Projects and prompt templates mean you'll never start from scratch again</a:t>
            </a:r>
          </a:p>
          <a:p>
            <a:r>
              <a:t>   * The refinement techniques — tone control, audience targeting, iterative feedback — are what separate AI beginners from power users</a:t>
            </a:r>
          </a:p>
          <a:p/>
          <a:p>
            <a:r>
              <a:t>ASK THE CLASS:</a:t>
            </a:r>
          </a:p>
          <a:p>
            <a:r>
              <a:t>   "What was the single most valuable technique or insight from today? I'd love to hear from a few of you."</a:t>
            </a:r>
          </a:p>
          <a:p>
            <a:r>
              <a:t>   [PAUSE for 30-60 seconds]</a:t>
            </a:r>
          </a:p>
          <a:p/>
          <a:p>
            <a:r>
              <a:t>REAL-WORLD EXAMPLE:</a:t>
            </a:r>
          </a:p>
          <a:p>
            <a:r>
              <a:t>   In follow-up surveys, participants consistently report that the GOLDEN framework and audience targeting are the two techniques they use most frequently after this session. Most people see measurable time savings within the first week.</a:t>
            </a:r>
          </a:p>
          <a:p/>
          <a:p>
            <a:r>
              <a:t>TRANSITION:</a:t>
            </a:r>
          </a:p>
          <a:p>
            <a:r>
              <a:t>   Here are some resources to keep your momentum going.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Knowledge without action is just trivia. Here's your action plan for turning today's training into lasting habits. I've broken it into three timeframes so it doesn't feel overwhelming.</a:t>
            </a:r>
          </a:p>
          <a:p/>
          <a:p>
            <a:r>
              <a:t>KEY POINTS:</a:t>
            </a:r>
          </a:p>
          <a:p>
            <a:r>
              <a:t>   * This week: Start small and build the habit. One Project, GOLDEN for every prompt, save your best work. That's it.</a:t>
            </a:r>
          </a:p>
          <a:p>
            <a:r>
              <a:t>   * This month: Expand to all your recurring workflows. Share with your team — you'll become the go-to person for AI productivity.</a:t>
            </a:r>
          </a:p>
          <a:p>
            <a:r>
              <a:t>   * Ongoing: Keep refining. Your prompts will get better with practice. Your Projects will evolve. New use cases will emerge as your confidence grows.</a:t>
            </a:r>
          </a:p>
          <a:p>
            <a:r>
              <a:t>   * The biggest risk: going back to your desk and falling back into old habits. The people who succeed are the ones who use GOLDEN for their very next Claude interaction — even if it's small.</a:t>
            </a:r>
          </a:p>
          <a:p/>
          <a:p>
            <a:r>
              <a:t>REAL-WORLD EXAMPLE:</a:t>
            </a:r>
          </a:p>
          <a:p>
            <a:r>
              <a:t>   A participant from our last session followed this exact plan. Week one: created a Project for weekly reports. Month one: had five active Projects and was saving four hours per week. Month three: her entire team was using Claude effectively, and she was asked to lead their internal AI adoption initiative.</a:t>
            </a:r>
          </a:p>
          <a:p/>
          <a:p>
            <a:r>
              <a:t>TRANSITION:</a:t>
            </a:r>
          </a:p>
          <a:p>
            <a:r>
              <a:t>   Finally, a quick preview of what's coming next.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Session two builds directly on what you learned today. We'll move from individual productivity to advanced analysis, data work, and team collaboration. If today was about building your foundation, next session is about building your competitive advantage.</a:t>
            </a:r>
          </a:p>
          <a:p/>
          <a:p>
            <a:r>
              <a:t>KEY POINTS:</a:t>
            </a:r>
          </a:p>
          <a:p>
            <a:r>
              <a:t>   * Session two assumes you're comfortable with the GOLDEN framework and Projects — we'll use them as a launching pad for advanced techniques</a:t>
            </a:r>
          </a:p>
          <a:p>
            <a:r>
              <a:t>   * We'll tackle more complex scenarios: multi-document analysis, data-driven insights, and collaborative workflows</a:t>
            </a:r>
          </a:p>
          <a:p>
            <a:r>
              <a:t>   * You'll learn to build sophisticated custom instructions that make Claude an expert in your specific domain</a:t>
            </a:r>
          </a:p>
          <a:p>
            <a:r>
              <a:t>   * The lab in session two will involve a more complex, multi-step scenario that mirrors real strategic work</a:t>
            </a:r>
          </a:p>
          <a:p/>
          <a:p>
            <a:r>
              <a:t>REAL-WORLD EXAMPLE:</a:t>
            </a:r>
          </a:p>
          <a:p>
            <a:r>
              <a:t>   By the end of session two, a participant analyzed three years of sales data, identified seasonal patterns, and produced a board-ready recommendation — all in one conversation. That's the level of capability we're building toward.</a:t>
            </a:r>
          </a:p>
          <a:p/>
          <a:p>
            <a:r>
              <a:t>TRANSITION:</a:t>
            </a:r>
          </a:p>
          <a:p>
            <a:r>
              <a:t>   One final thought before we close.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I want to leave you with this thought. The AI tools are available to everyone. The difference-maker isn't access — it's skill. And as of today, you have that skill. You know how to navigate the platform, how to prompt effectively, how to refine output for any audience, and how to build reusable workflows. That's a genuine competitive advantage.</a:t>
            </a:r>
          </a:p>
          <a:p/>
          <a:p>
            <a:r>
              <a:t>KEY POINTS:</a:t>
            </a:r>
          </a:p>
          <a:p>
            <a:r>
              <a:t>   * AI adoption is accelerating — the question isn't whether to use it, but how effectively</a:t>
            </a:r>
          </a:p>
          <a:p>
            <a:r>
              <a:t>   * You now have a structured approach that most people never learn — the GOLDEN framework, audience targeting, iterative refinement</a:t>
            </a:r>
          </a:p>
          <a:p>
            <a:r>
              <a:t>   * The compound effect is real: small time savings on daily tasks add up to hours per week and days per month</a:t>
            </a:r>
          </a:p>
          <a:p>
            <a:r>
              <a:t>   * You're not just using AI — you're using it well. That distinction matters.</a:t>
            </a:r>
          </a:p>
          <a:p/>
          <a:p>
            <a:r>
              <a:t>REAL-WORLD EXAMPLE:</a:t>
            </a:r>
          </a:p>
          <a:p>
            <a:r>
              <a:t>   A participant from six months ago told me that the GOLDEN framework changed her relationship with AI tools entirely. She went from spending twenty minutes getting a mediocre output to spending five minutes getting an excellent one. Over six months, she estimates she saved over 200 hours. That's five full work weeks. What would you do with five extra weeks per year?</a:t>
            </a:r>
          </a:p>
          <a:p/>
          <a:p>
            <a:r>
              <a:t>TRANSITION:</a:t>
            </a:r>
          </a:p>
          <a:p>
            <a:r>
              <a:t>   Thank you for your engagement and energy today. Go apply what you've learned — starting with your very next task.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Thank you all for a fantastic session. Your engagement and questions made this a great experience.</a:t>
            </a:r>
          </a:p>
          <a:p/>
          <a:p>
            <a:r>
              <a:t>KEY POINTS:</a:t>
            </a:r>
          </a:p>
          <a:p>
            <a:r>
              <a:t>   * Remember: GOLDEN for every prompt, Projects for every recurring task, and always iterate</a:t>
            </a:r>
          </a:p>
          <a:p>
            <a:r>
              <a:t>   * Reach out if you have questions between sessions — we're here to support your AI journey</a:t>
            </a:r>
          </a:p>
          <a:p>
            <a:r>
              <a:t>   * See you at Session 2 where we'll take your skills to the next level</a:t>
            </a:r>
          </a:p>
          <a:p/>
          <a:p>
            <a:r>
              <a:t>TRANSITION:</a:t>
            </a:r>
          </a:p>
          <a:p>
            <a:r>
              <a:t>   Session complete. See you next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00D4AA"/>
                </a:solidFill>
              </a:defRPr>
            </a:pPr>
            <a:r>
              <a:t>Claude Business Foundations</a:t>
            </a:r>
          </a:p>
        </p:txBody>
      </p:sp>
      <p:sp>
        <p:nvSpPr>
          <p:cNvPr id="3" name="Rectangle 2"/>
          <p:cNvSpPr/>
          <p:nvPr/>
        </p:nvSpPr>
        <p:spPr>
          <a:xfrm>
            <a:off x="0" y="4754880"/>
            <a:ext cx="12191695"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Today's Session</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45920"/>
            <a:ext cx="5135727" cy="640080"/>
          </a:xfrm>
          <a:prstGeom prst="rect">
            <a:avLst/>
          </a:prstGeom>
          <a:noFill/>
        </p:spPr>
        <p:txBody>
          <a:bodyPr wrap="none" anchor="ctr">
            <a:spAutoFit/>
          </a:bodyPr>
          <a:lstStyle/>
          <a:p>
            <a:pPr>
              <a:defRPr sz="1800" b="1">
                <a:solidFill>
                  <a:srgbClr val="0B0F1A"/>
                </a:solidFill>
              </a:defRPr>
            </a:pPr>
            <a:r>
              <a:t>First Half  (9:00 AM – 11:00 AM)</a:t>
            </a:r>
          </a:p>
        </p:txBody>
      </p:sp>
      <p:sp>
        <p:nvSpPr>
          <p:cNvPr id="6" name="Rectangle 5"/>
          <p:cNvSpPr/>
          <p:nvPr/>
        </p:nvSpPr>
        <p:spPr>
          <a:xfrm>
            <a:off x="457200"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468880"/>
            <a:ext cx="4221327" cy="502920"/>
          </a:xfrm>
          <a:prstGeom prst="rect">
            <a:avLst/>
          </a:prstGeom>
          <a:noFill/>
        </p:spPr>
        <p:txBody>
          <a:bodyPr wrap="square" anchor="ctr">
            <a:spAutoFit/>
          </a:bodyPr>
          <a:lstStyle/>
          <a:p>
            <a:pPr>
              <a:defRPr sz="1600">
                <a:solidFill>
                  <a:srgbClr val="FFFFFF"/>
                </a:solidFill>
              </a:defRPr>
            </a:pPr>
            <a:r>
              <a:t>Welcome &amp; Introductions</a:t>
            </a:r>
          </a:p>
        </p:txBody>
      </p:sp>
      <p:sp>
        <p:nvSpPr>
          <p:cNvPr id="8" name="Rounded Rectangle 7"/>
          <p:cNvSpPr/>
          <p:nvPr/>
        </p:nvSpPr>
        <p:spPr>
          <a:xfrm>
            <a:off x="4815687" y="25603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15687" y="2560320"/>
            <a:ext cx="914400" cy="320040"/>
          </a:xfrm>
          <a:prstGeom prst="rect">
            <a:avLst/>
          </a:prstGeom>
          <a:noFill/>
        </p:spPr>
        <p:txBody>
          <a:bodyPr wrap="none" anchor="ctr">
            <a:spAutoFit/>
          </a:bodyPr>
          <a:lstStyle/>
          <a:p>
            <a:pPr algn="ctr">
              <a:defRPr sz="1300" b="1">
                <a:solidFill>
                  <a:srgbClr val="00D4AA"/>
                </a:solidFill>
              </a:defRPr>
            </a:pPr>
            <a:r>
              <a:t>10 min</a:t>
            </a:r>
          </a:p>
        </p:txBody>
      </p:sp>
      <p:sp>
        <p:nvSpPr>
          <p:cNvPr id="10" name="TextBox 9"/>
          <p:cNvSpPr txBox="1"/>
          <p:nvPr/>
        </p:nvSpPr>
        <p:spPr>
          <a:xfrm>
            <a:off x="594360" y="2971800"/>
            <a:ext cx="4221327" cy="502920"/>
          </a:xfrm>
          <a:prstGeom prst="rect">
            <a:avLst/>
          </a:prstGeom>
          <a:noFill/>
        </p:spPr>
        <p:txBody>
          <a:bodyPr wrap="square" anchor="ctr">
            <a:spAutoFit/>
          </a:bodyPr>
          <a:lstStyle/>
          <a:p>
            <a:pPr>
              <a:defRPr sz="1600">
                <a:solidFill>
                  <a:srgbClr val="FFFFFF"/>
                </a:solidFill>
              </a:defRPr>
            </a:pPr>
            <a:r>
              <a:t>Claude Enterprise Overview</a:t>
            </a:r>
          </a:p>
        </p:txBody>
      </p:sp>
      <p:sp>
        <p:nvSpPr>
          <p:cNvPr id="11" name="Rounded Rectangle 10"/>
          <p:cNvSpPr/>
          <p:nvPr/>
        </p:nvSpPr>
        <p:spPr>
          <a:xfrm>
            <a:off x="4815687" y="30632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5687" y="3063240"/>
            <a:ext cx="914400" cy="320040"/>
          </a:xfrm>
          <a:prstGeom prst="rect">
            <a:avLst/>
          </a:prstGeom>
          <a:noFill/>
        </p:spPr>
        <p:txBody>
          <a:bodyPr wrap="none" anchor="ctr">
            <a:spAutoFit/>
          </a:bodyPr>
          <a:lstStyle/>
          <a:p>
            <a:pPr algn="ctr">
              <a:defRPr sz="1300" b="1">
                <a:solidFill>
                  <a:srgbClr val="00D4AA"/>
                </a:solidFill>
              </a:defRPr>
            </a:pPr>
            <a:r>
              <a:t>40 min</a:t>
            </a:r>
          </a:p>
        </p:txBody>
      </p:sp>
      <p:sp>
        <p:nvSpPr>
          <p:cNvPr id="13" name="Rectangle 12"/>
          <p:cNvSpPr/>
          <p:nvPr/>
        </p:nvSpPr>
        <p:spPr>
          <a:xfrm>
            <a:off x="457200" y="347472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474720"/>
            <a:ext cx="4221327" cy="502920"/>
          </a:xfrm>
          <a:prstGeom prst="rect">
            <a:avLst/>
          </a:prstGeom>
          <a:noFill/>
        </p:spPr>
        <p:txBody>
          <a:bodyPr wrap="square" anchor="ctr">
            <a:spAutoFit/>
          </a:bodyPr>
          <a:lstStyle/>
          <a:p>
            <a:pPr>
              <a:defRPr sz="1600">
                <a:solidFill>
                  <a:srgbClr val="FFFFFF"/>
                </a:solidFill>
              </a:defRPr>
            </a:pPr>
            <a:r>
              <a:t>Prompting for Business Outcomes</a:t>
            </a:r>
          </a:p>
        </p:txBody>
      </p:sp>
      <p:sp>
        <p:nvSpPr>
          <p:cNvPr id="15" name="Rounded Rectangle 14"/>
          <p:cNvSpPr/>
          <p:nvPr/>
        </p:nvSpPr>
        <p:spPr>
          <a:xfrm>
            <a:off x="4815687" y="356616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5687" y="3566160"/>
            <a:ext cx="914400" cy="320040"/>
          </a:xfrm>
          <a:prstGeom prst="rect">
            <a:avLst/>
          </a:prstGeom>
          <a:noFill/>
        </p:spPr>
        <p:txBody>
          <a:bodyPr wrap="none" anchor="ctr">
            <a:spAutoFit/>
          </a:bodyPr>
          <a:lstStyle/>
          <a:p>
            <a:pPr algn="ctr">
              <a:defRPr sz="1300" b="1">
                <a:solidFill>
                  <a:srgbClr val="00D4AA"/>
                </a:solidFill>
              </a:defRPr>
            </a:pPr>
            <a:r>
              <a:t>50 min</a:t>
            </a:r>
          </a:p>
        </p:txBody>
      </p:sp>
      <p:sp>
        <p:nvSpPr>
          <p:cNvPr id="17" name="TextBox 16"/>
          <p:cNvSpPr txBox="1"/>
          <p:nvPr/>
        </p:nvSpPr>
        <p:spPr>
          <a:xfrm>
            <a:off x="594360" y="3977640"/>
            <a:ext cx="4221327" cy="502920"/>
          </a:xfrm>
          <a:prstGeom prst="rect">
            <a:avLst/>
          </a:prstGeom>
          <a:noFill/>
        </p:spPr>
        <p:txBody>
          <a:bodyPr wrap="square" anchor="ctr">
            <a:spAutoFit/>
          </a:bodyPr>
          <a:lstStyle/>
          <a:p>
            <a:pPr>
              <a:defRPr sz="1600" i="1">
                <a:solidFill>
                  <a:srgbClr val="8B95A5"/>
                </a:solidFill>
              </a:defRPr>
            </a:pPr>
            <a:r>
              <a:t>Break</a:t>
            </a:r>
          </a:p>
        </p:txBody>
      </p:sp>
      <p:sp>
        <p:nvSpPr>
          <p:cNvPr id="18" name="Rounded Rectangle 17"/>
          <p:cNvSpPr/>
          <p:nvPr/>
        </p:nvSpPr>
        <p:spPr>
          <a:xfrm>
            <a:off x="4815687" y="4069080"/>
            <a:ext cx="914400" cy="320040"/>
          </a:xfrm>
          <a:prstGeom prst="roundRect">
            <a:avLst/>
          </a:prstGeom>
          <a:solidFill>
            <a:srgbClr val="141A26"/>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15687" y="4069080"/>
            <a:ext cx="914400" cy="320040"/>
          </a:xfrm>
          <a:prstGeom prst="rect">
            <a:avLst/>
          </a:prstGeom>
          <a:noFill/>
        </p:spPr>
        <p:txBody>
          <a:bodyPr wrap="none" anchor="ctr">
            <a:spAutoFit/>
          </a:bodyPr>
          <a:lstStyle/>
          <a:p>
            <a:pPr algn="ctr">
              <a:defRPr sz="1300" b="1">
                <a:solidFill>
                  <a:srgbClr val="00D4AA"/>
                </a:solidFill>
              </a:defRPr>
            </a:pPr>
            <a:r>
              <a:t>15 min</a:t>
            </a:r>
          </a:p>
        </p:txBody>
      </p:sp>
      <p:sp>
        <p:nvSpPr>
          <p:cNvPr id="20" name="Rounded Rectangle 19"/>
          <p:cNvSpPr/>
          <p:nvPr/>
        </p:nvSpPr>
        <p:spPr>
          <a:xfrm>
            <a:off x="6324447"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1607" y="1645920"/>
            <a:ext cx="5135727" cy="640080"/>
          </a:xfrm>
          <a:prstGeom prst="rect">
            <a:avLst/>
          </a:prstGeom>
          <a:noFill/>
        </p:spPr>
        <p:txBody>
          <a:bodyPr wrap="none" anchor="ctr">
            <a:spAutoFit/>
          </a:bodyPr>
          <a:lstStyle/>
          <a:p>
            <a:pPr>
              <a:defRPr sz="1800" b="1">
                <a:solidFill>
                  <a:srgbClr val="0B0F1A"/>
                </a:solidFill>
              </a:defRPr>
            </a:pPr>
            <a:r>
              <a:t>Second Half  (11:15 AM – 1:00 PM)</a:t>
            </a:r>
          </a:p>
        </p:txBody>
      </p:sp>
      <p:sp>
        <p:nvSpPr>
          <p:cNvPr id="22" name="Rectangle 21"/>
          <p:cNvSpPr/>
          <p:nvPr/>
        </p:nvSpPr>
        <p:spPr>
          <a:xfrm>
            <a:off x="6324447"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1607" y="2468880"/>
            <a:ext cx="4221327" cy="502920"/>
          </a:xfrm>
          <a:prstGeom prst="rect">
            <a:avLst/>
          </a:prstGeom>
          <a:noFill/>
        </p:spPr>
        <p:txBody>
          <a:bodyPr wrap="square" anchor="ctr">
            <a:spAutoFit/>
          </a:bodyPr>
          <a:lstStyle/>
          <a:p>
            <a:pPr>
              <a:defRPr sz="1600">
                <a:solidFill>
                  <a:srgbClr val="FFFFFF"/>
                </a:solidFill>
              </a:defRPr>
            </a:pPr>
            <a:r>
              <a:t>Everyday Business Workflows</a:t>
            </a:r>
          </a:p>
        </p:txBody>
      </p:sp>
      <p:sp>
        <p:nvSpPr>
          <p:cNvPr id="24" name="Rounded Rectangle 23"/>
          <p:cNvSpPr/>
          <p:nvPr/>
        </p:nvSpPr>
        <p:spPr>
          <a:xfrm>
            <a:off x="10682935" y="25603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82935" y="2560320"/>
            <a:ext cx="914400" cy="320040"/>
          </a:xfrm>
          <a:prstGeom prst="rect">
            <a:avLst/>
          </a:prstGeom>
          <a:noFill/>
        </p:spPr>
        <p:txBody>
          <a:bodyPr wrap="none" anchor="ctr">
            <a:spAutoFit/>
          </a:bodyPr>
          <a:lstStyle/>
          <a:p>
            <a:pPr algn="ctr">
              <a:defRPr sz="1300" b="1">
                <a:solidFill>
                  <a:srgbClr val="00D4AA"/>
                </a:solidFill>
              </a:defRPr>
            </a:pPr>
            <a:r>
              <a:t>40 min</a:t>
            </a:r>
          </a:p>
        </p:txBody>
      </p:sp>
      <p:sp>
        <p:nvSpPr>
          <p:cNvPr id="26" name="TextBox 25"/>
          <p:cNvSpPr txBox="1"/>
          <p:nvPr/>
        </p:nvSpPr>
        <p:spPr>
          <a:xfrm>
            <a:off x="6461607" y="2971800"/>
            <a:ext cx="4221327" cy="502920"/>
          </a:xfrm>
          <a:prstGeom prst="rect">
            <a:avLst/>
          </a:prstGeom>
          <a:noFill/>
        </p:spPr>
        <p:txBody>
          <a:bodyPr wrap="square" anchor="ctr">
            <a:spAutoFit/>
          </a:bodyPr>
          <a:lstStyle/>
          <a:p>
            <a:pPr>
              <a:defRPr sz="1600">
                <a:solidFill>
                  <a:srgbClr val="FFFFFF"/>
                </a:solidFill>
              </a:defRPr>
            </a:pPr>
            <a:r>
              <a:t>Structured Output &amp; Refinement</a:t>
            </a:r>
          </a:p>
        </p:txBody>
      </p:sp>
      <p:sp>
        <p:nvSpPr>
          <p:cNvPr id="27" name="Rounded Rectangle 26"/>
          <p:cNvSpPr/>
          <p:nvPr/>
        </p:nvSpPr>
        <p:spPr>
          <a:xfrm>
            <a:off x="10682935" y="30632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82935" y="3063240"/>
            <a:ext cx="914400" cy="320040"/>
          </a:xfrm>
          <a:prstGeom prst="rect">
            <a:avLst/>
          </a:prstGeom>
          <a:noFill/>
        </p:spPr>
        <p:txBody>
          <a:bodyPr wrap="none" anchor="ctr">
            <a:spAutoFit/>
          </a:bodyPr>
          <a:lstStyle/>
          <a:p>
            <a:pPr algn="ctr">
              <a:defRPr sz="1300" b="1">
                <a:solidFill>
                  <a:srgbClr val="00D4AA"/>
                </a:solidFill>
              </a:defRPr>
            </a:pPr>
            <a:r>
              <a:t>30 min</a:t>
            </a:r>
          </a:p>
        </p:txBody>
      </p:sp>
      <p:sp>
        <p:nvSpPr>
          <p:cNvPr id="29" name="Rectangle 28"/>
          <p:cNvSpPr/>
          <p:nvPr/>
        </p:nvSpPr>
        <p:spPr>
          <a:xfrm>
            <a:off x="6324447" y="347472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3474720"/>
            <a:ext cx="4221327" cy="502920"/>
          </a:xfrm>
          <a:prstGeom prst="rect">
            <a:avLst/>
          </a:prstGeom>
          <a:noFill/>
        </p:spPr>
        <p:txBody>
          <a:bodyPr wrap="square" anchor="ctr">
            <a:spAutoFit/>
          </a:bodyPr>
          <a:lstStyle/>
          <a:p>
            <a:pPr>
              <a:defRPr sz="1600" i="1">
                <a:solidFill>
                  <a:srgbClr val="8B95A5"/>
                </a:solidFill>
              </a:defRPr>
            </a:pPr>
            <a:r>
              <a:t>Break</a:t>
            </a:r>
          </a:p>
        </p:txBody>
      </p:sp>
      <p:sp>
        <p:nvSpPr>
          <p:cNvPr id="31" name="Rounded Rectangle 30"/>
          <p:cNvSpPr/>
          <p:nvPr/>
        </p:nvSpPr>
        <p:spPr>
          <a:xfrm>
            <a:off x="10682935" y="3566160"/>
            <a:ext cx="914400" cy="320040"/>
          </a:xfrm>
          <a:prstGeom prst="roundRect">
            <a:avLst/>
          </a:prstGeom>
          <a:solidFill>
            <a:srgbClr val="141A26"/>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682935" y="3566160"/>
            <a:ext cx="914400" cy="320040"/>
          </a:xfrm>
          <a:prstGeom prst="rect">
            <a:avLst/>
          </a:prstGeom>
          <a:noFill/>
        </p:spPr>
        <p:txBody>
          <a:bodyPr wrap="none" anchor="ctr">
            <a:spAutoFit/>
          </a:bodyPr>
          <a:lstStyle/>
          <a:p>
            <a:pPr algn="ctr">
              <a:defRPr sz="1300" b="1">
                <a:solidFill>
                  <a:srgbClr val="00D4AA"/>
                </a:solidFill>
              </a:defRPr>
            </a:pPr>
            <a:r>
              <a:t>10 min</a:t>
            </a:r>
          </a:p>
        </p:txBody>
      </p:sp>
      <p:sp>
        <p:nvSpPr>
          <p:cNvPr id="33" name="TextBox 32"/>
          <p:cNvSpPr txBox="1"/>
          <p:nvPr/>
        </p:nvSpPr>
        <p:spPr>
          <a:xfrm>
            <a:off x="6461607" y="3977640"/>
            <a:ext cx="4221327" cy="502920"/>
          </a:xfrm>
          <a:prstGeom prst="rect">
            <a:avLst/>
          </a:prstGeom>
          <a:noFill/>
        </p:spPr>
        <p:txBody>
          <a:bodyPr wrap="square" anchor="ctr">
            <a:spAutoFit/>
          </a:bodyPr>
          <a:lstStyle/>
          <a:p>
            <a:pPr>
              <a:defRPr sz="1600">
                <a:solidFill>
                  <a:srgbClr val="FFFFFF"/>
                </a:solidFill>
              </a:defRPr>
            </a:pPr>
            <a:r>
              <a:t>Applied Lab</a:t>
            </a:r>
          </a:p>
        </p:txBody>
      </p:sp>
      <p:sp>
        <p:nvSpPr>
          <p:cNvPr id="34" name="Rounded Rectangle 33"/>
          <p:cNvSpPr/>
          <p:nvPr/>
        </p:nvSpPr>
        <p:spPr>
          <a:xfrm>
            <a:off x="10682935" y="406908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82935" y="406908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36" name="Rectangle 35"/>
          <p:cNvSpPr/>
          <p:nvPr/>
        </p:nvSpPr>
        <p:spPr>
          <a:xfrm>
            <a:off x="6324447" y="448056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61607" y="4480560"/>
            <a:ext cx="4221327" cy="502920"/>
          </a:xfrm>
          <a:prstGeom prst="rect">
            <a:avLst/>
          </a:prstGeom>
          <a:noFill/>
        </p:spPr>
        <p:txBody>
          <a:bodyPr wrap="square" anchor="ctr">
            <a:spAutoFit/>
          </a:bodyPr>
          <a:lstStyle/>
          <a:p>
            <a:pPr>
              <a:defRPr sz="1600">
                <a:solidFill>
                  <a:srgbClr val="FFFFFF"/>
                </a:solidFill>
              </a:defRPr>
            </a:pPr>
            <a:r>
              <a:t>Wrap-Up &amp; Next Steps</a:t>
            </a:r>
          </a:p>
        </p:txBody>
      </p:sp>
      <p:sp>
        <p:nvSpPr>
          <p:cNvPr id="38" name="Rounded Rectangle 37"/>
          <p:cNvSpPr/>
          <p:nvPr/>
        </p:nvSpPr>
        <p:spPr>
          <a:xfrm>
            <a:off x="10682935" y="457200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82935" y="4572000"/>
            <a:ext cx="914400" cy="320040"/>
          </a:xfrm>
          <a:prstGeom prst="rect">
            <a:avLst/>
          </a:prstGeom>
          <a:noFill/>
        </p:spPr>
        <p:txBody>
          <a:bodyPr wrap="none" anchor="ctr">
            <a:spAutoFit/>
          </a:bodyPr>
          <a:lstStyle/>
          <a:p>
            <a:pPr algn="ctr">
              <a:defRPr sz="1300" b="1">
                <a:solidFill>
                  <a:srgbClr val="00D4AA"/>
                </a:solidFill>
              </a:defRPr>
            </a:pPr>
            <a:r>
              <a:t>15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Learning Objectives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Claude Enterprise Overview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Why Claude Enterprise?</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shield</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team</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rocket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The Claude Enterprise Workspace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Projects: Your Persistent AI Workspace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Without Projects</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With Projects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Creating a Project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File Uploads &amp; Document Analysis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Artifacts: Reusable, Shareable Outputs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What Are Artifacts?</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When to Use Artifacts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Enterprise Considerations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Prompting for Business Outcomes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The Prompt Gap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The GOLDEN Framework</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GOLDEN Framework in Action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Prompting Power Moves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Role Assignment</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Chain of Thought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Output Formatting Techniques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Prompt Templates You'll Use Daily</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914400" y="1371600"/>
            <a:ext cx="914400" cy="914400"/>
          </a:xfrm>
          <a:prstGeom prst="rect">
            <a:avLst/>
          </a:prstGeom>
          <a:noFill/>
        </p:spPr>
        <p:txBody>
          <a:bodyPr wrap="none">
            <a:spAutoFit/>
          </a:bodyPr>
          <a:lstStyle/>
          <a:p>
            <a:pPr>
              <a:defRPr sz="12000">
                <a:solidFill>
                  <a:srgbClr val="00D4AA"/>
                </a:solidFill>
              </a:defRPr>
            </a:pPr>
            <a:r>
              <a:t>"</a:t>
            </a:r>
          </a:p>
        </p:txBody>
      </p:sp>
      <p:sp>
        <p:nvSpPr>
          <p:cNvPr id="3" name="TextBox 2"/>
          <p:cNvSpPr txBox="1"/>
          <p:nvPr/>
        </p:nvSpPr>
        <p:spPr>
          <a:xfrm>
            <a:off x="1371600" y="2286000"/>
            <a:ext cx="9448495" cy="2286000"/>
          </a:xfrm>
          <a:prstGeom prst="rect">
            <a:avLst/>
          </a:prstGeom>
          <a:noFill/>
        </p:spPr>
        <p:txBody>
          <a:bodyPr wrap="square">
            <a:spAutoFit/>
          </a:bodyPr>
          <a:lstStyle/>
          <a:p>
            <a:pPr algn="ctr">
              <a:defRPr sz="3600" i="1">
                <a:solidFill>
                  <a:srgbClr val="FFFFFF"/>
                </a:solidFill>
              </a:defRPr>
            </a:pPr>
            <a:r>
              <a:t>Break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Everyday Business Workflows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Business Writing with Claude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From Notes to Polished Draft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Summarization Techniques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Structured Drafting &amp; Planning</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Structured Drafting</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Planning &amp; Strategy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Structured Output &amp; Refinement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Tone Control: Matching Voice to Audience</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crown</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handshake</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star</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One Content, Three Audiences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The Art of Iterative Refinement</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Advanced Output Techniques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914400" y="1371600"/>
            <a:ext cx="914400" cy="914400"/>
          </a:xfrm>
          <a:prstGeom prst="rect">
            <a:avLst/>
          </a:prstGeom>
          <a:noFill/>
        </p:spPr>
        <p:txBody>
          <a:bodyPr wrap="none">
            <a:spAutoFit/>
          </a:bodyPr>
          <a:lstStyle/>
          <a:p>
            <a:pPr>
              <a:defRPr sz="12000">
                <a:solidFill>
                  <a:srgbClr val="00D4AA"/>
                </a:solidFill>
              </a:defRPr>
            </a:pPr>
            <a:r>
              <a:t>"</a:t>
            </a:r>
          </a:p>
        </p:txBody>
      </p:sp>
      <p:sp>
        <p:nvSpPr>
          <p:cNvPr id="3" name="TextBox 2"/>
          <p:cNvSpPr txBox="1"/>
          <p:nvPr/>
        </p:nvSpPr>
        <p:spPr>
          <a:xfrm>
            <a:off x="1371600" y="2286000"/>
            <a:ext cx="9448495" cy="2286000"/>
          </a:xfrm>
          <a:prstGeom prst="rect">
            <a:avLst/>
          </a:prstGeom>
          <a:noFill/>
        </p:spPr>
        <p:txBody>
          <a:bodyPr wrap="square">
            <a:spAutoFit/>
          </a:bodyPr>
          <a:lstStyle/>
          <a:p>
            <a:pPr algn="ctr">
              <a:defRPr sz="3600" i="1">
                <a:solidFill>
                  <a:srgbClr val="FFFFFF"/>
                </a:solidFill>
              </a:defRPr>
            </a:pPr>
            <a:r>
              <a:t>Break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Applied Lab</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457200" y="365760"/>
            <a:ext cx="1097280" cy="45720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29768"/>
            <a:ext cx="1097280" cy="365760"/>
          </a:xfrm>
          <a:prstGeom prst="rect">
            <a:avLst/>
          </a:prstGeom>
          <a:noFill/>
        </p:spPr>
        <p:txBody>
          <a:bodyPr wrap="none">
            <a:spAutoFit/>
          </a:bodyPr>
          <a:lstStyle/>
          <a:p>
            <a:pPr algn="ctr">
              <a:defRPr sz="1800" b="1">
                <a:solidFill>
                  <a:srgbClr val="0B0F1A"/>
                </a:solidFill>
              </a:defRPr>
            </a:pPr>
            <a:r>
              <a:t>LAB</a:t>
            </a:r>
          </a:p>
        </p:txBody>
      </p:sp>
      <p:sp>
        <p:nvSpPr>
          <p:cNvPr id="4" name="Rounded Rectangle 3"/>
          <p:cNvSpPr/>
          <p:nvPr/>
        </p:nvSpPr>
        <p:spPr>
          <a:xfrm>
            <a:off x="10362895" y="365760"/>
            <a:ext cx="1371600" cy="457200"/>
          </a:xfrm>
          <a:prstGeom prst="roundRect">
            <a:avLst/>
          </a:prstGeom>
          <a:solidFill>
            <a:srgbClr val="141A26"/>
          </a:solidFill>
          <a:ln>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62895" y="429768"/>
            <a:ext cx="1371600" cy="365760"/>
          </a:xfrm>
          <a:prstGeom prst="rect">
            <a:avLst/>
          </a:prstGeom>
          <a:noFill/>
        </p:spPr>
        <p:txBody>
          <a:bodyPr wrap="none">
            <a:spAutoFit/>
          </a:bodyPr>
          <a:lstStyle/>
          <a:p>
            <a:pPr algn="ctr">
              <a:defRPr sz="1400" b="1">
                <a:solidFill>
                  <a:srgbClr val="00D4AA"/>
                </a:solidFill>
              </a:defRPr>
            </a:pPr>
            <a:r>
              <a:t>5 minutes</a:t>
            </a:r>
          </a:p>
        </p:txBody>
      </p:sp>
      <p:sp>
        <p:nvSpPr>
          <p:cNvPr id="6" name="TextBox 5"/>
          <p:cNvSpPr txBox="1"/>
          <p:nvPr/>
        </p:nvSpPr>
        <p:spPr>
          <a:xfrm>
            <a:off x="457200" y="1005840"/>
            <a:ext cx="11277295" cy="731520"/>
          </a:xfrm>
          <a:prstGeom prst="rect">
            <a:avLst/>
          </a:prstGeom>
          <a:noFill/>
        </p:spPr>
        <p:txBody>
          <a:bodyPr wrap="none">
            <a:spAutoFit/>
          </a:bodyPr>
          <a:lstStyle/>
          <a:p>
            <a:pPr>
              <a:defRPr sz="3200" b="1">
                <a:solidFill>
                  <a:srgbClr val="FFFFFF"/>
                </a:solidFill>
              </a:defRPr>
            </a:pPr>
            <a:r>
              <a:t>Applied Lab: Real Business Scenarios</a:t>
            </a:r>
          </a:p>
        </p:txBody>
      </p:sp>
      <p:sp>
        <p:nvSpPr>
          <p:cNvPr id="7" name="Rectangle 6"/>
          <p:cNvSpPr/>
          <p:nvPr/>
        </p:nvSpPr>
        <p:spPr>
          <a:xfrm>
            <a:off x="457200" y="1737360"/>
            <a:ext cx="27432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Lab Scenario Options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Lab Tips for Success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Wrap-Up &amp; Next Steps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What You Accomplished Today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Your Action Plan</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lightning</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calendar</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growth</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Coming Up: Session 2</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Your AI Advantage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00D4AA"/>
                </a:solidFill>
              </a:defRPr>
            </a:pPr>
            <a:r>
              <a:t>© 2026 AIA Copilot</a:t>
            </a:r>
          </a:p>
        </p:txBody>
      </p:sp>
      <p:sp>
        <p:nvSpPr>
          <p:cNvPr id="3" name="Rectangle 2"/>
          <p:cNvSpPr/>
          <p:nvPr/>
        </p:nvSpPr>
        <p:spPr>
          <a:xfrm>
            <a:off x="0" y="4754880"/>
            <a:ext cx="12191695"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