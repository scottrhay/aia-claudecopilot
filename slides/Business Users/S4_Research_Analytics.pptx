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Welcome to Session 4 — the capstone of our training series. Over the last three sessions you learned to prompt Claude, code with it, and write with it. Today we unlock what I consider its most powerful enterprise capability: structured research and strategic analysis. By the end of this session, you'll be able to hand Claude a messy business question and get back a board-ready executive summary.</a:t>
            </a:r>
          </a:p>
          <a:p/>
          <a:p>
            <a:r>
              <a:t>KEY POINTS:</a:t>
            </a:r>
          </a:p>
          <a:p>
            <a:r>
              <a:t>   * This session focuses on Claude as a research analyst and strategic thinking partner</a:t>
            </a:r>
          </a:p>
          <a:p>
            <a:r>
              <a:t>   * We'll cover everything from framing research questions to delivering executive recommendations</a:t>
            </a:r>
          </a:p>
          <a:p>
            <a:r>
              <a:t>   * You'll use Claude's Research mode, Extended Thinking, and document analysis capabilities</a:t>
            </a:r>
          </a:p>
          <a:p>
            <a:r>
              <a:t>   * The Applied Research Lab at the end is a full hands-on exercise where you conduct real analysis</a:t>
            </a:r>
          </a:p>
          <a:p/>
          <a:p>
            <a:r>
              <a:t>REAL-WORLD EXAMPLE:</a:t>
            </a:r>
          </a:p>
          <a:p>
            <a:r>
              <a:t>   A strategy team at a Fortune 500 company used Claude to conduct a competitive landscape analysis that previously took their consulting firm three weeks. They did it in four hours with higher quality citations and more structured recommendations.</a:t>
            </a:r>
          </a:p>
          <a:p/>
          <a:p>
            <a:r>
              <a:t>TRANSITION:</a:t>
            </a:r>
          </a:p>
          <a:p>
            <a:r>
              <a:t>   Let's look at what we're covering in our four hours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Four hours, five major sections, one hands-on lab. Every section builds on the last — by the end, you'll have a complete analytical workflow.</a:t>
            </a:r>
          </a:p>
          <a:p/>
          <a:p>
            <a:r>
              <a:t>KEY POINTS:</a:t>
            </a:r>
          </a:p>
          <a:p>
            <a:r>
              <a:t>   * Part 1 is about foundations: how to frame research questions and prevent hallucinations — the guardrails that make everything else trustworthy</a:t>
            </a:r>
          </a:p>
          <a:p>
            <a:r>
              <a:t>   * Part 2 is applied analysis: competitive frameworks, market analysis, synthesis — the analytical meat of the session</a:t>
            </a:r>
          </a:p>
          <a:p>
            <a:r>
              <a:t>   * Part 3 covers scenario planning and risk — the forward-looking dimension of strategic analysis</a:t>
            </a:r>
          </a:p>
          <a:p>
            <a:r>
              <a:t>   * Part 4 is the Applied Research Lab where you put it all together in a real analysis exercise</a:t>
            </a:r>
          </a:p>
          <a:p/>
          <a:p>
            <a:r>
              <a:t>REAL-WORLD EXAMPLE:</a:t>
            </a:r>
          </a:p>
          <a:p>
            <a:r>
              <a:t>   This exact workflow was used by a private equity firm to evaluate acquisition targets. They went from messy due diligence data to a structured investment memo in a single afternoon.</a:t>
            </a:r>
          </a:p>
          <a:p/>
          <a:p>
            <a:r>
              <a:t>TRANSITION:</a:t>
            </a:r>
          </a:p>
          <a:p>
            <a:r>
              <a:t>   Let's start with the learning objectives — what you'll be able to do by end of 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Eight objectives today. They progress from foundational skills to advanced strategic capabilities. Let's walk through them.</a:t>
            </a:r>
          </a:p>
          <a:p/>
          <a:p>
            <a:r>
              <a:t>KEY POINTS:</a:t>
            </a:r>
          </a:p>
          <a:p>
            <a:r>
              <a:t>   * Objectives one and two are your guardrails — framing questions correctly and preventing hallucinations. Without these, nothing else matters.</a:t>
            </a:r>
          </a:p>
          <a:p>
            <a:r>
              <a:t>   * Objectives three and four are your tools — Research mode, Extended Thinking, competitive frameworks. These are the capabilities that make Claude a serious research partner.</a:t>
            </a:r>
          </a:p>
          <a:p>
            <a:r>
              <a:t>   * Objectives five and six are your outputs — executive summaries and scenario models. This is what your stakeholders actually see.</a:t>
            </a:r>
          </a:p>
          <a:p>
            <a:r>
              <a:t>   * Objectives seven and eight are your mental models — the 5 Levels of Analysis and governance. These make you a strategic thinker, not just a prompt writer.</a:t>
            </a:r>
          </a:p>
          <a:p/>
          <a:p>
            <a:r>
              <a:t>ASK THE CLASS:</a:t>
            </a:r>
          </a:p>
          <a:p>
            <a:r>
              <a:t>   "How many of you have used Claude or ChatGPT for research and been burned by a hallucinated fact or citation? Let's make sure that never happens again."</a:t>
            </a:r>
          </a:p>
          <a:p>
            <a:r>
              <a:t>   [PAUSE for 30-60 seconds]</a:t>
            </a:r>
          </a:p>
          <a:p/>
          <a:p>
            <a:r>
              <a:t>REAL-WORLD EXAMPLE:</a:t>
            </a:r>
          </a:p>
          <a:p>
            <a:r>
              <a:t>   An analyst at a consulting firm used unvalidated AI research in a client deliverable. The client found two fabricated statistics. The firm lost the account. Today we'll make sure that never happens to you.</a:t>
            </a:r>
          </a:p>
          <a:p/>
          <a:p>
            <a:r>
              <a:t>TRANSITION:</a:t>
            </a:r>
          </a:p>
          <a:p>
            <a:r>
              <a:t>   Let's dive into the foundation: how to frame research questions.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Every great analysis starts with a great question. Most people skip this step and jump straight to asking Claude for answers. That's like starting a road trip without knowing your destination.</a:t>
            </a:r>
          </a:p>
          <a:p/>
          <a:p>
            <a:r>
              <a:t>KEY POINTS:</a:t>
            </a:r>
          </a:p>
          <a:p>
            <a:r>
              <a:t>   * Research framing is the highest-leverage skill in AI-assisted analysis</a:t>
            </a:r>
          </a:p>
          <a:p>
            <a:r>
              <a:t>   * A well-framed question gets you 80% of the way to a great answer</a:t>
            </a:r>
          </a:p>
          <a:p>
            <a:r>
              <a:t>   * We'll cover the CRISP framework for structuring research objectives</a:t>
            </a:r>
          </a:p>
          <a:p/>
          <a:p>
            <a:r>
              <a:t>TRANSITION:</a:t>
            </a:r>
          </a:p>
          <a:p>
            <a:r>
              <a:t>   Let's start with why most AI research fails.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I want this to sink in. The number one mistake in AI-assisted research isn't bad prompts — it's undefined objectives. If you don't know what question you're answering, what sources are valid, and what format the output needs to be in, Claude can't help you. It's like asking a brilliant analyst to 'look into things' with no brief.</a:t>
            </a:r>
          </a:p>
          <a:p/>
          <a:p>
            <a:r>
              <a:t>KEY POINTS:</a:t>
            </a:r>
          </a:p>
          <a:p>
            <a:r>
              <a:t>   * Most AI research failures trace back to vague objectives, not model limitations</a:t>
            </a:r>
          </a:p>
          <a:p>
            <a:r>
              <a:t>   * Structured framing eliminates 80% of hallucination and relevance issues</a:t>
            </a:r>
          </a:p>
          <a:p>
            <a:r>
              <a:t>   * The prompt is the last step, not the first — framing comes before prompting</a:t>
            </a:r>
          </a:p>
          <a:p/>
          <a:p>
            <a:r>
              <a:t>REAL-WORLD EXAMPLE:</a:t>
            </a:r>
          </a:p>
          <a:p>
            <a:r>
              <a:t>   Two analysts at the same firm were asked to research a market opportunity. Analyst A typed 'tell me about the EV charging market.' Analyst B created a structured brief with target segments, geographic scope, time horizon, and evaluation criteria. Same model, same data. Analyst B's output went straight to the board. Analyst A's was thrown out.</a:t>
            </a:r>
          </a:p>
          <a:p/>
          <a:p>
            <a:r>
              <a:t>TRANSITION:</a:t>
            </a:r>
          </a:p>
          <a:p>
            <a:r>
              <a:t>   Let me give you a framework for this.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CRISP — Context, Research questions, Information sources, Standards, and Product. This framework works for any research task, AI-assisted or not. Let's walk through each card.</a:t>
            </a:r>
          </a:p>
          <a:p/>
          <a:p>
            <a:r>
              <a:t>KEY POINTS:</a:t>
            </a:r>
          </a:p>
          <a:p>
            <a:r>
              <a:t>   * Context &amp; Constraints: Start with WHO will read this and WHAT decision it informs. A board presentation requires different depth than a team Slack summary.</a:t>
            </a:r>
          </a:p>
          <a:p>
            <a:r>
              <a:t>   * Research Questions: Force yourself to write one primary question. If you can't state it in one sentence, your scope is too broad. Sub-questions decompose the primary into manageable research threads.</a:t>
            </a:r>
          </a:p>
          <a:p>
            <a:r>
              <a:t>   * Sources &amp; Standards: This is your hallucination firewall. Tell Claude exactly what sources are acceptable — uploaded documents only, public financial filings, peer-reviewed papers. If you don't constrain sources, Claude will generate plausible-sounding claims.</a:t>
            </a:r>
          </a:p>
          <a:p>
            <a:r>
              <a:t>   * The 'P' in CRISP is Product — define your output format before you start. Executive memo? Comparison matrix? Risk assessment? This shapes everything.</a:t>
            </a:r>
          </a:p>
          <a:p/>
          <a:p>
            <a:r>
              <a:t>ASK THE CLASS:</a:t>
            </a:r>
          </a:p>
          <a:p>
            <a:r>
              <a:t>   "Think of your last research task. Could you have stated the primary question in one sentence? If not, how would you narrow it?"</a:t>
            </a:r>
          </a:p>
          <a:p>
            <a:r>
              <a:t>   [PAUSE for 30-60 seconds]</a:t>
            </a:r>
          </a:p>
          <a:p/>
          <a:p>
            <a:r>
              <a:t>REAL-WORLD EXAMPLE:</a:t>
            </a:r>
          </a:p>
          <a:p>
            <a:r>
              <a:t>   A product manager used CRISP to brief Claude on a competitive analysis. The constraints section specified 'US market only, SaaS competitors with over $10M ARR, data from 2024-2026 only.' This single constraint eliminated 70% of irrelevant noise from the output.</a:t>
            </a:r>
          </a:p>
          <a:p/>
          <a:p>
            <a:r>
              <a:t>TRANSITION:</a:t>
            </a:r>
          </a:p>
          <a:p>
            <a:r>
              <a:t>   Now let's see what this looks like as an actual prompt.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Here's the CRISP framework as a reusable prompt template. You can paste this into any Claude conversation as your research brief.</a:t>
            </a:r>
          </a:p>
          <a:p/>
          <a:p>
            <a:r>
              <a:t>KEY POINTS:</a:t>
            </a:r>
          </a:p>
          <a:p>
            <a:r>
              <a:t>   * The bracketed items are your fill-in-the-blanks. Spend 5 minutes filling this out before touching Claude.</a:t>
            </a:r>
          </a:p>
          <a:p>
            <a:r>
              <a:t>   * The Constraints section is critical — this is where you prevent hallucinations by constraining Claude to specific source types.</a:t>
            </a:r>
          </a:p>
          <a:p>
            <a:r>
              <a:t>   * The Output Format section prevents the 'wall of text' problem. Claude will match the structure you specify.</a:t>
            </a:r>
          </a:p>
          <a:p>
            <a:r>
              <a:t>   * Pro tip: Save this as a custom Project instruction in Claude so it's always available.</a:t>
            </a:r>
          </a:p>
          <a:p/>
          <a:p>
            <a:r>
              <a:t>REAL-WORLD EXAMPLE:</a:t>
            </a:r>
          </a:p>
          <a:p>
            <a:r>
              <a:t>   A strategy consultant saves this template as a Claude Project instruction. Every research task starts by filling in the brief. Their team's research quality went from 'needs heavy editing' to 'client-ready with light review' in two weeks.</a:t>
            </a:r>
          </a:p>
          <a:p/>
          <a:p>
            <a:r>
              <a:t>TRANSITION:</a:t>
            </a:r>
          </a:p>
          <a:p>
            <a:r>
              <a:t>   Now let's talk about the elephant in the room —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Before we go further, let's establish a shared vocabulary for what 'analysis' actually means. There are five levels, and most people are stuck at levels one and two.</a:t>
            </a:r>
          </a:p>
          <a:p/>
          <a:p>
            <a:r>
              <a:t>KEY POINTS:</a:t>
            </a:r>
          </a:p>
          <a:p>
            <a:r>
              <a:t>   * Descriptive: 'Our revenue dropped 15% last quarter.' Pure backward-looking data summary. Claude can do this instantly with uploaded data.</a:t>
            </a:r>
          </a:p>
          <a:p>
            <a:r>
              <a:t>   * Diagnostic: 'Revenue dropped because enterprise deal cycles lengthened by 3 weeks.' Root cause analysis. Claude with Extended Thinking excels here.</a:t>
            </a:r>
          </a:p>
          <a:p>
            <a:r>
              <a:t>   * Predictive: 'Based on pipeline data, Q3 revenue will likely be flat.' Forward-looking projections. Claude can model scenarios but needs constrained data.</a:t>
            </a:r>
          </a:p>
          <a:p>
            <a:r>
              <a:t>   * Prescriptive: 'We should accelerate mid-market deals and reduce enterprise dependency.' Actionable recommendations. This is where most analysis should end up.</a:t>
            </a:r>
          </a:p>
          <a:p>
            <a:r>
              <a:t>   * AI-Augmented: Claude doesn't just answer your questions — it generates hypotheses you didn't think to ask. 'Have you considered that the deal cycle increase correlates with your competitor's new pricing model launched in January?'</a:t>
            </a:r>
          </a:p>
          <a:p/>
          <a:p>
            <a:r>
              <a:t>ASK THE CLASS:</a:t>
            </a:r>
          </a:p>
          <a:p>
            <a:r>
              <a:t>   "Think about the last analysis you did or received. What level was it? Most teams never get past Level 2 — descriptive and diagnostic. What would Level 4 or 5 look like for your work?"</a:t>
            </a:r>
          </a:p>
          <a:p>
            <a:r>
              <a:t>   [PAUSE for 30-60 seconds]</a:t>
            </a:r>
          </a:p>
          <a:p/>
          <a:p>
            <a:r>
              <a:t>REAL-WORLD EXAMPLE:</a:t>
            </a:r>
          </a:p>
          <a:p>
            <a:r>
              <a:t>   A CFO asked their team for revenue analysis. They got Level 1 — charts showing what happened. When they used Claude with Extended Thinking on the same data, it delivered Level 4 — three specific actions to take, with projected impact ranges for each.</a:t>
            </a:r>
          </a:p>
          <a:p/>
          <a:p>
            <a:r>
              <a:t>TRANSITION:</a:t>
            </a:r>
          </a:p>
          <a:p>
            <a:r>
              <a:t>   Now let's make sure our analysis is trustworthy. Let's talk about hallucination prevention.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Let's get precise about terminology. Claude doesn't lie — lying requires intent to deceive. Claude confabulates — it generates plausible-sounding content that pattern-matches to what a correct answer would look like. This distinction matters because the prevention strategies are completely different from dealing with a liar.</a:t>
            </a:r>
          </a:p>
          <a:p/>
          <a:p>
            <a:r>
              <a:t>KEY POINTS:</a:t>
            </a:r>
          </a:p>
          <a:p>
            <a:r>
              <a:t>   * Confabulation happens when Claude fills gaps in its knowledge with plausible patterns rather than saying 'I don't know'</a:t>
            </a:r>
          </a:p>
          <a:p>
            <a:r>
              <a:t>   * It's most dangerous with specific claims: statistics, dates, quotes, citations, and named sources</a:t>
            </a:r>
          </a:p>
          <a:p>
            <a:r>
              <a:t>   * The risk increases when you ask about obscure topics, very recent events, or specific numerical claims</a:t>
            </a:r>
          </a:p>
          <a:p>
            <a:r>
              <a:t>   * Prevention is about constraining the information space, not about catching lies after the fact</a:t>
            </a:r>
          </a:p>
          <a:p/>
          <a:p>
            <a:r>
              <a:t>REAL-WORLD EXAMPLE:</a:t>
            </a:r>
          </a:p>
          <a:p>
            <a:r>
              <a:t>   A researcher asked Claude to cite studies supporting a business case. Claude generated five citations with authors, journals, and publication years. Three of the five were completely fabricated — but they looked perfect. The authors existed, the journals existed, but those specific papers did not.</a:t>
            </a:r>
          </a:p>
          <a:p/>
          <a:p>
            <a:r>
              <a:t>TRANSITION:</a:t>
            </a:r>
          </a:p>
          <a:p>
            <a:r>
              <a:t>   So how do we prevent this? Let me show you the anti-hallucination toolkit.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Three pillars of hallucination prevention: constrain the input, validate the output, and structure for safety. Let's walk through each.</a:t>
            </a:r>
          </a:p>
          <a:p/>
          <a:p>
            <a:r>
              <a:t>KEY POINTS:</a:t>
            </a:r>
          </a:p>
          <a:p>
            <a:r>
              <a:t>   * Constrain the Input: The single most effective strategy is uploading your source documents and telling Claude to ONLY cite from those files. This eliminates the most common hallucination vector — Claude generating claims from training data.</a:t>
            </a:r>
          </a:p>
          <a:p>
            <a:r>
              <a:t>   * Validate the Output: Always ask Claude to show its work. 'Show me the exact passage you're citing.' 'Walk me through the calculation step by step.' Extended Thinking makes the reasoning chain visible.</a:t>
            </a:r>
          </a:p>
          <a:p>
            <a:r>
              <a:t>   * Structure for Safety: Force Claude to tag confidence levels. 'Rate each claim as High Confidence (directly stated in sources), Medium Confidence (inferred from sources), or Low Confidence (requires external verification).' This gives reviewers a roadmap.</a:t>
            </a:r>
          </a:p>
          <a:p>
            <a:r>
              <a:t>   * The magic instruction: 'If the uploaded documents don't contain information to answer a question, explicitly state that the data is not available rather than inferring or generating an answer.'</a:t>
            </a:r>
          </a:p>
          <a:p/>
          <a:p>
            <a:r>
              <a:t>ASK THE CLASS:</a:t>
            </a:r>
          </a:p>
          <a:p>
            <a:r>
              <a:t>   "Which of these three strategies would have the biggest impact on your current workflow? Most teams find that constraining the input alone eliminates 80% of hallucination issues."</a:t>
            </a:r>
          </a:p>
          <a:p>
            <a:r>
              <a:t>   [PAUSE for 30-60 seconds]</a:t>
            </a:r>
          </a:p>
          <a:p/>
          <a:p>
            <a:r>
              <a:t>REAL-WORLD EXAMPLE:</a:t>
            </a:r>
          </a:p>
          <a:p>
            <a:r>
              <a:t>   A legal team added 'tag confidence levels' to their Claude instructions. Their review time dropped by 60% because reviewers could skip High Confidence claims and focus verification effort on Medium and Low items.</a:t>
            </a:r>
          </a:p>
          <a:p/>
          <a:p>
            <a:r>
              <a:t>TRANSITION:</a:t>
            </a:r>
          </a:p>
          <a:p>
            <a:r>
              <a:t>   Let's see these strategies in action with a live demo of Claude's Research mode.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Beyond the three pillars, here's your specific validation workflow — the Validation Triangle. Think of it as three independent checks that together create confidence.</a:t>
            </a:r>
          </a:p>
          <a:p/>
          <a:p>
            <a:r>
              <a:t>KEY POINTS:</a:t>
            </a:r>
          </a:p>
          <a:p>
            <a:r>
              <a:t>   * Cross-Reference: Ask Claude 'Does any other source in the uploaded documents confirm this claim?' If it's a single-source claim, flag it.</a:t>
            </a:r>
          </a:p>
          <a:p>
            <a:r>
              <a:t>   * Triangulation: The most powerful form of validation. If your revenue analysis, customer feedback, and market data all point to the same conclusion, confidence is high.</a:t>
            </a:r>
          </a:p>
          <a:p>
            <a:r>
              <a:t>   * Source Checking: The simplest but most overlooked. Just ask Claude to show you the exact passage. If it can't point to a specific page or paragraph, the claim may be generated.</a:t>
            </a:r>
          </a:p>
          <a:p>
            <a:r>
              <a:t>   * Use Claude as its own reviewer: Run a second pass where Claude critiques its own output. This catches a surprising number of issues.</a:t>
            </a:r>
          </a:p>
          <a:p/>
          <a:p>
            <a:r>
              <a:t>REAL-WORLD EXAMPLE:</a:t>
            </a:r>
          </a:p>
          <a:p>
            <a:r>
              <a:t>   An investment analyst ran Claude's output through the Validation Triangle. Cross-referencing caught a market size figure that was plausible but from an outdated report. Triangulation revealed that customer sentiment data contradicted the revenue projection. Source checking confirmed three of five citations were accurate. Net result: a much stronger, defensible analysis.</a:t>
            </a:r>
          </a:p>
          <a:p/>
          <a:p>
            <a:r>
              <a:t>TRANSITION:</a:t>
            </a:r>
          </a:p>
          <a:p>
            <a:r>
              <a:t>   Now let's see all of this in action. Time for our first live demo.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min</a:t>
            </a:r>
          </a:p>
          <a:p/>
          <a:p>
            <a:r>
              <a:t>OPEN WITH:</a:t>
            </a:r>
          </a:p>
          <a:p>
            <a:r>
              <a:t>   Let's see everything we've discussed in action. I'm going to conduct a live market analysis using Claude's Research mode — the deep research feature that was released in 2025.</a:t>
            </a:r>
          </a:p>
          <a:p/>
          <a:p>
            <a:r>
              <a:t>KEY POINTS:</a:t>
            </a:r>
          </a:p>
          <a:p>
            <a:r>
              <a:t>   * Research mode allows Claude to search the web, read multiple sources, and synthesize findings with citations</a:t>
            </a:r>
          </a:p>
          <a:p>
            <a:r>
              <a:t>   * It produces a structured report with inline citations you can click to verify</a:t>
            </a:r>
          </a:p>
          <a:p>
            <a:r>
              <a:t>   * Extended Thinking shows you HOW Claude is reasoning about the sources — not just the conclusion</a:t>
            </a:r>
          </a:p>
          <a:p>
            <a:r>
              <a:t>   * The key differentiator from regular Claude: Research mode actively seeks out and cross-references information rather than relying solely on training data</a:t>
            </a:r>
          </a:p>
          <a:p/>
          <a:p>
            <a:r>
              <a:t>ASK THE CLASS:</a:t>
            </a:r>
          </a:p>
          <a:p>
            <a:r>
              <a:t>   "Notice how the Research mode output includes specific numbers with dates and sources, while the regular mode gives general statements. Which would you trust in a board presentation?"</a:t>
            </a:r>
          </a:p>
          <a:p>
            <a:r>
              <a:t>   [PAUSE for 30-60 seconds]</a:t>
            </a:r>
          </a:p>
          <a:p/>
          <a:p>
            <a:r>
              <a:t>REAL-WORLD EXAMPLE:</a:t>
            </a:r>
          </a:p>
          <a:p>
            <a:r>
              <a:t>   A venture capital firm uses Research mode to do initial due diligence on potential investments. It replaces the first 4-6 hours of an analyst's research with a 10-minute Claude session. The analyst then spends their time verifying and deepening, not searching.</a:t>
            </a:r>
          </a:p>
          <a:p/>
          <a:p>
            <a:r>
              <a:t>DEMO:</a:t>
            </a:r>
          </a:p>
          <a:p>
            <a:r>
              <a:t>   LIVE DEMO: 1) Open Claude.ai, 2) Enable Research mode from the model picker, 3) Paste the CRISP brief for 'What is the current state of the enterprise AI training market in North America?', 4) While it runs (~2 min), explain what's happening — Claude is searching, reading, synthesizing, 5) Walk through the output highlighting citations, confidence markers, and the reasoning chain in Extended Thinking, 6) Show a quick comparison: same question without Research mode — note the difference in specificity and citations.</a:t>
            </a:r>
          </a:p>
          <a:p/>
          <a:p>
            <a:r>
              <a:t>TRANSITION:</a:t>
            </a:r>
          </a:p>
          <a:p>
            <a:r>
              <a:t>   Great — now you've seen how Claude researches. Let's talk about how to structure that research into comparative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Now we move from research framing to actual analytical frameworks. This section is about structured approaches to competitive and market analysis — the bread and butter of strategic work.</a:t>
            </a:r>
          </a:p>
          <a:p/>
          <a:p>
            <a:r>
              <a:t>KEY POINTS:</a:t>
            </a:r>
          </a:p>
          <a:p>
            <a:r>
              <a:t>   * We'll cover SWOT, Porter's Five Forces, and competitive comparison matrices</a:t>
            </a:r>
          </a:p>
          <a:p>
            <a:r>
              <a:t>   * The key insight: Claude is incredibly good at applying frameworks when you tell it which one to use</a:t>
            </a:r>
          </a:p>
          <a:p>
            <a:r>
              <a:t>   * Without a framework, you get a wall of text. With a framework, you get actionable analysis.</a:t>
            </a:r>
          </a:p>
          <a:p/>
          <a:p>
            <a:r>
              <a:t>TRANSITION:</a:t>
            </a:r>
          </a:p>
          <a:p>
            <a:r>
              <a:t>   Let's start with how to structure a competitive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The single biggest improvement you can make to AI-assisted analysis is moving from unstructured to structured requests. Look at the difference.</a:t>
            </a:r>
          </a:p>
          <a:p/>
          <a:p>
            <a:r>
              <a:t>KEY POINTS:</a:t>
            </a:r>
          </a:p>
          <a:p>
            <a:r>
              <a:t>   * Unstructured: 'Tell me about our competitors' — you get a Wikipedia-style summary. Interesting but useless for decisions.</a:t>
            </a:r>
          </a:p>
          <a:p>
            <a:r>
              <a:t>   * Structured: 'Evaluate competitors X, Y, Z on pricing, features, market share, customer satisfaction, integration capabilities, using a 1-5 scale with justification' — you get a decision matrix.</a:t>
            </a:r>
          </a:p>
          <a:p>
            <a:r>
              <a:t>   * The framework IS the prompt. When you specify SWOT, Porter's Five Forces, or a comparison matrix, Claude knows exactly what structure to follow.</a:t>
            </a:r>
          </a:p>
          <a:p>
            <a:r>
              <a:t>   * Pro tip: Upload competitor data (annual reports, pricing pages, product docs) and tell Claude to evaluate ONLY from those sources.</a:t>
            </a:r>
          </a:p>
          <a:p/>
          <a:p>
            <a:r>
              <a:t>ASK THE CLASS:</a:t>
            </a:r>
          </a:p>
          <a:p>
            <a:r>
              <a:t>   "Think about the last competitive analysis someone asked you for. Was the request structured or unstructured? How would you reframe it?"</a:t>
            </a:r>
          </a:p>
          <a:p>
            <a:r>
              <a:t>   [PAUSE for 30-60 seconds]</a:t>
            </a:r>
          </a:p>
          <a:p/>
          <a:p>
            <a:r>
              <a:t>REAL-WORLD EXAMPLE:</a:t>
            </a:r>
          </a:p>
          <a:p>
            <a:r>
              <a:t>   A product team asked Claude 'analyze Competitor X.' They got 2,000 words of general information. They reframed: 'Compare our product vs. Competitor X on these 10 features, scoring 1-5, using only the attached product documentation.' They got a decision-ready matrix in 30 seconds.</a:t>
            </a:r>
          </a:p>
          <a:p/>
          <a:p>
            <a:r>
              <a:t>TRANSITION:</a:t>
            </a:r>
          </a:p>
          <a:p>
            <a:r>
              <a:t>   Let's look at the specific frameworks you can apply.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Three frameworks you should have in your back pocket. Each serves a different purpose — using the wrong framework is like using a screwdriver to hammer a nail.</a:t>
            </a:r>
          </a:p>
          <a:p/>
          <a:p>
            <a:r>
              <a:t>KEY POINTS:</a:t>
            </a:r>
          </a:p>
          <a:p>
            <a:r>
              <a:t>   * SWOT: Best when you're evaluating a single entity — your company, a product, a market position. Tell Claude: 'Conduct a SWOT analysis of [entity] based on the uploaded documents. For each quadrant, provide 3-5 specific, evidence-based points.'</a:t>
            </a:r>
          </a:p>
          <a:p>
            <a:r>
              <a:t>   * Porter's Five Forces: Best when you're understanding industry dynamics — not a single competitor, but the competitive landscape. Tell Claude: 'Apply Porter's Five Forces to the [industry]. Rate each force as High/Medium/Low with specific evidence.'</a:t>
            </a:r>
          </a:p>
          <a:p>
            <a:r>
              <a:t>   * Comparison Matrix: Best when you're making a decision between options. Tell Claude: 'Create a weighted comparison matrix for [options] using these criteria: [list]. Weight each criterion, score 1-5, and calculate weighted totals.'</a:t>
            </a:r>
          </a:p>
          <a:p>
            <a:r>
              <a:t>   * The magic: Claude can apply ANY of these frameworks instantly if you name it. The framework constrains the output into actionable structure.</a:t>
            </a:r>
          </a:p>
          <a:p/>
          <a:p>
            <a:r>
              <a:t>ASK THE CLASS:</a:t>
            </a:r>
          </a:p>
          <a:p>
            <a:r>
              <a:t>   "Which of these frameworks do you use most often? Are there situations where you weren't sure which framework to apply? Claude can actually help you choose: 'Given this business question, which analytical framework would be most appropriate and why?'"</a:t>
            </a:r>
          </a:p>
          <a:p>
            <a:r>
              <a:t>   [PAUSE for 30-60 seconds]</a:t>
            </a:r>
          </a:p>
          <a:p/>
          <a:p>
            <a:r>
              <a:t>REAL-WORLD EXAMPLE:</a:t>
            </a:r>
          </a:p>
          <a:p>
            <a:r>
              <a:t>   A startup founder needed to decide between three potential markets to enter. Used a weighted comparison matrix with Claude — criteria included market size, competition intensity, regulatory burden, time to revenue, and team capability match. The matrix made the decision obvious — and defensible to investors.</a:t>
            </a:r>
          </a:p>
          <a:p/>
          <a:p>
            <a:r>
              <a:t>TRANSITION:</a:t>
            </a:r>
          </a:p>
          <a:p>
            <a:r>
              <a:t>   Let me show you how to prompt Claude for each of these frameworks.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Here's your copy-paste SWOT prompt. Notice the specificity — we're not just asking for a SWOT, we're constraining every aspect of the output.</a:t>
            </a:r>
          </a:p>
          <a:p/>
          <a:p>
            <a:r>
              <a:t>KEY POINTS:</a:t>
            </a:r>
          </a:p>
          <a:p>
            <a:r>
              <a:t>   * The 'evidence-based points' instruction forces Claude to ground claims in actual data rather than general knowledge</a:t>
            </a:r>
          </a:p>
          <a:p>
            <a:r>
              <a:t>   * The 'cite the source document and page' instruction makes verification trivial — you can spot-check any claim</a:t>
            </a:r>
          </a:p>
          <a:p>
            <a:r>
              <a:t>   * The impact rating adds analytical depth beyond a simple list</a:t>
            </a:r>
          </a:p>
          <a:p>
            <a:r>
              <a:t>   * The constraints section is your anti-hallucination firewall — especially the 'flag inferences' instruction</a:t>
            </a:r>
          </a:p>
          <a:p/>
          <a:p>
            <a:r>
              <a:t>REAL-WORLD EXAMPLE:</a:t>
            </a:r>
          </a:p>
          <a:p>
            <a:r>
              <a:t>   A management consultant used this exact template for a client engagement. The [INFERRED] tags showed the client exactly where the analysis was strong (direct evidence) vs. where it needed more data. Client loved the transparency.</a:t>
            </a:r>
          </a:p>
          <a:p/>
          <a:p>
            <a:r>
              <a:t>TRANSITION:</a:t>
            </a:r>
          </a:p>
          <a:p>
            <a:r>
              <a:t>   Now let's look at how to prompt for a competitive comparison matrix.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The comparison matrix is the most decision-ready format you can ask Claude for. It forces quantitative evaluation and makes trade-offs visible.</a:t>
            </a:r>
          </a:p>
          <a:p/>
          <a:p>
            <a:r>
              <a:t>KEY POINTS:</a:t>
            </a:r>
          </a:p>
          <a:p>
            <a:r>
              <a:t>   * Pre-defining weights is critical — it prevents post-hoc rationalization</a:t>
            </a:r>
          </a:p>
          <a:p>
            <a:r>
              <a:t>   * The one-sentence justification for each score keeps Claude honest and makes review fast</a:t>
            </a:r>
          </a:p>
          <a:p>
            <a:r>
              <a:t>   * Weighted totals give you a quantitative recommendation, not just qualitative judgment</a:t>
            </a:r>
          </a:p>
          <a:p>
            <a:r>
              <a:t>   * The 'flag limited data' instruction prevents false precision — a score based on no data should be visible</a:t>
            </a:r>
          </a:p>
          <a:p/>
          <a:p>
            <a:r>
              <a:t>REAL-WORLD EXAMPLE:</a:t>
            </a:r>
          </a:p>
          <a:p>
            <a:r>
              <a:t>   A procurement team used this template to evaluate enterprise software vendors. The matrix was shared with stakeholders who adjusted weights based on their priorities. Same data, different weights = different recommendations for different teams. That's the power of a structured framework.</a:t>
            </a:r>
          </a:p>
          <a:p/>
          <a:p>
            <a:r>
              <a:t>TRANSITION:</a:t>
            </a:r>
          </a:p>
          <a:p>
            <a:r>
              <a:t>   Let's see a live competitive analysis using these frameworks.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min</a:t>
            </a:r>
          </a:p>
          <a:p/>
          <a:p>
            <a:r>
              <a:t>OPEN WITH:</a:t>
            </a:r>
          </a:p>
          <a:p>
            <a:r>
              <a:t>   Let's bring these frameworks to life. I'm going to run a competitive analysis using real uploaded documents — you'll see exactly how Claude handles structured analytical frameworks.</a:t>
            </a:r>
          </a:p>
          <a:p/>
          <a:p>
            <a:r>
              <a:t>KEY POINTS:</a:t>
            </a:r>
          </a:p>
          <a:p>
            <a:r>
              <a:t>   * First we'll do a SWOT on one competitor to show single-entity analysis</a:t>
            </a:r>
          </a:p>
          <a:p>
            <a:r>
              <a:t>   * Then we'll expand to a comparison matrix across all three to show multi-entity evaluation</a:t>
            </a:r>
          </a:p>
          <a:p>
            <a:r>
              <a:t>   * Pay attention to how Claude handles the constraints — does it flag inferences? Does it cite sources?</a:t>
            </a:r>
          </a:p>
          <a:p>
            <a:r>
              <a:t>   * The weight sensitivity demonstration is key — same data, different priorities, different conclusions</a:t>
            </a:r>
          </a:p>
          <a:p/>
          <a:p>
            <a:r>
              <a:t>ASK THE CLASS:</a:t>
            </a:r>
          </a:p>
          <a:p>
            <a:r>
              <a:t>   "Did any of the scores surprise you? This is the value of structured analysis — it surfaces assumptions and makes them debatable rather than hidden."</a:t>
            </a:r>
          </a:p>
          <a:p>
            <a:r>
              <a:t>   [PAUSE for 30-60 seconds]</a:t>
            </a:r>
          </a:p>
          <a:p/>
          <a:p>
            <a:r>
              <a:t>REAL-WORLD EXAMPLE:</a:t>
            </a:r>
          </a:p>
          <a:p>
            <a:r>
              <a:t>   A CTO used this exact workflow to evaluate three cloud providers. The initial matrix favored Provider A. When they weighted 'vendor lock-in risk' higher (from 10% to 25%), Provider C won. That weight change represented a real strategic priority the team hadn't fully articulated.</a:t>
            </a:r>
          </a:p>
          <a:p/>
          <a:p>
            <a:r>
              <a:t>DEMO:</a:t>
            </a:r>
          </a:p>
          <a:p>
            <a:r>
              <a:t>   LIVE DEMO: 1) Upload 3 competitor documents (pre-prepared PDFs), 2) Run SWOT analysis on Competitor A, 3) Highlight citations and evidence quality, 4) Run comparison matrix across all three using the template, 5) Show the weighted totals and recommendation, 6) Change the weights (shift from 'price-focused' to 'feature-focused') and rerun — show how the recommendation changes, 7) Toggle Extended Thinking to show Claude's reasoning about each score.</a:t>
            </a:r>
          </a:p>
          <a:p/>
          <a:p>
            <a:r>
              <a:t>TRANSITION:</a:t>
            </a:r>
          </a:p>
          <a:p>
            <a:r>
              <a:t>   Now that we can analyze, let's learn to synthesize — turning findings into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Analysis without synthesis is just data. Synthesis is where you turn findings into insights and insights into actions. This is the hardest part of research — and where Claude provides the most leverage.</a:t>
            </a:r>
          </a:p>
          <a:p/>
          <a:p>
            <a:r>
              <a:t>KEY POINTS:</a:t>
            </a:r>
          </a:p>
          <a:p>
            <a:r>
              <a:t>   * Synthesis is the bridge between research and decision-making</a:t>
            </a:r>
          </a:p>
          <a:p>
            <a:r>
              <a:t>   * We'll cover the Pyramid Principle, executive summary creation, and recommendation frameworks</a:t>
            </a:r>
          </a:p>
          <a:p>
            <a:r>
              <a:t>   * Claude with Extended Thinking is exceptionally good at synthesis because it can hold and process multiple analytical threads simultaneously</a:t>
            </a:r>
          </a:p>
          <a:p/>
          <a:p>
            <a:r>
              <a:t>TRANSITION:</a:t>
            </a:r>
          </a:p>
          <a:p>
            <a:r>
              <a:t>   Let's start with the fundamental structure of executive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Barbara Minto's Pyramid Principle is the gold standard for executive communication. The insight is simple: lead with the answer, then support it. Most people write bottom-up — data, analysis, conclusion. Executives read top-down — they want the recommendation first.</a:t>
            </a:r>
          </a:p>
          <a:p/>
          <a:p>
            <a:r>
              <a:t>KEY POINTS:</a:t>
            </a:r>
          </a:p>
          <a:p>
            <a:r>
              <a:t>   * Bottom-up writing buries the lead. The executive has to read 10 pages to find the recommendation on page 11.</a:t>
            </a:r>
          </a:p>
          <a:p>
            <a:r>
              <a:t>   * Top-down writing leads with the answer. Recommendation on page 1, supporting arguments on pages 2-3, evidence in the appendix.</a:t>
            </a:r>
          </a:p>
          <a:p>
            <a:r>
              <a:t>   * Claude naturally tends toward bottom-up. You need to explicitly instruct: 'Lead with the recommendation. Support with 3 key arguments. Back each with evidence.'</a:t>
            </a:r>
          </a:p>
          <a:p>
            <a:r>
              <a:t>   * The Pyramid structure: One recommendation → 3-4 supporting arguments → Evidence for each argument. That's your entire executive summary.</a:t>
            </a:r>
          </a:p>
          <a:p/>
          <a:p>
            <a:r>
              <a:t>ASK THE CLASS:</a:t>
            </a:r>
          </a:p>
          <a:p>
            <a:r>
              <a:t>   "Think about the last report you received. Did it lead with the recommendation or bury it? How long did it take you to find the 'so what'?"</a:t>
            </a:r>
          </a:p>
          <a:p>
            <a:r>
              <a:t>   [PAUSE for 30-60 seconds]</a:t>
            </a:r>
          </a:p>
          <a:p/>
          <a:p>
            <a:r>
              <a:t>REAL-WORLD EXAMPLE:</a:t>
            </a:r>
          </a:p>
          <a:p>
            <a:r>
              <a:t>   A strategy team restructured their quarterly business review using the Pyramid Principle. The CEO said: 'This is the first QBR where I understood the recommendation before the meeting started.' Meeting time dropped from 2 hours to 45 minutes.</a:t>
            </a:r>
          </a:p>
          <a:p/>
          <a:p>
            <a:r>
              <a:t>TRANSITION:</a:t>
            </a:r>
          </a:p>
          <a:p>
            <a:r>
              <a:t>   Let me show you how to get Claude to write in Pyramid structure.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This template transforms Claude's analysis into an executive-ready deliverable. The structure forces top-down communication.</a:t>
            </a:r>
          </a:p>
          <a:p/>
          <a:p>
            <a:r>
              <a:t>KEY POINTS:</a:t>
            </a:r>
          </a:p>
          <a:p>
            <a:r>
              <a:t>   * Section 1 forces the recommendation up front — no burying the lead</a:t>
            </a:r>
          </a:p>
          <a:p>
            <a:r>
              <a:t>   * Section 2 limits to 3-4 arguments — forces prioritization over completeness</a:t>
            </a:r>
          </a:p>
          <a:p>
            <a:r>
              <a:t>   * Section 3 ties every argument to evidence with confidence levels — prevents unsupported claims</a:t>
            </a:r>
          </a:p>
          <a:p>
            <a:r>
              <a:t>   * Sections 4 and 5 show you've thought about execution, not just analysis — this is what separates junior from senior analysis</a:t>
            </a:r>
          </a:p>
          <a:p>
            <a:r>
              <a:t>   * The '1 page maximum' constraint is critical — it forces Claude to prioritize ruthlessly</a:t>
            </a:r>
          </a:p>
          <a:p/>
          <a:p>
            <a:r>
              <a:t>REAL-WORLD EXAMPLE:</a:t>
            </a:r>
          </a:p>
          <a:p>
            <a:r>
              <a:t>   A VP of Strategy uses this template as the standard output format for all Claude-assisted research. Every deliverable from the strategy team now follows this structure. Board members have commented on the consistency and clarity.</a:t>
            </a:r>
          </a:p>
          <a:p/>
          <a:p>
            <a:r>
              <a:t>TRANSITION:</a:t>
            </a:r>
          </a:p>
          <a:p>
            <a:r>
              <a:t>   Now let's talk about how to handle the most complex form of synthesis — turning multiple research threads into a cohesive narrative.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Synthesis isn't magic — it's a four-step process. Collect, Cluster, Conflict, Conclude. Let me walk you through each step.</a:t>
            </a:r>
          </a:p>
          <a:p/>
          <a:p>
            <a:r>
              <a:t>KEY POINTS:</a:t>
            </a:r>
          </a:p>
          <a:p>
            <a:r>
              <a:t>   * Collect: This is your CRISP-framed research. Multiple sources, structured questions, constrained data.</a:t>
            </a:r>
          </a:p>
          <a:p>
            <a:r>
              <a:t>   * Cluster: This is where Claude's 200K context window shines. It can hold multiple documents and find patterns humans miss when reading sequentially.</a:t>
            </a:r>
          </a:p>
          <a:p>
            <a:r>
              <a:t>   * Conflict: This is the most underused step. Asking Claude to find contradictions in the data is incredibly powerful. It surfaces the debates your recommendation needs to address.</a:t>
            </a:r>
          </a:p>
          <a:p>
            <a:r>
              <a:t>   * Conclude: Only after Collect, Cluster, and Conflict do you ask for a recommendation. By this point, the recommendation is grounded in evidence, accounts for contradictions, and is structured for executive consumption.</a:t>
            </a:r>
          </a:p>
          <a:p>
            <a:r>
              <a:t>   * Extended Thinking is essential for Steps 2 and 3 — the clustering and conflict identification require deep reasoning.</a:t>
            </a:r>
          </a:p>
          <a:p/>
          <a:p>
            <a:r>
              <a:t>ASK THE CLASS:</a:t>
            </a:r>
          </a:p>
          <a:p>
            <a:r>
              <a:t>   "How many of you skip straight from data collection to conclusions? The Cluster and Conflict steps are where the real analytical value lives."</a:t>
            </a:r>
          </a:p>
          <a:p>
            <a:r>
              <a:t>   [PAUSE for 30-60 seconds]</a:t>
            </a:r>
          </a:p>
          <a:p/>
          <a:p>
            <a:r>
              <a:t>REAL-WORLD EXAMPLE:</a:t>
            </a:r>
          </a:p>
          <a:p>
            <a:r>
              <a:t>   An M&amp;A team used this four-step process to evaluate an acquisition target. The Conflict step revealed that financial projections and customer retention data told contradictory stories. This finding — which would have been missed in a traditional analysis — changed the deal terms significantly.</a:t>
            </a:r>
          </a:p>
          <a:p/>
          <a:p>
            <a:r>
              <a:t>TRANSITION:</a:t>
            </a:r>
          </a:p>
          <a:p>
            <a:r>
              <a:t>   Let's put this all together with a pause to reflect.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Take two minutes. Think about a real research task you've done in the last month. It could be a competitive analysis, a market assessment, a vendor evaluation — anything.</a:t>
            </a:r>
          </a:p>
          <a:p/>
          <a:p>
            <a:r>
              <a:t>KEY POINTS:</a:t>
            </a:r>
          </a:p>
          <a:p>
            <a:r>
              <a:t>   * Ask yourself: Did I frame the question clearly? Would CRISP have helped?</a:t>
            </a:r>
          </a:p>
          <a:p>
            <a:r>
              <a:t>   * Did I validate the output? Would the Validation Triangle have caught issues?</a:t>
            </a:r>
          </a:p>
          <a:p>
            <a:r>
              <a:t>   * Did I structure the deliverable for my audience? Would the Pyramid Principle have made it more impactful?</a:t>
            </a:r>
          </a:p>
          <a:p>
            <a:r>
              <a:t>   * Jot down one specific thing you'd do differently next time.</a:t>
            </a:r>
          </a:p>
          <a:p/>
          <a:p>
            <a:r>
              <a:t>TRANSITION:</a:t>
            </a:r>
          </a:p>
          <a:p>
            <a:r>
              <a:t>   Great — hold onto those reflections. We'll apply them in the lab later. Now let's move to scenario and risk modeling.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We've covered backward-looking analysis and present-state assessment. Now we look forward — scenario planning and risk modeling. This is where Claude becomes a strategic thinking partner, not just a research assistant.</a:t>
            </a:r>
          </a:p>
          <a:p/>
          <a:p>
            <a:r>
              <a:t>KEY POINTS:</a:t>
            </a:r>
          </a:p>
          <a:p>
            <a:r>
              <a:t>   * Scenario modeling answers 'what if?' questions systematically</a:t>
            </a:r>
          </a:p>
          <a:p>
            <a:r>
              <a:t>   * Risk matrices make threats visible and actionable</a:t>
            </a:r>
          </a:p>
          <a:p>
            <a:r>
              <a:t>   * Claude with Extended Thinking can model complex interdependencies that spreadsheets can't capture</a:t>
            </a:r>
          </a:p>
          <a:p/>
          <a:p>
            <a:r>
              <a:t>TRANSITION:</a:t>
            </a:r>
          </a:p>
          <a:p>
            <a:r>
              <a:t>   Let's start with scenario planning.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Scenario planning is one of the most powerful strategic tools — and one of the most underused because it's mentally exhausting. Claude removes that barrier. It can generate, populate, and stress-test scenarios faster than any human team.</a:t>
            </a:r>
          </a:p>
          <a:p/>
          <a:p>
            <a:r>
              <a:t>KEY POINTS:</a:t>
            </a:r>
          </a:p>
          <a:p>
            <a:r>
              <a:t>   * The classic 2×2 scenario matrix: Pick two critical uncertainties (e.g., 'market growth rate' and 'regulatory stringency'), create four quadrants, and explore each.</a:t>
            </a:r>
          </a:p>
          <a:p>
            <a:r>
              <a:t>   * Claude is particularly good at naming scenarios memorably — 'Walled Garden', 'Wild West', 'Slow Burn', 'Green Rush.' Memorable names make scenarios stick in organizational memory.</a:t>
            </a:r>
          </a:p>
          <a:p>
            <a:r>
              <a:t>   * The real value: second-order effects. 'If regulation increases AND market growth slows, what happens to M&amp;A activity in the sector?' Claude can chain implications that require holding multiple variables simultaneously.</a:t>
            </a:r>
          </a:p>
          <a:p>
            <a:r>
              <a:t>   * Leading indicators: Ask Claude to identify 3 early signals for each scenario. This turns abstract planning into actionable monitoring.</a:t>
            </a:r>
          </a:p>
          <a:p/>
          <a:p>
            <a:r>
              <a:t>ASK THE CLASS:</a:t>
            </a:r>
          </a:p>
          <a:p>
            <a:r>
              <a:t>   "What are the two biggest uncertainties facing your business or team right now? Those become your scenario axes."</a:t>
            </a:r>
          </a:p>
          <a:p>
            <a:r>
              <a:t>   [PAUSE for 30-60 seconds]</a:t>
            </a:r>
          </a:p>
          <a:p/>
          <a:p>
            <a:r>
              <a:t>REAL-WORLD EXAMPLE:</a:t>
            </a:r>
          </a:p>
          <a:p>
            <a:r>
              <a:t>   A pharmaceutical company used Claude to build scenarios for post-patent drug pricing. The two axes were 'generic competition speed' and 'healthcare policy direction.' The scenario they nicknamed 'Perfect Storm' (fast generics + aggressive regulation) led them to accelerate their biosimilar strategy 18 months ahead of plan.</a:t>
            </a:r>
          </a:p>
          <a:p/>
          <a:p>
            <a:r>
              <a:t>TRANSITION:</a:t>
            </a:r>
          </a:p>
          <a:p>
            <a:r>
              <a:t>   Now let's look at risk matrices — making threats visible.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Here's your scenario planning prompt template. The structure forces Claude to go beyond vague future-gazing into actionable strategic planning.</a:t>
            </a:r>
          </a:p>
          <a:p/>
          <a:p>
            <a:r>
              <a:t>KEY POINTS:</a:t>
            </a:r>
          </a:p>
          <a:p>
            <a:r>
              <a:t>   * Defining the axes precisely is critical — 'market conditions' is too vague. 'Annual market growth rate: 0-3% vs 8-15%' is specific and useful.</a:t>
            </a:r>
          </a:p>
          <a:p>
            <a:r>
              <a:t>   * Memorable names matter more than you think. Teams refer to scenarios by name in meetings for months afterward.</a:t>
            </a:r>
          </a:p>
          <a:p>
            <a:r>
              <a:t>   * Leading indicators are the operational output — they tell you what to monitor to detect which scenario is emerging.</a:t>
            </a:r>
          </a:p>
          <a:p>
            <a:r>
              <a:t>   * The 'wild card' factor keeps scenarios from being too tidy — real life includes surprises.</a:t>
            </a:r>
          </a:p>
          <a:p/>
          <a:p>
            <a:r>
              <a:t>REAL-WORLD EXAMPLE:</a:t>
            </a:r>
          </a:p>
          <a:p>
            <a:r>
              <a:t>   A fintech company's board now uses scenario names in regular conversation: 'If we're heading into Cold Winter, should we delay the Series C?' That's the power of memorable, well-constructed scenarios.</a:t>
            </a:r>
          </a:p>
          <a:p/>
          <a:p>
            <a:r>
              <a:t>TRANSITION:</a:t>
            </a:r>
          </a:p>
          <a:p>
            <a:r>
              <a:t>   Let's pair scenarios with risk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Risk matrices are ubiquitous in enterprise — but most are poorly constructed. They're either too vague ('market risk: high') or too granular to be actionable. Claude can build a properly calibrated risk matrix if you give it the right instructions.</a:t>
            </a:r>
          </a:p>
          <a:p/>
          <a:p>
            <a:r>
              <a:t>KEY POINTS:</a:t>
            </a:r>
          </a:p>
          <a:p>
            <a:r>
              <a:t>   * The five-step process: Identify, Assess, Prioritize, Mitigate, Monitor. Most teams stop at Assess. The value is in Mitigate and Monitor.</a:t>
            </a:r>
          </a:p>
          <a:p>
            <a:r>
              <a:t>   * Categorization (Strategic/Operational/Financial/Regulatory) helps assign ownership — different teams own different risk categories.</a:t>
            </a:r>
          </a:p>
          <a:p>
            <a:r>
              <a:t>   * The 'justify each rating with evidence' instruction prevents arbitrary scoring — every 4 or 5 rating needs a specific reason.</a:t>
            </a:r>
          </a:p>
          <a:p>
            <a:r>
              <a:t>   * KRIs (Key Risk Indicators) are the operational output — they turn a static risk matrix into a living monitoring dashboard.</a:t>
            </a:r>
          </a:p>
          <a:p>
            <a:r>
              <a:t>   * Extended Thinking is valuable here because risk assessment requires holding multiple interdependent factors simultaneously.</a:t>
            </a:r>
          </a:p>
          <a:p/>
          <a:p>
            <a:r>
              <a:t>ASK THE CLASS:</a:t>
            </a:r>
          </a:p>
          <a:p>
            <a:r>
              <a:t>   "Has anyone seen a risk matrix that was genuinely useful for decision-making? What made it work? Usually it's the mitigation strategies and monitoring plan that make the difference."</a:t>
            </a:r>
          </a:p>
          <a:p>
            <a:r>
              <a:t>   [PAUSE for 30-60 seconds]</a:t>
            </a:r>
          </a:p>
          <a:p/>
          <a:p>
            <a:r>
              <a:t>REAL-WORLD EXAMPLE:</a:t>
            </a:r>
          </a:p>
          <a:p>
            <a:r>
              <a:t>   A construction firm used Claude to build a risk matrix for a $50M project. The Mitigate step identified a regulatory risk that standard risk assessments missed — a pending zoning change that could delay permits by 6 months. They restructured the project timeline and saved an estimated $3M in delay costs.</a:t>
            </a:r>
          </a:p>
          <a:p/>
          <a:p>
            <a:r>
              <a:t>TRANSITION:</a:t>
            </a:r>
          </a:p>
          <a:p>
            <a:r>
              <a:t>   Let's talk about sensitivity analysis — understanding which variables matter most.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Here's a question that separates good analysis from great analysis: 'How sensitive is your recommendation to your assumptions?' If changing one assumption by 10% flips the recommendation, you need to know that before presenting to stakeholders.</a:t>
            </a:r>
          </a:p>
          <a:p/>
          <a:p>
            <a:r>
              <a:t>KEY POINTS:</a:t>
            </a:r>
          </a:p>
          <a:p>
            <a:r>
              <a:t>   * Sensitivity analysis tests the robustness of your conclusions. It answers: 'Would we still recommend the same thing if this assumption were wrong?'</a:t>
            </a:r>
          </a:p>
          <a:p>
            <a:r>
              <a:t>   * The killer prompt: 'What single assumption, if wrong by 20%, would most change your recommendation?' This forces Claude to identify the critical variable.</a:t>
            </a:r>
          </a:p>
          <a:p>
            <a:r>
              <a:t>   * Claude can systematically vary assumptions and show you the impact. 'Rerun the analysis with market growth at 3%, 5%, 8%, and 12%. Show how the recommendation changes at each level.'</a:t>
            </a:r>
          </a:p>
          <a:p>
            <a:r>
              <a:t>   * Threshold effects are the most important finding: 'The recommendation holds for market growth above 5%, but below 5%, Option B becomes preferred.' This gives stakeholders a clear decision boundary.</a:t>
            </a:r>
          </a:p>
          <a:p>
            <a:r>
              <a:t>   * Pro tip: Always include a sensitivity summary in executive deliverables. It demonstrates analytical rigor and builds credibility.</a:t>
            </a:r>
          </a:p>
          <a:p/>
          <a:p>
            <a:r>
              <a:t>ASK THE CLASS:</a:t>
            </a:r>
          </a:p>
          <a:p>
            <a:r>
              <a:t>   "Think about a recommendation you or your team made recently. Do you know which assumption, if wrong, would have changed it? If not, that's a vulnerability."</a:t>
            </a:r>
          </a:p>
          <a:p>
            <a:r>
              <a:t>   [PAUSE for 30-60 seconds]</a:t>
            </a:r>
          </a:p>
          <a:p/>
          <a:p>
            <a:r>
              <a:t>REAL-WORLD EXAMPLE:</a:t>
            </a:r>
          </a:p>
          <a:p>
            <a:r>
              <a:t>   A real estate developer used Claude to model a new project. Sensitivity analysis showed the project was profitable at any interest rate below 7.2% but NPV-negative above that. With rates at 6.8%, the board decided the margin was too thin and delayed six months — saving them from a rate increase to 7.5% that would have destroyed the project economics.</a:t>
            </a:r>
          </a:p>
          <a:p/>
          <a:p>
            <a:r>
              <a:t>TRANSITION:</a:t>
            </a:r>
          </a:p>
          <a:p>
            <a:r>
              <a:t>   Let's look at how to bring all these analytical tools together in a decision framework.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Let's zoom out and see how everything we've covered fits together. This is your complete analytical stack — five layers that take you from raw question to boardroom-ready recommendation.</a:t>
            </a:r>
          </a:p>
          <a:p/>
          <a:p>
            <a:r>
              <a:t>KEY POINTS:</a:t>
            </a:r>
          </a:p>
          <a:p>
            <a:r>
              <a:t>   * Layer 1 (Research) ensures you're working with trustworthy information. CRISP frames the question, validation prevents hallucinations.</a:t>
            </a:r>
          </a:p>
          <a:p>
            <a:r>
              <a:t>   * Layer 2 (Analysis) applies structure to the information. Frameworks force consistent evaluation and surface insights that unstructured analysis misses.</a:t>
            </a:r>
          </a:p>
          <a:p>
            <a:r>
              <a:t>   * Layer 3 (Synthesis) turns analysis into narrative. The four-step process and Pyramid Principle create executive-ready communication.</a:t>
            </a:r>
          </a:p>
          <a:p>
            <a:r>
              <a:t>   * Layer 4 (Stress Test) tests robustness. Scenarios explore futures, risk matrices identify threats, sensitivity analysis finds vulnerabilities.</a:t>
            </a:r>
          </a:p>
          <a:p>
            <a:r>
              <a:t>   * Layer 5 (Recommend) integrates everything into a decision package. Not just 'what to do' but 'how confident we are, what to watch for, and when to revisit.'</a:t>
            </a:r>
          </a:p>
          <a:p>
            <a:r>
              <a:t>   * You don't always need all five layers. A quick competitive scan might only need Layers 1-2. A major strategic decision needs all five.</a:t>
            </a:r>
          </a:p>
          <a:p/>
          <a:p>
            <a:r>
              <a:t>REAL-WORLD EXAMPLE:</a:t>
            </a:r>
          </a:p>
          <a:p>
            <a:r>
              <a:t>   A consulting firm adopted this five-layer stack as their standard analytical methodology. Client satisfaction scores increased 23% because deliverables were consistently structured, evidence-based, and actionable. Partners could review and approve work faster because the structure was predictable.</a:t>
            </a:r>
          </a:p>
          <a:p/>
          <a:p>
            <a:r>
              <a:t>TRANSITION:</a:t>
            </a:r>
          </a:p>
          <a:p>
            <a:r>
              <a:t>   Now let's put this entire stack into practice. Time for a demo of the full workflow.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12 min</a:t>
            </a:r>
          </a:p>
          <a:p/>
          <a:p>
            <a:r>
              <a:t>OPEN WITH:</a:t>
            </a:r>
          </a:p>
          <a:p>
            <a:r>
              <a:t>   This is the big demo — the full analytical workflow from question to recommendation. I'll walk through a market entry decision using every framework we've covered.</a:t>
            </a:r>
          </a:p>
          <a:p/>
          <a:p>
            <a:r>
              <a:t>KEY POINTS:</a:t>
            </a:r>
          </a:p>
          <a:p>
            <a:r>
              <a:t>   * Watch how each layer builds on the previous one — the output of Research feeds Analysis, Analysis feeds Synthesis, Synthesis feeds the Stress Test</a:t>
            </a:r>
          </a:p>
          <a:p>
            <a:r>
              <a:t>   * Extended Thinking is enabled throughout — you'll see Claude's reasoning at each step</a:t>
            </a:r>
          </a:p>
          <a:p>
            <a:r>
              <a:t>   * Pay attention to the validation: I'll show Claude citing specific sources and flagging inferences</a:t>
            </a:r>
          </a:p>
          <a:p>
            <a:r>
              <a:t>   * The final deliverable is what your stakeholders would actually receive</a:t>
            </a:r>
          </a:p>
          <a:p/>
          <a:p>
            <a:r>
              <a:t>ASK THE CLASS:</a:t>
            </a:r>
          </a:p>
          <a:p>
            <a:r>
              <a:t>   "Notice how the final recommendation includes confidence levels and conditions. 'We recommend Strategy A IF market growth exceeds 6%.' That conditional framing is much more useful than a flat recommendation."</a:t>
            </a:r>
          </a:p>
          <a:p>
            <a:r>
              <a:t>   [PAUSE for 30-60 seconds]</a:t>
            </a:r>
          </a:p>
          <a:p/>
          <a:p>
            <a:r>
              <a:t>REAL-WORLD EXAMPLE:</a:t>
            </a:r>
          </a:p>
          <a:p>
            <a:r>
              <a:t>   This exact workflow was used by a technology company evaluating expansion into Southeast Asia. The demo format mirrors their actual decision process — and the Claude-assisted analysis was completed in one afternoon instead of the typical three-week consulting engagement.</a:t>
            </a:r>
          </a:p>
          <a:p/>
          <a:p>
            <a:r>
              <a:t>DEMO:</a:t>
            </a:r>
          </a:p>
          <a:p>
            <a:r>
              <a:t>   LIVE DEMO: 1) Start with CRISP brief for 'Should we enter the [industry] market in [region]?', 2) Upload 3-4 pre-prepared documents (market report, competitor profiles, internal capabilities assessment), 3) Run SWOT on the opportunity, 4) Run comparison matrix of 3 entry strategies (organic, partnership, acquisition), 5) Synthesize using Collect-Cluster-Conflict-Conclude, 6) Generate Pyramid Principle executive summary, 7) Run sensitivity: 'What if market growth is 50% lower than projected?', 8) Show the complete output as a decision package. Total: ~12 minutes with narration.</a:t>
            </a:r>
          </a:p>
          <a:p/>
          <a:p>
            <a:r>
              <a:t>TRANSITION:</a:t>
            </a:r>
          </a:p>
          <a:p>
            <a:r>
              <a:t>   Excellent — you've now seen the full stack in action. Let's talk about governance before we head into the lab.</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Before we head into the lab, we need to talk about governance. AI-assisted research is powerful, but it comes with responsibilities. These six practices will keep you and your organization safe.</a:t>
            </a:r>
          </a:p>
          <a:p/>
          <a:p>
            <a:r>
              <a:t>KEY POINTS:</a:t>
            </a:r>
          </a:p>
          <a:p>
            <a:r>
              <a:t>   * Disclosure is non-negotiable. It's not about shame — it's about setting appropriate expectations for verification. 'AI-assisted and human-validated' is a strength, not a weakness.</a:t>
            </a:r>
          </a:p>
          <a:p>
            <a:r>
              <a:t>   * Audit trails protect you. If a client or executive questions a finding, you can show the exact conversation, sources, and reasoning chain.</a:t>
            </a:r>
          </a:p>
          <a:p>
            <a:r>
              <a:t>   * Human review is about judgment, not facts. Claude is great at processing data but can miss strategic context that comes from domain expertise and organizational knowledge.</a:t>
            </a:r>
          </a:p>
          <a:p>
            <a:r>
              <a:t>   * Confidentiality is the biggest legal risk. Know your organization's policy on AI tools and data classification. When in doubt, ask legal.</a:t>
            </a:r>
          </a:p>
          <a:p>
            <a:r>
              <a:t>   * Version control matters because AI capabilities evolve rapidly. An analysis from 6 months ago was done with a less capable model — conclusions may warrant refreshing.</a:t>
            </a:r>
          </a:p>
          <a:p>
            <a:r>
              <a:t>   * Bias awareness is the hardest practice because biases are invisible until you look for them. The simple prompt 'What perspectives might this analysis be missing?' catches a surprising number of blind spots.</a:t>
            </a:r>
          </a:p>
          <a:p/>
          <a:p>
            <a:r>
              <a:t>ASK THE CLASS:</a:t>
            </a:r>
          </a:p>
          <a:p>
            <a:r>
              <a:t>   "Does your organization have an AI use policy? If not, these six practices are a good starting framework. If yes, how do these compare?"</a:t>
            </a:r>
          </a:p>
          <a:p>
            <a:r>
              <a:t>   [PAUSE for 30-60 seconds]</a:t>
            </a:r>
          </a:p>
          <a:p/>
          <a:p>
            <a:r>
              <a:t>REAL-WORLD EXAMPLE:</a:t>
            </a:r>
          </a:p>
          <a:p>
            <a:r>
              <a:t>   A financial services firm was audited by regulators who asked about their AI-assisted research process. Because they had disclosure standards and audit trails, they passed with no findings. A competitor without these practices faced enforcement action.</a:t>
            </a:r>
          </a:p>
          <a:p/>
          <a:p>
            <a:r>
              <a:t>TRANSITION:</a:t>
            </a:r>
          </a:p>
          <a:p>
            <a:r>
              <a:t>   Now it's your turn. Let's head into the Applied Research Lab.</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This is it — the hands-on lab where you put everything together. You're going to conduct a full structured analysis and produce an executive summary. Everything we've covered today is your toolkit.</a:t>
            </a:r>
          </a:p>
          <a:p/>
          <a:p>
            <a:r>
              <a:t>KEY POINTS:</a:t>
            </a:r>
          </a:p>
          <a:p>
            <a:r>
              <a:t>   * 60 minutes of hands-on work with instructor support</a:t>
            </a:r>
          </a:p>
          <a:p>
            <a:r>
              <a:t>   * You'll work through the complete 5-layer analytical stack</a:t>
            </a:r>
          </a:p>
          <a:p>
            <a:r>
              <a:t>   * The deliverable is a board-ready executive recommendation</a:t>
            </a:r>
          </a:p>
          <a:p/>
          <a:p>
            <a:r>
              <a:t>TRANSITION:</a:t>
            </a:r>
          </a:p>
          <a:p>
            <a:r>
              <a:t>   Here's your lab brief.</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 min</a:t>
            </a:r>
          </a:p>
          <a:p/>
          <a:p>
            <a:r>
              <a:t>OPEN WITH:</a:t>
            </a:r>
          </a:p>
          <a:p>
            <a:r>
              <a:t>   You have 60 minutes and everything you've learned today. The scenario is realistic — this is the kind of analysis executives request every week. Your deliverable is a 1-page executive recommendation.</a:t>
            </a:r>
          </a:p>
          <a:p/>
          <a:p>
            <a:r>
              <a:t>KEY POINTS:</a:t>
            </a:r>
          </a:p>
          <a:p>
            <a:r>
              <a:t>   * Follow the time allocations — they're designed to keep you moving and prevent getting stuck on any one step</a:t>
            </a:r>
          </a:p>
          <a:p>
            <a:r>
              <a:t>   * Use the prompt templates we covered — don't reinvent the wheel</a:t>
            </a:r>
          </a:p>
          <a:p>
            <a:r>
              <a:t>   * Upload the provided competitor data files to Claude before starting the analysis</a:t>
            </a:r>
          </a:p>
          <a:p>
            <a:r>
              <a:t>   * Extended Thinking should be enabled for the synthesis and sensitivity steps</a:t>
            </a:r>
          </a:p>
          <a:p>
            <a:r>
              <a:t>   * The peer review step is critical — trade deliverables with a partner and use the Validation Triangle to check each other's work</a:t>
            </a:r>
          </a:p>
          <a:p/>
          <a:p>
            <a:r>
              <a:t>REAL-WORLD EXAMPLE:</a:t>
            </a:r>
          </a:p>
          <a:p>
            <a:r>
              <a:t>   In previous sessions, the peer review step has been the most valuable. Participants find issues in each other's work that they missed in their own — exactly like real executive review processes.</a:t>
            </a:r>
          </a:p>
          <a:p/>
          <a:p>
            <a:r>
              <a:t>DEMO:</a:t>
            </a:r>
          </a:p>
          <a:p>
            <a:r>
              <a:t>   INSTRUCTOR: Distribute the pre-prepared data pack (3 competitor profiles, 1 market report, 1 internal capabilities doc). Circulate during the lab. Common sticking points: (1) CRISP framing takes too long — prompt them to keep it to 5 min, (2) Students try to boil the ocean in competitive analysis — remind them to use the comparison matrix template, (3) Executive summary reverts to bottom-up — remind them of Pyramid Principle. At 50 min mark, announce peer review swap.</a:t>
            </a:r>
          </a:p>
          <a:p/>
          <a:p>
            <a:r>
              <a:t>TRANSITION:</a:t>
            </a:r>
          </a:p>
          <a:p>
            <a:r>
              <a:t>   Great work everyone. Let's wrap up with key takeaways.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Three cards, three principles. If you remember nothing else from today, remember these.</a:t>
            </a:r>
          </a:p>
          <a:p/>
          <a:p>
            <a:r>
              <a:t>KEY POINTS:</a:t>
            </a:r>
          </a:p>
          <a:p>
            <a:r>
              <a:t>   * Frame Before You Prompt: The quality of your output is determined before you type your first prompt. Spend 5 minutes on CRISP and save 50 minutes of revision.</a:t>
            </a:r>
          </a:p>
          <a:p>
            <a:r>
              <a:t>   * Structure Creates Quality: Frameworks aren't constraints — they're amplifiers. They force Claude to produce organized, comparable, actionable output instead of walls of text.</a:t>
            </a:r>
          </a:p>
          <a:p>
            <a:r>
              <a:t>   * Govern for Credibility: AI-assisted research is only as credible as your governance around it. Disclosure, audit trails, and human review transform AI research from a risk into a competitive advantage.</a:t>
            </a:r>
          </a:p>
          <a:p/>
          <a:p>
            <a:r>
              <a:t>REAL-WORLD EXAMPLE:</a:t>
            </a:r>
          </a:p>
          <a:p>
            <a:r>
              <a:t>   Teams that adopt all three principles report a 3-5x improvement in research productivity with higher quality output. The investment in structure pays for itself in the first week.</a:t>
            </a:r>
          </a:p>
          <a:p/>
          <a:p>
            <a:r>
              <a:t>TRANSITION:</a:t>
            </a:r>
          </a:p>
          <a:p>
            <a:r>
              <a:t>   Let's talk about what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Everything we covered today is yours to take home and use immediately. These eight templates and frameworks are in your course materials.</a:t>
            </a:r>
          </a:p>
          <a:p/>
          <a:p>
            <a:r>
              <a:t>KEY POINTS:</a:t>
            </a:r>
          </a:p>
          <a:p>
            <a:r>
              <a:t>   * Save these as Claude Project instructions so they're always available</a:t>
            </a:r>
          </a:p>
          <a:p>
            <a:r>
              <a:t>   * Start with CRISP and the Executive Summary template — they have the highest immediate impact</a:t>
            </a:r>
          </a:p>
          <a:p>
            <a:r>
              <a:t>   * Customize the templates for your domain — add industry-specific criteria, preferred frameworks, and organizational standards</a:t>
            </a:r>
          </a:p>
          <a:p>
            <a:r>
              <a:t>   * Share them with your team — structured prompts are more valuable when everyone uses the same approach</a:t>
            </a:r>
          </a:p>
          <a:p/>
          <a:p>
            <a:r>
              <a:t>REAL-WORLD EXAMPLE:</a:t>
            </a:r>
          </a:p>
          <a:p>
            <a:r>
              <a:t>   A strategy team created a shared Claude Project with all eight templates as custom instructions. Any team member can now produce a structured analysis that follows the same methodology. Consistency went from their biggest challenge to their biggest strength.</a:t>
            </a:r>
          </a:p>
          <a:p/>
          <a:p>
            <a:r>
              <a:t>TRANSITION:</a:t>
            </a:r>
          </a:p>
          <a:p>
            <a:r>
              <a:t>   Let's wrap up the entire training series.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Four sessions. Four dimensions of AI-powered professional work. Let's see how far you've come.</a:t>
            </a:r>
          </a:p>
          <a:p/>
          <a:p>
            <a:r>
              <a:t>KEY POINTS:</a:t>
            </a:r>
          </a:p>
          <a:p>
            <a:r>
              <a:t>   * Session 1 gave you the foundation — how to communicate with Claude effectively and get consistent, high-quality outputs</a:t>
            </a:r>
          </a:p>
          <a:p>
            <a:r>
              <a:t>   * Session 2 gave you the developer toolkit — Claude as an autonomous coding partner</a:t>
            </a:r>
          </a:p>
          <a:p>
            <a:r>
              <a:t>   * Session 3 gave you the communication toolkit — Claude as a writing and editing partner</a:t>
            </a:r>
          </a:p>
          <a:p>
            <a:r>
              <a:t>   * Session 4 gave you the analytical toolkit — Claude as a research and strategy partner</a:t>
            </a:r>
          </a:p>
          <a:p>
            <a:r>
              <a:t>   * Together, these four sessions cover the full spectrum of knowledge work where Claude adds value</a:t>
            </a:r>
          </a:p>
          <a:p/>
          <a:p>
            <a:r>
              <a:t>ASK THE CLASS:</a:t>
            </a:r>
          </a:p>
          <a:p>
            <a:r>
              <a:t>   "Which session's techniques will you use first on Monday morning? What's the highest-impact application for your role?"</a:t>
            </a:r>
          </a:p>
          <a:p>
            <a:r>
              <a:t>   [PAUSE for 30-60 seconds]</a:t>
            </a:r>
          </a:p>
          <a:p/>
          <a:p>
            <a:r>
              <a:t>REAL-WORLD EXAMPLE:</a:t>
            </a:r>
          </a:p>
          <a:p>
            <a:r>
              <a:t>   Previous cohorts report the biggest impact comes from combining sessions. A product manager used Session 1 prompting techniques with Session 4 analysis frameworks to produce a competitive landscape report that the CEO called 'the best strategic analysis this company has produced.'</a:t>
            </a:r>
          </a:p>
          <a:p/>
          <a:p>
            <a:r>
              <a:t>TRANSITION:</a:t>
            </a:r>
          </a:p>
          <a:p>
            <a:r>
              <a:t>   One final thought before we go.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I'll leave you with this. The question is no longer whether AI will transform knowledge work — it already has. The question is whether you'll be the person who shapes that transformation or the person who reacts to it. After four sessions, you have every tool you need to be the former.</a:t>
            </a:r>
          </a:p>
          <a:p/>
          <a:p>
            <a:r>
              <a:t>KEY POINTS:</a:t>
            </a:r>
          </a:p>
          <a:p>
            <a:r>
              <a:t>   * The frameworks and templates from today are a starting point, not an endpoint. Customize them, extend them, make them yours.</a:t>
            </a:r>
          </a:p>
          <a:p>
            <a:r>
              <a:t>   * The most valuable skill you've learned isn't any single prompt or framework — it's the ability to think structurally about how to use AI for complex intellectual work.</a:t>
            </a:r>
          </a:p>
          <a:p>
            <a:r>
              <a:t>   * Start Monday morning with one task. Use CRISP to frame it, apply a framework, validate the output, and structure it with the Pyramid Principle. That's your proof of concept.</a:t>
            </a:r>
          </a:p>
          <a:p>
            <a:r>
              <a:t>   * Thank you for investing four sessions in this. The organizations that will thrive are the ones whose people learn to work with AI effectively. You're now those people.</a:t>
            </a:r>
          </a:p>
          <a:p/>
          <a:p>
            <a:r>
              <a:t>REAL-WORLD EXAMPLE:</a:t>
            </a:r>
          </a:p>
          <a:p>
            <a:r>
              <a:t>   Six months after our last training series, 89% of participants reported using Claude daily in their work. The average time savings was 8 hours per week. But the real metric: 94% said the quality of their analytical work improved, not just the speed.</a:t>
            </a:r>
          </a:p>
          <a:p/>
          <a:p>
            <a:r>
              <a:t>TRANSITION:</a:t>
            </a:r>
          </a:p>
          <a:p>
            <a:r>
              <a:t>   Thank you all. Go make something extraordinary.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Thank you for your engagement and energy across all four sessions.</a:t>
            </a:r>
          </a:p>
          <a:p/>
          <a:p>
            <a:r>
              <a:t>KEY POINTS:</a:t>
            </a:r>
          </a:p>
          <a:p>
            <a:r>
              <a:t>   * Course materials and templates will be shared via your team's collaboration platform</a:t>
            </a:r>
          </a:p>
          <a:p>
            <a:r>
              <a:t>   * Reach out with questions as you apply these techniques</a:t>
            </a:r>
          </a:p>
          <a:p>
            <a:r>
              <a:t>   * Consider the certification path for advanced AI skills</a:t>
            </a:r>
          </a:p>
          <a:p/>
          <a:p>
            <a:r>
              <a:t>TRANSITION:</a:t>
            </a:r>
          </a:p>
          <a:p>
            <a:r>
              <a:t>   End of training series.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10B981"/>
                </a:solidFill>
              </a:defRPr>
            </a:pPr>
            <a:r>
              <a:t>Claude for Research &amp; Analytics</a:t>
            </a:r>
          </a:p>
        </p:txBody>
      </p:sp>
      <p:sp>
        <p:nvSpPr>
          <p:cNvPr id="3" name="Rectangle 2"/>
          <p:cNvSpPr/>
          <p:nvPr/>
        </p:nvSpPr>
        <p:spPr>
          <a:xfrm>
            <a:off x="0" y="4754880"/>
            <a:ext cx="1219169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Session 4 Agenda</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0"/>
            <a:ext cx="5135727" cy="640080"/>
          </a:xfrm>
          <a:prstGeom prst="rect">
            <a:avLst/>
          </a:prstGeom>
          <a:noFill/>
        </p:spPr>
        <p:txBody>
          <a:bodyPr wrap="none" anchor="ctr">
            <a:spAutoFit/>
          </a:bodyPr>
          <a:lstStyle/>
          <a:p>
            <a:pPr>
              <a:defRPr sz="1800" b="1">
                <a:solidFill>
                  <a:srgbClr val="0B0F1A"/>
                </a:solidFill>
              </a:defRPr>
            </a:pPr>
            <a:r>
              <a:t>Part 1  (9:00 AM - 10:30 AM)</a:t>
            </a:r>
          </a:p>
        </p:txBody>
      </p:sp>
      <p:sp>
        <p:nvSpPr>
          <p:cNvPr id="6" name="Rectangle 5"/>
          <p:cNvSpPr/>
          <p:nvPr/>
        </p:nvSpPr>
        <p:spPr>
          <a:xfrm>
            <a:off x="457200"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468880"/>
            <a:ext cx="4221327" cy="502920"/>
          </a:xfrm>
          <a:prstGeom prst="rect">
            <a:avLst/>
          </a:prstGeom>
          <a:noFill/>
        </p:spPr>
        <p:txBody>
          <a:bodyPr wrap="square" anchor="ctr">
            <a:spAutoFit/>
          </a:bodyPr>
          <a:lstStyle/>
          <a:p>
            <a:pPr>
              <a:defRPr sz="1600">
                <a:solidFill>
                  <a:srgbClr val="FFFFFF"/>
                </a:solidFill>
              </a:defRPr>
            </a:pPr>
            <a:r>
              <a:t>Research Framing &amp; Guardrails</a:t>
            </a:r>
          </a:p>
        </p:txBody>
      </p:sp>
      <p:sp>
        <p:nvSpPr>
          <p:cNvPr id="8" name="Rounded Rectangle 7"/>
          <p:cNvSpPr/>
          <p:nvPr/>
        </p:nvSpPr>
        <p:spPr>
          <a:xfrm>
            <a:off x="4815687"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15687" y="2560320"/>
            <a:ext cx="914400" cy="320040"/>
          </a:xfrm>
          <a:prstGeom prst="rect">
            <a:avLst/>
          </a:prstGeom>
          <a:noFill/>
        </p:spPr>
        <p:txBody>
          <a:bodyPr wrap="none" anchor="ctr">
            <a:spAutoFit/>
          </a:bodyPr>
          <a:lstStyle/>
          <a:p>
            <a:pPr algn="ctr">
              <a:defRPr sz="1300" b="1">
                <a:solidFill>
                  <a:srgbClr val="00D4AA"/>
                </a:solidFill>
              </a:defRPr>
            </a:pPr>
            <a:r>
              <a:t>40 min</a:t>
            </a:r>
          </a:p>
        </p:txBody>
      </p:sp>
      <p:sp>
        <p:nvSpPr>
          <p:cNvPr id="10" name="TextBox 9"/>
          <p:cNvSpPr txBox="1"/>
          <p:nvPr/>
        </p:nvSpPr>
        <p:spPr>
          <a:xfrm>
            <a:off x="594360" y="2971800"/>
            <a:ext cx="4221327" cy="502920"/>
          </a:xfrm>
          <a:prstGeom prst="rect">
            <a:avLst/>
          </a:prstGeom>
          <a:noFill/>
        </p:spPr>
        <p:txBody>
          <a:bodyPr wrap="square" anchor="ctr">
            <a:spAutoFit/>
          </a:bodyPr>
          <a:lstStyle/>
          <a:p>
            <a:pPr>
              <a:defRPr sz="1600">
                <a:solidFill>
                  <a:srgbClr val="FFFFFF"/>
                </a:solidFill>
              </a:defRPr>
            </a:pPr>
            <a:r>
              <a:t>Hallucination Prevention &amp; Validation</a:t>
            </a:r>
          </a:p>
        </p:txBody>
      </p:sp>
      <p:sp>
        <p:nvSpPr>
          <p:cNvPr id="11" name="Rounded Rectangle 10"/>
          <p:cNvSpPr/>
          <p:nvPr/>
        </p:nvSpPr>
        <p:spPr>
          <a:xfrm>
            <a:off x="4815687"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5687" y="3063240"/>
            <a:ext cx="914400" cy="320040"/>
          </a:xfrm>
          <a:prstGeom prst="rect">
            <a:avLst/>
          </a:prstGeom>
          <a:noFill/>
        </p:spPr>
        <p:txBody>
          <a:bodyPr wrap="none" anchor="ctr">
            <a:spAutoFit/>
          </a:bodyPr>
          <a:lstStyle/>
          <a:p>
            <a:pPr algn="ctr">
              <a:defRPr sz="1300" b="1">
                <a:solidFill>
                  <a:srgbClr val="00D4AA"/>
                </a:solidFill>
              </a:defRPr>
            </a:pPr>
            <a:r>
              <a:t>25 min</a:t>
            </a:r>
          </a:p>
        </p:txBody>
      </p:sp>
      <p:sp>
        <p:nvSpPr>
          <p:cNvPr id="13" name="Rectangle 12"/>
          <p:cNvSpPr/>
          <p:nvPr/>
        </p:nvSpPr>
        <p:spPr>
          <a:xfrm>
            <a:off x="457200"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474720"/>
            <a:ext cx="4221327" cy="502920"/>
          </a:xfrm>
          <a:prstGeom prst="rect">
            <a:avLst/>
          </a:prstGeom>
          <a:noFill/>
        </p:spPr>
        <p:txBody>
          <a:bodyPr wrap="square" anchor="ctr">
            <a:spAutoFit/>
          </a:bodyPr>
          <a:lstStyle/>
          <a:p>
            <a:pPr>
              <a:defRPr sz="1600">
                <a:solidFill>
                  <a:srgbClr val="FFFFFF"/>
                </a:solidFill>
              </a:defRPr>
            </a:pPr>
            <a:r>
              <a:t>Demo: Claude Research Mode</a:t>
            </a:r>
          </a:p>
        </p:txBody>
      </p:sp>
      <p:sp>
        <p:nvSpPr>
          <p:cNvPr id="15" name="Rounded Rectangle 14"/>
          <p:cNvSpPr/>
          <p:nvPr/>
        </p:nvSpPr>
        <p:spPr>
          <a:xfrm>
            <a:off x="4815687" y="356616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5687" y="3566160"/>
            <a:ext cx="914400" cy="320040"/>
          </a:xfrm>
          <a:prstGeom prst="rect">
            <a:avLst/>
          </a:prstGeom>
          <a:noFill/>
        </p:spPr>
        <p:txBody>
          <a:bodyPr wrap="none" anchor="ctr">
            <a:spAutoFit/>
          </a:bodyPr>
          <a:lstStyle/>
          <a:p>
            <a:pPr algn="ctr">
              <a:defRPr sz="1300" b="1">
                <a:solidFill>
                  <a:srgbClr val="00D4AA"/>
                </a:solidFill>
              </a:defRPr>
            </a:pPr>
            <a:r>
              <a:t>25 min</a:t>
            </a:r>
          </a:p>
        </p:txBody>
      </p:sp>
      <p:sp>
        <p:nvSpPr>
          <p:cNvPr id="17" name="Rounded Rectangle 16"/>
          <p:cNvSpPr/>
          <p:nvPr/>
        </p:nvSpPr>
        <p:spPr>
          <a:xfrm>
            <a:off x="6324447"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1607" y="1645920"/>
            <a:ext cx="5135727" cy="640080"/>
          </a:xfrm>
          <a:prstGeom prst="rect">
            <a:avLst/>
          </a:prstGeom>
          <a:noFill/>
        </p:spPr>
        <p:txBody>
          <a:bodyPr wrap="none" anchor="ctr">
            <a:spAutoFit/>
          </a:bodyPr>
          <a:lstStyle/>
          <a:p>
            <a:pPr>
              <a:defRPr sz="1800" b="1">
                <a:solidFill>
                  <a:srgbClr val="0B0F1A"/>
                </a:solidFill>
              </a:defRPr>
            </a:pPr>
            <a:r>
              <a:t>Break  (10:30 AM - 10:45 AM)</a:t>
            </a:r>
          </a:p>
        </p:txBody>
      </p:sp>
      <p:sp>
        <p:nvSpPr>
          <p:cNvPr id="19" name="Rectangle 18"/>
          <p:cNvSpPr/>
          <p:nvPr/>
        </p:nvSpPr>
        <p:spPr>
          <a:xfrm>
            <a:off x="6324447"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1607" y="246888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21" name="Rounded Rectangle 20"/>
          <p:cNvSpPr/>
          <p:nvPr/>
        </p:nvSpPr>
        <p:spPr>
          <a:xfrm>
            <a:off x="10682935" y="256032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82935" y="2560320"/>
            <a:ext cx="914400" cy="320040"/>
          </a:xfrm>
          <a:prstGeom prst="rect">
            <a:avLst/>
          </a:prstGeom>
          <a:noFill/>
        </p:spPr>
        <p:txBody>
          <a:bodyPr wrap="none" anchor="ctr">
            <a:spAutoFit/>
          </a:bodyPr>
          <a:lstStyle/>
          <a:p>
            <a:pPr algn="ctr">
              <a:defRPr sz="1300" b="1">
                <a:solidFill>
                  <a:srgbClr val="00D4AA"/>
                </a:solidFill>
              </a:defRPr>
            </a:pPr>
            <a:r>
              <a:t>15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Learning Objectives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Research Framing &amp; Guardrails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The quality of your research is determined before you type a single prompt.</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Framing is everything.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The CRISP Research Framework</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CRISP Framework → Prompt Template</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MARKDOWN</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 Research Brief</a:t>
            </a:r>
            <a:br/>
            <a:br/>
            <a:r>
              <a:t>**Context:** [Audience] needs [deliverable] to inform [decision]</a:t>
            </a:r>
            <a:br/>
            <a:r>
              <a:t>**Scope:** [Geography] | [Time period] | [Industry/segment]</a:t>
            </a:r>
            <a:br/>
            <a:br/>
            <a:r>
              <a:t>**Primary Question:**</a:t>
            </a:r>
            <a:br/>
            <a:r>
              <a:t>[One sentence — the question this research answers]</a:t>
            </a:r>
            <a:b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The 5 Levels of Analysis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Traditional Analytics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AI-Augmented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Claude doesn't lie. It confabulates.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Understanding the difference is the key to prevention.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Anti-Hallucination Strategies</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The Validation Triangle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Claude Research Mode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Market &amp; Comparative Analysis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Structured vs. Unstructured Analysis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Unstructured (Don't Do This)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Structured (Do This)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Strategic Analysis Frameworks</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SWOT Analysis Prompt Template</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MARKDOWN</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Conduct a SWOT analysis of [Company/Product] based on the</a:t>
            </a:r>
            <a:br/>
            <a:r>
              <a:t>attached documents.</a:t>
            </a:r>
            <a:br/>
            <a:br/>
            <a:r>
              <a:t>For each quadrant:</a:t>
            </a:r>
            <a:br/>
            <a:r>
              <a:t>- Provide 4-6 specific, evidence-based points</a:t>
            </a:r>
            <a:br/>
            <a:r>
              <a:t>- Cite the source document and page for each point</a:t>
            </a:r>
            <a:br/>
            <a:r>
              <a:t>- Rate impact as High/Medium/Low</a:t>
            </a:r>
            <a:br/>
            <a:r>
              <a:t>- Include one actionable recommendation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Weighted Comparison Matrix Prompt</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MARKDOWN</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Create a weighted comparison matrix for these options:</a:t>
            </a:r>
            <a:br/>
            <a:r>
              <a:t>[Option A] | [Option B] | [Option C]</a:t>
            </a:r>
            <a:br/>
            <a:br/>
            <a:r>
              <a:t>Evaluation criteria and weights:</a:t>
            </a:r>
            <a:br/>
            <a:r>
              <a:t>1. [Criterion 1] — Weight: 30%</a:t>
            </a:r>
            <a:br/>
            <a:r>
              <a:t>2. [Criterion 2] — Weight: 25%</a:t>
            </a:r>
            <a:br/>
            <a:r>
              <a:t>3. [Criterion 3] — Weight: 20%</a:t>
            </a:r>
            <a:br/>
            <a:r>
              <a:t>4. [Criterion 4] — Weight: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Competitive Analysis Framework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Analytical Synthesis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The Pyramid Principle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Bottom-Up (How Most People Write)</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Top-Down (Pyramid Principle)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Executive Summary Prompt Template</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MARKDOWN</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Based on the analysis above, create an executive summary</a:t>
            </a:r>
            <a:br/>
            <a:r>
              <a:t>using the Pyramid Principle:</a:t>
            </a:r>
            <a:br/>
            <a:br/>
            <a:r>
              <a:t>1. RECOMMENDATION (1-2 sentences)</a:t>
            </a:r>
            <a:br/>
            <a:r>
              <a:t>   - What should we do and why?</a:t>
            </a:r>
            <a:br/>
            <a:br/>
            <a:r>
              <a:t>2. KEY ARGUMENTS (3-4 bullets)</a:t>
            </a:r>
            <a:br/>
            <a:r>
              <a:t>   - Each argument supports the recommendation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Synthesis Workflow: From Data to Decisions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914400" y="1371600"/>
            <a:ext cx="914400" cy="914400"/>
          </a:xfrm>
          <a:prstGeom prst="rect">
            <a:avLst/>
          </a:prstGeom>
          <a:noFill/>
        </p:spPr>
        <p:txBody>
          <a:bodyPr wrap="none">
            <a:spAutoFit/>
          </a:bodyPr>
          <a:lstStyle/>
          <a:p>
            <a:pPr>
              <a:defRPr sz="12000">
                <a:solidFill>
                  <a:srgbClr val="00D4AA"/>
                </a:solidFill>
              </a:defRPr>
            </a:pPr>
            <a:r>
              <a:t>"</a:t>
            </a:r>
          </a:p>
        </p:txBody>
      </p:sp>
      <p:sp>
        <p:nvSpPr>
          <p:cNvPr id="3" name="TextBox 2"/>
          <p:cNvSpPr txBox="1"/>
          <p:nvPr/>
        </p:nvSpPr>
        <p:spPr>
          <a:xfrm>
            <a:off x="1371600" y="2286000"/>
            <a:ext cx="9448495" cy="2286000"/>
          </a:xfrm>
          <a:prstGeom prst="rect">
            <a:avLst/>
          </a:prstGeom>
          <a:noFill/>
        </p:spPr>
        <p:txBody>
          <a:bodyPr wrap="square">
            <a:spAutoFit/>
          </a:bodyPr>
          <a:lstStyle/>
          <a:p>
            <a:pPr algn="ctr">
              <a:defRPr sz="3600" i="1">
                <a:solidFill>
                  <a:srgbClr val="FFFFFF"/>
                </a:solidFill>
              </a:defRPr>
            </a:pPr>
            <a:r>
              <a:t>Reflection: Your Research Workflow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Scenario &amp; Risk Modeling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Scenario Planning with Claude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The Scenario Framework</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Claude's Role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Scenario Planning Prompt</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MARKDOWN</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Build a 2×2 scenario matrix for [decision/situation].</a:t>
            </a:r>
            <a:br/>
            <a:br/>
            <a:r>
              <a:t>Axis 1 (horizontal): [Key Uncertainty A] — range from [low] to [high]</a:t>
            </a:r>
            <a:br/>
            <a:r>
              <a:t>Axis 2 (vertical): [Key Uncertainty B] — range from [low] to [high]</a:t>
            </a:r>
            <a:br/>
            <a:br/>
            <a:r>
              <a:t>For each of the 4 scenarios:</a:t>
            </a:r>
            <a:br/>
            <a:r>
              <a:t>1. Give it a memorable 2-3 word name</a:t>
            </a:r>
            <a:br/>
            <a:r>
              <a:t>2. Describe the world in this scenario (3-4 sentences)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Risk Matrix with Claude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Sensitivity Analysis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What It Answers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How Claude Helps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Decision Framework: Bringing It All Together</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Full Analysis Workflow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AI Research Governance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Applied Research Lab</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457200" y="365760"/>
            <a:ext cx="1097280" cy="45720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29768"/>
            <a:ext cx="1097280" cy="365760"/>
          </a:xfrm>
          <a:prstGeom prst="rect">
            <a:avLst/>
          </a:prstGeom>
          <a:noFill/>
        </p:spPr>
        <p:txBody>
          <a:bodyPr wrap="none">
            <a:spAutoFit/>
          </a:bodyPr>
          <a:lstStyle/>
          <a:p>
            <a:pPr algn="ctr">
              <a:defRPr sz="1800" b="1">
                <a:solidFill>
                  <a:srgbClr val="0B0F1A"/>
                </a:solidFill>
              </a:defRPr>
            </a:pPr>
            <a:r>
              <a:t>LAB</a:t>
            </a:r>
          </a:p>
        </p:txBody>
      </p:sp>
      <p:sp>
        <p:nvSpPr>
          <p:cNvPr id="4" name="Rounded Rectangle 3"/>
          <p:cNvSpPr/>
          <p:nvPr/>
        </p:nvSpPr>
        <p:spPr>
          <a:xfrm>
            <a:off x="10362895" y="365760"/>
            <a:ext cx="1371600" cy="457200"/>
          </a:xfrm>
          <a:prstGeom prst="roundRect">
            <a:avLst/>
          </a:prstGeom>
          <a:solidFill>
            <a:srgbClr val="141A26"/>
          </a:solidFill>
          <a:ln>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62895" y="429768"/>
            <a:ext cx="1371600" cy="365760"/>
          </a:xfrm>
          <a:prstGeom prst="rect">
            <a:avLst/>
          </a:prstGeom>
          <a:noFill/>
        </p:spPr>
        <p:txBody>
          <a:bodyPr wrap="none">
            <a:spAutoFit/>
          </a:bodyPr>
          <a:lstStyle/>
          <a:p>
            <a:pPr algn="ctr">
              <a:defRPr sz="1400" b="1">
                <a:solidFill>
                  <a:srgbClr val="00D4AA"/>
                </a:solidFill>
              </a:defRPr>
            </a:pPr>
            <a:r>
              <a:t>5 minutes</a:t>
            </a:r>
          </a:p>
        </p:txBody>
      </p:sp>
      <p:sp>
        <p:nvSpPr>
          <p:cNvPr id="6" name="TextBox 5"/>
          <p:cNvSpPr txBox="1"/>
          <p:nvPr/>
        </p:nvSpPr>
        <p:spPr>
          <a:xfrm>
            <a:off x="457200" y="1005840"/>
            <a:ext cx="11277295" cy="731520"/>
          </a:xfrm>
          <a:prstGeom prst="rect">
            <a:avLst/>
          </a:prstGeom>
          <a:noFill/>
        </p:spPr>
        <p:txBody>
          <a:bodyPr wrap="none">
            <a:spAutoFit/>
          </a:bodyPr>
          <a:lstStyle/>
          <a:p>
            <a:pPr>
              <a:defRPr sz="3200" b="1">
                <a:solidFill>
                  <a:srgbClr val="FFFFFF"/>
                </a:solidFill>
              </a:defRPr>
            </a:pPr>
            <a:r>
              <a:t>Lab: Strategic Market Analysis</a:t>
            </a:r>
          </a:p>
        </p:txBody>
      </p:sp>
      <p:sp>
        <p:nvSpPr>
          <p:cNvPr id="7" name="Rectangle 6"/>
          <p:cNvSpPr/>
          <p:nvPr/>
        </p:nvSpPr>
        <p:spPr>
          <a:xfrm>
            <a:off x="457200" y="1737360"/>
            <a:ext cx="27432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Key Takeaways</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Your Research Toolkit (Take-Home)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Session 4 Complete — Series Recap</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AI doesn't replace analysts. It replaces analysts who don't use AI.</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You are now equipped. Go build something extraordinary.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00D4AA"/>
                </a:solidFill>
              </a:defRPr>
            </a:pPr>
            <a:r>
              <a:t>© 2026 AIA Copilot</a:t>
            </a:r>
          </a:p>
        </p:txBody>
      </p:sp>
      <p:sp>
        <p:nvSpPr>
          <p:cNvPr id="3" name="Rectangle 2"/>
          <p:cNvSpPr/>
          <p:nvPr/>
        </p:nvSpPr>
        <p:spPr>
          <a:xfrm>
            <a:off x="0" y="4754880"/>
            <a:ext cx="12191695"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