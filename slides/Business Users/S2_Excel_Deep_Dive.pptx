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Welcome to Session 2. Today we're going deep on something every one of you uses daily — spreadsheets. By the end of this session, you'll never look at a complex Excel workbook the same way again. Claude's Excel add-in turns your sidebar into an Opus-level analyst that reads your data, explains your formulas, and generates executive-ready insights on demand.</a:t>
            </a:r>
          </a:p>
          <a:p/>
          <a:p>
            <a:r>
              <a:t>KEY POINTS:</a:t>
            </a:r>
          </a:p>
          <a:p>
            <a:r>
              <a:t>   * This is a hands-on, 4-hour deep dive into Claude's native Excel integration</a:t>
            </a:r>
          </a:p>
          <a:p>
            <a:r>
              <a:t>   * We'll cover everything from installation to advanced scenario modeling</a:t>
            </a:r>
          </a:p>
          <a:p>
            <a:r>
              <a:t>   * You'll work with real datasets — not toy examples</a:t>
            </a:r>
          </a:p>
          <a:p>
            <a:r>
              <a:t>   * By the end, you'll have a repeatable workflow for turning raw spreadsheet data into business insights</a:t>
            </a:r>
          </a:p>
          <a:p/>
          <a:p>
            <a:r>
              <a:t>REAL-WORLD EXAMPLE:</a:t>
            </a:r>
          </a:p>
          <a:p>
            <a:r>
              <a:t>   A finance director at a mid-cap firm used Claude in Excel to audit a 47-tab budget workbook that had been passed between three analysts. In 20 minutes, Claude identified two circular references, three hardcoded assumptions buried in nested IFs, and a VLOOKUP that silently returned the wrong column. That audit would have taken a full day manually.</a:t>
            </a:r>
          </a:p>
          <a:p/>
          <a:p>
            <a:r>
              <a:t>TRANSITION:</a:t>
            </a:r>
          </a:p>
          <a:p>
            <a:r>
              <a:t>   Let's look at what we're covering in our four hours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Here's how we'll spend our four hours. Notice the progression: we build foundations first, then layer on analysis skills, then modeling, and finally you apply everything in a hands-on lab.</a:t>
            </a:r>
          </a:p>
          <a:p/>
          <a:p>
            <a:r>
              <a:t>KEY POINTS:</a:t>
            </a:r>
          </a:p>
          <a:p>
            <a:r>
              <a:t>   * First half is about getting set up and learning to read spreadsheets with Claude — formula explanation, audit trails, and transparency</a:t>
            </a:r>
          </a:p>
          <a:p>
            <a:r>
              <a:t>   * Second half shifts to writing and transforming — data cleaning, scenario modeling, and generating business-ready outputs</a:t>
            </a:r>
          </a:p>
          <a:p>
            <a:r>
              <a:t>   * The Applied Dataset Lab is 45 minutes of real work on a realistic financial dataset</a:t>
            </a:r>
          </a:p>
          <a:p>
            <a:r>
              <a:t>   * We end with a structured wrap-up so you leave with a clear playbook for Monday morning</a:t>
            </a:r>
          </a:p>
          <a:p/>
          <a:p>
            <a:r>
              <a:t>REAL-WORLD EXAMPLE:</a:t>
            </a:r>
          </a:p>
          <a:p>
            <a:r>
              <a:t>   Teams that follow this exact progression report the fastest adoption. Learn to read with Claude first, then write with Claude. Trying to generate models before you trust Claude's analysis leads to second-guessing.</a:t>
            </a:r>
          </a:p>
          <a:p/>
          <a:p>
            <a:r>
              <a:t>TRANSITION:</a:t>
            </a:r>
          </a:p>
          <a:p>
            <a:r>
              <a:t>   Let's start with what you'll be able to do after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Eight objectives. Each one maps to a skill you'll practice today. This isn't a lecture — it's a workshop. You'll leave with muscle memory, not just notes.</a:t>
            </a:r>
          </a:p>
          <a:p/>
          <a:p>
            <a:r>
              <a:t>KEY POINTS:</a:t>
            </a:r>
          </a:p>
          <a:p>
            <a:r>
              <a:t>   * Objectives one and two are foundational — installation and basic sidebar usage</a:t>
            </a:r>
          </a:p>
          <a:p>
            <a:r>
              <a:t>   * Objectives three through five are the analytical core — this is where most of the value lives for day-to-day work</a:t>
            </a:r>
          </a:p>
          <a:p>
            <a:r>
              <a:t>   * Objectives six and seven are about output — turning analysis into communication</a:t>
            </a:r>
          </a:p>
          <a:p>
            <a:r>
              <a:t>   * Objective eight ties everything together in the lab</a:t>
            </a:r>
          </a:p>
          <a:p/>
          <a:p>
            <a:r>
              <a:t>ASK THE CLASS:</a:t>
            </a:r>
          </a:p>
          <a:p>
            <a:r>
              <a:t>   "Quick pulse check: how many of you have inherited a spreadsheet from someone else and spent hours just figuring out what it does? That pain point is exactly what we're solving today."</a:t>
            </a:r>
          </a:p>
          <a:p>
            <a:r>
              <a:t>   [PAUSE for 30-60 seconds]</a:t>
            </a:r>
          </a:p>
          <a:p/>
          <a:p>
            <a:r>
              <a:t>REAL-WORLD EXAMPLE:</a:t>
            </a:r>
          </a:p>
          <a:p>
            <a:r>
              <a:t>   An operations manager inherited a 12-tab workforce planning model. She used Claude to map every formula dependency, identify the five key input cells that drove 80% of the outputs, and document the model in 30 minutes. Her predecessor had never documented it in three years.</a:t>
            </a:r>
          </a:p>
          <a:p/>
          <a:p>
            <a:r>
              <a:t>TRANSITION:</a:t>
            </a:r>
          </a:p>
          <a:p>
            <a:r>
              <a:t>   Let's see the high-level capabilities we're unlocking.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Everything today fits into three buckets. Analyze, Transform, Generate. Think of these as a pipeline — data flows from left to right, from raw spreadsheet to polished insight.</a:t>
            </a:r>
          </a:p>
          <a:p/>
          <a:p>
            <a:r>
              <a:t>KEY POINTS:</a:t>
            </a:r>
          </a:p>
          <a:p>
            <a:r>
              <a:t>   * Analyze &amp; Explain is the most immediately useful — you can start doing this the moment you install the add-in</a:t>
            </a:r>
          </a:p>
          <a:p>
            <a:r>
              <a:t>   * Transform &amp; Model is where you start co-creating with Claude — it's not just reading, it's writing and restructuring</a:t>
            </a:r>
          </a:p>
          <a:p>
            <a:r>
              <a:t>   * Generate Insights is the output layer — this is what your stakeholders see and act on</a:t>
            </a:r>
          </a:p>
          <a:p>
            <a:r>
              <a:t>   * Most people get stuck in the first bucket. Today we're going to push you through all three.</a:t>
            </a:r>
          </a:p>
          <a:p/>
          <a:p>
            <a:r>
              <a:t>TRANSITION:</a:t>
            </a:r>
          </a:p>
          <a:p>
            <a:r>
              <a:t>   Let's begin with the foundation — getting Claude into your Excel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Before we analyze a single cell, we need Claude running inside your Excel. This section covers installation, enterprise configuration, and the core interaction model.</a:t>
            </a:r>
          </a:p>
          <a:p/>
          <a:p>
            <a:r>
              <a:t>KEY POINTS:</a:t>
            </a:r>
          </a:p>
          <a:p>
            <a:r>
              <a:t>   * Installation takes about 5 minutes, but configuration matters</a:t>
            </a:r>
          </a:p>
          <a:p>
            <a:r>
              <a:t>   * Enterprise environments have specific considerations around data governance</a:t>
            </a:r>
          </a:p>
          <a:p>
            <a:r>
              <a:t>   * We'll establish the mental model for how the sidebar interaction works</a:t>
            </a:r>
          </a:p>
          <a:p/>
          <a:p>
            <a:r>
              <a:t>TRANSITION:</a:t>
            </a:r>
          </a:p>
          <a:p>
            <a:r>
              <a:t>   Let's start with what the Claude for Excel add-in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Let's set expectations clearly. Claude for Excel is a sidebar assistant powered by the same Opus-level model you met in Session 1. It sits inside your Excel window, reads whatever you're working on, and responds to natural language questions and instructions.</a:t>
            </a:r>
          </a:p>
          <a:p/>
          <a:p>
            <a:r>
              <a:t>KEY POINTS:</a:t>
            </a:r>
          </a:p>
          <a:p>
            <a:r>
              <a:t>   * The add-in works on both desktop Excel and Excel for the web — same experience, same model</a:t>
            </a:r>
          </a:p>
          <a:p>
            <a:r>
              <a:t>   * It reads your active worksheet context — the cells you select, the formulas behind them, the sheet structure</a:t>
            </a:r>
          </a:p>
          <a:p>
            <a:r>
              <a:t>   * It's conversational, meaning you can ask follow-ups without re-explaining context</a:t>
            </a:r>
          </a:p>
          <a:p>
            <a:r>
              <a:t>   * Enterprise deployment supports SSO, audit logging, and data residency controls — IT teams can manage this centrally</a:t>
            </a:r>
          </a:p>
          <a:p>
            <a:r>
              <a:t>   * Critical distinction: Claude doesn't act autonomously in your spreadsheet. It suggests, you apply. This is human-in-the-loop by design.</a:t>
            </a:r>
          </a:p>
          <a:p/>
          <a:p>
            <a:r>
              <a:t>ASK THE CLASS:</a:t>
            </a:r>
          </a:p>
          <a:p>
            <a:r>
              <a:t>   "How many of you have used the basic Excel AI features like Copilot for Microsoft 365? How did that experience compare to what you expected?"</a:t>
            </a:r>
          </a:p>
          <a:p>
            <a:r>
              <a:t>   [PAUSE for 30-60 seconds]</a:t>
            </a:r>
          </a:p>
          <a:p/>
          <a:p>
            <a:r>
              <a:t>REAL-WORLD EXAMPLE:</a:t>
            </a:r>
          </a:p>
          <a:p>
            <a:r>
              <a:t>   A compliance team evaluated three AI Excel tools. They chose Claude's add-in specifically because of the audit log and the fact that it shows reasoning. When regulators asked 'how did you arrive at this figure?', they could show Claude's step-by-step analysis alongside the spreadsheet.</a:t>
            </a:r>
          </a:p>
          <a:p/>
          <a:p>
            <a:r>
              <a:t>TRANSITION:</a:t>
            </a:r>
          </a:p>
          <a:p>
            <a:r>
              <a:t>   Let's get it installed.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Installation is straightforward, but I want to walk through it precisely because enterprise environments sometimes have add-in restrictions. If your IT team hasn't pre-approved this, you may need to request access through your standard software request process.</a:t>
            </a:r>
          </a:p>
          <a:p/>
          <a:p>
            <a:r>
              <a:t>KEY POINTS:</a:t>
            </a:r>
          </a:p>
          <a:p>
            <a:r>
              <a:t>   * The add-in is available in the Microsoft AppSource marketplace — search for Claude for Excel by Anthropic</a:t>
            </a:r>
          </a:p>
          <a:p>
            <a:r>
              <a:t>   * Desktop installation is self-service in most environments — takes about two minutes</a:t>
            </a:r>
          </a:p>
          <a:p>
            <a:r>
              <a:t>   * Enterprise deployment through the Admin Center lets IT push it to specific user groups automatically</a:t>
            </a:r>
          </a:p>
          <a:p>
            <a:r>
              <a:t>   * The verification step is important: select a cell with a formula, open the sidebar, and type 'Explain this formula'. If you get a clear explanation, you're good to go.</a:t>
            </a:r>
          </a:p>
          <a:p>
            <a:r>
              <a:t>   * Data governance note: Claude processes your sheet data to answer questions, but it's not stored or used for training. Your admin controls data residency.</a:t>
            </a:r>
          </a:p>
          <a:p/>
          <a:p>
            <a:r>
              <a:t>DEMO:</a:t>
            </a:r>
          </a:p>
          <a:p>
            <a:r>
              <a:t>   Show the installation flow on screen. Have a pre-installed instance ready as backup in case of network issues.</a:t>
            </a:r>
          </a:p>
          <a:p/>
          <a:p>
            <a:r>
              <a:t>TRANSITION:</a:t>
            </a:r>
          </a:p>
          <a:p>
            <a:r>
              <a:t>   Now that we're installed, let's understand how the sidebar interaction model works.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This is the mental model that makes everything click. Claude's sidebar works like a brilliant colleague sitting next to you, looking at your screen. When you select cells, you're pointing. When you type, you're asking. The more specific you point, the better the answer.</a:t>
            </a:r>
          </a:p>
          <a:p/>
          <a:p>
            <a:r>
              <a:t>KEY POINTS:</a:t>
            </a:r>
          </a:p>
          <a:p>
            <a:r>
              <a:t>   * The most common mistake is asking Claude about your spreadsheet without selecting anything — it's like asking someone to help with your document without showing it to them</a:t>
            </a:r>
          </a:p>
          <a:p>
            <a:r>
              <a:t>   * Select-then-ask is the core pattern. Get in the habit of highlighting before you type.</a:t>
            </a:r>
          </a:p>
          <a:p>
            <a:r>
              <a:t>   * Claude reads formulas, not just values. This means it can explain nested IF statements, trace VLOOKUP chains, and identify circular references.</a:t>
            </a:r>
          </a:p>
          <a:p>
            <a:r>
              <a:t>   * Cross-sheet awareness means you can ask 'where does this value come from?' and Claude will trace it back through INDIRECT references and named ranges across tabs.</a:t>
            </a:r>
          </a:p>
          <a:p/>
          <a:p>
            <a:r>
              <a:t>REAL-WORLD EXAMPLE:</a:t>
            </a:r>
          </a:p>
          <a:p>
            <a:r>
              <a:t>   An analyst selected a cell showing $4.2M in projected revenue. Instead of just seeing the number, Claude revealed it was driven by a SUMPRODUCT formula referencing three other sheets, with one assumption hardcoded from 2023. That single insight changed the entire forecast discussion.</a:t>
            </a:r>
          </a:p>
          <a:p/>
          <a:p>
            <a:r>
              <a:t>TRANSITION:</a:t>
            </a:r>
          </a:p>
          <a:p>
            <a:r>
              <a:t>   Let's talk about how to prompt Claude effectively within Excel — it's different from chatting in a browser.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If you've used Claude in the browser for spreadsheet work, you've probably been copying and pasting data, writing long prompts, and then copying results back. The sidebar changes everything. Your spreadsheet IS the context.</a:t>
            </a:r>
          </a:p>
          <a:p/>
          <a:p>
            <a:r>
              <a:t>KEY POINTS:</a:t>
            </a:r>
          </a:p>
          <a:p>
            <a:r>
              <a:t>   * The biggest shift: stop pasting data. Claude already sees it. Just select and ask.</a:t>
            </a:r>
          </a:p>
          <a:p>
            <a:r>
              <a:t>   * Short prompts outperform long ones in the sidebar because the data context is already rich</a:t>
            </a:r>
          </a:p>
          <a:p>
            <a:r>
              <a:t>   * Follow-up questions are where the sidebar shines — 'now break that down by quarter' or 'what if we increase the growth rate to 8%?'</a:t>
            </a:r>
          </a:p>
          <a:p>
            <a:r>
              <a:t>   * Output is structured for spreadsheet use — Claude formats responses as tables, formulas, or step-by-step instructions you can apply directly</a:t>
            </a:r>
          </a:p>
          <a:p/>
          <a:p>
            <a:r>
              <a:t>ASK THE CLASS:</a:t>
            </a:r>
          </a:p>
          <a:p>
            <a:r>
              <a:t>   "Who here has copied data from Excel into ChatGPT or Claude, asked a question, and then copied the answer back? How long did that round-trip take?"</a:t>
            </a:r>
          </a:p>
          <a:p>
            <a:r>
              <a:t>   [PAUSE for 30-60 seconds]</a:t>
            </a:r>
          </a:p>
          <a:p/>
          <a:p>
            <a:r>
              <a:t>TRANSITION:</a:t>
            </a:r>
          </a:p>
          <a:p>
            <a:r>
              <a:t>   Now let's look at the types of questions that get the best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These eight prompts are your starter kit. Memorize them and you'll cover 80% of your daily Excel work with Claude. I've organized them into two categories: analysis prompts that help you understand existing data, and action prompts that help you create new outputs.</a:t>
            </a:r>
          </a:p>
          <a:p/>
          <a:p>
            <a:r>
              <a:t>KEY POINTS:</a:t>
            </a:r>
          </a:p>
          <a:p>
            <a:r>
              <a:t>   * Analysis prompts are safe to use immediately — they don't change your spreadsheet, they just explain it</a:t>
            </a:r>
          </a:p>
          <a:p>
            <a:r>
              <a:t>   * Action prompts generate suggestions you review before applying — Claude never edits your cells directly</a:t>
            </a:r>
          </a:p>
          <a:p>
            <a:r>
              <a:t>   * 'Explain this formula' is the single most-used prompt across all our enterprise clients</a:t>
            </a:r>
          </a:p>
          <a:p>
            <a:r>
              <a:t>   * 'What are the key drivers' is the prompt that surprises people most — Claude traces formula dependencies and identifies which inputs have the largest impact on the output</a:t>
            </a:r>
          </a:p>
          <a:p/>
          <a:p>
            <a:r>
              <a:t>REAL-WORLD EXAMPLE:</a:t>
            </a:r>
          </a:p>
          <a:p>
            <a:r>
              <a:t>   A CFO's team started with just 'explain this formula' on their consolidation workbook. Within a week, they'd documented every formula in a 30-tab workbook — something they'd been meaning to do for two years.</a:t>
            </a:r>
          </a:p>
          <a:p/>
          <a:p>
            <a:r>
              <a:t>TRANSITION:</a:t>
            </a:r>
          </a:p>
          <a:p>
            <a:r>
              <a:t>   With the foundations set, let's dive into the first core skill: spreadsheet analysis and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This section is the heart of the session. If you learn one thing today, let it be this: Claude turns opaque spreadsheets into transparent, auditable documents. We're going to cover formula interpretation, risk identification, and dependency mapping.</a:t>
            </a:r>
          </a:p>
          <a:p/>
          <a:p>
            <a:r>
              <a:t>KEY POINTS:</a:t>
            </a:r>
          </a:p>
          <a:p>
            <a:r>
              <a:t>   * We'll work through progressively complex formula examples</a:t>
            </a:r>
          </a:p>
          <a:p>
            <a:r>
              <a:t>   * You'll learn to ask Claude to trace dependencies across sheets</a:t>
            </a:r>
          </a:p>
          <a:p>
            <a:r>
              <a:t>   * We'll cover the audit workflow that catches hidden risks</a:t>
            </a:r>
          </a:p>
          <a:p/>
          <a:p>
            <a:r>
              <a:t>TRANSITION:</a:t>
            </a:r>
          </a:p>
          <a:p>
            <a:r>
              <a:t>   Let's start with the most common scenario: you open a spreadsheet and have no idea what a formula does.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Raise your hand if you've ever seen a formula like this: =IFERROR(INDEX(Sheet2!$C$2:$C$500,MATCH(1,(Sheet2!$A$2:$A$500=A2)*(Sheet2!$B$2:$B$500=B2),0)),"Not Found"). That's a real formula from a client workbook. It does something important, but good luck figuring out what without spending fifteen minutes tracing references.</a:t>
            </a:r>
          </a:p>
          <a:p/>
          <a:p>
            <a:r>
              <a:t>KEY POINTS:</a:t>
            </a:r>
          </a:p>
          <a:p>
            <a:r>
              <a:t>   * Claude breaks this into steps: 'This formula looks up a value from Sheet2 column C where both column A matches your current row's A value AND column B matches your B value. If no match is found, it returns Not Found.'</a:t>
            </a:r>
          </a:p>
          <a:p>
            <a:r>
              <a:t>   * The step-by-step breakdown is the key: Claude doesn't just translate — it explains the logic structure</a:t>
            </a:r>
          </a:p>
          <a:p>
            <a:r>
              <a:t>   * Edge case identification is where Claude adds the most value — it will flag that IFERROR might be hiding real errors, not just missing matches</a:t>
            </a:r>
          </a:p>
          <a:p>
            <a:r>
              <a:t>   * This works for any formula complexity — from simple SUMIFs to 500-character nested monsters</a:t>
            </a:r>
          </a:p>
          <a:p/>
          <a:p>
            <a:r>
              <a:t>REAL-WORLD EXAMPLE:</a:t>
            </a:r>
          </a:p>
          <a:p>
            <a:r>
              <a:t>   A risk analyst had a workbook with a 400-character formula that had been copy-pasted across 12 sheets for three years. Claude explained it in 30 seconds and identified that one reference was pointing to a column that had been restructured — it was silently returning wrong values in 3 of the 12 sheets.</a:t>
            </a:r>
          </a:p>
          <a:p/>
          <a:p>
            <a:r>
              <a:t>TRANSITION:</a:t>
            </a:r>
          </a:p>
          <a:p>
            <a:r>
              <a:t>   Let's move from individual formulas to the bigger picture — understanding the structure of an entire workbook.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Individual formula explanation is useful, but the real power is workbook-level auditing. Ask Claude 'audit this sheet for risks' and watch what happens.</a:t>
            </a:r>
          </a:p>
          <a:p/>
          <a:p>
            <a:r>
              <a:t>KEY POINTS:</a:t>
            </a:r>
          </a:p>
          <a:p>
            <a:r>
              <a:t>   * Claude can trace a value backward through its entire dependency chain — from the final output cell to every input that feeds it</a:t>
            </a:r>
          </a:p>
          <a:p>
            <a:r>
              <a:t>   * Input vs. calculated cell identification is huge for financial models — it tells you exactly which cells are assumptions you can change</a:t>
            </a:r>
          </a:p>
          <a:p>
            <a:r>
              <a:t>   * The most dangerous finding is usually inconsistent formulas — row 5 has a SUMIF but row 6 has a hardcoded number where a SUMIF should be</a:t>
            </a:r>
          </a:p>
          <a:p>
            <a:r>
              <a:t>   * Broken references are silent killers — Excel shows #REF! sometimes, but external links to closed workbooks can return stale data without any error</a:t>
            </a:r>
          </a:p>
          <a:p/>
          <a:p>
            <a:r>
              <a:t>ASK THE CLASS:</a:t>
            </a:r>
          </a:p>
          <a:p>
            <a:r>
              <a:t>   "Has anyone here discovered a spreadsheet error that had been silently producing wrong numbers for months? What was the business impact?"</a:t>
            </a:r>
          </a:p>
          <a:p>
            <a:r>
              <a:t>   [PAUSE for 30-60 seconds]</a:t>
            </a:r>
          </a:p>
          <a:p/>
          <a:p>
            <a:r>
              <a:t>REAL-WORLD EXAMPLE:</a:t>
            </a:r>
          </a:p>
          <a:p>
            <a:r>
              <a:t>   An FP&amp;A team ran Claude's audit on their quarterly consolidation model. It found that one subsidiary's revenue was being double-counted because a SUM range had been extended when a row was inserted, overlapping with another SUM above it. The error had inflated reported revenue by $800K for two quarters.</a:t>
            </a:r>
          </a:p>
          <a:p/>
          <a:p>
            <a:r>
              <a:t>TRANSITION:</a:t>
            </a:r>
          </a:p>
          <a:p>
            <a:r>
              <a:t>   Let's look at how to identify and surface the key drivers in a model.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Here's a scenario every analyst knows: your VP looks at a forecast and says 'why is Q3 down?' You have 30 seconds to explain. Without driver analysis, you're digging through formulas. With Claude, you select the Q3 cell, ask 'what are the key drivers?', and get an instant answer.</a:t>
            </a:r>
          </a:p>
          <a:p/>
          <a:p>
            <a:r>
              <a:t>KEY POINTS:</a:t>
            </a:r>
          </a:p>
          <a:p>
            <a:r>
              <a:t>   * Driver analysis is backward-tracing: start at the output and work back to the inputs</a:t>
            </a:r>
          </a:p>
          <a:p>
            <a:r>
              <a:t>   * Claude identifies which inputs have the highest sensitivity — a 1% change in input A might move the output 5%, while a 1% change in input B moves it 0.2%</a:t>
            </a:r>
          </a:p>
          <a:p>
            <a:r>
              <a:t>   * This lets you focus your review and validation efforts on what matters most</a:t>
            </a:r>
          </a:p>
          <a:p>
            <a:r>
              <a:t>   * It also makes scenario planning more effective — you know which levers to pull</a:t>
            </a:r>
          </a:p>
          <a:p/>
          <a:p>
            <a:r>
              <a:t>REAL-WORLD EXAMPLE:</a:t>
            </a:r>
          </a:p>
          <a:p>
            <a:r>
              <a:t>   A supply chain analyst was asked why logistics costs increased 12% quarter over quarter. She selected the total logistics cost cell, asked Claude for key drivers, and within 60 seconds identified that fuel cost assumptions (up 18%) and a newly added distribution center were responsible for 95% of the increase. The conversation with her manager took 3 minutes instead of 30.</a:t>
            </a:r>
          </a:p>
          <a:p/>
          <a:p>
            <a:r>
              <a:t>TRANSITION:</a:t>
            </a:r>
          </a:p>
          <a:p>
            <a:r>
              <a:t>   Now let's see this in action with a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12 min</a:t>
            </a:r>
          </a:p>
          <a:p/>
          <a:p>
            <a:r>
              <a:t>OPEN WITH:</a:t>
            </a:r>
          </a:p>
          <a:p>
            <a:r>
              <a:t>   Let me show you exactly what we've been talking about. I'm going to open a real budget workbook — four tabs, over 200 formulas — and let Claude dissect it live.</a:t>
            </a:r>
          </a:p>
          <a:p/>
          <a:p>
            <a:r>
              <a:t>KEY POINTS:</a:t>
            </a:r>
          </a:p>
          <a:p>
            <a:r>
              <a:t>   * Watch how Claude handles the nested formula — it breaks it into labeled steps without being asked</a:t>
            </a:r>
          </a:p>
          <a:p>
            <a:r>
              <a:t>   * The dependency trace is the wow moment — Claude maps the chain across sheets visually in the sidebar</a:t>
            </a:r>
          </a:p>
          <a:p>
            <a:r>
              <a:t>   * The audit will likely find 3-5 issues — this workbook has intentional errors planted for demonstration</a:t>
            </a:r>
          </a:p>
          <a:p>
            <a:r>
              <a:t>   * Driver analysis on net income will identify the 3 key assumptions that control the bottom line</a:t>
            </a:r>
          </a:p>
          <a:p/>
          <a:p>
            <a:r>
              <a:t>REAL-WORLD EXAMPLE:</a:t>
            </a:r>
          </a:p>
          <a:p>
            <a:r>
              <a:t>   Every demo finding we'll see maps to real errors found in client workbooks. The double-counted revenue, the stale external link, the hardcoded assumption — these are the top three findings across our audit engagements.</a:t>
            </a:r>
          </a:p>
          <a:p/>
          <a:p>
            <a:r>
              <a:t>DEMO:</a:t>
            </a:r>
          </a:p>
          <a:p>
            <a:r>
              <a:t>   Open 'Helios_Budget_Sample.xlsx'. Start with the nested SUMPRODUCT on the Summary tab, cell D15. Walk through each prompt slowly, letting the class read Claude's responses. Pause after the audit to discuss findings. Time check: keep to 12 minutes max.</a:t>
            </a:r>
          </a:p>
          <a:p/>
          <a:p>
            <a:r>
              <a:t>TRANSITION:</a:t>
            </a:r>
          </a:p>
          <a:p>
            <a:r>
              <a:t>   Let's take a 15-minute break. When we come back, we'll shift from analysis to action — transforming and modeling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a:t>
            </a:r>
          </a:p>
          <a:p/>
          <a:p>
            <a:r>
              <a:t>OPEN WITH:</a:t>
            </a:r>
          </a:p>
          <a:p>
            <a:r>
              <a:t>   Good work so far. Take 15 minutes. When we come back, we shift gears from reading spreadsheets to writing and transforming them.</a:t>
            </a:r>
          </a:p>
          <a:p/>
          <a:p>
            <a:r>
              <a:t>KEY POINTS:</a:t>
            </a:r>
          </a:p>
          <a:p>
            <a:r>
              <a:t>   * If you haven't installed the add-in yet, use this time to do so</a:t>
            </a:r>
          </a:p>
          <a:p>
            <a:r>
              <a:t>   * Feel free to try the prompts we covered on your own spreadsheets</a:t>
            </a:r>
          </a:p>
          <a:p>
            <a:r>
              <a:t>   * We'll pick up with data transformation and cleaning</a:t>
            </a:r>
          </a:p>
          <a:p/>
          <a:p>
            <a:r>
              <a:t>TRANSITION:</a:t>
            </a:r>
          </a:p>
          <a:p>
            <a:r>
              <a:t>   Welcome back. Time to get our hands dirty with data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In the first half, we learned to read spreadsheets with Claude — to decode, audit, and understand. Now we learn to write — to clean, transform, and model. This is where you go from understanding data to shaping it.</a:t>
            </a:r>
          </a:p>
          <a:p/>
          <a:p>
            <a:r>
              <a:t>KEY POINTS:</a:t>
            </a:r>
          </a:p>
          <a:p>
            <a:r>
              <a:t>   * The shift from passive analysis to active transformation is the key skill gap in most organizations</a:t>
            </a:r>
          </a:p>
          <a:p>
            <a:r>
              <a:t>   * Claude doesn't just tell you what your data says — it helps you restructure it to say what it needs to say</a:t>
            </a:r>
          </a:p>
          <a:p/>
          <a:p>
            <a:r>
              <a:t>TRANSITION:</a:t>
            </a:r>
          </a:p>
          <a:p>
            <a:r>
              <a:t>   Let's start with the most common need: cleaning messy data.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This section covers three things: cleaning messy data, structuring it for analysis, and building scenario models. These are the skills that turn you from a spreadsheet reader into a spreadsheet power user with Claude.</a:t>
            </a:r>
          </a:p>
          <a:p/>
          <a:p>
            <a:r>
              <a:t>KEY POINTS:</a:t>
            </a:r>
          </a:p>
          <a:p>
            <a:r>
              <a:t>   * Data cleaning is where most analysts spend 60-80% of their time — Claude compresses that dramatically</a:t>
            </a:r>
          </a:p>
          <a:p>
            <a:r>
              <a:t>   * Structuring for analysis means getting data into the right shape for pivots, charts, and models</a:t>
            </a:r>
          </a:p>
          <a:p>
            <a:r>
              <a:t>   * Scenario modeling is the crown jewel — iterating on assumptions in real time</a:t>
            </a:r>
          </a:p>
          <a:p/>
          <a:p>
            <a:r>
              <a:t>TRANSITION:</a:t>
            </a:r>
          </a:p>
          <a:p>
            <a:r>
              <a:t>   Let's start with the unglamorous but critical skill of data cleaning.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Data cleaning is the tax analysts pay before they can do real work. Studies show 60-80% of analysis time goes to cleaning and prep. Claude doesn't eliminate this step, but it compresses it from hours to minutes.</a:t>
            </a:r>
          </a:p>
          <a:p/>
          <a:p>
            <a:r>
              <a:t>KEY POINTS:</a:t>
            </a:r>
          </a:p>
          <a:p>
            <a:r>
              <a:t>   * The key is specificity — 'clean this data' is too vague. 'Standardize dates in column C to YYYY-MM-DD format' gives Claude exactly what it needs.</a:t>
            </a:r>
          </a:p>
          <a:p>
            <a:r>
              <a:t>   * Claude's approach is formula-based — it generates formulas you can apply, not magic. You see exactly what's happening.</a:t>
            </a:r>
          </a:p>
          <a:p>
            <a:r>
              <a:t>   * The iterative pattern is powerful: clean, review, adjust, clean again. Claude remembers your conversation context.</a:t>
            </a:r>
          </a:p>
          <a:p>
            <a:r>
              <a:t>   * For large datasets, Claude will suggest an approach first and let you validate on a sample before applying to the full range.</a:t>
            </a:r>
          </a:p>
          <a:p/>
          <a:p>
            <a:r>
              <a:t>REAL-WORLD EXAMPLE:</a:t>
            </a:r>
          </a:p>
          <a:p>
            <a:r>
              <a:t>   A marketing team received a CRM export with 15,000 rows where addresses were in 7 different formats. Claude generated a sequence of 4 formulas that standardized 98% of them in one pass. The remaining 2% were flagged for manual review. Total time: 20 minutes instead of 2 days.</a:t>
            </a:r>
          </a:p>
          <a:p/>
          <a:p>
            <a:r>
              <a:t>TRANSITION:</a:t>
            </a:r>
          </a:p>
          <a:p>
            <a:r>
              <a:t>   Once data is clean, we need to structure it for analysis. Let's talk about restructuring.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This is one of the most common transformation needs: converting wide data to long format. If you've ever tried to create a pivot table from a report where months are columns instead of rows, you know the pain. Claude handles this beautifully.</a:t>
            </a:r>
          </a:p>
          <a:p/>
          <a:p>
            <a:r>
              <a:t>KEY POINTS:</a:t>
            </a:r>
          </a:p>
          <a:p>
            <a:r>
              <a:t>   * Wide-to-long is the most common restructuring need — Claude can generate the approach in seconds</a:t>
            </a:r>
          </a:p>
          <a:p>
            <a:r>
              <a:t>   * Claude will suggest UNPIVOT if you're in Power Query, or generate helper columns with INDEX/MATCH if you're in pure Excel</a:t>
            </a:r>
          </a:p>
          <a:p>
            <a:r>
              <a:t>   * The reverse — long to wide — is equally common for creating summary reports. Ask Claude to 'pivot this data with products as rows and months as columns'</a:t>
            </a:r>
          </a:p>
          <a:p>
            <a:r>
              <a:t>   * Claude adapts to your tool preferences: 'do this with formulas only, no Power Query' or 'use Power Query for this'</a:t>
            </a:r>
          </a:p>
          <a:p/>
          <a:p>
            <a:r>
              <a:t>REAL-WORLD EXAMPLE:</a:t>
            </a:r>
          </a:p>
          <a:p>
            <a:r>
              <a:t>   A financial analyst received quarterly data from 8 regional offices, each in a different column layout. Claude generated a standardized template and the transformation formulas to reshape all 8 into a consistent format. The quarterly consolidation went from a 2-day process to 2 hours.</a:t>
            </a:r>
          </a:p>
          <a:p/>
          <a:p>
            <a:r>
              <a:t>TRANSITION:</a:t>
            </a:r>
          </a:p>
          <a:p>
            <a:r>
              <a:t>   Now let's talk about the fun part — building and iterating on models.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 min</a:t>
            </a:r>
          </a:p>
          <a:p/>
          <a:p>
            <a:r>
              <a:t>OPEN WITH:</a:t>
            </a:r>
          </a:p>
          <a:p>
            <a:r>
              <a:t>   Scenario modeling is where Claude becomes your co-pilot, not just your assistant. You're not asking Claude to build the model for you — you're thinking out loud with Claude about what the model should capture, and Claude handles the formula engineering.</a:t>
            </a:r>
          </a:p>
          <a:p/>
          <a:p>
            <a:r>
              <a:t>KEY POINTS:</a:t>
            </a:r>
          </a:p>
          <a:p>
            <a:r>
              <a:t>   * The biggest value is in step 1 — most people skip assumption identification and jump straight to building. Claude forces discipline by asking 'which inputs do you want to vary?'</a:t>
            </a:r>
          </a:p>
          <a:p>
            <a:r>
              <a:t>   * Claude generates clean, reference-based structures. No hardcoded numbers in formulas — everything points to clearly labeled assumption cells.</a:t>
            </a:r>
          </a:p>
          <a:p>
            <a:r>
              <a:t>   * The iteration speed is the game-changer. 'Add a recession scenario' takes 30 seconds, not 30 minutes of formula copy-paste.</a:t>
            </a:r>
          </a:p>
          <a:p>
            <a:r>
              <a:t>   * Model validation is underrated — Claude can check whether your model handles edge cases like negative values, zero denominators, or missing data.</a:t>
            </a:r>
          </a:p>
          <a:p/>
          <a:p>
            <a:r>
              <a:t>ASK THE CLASS:</a:t>
            </a:r>
          </a:p>
          <a:p>
            <a:r>
              <a:t>   "How long does it typically take your team to add a new scenario to an existing financial model? What if that took 60 seconds?"</a:t>
            </a:r>
          </a:p>
          <a:p>
            <a:r>
              <a:t>   [PAUSE for 30-60 seconds]</a:t>
            </a:r>
          </a:p>
          <a:p/>
          <a:p>
            <a:r>
              <a:t>REAL-WORLD EXAMPLE:</a:t>
            </a:r>
          </a:p>
          <a:p>
            <a:r>
              <a:t>   A strategy team needed to model five acquisition scenarios with different revenue synergies, cost takeouts, and integration timelines. They described the scenarios in plain English to Claude, and it generated a complete scenario comparison framework with sensitivity toggles in under 10 minutes. The CFO called it 'the clearest scenario analysis I've seen from this team.'</a:t>
            </a:r>
          </a:p>
          <a:p/>
          <a:p>
            <a:r>
              <a:t>TRANSITION:</a:t>
            </a:r>
          </a:p>
          <a:p>
            <a:r>
              <a:t>   Let's see this scenario modeling workflow in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10 min</a:t>
            </a:r>
          </a:p>
          <a:p/>
          <a:p>
            <a:r>
              <a:t>OPEN WITH:</a:t>
            </a:r>
          </a:p>
          <a:p>
            <a:r>
              <a:t>   Let's take raw, messy data and turn it into a scenario model in under 10 minutes. This is the workflow you'll repeat constantly.</a:t>
            </a:r>
          </a:p>
          <a:p/>
          <a:p>
            <a:r>
              <a:t>KEY POINTS:</a:t>
            </a:r>
          </a:p>
          <a:p>
            <a:r>
              <a:t>   * Start with the cleaning step — show the messy data first so the class sees the before state</a:t>
            </a:r>
          </a:p>
          <a:p>
            <a:r>
              <a:t>   * Walk through Claude's cleaning suggestions — don't just apply them, read them aloud</a:t>
            </a:r>
          </a:p>
          <a:p>
            <a:r>
              <a:t>   * The restructuring step should be fast — Claude will suggest the pivot-ready format</a:t>
            </a:r>
          </a:p>
          <a:p>
            <a:r>
              <a:t>   * The scenario model is the payoff — show how quickly Claude generates the formula structure</a:t>
            </a:r>
          </a:p>
          <a:p>
            <a:r>
              <a:t>   * The variance column demonstrates iterative prompting — each ask builds on the last</a:t>
            </a:r>
          </a:p>
          <a:p/>
          <a:p>
            <a:r>
              <a:t>DEMO:</a:t>
            </a:r>
          </a:p>
          <a:p>
            <a:r>
              <a:t>   Open 'Helios_Sales_Raw.xlsx'. Show the messy data first (30 seconds). Then walk through each prompt. For the scenario model, show how the formulas reference assumption cells. End by changing one assumption and showing all scenarios update instantly. Keep to 10 minutes.</a:t>
            </a:r>
          </a:p>
          <a:p/>
          <a:p>
            <a:r>
              <a:t>TRANSITION:</a:t>
            </a:r>
          </a:p>
          <a:p>
            <a:r>
              <a:t>   Great. Now we have clean data and a model. The final piece is turning those outputs into something a stakeholder can act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Analysis without communication is just homework. This section is about the last mile — turning spreadsheet outputs into structured narratives that drive decisions.</a:t>
            </a:r>
          </a:p>
          <a:p/>
          <a:p>
            <a:r>
              <a:t>KEY POINTS:</a:t>
            </a:r>
          </a:p>
          <a:p>
            <a:r>
              <a:t>   * We'll cover executive summaries, pivot table narratives, and recommendation frameworks</a:t>
            </a:r>
          </a:p>
          <a:p>
            <a:r>
              <a:t>   * The goal is to go from 'here's a spreadsheet' to 'here's what it means and what we should do'</a:t>
            </a:r>
          </a:p>
          <a:p>
            <a:r>
              <a:t>   * This is where Claude delivers the highest ROI for most business users</a:t>
            </a:r>
          </a:p>
          <a:p/>
          <a:p>
            <a:r>
              <a:t>TRANSITION:</a:t>
            </a:r>
          </a:p>
          <a:p>
            <a:r>
              <a:t>   Let's start with the most requested output: the executive summary.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You've built the model, you've run the scenarios, the numbers look right. Now your VP asks: 'send me a summary.' This is where most analysts open Word and spend an hour writing. With Claude, it takes 60 seconds.</a:t>
            </a:r>
          </a:p>
          <a:p/>
          <a:p>
            <a:r>
              <a:t>KEY POINTS:</a:t>
            </a:r>
          </a:p>
          <a:p>
            <a:r>
              <a:t>   * The prompt 'generate an executive summary' is intentionally simple — Claude's output structure is trained on business communication best practices</a:t>
            </a:r>
          </a:p>
          <a:p>
            <a:r>
              <a:t>   * Specifying the audience matters: 'for the CFO' produces different output than 'for the ops team'. Claude adjusts technical depth and focus areas.</a:t>
            </a:r>
          </a:p>
          <a:p>
            <a:r>
              <a:t>   * The iterative refinement is key — first draft is 80% right, two follow-ups get it to 95%</a:t>
            </a:r>
          </a:p>
          <a:p>
            <a:r>
              <a:t>   * Always add context Claude can't see: 'note that we're presenting this at the board meeting next week' changes the tone and emphasis</a:t>
            </a:r>
          </a:p>
          <a:p/>
          <a:p>
            <a:r>
              <a:t>REAL-WORLD EXAMPLE:</a:t>
            </a:r>
          </a:p>
          <a:p>
            <a:r>
              <a:t>   A portfolio manager used Claude to generate weekly performance summaries from a 50-position spreadsheet. What used to take 90 minutes every Friday now takes 10 minutes. The summaries were consistently rated 'more insightful' by the investment committee because Claude identified cross-position correlations the manager had been too busy to spot.</a:t>
            </a:r>
          </a:p>
          <a:p/>
          <a:p>
            <a:r>
              <a:t>TRANSITION:</a:t>
            </a:r>
          </a:p>
          <a:p>
            <a:r>
              <a:t>   Let's look at a specific high-value use case: narrating pivot table insights.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Pivot tables are powerful but they don't speak. They show you numbers in a grid and expect you to extract the story. Claude reads the pivot and writes the story for you.</a:t>
            </a:r>
          </a:p>
          <a:p/>
          <a:p>
            <a:r>
              <a:t>KEY POINTS:</a:t>
            </a:r>
          </a:p>
          <a:p>
            <a:r>
              <a:t>   * Select your pivot table → 'Narrate the key insights from this pivot table'</a:t>
            </a:r>
          </a:p>
          <a:p>
            <a:r>
              <a:t>   * Claude identifies the most significant patterns: largest changes, outliers, emerging trends</a:t>
            </a:r>
          </a:p>
          <a:p>
            <a:r>
              <a:t>   * The anomaly detection is particularly valuable — Claude flags things that break expected patterns</a:t>
            </a:r>
          </a:p>
          <a:p>
            <a:r>
              <a:t>   * You can guide the narrative: 'focus on year-over-year comparisons' or 'emphasize regional differences'</a:t>
            </a:r>
          </a:p>
          <a:p/>
          <a:p>
            <a:r>
              <a:t>ASK THE CLASS:</a:t>
            </a:r>
          </a:p>
          <a:p>
            <a:r>
              <a:t>   "When you present pivot table data to leadership, how much time do you spend writing the narrative versus building the table?"</a:t>
            </a:r>
          </a:p>
          <a:p>
            <a:r>
              <a:t>   [PAUSE for 30-60 seconds]</a:t>
            </a:r>
          </a:p>
          <a:p/>
          <a:p>
            <a:r>
              <a:t>REAL-WORLD EXAMPLE:</a:t>
            </a:r>
          </a:p>
          <a:p>
            <a:r>
              <a:t>   A sales operations lead had a monthly pivot table of 200 reps across 8 territories. Claude generated a narrative that identified a cohort of 15 reps who had all declined in the same quarter — they were all in territories affected by a pricing change. That pattern wasn't visible in the pivot alone.</a:t>
            </a:r>
          </a:p>
          <a:p/>
          <a:p>
            <a:r>
              <a:t>TRANSITION:</a:t>
            </a:r>
          </a:p>
          <a:p>
            <a:r>
              <a:t>   Let's talk about turning insights into recommendations — the final step in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 min</a:t>
            </a:r>
          </a:p>
          <a:p/>
          <a:p>
            <a:r>
              <a:t>OPEN WITH:</a:t>
            </a:r>
          </a:p>
          <a:p>
            <a:r>
              <a:t>   Data tells you what happened. Insights tell you why it matters. Recommendations tell you what to do about it. Most spreadsheet work stops at data. The best analysts get to recommendations. Claude helps you make that leap consistently.</a:t>
            </a:r>
          </a:p>
          <a:p/>
          <a:p>
            <a:r>
              <a:t>KEY POINTS:</a:t>
            </a:r>
          </a:p>
          <a:p>
            <a:r>
              <a:t>   * The finding-implication-recommendation framework is simple but powerful — it forces logical flow from data to action</a:t>
            </a:r>
          </a:p>
          <a:p>
            <a:r>
              <a:t>   * Claude is surprisingly good at implications — it connects data patterns to business contexts</a:t>
            </a:r>
          </a:p>
          <a:p>
            <a:r>
              <a:t>   * Always ask for confidence levels — Claude will honestly flag when data is thin or when multiple interpretations exist</a:t>
            </a:r>
          </a:p>
          <a:p>
            <a:r>
              <a:t>   * The data gap flagging is crucial for credibility — acknowledging limits makes your recommendations stronger, not weaker</a:t>
            </a:r>
          </a:p>
          <a:p/>
          <a:p>
            <a:r>
              <a:t>REAL-WORLD EXAMPLE:</a:t>
            </a:r>
          </a:p>
          <a:p>
            <a:r>
              <a:t>   A procurement analyst used Claude to analyze 3 years of vendor spend data. Claude generated 5 recommendations, including renegotiating with the top 3 vendors (28% of spend) and consolidating purchases in 2 categories. The recommendations came with specific dollar estimates and confidence intervals. The VP approved all 5 and the team saved $1.2M in the first year.</a:t>
            </a:r>
          </a:p>
          <a:p/>
          <a:p>
            <a:r>
              <a:t>TRANSITION:</a:t>
            </a:r>
          </a:p>
          <a:p>
            <a:r>
              <a:t>   Let's look at some best practices before we move to the lab.</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Before we move on, three non-negotiable rules for using AI-generated insights in a business context. These are the difference between looking smart and looking reckless.</a:t>
            </a:r>
          </a:p>
          <a:p/>
          <a:p>
            <a:r>
              <a:t>KEY POINTS:</a:t>
            </a:r>
          </a:p>
          <a:p>
            <a:r>
              <a:t>   * Always Validate: Claude is excellent but not infallible. It can misread a cell reference or misinterpret a formula's intent. Spot-check the key numbers.</a:t>
            </a:r>
          </a:p>
          <a:p>
            <a:r>
              <a:t>   * Specify Audience: The same data needs different framing for different audiences. Tell Claude who's reading this.</a:t>
            </a:r>
          </a:p>
          <a:p>
            <a:r>
              <a:t>   * State Limitations: Including caveats doesn't weaken your analysis — it strengthens your credibility. Claude will help you articulate them.</a:t>
            </a:r>
          </a:p>
          <a:p/>
          <a:p>
            <a:r>
              <a:t>REAL-WORLD EXAMPLE:</a:t>
            </a:r>
          </a:p>
          <a:p>
            <a:r>
              <a:t>   A team presented AI-generated recommendations without caveats. The CFO asked 'what are the assumptions behind these numbers?' and no one could answer. The project lost credibility for months. Always state your limitations upfront.</a:t>
            </a:r>
          </a:p>
          <a:p/>
          <a:p>
            <a:r>
              <a:t>TRANSITION:</a:t>
            </a:r>
          </a:p>
          <a:p>
            <a:r>
              <a:t>   Let's take our second break, and then we'll put everything together in the Applied Dataset Lab.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15 min</a:t>
            </a:r>
          </a:p>
          <a:p/>
          <a:p>
            <a:r>
              <a:t>OPEN WITH:</a:t>
            </a:r>
          </a:p>
          <a:p>
            <a:r>
              <a:t>   Take 15. When we come back, you'll apply everything from today in a hands-on lab with a real dataset.</a:t>
            </a:r>
          </a:p>
          <a:p/>
          <a:p>
            <a:r>
              <a:t>KEY POINTS:</a:t>
            </a:r>
          </a:p>
          <a:p>
            <a:r>
              <a:t>   * Make sure your add-in is working before we start the lab</a:t>
            </a:r>
          </a:p>
          <a:p>
            <a:r>
              <a:t>   * The lab dataset will be shared in the chat — download it now if you can</a:t>
            </a:r>
          </a:p>
          <a:p>
            <a:r>
              <a:t>   * You'll have 45 minutes for the lab, working individually or in pairs</a:t>
            </a:r>
          </a:p>
          <a:p/>
          <a:p>
            <a:r>
              <a:t>TRANSITION:</a:t>
            </a:r>
          </a:p>
          <a:p>
            <a:r>
              <a:t>   Welcome back. Time to put it all together.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This is where everything comes together. You have a real dataset, a set of tasks, and 45 minutes. Use Claude in Excel for every step. By the end, you'll have a clean dataset, a scenario model, and an executive summary — the complete pipeline we've been building toward.</a:t>
            </a:r>
          </a:p>
          <a:p/>
          <a:p>
            <a:r>
              <a:t>KEY POINTS:</a:t>
            </a:r>
          </a:p>
          <a:p>
            <a:r>
              <a:t>   * This is individual or pair work — your choice</a:t>
            </a:r>
          </a:p>
          <a:p>
            <a:r>
              <a:t>   * I'll be walking around to help and answer questions</a:t>
            </a:r>
          </a:p>
          <a:p>
            <a:r>
              <a:t>   * The goal is to complete the full pipeline, not just the first step</a:t>
            </a:r>
          </a:p>
          <a:p/>
          <a:p>
            <a:r>
              <a:t>TRANSITION:</a:t>
            </a:r>
          </a:p>
          <a:p>
            <a:r>
              <a:t>   Here's your lab brief.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 min</a:t>
            </a:r>
          </a:p>
          <a:p/>
          <a:p>
            <a:r>
              <a:t>OPEN WITH:</a:t>
            </a:r>
          </a:p>
          <a:p>
            <a:r>
              <a:t>   This is the real deal. You're an analyst who just got a messy dataset and a request from the VP. Everything you've learned today goes into this lab. Four phases, 45 minutes, one complete pipeline from raw data to board-ready summary.</a:t>
            </a:r>
          </a:p>
          <a:p/>
          <a:p>
            <a:r>
              <a:t>KEY POINTS:</a:t>
            </a:r>
          </a:p>
          <a:p>
            <a:r>
              <a:t>   * Phase 1 is cleaning — use the exact prompts we practiced. Select columns, ask Claude to standardize and flag issues.</a:t>
            </a:r>
          </a:p>
          <a:p>
            <a:r>
              <a:t>   * Phase 2 is structuring — get the data into pivot-ready format. Ask Claude for the summary table.</a:t>
            </a:r>
          </a:p>
          <a:p>
            <a:r>
              <a:t>   * Phase 3 is modeling — this is where you build the scenario framework. Describe your scenarios in plain English and let Claude generate the structure.</a:t>
            </a:r>
          </a:p>
          <a:p>
            <a:r>
              <a:t>   * Phase 4 is the payoff — generate the executive summary. Specify the audience (VP of Sales), ask for the finding-implication-recommendation framework.</a:t>
            </a:r>
          </a:p>
          <a:p>
            <a:r>
              <a:t>   * Don't get stuck on perfection in any single phase. Move through all four to experience the complete pipeline.</a:t>
            </a:r>
          </a:p>
          <a:p/>
          <a:p>
            <a:r>
              <a:t>REAL-WORLD EXAMPLE:</a:t>
            </a:r>
          </a:p>
          <a:p>
            <a:r>
              <a:t>   This exact pipeline — clean, structure, model, narrate — is what our enterprise clients use weekly. The difference is that with Claude, it takes 45 minutes instead of 4 hours.</a:t>
            </a:r>
          </a:p>
          <a:p/>
          <a:p>
            <a:r>
              <a:t>DEMO:</a:t>
            </a:r>
          </a:p>
          <a:p>
            <a:r>
              <a:t>   Distribute 'Helios_Regional_Sales_Lab.xlsx' via the shared drive. Walk around during the lab. At the 20-minute mark, check in with the class on progress. At 35 minutes, give a 10-minute warning. Collect deliverables at the end.</a:t>
            </a:r>
          </a:p>
          <a:p/>
          <a:p>
            <a:r>
              <a:t>TRANSITION:</a:t>
            </a:r>
          </a:p>
          <a:p>
            <a:r>
              <a:t>   Let's regroup and share what you found.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8 min</a:t>
            </a:r>
          </a:p>
          <a:p/>
          <a:p>
            <a:r>
              <a:t>OPEN WITH:</a:t>
            </a:r>
          </a:p>
          <a:p>
            <a:r>
              <a:t>   Let's debrief. I want to hear what surprised you, what frustrated you, and what you'll actually use on Monday. Let's go around the room — one finding per person.</a:t>
            </a:r>
          </a:p>
          <a:p/>
          <a:p>
            <a:r>
              <a:t>KEY POINTS:</a:t>
            </a:r>
          </a:p>
          <a:p>
            <a:r>
              <a:t>   * Celebrate the wins — most people are shocked at how fast the cleaning phase goes</a:t>
            </a:r>
          </a:p>
          <a:p>
            <a:r>
              <a:t>   * Acknowledge the friction points — Claude sometimes suggests approaches that don't fit your exact data layout</a:t>
            </a:r>
          </a:p>
          <a:p>
            <a:r>
              <a:t>   * The override moments are the most valuable learning — they teach you where human judgment is essential</a:t>
            </a:r>
          </a:p>
          <a:p>
            <a:r>
              <a:t>   * Reinforce the pipeline: clean → structure → model → narrate. This sequence works for any dataset.</a:t>
            </a:r>
          </a:p>
          <a:p/>
          <a:p>
            <a:r>
              <a:t>ASK THE CLASS:</a:t>
            </a:r>
          </a:p>
          <a:p>
            <a:r>
              <a:t>   "What's the first spreadsheet you're going to use this on when you get back to your desk?"</a:t>
            </a:r>
          </a:p>
          <a:p>
            <a:r>
              <a:t>   [PAUSE for 30-60 seconds]</a:t>
            </a:r>
          </a:p>
          <a:p/>
          <a:p>
            <a:r>
              <a:t>TRANSITION:</a:t>
            </a:r>
          </a:p>
          <a:p>
            <a:r>
              <a:t>   Let's wrap up with your key takeaways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We're in the home stretch. Let's lock in what you learned and set you up for success when you walk out of here.</a:t>
            </a:r>
          </a:p>
          <a:p/>
          <a:p>
            <a:r>
              <a:t>KEY POINTS:</a:t>
            </a:r>
          </a:p>
          <a:p>
            <a:r>
              <a:t>   * We'll review the key mental models</a:t>
            </a:r>
          </a:p>
          <a:p>
            <a:r>
              <a:t>   * I'll share a cheat sheet of the most valuable prompts</a:t>
            </a:r>
          </a:p>
          <a:p>
            <a:r>
              <a:t>   * And we'll preview what's coming in Sessions 3 and 4</a:t>
            </a:r>
          </a:p>
          <a:p/>
          <a:p>
            <a:r>
              <a:t>TRANSITION:</a:t>
            </a:r>
          </a:p>
          <a:p>
            <a:r>
              <a:t>   Here are your five key takeaways.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 min</a:t>
            </a:r>
          </a:p>
          <a:p/>
          <a:p>
            <a:r>
              <a:t>OPEN WITH:</a:t>
            </a:r>
          </a:p>
          <a:p>
            <a:r>
              <a:t>   If you remember nothing else from today, remember these five principles. They'll make you effective with Claude in Excel from day one.</a:t>
            </a:r>
          </a:p>
          <a:p/>
          <a:p>
            <a:r>
              <a:t>KEY POINTS:</a:t>
            </a:r>
          </a:p>
          <a:p>
            <a:r>
              <a:t>   * Select before you ask — this is the single most impactful habit change. Stop typing without selecting first.</a:t>
            </a:r>
          </a:p>
          <a:p>
            <a:r>
              <a:t>   * Read before you write — the audit workflow we covered catches errors that save hours downstream</a:t>
            </a:r>
          </a:p>
          <a:p>
            <a:r>
              <a:t>   * Iterate, don't one-shot — this is counter-intuitive if you're used to browser AI. In the sidebar, follow-ups are your superpower.</a:t>
            </a:r>
          </a:p>
          <a:p>
            <a:r>
              <a:t>   * Specify your audience — one extra phrase in your prompt transforms the output quality</a:t>
            </a:r>
          </a:p>
          <a:p>
            <a:r>
              <a:t>   * Validate everything — this isn't a limitation, it's professionalism. The best analysts check their tools' work.</a:t>
            </a:r>
          </a:p>
          <a:p/>
          <a:p>
            <a:r>
              <a:t>REAL-WORLD EXAMPLE:</a:t>
            </a:r>
          </a:p>
          <a:p>
            <a:r>
              <a:t>   The analysts who adopt these five habits report the fastest time-to-value. One team went from 'experimenting with the add-in' to 'can't imagine working without it' in two weeks.</a:t>
            </a:r>
          </a:p>
          <a:p/>
          <a:p>
            <a:r>
              <a:t>TRANSITION:</a:t>
            </a:r>
          </a:p>
          <a:p>
            <a:r>
              <a:t>   Here's your quick-reference cheat sheet.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Screenshot this slide or save the PDF. These twelve prompts cover 90% of what you'll do with Claude in Excel. They're organized in the same pipeline we practiced today: analyze, transform, generate.</a:t>
            </a:r>
          </a:p>
          <a:p/>
          <a:p>
            <a:r>
              <a:t>KEY POINTS:</a:t>
            </a:r>
          </a:p>
          <a:p>
            <a:r>
              <a:t>   * These prompts are starting points — customize them for your specific data and audience</a:t>
            </a:r>
          </a:p>
          <a:p>
            <a:r>
              <a:t>   * The analysis prompts are safe to use immediately — they don't change your data</a:t>
            </a:r>
          </a:p>
          <a:p>
            <a:r>
              <a:t>   * The transform prompts generate suggestions you review before applying</a:t>
            </a:r>
          </a:p>
          <a:p>
            <a:r>
              <a:t>   * The generate prompts produce text you can copy into emails, slides, or documents</a:t>
            </a:r>
          </a:p>
          <a:p>
            <a:r>
              <a:t>   * Bookmark this slide — it's your daily reference for the first two weeks</a:t>
            </a:r>
          </a:p>
          <a:p/>
          <a:p>
            <a:r>
              <a:t>TRANSITION:</a:t>
            </a:r>
          </a:p>
          <a:p>
            <a:r>
              <a:t>   Let's preview what's coming next.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 min</a:t>
            </a:r>
          </a:p>
          <a:p/>
          <a:p>
            <a:r>
              <a:t>OPEN WITH:</a:t>
            </a:r>
          </a:p>
          <a:p>
            <a:r>
              <a:t>   Today was Session 2 of 4. Here's where we're headed. Session 3 takes everything you learned about spreadsheets and applies it to documents — contracts, proposals, reports. Session 4 ties it all together with advanced workflows and enterprise deployment patterns.</a:t>
            </a:r>
          </a:p>
          <a:p/>
          <a:p>
            <a:r>
              <a:t>KEY POINTS:</a:t>
            </a:r>
          </a:p>
          <a:p>
            <a:r>
              <a:t>   * Session 3 covers Claude with Word, PDF, and other document formats — similar pipeline of analyze → transform → generate</a:t>
            </a:r>
          </a:p>
          <a:p>
            <a:r>
              <a:t>   * Session 4 is the power user session — multi-tool workflows, automation patterns, and scaling AI across your team</a:t>
            </a:r>
          </a:p>
          <a:p>
            <a:r>
              <a:t>   * The certification capstone requires you to demonstrate the complete pipeline we practiced today on your own business data</a:t>
            </a:r>
          </a:p>
          <a:p>
            <a:r>
              <a:t>   * Between sessions, practice the twelve prompts from the cheat sheet on your actual work — muscle memory is the goal</a:t>
            </a:r>
          </a:p>
          <a:p/>
          <a:p>
            <a:r>
              <a:t>REAL-WORLD EXAMPLE:</a:t>
            </a:r>
          </a:p>
          <a:p>
            <a:r>
              <a:t>   Teams that practice between sessions adopt 3x faster than teams that don't. Even 15 minutes a day with Claude in Excel builds the habit.</a:t>
            </a:r>
          </a:p>
          <a:p/>
          <a:p>
            <a:r>
              <a:t>TRANSITION:</a:t>
            </a:r>
          </a:p>
          <a:p>
            <a:r>
              <a:t>   One final thought before we close.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I'll leave you with this. The goal was never to make prettier spreadsheets. The goal is to make better decisions faster. Claude in Excel doesn't just save you time — it changes the output from 'here's a file' to 'here's what it means and what we should do.' That's the skill that compounds.</a:t>
            </a:r>
          </a:p>
          <a:p/>
          <a:p>
            <a:r>
              <a:t>KEY POINTS:</a:t>
            </a:r>
          </a:p>
          <a:p>
            <a:r>
              <a:t>   * Your stakeholders don't want spreadsheets — they want answers</a:t>
            </a:r>
          </a:p>
          <a:p>
            <a:r>
              <a:t>   * Claude helps you bridge the gap between data and decisions</a:t>
            </a:r>
          </a:p>
          <a:p>
            <a:r>
              <a:t>   * Practice the pipeline this week — clean, structure, model, narrate — on one real spreadsheet</a:t>
            </a:r>
          </a:p>
          <a:p/>
          <a:p>
            <a:r>
              <a:t>TRANSITION:</a:t>
            </a:r>
          </a:p>
          <a:p>
            <a:r>
              <a:t>   Thank you for your focus today. See you at Session 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1 min</a:t>
            </a:r>
          </a:p>
          <a:p/>
          <a:p>
            <a:r>
              <a:t>OPEN WITH:</a:t>
            </a:r>
          </a:p>
          <a:p>
            <a:r>
              <a:t>   That's a wrap on Session 2. Great work today.</a:t>
            </a:r>
          </a:p>
          <a:p/>
          <a:p>
            <a:r>
              <a:t>KEY POINTS:</a:t>
            </a:r>
          </a:p>
          <a:p>
            <a:r>
              <a:t>   * Remember: select before you ask, read before you write, iterate don't one-shot</a:t>
            </a:r>
          </a:p>
          <a:p>
            <a:r>
              <a:t>   * Practice the twelve prompts on one real spreadsheet this week</a:t>
            </a:r>
          </a:p>
          <a:p>
            <a:r>
              <a:t>   * Session 3 covers Claude with documents — same pipeline, new medium</a:t>
            </a:r>
          </a:p>
          <a:p>
            <a:r>
              <a:t>   * Reach out if you hit any issues with the add-in installation or your practice exercises</a:t>
            </a:r>
          </a:p>
          <a:p/>
          <a:p>
            <a:r>
              <a:t>REAL-WORLD EXAMPLE:</a:t>
            </a:r>
          </a:p>
          <a:p>
            <a:r>
              <a:t>   The analysts who practice between sessions consistently outperform in Sessions 3 and 4. Fifteen minutes a day is all it takes.</a:t>
            </a:r>
          </a:p>
          <a:p/>
          <a:p>
            <a:r>
              <a:t>TRANSITION:</a:t>
            </a:r>
          </a:p>
          <a:p>
            <a:r>
              <a:t>   See you next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10B981"/>
                </a:solidFill>
              </a:defRPr>
            </a:pPr>
            <a:r>
              <a:t>Claude + Excel Deep Dive</a:t>
            </a:r>
          </a:p>
        </p:txBody>
      </p:sp>
      <p:sp>
        <p:nvSpPr>
          <p:cNvPr id="3" name="Rectangle 2"/>
          <p:cNvSpPr/>
          <p:nvPr/>
        </p:nvSpPr>
        <p:spPr>
          <a:xfrm>
            <a:off x="0" y="4754880"/>
            <a:ext cx="1219169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Session 2 Agenda</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45920"/>
            <a:ext cx="5135727" cy="640080"/>
          </a:xfrm>
          <a:prstGeom prst="rect">
            <a:avLst/>
          </a:prstGeom>
          <a:noFill/>
        </p:spPr>
        <p:txBody>
          <a:bodyPr wrap="none" anchor="ctr">
            <a:spAutoFit/>
          </a:bodyPr>
          <a:lstStyle/>
          <a:p>
            <a:pPr>
              <a:defRPr sz="1800" b="1">
                <a:solidFill>
                  <a:srgbClr val="0B0F1A"/>
                </a:solidFill>
              </a:defRPr>
            </a:pPr>
            <a:r>
              <a:t>First Half  (9:00 AM – 11:00 AM)</a:t>
            </a:r>
          </a:p>
        </p:txBody>
      </p:sp>
      <p:sp>
        <p:nvSpPr>
          <p:cNvPr id="6" name="Rectangle 5"/>
          <p:cNvSpPr/>
          <p:nvPr/>
        </p:nvSpPr>
        <p:spPr>
          <a:xfrm>
            <a:off x="457200"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468880"/>
            <a:ext cx="4221327" cy="502920"/>
          </a:xfrm>
          <a:prstGeom prst="rect">
            <a:avLst/>
          </a:prstGeom>
          <a:noFill/>
        </p:spPr>
        <p:txBody>
          <a:bodyPr wrap="square" anchor="ctr">
            <a:spAutoFit/>
          </a:bodyPr>
          <a:lstStyle/>
          <a:p>
            <a:pPr>
              <a:defRPr sz="1600">
                <a:solidFill>
                  <a:srgbClr val="FFFFFF"/>
                </a:solidFill>
              </a:defRPr>
            </a:pPr>
            <a:r>
              <a:t>Integration &amp; Workflow Foundations</a:t>
            </a:r>
          </a:p>
        </p:txBody>
      </p:sp>
      <p:sp>
        <p:nvSpPr>
          <p:cNvPr id="8" name="Rounded Rectangle 7"/>
          <p:cNvSpPr/>
          <p:nvPr/>
        </p:nvSpPr>
        <p:spPr>
          <a:xfrm>
            <a:off x="4815687"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5687" y="256032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10" name="TextBox 9"/>
          <p:cNvSpPr txBox="1"/>
          <p:nvPr/>
        </p:nvSpPr>
        <p:spPr>
          <a:xfrm>
            <a:off x="594360" y="2971800"/>
            <a:ext cx="4221327" cy="502920"/>
          </a:xfrm>
          <a:prstGeom prst="rect">
            <a:avLst/>
          </a:prstGeom>
          <a:noFill/>
        </p:spPr>
        <p:txBody>
          <a:bodyPr wrap="square" anchor="ctr">
            <a:spAutoFit/>
          </a:bodyPr>
          <a:lstStyle/>
          <a:p>
            <a:pPr>
              <a:defRPr sz="1600">
                <a:solidFill>
                  <a:srgbClr val="FFFFFF"/>
                </a:solidFill>
              </a:defRPr>
            </a:pPr>
            <a:r>
              <a:t>Spreadsheet Analysis &amp; Explainability</a:t>
            </a:r>
          </a:p>
        </p:txBody>
      </p:sp>
      <p:sp>
        <p:nvSpPr>
          <p:cNvPr id="11" name="Rounded Rectangle 10"/>
          <p:cNvSpPr/>
          <p:nvPr/>
        </p:nvSpPr>
        <p:spPr>
          <a:xfrm>
            <a:off x="4815687"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5687" y="306324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13" name="Rectangle 12"/>
          <p:cNvSpPr/>
          <p:nvPr/>
        </p:nvSpPr>
        <p:spPr>
          <a:xfrm>
            <a:off x="457200"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15" name="Rounded Rectangle 14"/>
          <p:cNvSpPr/>
          <p:nvPr/>
        </p:nvSpPr>
        <p:spPr>
          <a:xfrm>
            <a:off x="4815687"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15687"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17" name="TextBox 16"/>
          <p:cNvSpPr txBox="1"/>
          <p:nvPr/>
        </p:nvSpPr>
        <p:spPr>
          <a:xfrm>
            <a:off x="594360" y="3977640"/>
            <a:ext cx="4221327" cy="502920"/>
          </a:xfrm>
          <a:prstGeom prst="rect">
            <a:avLst/>
          </a:prstGeom>
          <a:noFill/>
        </p:spPr>
        <p:txBody>
          <a:bodyPr wrap="square" anchor="ctr">
            <a:spAutoFit/>
          </a:bodyPr>
          <a:lstStyle/>
          <a:p>
            <a:pPr>
              <a:defRPr sz="1600">
                <a:solidFill>
                  <a:srgbClr val="FFFFFF"/>
                </a:solidFill>
              </a:defRPr>
            </a:pPr>
            <a:r>
              <a:t>Live Demo: Formula Decode &amp; Audit</a:t>
            </a:r>
          </a:p>
        </p:txBody>
      </p:sp>
      <p:sp>
        <p:nvSpPr>
          <p:cNvPr id="18" name="Rounded Rectangle 17"/>
          <p:cNvSpPr/>
          <p:nvPr/>
        </p:nvSpPr>
        <p:spPr>
          <a:xfrm>
            <a:off x="4815687"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15687" y="4069080"/>
            <a:ext cx="914400" cy="320040"/>
          </a:xfrm>
          <a:prstGeom prst="rect">
            <a:avLst/>
          </a:prstGeom>
          <a:noFill/>
        </p:spPr>
        <p:txBody>
          <a:bodyPr wrap="none" anchor="ctr">
            <a:spAutoFit/>
          </a:bodyPr>
          <a:lstStyle/>
          <a:p>
            <a:pPr algn="ctr">
              <a:defRPr sz="1300" b="1">
                <a:solidFill>
                  <a:srgbClr val="00D4AA"/>
                </a:solidFill>
              </a:defRPr>
            </a:pPr>
            <a:r>
              <a:t>20 min</a:t>
            </a:r>
          </a:p>
        </p:txBody>
      </p:sp>
      <p:sp>
        <p:nvSpPr>
          <p:cNvPr id="20" name="Rounded Rectangle 19"/>
          <p:cNvSpPr/>
          <p:nvPr/>
        </p:nvSpPr>
        <p:spPr>
          <a:xfrm>
            <a:off x="6324447" y="1645920"/>
            <a:ext cx="5410047" cy="64008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61607" y="1645920"/>
            <a:ext cx="5135727" cy="640080"/>
          </a:xfrm>
          <a:prstGeom prst="rect">
            <a:avLst/>
          </a:prstGeom>
          <a:noFill/>
        </p:spPr>
        <p:txBody>
          <a:bodyPr wrap="none" anchor="ctr">
            <a:spAutoFit/>
          </a:bodyPr>
          <a:lstStyle/>
          <a:p>
            <a:pPr>
              <a:defRPr sz="1800" b="1">
                <a:solidFill>
                  <a:srgbClr val="0B0F1A"/>
                </a:solidFill>
              </a:defRPr>
            </a:pPr>
            <a:r>
              <a:t>Second Half  (11:00 AM – 1:00 PM)</a:t>
            </a:r>
          </a:p>
        </p:txBody>
      </p:sp>
      <p:sp>
        <p:nvSpPr>
          <p:cNvPr id="22" name="Rectangle 21"/>
          <p:cNvSpPr/>
          <p:nvPr/>
        </p:nvSpPr>
        <p:spPr>
          <a:xfrm>
            <a:off x="6324447" y="246888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1607" y="2468880"/>
            <a:ext cx="4221327" cy="502920"/>
          </a:xfrm>
          <a:prstGeom prst="rect">
            <a:avLst/>
          </a:prstGeom>
          <a:noFill/>
        </p:spPr>
        <p:txBody>
          <a:bodyPr wrap="square" anchor="ctr">
            <a:spAutoFit/>
          </a:bodyPr>
          <a:lstStyle/>
          <a:p>
            <a:pPr>
              <a:defRPr sz="1600">
                <a:solidFill>
                  <a:srgbClr val="FFFFFF"/>
                </a:solidFill>
              </a:defRPr>
            </a:pPr>
            <a:r>
              <a:t>Data Transformation &amp; Modeling</a:t>
            </a:r>
          </a:p>
        </p:txBody>
      </p:sp>
      <p:sp>
        <p:nvSpPr>
          <p:cNvPr id="24" name="Rounded Rectangle 23"/>
          <p:cNvSpPr/>
          <p:nvPr/>
        </p:nvSpPr>
        <p:spPr>
          <a:xfrm>
            <a:off x="10682935" y="256032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82935" y="2560320"/>
            <a:ext cx="914400" cy="320040"/>
          </a:xfrm>
          <a:prstGeom prst="rect">
            <a:avLst/>
          </a:prstGeom>
          <a:noFill/>
        </p:spPr>
        <p:txBody>
          <a:bodyPr wrap="none" anchor="ctr">
            <a:spAutoFit/>
          </a:bodyPr>
          <a:lstStyle/>
          <a:p>
            <a:pPr algn="ctr">
              <a:defRPr sz="1300" b="1">
                <a:solidFill>
                  <a:srgbClr val="00D4AA"/>
                </a:solidFill>
              </a:defRPr>
            </a:pPr>
            <a:r>
              <a:t>40 min</a:t>
            </a:r>
          </a:p>
        </p:txBody>
      </p:sp>
      <p:sp>
        <p:nvSpPr>
          <p:cNvPr id="26" name="TextBox 25"/>
          <p:cNvSpPr txBox="1"/>
          <p:nvPr/>
        </p:nvSpPr>
        <p:spPr>
          <a:xfrm>
            <a:off x="6461607" y="2971800"/>
            <a:ext cx="4221327" cy="502920"/>
          </a:xfrm>
          <a:prstGeom prst="rect">
            <a:avLst/>
          </a:prstGeom>
          <a:noFill/>
        </p:spPr>
        <p:txBody>
          <a:bodyPr wrap="square" anchor="ctr">
            <a:spAutoFit/>
          </a:bodyPr>
          <a:lstStyle/>
          <a:p>
            <a:pPr>
              <a:defRPr sz="1600">
                <a:solidFill>
                  <a:srgbClr val="FFFFFF"/>
                </a:solidFill>
              </a:defRPr>
            </a:pPr>
            <a:r>
              <a:t>Insight Generation</a:t>
            </a:r>
          </a:p>
        </p:txBody>
      </p:sp>
      <p:sp>
        <p:nvSpPr>
          <p:cNvPr id="27" name="Rounded Rectangle 26"/>
          <p:cNvSpPr/>
          <p:nvPr/>
        </p:nvSpPr>
        <p:spPr>
          <a:xfrm>
            <a:off x="10682935" y="306324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82935" y="3063240"/>
            <a:ext cx="914400" cy="320040"/>
          </a:xfrm>
          <a:prstGeom prst="rect">
            <a:avLst/>
          </a:prstGeom>
          <a:noFill/>
        </p:spPr>
        <p:txBody>
          <a:bodyPr wrap="none" anchor="ctr">
            <a:spAutoFit/>
          </a:bodyPr>
          <a:lstStyle/>
          <a:p>
            <a:pPr algn="ctr">
              <a:defRPr sz="1300" b="1">
                <a:solidFill>
                  <a:srgbClr val="00D4AA"/>
                </a:solidFill>
              </a:defRPr>
            </a:pPr>
            <a:r>
              <a:t>30 min</a:t>
            </a:r>
          </a:p>
        </p:txBody>
      </p:sp>
      <p:sp>
        <p:nvSpPr>
          <p:cNvPr id="29" name="Rectangle 28"/>
          <p:cNvSpPr/>
          <p:nvPr/>
        </p:nvSpPr>
        <p:spPr>
          <a:xfrm>
            <a:off x="6324447" y="347472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1607" y="3474720"/>
            <a:ext cx="4221327" cy="502920"/>
          </a:xfrm>
          <a:prstGeom prst="rect">
            <a:avLst/>
          </a:prstGeom>
          <a:noFill/>
        </p:spPr>
        <p:txBody>
          <a:bodyPr wrap="square" anchor="ctr">
            <a:spAutoFit/>
          </a:bodyPr>
          <a:lstStyle/>
          <a:p>
            <a:pPr>
              <a:defRPr sz="1600" i="1">
                <a:solidFill>
                  <a:srgbClr val="8B95A5"/>
                </a:solidFill>
              </a:defRPr>
            </a:pPr>
            <a:r>
              <a:t>Break</a:t>
            </a:r>
          </a:p>
        </p:txBody>
      </p:sp>
      <p:sp>
        <p:nvSpPr>
          <p:cNvPr id="31" name="Rounded Rectangle 30"/>
          <p:cNvSpPr/>
          <p:nvPr/>
        </p:nvSpPr>
        <p:spPr>
          <a:xfrm>
            <a:off x="10682935" y="3566160"/>
            <a:ext cx="914400" cy="320040"/>
          </a:xfrm>
          <a:prstGeom prst="roundRect">
            <a:avLst/>
          </a:prstGeom>
          <a:solidFill>
            <a:srgbClr val="141A26"/>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682935" y="3566160"/>
            <a:ext cx="914400" cy="320040"/>
          </a:xfrm>
          <a:prstGeom prst="rect">
            <a:avLst/>
          </a:prstGeom>
          <a:noFill/>
        </p:spPr>
        <p:txBody>
          <a:bodyPr wrap="none" anchor="ctr">
            <a:spAutoFit/>
          </a:bodyPr>
          <a:lstStyle/>
          <a:p>
            <a:pPr algn="ctr">
              <a:defRPr sz="1300" b="1">
                <a:solidFill>
                  <a:srgbClr val="00D4AA"/>
                </a:solidFill>
              </a:defRPr>
            </a:pPr>
            <a:r>
              <a:t>15 min</a:t>
            </a:r>
          </a:p>
        </p:txBody>
      </p:sp>
      <p:sp>
        <p:nvSpPr>
          <p:cNvPr id="33" name="TextBox 32"/>
          <p:cNvSpPr txBox="1"/>
          <p:nvPr/>
        </p:nvSpPr>
        <p:spPr>
          <a:xfrm>
            <a:off x="6461607" y="3977640"/>
            <a:ext cx="4221327" cy="502920"/>
          </a:xfrm>
          <a:prstGeom prst="rect">
            <a:avLst/>
          </a:prstGeom>
          <a:noFill/>
        </p:spPr>
        <p:txBody>
          <a:bodyPr wrap="square" anchor="ctr">
            <a:spAutoFit/>
          </a:bodyPr>
          <a:lstStyle/>
          <a:p>
            <a:pPr>
              <a:defRPr sz="1600">
                <a:solidFill>
                  <a:srgbClr val="FFFFFF"/>
                </a:solidFill>
              </a:defRPr>
            </a:pPr>
            <a:r>
              <a:t>Applied Dataset Lab</a:t>
            </a:r>
          </a:p>
        </p:txBody>
      </p:sp>
      <p:sp>
        <p:nvSpPr>
          <p:cNvPr id="34" name="Rounded Rectangle 33"/>
          <p:cNvSpPr/>
          <p:nvPr/>
        </p:nvSpPr>
        <p:spPr>
          <a:xfrm>
            <a:off x="10682935" y="406908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682935" y="4069080"/>
            <a:ext cx="914400" cy="320040"/>
          </a:xfrm>
          <a:prstGeom prst="rect">
            <a:avLst/>
          </a:prstGeom>
          <a:noFill/>
        </p:spPr>
        <p:txBody>
          <a:bodyPr wrap="none" anchor="ctr">
            <a:spAutoFit/>
          </a:bodyPr>
          <a:lstStyle/>
          <a:p>
            <a:pPr algn="ctr">
              <a:defRPr sz="1300" b="1">
                <a:solidFill>
                  <a:srgbClr val="00D4AA"/>
                </a:solidFill>
              </a:defRPr>
            </a:pPr>
            <a:r>
              <a:t>45 min</a:t>
            </a:r>
          </a:p>
        </p:txBody>
      </p:sp>
      <p:sp>
        <p:nvSpPr>
          <p:cNvPr id="36" name="Rectangle 35"/>
          <p:cNvSpPr/>
          <p:nvPr/>
        </p:nvSpPr>
        <p:spPr>
          <a:xfrm>
            <a:off x="6324447" y="4480560"/>
            <a:ext cx="5410047" cy="502920"/>
          </a:xfrm>
          <a:prstGeom prst="rect">
            <a:avLst/>
          </a:prstGeom>
          <a:solidFill>
            <a:srgbClr val="141A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61607" y="4480560"/>
            <a:ext cx="4221327" cy="502920"/>
          </a:xfrm>
          <a:prstGeom prst="rect">
            <a:avLst/>
          </a:prstGeom>
          <a:noFill/>
        </p:spPr>
        <p:txBody>
          <a:bodyPr wrap="square" anchor="ctr">
            <a:spAutoFit/>
          </a:bodyPr>
          <a:lstStyle/>
          <a:p>
            <a:pPr>
              <a:defRPr sz="1600">
                <a:solidFill>
                  <a:srgbClr val="FFFFFF"/>
                </a:solidFill>
              </a:defRPr>
            </a:pPr>
            <a:r>
              <a:t>Wrap-Up &amp; Key Takeaways</a:t>
            </a:r>
          </a:p>
        </p:txBody>
      </p:sp>
      <p:sp>
        <p:nvSpPr>
          <p:cNvPr id="38" name="Rounded Rectangle 37"/>
          <p:cNvSpPr/>
          <p:nvPr/>
        </p:nvSpPr>
        <p:spPr>
          <a:xfrm>
            <a:off x="10682935" y="4572000"/>
            <a:ext cx="914400" cy="320040"/>
          </a:xfrm>
          <a:prstGeom prst="roundRect">
            <a:avLst/>
          </a:prstGeom>
          <a:solidFill>
            <a:srgbClr val="1E1E2E"/>
          </a:solidFill>
          <a:ln w="12700">
            <a:solidFill>
              <a:srgbClr val="1F2A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82935" y="4572000"/>
            <a:ext cx="914400" cy="320040"/>
          </a:xfrm>
          <a:prstGeom prst="rect">
            <a:avLst/>
          </a:prstGeom>
          <a:noFill/>
        </p:spPr>
        <p:txBody>
          <a:bodyPr wrap="none" anchor="ctr">
            <a:spAutoFit/>
          </a:bodyPr>
          <a:lstStyle/>
          <a:p>
            <a:pPr algn="ctr">
              <a:defRPr sz="1300" b="1">
                <a:solidFill>
                  <a:srgbClr val="00D4AA"/>
                </a:solidFill>
              </a:defRPr>
            </a:pPr>
            <a:r>
              <a:t>10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Learning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Three Capabilities You'll Master</a:t>
            </a:r>
          </a:p>
        </p:txBody>
      </p:sp>
      <p:sp>
        <p:nvSpPr>
          <p:cNvPr id="3" name="Rounded Rectangle 2"/>
          <p:cNvSpPr/>
          <p:nvPr/>
        </p:nvSpPr>
        <p:spPr>
          <a:xfrm>
            <a:off x="230108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Integration &amp; Workflow Foundations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What Is Claude for Excel?</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The Add-In</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What It's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Installation: Step by Step</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The Sidebar Interaction Model</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Prompting in Excel vs. Browser</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Browser Claude</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Excel Sidebar Claude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High-Value Sidebar Prompts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Spreadsheet Analysis &amp; Explainability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Formula Decode: From Cryptic to Clear</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Workbook Audit: Seeing the Full Picture</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Claude Can Map</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Common Findings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Identifying Key Drivers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Live Demo: Formula Decode &amp; Workbook Audit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Every spreadsheet is a story.</a:t>
            </a:r>
            <a:br/>
            <a:r>
              <a:t>Claude helps you read it — and rewrite it.</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From analysis to transformation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Data Transformation &amp; Modeling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Data Cleaning with Claude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Restructuring Data for Analysis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Before (Wide Format)</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After (Long Format)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Scenario Modeling with Claude</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1828800"/>
            <a:ext cx="11277295" cy="1371600"/>
          </a:xfrm>
          <a:prstGeom prst="rect">
            <a:avLst/>
          </a:prstGeom>
          <a:noFill/>
        </p:spPr>
        <p:txBody>
          <a:bodyPr wrap="none">
            <a:spAutoFit/>
          </a:bodyPr>
          <a:lstStyle/>
          <a:p>
            <a:pPr algn="ctr">
              <a:defRPr sz="9600" b="1">
                <a:solidFill>
                  <a:srgbClr val="00D4AA"/>
                </a:solidFill>
              </a:defRPr>
            </a:pPr>
            <a:r>
              <a:t>DEMO</a:t>
            </a:r>
          </a:p>
        </p:txBody>
      </p:sp>
      <p:sp>
        <p:nvSpPr>
          <p:cNvPr id="3" name="Rectangle 2"/>
          <p:cNvSpPr/>
          <p:nvPr/>
        </p:nvSpPr>
        <p:spPr>
          <a:xfrm>
            <a:off x="4724247" y="3474720"/>
            <a:ext cx="274320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3200" b="1">
                <a:solidFill>
                  <a:srgbClr val="FFFFFF"/>
                </a:solidFill>
              </a:defRPr>
            </a:pPr>
            <a:r>
              <a:t>Live Demo: Data Cleaning &amp; Scenario Model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Insight Generation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From Spreadsheet to Executive Summary</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lgn="ctr">
              <a:defRPr sz="3600" b="1">
                <a:solidFill>
                  <a:srgbClr val="FFFFFF"/>
                </a:solidFill>
              </a:defRPr>
            </a:pPr>
            <a:r>
              <a:t>Narrating Pivot Table Insights</a:t>
            </a:r>
          </a:p>
        </p:txBody>
      </p:sp>
      <p:sp>
        <p:nvSpPr>
          <p:cNvPr id="3" name="Rectangle 2"/>
          <p:cNvSpPr/>
          <p:nvPr/>
        </p:nvSpPr>
        <p:spPr>
          <a:xfrm>
            <a:off x="6077559" y="1371600"/>
            <a:ext cx="36576" cy="45720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5364327" cy="731520"/>
          </a:xfrm>
          <a:prstGeom prst="rect">
            <a:avLst/>
          </a:prstGeom>
          <a:noFill/>
        </p:spPr>
        <p:txBody>
          <a:bodyPr wrap="none">
            <a:spAutoFit/>
          </a:bodyPr>
          <a:lstStyle/>
          <a:p>
            <a:pPr algn="ctr">
              <a:defRPr sz="2800" b="1">
                <a:solidFill>
                  <a:srgbClr val="E86B4A"/>
                </a:solidFill>
              </a:defRPr>
            </a:pPr>
            <a:r>
              <a:t>What the Pivot Shows</a:t>
            </a:r>
          </a:p>
        </p:txBody>
      </p:sp>
      <p:sp>
        <p:nvSpPr>
          <p:cNvPr id="5" name="TextBox 4"/>
          <p:cNvSpPr txBox="1"/>
          <p:nvPr/>
        </p:nvSpPr>
        <p:spPr>
          <a:xfrm>
            <a:off x="6370167" y="1463040"/>
            <a:ext cx="5364327" cy="731520"/>
          </a:xfrm>
          <a:prstGeom prst="rect">
            <a:avLst/>
          </a:prstGeom>
          <a:noFill/>
        </p:spPr>
        <p:txBody>
          <a:bodyPr wrap="none">
            <a:spAutoFit/>
          </a:bodyPr>
          <a:lstStyle/>
          <a:p>
            <a:pPr algn="ctr">
              <a:defRPr sz="2800" b="1">
                <a:solidFill>
                  <a:srgbClr val="00D4AA"/>
                </a:solidFill>
              </a:defRPr>
            </a:pPr>
            <a:r>
              <a:t>What Claude Adds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From Insights to Recommendations</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Three Rules for AI-Generated Insights</a:t>
            </a:r>
          </a:p>
        </p:txBody>
      </p:sp>
      <p:sp>
        <p:nvSpPr>
          <p:cNvPr id="3" name="Rounded Rectangle 2"/>
          <p:cNvSpPr/>
          <p:nvPr/>
        </p:nvSpPr>
        <p:spPr>
          <a:xfrm>
            <a:off x="230108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914400" y="1371600"/>
            <a:ext cx="914400" cy="914400"/>
          </a:xfrm>
          <a:prstGeom prst="rect">
            <a:avLst/>
          </a:prstGeom>
          <a:noFill/>
        </p:spPr>
        <p:txBody>
          <a:bodyPr wrap="none">
            <a:spAutoFit/>
          </a:bodyPr>
          <a:lstStyle/>
          <a:p>
            <a:pPr>
              <a:defRPr sz="12000">
                <a:solidFill>
                  <a:srgbClr val="00D4AA"/>
                </a:solidFill>
              </a:defRPr>
            </a:pPr>
            <a:r>
              <a:t>"</a:t>
            </a:r>
          </a:p>
        </p:txBody>
      </p:sp>
      <p:sp>
        <p:nvSpPr>
          <p:cNvPr id="3" name="TextBox 2"/>
          <p:cNvSpPr txBox="1"/>
          <p:nvPr/>
        </p:nvSpPr>
        <p:spPr>
          <a:xfrm>
            <a:off x="1371600" y="2286000"/>
            <a:ext cx="9448495" cy="2286000"/>
          </a:xfrm>
          <a:prstGeom prst="rect">
            <a:avLst/>
          </a:prstGeom>
          <a:noFill/>
        </p:spPr>
        <p:txBody>
          <a:bodyPr wrap="square">
            <a:spAutoFit/>
          </a:bodyPr>
          <a:lstStyle/>
          <a:p>
            <a:pPr algn="ctr">
              <a:defRPr sz="3600" i="1">
                <a:solidFill>
                  <a:srgbClr val="FFFFFF"/>
                </a:solidFill>
              </a:defRPr>
            </a:pPr>
            <a:r>
              <a:t>Break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Applied Dataset Lab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ounded Rectangle 1"/>
          <p:cNvSpPr/>
          <p:nvPr/>
        </p:nvSpPr>
        <p:spPr>
          <a:xfrm>
            <a:off x="457200" y="365760"/>
            <a:ext cx="1097280" cy="457200"/>
          </a:xfrm>
          <a:prstGeom prst="round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29768"/>
            <a:ext cx="1097280" cy="365760"/>
          </a:xfrm>
          <a:prstGeom prst="rect">
            <a:avLst/>
          </a:prstGeom>
          <a:noFill/>
        </p:spPr>
        <p:txBody>
          <a:bodyPr wrap="none">
            <a:spAutoFit/>
          </a:bodyPr>
          <a:lstStyle/>
          <a:p>
            <a:pPr algn="ctr">
              <a:defRPr sz="1800" b="1">
                <a:solidFill>
                  <a:srgbClr val="0B0F1A"/>
                </a:solidFill>
              </a:defRPr>
            </a:pPr>
            <a:r>
              <a:t>LAB</a:t>
            </a:r>
          </a:p>
        </p:txBody>
      </p:sp>
      <p:sp>
        <p:nvSpPr>
          <p:cNvPr id="4" name="Rounded Rectangle 3"/>
          <p:cNvSpPr/>
          <p:nvPr/>
        </p:nvSpPr>
        <p:spPr>
          <a:xfrm>
            <a:off x="10362895" y="365760"/>
            <a:ext cx="1371600" cy="457200"/>
          </a:xfrm>
          <a:prstGeom prst="roundRect">
            <a:avLst/>
          </a:prstGeom>
          <a:solidFill>
            <a:srgbClr val="141A26"/>
          </a:solidFill>
          <a:ln>
            <a:solidFill>
              <a:srgbClr val="00D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62895" y="429768"/>
            <a:ext cx="1371600" cy="365760"/>
          </a:xfrm>
          <a:prstGeom prst="rect">
            <a:avLst/>
          </a:prstGeom>
          <a:noFill/>
        </p:spPr>
        <p:txBody>
          <a:bodyPr wrap="none">
            <a:spAutoFit/>
          </a:bodyPr>
          <a:lstStyle/>
          <a:p>
            <a:pPr algn="ctr">
              <a:defRPr sz="1400" b="1">
                <a:solidFill>
                  <a:srgbClr val="00D4AA"/>
                </a:solidFill>
              </a:defRPr>
            </a:pPr>
            <a:r>
              <a:t>5 minutes</a:t>
            </a:r>
          </a:p>
        </p:txBody>
      </p:sp>
      <p:sp>
        <p:nvSpPr>
          <p:cNvPr id="6" name="TextBox 5"/>
          <p:cNvSpPr txBox="1"/>
          <p:nvPr/>
        </p:nvSpPr>
        <p:spPr>
          <a:xfrm>
            <a:off x="457200" y="1005840"/>
            <a:ext cx="11277295" cy="731520"/>
          </a:xfrm>
          <a:prstGeom prst="rect">
            <a:avLst/>
          </a:prstGeom>
          <a:noFill/>
        </p:spPr>
        <p:txBody>
          <a:bodyPr wrap="none">
            <a:spAutoFit/>
          </a:bodyPr>
          <a:lstStyle/>
          <a:p>
            <a:pPr>
              <a:defRPr sz="3200" b="1">
                <a:solidFill>
                  <a:srgbClr val="FFFFFF"/>
                </a:solidFill>
              </a:defRPr>
            </a:pPr>
            <a:r>
              <a:t>Lab: Regional Sales Analysis Pipeline</a:t>
            </a:r>
          </a:p>
        </p:txBody>
      </p:sp>
      <p:sp>
        <p:nvSpPr>
          <p:cNvPr id="7" name="Rectangle 6"/>
          <p:cNvSpPr/>
          <p:nvPr/>
        </p:nvSpPr>
        <p:spPr>
          <a:xfrm>
            <a:off x="457200" y="1737360"/>
            <a:ext cx="27432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Lab Debrief: What Did You Find?</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828800"/>
            <a:ext cx="137160" cy="32004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defRPr sz="5600" b="1">
                <a:solidFill>
                  <a:srgbClr val="FFFFFF"/>
                </a:solidFill>
              </a:defRPr>
            </a:pPr>
            <a:r>
              <a:t>Key Takeaways &amp; Next Steps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Rectangle 1"/>
          <p:cNvSpPr/>
          <p:nvPr/>
        </p:nvSpPr>
        <p:spPr>
          <a:xfrm>
            <a:off x="0" y="1188720"/>
            <a:ext cx="91440" cy="5029200"/>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Five Things to Remember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365760"/>
            <a:ext cx="11277295" cy="822960"/>
          </a:xfrm>
          <a:prstGeom prst="rect">
            <a:avLst/>
          </a:prstGeom>
          <a:noFill/>
        </p:spPr>
        <p:txBody>
          <a:bodyPr wrap="none">
            <a:spAutoFit/>
          </a:bodyPr>
          <a:lstStyle/>
          <a:p>
            <a:pPr>
              <a:defRPr sz="4000" b="1">
                <a:solidFill>
                  <a:srgbClr val="FFFFFF"/>
                </a:solidFill>
              </a:defRPr>
            </a:pPr>
            <a:r>
              <a:t>Your Prompt Cheat Sheet</a:t>
            </a:r>
          </a:p>
        </p:txBody>
      </p:sp>
      <p:sp>
        <p:nvSpPr>
          <p:cNvPr id="3" name="Rectangle 2"/>
          <p:cNvSpPr/>
          <p:nvPr/>
        </p:nvSpPr>
        <p:spPr>
          <a:xfrm>
            <a:off x="457200" y="1234440"/>
            <a:ext cx="1828800" cy="36576"/>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731520"/>
            <a:ext cx="11277295" cy="914400"/>
          </a:xfrm>
          <a:prstGeom prst="rect">
            <a:avLst/>
          </a:prstGeom>
          <a:noFill/>
        </p:spPr>
        <p:txBody>
          <a:bodyPr wrap="none">
            <a:spAutoFit/>
          </a:bodyPr>
          <a:lstStyle/>
          <a:p>
            <a:pPr algn="ctr">
              <a:defRPr sz="4000" b="1">
                <a:solidFill>
                  <a:srgbClr val="FFFFFF"/>
                </a:solidFill>
              </a:defRPr>
            </a:pPr>
            <a:r>
              <a:t>What's Ahead</a:t>
            </a:r>
          </a:p>
        </p:txBody>
      </p:sp>
      <p:sp>
        <p:nvSpPr>
          <p:cNvPr id="3" name="Rounded Rectangle 2"/>
          <p:cNvSpPr/>
          <p:nvPr/>
        </p:nvSpPr>
        <p:spPr>
          <a:xfrm>
            <a:off x="2301087" y="2011680"/>
            <a:ext cx="2286000" cy="3200400"/>
          </a:xfrm>
          <a:prstGeom prst="roundRect">
            <a:avLst/>
          </a:prstGeom>
          <a:solidFill>
            <a:srgbClr val="141A26"/>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986887" y="2468880"/>
            <a:ext cx="914400" cy="914400"/>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86887" y="2468880"/>
            <a:ext cx="914400" cy="914400"/>
          </a:xfrm>
          <a:prstGeom prst="rect">
            <a:avLst/>
          </a:prstGeom>
          <a:noFill/>
        </p:spPr>
        <p:txBody>
          <a:bodyPr wrap="none" anchor="ctr">
            <a:spAutoFit/>
          </a:bodyPr>
          <a:lstStyle/>
          <a:p>
            <a:pPr algn="ctr">
              <a:defRPr sz="3600" b="1">
                <a:solidFill>
                  <a:srgbClr val="0B0F1A"/>
                </a:solidFill>
              </a:defRPr>
            </a:pPr>
            <a:r>
              <a:t>3️⃣</a:t>
            </a:r>
          </a:p>
        </p:txBody>
      </p:sp>
      <p:sp>
        <p:nvSpPr>
          <p:cNvPr id="6" name="TextBox 5"/>
          <p:cNvSpPr txBox="1"/>
          <p:nvPr/>
        </p:nvSpPr>
        <p:spPr>
          <a:xfrm>
            <a:off x="2392527" y="3657600"/>
            <a:ext cx="2103120" cy="1371600"/>
          </a:xfrm>
          <a:prstGeom prst="rect">
            <a:avLst/>
          </a:prstGeom>
          <a:noFill/>
        </p:spPr>
        <p:txBody>
          <a:bodyPr wrap="square">
            <a:normAutofit/>
          </a:bodyPr>
          <a:lstStyle/>
          <a:p>
            <a:pPr algn="ctr">
              <a:defRPr sz="2000" b="1">
                <a:solidFill>
                  <a:srgbClr val="FFFFFF"/>
                </a:solidFill>
              </a:defRPr>
            </a:pPr>
          </a:p>
        </p:txBody>
      </p:sp>
      <p:sp>
        <p:nvSpPr>
          <p:cNvPr id="7" name="Rounded Rectangle 6"/>
          <p:cNvSpPr/>
          <p:nvPr/>
        </p:nvSpPr>
        <p:spPr>
          <a:xfrm>
            <a:off x="4952847" y="2011680"/>
            <a:ext cx="2286000" cy="3200400"/>
          </a:xfrm>
          <a:prstGeom prst="roundRect">
            <a:avLst/>
          </a:prstGeom>
          <a:solidFill>
            <a:srgbClr val="141A26"/>
          </a:solidFill>
          <a:ln w="25400">
            <a:solidFill>
              <a:srgbClr val="E86B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638647" y="2468880"/>
            <a:ext cx="914400" cy="914400"/>
          </a:xfrm>
          <a:prstGeom prst="ellipse">
            <a:avLst/>
          </a:prstGeom>
          <a:solidFill>
            <a:srgbClr val="E86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38647" y="2468880"/>
            <a:ext cx="914400" cy="914400"/>
          </a:xfrm>
          <a:prstGeom prst="rect">
            <a:avLst/>
          </a:prstGeom>
          <a:noFill/>
        </p:spPr>
        <p:txBody>
          <a:bodyPr wrap="none" anchor="ctr">
            <a:spAutoFit/>
          </a:bodyPr>
          <a:lstStyle/>
          <a:p>
            <a:pPr algn="ctr">
              <a:defRPr sz="3600" b="1">
                <a:solidFill>
                  <a:srgbClr val="0B0F1A"/>
                </a:solidFill>
              </a:defRPr>
            </a:pPr>
            <a:r>
              <a:t>4️⃣</a:t>
            </a:r>
          </a:p>
        </p:txBody>
      </p:sp>
      <p:sp>
        <p:nvSpPr>
          <p:cNvPr id="10" name="TextBox 9"/>
          <p:cNvSpPr txBox="1"/>
          <p:nvPr/>
        </p:nvSpPr>
        <p:spPr>
          <a:xfrm>
            <a:off x="5044287" y="3657600"/>
            <a:ext cx="2103120" cy="1371600"/>
          </a:xfrm>
          <a:prstGeom prst="rect">
            <a:avLst/>
          </a:prstGeom>
          <a:noFill/>
        </p:spPr>
        <p:txBody>
          <a:bodyPr wrap="square">
            <a:normAutofit/>
          </a:bodyPr>
          <a:lstStyle/>
          <a:p>
            <a:pPr algn="ctr">
              <a:defRPr sz="2000" b="1">
                <a:solidFill>
                  <a:srgbClr val="FFFFFF"/>
                </a:solidFill>
              </a:defRPr>
            </a:pPr>
          </a:p>
        </p:txBody>
      </p:sp>
      <p:sp>
        <p:nvSpPr>
          <p:cNvPr id="11" name="Rounded Rectangle 10"/>
          <p:cNvSpPr/>
          <p:nvPr/>
        </p:nvSpPr>
        <p:spPr>
          <a:xfrm>
            <a:off x="7604607" y="2011680"/>
            <a:ext cx="2286000" cy="3200400"/>
          </a:xfrm>
          <a:prstGeom prst="roundRect">
            <a:avLst/>
          </a:prstGeom>
          <a:solidFill>
            <a:srgbClr val="141A26"/>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90407" y="2468880"/>
            <a:ext cx="914400" cy="9144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0407" y="2468880"/>
            <a:ext cx="914400" cy="914400"/>
          </a:xfrm>
          <a:prstGeom prst="rect">
            <a:avLst/>
          </a:prstGeom>
          <a:noFill/>
        </p:spPr>
        <p:txBody>
          <a:bodyPr wrap="none" anchor="ctr">
            <a:spAutoFit/>
          </a:bodyPr>
          <a:lstStyle/>
          <a:p>
            <a:pPr algn="ctr">
              <a:defRPr sz="3600" b="1">
                <a:solidFill>
                  <a:srgbClr val="0B0F1A"/>
                </a:solidFill>
              </a:defRPr>
            </a:pPr>
            <a:r>
              <a:t>🎓</a:t>
            </a:r>
          </a:p>
        </p:txBody>
      </p:sp>
      <p:sp>
        <p:nvSpPr>
          <p:cNvPr id="14" name="TextBox 13"/>
          <p:cNvSpPr txBox="1"/>
          <p:nvPr/>
        </p:nvSpPr>
        <p:spPr>
          <a:xfrm>
            <a:off x="7696047" y="3657600"/>
            <a:ext cx="2103120" cy="1371600"/>
          </a:xfrm>
          <a:prstGeom prst="rect">
            <a:avLst/>
          </a:prstGeom>
          <a:noFill/>
        </p:spPr>
        <p:txBody>
          <a:bodyPr wrap="square">
            <a:normAutofit/>
          </a:bodyPr>
          <a:lstStyle/>
          <a:p>
            <a:pPr algn="ctr">
              <a:defRPr sz="2000" b="1">
                <a:solidFill>
                  <a:srgbClr val="FFFFFF"/>
                </a:solidFill>
              </a:defRPr>
            </a:p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731520" y="2286000"/>
            <a:ext cx="10728655" cy="1371600"/>
          </a:xfrm>
          <a:prstGeom prst="rect">
            <a:avLst/>
          </a:prstGeom>
          <a:noFill/>
        </p:spPr>
        <p:txBody>
          <a:bodyPr wrap="square">
            <a:spAutoFit/>
          </a:bodyPr>
          <a:lstStyle/>
          <a:p>
            <a:pPr algn="ctr">
              <a:defRPr sz="5200" b="1">
                <a:solidFill>
                  <a:srgbClr val="FFFFFF"/>
                </a:solidFill>
              </a:defRPr>
            </a:pPr>
            <a:r>
              <a:t>The best spreadsheet is the one</a:t>
            </a:r>
            <a:br/>
            <a:r>
              <a:t>your stakeholder never has to open.</a:t>
            </a:r>
          </a:p>
        </p:txBody>
      </p:sp>
      <p:sp>
        <p:nvSpPr>
          <p:cNvPr id="3" name="TextBox 2"/>
          <p:cNvSpPr txBox="1"/>
          <p:nvPr/>
        </p:nvSpPr>
        <p:spPr>
          <a:xfrm>
            <a:off x="914400" y="3840480"/>
            <a:ext cx="10362895" cy="914400"/>
          </a:xfrm>
          <a:prstGeom prst="rect">
            <a:avLst/>
          </a:prstGeom>
          <a:noFill/>
        </p:spPr>
        <p:txBody>
          <a:bodyPr wrap="square">
            <a:spAutoFit/>
          </a:bodyPr>
          <a:lstStyle/>
          <a:p>
            <a:pPr algn="ctr">
              <a:defRPr sz="2400">
                <a:solidFill>
                  <a:srgbClr val="8B95A5"/>
                </a:solidFill>
              </a:defRPr>
            </a:pPr>
            <a:r>
              <a:t>Turn data into decisions. That's the skill.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B0F1A"/>
        </a:solidFill>
        <a:effectLst/>
      </p:bgPr>
    </p:bg>
    <p:spTree>
      <p:nvGrpSpPr>
        <p:cNvPr id="1" name=""/>
        <p:cNvGrpSpPr/>
        <p:nvPr/>
      </p:nvGrpSpPr>
      <p:grpSpPr/>
      <p:sp>
        <p:nvSpPr>
          <p:cNvPr id="2" name="TextBox 1"/>
          <p:cNvSpPr txBox="1"/>
          <p:nvPr/>
        </p:nvSpPr>
        <p:spPr>
          <a:xfrm>
            <a:off x="457200" y="2286000"/>
            <a:ext cx="11277295" cy="2286000"/>
          </a:xfrm>
          <a:prstGeom prst="rect">
            <a:avLst/>
          </a:prstGeom>
          <a:noFill/>
        </p:spPr>
        <p:txBody>
          <a:bodyPr wrap="square">
            <a:spAutoFit/>
          </a:bodyPr>
          <a:lstStyle/>
          <a:p>
            <a:pPr algn="ctr">
              <a:defRPr sz="8000" b="1">
                <a:solidFill>
                  <a:srgbClr val="10B981"/>
                </a:solidFill>
              </a:defRPr>
            </a:pPr>
            <a:r>
              <a:t>Claude + Excel Deep Dive</a:t>
            </a:r>
          </a:p>
        </p:txBody>
      </p:sp>
      <p:sp>
        <p:nvSpPr>
          <p:cNvPr id="3" name="Rectangle 2"/>
          <p:cNvSpPr/>
          <p:nvPr/>
        </p:nvSpPr>
        <p:spPr>
          <a:xfrm>
            <a:off x="0" y="4754880"/>
            <a:ext cx="12191695"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0"/>
            <a:ext cx="11277295" cy="457200"/>
          </a:xfrm>
          <a:prstGeom prst="rect">
            <a:avLst/>
          </a:prstGeom>
          <a:noFill/>
        </p:spPr>
        <p:txBody>
          <a:bodyPr wrap="none">
            <a:spAutoFit/>
          </a:bodyPr>
          <a:lstStyle/>
          <a:p>
            <a:pPr algn="r">
              <a:defRPr sz="2000">
                <a:solidFill>
                  <a:srgbClr val="8B95A5"/>
                </a:solidFill>
              </a:defRPr>
            </a:pPr>
            <a:r>
              <a:t>- © 2026 AIA Copilot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