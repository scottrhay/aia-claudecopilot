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Welcome to the technical track - we assume you know AI basics from business sessions</a:t>
            </a:r>
          </a:p>
          <a:p/>
          <a:p>
            <a:r>
              <a:t>KEY POINTS:</a:t>
            </a:r>
          </a:p>
          <a:p>
            <a:r>
              <a:t>   * Focus: Administration, configuration, development workflows</a:t>
            </a:r>
          </a:p>
          <a:p>
            <a:r>
              <a:t>   * 2 hours: Enterprise admin + Claude Code deep dive</a:t>
            </a:r>
          </a:p>
          <a:p>
            <a:r>
              <a:t>   * Hands-on examples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Key difference: Centralized control and security</a:t>
            </a:r>
          </a:p>
          <a:p>
            <a:r>
              <a:t>   * Enterprise commitment: No training on your data</a:t>
            </a:r>
          </a:p>
          <a:p>
            <a:r>
              <a:t>   * Integrates with existing infrastructure</a:t>
            </a:r>
          </a:p>
          <a:p/>
          <a:p>
            <a:r>
              <a:t>ASK THE CLASS:</a:t>
            </a:r>
          </a:p>
          <a:p>
            <a:r>
              <a:t>   "Who here has admin access to Claude Enterprise already?"</a:t>
            </a:r>
          </a:p>
          <a:p>
            <a:r>
              <a:t>   [PAUSE for 30-60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User management and role assignment</a:t>
            </a:r>
          </a:p>
          <a:p>
            <a:r>
              <a:t>   * Usage dashboards and analytics</a:t>
            </a:r>
          </a:p>
          <a:p>
            <a:r>
              <a:t>   * Data retention settings</a:t>
            </a:r>
          </a:p>
          <a:p>
            <a:r>
              <a:t>   * Audit logs for compliance</a:t>
            </a:r>
          </a:p>
          <a:p/>
          <a:p>
            <a:r>
              <a:t>DEMO:</a:t>
            </a:r>
          </a:p>
          <a:p>
            <a:r>
              <a:t>   Walk through admin console: User list, usage graphs, settings, audit logs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Integrates with Azure AD / Entra ID</a:t>
            </a:r>
          </a:p>
          <a:p>
            <a:r>
              <a:t>   * Users sign in with corporate credentials</a:t>
            </a:r>
          </a:p>
          <a:p>
            <a:r>
              <a:t>   * SCIM enables automatic user creation/removal</a:t>
            </a:r>
          </a:p>
          <a:p>
            <a:r>
              <a:t>   * No separate passwords to manage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EMPHASIZE: Enterprise data isolated, not used for training</a:t>
            </a:r>
          </a:p>
          <a:p>
            <a:r>
              <a:t>   * Retention: Auto-purge after set period</a:t>
            </a:r>
          </a:p>
          <a:p>
            <a:r>
              <a:t>   * Export useful for audits and legal holds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Active users and conversation volume</a:t>
            </a:r>
          </a:p>
          <a:p>
            <a:r>
              <a:t>   * Token usage by team/department</a:t>
            </a:r>
          </a:p>
          <a:p>
            <a:r>
              <a:t>   * Cost allocation reporting</a:t>
            </a:r>
          </a:p>
          <a:p>
            <a:r>
              <a:t>   * Trend analysis over time</a:t>
            </a:r>
          </a:p>
          <a:p>
            <a:r>
              <a:t>   * Useful for: Chargebacks, capacity planning</a:t>
            </a:r>
          </a:p>
          <a:p/>
          <a:p>
            <a:r>
              <a:t>DEMO:</a:t>
            </a:r>
          </a:p>
          <a:p>
            <a:r>
              <a:t>   Show usage dashboard if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Shared instructions that apply to all conversations</a:t>
            </a:r>
          </a:p>
          <a:p>
            <a:r>
              <a:t>   * File uploads as knowledge base</a:t>
            </a:r>
          </a:p>
          <a:p>
            <a:r>
              <a:t>   * Team sharing and collaboration</a:t>
            </a:r>
          </a:p>
          <a:p>
            <a:r>
              <a:t>   * Think: 'Trained assistant' for a specific domain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System-level prompts that persist</a:t>
            </a:r>
          </a:p>
          <a:p>
            <a:r>
              <a:t>   * Define tone, format, constraints</a:t>
            </a:r>
          </a:p>
          <a:p>
            <a:r>
              <a:t>   * Reference company terminology</a:t>
            </a:r>
          </a:p>
          <a:p>
            <a:r>
              <a:t>   * Set guardrails for responses</a:t>
            </a:r>
          </a:p>
          <a:p/>
          <a:p>
            <a:r>
              <a:t>DEMO:</a:t>
            </a:r>
          </a:p>
          <a:p>
            <a:r>
              <a:t>   Create simple project with custom instructions, show how it affects responses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 does NOT memorize files - reads each conversation</a:t>
            </a:r>
          </a:p>
          <a:p>
            <a:r>
              <a:t>   * Files provide context for all project conversations</a:t>
            </a:r>
          </a:p>
          <a:p>
            <a:r>
              <a:t>   * Keep updated as sources change</a:t>
            </a:r>
          </a:p>
          <a:p/>
          <a:p>
            <a:r>
              <a:t>DEMO:</a:t>
            </a:r>
          </a:p>
          <a:p>
            <a:r>
              <a:t>   Upload document, ask questions about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KEY POINTS:</a:t>
            </a:r>
          </a:p>
          <a:p>
            <a:r>
              <a:t>   * Projects = persistent context across conversations</a:t>
            </a:r>
          </a:p>
          <a:p>
            <a:r>
              <a:t>   * Upload up to 100 files, 200KB each (or 32MB total)</a:t>
            </a:r>
          </a:p>
          <a:p>
            <a:r>
              <a:t>   * Claude references all project files automatically</a:t>
            </a:r>
          </a:p>
          <a:p>
            <a:r>
              <a:t>   * Add Custom Instructions for project-specific behavior</a:t>
            </a:r>
          </a:p>
          <a:p>
            <a:r>
              <a:t>   * Perfect for: Codebases, documentation sets, research projects</a:t>
            </a:r>
          </a:p>
          <a:p/>
          <a:p>
            <a:r>
              <a:t>REAL-WORLD EXAMPLE:</a:t>
            </a:r>
          </a:p>
          <a:p>
            <a:r>
              <a:t>   Developer uploads API docs, database schema, and existing code. Asks 'How should I implement authentication?' Claude references all three files in its answer.</a:t>
            </a:r>
          </a:p>
          <a:p/>
          <a:p>
            <a:r>
              <a:t>DEMO:</a:t>
            </a:r>
          </a:p>
          <a:p>
            <a:r>
              <a:t>   Create new Claude Project. Upload 3 related files (e.g., API docs, config, code). Ask Claude to 'analyze these files and suggest improvements.' Show how Claude references all files in response. Add new file to project, ask follow-up question showing context persistence.</a:t>
            </a:r>
          </a:p>
          <a:p/>
          <a:p>
            <a:r>
              <a:t>TRANSITION:</a:t>
            </a:r>
          </a:p>
          <a:p>
            <a:r>
              <a:t>   Projects give Claude long-term memory - now let's see how it thinks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Three permission levels</a:t>
            </a:r>
          </a:p>
          <a:p>
            <a:r>
              <a:t>   * Shared projects appear in team sidebar</a:t>
            </a:r>
          </a:p>
          <a:p>
            <a:r>
              <a:t>   * IMPORTANT: Only project context is shared, NOT conversations</a:t>
            </a:r>
          </a:p>
          <a:p>
            <a:r>
              <a:t>   * Each person's chats remain private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Common patterns: Department assistant, product docs, coding standards</a:t>
            </a:r>
          </a:p>
          <a:p>
            <a:r>
              <a:t>   * Keep focused - don't overload</a:t>
            </a:r>
          </a:p>
          <a:p>
            <a:r>
              <a:t>   * Regular maintenance needed</a:t>
            </a:r>
          </a:p>
          <a:p/>
          <a:p>
            <a:r>
              <a:t>ASK THE CLASS:</a:t>
            </a:r>
          </a:p>
          <a:p>
            <a:r>
              <a:t>   "What projects would be useful for your teams?"</a:t>
            </a:r>
          </a:p>
          <a:p>
            <a:r>
              <a:t>   [PAUSE for 30-60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 min</a:t>
            </a:r>
          </a:p>
          <a:p/>
          <a:p>
            <a:r>
              <a:t>KEY POINTS:</a:t>
            </a:r>
          </a:p>
          <a:p>
            <a:r>
              <a:t>   * Extended Thinking = visible reasoning process (like chain-of-thought)</a:t>
            </a:r>
          </a:p>
          <a:p>
            <a:r>
              <a:t>   * Use for: Complex logic, architecture decisions, debugging, edge cases</a:t>
            </a:r>
          </a:p>
          <a:p>
            <a:r>
              <a:t>   * Costs more tokens (thinking counts toward usage)</a:t>
            </a:r>
          </a:p>
          <a:p>
            <a:r>
              <a:t>   * Thinking is collapsible - see summary or expand for details</a:t>
            </a:r>
          </a:p>
          <a:p>
            <a:r>
              <a:t>   * Quality improvement most noticeable on hard problems</a:t>
            </a:r>
          </a:p>
          <a:p/>
          <a:p>
            <a:r>
              <a:t>REAL-WORLD EXAMPLE:</a:t>
            </a:r>
          </a:p>
          <a:p>
            <a:r>
              <a:t>   Architect asks 'Should I use microservices or monolith for this system?' Extended Thinking shows Claude weighing trade-offs: team size, deployment complexity, scaling needs, development speed.</a:t>
            </a:r>
          </a:p>
          <a:p/>
          <a:p>
            <a:r>
              <a:t>DEMO:</a:t>
            </a:r>
          </a:p>
          <a:p>
            <a:r>
              <a:t>   Give Claude a complex coding problem: 'Design a rate limiter with these requirements: [list 5 requirements].' Toggle Extended Thinking ON. Watch the thinking process appear (collapsed). Expand thinking to show reasoning steps. Compare response quality to regular mode (if time allows).</a:t>
            </a:r>
          </a:p>
          <a:p/>
          <a:p>
            <a:r>
              <a:t>TRANSITION:</a:t>
            </a:r>
          </a:p>
          <a:p>
            <a:r>
              <a:t>   Thinking helps with complex text - but what about visual problems?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where developers spend most time - Claude in your terminal</a:t>
            </a:r>
          </a:p>
          <a:p/>
          <a:p>
            <a:r>
              <a:t>KEY POINTS:</a:t>
            </a:r>
          </a:p>
          <a:p>
            <a:r>
              <a:t>   * CLI tool for development workflow</a:t>
            </a:r>
          </a:p>
          <a:p>
            <a:r>
              <a:t>   * Reads and understands entire codebase</a:t>
            </a:r>
          </a:p>
          <a:p>
            <a:r>
              <a:t>   * Can edit files, run commands, create commits</a:t>
            </a:r>
          </a:p>
          <a:p>
            <a:r>
              <a:t>   * Works in any language, any 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Requires Node.js 18+, Claude Enterprise account</a:t>
            </a:r>
          </a:p>
          <a:p>
            <a:r>
              <a:t>   * Authentication uses OAuth - links to enterprise</a:t>
            </a:r>
          </a:p>
          <a:p>
            <a:r>
              <a:t>   * After login, ready to go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6 min</a:t>
            </a:r>
          </a:p>
          <a:p/>
          <a:p>
            <a:r>
              <a:t>KEY POINTS:</a:t>
            </a:r>
          </a:p>
          <a:p>
            <a:r>
              <a:t>   * Claude can 'see' images: screenshots, diagrams, charts, UI mockups</a:t>
            </a:r>
          </a:p>
          <a:p>
            <a:r>
              <a:t>   * Use cases: UI review, architecture analysis, data viz critique, accessibility audit</a:t>
            </a:r>
          </a:p>
          <a:p>
            <a:r>
              <a:t>   * Combine vision + code: Screenshot + code file = 'Does my implementation match this design?'</a:t>
            </a:r>
          </a:p>
          <a:p>
            <a:r>
              <a:t>   * Works in Projects too (upload design files alongside code)</a:t>
            </a:r>
          </a:p>
          <a:p>
            <a:r>
              <a:t>   * Max 5 images per message, 25 images per conversation</a:t>
            </a:r>
          </a:p>
          <a:p/>
          <a:p>
            <a:r>
              <a:t>REAL-WORLD EXAMPLE:</a:t>
            </a:r>
          </a:p>
          <a:p>
            <a:r>
              <a:t>   Designer uploads 3 UI mockups and existing component code. Asks 'Which design is easiest to implement with our current codebase?' Claude references both visuals and code.</a:t>
            </a:r>
          </a:p>
          <a:p/>
          <a:p>
            <a:r>
              <a:t>DEMO:</a:t>
            </a:r>
          </a:p>
          <a:p>
            <a:r>
              <a:t>   Upload screenshot of complex UI (dashboard, form, etc.). Ask 'What accessibility issues do you see?' Claude analyzes layout, color contrast, labels. Then upload architecture diagram (e.g., AWS architecture). Ask 'What are the bottlenecks in this design?' Show Claude referencing visual elements.</a:t>
            </a:r>
          </a:p>
          <a:p/>
          <a:p>
            <a:r>
              <a:t>TRANSITION:</a:t>
            </a:r>
          </a:p>
          <a:p>
            <a:r>
              <a:t>   Now let's see Claude actually changing code with interactive mode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KEY POINTS:</a:t>
            </a:r>
          </a:p>
          <a:p>
            <a:r>
              <a:t>   * Claude reads files, understands structure</a:t>
            </a:r>
          </a:p>
          <a:p>
            <a:r>
              <a:t>   * Has context of ENTIRE project</a:t>
            </a:r>
          </a:p>
          <a:p>
            <a:r>
              <a:t>   * Can navigate, search, analyze</a:t>
            </a:r>
          </a:p>
          <a:p/>
          <a:p>
            <a:r>
              <a:t>DEMO:</a:t>
            </a:r>
          </a:p>
          <a:p>
            <a:r>
              <a:t>   cd to sample repo, run 'claude', show: 'explain the authentication flow in this codebase'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IMPORTANT: Claude never writes without asking</a:t>
            </a:r>
          </a:p>
          <a:p>
            <a:r>
              <a:t>   * You see diff, approve or reject</a:t>
            </a:r>
          </a:p>
          <a:p>
            <a:r>
              <a:t>   * Workflow: Request → Claude proposes → You approve → Claude executes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Slash commands = shortcuts for common tasks</a:t>
            </a:r>
          </a:p>
          <a:p>
            <a:r>
              <a:t>   * /commit is most used - smart commit messages</a:t>
            </a:r>
          </a:p>
          <a:p>
            <a:r>
              <a:t>   * /compact helps when conversation gets long</a:t>
            </a:r>
          </a:p>
          <a:p>
            <a:r>
              <a:t>   * /review catches issues before commit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CLAUDE.md at project root</a:t>
            </a:r>
          </a:p>
          <a:p>
            <a:r>
              <a:t>   * Provides context, preferences, constraints</a:t>
            </a:r>
          </a:p>
          <a:p>
            <a:r>
              <a:t>   * Claude reads this automatically</a:t>
            </a:r>
          </a:p>
          <a:p>
            <a:r>
              <a:t>   * Version-controlled with your code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KEY POINTS:</a:t>
            </a:r>
          </a:p>
          <a:p>
            <a:r>
              <a:t>   * Bug fix: Claude finds issue, proposes fix, you approve</a:t>
            </a:r>
          </a:p>
          <a:p>
            <a:r>
              <a:t>   * Feature: Claude plans, implements, tests</a:t>
            </a:r>
          </a:p>
          <a:p>
            <a:r>
              <a:t>   * Refactor: Safe because you review diff first</a:t>
            </a:r>
          </a:p>
          <a:p/>
          <a:p>
            <a:r>
              <a:t>DEMO:</a:t>
            </a:r>
          </a:p>
          <a:p>
            <a:r>
              <a:t>   Show 3 workflows: 1) Fix bug: 'Fix the null pointer error in auth.py' 2) Add feature: 'Add rate limiting to API endpoints' 3) Refactor: 'Extract this logic into a service class'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/commit analyzes changes, writes descriptive message</a:t>
            </a:r>
          </a:p>
          <a:p>
            <a:r>
              <a:t>   * Can follow conventional commit format</a:t>
            </a:r>
          </a:p>
          <a:p>
            <a:r>
              <a:t>   * PR descriptions summarize intent and changes</a:t>
            </a:r>
          </a:p>
          <a:p>
            <a:r>
              <a:t>   * Huge time saver for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 Code shines with existing codebases</a:t>
            </a:r>
          </a:p>
          <a:p>
            <a:r>
              <a:t>   * Context awareness is the superpower</a:t>
            </a:r>
          </a:p>
          <a:p>
            <a:r>
              <a:t>   * For new projects, IDE autocomplete often faster</a:t>
            </a:r>
          </a:p>
          <a:p>
            <a:r>
              <a:t>   * Performance: Still need profiling tools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 Code is client-side tool</a:t>
            </a:r>
          </a:p>
          <a:p>
            <a:r>
              <a:t>   * Only sends what's needed for context</a:t>
            </a:r>
          </a:p>
          <a:p>
            <a:r>
              <a:t>   * Still: Review before accepting changes</a:t>
            </a:r>
          </a:p>
          <a:p>
            <a:r>
              <a:t>   * Audit logs show what was sent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Token usage can add up on large codebases</a:t>
            </a:r>
          </a:p>
          <a:p>
            <a:r>
              <a:t>   * /compact periodically to save tokens</a:t>
            </a:r>
          </a:p>
          <a:p>
            <a:r>
              <a:t>   * New conversation = fresh context (cheaper)</a:t>
            </a:r>
          </a:p>
          <a:p>
            <a:r>
              <a:t>   * Admin can set budgets per team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CLAUDE.md provides critical context</a:t>
            </a:r>
          </a:p>
          <a:p>
            <a:r>
              <a:t>   * Never blindly accept - always review</a:t>
            </a:r>
          </a:p>
          <a:p>
            <a:r>
              <a:t>   * Specificity gets better results</a:t>
            </a:r>
          </a:p>
          <a:p>
            <a:r>
              <a:t>   * Iteration is workflow, not failure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KEY POINTS:</a:t>
            </a:r>
          </a:p>
          <a:p>
            <a:r>
              <a:t>   * Don't force on everyone at once</a:t>
            </a:r>
          </a:p>
          <a:p>
            <a:r>
              <a:t>   * Pilot team finds what works</a:t>
            </a:r>
          </a:p>
          <a:p>
            <a:r>
              <a:t>   * Share learnings across org</a:t>
            </a:r>
          </a:p>
          <a:p>
            <a:r>
              <a:t>   * Track metrics to show value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KEY POINTS:</a:t>
            </a:r>
          </a:p>
          <a:p>
            <a:r>
              <a:t>   * You now have foundation for admin and development</a:t>
            </a:r>
          </a:p>
          <a:p>
            <a:r>
              <a:t>   * Start with pilot, expand as you learn</a:t>
            </a:r>
          </a:p>
          <a:p>
            <a:r>
              <a:t>   * Tomorrow: Advanced patterns (agents, skills, MCP)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KEY POINTS:</a:t>
            </a:r>
          </a:p>
          <a:p>
            <a:r>
              <a:t>   * Questions welcome</a:t>
            </a:r>
          </a:p>
          <a:p>
            <a:r>
              <a:t>   * Practice with Claude Code this evening</a:t>
            </a:r>
          </a:p>
          <a:p>
            <a:r>
              <a:t>   * See you tomorrow for advanced patterns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Technical Deep Dive for IT Teams</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 Enterprise Overview</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20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What is Claude Enterprise?</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Enterprise-grade Claude deployment</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SSO integration with your identity provider</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Admin controls for usage, data retention, access</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Team collaboration with shared projects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Data NOT used to train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640080"/>
          </a:xfrm>
          <a:prstGeom prst="rect">
            <a:avLst/>
          </a:prstGeom>
          <a:noFill/>
        </p:spPr>
        <p:txBody>
          <a:bodyPr wrap="none">
            <a:spAutoFit/>
          </a:bodyPr>
          <a:lstStyle/>
          <a:p>
            <a:pPr>
              <a:defRPr sz="3200" b="1">
                <a:solidFill>
                  <a:srgbClr val="FFFFFF"/>
                </a:solidFill>
              </a:defRPr>
            </a:pPr>
            <a:r>
              <a:t>Admin Console Overview</a:t>
            </a:r>
          </a:p>
        </p:txBody>
      </p:sp>
      <p:sp>
        <p:nvSpPr>
          <p:cNvPr id="3" name="Rounded Rectangle 2"/>
          <p:cNvSpPr/>
          <p:nvPr/>
        </p:nvSpPr>
        <p:spPr>
          <a:xfrm>
            <a:off x="914400" y="1280160"/>
            <a:ext cx="10362895" cy="4754880"/>
          </a:xfrm>
          <a:prstGeom prst="roundRect">
            <a:avLst/>
          </a:prstGeom>
          <a:solidFill>
            <a:srgbClr val="141A26"/>
          </a:solidFill>
          <a:ln w="25400">
            <a:solidFill>
              <a:srgbClr val="00D4A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00400"/>
            <a:ext cx="10362895" cy="914400"/>
          </a:xfrm>
          <a:prstGeom prst="rect">
            <a:avLst/>
          </a:prstGeom>
          <a:noFill/>
        </p:spPr>
        <p:txBody>
          <a:bodyPr wrap="none">
            <a:spAutoFit/>
          </a:bodyPr>
          <a:lstStyle/>
          <a:p>
            <a:pPr algn="ctr">
              <a:defRPr sz="2400" b="1">
                <a:solidFill>
                  <a:srgbClr val="8B95A5"/>
                </a:solidFill>
              </a:defRPr>
            </a:pPr>
            <a:r>
              <a:t>[Claude Enterprise Admin Console]</a:t>
            </a:r>
          </a:p>
        </p:txBody>
      </p:sp>
      <p:sp>
        <p:nvSpPr>
          <p:cNvPr id="5" name="TextBox 4"/>
          <p:cNvSpPr txBox="1"/>
          <p:nvPr/>
        </p:nvSpPr>
        <p:spPr>
          <a:xfrm>
            <a:off x="914400" y="4114800"/>
            <a:ext cx="10362895" cy="457200"/>
          </a:xfrm>
          <a:prstGeom prst="rect">
            <a:avLst/>
          </a:prstGeom>
          <a:noFill/>
        </p:spPr>
        <p:txBody>
          <a:bodyPr wrap="none">
            <a:spAutoFit/>
          </a:bodyPr>
          <a:lstStyle/>
          <a:p>
            <a:pPr algn="ctr">
              <a:defRPr sz="1400" i="1">
                <a:solidFill>
                  <a:srgbClr val="4A5568"/>
                </a:solidFill>
              </a:defRPr>
            </a:pPr>
            <a:r>
              <a:t>Replace with actual screenshot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SSO &amp; Identity Integration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SAML 2.0 / OIDC support</a:t>
            </a:r>
          </a:p>
          <a:p>
            <a:pPr>
              <a:spcBef>
                <a:spcPts val="800"/>
              </a:spcBef>
              <a:spcAft>
                <a:spcPts val="800"/>
              </a:spcAft>
              <a:defRPr sz="2200">
                <a:solidFill>
                  <a:srgbClr val="FFFFFF"/>
                </a:solidFill>
              </a:defRPr>
            </a:pPr>
            <a:r>
              <a:t>  Automatic user provisioning (SCIM)</a:t>
            </a:r>
          </a:p>
          <a:p>
            <a:pPr>
              <a:spcBef>
                <a:spcPts val="800"/>
              </a:spcBef>
              <a:spcAft>
                <a:spcPts val="800"/>
              </a:spcAft>
              <a:defRPr sz="2200">
                <a:solidFill>
                  <a:srgbClr val="FFFFFF"/>
                </a:solidFill>
              </a:defRPr>
            </a:pPr>
            <a:r>
              <a:t>  Group-based access control</a:t>
            </a:r>
          </a:p>
          <a:p>
            <a:pPr>
              <a:spcBef>
                <a:spcPts val="800"/>
              </a:spcBef>
              <a:spcAft>
                <a:spcPts val="800"/>
              </a:spcAft>
              <a:defRPr sz="2200">
                <a:solidFill>
                  <a:srgbClr val="FFFFFF"/>
                </a:solidFill>
              </a:defRPr>
            </a:pPr>
            <a:r>
              <a:t>  Session management and timeouts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Data &amp; Security Controls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Configurable data retention (30-365 days or custom)</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Conversation export for compliance</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No model training on enterprise data</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SOC 2 Type II certified</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HIPAA compliance options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640080"/>
          </a:xfrm>
          <a:prstGeom prst="rect">
            <a:avLst/>
          </a:prstGeom>
          <a:noFill/>
        </p:spPr>
        <p:txBody>
          <a:bodyPr wrap="none">
            <a:spAutoFit/>
          </a:bodyPr>
          <a:lstStyle/>
          <a:p>
            <a:pPr>
              <a:defRPr sz="3200" b="1">
                <a:solidFill>
                  <a:srgbClr val="FFFFFF"/>
                </a:solidFill>
              </a:defRPr>
            </a:pPr>
            <a:r>
              <a:t>Usage Analytics Dashboard</a:t>
            </a:r>
          </a:p>
        </p:txBody>
      </p:sp>
      <p:sp>
        <p:nvSpPr>
          <p:cNvPr id="3" name="Rounded Rectangle 2"/>
          <p:cNvSpPr/>
          <p:nvPr/>
        </p:nvSpPr>
        <p:spPr>
          <a:xfrm>
            <a:off x="914400" y="1280160"/>
            <a:ext cx="10362895" cy="4754880"/>
          </a:xfrm>
          <a:prstGeom prst="roundRect">
            <a:avLst/>
          </a:prstGeom>
          <a:solidFill>
            <a:srgbClr val="141A26"/>
          </a:solidFill>
          <a:ln w="25400">
            <a:solidFill>
              <a:srgbClr val="00D4A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00400"/>
            <a:ext cx="10362895" cy="914400"/>
          </a:xfrm>
          <a:prstGeom prst="rect">
            <a:avLst/>
          </a:prstGeom>
          <a:noFill/>
        </p:spPr>
        <p:txBody>
          <a:bodyPr wrap="none">
            <a:spAutoFit/>
          </a:bodyPr>
          <a:lstStyle/>
          <a:p>
            <a:pPr algn="ctr">
              <a:defRPr sz="2400" b="1">
                <a:solidFill>
                  <a:srgbClr val="8B95A5"/>
                </a:solidFill>
              </a:defRPr>
            </a:pPr>
            <a:r>
              <a:t>[Usage Analytics Example]</a:t>
            </a:r>
          </a:p>
        </p:txBody>
      </p:sp>
      <p:sp>
        <p:nvSpPr>
          <p:cNvPr id="5" name="TextBox 4"/>
          <p:cNvSpPr txBox="1"/>
          <p:nvPr/>
        </p:nvSpPr>
        <p:spPr>
          <a:xfrm>
            <a:off x="914400" y="4114800"/>
            <a:ext cx="10362895" cy="457200"/>
          </a:xfrm>
          <a:prstGeom prst="rect">
            <a:avLst/>
          </a:prstGeom>
          <a:noFill/>
        </p:spPr>
        <p:txBody>
          <a:bodyPr wrap="none">
            <a:spAutoFit/>
          </a:bodyPr>
          <a:lstStyle/>
          <a:p>
            <a:pPr algn="ctr">
              <a:defRPr sz="1400" i="1">
                <a:solidFill>
                  <a:srgbClr val="4A5568"/>
                </a:solidFill>
              </a:defRPr>
            </a:pPr>
            <a:r>
              <a:t>Replace with actual screenshot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Projects &amp; Knowledge Bases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20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Are Projects?</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Persistent workspaces with custom context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Custom Instructions Example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You are an assistant for the Finance team at [Company].</a:t>
            </a:r>
            <a:br/>
            <a:br/>
            <a:r>
              <a:t>Always use our fiscal year (April-March) when discussing dates.</a:t>
            </a:r>
            <a:br/>
            <a:r>
              <a:t>Format currency as USD with commas.</a:t>
            </a:r>
            <a:br/>
            <a:r>
              <a:t>Do not provide tax advice - redirect to Legal.</a:t>
            </a:r>
            <a:br/>
            <a:br/>
            <a:r>
              <a:t>References:</a:t>
            </a:r>
            <a:br/>
            <a:r>
              <a:t>- company_policies.pdf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Knowledge Base (File Uploads)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Upload PDFs, docs, spreadsheets, code files</a:t>
            </a:r>
          </a:p>
          <a:p>
            <a:pPr>
              <a:spcBef>
                <a:spcPts val="800"/>
              </a:spcBef>
              <a:spcAft>
                <a:spcPts val="800"/>
              </a:spcAft>
              <a:defRPr sz="2200">
                <a:solidFill>
                  <a:srgbClr val="FFFFFF"/>
                </a:solidFill>
              </a:defRPr>
            </a:pPr>
            <a:r>
              <a:t>  Claude references these in conversations</a:t>
            </a:r>
          </a:p>
          <a:p>
            <a:pPr>
              <a:spcBef>
                <a:spcPts val="800"/>
              </a:spcBef>
              <a:spcAft>
                <a:spcPts val="800"/>
              </a:spcAft>
              <a:defRPr sz="2200">
                <a:solidFill>
                  <a:srgbClr val="FFFFFF"/>
                </a:solidFill>
              </a:defRPr>
            </a:pPr>
            <a:r>
              <a:t>  Max 5 files per project (200MB total)</a:t>
            </a:r>
          </a:p>
          <a:p>
            <a:pPr>
              <a:spcBef>
                <a:spcPts val="800"/>
              </a:spcBef>
              <a:spcAft>
                <a:spcPts val="800"/>
              </a:spcAft>
              <a:defRPr sz="2200">
                <a:solidFill>
                  <a:srgbClr val="FFFFFF"/>
                </a:solidFill>
              </a:defRPr>
            </a:pPr>
            <a:r>
              <a:t>  Great for: Policies, documentation, reference data</a:t>
            </a:r>
          </a:p>
          <a:p>
            <a:pPr>
              <a:spcBef>
                <a:spcPts val="800"/>
              </a:spcBef>
              <a:spcAft>
                <a:spcPts val="800"/>
              </a:spcAft>
              <a:defRPr sz="2200">
                <a:solidFill>
                  <a:srgbClr val="FFFFFF"/>
                </a:solidFill>
              </a:defRPr>
            </a:pPr>
            <a:r>
              <a:t>  Update files as source documents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Claude Projects Demo</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Organizing work with persistent context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Team Sharing</a:t>
            </a:r>
          </a:p>
        </p:txBody>
      </p:sp>
      <p:sp>
        <p:nvSpPr>
          <p:cNvPr id="3" name="Rounded Rectangle 2"/>
          <p:cNvSpPr/>
          <p:nvPr/>
        </p:nvSpPr>
        <p:spPr>
          <a:xfrm>
            <a:off x="230108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V</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r>
              <a:t>View</a:t>
            </a:r>
            <a:br/>
            <a:r>
              <a:t>Read-only access</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E</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r>
              <a:t>Edit</a:t>
            </a:r>
            <a:br/>
            <a:r>
              <a:t>Modify project settings</a:t>
            </a: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r>
              <a:t>Admin</a:t>
            </a:r>
            <a:br/>
            <a:r>
              <a:t>Full control + sharing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Project Best Practices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One project per use case (not per person)</a:t>
            </a:r>
          </a:p>
          <a:p>
            <a:pPr>
              <a:spcBef>
                <a:spcPts val="800"/>
              </a:spcBef>
              <a:spcAft>
                <a:spcPts val="800"/>
              </a:spcAft>
              <a:defRPr sz="2200">
                <a:solidFill>
                  <a:srgbClr val="FFFFFF"/>
                </a:solidFill>
              </a:defRPr>
            </a:pPr>
            <a:r>
              <a:t>  Keep custom instructions under 2000 chars</a:t>
            </a:r>
          </a:p>
          <a:p>
            <a:pPr>
              <a:spcBef>
                <a:spcPts val="800"/>
              </a:spcBef>
              <a:spcAft>
                <a:spcPts val="800"/>
              </a:spcAft>
              <a:defRPr sz="2200">
                <a:solidFill>
                  <a:srgbClr val="FFFFFF"/>
                </a:solidFill>
              </a:defRPr>
            </a:pPr>
            <a:r>
              <a:t>  Update knowledge base files regularly</a:t>
            </a:r>
          </a:p>
          <a:p>
            <a:pPr>
              <a:spcBef>
                <a:spcPts val="800"/>
              </a:spcBef>
              <a:spcAft>
                <a:spcPts val="800"/>
              </a:spcAft>
              <a:defRPr sz="2200">
                <a:solidFill>
                  <a:srgbClr val="FFFFFF"/>
                </a:solidFill>
              </a:defRPr>
            </a:pPr>
            <a:r>
              <a:t>  Use descriptive project names</a:t>
            </a:r>
          </a:p>
          <a:p>
            <a:pPr>
              <a:spcBef>
                <a:spcPts val="800"/>
              </a:spcBef>
              <a:spcAft>
                <a:spcPts val="800"/>
              </a:spcAft>
              <a:defRPr sz="2200">
                <a:solidFill>
                  <a:srgbClr val="FFFFFF"/>
                </a:solidFill>
              </a:defRPr>
            </a:pPr>
            <a:r>
              <a:t>  Anti-pattern: One giant project with everything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 Code Deep Dive</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35 minutes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Extended Thinking Mode Demo</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Watch Claude reason through complex problems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Claude Code?</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AI-Powered Development Workflows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Installation</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Install via npm (requires Node.js 18+)</a:t>
            </a:r>
            <a:br/>
            <a:r>
              <a:t>npm install -g @anthropic-ai/claude-code</a:t>
            </a:r>
            <a:br/>
            <a:br/>
            <a:r>
              <a:t># Or via Homebrew (macOS)</a:t>
            </a:r>
            <a:br/>
            <a:r>
              <a:t>brew install claude-code</a:t>
            </a:r>
            <a:br/>
            <a:br/>
            <a:r>
              <a:t># Authenticate</a:t>
            </a:r>
            <a:br/>
            <a:r>
              <a:t>claude login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Vision Capabilities Demo</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Analyzing screenshots, diagrams, and UI mockups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Basic Workflow</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Navigate, start Claude, ask questions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File Operations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Claude can read any file in project</a:t>
            </a:r>
          </a:p>
          <a:p>
            <a:pPr>
              <a:spcBef>
                <a:spcPts val="800"/>
              </a:spcBef>
              <a:spcAft>
                <a:spcPts val="800"/>
              </a:spcAft>
              <a:defRPr sz="2200">
                <a:solidFill>
                  <a:srgbClr val="FFFFFF"/>
                </a:solidFill>
              </a:defRPr>
            </a:pPr>
            <a:r>
              <a:t>  Edits require your approval (shows diff first)</a:t>
            </a:r>
          </a:p>
          <a:p>
            <a:pPr>
              <a:spcBef>
                <a:spcPts val="800"/>
              </a:spcBef>
              <a:spcAft>
                <a:spcPts val="800"/>
              </a:spcAft>
              <a:defRPr sz="2200">
                <a:solidFill>
                  <a:srgbClr val="FFFFFF"/>
                </a:solidFill>
              </a:defRPr>
            </a:pPr>
            <a:r>
              <a:t>  Can create new files when needed</a:t>
            </a:r>
          </a:p>
          <a:p>
            <a:pPr>
              <a:spcBef>
                <a:spcPts val="800"/>
              </a:spcBef>
              <a:spcAft>
                <a:spcPts val="800"/>
              </a:spcAft>
              <a:defRPr sz="2200">
                <a:solidFill>
                  <a:srgbClr val="FFFFFF"/>
                </a:solidFill>
              </a:defRPr>
            </a:pPr>
            <a:r>
              <a:t>  Respects .gitignore</a:t>
            </a:r>
          </a:p>
          <a:p>
            <a:pPr>
              <a:spcBef>
                <a:spcPts val="800"/>
              </a:spcBef>
              <a:spcAft>
                <a:spcPts val="800"/>
              </a:spcAft>
              <a:defRPr sz="2200">
                <a:solidFill>
                  <a:srgbClr val="FFFFFF"/>
                </a:solidFill>
              </a:defRPr>
            </a:pPr>
            <a:r>
              <a:t>  Safe by design - you're always in control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Slash Commands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/help - Show available commands</a:t>
            </a:r>
          </a:p>
          <a:p>
            <a:pPr>
              <a:spcBef>
                <a:spcPts val="800"/>
              </a:spcBef>
              <a:spcAft>
                <a:spcPts val="800"/>
              </a:spcAft>
              <a:defRPr sz="2200">
                <a:solidFill>
                  <a:srgbClr val="FFFFFF"/>
                </a:solidFill>
              </a:defRPr>
            </a:pPr>
            <a:r>
              <a:t>  /clear - Clear conversation context</a:t>
            </a:r>
          </a:p>
          <a:p>
            <a:pPr>
              <a:spcBef>
                <a:spcPts val="800"/>
              </a:spcBef>
              <a:spcAft>
                <a:spcPts val="800"/>
              </a:spcAft>
              <a:defRPr sz="2200">
                <a:solidFill>
                  <a:srgbClr val="FFFFFF"/>
                </a:solidFill>
              </a:defRPr>
            </a:pPr>
            <a:r>
              <a:t>  /compact - Summarize conversation to save tokens</a:t>
            </a:r>
          </a:p>
          <a:p>
            <a:pPr>
              <a:spcBef>
                <a:spcPts val="800"/>
              </a:spcBef>
              <a:spcAft>
                <a:spcPts val="800"/>
              </a:spcAft>
              <a:defRPr sz="2200">
                <a:solidFill>
                  <a:srgbClr val="FFFFFF"/>
                </a:solidFill>
              </a:defRPr>
            </a:pPr>
            <a:r>
              <a:t>  /commit - Stage and commit changes</a:t>
            </a:r>
          </a:p>
          <a:p>
            <a:pPr>
              <a:spcBef>
                <a:spcPts val="800"/>
              </a:spcBef>
              <a:spcAft>
                <a:spcPts val="800"/>
              </a:spcAft>
              <a:defRPr sz="2200">
                <a:solidFill>
                  <a:srgbClr val="FFFFFF"/>
                </a:solidFill>
              </a:defRPr>
            </a:pPr>
            <a:r>
              <a:t>  /review - Review code changes</a:t>
            </a:r>
          </a:p>
          <a:p>
            <a:pPr>
              <a:spcBef>
                <a:spcPts val="800"/>
              </a:spcBef>
              <a:spcAft>
                <a:spcPts val="800"/>
              </a:spcAft>
              <a:defRPr sz="2200">
                <a:solidFill>
                  <a:srgbClr val="FFFFFF"/>
                </a:solidFill>
              </a:defRPr>
            </a:pPr>
            <a:r>
              <a:t>  /undo - Revert last change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CLAUDE.md Configuration</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none">
            <a:spAutoFit/>
          </a:bodyPr>
          <a:lstStyle/>
          <a:p>
            <a:pPr>
              <a:defRPr sz="1800">
                <a:solidFill>
                  <a:srgbClr val="FFFFFF"/>
                </a:solidFill>
                <a:latin typeface="Consolas"/>
              </a:defRPr>
            </a:pPr>
            <a:r>
              <a:t># Project: Payment Service</a:t>
            </a:r>
            <a:br/>
            <a:br/>
            <a:r>
              <a:t>## Context</a:t>
            </a:r>
            <a:br/>
            <a:r>
              <a:t>Microservice handling payment processing.</a:t>
            </a:r>
            <a:br/>
            <a:r>
              <a:t>Python 3.11, FastAPI, PostgreSQL.</a:t>
            </a:r>
            <a:br/>
            <a:br/>
            <a:r>
              <a:t>## Preferences</a:t>
            </a:r>
            <a:br/>
            <a:r>
              <a:t>- Use type hints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Common Workflows Demo</a:t>
            </a:r>
          </a:p>
        </p:txBody>
      </p:sp>
      <p:sp>
        <p:nvSpPr>
          <p:cNvPr id="5" name="TextBox 4"/>
          <p:cNvSpPr txBox="1"/>
          <p:nvPr/>
        </p:nvSpPr>
        <p:spPr>
          <a:xfrm>
            <a:off x="914400" y="4846320"/>
            <a:ext cx="10362895" cy="731520"/>
          </a:xfrm>
          <a:prstGeom prst="rect">
            <a:avLst/>
          </a:prstGeom>
          <a:noFill/>
        </p:spPr>
        <p:txBody>
          <a:bodyPr wrap="square">
            <a:spAutoFit/>
          </a:bodyPr>
          <a:lstStyle/>
          <a:p>
            <a:pPr algn="ctr">
              <a:defRPr sz="2000">
                <a:solidFill>
                  <a:srgbClr val="8B95A5"/>
                </a:solidFill>
              </a:defRPr>
            </a:pPr>
            <a:r>
              <a:t>Bug fix, feature add, refactoring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Git Integration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Create commits with /commit</a:t>
            </a:r>
          </a:p>
          <a:p>
            <a:pPr>
              <a:spcBef>
                <a:spcPts val="800"/>
              </a:spcBef>
              <a:spcAft>
                <a:spcPts val="800"/>
              </a:spcAft>
              <a:defRPr sz="2200">
                <a:solidFill>
                  <a:srgbClr val="FFFFFF"/>
                </a:solidFill>
              </a:defRPr>
            </a:pPr>
            <a:r>
              <a:t>  Smart commit messages from context</a:t>
            </a:r>
          </a:p>
          <a:p>
            <a:pPr>
              <a:spcBef>
                <a:spcPts val="800"/>
              </a:spcBef>
              <a:spcAft>
                <a:spcPts val="800"/>
              </a:spcAft>
              <a:defRPr sz="2200">
                <a:solidFill>
                  <a:srgbClr val="FFFFFF"/>
                </a:solidFill>
              </a:defRPr>
            </a:pPr>
            <a:r>
              <a:t>  Create branches automatically</a:t>
            </a:r>
          </a:p>
          <a:p>
            <a:pPr>
              <a:spcBef>
                <a:spcPts val="800"/>
              </a:spcBef>
              <a:spcAft>
                <a:spcPts val="800"/>
              </a:spcAft>
              <a:defRPr sz="2200">
                <a:solidFill>
                  <a:srgbClr val="FFFFFF"/>
                </a:solidFill>
              </a:defRPr>
            </a:pPr>
            <a:r>
              <a:t>  Generate PR descriptions</a:t>
            </a:r>
          </a:p>
          <a:p>
            <a:pPr>
              <a:spcBef>
                <a:spcPts val="800"/>
              </a:spcBef>
              <a:spcAft>
                <a:spcPts val="800"/>
              </a:spcAft>
              <a:defRPr sz="2200">
                <a:solidFill>
                  <a:srgbClr val="FFFFFF"/>
                </a:solidFill>
              </a:defRPr>
            </a:pPr>
            <a:r>
              <a:t>  Respects gitignore and gitattributes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Claude Code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Great For</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Exploring unfamiliar codebases</a:t>
            </a:r>
          </a:p>
          <a:p>
            <a:pPr>
              <a:spcAft>
                <a:spcPts val="1200"/>
              </a:spcAft>
              <a:defRPr sz="1800">
                <a:solidFill>
                  <a:srgbClr val="FFFFFF"/>
                </a:solidFill>
              </a:defRPr>
            </a:pPr>
            <a:r>
              <a:t>  Adding features to existing code</a:t>
            </a:r>
          </a:p>
          <a:p>
            <a:pPr>
              <a:spcAft>
                <a:spcPts val="1200"/>
              </a:spcAft>
              <a:defRPr sz="1800">
                <a:solidFill>
                  <a:srgbClr val="FFFFFF"/>
                </a:solidFill>
              </a:defRPr>
            </a:pPr>
            <a:r>
              <a:t>  Refactoring and modernization</a:t>
            </a:r>
          </a:p>
          <a:p>
            <a:pPr>
              <a:spcAft>
                <a:spcPts val="1200"/>
              </a:spcAft>
              <a:defRPr sz="1800">
                <a:solidFill>
                  <a:srgbClr val="FFFFFF"/>
                </a:solidFill>
              </a:defRPr>
            </a:pPr>
            <a:r>
              <a:t>  Writing tests</a:t>
            </a:r>
          </a:p>
          <a:p>
            <a:pPr>
              <a:spcAft>
                <a:spcPts val="1200"/>
              </a:spcAft>
              <a:defRPr sz="1800">
                <a:solidFill>
                  <a:srgbClr val="FFFFFF"/>
                </a:solidFill>
              </a:defRPr>
            </a:pPr>
            <a:r>
              <a:t>  Documentation generation</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Not Ideal For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Greenfield projects (use IDE)</a:t>
            </a:r>
          </a:p>
          <a:p>
            <a:pPr>
              <a:spcAft>
                <a:spcPts val="1200"/>
              </a:spcAft>
              <a:defRPr sz="1800">
                <a:solidFill>
                  <a:srgbClr val="FFFFFF"/>
                </a:solidFill>
              </a:defRPr>
            </a:pPr>
            <a:r>
              <a:t>  One-line fixes</a:t>
            </a:r>
          </a:p>
          <a:p>
            <a:pPr>
              <a:spcAft>
                <a:spcPts val="1200"/>
              </a:spcAft>
              <a:defRPr sz="1800">
                <a:solidFill>
                  <a:srgbClr val="FFFFFF"/>
                </a:solidFill>
              </a:defRPr>
            </a:pPr>
            <a:r>
              <a:t>  Learning a new language</a:t>
            </a:r>
          </a:p>
          <a:p>
            <a:pPr>
              <a:spcAft>
                <a:spcPts val="1200"/>
              </a:spcAft>
              <a:defRPr sz="1800">
                <a:solidFill>
                  <a:srgbClr val="FFFFFF"/>
                </a:solidFill>
              </a:defRPr>
            </a:pPr>
            <a:r>
              <a:t>  Performance optimization (needs profiling)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Security &amp; Best Practices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15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Security Considerations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Code never leaves your machine (runs locally)</a:t>
            </a:r>
          </a:p>
          <a:p>
            <a:pPr>
              <a:spcBef>
                <a:spcPts val="800"/>
              </a:spcBef>
              <a:spcAft>
                <a:spcPts val="800"/>
              </a:spcAft>
              <a:defRPr sz="2200">
                <a:solidFill>
                  <a:srgbClr val="FFFFFF"/>
                </a:solidFill>
              </a:defRPr>
            </a:pPr>
            <a:r>
              <a:t>  API calls to Claude only send selected context</a:t>
            </a:r>
          </a:p>
          <a:p>
            <a:pPr>
              <a:spcBef>
                <a:spcPts val="800"/>
              </a:spcBef>
              <a:spcAft>
                <a:spcPts val="800"/>
              </a:spcAft>
              <a:defRPr sz="2200">
                <a:solidFill>
                  <a:srgbClr val="FFFFFF"/>
                </a:solidFill>
              </a:defRPr>
            </a:pPr>
            <a:r>
              <a:t>  Respects .gitignore - won't read secrets</a:t>
            </a:r>
          </a:p>
          <a:p>
            <a:pPr>
              <a:spcBef>
                <a:spcPts val="800"/>
              </a:spcBef>
              <a:spcAft>
                <a:spcPts val="800"/>
              </a:spcAft>
              <a:defRPr sz="2200">
                <a:solidFill>
                  <a:srgbClr val="FFFFFF"/>
                </a:solidFill>
              </a:defRPr>
            </a:pPr>
            <a:r>
              <a:t>  Enterprise: Audit logs track all activity</a:t>
            </a:r>
          </a:p>
          <a:p>
            <a:pPr>
              <a:spcBef>
                <a:spcPts val="800"/>
              </a:spcBef>
              <a:spcAft>
                <a:spcPts val="800"/>
              </a:spcAft>
              <a:defRPr sz="2200">
                <a:solidFill>
                  <a:srgbClr val="FFFFFF"/>
                </a:solidFill>
              </a:defRPr>
            </a:pPr>
            <a:r>
              <a:t>  Review diffs before accepting changes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Cost Management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Tokens used per conversation visible in UI</a:t>
            </a:r>
          </a:p>
          <a:p>
            <a:pPr>
              <a:spcBef>
                <a:spcPts val="800"/>
              </a:spcBef>
              <a:spcAft>
                <a:spcPts val="800"/>
              </a:spcAft>
              <a:defRPr sz="2200">
                <a:solidFill>
                  <a:srgbClr val="FFFFFF"/>
                </a:solidFill>
              </a:defRPr>
            </a:pPr>
            <a:r>
              <a:t>  /compact to reduce token usage</a:t>
            </a:r>
          </a:p>
          <a:p>
            <a:pPr>
              <a:spcBef>
                <a:spcPts val="800"/>
              </a:spcBef>
              <a:spcAft>
                <a:spcPts val="800"/>
              </a:spcAft>
              <a:defRPr sz="2200">
                <a:solidFill>
                  <a:srgbClr val="FFFFFF"/>
                </a:solidFill>
              </a:defRPr>
            </a:pPr>
            <a:r>
              <a:t>  Start new conversation for unrelated tasks</a:t>
            </a:r>
          </a:p>
          <a:p>
            <a:pPr>
              <a:spcBef>
                <a:spcPts val="800"/>
              </a:spcBef>
              <a:spcAft>
                <a:spcPts val="800"/>
              </a:spcAft>
              <a:defRPr sz="2200">
                <a:solidFill>
                  <a:srgbClr val="FFFFFF"/>
                </a:solidFill>
              </a:defRPr>
            </a:pPr>
            <a:r>
              <a:t>  Use smaller models (Haiku) for simple tasks</a:t>
            </a:r>
          </a:p>
          <a:p>
            <a:pPr>
              <a:spcBef>
                <a:spcPts val="800"/>
              </a:spcBef>
              <a:spcAft>
                <a:spcPts val="800"/>
              </a:spcAft>
              <a:defRPr sz="2200">
                <a:solidFill>
                  <a:srgbClr val="FFFFFF"/>
                </a:solidFill>
              </a:defRPr>
            </a:pPr>
            <a:r>
              <a:t>  Monitor usage in admin console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Best Practices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Always have CLAUDE.md at project root</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Review diffs before accepting changes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Use /commit for descriptive commit messages</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Start specific: 'Fix X in Y file' better than 'Fix bug'</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Iterate: Start small, refine, expand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Team Adoption Strategy</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Start with pilot team (3-5 developers)</a:t>
            </a:r>
          </a:p>
          <a:p>
            <a:pPr>
              <a:spcBef>
                <a:spcPts val="800"/>
              </a:spcBef>
              <a:spcAft>
                <a:spcPts val="800"/>
              </a:spcAft>
              <a:defRPr sz="2200">
                <a:solidFill>
                  <a:srgbClr val="FFFFFF"/>
                </a:solidFill>
              </a:defRPr>
            </a:pPr>
            <a:r>
              <a:t>  Create shared CLAUDE.md templates</a:t>
            </a:r>
          </a:p>
          <a:p>
            <a:pPr>
              <a:spcBef>
                <a:spcPts val="800"/>
              </a:spcBef>
              <a:spcAft>
                <a:spcPts val="800"/>
              </a:spcAft>
              <a:defRPr sz="2200">
                <a:solidFill>
                  <a:srgbClr val="FFFFFF"/>
                </a:solidFill>
              </a:defRPr>
            </a:pPr>
            <a:r>
              <a:t>  Document workflows that work</a:t>
            </a:r>
          </a:p>
          <a:p>
            <a:pPr>
              <a:spcBef>
                <a:spcPts val="800"/>
              </a:spcBef>
              <a:spcAft>
                <a:spcPts val="800"/>
              </a:spcAft>
              <a:defRPr sz="2200">
                <a:solidFill>
                  <a:srgbClr val="FFFFFF"/>
                </a:solidFill>
              </a:defRPr>
            </a:pPr>
            <a:r>
              <a:t>  Share tips in team wiki</a:t>
            </a:r>
          </a:p>
          <a:p>
            <a:pPr>
              <a:spcBef>
                <a:spcPts val="800"/>
              </a:spcBef>
              <a:spcAft>
                <a:spcPts val="800"/>
              </a:spcAft>
              <a:defRPr sz="2200">
                <a:solidFill>
                  <a:srgbClr val="FFFFFF"/>
                </a:solidFill>
              </a:defRPr>
            </a:pPr>
            <a:r>
              <a:t>  Measure: Time saved, quality improvements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Q&amp;A</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10 minutes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Key Takeaways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Claude Enterprise: Admin controls, SSO, audit logs, data isolation</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Projects: Shared context, knowledge bases, team collaboration</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Claude Code: Terminal-based AI for development workflows</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Security: Local execution, selective context sharing</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Best practice: Start small, iterate, measure results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Tomorrow: Agents, Skills &amp; MCP</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