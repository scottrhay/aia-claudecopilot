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minutes</a:t>
            </a:r>
          </a:p>
          <a:p/>
          <a:p>
            <a:r>
              <a:t>KEY POINTS:</a:t>
            </a:r>
          </a:p>
          <a:p>
            <a:r>
              <a:t>   * Welcome to technical track - 2 hours from 'heard of Claude' to 'can administer it'</a:t>
            </a:r>
          </a:p>
          <a:p>
            <a:r>
              <a:t>   * Mix of developers, architects, security-focused attendees</a:t>
            </a:r>
          </a:p>
          <a:p>
            <a:r>
              <a:t>   * Live demos, hands-on time, questions anytime</a:t>
            </a:r>
          </a:p>
          <a:p/>
          <a:p>
            <a:r>
              <a:t>ASK THE CLASS:</a:t>
            </a:r>
          </a:p>
          <a:p>
            <a:r>
              <a:t>   "Quick show of hands - who has used Claude before? Who has admin access to an enterprise AI tool?"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Consumer Claude: Individual use, data may train models</a:t>
            </a:r>
          </a:p>
          <a:p>
            <a:r>
              <a:t>   * Enterprise: Org-wide, data isolation, admin controls</a:t>
            </a:r>
          </a:p>
          <a:p>
            <a:r>
              <a:t>   * Enterprise data is NEVER used to train models - contractual</a:t>
            </a:r>
          </a:p>
          <a:p/>
          <a:p>
            <a:r>
              <a:t>ASK THE CLASS:</a:t>
            </a:r>
          </a:p>
          <a:p>
            <a:r>
              <a:t>   "What admin features do you wish you had in other AI tools?"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Notion, DuckDuckGo, GitLab use Enterprise for security guarantees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minute</a:t>
            </a:r>
          </a:p>
          <a:p/>
          <a:p>
            <a:r>
              <a:t>KEY POINTS:</a:t>
            </a:r>
          </a:p>
          <a:p>
            <a:r>
              <a:t>   * Central hub for managing your Claude deployment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minutes</a:t>
            </a:r>
          </a:p>
          <a:p/>
          <a:p>
            <a:r>
              <a:t>KEY POINTS:</a:t>
            </a:r>
          </a:p>
          <a:p>
            <a:r>
              <a:t>   * DEMO: Walk through admin.claude.ai sections</a:t>
            </a:r>
          </a:p>
          <a:p>
            <a:r>
              <a:t>   * Audit logs are your compliance team's best friend</a:t>
            </a:r>
          </a:p>
          <a:p>
            <a:r>
              <a:t>   * API key management for programmatic access</a:t>
            </a:r>
          </a:p>
          <a:p/>
          <a:p>
            <a:r>
              <a:t>ASK THE CLASS:</a:t>
            </a:r>
          </a:p>
          <a:p>
            <a:r>
              <a:t>   "What's the first thing you'd check if given admin access today?"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minutes</a:t>
            </a:r>
          </a:p>
          <a:p/>
          <a:p>
            <a:r>
              <a:t>KEY POINTS:</a:t>
            </a:r>
          </a:p>
          <a:p>
            <a:r>
              <a:t>   * SAML 2.0 and OIDC support</a:t>
            </a:r>
          </a:p>
          <a:p>
            <a:r>
              <a:t>   * SCIM for automatic provisioning - when someone leaves, access revoked</a:t>
            </a:r>
          </a:p>
          <a:p>
            <a:r>
              <a:t>   * Works with Entra ID, Okta, Google Workspace</a:t>
            </a:r>
          </a:p>
          <a:p>
            <a:r>
              <a:t>   * Setup takes ~30 minutes if you've done SSO before</a:t>
            </a:r>
          </a:p>
          <a:p/>
          <a:p>
            <a:r>
              <a:t>ASK THE CLASS:</a:t>
            </a:r>
          </a:p>
          <a:p>
            <a:r>
              <a:t>   "What identity provider does your organization use?"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minutes</a:t>
            </a:r>
          </a:p>
          <a:p/>
          <a:p>
            <a:r>
              <a:t>KEY POINTS:</a:t>
            </a:r>
          </a:p>
          <a:p>
            <a:r>
              <a:t>   * This is legally binding - not just a policy</a:t>
            </a:r>
          </a:p>
          <a:p>
            <a:r>
              <a:t>   * Enterprise AI can be more controlled than email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TLS 1.3 in transit, AES-256 at rest</a:t>
            </a:r>
          </a:p>
          <a:p>
            <a:r>
              <a:t>   * Configurable retention: 30-365 days</a:t>
            </a:r>
          </a:p>
          <a:p>
            <a:r>
              <a:t>   * Export capability for legal holds</a:t>
            </a:r>
          </a:p>
          <a:p>
            <a:r>
              <a:t>   * SOC 2 Type II, HIPAA eligible</a:t>
            </a:r>
          </a:p>
          <a:p/>
          <a:p>
            <a:r>
              <a:t>ASK THE CLASS:</a:t>
            </a:r>
          </a:p>
          <a:p>
            <a:r>
              <a:t>   "What retention period makes sense for your org?"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minutes</a:t>
            </a:r>
          </a:p>
          <a:p/>
          <a:p>
            <a:r>
              <a:t>KEY POINTS:</a:t>
            </a:r>
          </a:p>
          <a:p>
            <a:r>
              <a:t>   * Show usage graphs - daily/weekly active users</a:t>
            </a:r>
          </a:p>
          <a:p>
            <a:r>
              <a:t>   * Token usage by team/department</a:t>
            </a:r>
          </a:p>
          <a:p>
            <a:r>
              <a:t>   * Cost allocation and chargebacks</a:t>
            </a:r>
          </a:p>
          <a:p>
            <a:r>
              <a:t>   * Export to CSV for custom reporting</a:t>
            </a:r>
          </a:p>
          <a:p/>
          <a:p>
            <a:r>
              <a:t>ASK THE CLASS:</a:t>
            </a:r>
          </a:p>
          <a:p>
            <a:r>
              <a:t>   "How do you currently track AI tool costs?"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minutes</a:t>
            </a:r>
          </a:p>
          <a:p/>
          <a:p>
            <a:r>
              <a:t>KEY POINTS:</a:t>
            </a:r>
          </a:p>
          <a:p>
            <a:r>
              <a:t>   * Give 20 seconds to read</a:t>
            </a:r>
          </a:p>
          <a:p>
            <a:r>
              <a:t>   * Ask someone to answer and explain why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minute</a:t>
            </a:r>
          </a:p>
          <a:p/>
          <a:p>
            <a:r>
              <a:t>KEY POINTS:</a:t>
            </a:r>
          </a:p>
          <a:p>
            <a:r>
              <a:t>   * Shift from admin to user features</a:t>
            </a:r>
          </a:p>
          <a:p>
            <a:r>
              <a:t>   * Projects = the most powerful feature for teams</a:t>
            </a:r>
          </a:p>
          <a:p/>
          <a:p>
            <a:r>
              <a:t>ASK THE CLASS:</a:t>
            </a:r>
          </a:p>
          <a:p>
            <a:r>
              <a:t>   "Has anyone created a project? What was it for?"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Imagine giving Claude a manual about YOUR company</a:t>
            </a:r>
          </a:p>
          <a:p>
            <a:r>
              <a:t>   * No re-explaining needed</a:t>
            </a:r>
          </a:p>
          <a:p>
            <a:r>
              <a:t>   * Example: Legal team uploads all company policies</a:t>
            </a:r>
          </a:p>
          <a:p/>
          <a:p>
            <a:r>
              <a:t>REAL-WORLD EXAMPLE:</a:t>
            </a:r>
          </a:p>
          <a:p>
            <a:r>
              <a:t>   Anthropic's support team uses projects with all docs uploaded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Custom instructions = rules for all conversations</a:t>
            </a:r>
          </a:p>
          <a:p>
            <a:r>
              <a:t>   * Knowledge base = file uploads up to 200MB</a:t>
            </a:r>
          </a:p>
          <a:p>
            <a:r>
              <a:t>   * Team sharing = collaborate while keeping chats private</a:t>
            </a:r>
          </a:p>
          <a:p/>
          <a:p>
            <a:r>
              <a:t>ASK THE CLASS:</a:t>
            </a:r>
          </a:p>
          <a:p>
            <a:r>
              <a:t>   "What use case would persistent context save time for?"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minutes</a:t>
            </a:r>
          </a:p>
          <a:p/>
          <a:p>
            <a:r>
              <a:t>KEY POINTS:</a:t>
            </a:r>
          </a:p>
          <a:p>
            <a:r>
              <a:t>   * Like an onboarding document Claude reads before every conversation</a:t>
            </a:r>
          </a:p>
          <a:p>
            <a:r>
              <a:t>   * Structure: Rules, then tone, then specific guidance</a:t>
            </a:r>
          </a:p>
          <a:p>
            <a:r>
              <a:t>   * Keep under 2000 characters</a:t>
            </a:r>
          </a:p>
          <a:p>
            <a:r>
              <a:t>   * One project = one use case</a:t>
            </a:r>
          </a:p>
          <a:p/>
          <a:p>
            <a:r>
              <a:t>ASK THE CLASS:</a:t>
            </a:r>
          </a:p>
          <a:p>
            <a:r>
              <a:t>   "What rules would you include for your team's project?"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minutes</a:t>
            </a:r>
          </a:p>
          <a:p/>
          <a:p>
            <a:r>
              <a:t>KEY POINTS:</a:t>
            </a:r>
          </a:p>
          <a:p>
            <a:r>
              <a:t>   * Upload PDFs, Word docs, spreadsheets, code files</a:t>
            </a:r>
          </a:p>
          <a:p>
            <a:r>
              <a:t>   * Up to 200MB total per project</a:t>
            </a:r>
          </a:p>
          <a:p>
            <a:r>
              <a:t>   * Files are READ each time, not memorized - update as needed</a:t>
            </a:r>
          </a:p>
          <a:p>
            <a:r>
              <a:t>   * Claude cites sources in responses</a:t>
            </a:r>
          </a:p>
          <a:p/>
          <a:p>
            <a:r>
              <a:t>ASK THE CLASS:</a:t>
            </a:r>
          </a:p>
          <a:p>
            <a:r>
              <a:t>   "What documents would you upload?"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Engineering team uploads API docs - anyone can ask endpoint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Common confusion: Sharing project ≠ sharing conversations</a:t>
            </a:r>
          </a:p>
          <a:p>
            <a:r>
              <a:t>   * Three permission levels: View, Edit, Admin</a:t>
            </a:r>
          </a:p>
          <a:p>
            <a:r>
              <a:t>   * Privacy preserved in shared projects</a:t>
            </a:r>
          </a:p>
          <a:p/>
          <a:p>
            <a:r>
              <a:t>ASK THE CLASS:</a:t>
            </a:r>
          </a:p>
          <a:p>
            <a:r>
              <a:t>   "Why do you think Anthropic designed it this way?"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Legal team shares contract review project - each lawyer has private client conversations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minutes</a:t>
            </a:r>
          </a:p>
          <a:p/>
          <a:p>
            <a:r>
              <a:t>KEY POINTS:</a:t>
            </a:r>
          </a:p>
          <a:p>
            <a:r>
              <a:t>   * Good: 'Engineering-API-Documentation'</a:t>
            </a:r>
          </a:p>
          <a:p>
            <a:r>
              <a:t>   * Bad: 'John's Stuff'</a:t>
            </a:r>
          </a:p>
          <a:p>
            <a:r>
              <a:t>   * Start with 3-5 well-designed projects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minute</a:t>
            </a:r>
          </a:p>
          <a:p/>
          <a:p>
            <a:r>
              <a:t>KEY POINTS:</a:t>
            </a:r>
          </a:p>
          <a:p>
            <a:r>
              <a:t>   * Developers, this is your section</a:t>
            </a:r>
          </a:p>
          <a:p>
            <a:r>
              <a:t>   * Not like Copilot - works at PROJECT level, not line level</a:t>
            </a:r>
          </a:p>
          <a:p/>
          <a:p>
            <a:r>
              <a:t>ASK THE CLASS:</a:t>
            </a:r>
          </a:p>
          <a:p>
            <a:r>
              <a:t>   "Who uses GitHub Copilot? What do you wish it did better?"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Works with any language, any framework</a:t>
            </a:r>
          </a:p>
          <a:p>
            <a:r>
              <a:t>   * Can edit files, run commands, create commits</a:t>
            </a:r>
          </a:p>
          <a:p>
            <a:r>
              <a:t>   * You're always in control - Claude proposes, you approve</a:t>
            </a:r>
          </a:p>
          <a:p/>
          <a:p>
            <a:r>
              <a:t>REAL-WORLD EXAMPLE:</a:t>
            </a:r>
          </a:p>
          <a:p>
            <a:r>
              <a:t>   Anthropic's engineers use Claude Code to work on Claude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minutes</a:t>
            </a:r>
          </a:p>
          <a:p/>
          <a:p>
            <a:r>
              <a:t>KEY POINTS:</a:t>
            </a:r>
          </a:p>
          <a:p>
            <a:r>
              <a:t>   * You describe task in natural language</a:t>
            </a:r>
          </a:p>
          <a:p>
            <a:r>
              <a:t>   * Claude reads your codebase, finds relevant files</a:t>
            </a:r>
          </a:p>
          <a:p>
            <a:r>
              <a:t>   * Proposes changes with diff preview</a:t>
            </a:r>
          </a:p>
          <a:p>
            <a:r>
              <a:t>   * You approve before any changes happen</a:t>
            </a:r>
          </a:p>
          <a:p/>
          <a:p>
            <a:r>
              <a:t>ASK THE CLASS:</a:t>
            </a:r>
          </a:p>
          <a:p>
            <a:r>
              <a:t>   "What recent task might have been faster with this?"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Requires Node.js 18+</a:t>
            </a:r>
          </a:p>
          <a:p>
            <a:r>
              <a:t>   * Four commands total</a:t>
            </a:r>
          </a:p>
          <a:p>
            <a:r>
              <a:t>   * OAuth links to enterprise account</a:t>
            </a:r>
          </a:p>
          <a:p>
            <a:r>
              <a:t>   * Works on Windows, macOS, Linux</a:t>
            </a:r>
          </a:p>
          <a:p/>
          <a:p>
            <a:r>
              <a:t>ASK THE CLASS:</a:t>
            </a:r>
          </a:p>
          <a:p>
            <a:r>
              <a:t>   "How many have Node.js installed already?"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minutes</a:t>
            </a:r>
          </a:p>
          <a:p/>
          <a:p>
            <a:r>
              <a:t>KEY POINTS:</a:t>
            </a:r>
          </a:p>
          <a:p>
            <a:r>
              <a:t>   * Start Claude Code in sample repo</a:t>
            </a:r>
          </a:p>
          <a:p>
            <a:r>
              <a:t>   * Ask: 'Give me an overview of this codebase'</a:t>
            </a:r>
          </a:p>
          <a:p>
            <a:r>
              <a:t>   * Show how Claude reads multiple files</a:t>
            </a:r>
          </a:p>
          <a:p>
            <a:r>
              <a:t>   * Key: It knows the WHOLE project, not just one file</a:t>
            </a:r>
          </a:p>
          <a:p/>
          <a:p>
            <a:r>
              <a:t>ASK THE CLASS:</a:t>
            </a:r>
          </a:p>
          <a:p>
            <a:r>
              <a:t>   "What would you ask first about inherited code?"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minutes</a:t>
            </a:r>
          </a:p>
          <a:p/>
          <a:p>
            <a:r>
              <a:t>KEY POINTS:</a:t>
            </a:r>
          </a:p>
          <a:p>
            <a:r>
              <a:t>   * Safety feature - you see exactly what will change</a:t>
            </a:r>
          </a:p>
          <a:p>
            <a:r>
              <a:t>   * Say 'no' or 'modify this' and iterate</a:t>
            </a:r>
          </a:p>
          <a:p>
            <a:r>
              <a:t>   * Like reviewing PRs from a junior developer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minutes</a:t>
            </a:r>
          </a:p>
          <a:p/>
          <a:p>
            <a:r>
              <a:t>KEY POINTS:</a:t>
            </a:r>
          </a:p>
          <a:p>
            <a:r>
              <a:t>   * /commit: Stage changes + generate good commit message</a:t>
            </a:r>
          </a:p>
          <a:p>
            <a:r>
              <a:t>   * /pr: Create pull request with description</a:t>
            </a:r>
          </a:p>
          <a:p>
            <a:r>
              <a:t>   * /compact: Summarize conversation to save tokens</a:t>
            </a:r>
          </a:p>
          <a:p>
            <a:r>
              <a:t>   * /help: See all available commands</a:t>
            </a:r>
          </a:p>
          <a:p/>
          <a:p>
            <a:r>
              <a:t>ASK THE CLASS:</a:t>
            </a:r>
          </a:p>
          <a:p>
            <a:r>
              <a:t>   "What commit conventions does your team use?"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Teams report 50% reduction in 'fix typo' commit messages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minute</a:t>
            </a:r>
          </a:p>
          <a:p/>
          <a:p>
            <a:r>
              <a:t>KEY POINTS:</a:t>
            </a:r>
          </a:p>
          <a:p>
            <a:r>
              <a:t>   * The file that makes Claude understand YOUR codebase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4 minutes</a:t>
            </a:r>
          </a:p>
          <a:p/>
          <a:p>
            <a:r>
              <a:t>KEY POINTS:</a:t>
            </a:r>
          </a:p>
          <a:p>
            <a:r>
              <a:t>   * Lives at project root</a:t>
            </a:r>
          </a:p>
          <a:p>
            <a:r>
              <a:t>   * Structure: Tech stack, conventions, DO/DON'T</a:t>
            </a:r>
          </a:p>
          <a:p>
            <a:r>
              <a:t>   * Claude reads it before every conversation</a:t>
            </a:r>
          </a:p>
          <a:p>
            <a:r>
              <a:t>   * Without it, you're leaving 50% value on the table</a:t>
            </a:r>
          </a:p>
          <a:p/>
          <a:p>
            <a:r>
              <a:t>ASK THE CLASS:</a:t>
            </a:r>
          </a:p>
          <a:p>
            <a:r>
              <a:t>   "What would be in your DO NOT section?"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Fintech company: 'All calculations must use Decimal, never float'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VSCode and JetBrains extensions available</a:t>
            </a:r>
          </a:p>
          <a:p>
            <a:r>
              <a:t>   * Most power users: Terminal for big tasks, IDE for small</a:t>
            </a:r>
          </a:p>
          <a:p>
            <a:r>
              <a:t>   * Use both - they complement each other</a:t>
            </a:r>
          </a:p>
          <a:p/>
          <a:p>
            <a:r>
              <a:t>ASK THE CLASS:</a:t>
            </a:r>
          </a:p>
          <a:p>
            <a:r>
              <a:t>   "What IDE does your team use?"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Paste error message, Claude finds root cause</a:t>
            </a:r>
          </a:p>
          <a:p>
            <a:r>
              <a:t>   * Hours -&gt; minutes for bug investigation</a:t>
            </a:r>
          </a:p>
          <a:p>
            <a:r>
              <a:t>   * Same pattern for features, tests, docs</a:t>
            </a:r>
          </a:p>
          <a:p/>
          <a:p>
            <a:r>
              <a:t>ASK THE CLASS:</a:t>
            </a:r>
          </a:p>
          <a:p>
            <a:r>
              <a:t>   "Which workflow would save your team most time?"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Bug investigation dropped from 2 hours to 20 minutes average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minutes</a:t>
            </a:r>
          </a:p>
          <a:p/>
          <a:p>
            <a:r>
              <a:t>KEY POINTS:</a:t>
            </a:r>
          </a:p>
          <a:p>
            <a:r>
              <a:t>   * Key safety feature - always diff, always approve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minute</a:t>
            </a:r>
          </a:p>
          <a:p/>
          <a:p>
            <a:r>
              <a:t>KEY POINTS:</a:t>
            </a:r>
          </a:p>
          <a:p>
            <a:r>
              <a:t>   * Use sample repo or your own codebase</a:t>
            </a:r>
          </a:p>
          <a:p>
            <a:r>
              <a:t>   * Three exercises to complete</a:t>
            </a:r>
          </a:p>
          <a:p>
            <a:r>
              <a:t>   * I'll circulate and help</a:t>
            </a:r>
          </a:p>
          <a:p/>
          <a:p>
            <a:r>
              <a:t>ASK THE CLASS:</a:t>
            </a:r>
          </a:p>
          <a:p>
            <a:r>
              <a:t>   "Anyone need help with installation?"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8 minutes</a:t>
            </a:r>
          </a:p>
          <a:p/>
          <a:p>
            <a:r>
              <a:t>KEY POINTS:</a:t>
            </a:r>
          </a:p>
          <a:p>
            <a:r>
              <a:t>   * Just asking questions - nothing can break</a:t>
            </a:r>
          </a:p>
          <a:p>
            <a:r>
              <a:t>   * Watch how Claude reads multiple files</a:t>
            </a:r>
          </a:p>
          <a:p>
            <a:r>
              <a:t>   * This is how engineers onboard to new teams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10 minutes</a:t>
            </a:r>
          </a:p>
          <a:p/>
          <a:p>
            <a:r>
              <a:t>KEY POINTS:</a:t>
            </a:r>
          </a:p>
          <a:p>
            <a:r>
              <a:t>   * Read diff before approving - take 30 seconds</a:t>
            </a:r>
          </a:p>
          <a:p>
            <a:r>
              <a:t>   * Say 'no' and explain if something looks wrong</a:t>
            </a:r>
          </a:p>
          <a:p>
            <a:r>
              <a:t>   * This is the core daily workflow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10 minutes</a:t>
            </a:r>
          </a:p>
          <a:p/>
          <a:p>
            <a:r>
              <a:t>KEY POINTS:</a:t>
            </a:r>
          </a:p>
          <a:p>
            <a:r>
              <a:t>   * This is the 'aha moment' for most people</a:t>
            </a:r>
          </a:p>
          <a:p>
            <a:r>
              <a:t>   * Watch how differently Claude behaves</a:t>
            </a:r>
          </a:p>
          <a:p>
            <a:r>
              <a:t>   * Iterate - doesn't need to be perfect day one</a:t>
            </a:r>
          </a:p>
          <a:p/>
          <a:p>
            <a:r>
              <a:t>ASK THE CLASS:</a:t>
            </a:r>
          </a:p>
          <a:p>
            <a:r>
              <a:t>   "What was your biggest 'aha' moment?"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minute</a:t>
            </a:r>
          </a:p>
          <a:p/>
          <a:p>
            <a:r>
              <a:t>KEY POINTS:</a:t>
            </a:r>
          </a:p>
          <a:p>
            <a:r>
              <a:t>   * Powerful tools require responsibility</a:t>
            </a:r>
          </a:p>
          <a:p/>
          <a:p>
            <a:r>
              <a:t>ASK THE CLASS:</a:t>
            </a:r>
          </a:p>
          <a:p>
            <a:r>
              <a:t>   "What security concerns came to mind during the lab?"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Claude CAN see .env files if in project</a:t>
            </a:r>
          </a:p>
          <a:p>
            <a:r>
              <a:t>   * Add sensitive files to .gitignore</a:t>
            </a:r>
          </a:p>
          <a:p>
            <a:r>
              <a:t>   * Claude can't make network requests itself</a:t>
            </a:r>
          </a:p>
          <a:p/>
          <a:p>
            <a:r>
              <a:t>REAL-WORLD EXAMPLE:</a:t>
            </a:r>
          </a:p>
          <a:p>
            <a:r>
              <a:t>   Team had .env in repo - now use pre-commit hooks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If you wouldn't show it to a consultant, don't show Claude</a:t>
            </a:r>
          </a:p>
          <a:p>
            <a:r>
              <a:t>   * Same PR review standards as human code</a:t>
            </a:r>
          </a:p>
          <a:p>
            <a:r>
              <a:t>   * Use admin console audit logs</a:t>
            </a:r>
          </a:p>
          <a:p/>
          <a:p>
            <a:r>
              <a:t>ASK THE CLASS:</a:t>
            </a:r>
          </a:p>
          <a:p>
            <a:r>
              <a:t>   "What audit processes could include Claude usage?"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3 minutes</a:t>
            </a:r>
          </a:p>
          <a:p/>
          <a:p>
            <a:r>
              <a:t>KEY POINTS:</a:t>
            </a:r>
          </a:p>
          <a:p>
            <a:r>
              <a:t>   * What code can Claude work on?</a:t>
            </a:r>
          </a:p>
          <a:p>
            <a:r>
              <a:t>   * Production vs development?</a:t>
            </a:r>
          </a:p>
          <a:p>
            <a:r>
              <a:t>   * Approval workflows for generated code?</a:t>
            </a:r>
          </a:p>
          <a:p/>
          <a:p>
            <a:r>
              <a:t>ASK THE CLASS:</a:t>
            </a:r>
          </a:p>
          <a:p>
            <a:r>
              <a:t>   "Does your org have AI acceptable use policies?"</a:t>
            </a:r>
          </a:p>
          <a:p>
            <a:r>
              <a:t>   [PAUSE for 30-60 seconds]</a:t>
            </a:r>
          </a:p>
          <a:p/>
          <a:p>
            <a:r>
              <a:t>REAL-WORLD EXAMPLE:</a:t>
            </a:r>
          </a:p>
          <a:p>
            <a:r>
              <a:t>   'Claude Code may not be used on customer data systems without security review'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minute</a:t>
            </a:r>
          </a:p>
          <a:p/>
          <a:p>
            <a:r>
              <a:t>KEY POINTS:</a:t>
            </a:r>
          </a:p>
          <a:p>
            <a:r>
              <a:t>   * Let's recap the journey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minutes</a:t>
            </a:r>
          </a:p>
          <a:p/>
          <a:p>
            <a:r>
              <a:t>KEY POINTS:</a:t>
            </a:r>
          </a:p>
          <a:p>
            <a:r>
              <a:t>   * Covered admin AND developer workflows</a:t>
            </a:r>
          </a:p>
          <a:p>
            <a:r>
              <a:t>   * You've used Claude Code hands-on</a:t>
            </a:r>
          </a:p>
          <a:p>
            <a:r>
              <a:t>   * You can now: administer, configure projects, use Claude Code</a:t>
            </a:r>
          </a:p>
          <a:p/>
          <a:p>
            <a:r>
              <a:t>ASK THE CLASS:</a:t>
            </a:r>
          </a:p>
          <a:p>
            <a:r>
              <a:t>   "What's the first thing you'll try at your desk?"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2 minutes</a:t>
            </a:r>
          </a:p>
          <a:p/>
          <a:p>
            <a:r>
              <a:t>KEY POINTS:</a:t>
            </a:r>
          </a:p>
          <a:p>
            <a:r>
              <a:t>   * Start today - install takes 2 minutes</a:t>
            </a:r>
          </a:p>
          <a:p>
            <a:r>
              <a:t>   * Create CLAUDE.md for one codebase</a:t>
            </a:r>
          </a:p>
          <a:p>
            <a:r>
              <a:t>   * Attend T2 for agents, skills, 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1 minute</a:t>
            </a:r>
          </a:p>
          <a:p/>
          <a:p>
            <a:r>
              <a:t>KEY POINTS:</a:t>
            </a:r>
          </a:p>
          <a:p>
            <a:r>
              <a:t>   * Links in follow-up email</a:t>
            </a:r>
          </a:p>
          <a:p>
            <a:r>
              <a:t>   * T2 covers advanced topics tomorrow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TIME: 5 minutes</a:t>
            </a:r>
          </a:p>
          <a:p/>
          <a:p>
            <a:r>
              <a:t>KEY POINTS:</a:t>
            </a:r>
          </a:p>
          <a:p>
            <a:r>
              <a:t>   * Common questions: Pricing, rollout strategy, integration</a:t>
            </a:r>
          </a:p>
          <a:p>
            <a:r>
              <a:t>   * If you don't know: 'Great question, let me follow up'</a:t>
            </a:r>
          </a:p>
          <a:p>
            <a:r>
              <a:t>   * Thank everyone for participating</a:t>
            </a:r>
          </a:p>
          <a:p/>
          <a:p>
            <a:r>
              <a:t>ASK THE CLASS:</a:t>
            </a:r>
          </a:p>
          <a:p>
            <a:r>
              <a:t>   "Any questions?"</a:t>
            </a:r>
          </a:p>
          <a:p>
            <a:r>
              <a:t>   [PAUSE for 30-60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T1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From consumer toy to enterprise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SSO • Admin Controls • Data Isolation • SOC 2 Type II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🎛️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Four areas you'll spend time 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7520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66100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6100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64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User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2696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1276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276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1840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Usage Analytics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96452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6452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⚙️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Data Retention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048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628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1628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192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Audit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SSO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99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69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🌐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15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85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🔄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331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47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17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Authenticate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Granted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>
                <a:solidFill>
                  <a:srgbClr val="00D4AA"/>
                </a:solidFill>
              </a:defRPr>
            </a:pPr>
            <a: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i="1">
                <a:solidFill>
                  <a:srgbClr val="FFFFFF"/>
                </a:solidFill>
              </a:defRPr>
            </a:pPr>
            <a:r>
              <a:t>Zero data training guarantee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Data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7772171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Encrypt</a:t>
            </a:r>
          </a:p>
        </p:txBody>
      </p:sp>
      <p:sp>
        <p:nvSpPr>
          <p:cNvPr id="7" name="Oval 6"/>
          <p:cNvSpPr/>
          <p:nvPr/>
        </p:nvSpPr>
        <p:spPr>
          <a:xfrm>
            <a:off x="3505123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05123" y="3063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7923" y="38404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Process</a:t>
            </a:r>
          </a:p>
        </p:txBody>
      </p:sp>
      <p:sp>
        <p:nvSpPr>
          <p:cNvPr id="10" name="Oval 9"/>
          <p:cNvSpPr/>
          <p:nvPr/>
        </p:nvSpPr>
        <p:spPr>
          <a:xfrm>
            <a:off x="609584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5847" y="3063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8647" y="38404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Store</a:t>
            </a:r>
          </a:p>
        </p:txBody>
      </p:sp>
      <p:sp>
        <p:nvSpPr>
          <p:cNvPr id="13" name="Oval 12"/>
          <p:cNvSpPr/>
          <p:nvPr/>
        </p:nvSpPr>
        <p:spPr>
          <a:xfrm>
            <a:off x="8686571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571" y="3063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371" y="38404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Delete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Usage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Live: Tracking costs and adoption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B0F1A"/>
                </a:solidFill>
              </a:defRPr>
            </a:pPr>
            <a:r>
              <a:t>Knowledge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Which statement about Claude Enterprise data is TRUE?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11277295" cy="731520"/>
          </a:xfrm>
          <a:prstGeom prst="roundRect">
            <a:avLst/>
          </a:prstGeom>
          <a:solidFill>
            <a:srgbClr val="141A26"/>
          </a:solidFill>
          <a:ln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724912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A) Enterprise conversations may improve Claude models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29000"/>
            <a:ext cx="11277295" cy="731520"/>
          </a:xfrm>
          <a:prstGeom prst="roundRect">
            <a:avLst/>
          </a:prstGeom>
          <a:solidFill>
            <a:srgbClr val="141A26"/>
          </a:solidFill>
          <a:ln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593592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B) Data retention is fixed at 90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11277295" cy="731520"/>
          </a:xfrm>
          <a:prstGeom prst="roundRect">
            <a:avLst/>
          </a:prstGeom>
          <a:solidFill>
            <a:srgbClr val="141A26"/>
          </a:solidFill>
          <a:ln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62272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C) Enterprise data is never used for training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166360"/>
            <a:ext cx="11277295" cy="731520"/>
          </a:xfrm>
          <a:prstGeom prst="roundRect">
            <a:avLst/>
          </a:prstGeom>
          <a:solidFill>
            <a:srgbClr val="141A26"/>
          </a:solidFill>
          <a:ln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3035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30952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D) SSO is optional for most companies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📁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A trained assistant for your domain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Every conversation already knows the context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Project Components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Knowledge 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Team Sharing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Custom Instructions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MARKDOWN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You are an assistant for Finance at Acme Corp.</a:t>
            </a:r>
            <a:br/>
            <a:br/>
            <a:r>
              <a:t>RULES:</a:t>
            </a:r>
            <a:br/>
            <a:r>
              <a:t>- Use fiscal year (April-March)</a:t>
            </a:r>
            <a:br/>
            <a:r>
              <a:t>- Format currency: $1,234.56</a:t>
            </a:r>
            <a:br/>
            <a:r>
              <a:t>- Never provide tax advice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Knowledge Base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99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69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📤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15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85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❓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331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🔍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47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17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Answer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Sharing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After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>
                <a:solidFill>
                  <a:srgbClr val="00D4AA"/>
                </a:solidFill>
              </a:defRPr>
            </a:pPr>
            <a: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i="1">
                <a:solidFill>
                  <a:srgbClr val="FFFFFF"/>
                </a:solidFill>
              </a:defRPr>
            </a:pPr>
            <a:r>
              <a:t>One project per use case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💻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Senior developer who knows your whole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CLI tool • Reads codebase • Edits files • Runs commands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 Code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899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69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💬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15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85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331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📝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4707" y="1229868"/>
            <a:ext cx="320040" cy="2834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1767" y="155448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Describe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Propose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Approve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Installation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BASH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# Install globally</a:t>
            </a:r>
            <a:br/>
            <a:r>
              <a:t>npm install -g @anthropic-ai/claude-code</a:t>
            </a:r>
            <a:br/>
            <a:br/>
            <a:r>
              <a:t># Authenticate</a:t>
            </a:r>
            <a:br/>
            <a:r>
              <a:t>claude login</a:t>
            </a:r>
            <a:br/>
            <a:br/>
            <a:r>
              <a:t># Start in your project</a:t>
            </a:r>
            <a:br/>
            <a:r>
              <a:t>cd ~/my-project &amp;&amp; claude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Codebase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Live: Ask Claude about a real project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>
                <a:solidFill>
                  <a:srgbClr val="00D4AA"/>
                </a:solidFill>
              </a:defRPr>
            </a:pPr>
            <a:r>
              <a:t>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i="1">
                <a:solidFill>
                  <a:srgbClr val="FFFFFF"/>
                </a:solidFill>
              </a:defRPr>
            </a:pPr>
            <a:r>
              <a:t>Claude NEVER writes without asking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Slash Commands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/commit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/pr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/compact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CLAUDE.md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MARKDOWN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135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## Tech Stack</a:t>
            </a:r>
            <a:br/>
            <a:r>
              <a:t>- FastAPI + TypeScript</a:t>
            </a:r>
            <a:br/>
            <a:r>
              <a:t>- PostgreSQL + Redis</a:t>
            </a:r>
            <a:br/>
            <a:br/>
            <a:r>
              <a:t>## DO NOT</a:t>
            </a:r>
            <a:br/>
            <a:r>
              <a:t>- Use print() - use structlog</a:t>
            </a:r>
            <a:br/>
            <a:r>
              <a:t>- Commit .env files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After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Bug Fixing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8290316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Describe</a:t>
            </a:r>
          </a:p>
        </p:txBody>
      </p:sp>
      <p:sp>
        <p:nvSpPr>
          <p:cNvPr id="7" name="Oval 6"/>
          <p:cNvSpPr/>
          <p:nvPr/>
        </p:nvSpPr>
        <p:spPr>
          <a:xfrm>
            <a:off x="2986979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86979" y="3063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9779" y="38404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Analyze</a:t>
            </a:r>
          </a:p>
        </p:txBody>
      </p:sp>
      <p:sp>
        <p:nvSpPr>
          <p:cNvPr id="10" name="Oval 9"/>
          <p:cNvSpPr/>
          <p:nvPr/>
        </p:nvSpPr>
        <p:spPr>
          <a:xfrm>
            <a:off x="5059558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9558" y="3063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2358" y="38404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Propose</a:t>
            </a:r>
          </a:p>
        </p:txBody>
      </p:sp>
      <p:sp>
        <p:nvSpPr>
          <p:cNvPr id="13" name="Oval 12"/>
          <p:cNvSpPr/>
          <p:nvPr/>
        </p:nvSpPr>
        <p:spPr>
          <a:xfrm>
            <a:off x="713213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137" y="3063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4937" y="38404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Approve</a:t>
            </a:r>
          </a:p>
        </p:txBody>
      </p:sp>
      <p:sp>
        <p:nvSpPr>
          <p:cNvPr id="16" name="Oval 15"/>
          <p:cNvSpPr/>
          <p:nvPr/>
        </p:nvSpPr>
        <p:spPr>
          <a:xfrm>
            <a:off x="9204716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4716" y="3063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516" y="384048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Commit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B0F1A"/>
                </a:solidFill>
              </a:defRPr>
            </a:pPr>
            <a:r>
              <a:t>Knowledge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happens when Claude Code proposes a file change?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11277295" cy="731520"/>
          </a:xfrm>
          <a:prstGeom prst="roundRect">
            <a:avLst/>
          </a:prstGeom>
          <a:solidFill>
            <a:srgbClr val="141A26"/>
          </a:solidFill>
          <a:ln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724912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A) The file is immediately modified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29000"/>
            <a:ext cx="11277295" cy="731520"/>
          </a:xfrm>
          <a:prstGeom prst="roundRect">
            <a:avLst/>
          </a:prstGeom>
          <a:solidFill>
            <a:srgbClr val="141A26"/>
          </a:solidFill>
          <a:ln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593592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B) A diff is shown and you must approve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11277295" cy="731520"/>
          </a:xfrm>
          <a:prstGeom prst="roundRect">
            <a:avLst/>
          </a:prstGeom>
          <a:solidFill>
            <a:srgbClr val="141A26"/>
          </a:solidFill>
          <a:ln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62272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C) Changes can be undone with /undo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166360"/>
            <a:ext cx="11277295" cy="731520"/>
          </a:xfrm>
          <a:prstGeom prst="roundRect">
            <a:avLst/>
          </a:prstGeom>
          <a:solidFill>
            <a:srgbClr val="141A26"/>
          </a:solidFill>
          <a:ln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3035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30952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D) Changes go to a separate branch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🧪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Exercise 1: Codebase Exploration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848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Navigate to sample repo (cd sample-repo)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6207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Start Claude Code (claude)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63931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'Give me an overview'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41655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'What are the main endpoints?'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19379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'How is auth handled?'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Exercise 2: Making Changes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848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'Add validation to registration'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6207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Review the proposed diff carefully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63931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Approve or request modifications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41655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Run tests if available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19379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Try: 'Make errors more user-friendly'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Exercise 3: Create CLAUDE.md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848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 CLAUDE.md at project root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6207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Add tech stack and conventions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63931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Add DO/DON'T rules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41655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Start fresh: exit and run claude again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19379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Notice how Claude follows your rules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🔒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Access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After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Safe Practices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Gitignore Secrets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Review All Diffs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Audit Monthly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Create guidelines before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2 hours on policy saves weeks of headaches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What You Learned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Your 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688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688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Install Claude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64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64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Create CLAUDE.md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286000"/>
            <a:ext cx="2286000" cy="27432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407" y="274320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407" y="28803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93192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Set Up One Project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Admin Console: admin.claude.ai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Claude Code Docs: docs.anthropic.com/claude-code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CLAUDE.md Guide: in Claude Code documentation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Support: support@anthropic.com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❓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